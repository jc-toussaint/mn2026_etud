
<file path=[Content_Types].xml><?xml version="1.0" encoding="utf-8"?>
<Types xmlns="http://schemas.openxmlformats.org/package/2006/content-types"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761163" cy="9856788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145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D8FD77-AD9A-4029-A454-2E3A0E6EDB36}" type="slidenum">
              <a:rPr lang="en-US" altLang="fr-FR"/>
              <a:pPr/>
              <a:t>‹N°›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3696788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DF60FE-3D5F-481D-9063-BFE5B3BA0B36}" type="slidenum">
              <a:rPr lang="en-US" altLang="fr-FR"/>
              <a:pPr/>
              <a:t>‹N°›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3874861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909D26-1D87-4A4B-A9C3-2B74328EC92B}" type="slidenum">
              <a:rPr lang="en-US" altLang="fr-FR"/>
              <a:pPr/>
              <a:t>‹N°›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36887254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DA8F68B-1C06-4536-81B0-C72BBEFA2FDB}" type="slidenum">
              <a:rPr lang="en-US" altLang="fr-FR"/>
              <a:pPr/>
              <a:t>‹N°›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3861285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E20D6C8-9FAE-4122-945D-9C0B8DFE12E9}" type="slidenum">
              <a:rPr lang="en-US" altLang="fr-FR"/>
              <a:pPr/>
              <a:t>‹N°›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17933895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821111-AD47-429A-A0F5-31568C6B5B41}" type="slidenum">
              <a:rPr lang="en-US" altLang="fr-FR"/>
              <a:pPr/>
              <a:t>‹N°›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3089524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7B5B9A-E875-4B05-BE4A-794DD62A6783}" type="slidenum">
              <a:rPr lang="en-US" altLang="fr-FR"/>
              <a:pPr/>
              <a:t>‹N°›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966920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A837C9-0877-436D-831A-420A923DDFF9}" type="slidenum">
              <a:rPr lang="en-US" altLang="fr-FR"/>
              <a:pPr/>
              <a:t>‹N°›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2060306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016F1A3-5A57-49D1-8FAA-23AEDBAC1DA7}" type="slidenum">
              <a:rPr lang="en-US" altLang="fr-FR"/>
              <a:pPr/>
              <a:t>‹N°›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3643833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BDF2D2-FC83-4D31-B1A4-F9AC4F31395A}" type="slidenum">
              <a:rPr lang="en-US" altLang="fr-FR"/>
              <a:pPr/>
              <a:t>‹N°›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3971474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96F38A-FDB9-4BC7-9DAC-B53D70AA9107}" type="slidenum">
              <a:rPr lang="en-US" altLang="fr-FR"/>
              <a:pPr/>
              <a:t>‹N°›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2595613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r-FR" smtClean="0"/>
              <a:t>Cliquez pour modifier le style du titre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r-FR" smtClean="0"/>
              <a:t>Cliquez pour modifier les styles du texte du masque</a:t>
            </a:r>
          </a:p>
          <a:p>
            <a:pPr lvl="1"/>
            <a:r>
              <a:rPr lang="en-US" altLang="fr-FR" smtClean="0"/>
              <a:t>Deuxième niveau</a:t>
            </a:r>
          </a:p>
          <a:p>
            <a:pPr lvl="2"/>
            <a:r>
              <a:rPr lang="en-US" altLang="fr-FR" smtClean="0"/>
              <a:t>Troisième niveau</a:t>
            </a:r>
          </a:p>
          <a:p>
            <a:pPr lvl="3"/>
            <a:r>
              <a:rPr lang="en-US" altLang="fr-FR" smtClean="0"/>
              <a:t>Quatrième niveau</a:t>
            </a:r>
          </a:p>
          <a:p>
            <a:pPr lvl="4"/>
            <a:r>
              <a:rPr lang="en-US" altLang="fr-FR" smtClean="0"/>
              <a:t>Cinquième niveau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fr-F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fr-F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B8B8B507-FBEE-407D-B359-C9B14A7C165D}" type="slidenum">
              <a:rPr lang="en-US" altLang="fr-FR"/>
              <a:pPr/>
              <a:t>‹N°›</a:t>
            </a:fld>
            <a:endParaRPr lang="en-US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0" name="Line 12"/>
          <p:cNvSpPr>
            <a:spLocks noChangeShapeType="1"/>
          </p:cNvSpPr>
          <p:nvPr/>
        </p:nvSpPr>
        <p:spPr bwMode="auto">
          <a:xfrm>
            <a:off x="4356100" y="692150"/>
            <a:ext cx="0" cy="55451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052" name="Text Box 4"/>
          <p:cNvSpPr txBox="1">
            <a:spLocks noChangeArrowheads="1"/>
          </p:cNvSpPr>
          <p:nvPr/>
        </p:nvSpPr>
        <p:spPr bwMode="auto">
          <a:xfrm>
            <a:off x="900113" y="260350"/>
            <a:ext cx="6956425" cy="395288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fr-FR" altLang="fr-FR" b="1">
                <a:solidFill>
                  <a:srgbClr val="0033CC"/>
                </a:solidFill>
              </a:rPr>
              <a:t>lecture_probleme</a:t>
            </a:r>
            <a:r>
              <a:rPr lang="fr-FR" altLang="fr-FR"/>
              <a:t> : lecture du maillage et des valeurs aux noeuds</a:t>
            </a:r>
          </a:p>
        </p:txBody>
      </p:sp>
      <p:sp>
        <p:nvSpPr>
          <p:cNvPr id="2053" name="Text Box 5"/>
          <p:cNvSpPr txBox="1">
            <a:spLocks noChangeArrowheads="1"/>
          </p:cNvSpPr>
          <p:nvPr/>
        </p:nvSpPr>
        <p:spPr bwMode="auto">
          <a:xfrm>
            <a:off x="2054225" y="1125538"/>
            <a:ext cx="4606925" cy="39528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fr-FR" altLang="fr-FR" b="1">
                <a:solidFill>
                  <a:srgbClr val="0033CC"/>
                </a:solidFill>
              </a:rPr>
              <a:t>affichage_maillage</a:t>
            </a:r>
            <a:r>
              <a:rPr lang="fr-FR" altLang="fr-FR"/>
              <a:t> : affichage du maillage</a:t>
            </a:r>
          </a:p>
        </p:txBody>
      </p:sp>
      <p:sp>
        <p:nvSpPr>
          <p:cNvPr id="2054" name="Text Box 6"/>
          <p:cNvSpPr txBox="1">
            <a:spLocks noChangeArrowheads="1"/>
          </p:cNvSpPr>
          <p:nvPr/>
        </p:nvSpPr>
        <p:spPr bwMode="auto">
          <a:xfrm>
            <a:off x="1403350" y="3789363"/>
            <a:ext cx="6384925" cy="66992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fr-FR" altLang="fr-FR" b="1">
                <a:solidFill>
                  <a:srgbClr val="0033CC"/>
                </a:solidFill>
              </a:rPr>
              <a:t>polynomes_xx</a:t>
            </a:r>
            <a:r>
              <a:rPr lang="fr-FR" altLang="fr-FR"/>
              <a:t> : calcul des poids et abscisses de Gauss</a:t>
            </a:r>
          </a:p>
          <a:p>
            <a:pPr algn="ctr"/>
            <a:r>
              <a:rPr lang="fr-FR" altLang="fr-FR"/>
              <a:t>calcul des polynomes et du déterminant aux points de Gauss</a:t>
            </a:r>
          </a:p>
        </p:txBody>
      </p:sp>
      <p:sp>
        <p:nvSpPr>
          <p:cNvPr id="2056" name="Text Box 8"/>
          <p:cNvSpPr txBox="1">
            <a:spLocks noChangeArrowheads="1"/>
          </p:cNvSpPr>
          <p:nvPr/>
        </p:nvSpPr>
        <p:spPr bwMode="auto">
          <a:xfrm>
            <a:off x="827088" y="2852738"/>
            <a:ext cx="7126287" cy="66992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fr-FR" b="1">
                <a:solidFill>
                  <a:srgbClr val="0033CC"/>
                </a:solidFill>
              </a:rPr>
              <a:t>integrale</a:t>
            </a:r>
            <a:r>
              <a:rPr lang="en-US" altLang="fr-FR"/>
              <a:t> : </a:t>
            </a:r>
            <a:r>
              <a:rPr lang="fr-FR" altLang="fr-FR"/>
              <a:t>calcul de l'intégrale des  valeurs interpolées sur l’élément</a:t>
            </a:r>
          </a:p>
          <a:p>
            <a:pPr algn="ctr"/>
            <a:r>
              <a:rPr lang="fr-FR" altLang="fr-FR"/>
              <a:t>sélectionné et de sa surface</a:t>
            </a:r>
            <a:endParaRPr lang="en-US" altLang="fr-FR"/>
          </a:p>
        </p:txBody>
      </p:sp>
      <p:sp>
        <p:nvSpPr>
          <p:cNvPr id="2057" name="Text Box 9"/>
          <p:cNvSpPr txBox="1">
            <a:spLocks noChangeArrowheads="1"/>
          </p:cNvSpPr>
          <p:nvPr/>
        </p:nvSpPr>
        <p:spPr bwMode="auto">
          <a:xfrm>
            <a:off x="827088" y="4652963"/>
            <a:ext cx="7324725" cy="39528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fr-FR" altLang="fr-FR"/>
              <a:t>Dans </a:t>
            </a:r>
            <a:r>
              <a:rPr lang="fr-FR" altLang="fr-FR" b="1">
                <a:solidFill>
                  <a:schemeClr val="accent2"/>
                </a:solidFill>
              </a:rPr>
              <a:t>solution </a:t>
            </a:r>
            <a:r>
              <a:rPr lang="fr-FR" altLang="fr-FR"/>
              <a:t>: accumulation des intégrales précédemment calculées</a:t>
            </a:r>
          </a:p>
        </p:txBody>
      </p:sp>
      <p:sp>
        <p:nvSpPr>
          <p:cNvPr id="2058" name="Line 10"/>
          <p:cNvSpPr>
            <a:spLocks noChangeShapeType="1"/>
          </p:cNvSpPr>
          <p:nvPr/>
        </p:nvSpPr>
        <p:spPr bwMode="auto">
          <a:xfrm>
            <a:off x="611188" y="2276475"/>
            <a:ext cx="0" cy="36734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061" name="Line 13"/>
          <p:cNvSpPr>
            <a:spLocks noChangeShapeType="1"/>
          </p:cNvSpPr>
          <p:nvPr/>
        </p:nvSpPr>
        <p:spPr bwMode="auto">
          <a:xfrm>
            <a:off x="611188" y="5949950"/>
            <a:ext cx="374491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062" name="Line 14"/>
          <p:cNvSpPr>
            <a:spLocks noChangeShapeType="1"/>
          </p:cNvSpPr>
          <p:nvPr/>
        </p:nvSpPr>
        <p:spPr bwMode="auto">
          <a:xfrm>
            <a:off x="611188" y="2276475"/>
            <a:ext cx="129698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063" name="Text Box 15"/>
          <p:cNvSpPr txBox="1">
            <a:spLocks noChangeArrowheads="1"/>
          </p:cNvSpPr>
          <p:nvPr/>
        </p:nvSpPr>
        <p:spPr bwMode="auto">
          <a:xfrm>
            <a:off x="2771775" y="6237288"/>
            <a:ext cx="3438525" cy="39528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fr-FR" altLang="fr-FR"/>
              <a:t>Affichage des résultats cumulés</a:t>
            </a:r>
          </a:p>
        </p:txBody>
      </p:sp>
      <p:sp>
        <p:nvSpPr>
          <p:cNvPr id="2059" name="Text Box 11"/>
          <p:cNvSpPr txBox="1">
            <a:spLocks noChangeArrowheads="1"/>
          </p:cNvSpPr>
          <p:nvPr/>
        </p:nvSpPr>
        <p:spPr bwMode="auto">
          <a:xfrm>
            <a:off x="1820863" y="2060575"/>
            <a:ext cx="6207125" cy="395288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fr-FR" altLang="fr-FR" b="1" i="1">
                <a:solidFill>
                  <a:schemeClr val="accent2"/>
                </a:solidFill>
              </a:rPr>
              <a:t>solution</a:t>
            </a:r>
            <a:r>
              <a:rPr lang="fr-FR" altLang="fr-FR" i="1"/>
              <a:t> : Boucle sur tous les éléments formant le maillage</a:t>
            </a:r>
          </a:p>
        </p:txBody>
      </p:sp>
      <p:sp>
        <p:nvSpPr>
          <p:cNvPr id="2065" name="Text Box 17"/>
          <p:cNvSpPr txBox="1">
            <a:spLocks noChangeArrowheads="1"/>
          </p:cNvSpPr>
          <p:nvPr/>
        </p:nvSpPr>
        <p:spPr bwMode="auto">
          <a:xfrm>
            <a:off x="1473200" y="5300663"/>
            <a:ext cx="5762625" cy="39528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fr-FR" altLang="fr-FR" b="1">
                <a:solidFill>
                  <a:srgbClr val="0033CC"/>
                </a:solidFill>
              </a:rPr>
              <a:t>resultats_inter</a:t>
            </a:r>
            <a:r>
              <a:rPr lang="fr-FR" altLang="fr-FR"/>
              <a:t> : affichage des résultats intermédiaires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2" name="Line 20"/>
          <p:cNvSpPr>
            <a:spLocks noChangeShapeType="1"/>
          </p:cNvSpPr>
          <p:nvPr/>
        </p:nvSpPr>
        <p:spPr bwMode="auto">
          <a:xfrm>
            <a:off x="904875" y="6092825"/>
            <a:ext cx="9302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094" name="Rectangle 22"/>
          <p:cNvSpPr>
            <a:spLocks noChangeArrowheads="1"/>
          </p:cNvSpPr>
          <p:nvPr/>
        </p:nvSpPr>
        <p:spPr bwMode="auto">
          <a:xfrm>
            <a:off x="1619250" y="5661025"/>
            <a:ext cx="5899150" cy="93662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graphicFrame>
        <p:nvGraphicFramePr>
          <p:cNvPr id="3080" name="Object 8"/>
          <p:cNvGraphicFramePr>
            <a:graphicFrameLocks noChangeAspect="1"/>
          </p:cNvGraphicFramePr>
          <p:nvPr/>
        </p:nvGraphicFramePr>
        <p:xfrm>
          <a:off x="2563813" y="2384425"/>
          <a:ext cx="3495675" cy="757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name="Equation" r:id="rId3" imgW="1879560" imgH="507960" progId="Equation.DSMT4">
                  <p:embed/>
                </p:oleObj>
              </mc:Choice>
              <mc:Fallback>
                <p:oleObj name="Equation" r:id="rId3" imgW="1879560" imgH="50796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3813" y="2384425"/>
                        <a:ext cx="3495675" cy="757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2" name="Text Box 10"/>
          <p:cNvSpPr txBox="1">
            <a:spLocks noChangeArrowheads="1"/>
          </p:cNvSpPr>
          <p:nvPr/>
        </p:nvSpPr>
        <p:spPr bwMode="auto">
          <a:xfrm>
            <a:off x="1979613" y="5876925"/>
            <a:ext cx="19081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fr-FR"/>
              <a:t>Accumulation </a:t>
            </a:r>
            <a:r>
              <a:rPr lang="en-US" altLang="fr-FR">
                <a:sym typeface="Symbol" panose="05050102010706020507" pitchFamily="18" charset="2"/>
              </a:rPr>
              <a:t></a:t>
            </a:r>
            <a:r>
              <a:rPr lang="en-US" altLang="fr-FR"/>
              <a:t> </a:t>
            </a:r>
          </a:p>
        </p:txBody>
      </p:sp>
      <p:graphicFrame>
        <p:nvGraphicFramePr>
          <p:cNvPr id="3084" name="Object 12"/>
          <p:cNvGraphicFramePr>
            <a:graphicFrameLocks noChangeAspect="1"/>
          </p:cNvGraphicFramePr>
          <p:nvPr/>
        </p:nvGraphicFramePr>
        <p:xfrm>
          <a:off x="3924300" y="5805488"/>
          <a:ext cx="3455988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Equation" r:id="rId5" imgW="2286000" imgH="431640" progId="Equation.DSMT4">
                  <p:embed/>
                </p:oleObj>
              </mc:Choice>
              <mc:Fallback>
                <p:oleObj name="Equation" r:id="rId5" imgW="2286000" imgH="43164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5805488"/>
                        <a:ext cx="3455988" cy="60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85" name="Object 13"/>
          <p:cNvGraphicFramePr>
            <a:graphicFrameLocks noChangeAspect="1"/>
          </p:cNvGraphicFramePr>
          <p:nvPr/>
        </p:nvGraphicFramePr>
        <p:xfrm>
          <a:off x="3254375" y="4797425"/>
          <a:ext cx="3311525" cy="728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name="Equation" r:id="rId7" imgW="1955520" imgH="431640" progId="Equation.DSMT4">
                  <p:embed/>
                </p:oleObj>
              </mc:Choice>
              <mc:Fallback>
                <p:oleObj name="Equation" r:id="rId7" imgW="1955520" imgH="43164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4375" y="4797425"/>
                        <a:ext cx="3311525" cy="7286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6" name="Text Box 14"/>
          <p:cNvSpPr txBox="1">
            <a:spLocks noChangeArrowheads="1"/>
          </p:cNvSpPr>
          <p:nvPr/>
        </p:nvSpPr>
        <p:spPr bwMode="auto">
          <a:xfrm>
            <a:off x="6156325" y="2636838"/>
            <a:ext cx="1174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fr-FR"/>
              <a:t>en (u</a:t>
            </a:r>
            <a:r>
              <a:rPr lang="en-US" altLang="fr-FR" baseline="-25000"/>
              <a:t>k</a:t>
            </a:r>
            <a:r>
              <a:rPr lang="en-US" altLang="fr-FR"/>
              <a:t>,v</a:t>
            </a:r>
            <a:r>
              <a:rPr lang="en-US" altLang="fr-FR" baseline="-25000"/>
              <a:t>k</a:t>
            </a:r>
            <a:r>
              <a:rPr lang="en-US" altLang="fr-FR"/>
              <a:t>) </a:t>
            </a:r>
          </a:p>
        </p:txBody>
      </p:sp>
      <p:sp>
        <p:nvSpPr>
          <p:cNvPr id="3091" name="Line 19"/>
          <p:cNvSpPr>
            <a:spLocks noChangeShapeType="1"/>
          </p:cNvSpPr>
          <p:nvPr/>
        </p:nvSpPr>
        <p:spPr bwMode="auto">
          <a:xfrm>
            <a:off x="904875" y="1412875"/>
            <a:ext cx="0" cy="46799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093" name="Line 21"/>
          <p:cNvSpPr>
            <a:spLocks noChangeShapeType="1"/>
          </p:cNvSpPr>
          <p:nvPr/>
        </p:nvSpPr>
        <p:spPr bwMode="auto">
          <a:xfrm>
            <a:off x="904875" y="1412875"/>
            <a:ext cx="17224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095" name="Line 23"/>
          <p:cNvSpPr>
            <a:spLocks noChangeShapeType="1"/>
          </p:cNvSpPr>
          <p:nvPr/>
        </p:nvSpPr>
        <p:spPr bwMode="auto">
          <a:xfrm>
            <a:off x="4572000" y="836613"/>
            <a:ext cx="0" cy="482441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081" name="Text Box 9"/>
          <p:cNvSpPr txBox="1">
            <a:spLocks noChangeArrowheads="1"/>
          </p:cNvSpPr>
          <p:nvPr/>
        </p:nvSpPr>
        <p:spPr bwMode="auto">
          <a:xfrm>
            <a:off x="1258888" y="4005263"/>
            <a:ext cx="6550025" cy="66992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fr-FR" altLang="fr-FR"/>
              <a:t>Interpolation de la grandeur à intégrer à partir de sa valeur aux</a:t>
            </a:r>
          </a:p>
          <a:p>
            <a:pPr algn="ctr"/>
            <a:r>
              <a:rPr lang="fr-FR" altLang="fr-FR"/>
              <a:t>nœuds avec les polynômes </a:t>
            </a:r>
            <a:r>
              <a:rPr lang="fr-FR" altLang="fr-FR">
                <a:latin typeface="Symbol" panose="05050102010706020507" pitchFamily="18" charset="2"/>
              </a:rPr>
              <a:t>a</a:t>
            </a:r>
            <a:r>
              <a:rPr lang="fr-FR" altLang="fr-FR" baseline="-25000">
                <a:latin typeface="Times New Roman" panose="02020603050405020304" pitchFamily="18" charset="0"/>
              </a:rPr>
              <a:t>i</a:t>
            </a:r>
            <a:r>
              <a:rPr lang="fr-FR" altLang="fr-FR">
                <a:latin typeface="Symbol" panose="05050102010706020507" pitchFamily="18" charset="2"/>
              </a:rPr>
              <a:t> </a:t>
            </a:r>
            <a:r>
              <a:rPr lang="fr-FR" altLang="fr-FR"/>
              <a:t>dans le repère (u,v)</a:t>
            </a:r>
            <a:endParaRPr lang="en-US" altLang="fr-FR"/>
          </a:p>
        </p:txBody>
      </p:sp>
      <p:sp>
        <p:nvSpPr>
          <p:cNvPr id="3079" name="Text Box 7"/>
          <p:cNvSpPr txBox="1">
            <a:spLocks noChangeArrowheads="1"/>
          </p:cNvSpPr>
          <p:nvPr/>
        </p:nvSpPr>
        <p:spPr bwMode="auto">
          <a:xfrm>
            <a:off x="1692275" y="3349625"/>
            <a:ext cx="5727700" cy="395288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fr-FR" altLang="fr-FR"/>
              <a:t>Calcul des polynômes </a:t>
            </a:r>
            <a:r>
              <a:rPr lang="fr-FR" altLang="fr-FR">
                <a:latin typeface="Symbol" panose="05050102010706020507" pitchFamily="18" charset="2"/>
              </a:rPr>
              <a:t>a</a:t>
            </a:r>
            <a:r>
              <a:rPr lang="fr-FR" altLang="fr-FR" baseline="-25000">
                <a:latin typeface="Times New Roman" panose="02020603050405020304" pitchFamily="18" charset="0"/>
              </a:rPr>
              <a:t>i</a:t>
            </a:r>
            <a:r>
              <a:rPr lang="fr-FR" altLang="fr-FR">
                <a:latin typeface="Symbol" panose="05050102010706020507" pitchFamily="18" charset="2"/>
              </a:rPr>
              <a:t> </a:t>
            </a:r>
            <a:r>
              <a:rPr lang="fr-FR" altLang="fr-FR"/>
              <a:t>dans le repère (u,v) en (u</a:t>
            </a:r>
            <a:r>
              <a:rPr lang="fr-FR" altLang="fr-FR" baseline="-25000"/>
              <a:t>k</a:t>
            </a:r>
            <a:r>
              <a:rPr lang="fr-FR" altLang="fr-FR"/>
              <a:t>,v</a:t>
            </a:r>
            <a:r>
              <a:rPr lang="fr-FR" altLang="fr-FR" baseline="-25000"/>
              <a:t>k</a:t>
            </a:r>
            <a:r>
              <a:rPr lang="fr-FR" altLang="fr-FR"/>
              <a:t>)</a:t>
            </a:r>
            <a:endParaRPr lang="en-US" altLang="fr-FR"/>
          </a:p>
        </p:txBody>
      </p:sp>
      <p:sp>
        <p:nvSpPr>
          <p:cNvPr id="3076" name="Text Box 4"/>
          <p:cNvSpPr txBox="1">
            <a:spLocks noChangeArrowheads="1"/>
          </p:cNvSpPr>
          <p:nvPr/>
        </p:nvSpPr>
        <p:spPr bwMode="auto">
          <a:xfrm>
            <a:off x="2265363" y="423863"/>
            <a:ext cx="4611687" cy="39528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fr-FR" b="1">
                <a:solidFill>
                  <a:srgbClr val="0033CC"/>
                </a:solidFill>
              </a:rPr>
              <a:t>integrale</a:t>
            </a:r>
            <a:r>
              <a:rPr lang="en-US" altLang="fr-FR"/>
              <a:t> : calcul de l'integrale élémentaire </a:t>
            </a:r>
          </a:p>
        </p:txBody>
      </p:sp>
      <p:sp>
        <p:nvSpPr>
          <p:cNvPr id="3077" name="Text Box 5"/>
          <p:cNvSpPr txBox="1">
            <a:spLocks noChangeArrowheads="1"/>
          </p:cNvSpPr>
          <p:nvPr/>
        </p:nvSpPr>
        <p:spPr bwMode="auto">
          <a:xfrm>
            <a:off x="2555875" y="1196975"/>
            <a:ext cx="4035425" cy="395288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fr-FR" i="1"/>
              <a:t>Boucle sur les points de Gauss (u</a:t>
            </a:r>
            <a:r>
              <a:rPr lang="en-US" altLang="fr-FR" i="1" baseline="-25000"/>
              <a:t>k</a:t>
            </a:r>
            <a:r>
              <a:rPr lang="en-US" altLang="fr-FR" i="1"/>
              <a:t>,v</a:t>
            </a:r>
            <a:r>
              <a:rPr lang="en-US" altLang="fr-FR" i="1" baseline="-25000"/>
              <a:t>k</a:t>
            </a:r>
            <a:r>
              <a:rPr lang="en-US" altLang="fr-FR" i="1"/>
              <a:t>)</a:t>
            </a:r>
          </a:p>
        </p:txBody>
      </p:sp>
      <p:sp>
        <p:nvSpPr>
          <p:cNvPr id="3078" name="Text Box 6"/>
          <p:cNvSpPr txBox="1">
            <a:spLocks noChangeArrowheads="1"/>
          </p:cNvSpPr>
          <p:nvPr/>
        </p:nvSpPr>
        <p:spPr bwMode="auto">
          <a:xfrm>
            <a:off x="1763713" y="1844675"/>
            <a:ext cx="5559425" cy="395288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fr-FR" altLang="fr-FR"/>
              <a:t>Calcul du déterminant de la matrice Jacobienne (u,v)</a:t>
            </a:r>
            <a:endParaRPr lang="en-US" altLang="fr-FR">
              <a:latin typeface="Symbol" panose="05050102010706020507" pitchFamily="18" charset="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dèle par défaut">
  <a:themeElements>
    <a:clrScheme name="Modèle par défau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Modèle par défau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Modèle par défau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145</Words>
  <Application>Microsoft Office PowerPoint</Application>
  <PresentationFormat>Affichage à l'écran (4:3)</PresentationFormat>
  <Paragraphs>18</Paragraphs>
  <Slides>2</Slides>
  <Notes>0</Notes>
  <HiddenSlides>0</HiddenSlides>
  <MMClips>0</MMClips>
  <ScaleCrop>false</ScaleCrop>
  <HeadingPairs>
    <vt:vector size="8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7" baseType="lpstr">
      <vt:lpstr>Arial</vt:lpstr>
      <vt:lpstr>Symbol</vt:lpstr>
      <vt:lpstr>Times New Roman</vt:lpstr>
      <vt:lpstr>Modèle par défaut</vt:lpstr>
      <vt:lpstr>MathType 6.0 Equation</vt:lpstr>
      <vt:lpstr>Présentation PowerPoint</vt:lpstr>
      <vt:lpstr>Présentation PowerPoint</vt:lpstr>
    </vt:vector>
  </TitlesOfParts>
  <Company>CEA-CNRS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toussain</dc:creator>
  <cp:lastModifiedBy>jean-christophe toussaint</cp:lastModifiedBy>
  <cp:revision>8</cp:revision>
  <dcterms:created xsi:type="dcterms:W3CDTF">2003-12-08T04:02:59Z</dcterms:created>
  <dcterms:modified xsi:type="dcterms:W3CDTF">2019-07-07T14:58:36Z</dcterms:modified>
</cp:coreProperties>
</file>