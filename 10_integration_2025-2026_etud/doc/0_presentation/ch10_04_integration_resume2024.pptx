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7099300" cy="10234613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394483-5CFF-4E7C-A288-780A5B23EF55}" type="datetimeFigureOut">
              <a:rPr lang="fr-FR" altLang="fr-FR"/>
              <a:pPr/>
              <a:t>16/09/2025</a:t>
            </a:fld>
            <a:endParaRPr lang="fr-FR" alt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CE054D-93A9-45E1-8F43-BFD4D3499A4F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73316-AF55-45B3-91F0-85B20B241C5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4576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1F755-33D3-49CA-9CC9-DD3756C332C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5580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BC1BA7-FC86-407F-85ED-52832C44792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1176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7E8FC-E167-4C45-BDE9-7F8D52C1398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0247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E877C4-DA83-4633-B6E8-B98FE90FA21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3682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6DED2F-6DFA-4805-8E30-2EC0B0E47E6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9108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B5FA24C-E2A2-40D7-A174-8BCE39C64CD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5792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EB3CD-FDBC-47CC-9052-6992C7903EF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8440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2F34B5-B378-4ADD-8B68-6B77341F839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839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A6DC7E-9DE2-4E54-A461-EEA91CC95DF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7199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5471B-E3E1-4C0E-88D5-E1CBB5FEBC8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7131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BEE53B0-B4AA-4BEC-A18B-78EA0721B0FD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5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tags" Target="../tags/tag2.xml"/><Relationship Id="rId7" Type="http://schemas.openxmlformats.org/officeDocument/2006/relationships/oleObject" Target="../embeddings/oleObject2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tags" Target="../tags/tag5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9.png"/><Relationship Id="rId5" Type="http://schemas.openxmlformats.org/officeDocument/2006/relationships/tags" Target="../tags/tag7.xml"/><Relationship Id="rId10" Type="http://schemas.openxmlformats.org/officeDocument/2006/relationships/image" Target="../media/image8.png"/><Relationship Id="rId4" Type="http://schemas.openxmlformats.org/officeDocument/2006/relationships/tags" Target="../tags/tag6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6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5.png"/><Relationship Id="rId2" Type="http://schemas.openxmlformats.org/officeDocument/2006/relationships/tags" Target="../tags/tag9.xml"/><Relationship Id="rId1" Type="http://schemas.openxmlformats.org/officeDocument/2006/relationships/vmlDrawing" Target="../drawings/vmlDrawing2.vml"/><Relationship Id="rId6" Type="http://schemas.openxmlformats.org/officeDocument/2006/relationships/tags" Target="../tags/tag13.xml"/><Relationship Id="rId11" Type="http://schemas.openxmlformats.org/officeDocument/2006/relationships/image" Target="../media/image14.png"/><Relationship Id="rId5" Type="http://schemas.openxmlformats.org/officeDocument/2006/relationships/tags" Target="../tags/tag12.xml"/><Relationship Id="rId10" Type="http://schemas.openxmlformats.org/officeDocument/2006/relationships/image" Target="../media/image13.png"/><Relationship Id="rId4" Type="http://schemas.openxmlformats.org/officeDocument/2006/relationships/tags" Target="../tags/tag11.xml"/><Relationship Id="rId9" Type="http://schemas.openxmlformats.org/officeDocument/2006/relationships/image" Target="../media/image12.wmf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20.png"/><Relationship Id="rId5" Type="http://schemas.openxmlformats.org/officeDocument/2006/relationships/tags" Target="../tags/tag18.xml"/><Relationship Id="rId10" Type="http://schemas.openxmlformats.org/officeDocument/2006/relationships/image" Target="../media/image19.png"/><Relationship Id="rId4" Type="http://schemas.openxmlformats.org/officeDocument/2006/relationships/tags" Target="../tags/tag17.xml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22.xml"/><Relationship Id="rId7" Type="http://schemas.openxmlformats.org/officeDocument/2006/relationships/image" Target="../media/image23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7.png"/><Relationship Id="rId5" Type="http://schemas.openxmlformats.org/officeDocument/2006/relationships/tags" Target="../tags/tag24.xml"/><Relationship Id="rId10" Type="http://schemas.openxmlformats.org/officeDocument/2006/relationships/image" Target="../media/image26.png"/><Relationship Id="rId4" Type="http://schemas.openxmlformats.org/officeDocument/2006/relationships/tags" Target="../tags/tag23.xml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6.xml"/><Relationship Id="rId7" Type="http://schemas.openxmlformats.org/officeDocument/2006/relationships/image" Target="../media/image3.png"/><Relationship Id="rId2" Type="http://schemas.openxmlformats.org/officeDocument/2006/relationships/tags" Target="../tags/tag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1.wmf"/><Relationship Id="rId2" Type="http://schemas.openxmlformats.org/officeDocument/2006/relationships/tags" Target="../tags/tag2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0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AutoShape 2"/>
          <p:cNvSpPr>
            <a:spLocks noChangeArrowheads="1"/>
          </p:cNvSpPr>
          <p:nvPr/>
        </p:nvSpPr>
        <p:spPr bwMode="auto">
          <a:xfrm>
            <a:off x="3924300" y="3525838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3276600" y="1509713"/>
            <a:ext cx="263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NBN nombre de noeuds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620713" y="9144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Interpolation sur un élément triangulaire à 3 noeuds</a:t>
            </a:r>
          </a:p>
        </p:txBody>
      </p:sp>
      <p:sp>
        <p:nvSpPr>
          <p:cNvPr id="14341" name="AutoShape 6"/>
          <p:cNvSpPr>
            <a:spLocks noChangeArrowheads="1"/>
          </p:cNvSpPr>
          <p:nvPr/>
        </p:nvSpPr>
        <p:spPr bwMode="auto">
          <a:xfrm>
            <a:off x="776288" y="2063750"/>
            <a:ext cx="1439862" cy="1439863"/>
          </a:xfrm>
          <a:prstGeom prst="rtTriangl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 flipV="1">
            <a:off x="776288" y="1758950"/>
            <a:ext cx="0" cy="172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2605088" y="29845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760413" y="15097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4345" name="Text Box 10"/>
          <p:cNvSpPr txBox="1">
            <a:spLocks noChangeArrowheads="1"/>
          </p:cNvSpPr>
          <p:nvPr/>
        </p:nvSpPr>
        <p:spPr bwMode="auto">
          <a:xfrm>
            <a:off x="2071688" y="30543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4346" name="Text Box 11"/>
          <p:cNvSpPr txBox="1">
            <a:spLocks noChangeArrowheads="1"/>
          </p:cNvSpPr>
          <p:nvPr/>
        </p:nvSpPr>
        <p:spPr bwMode="auto">
          <a:xfrm>
            <a:off x="831850" y="18637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4347" name="Line 12"/>
          <p:cNvSpPr>
            <a:spLocks noChangeShapeType="1"/>
          </p:cNvSpPr>
          <p:nvPr/>
        </p:nvSpPr>
        <p:spPr bwMode="auto">
          <a:xfrm>
            <a:off x="776288" y="35115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348" name="Oval 13"/>
          <p:cNvSpPr>
            <a:spLocks noChangeArrowheads="1"/>
          </p:cNvSpPr>
          <p:nvPr/>
        </p:nvSpPr>
        <p:spPr bwMode="auto">
          <a:xfrm>
            <a:off x="690563" y="3387725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4349" name="Text Box 14"/>
          <p:cNvSpPr txBox="1">
            <a:spLocks noChangeArrowheads="1"/>
          </p:cNvSpPr>
          <p:nvPr/>
        </p:nvSpPr>
        <p:spPr bwMode="auto">
          <a:xfrm>
            <a:off x="596900" y="354171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4350" name="Text Box 15"/>
          <p:cNvSpPr txBox="1">
            <a:spLocks noChangeArrowheads="1"/>
          </p:cNvSpPr>
          <p:nvPr/>
        </p:nvSpPr>
        <p:spPr bwMode="auto">
          <a:xfrm>
            <a:off x="2128838" y="3519488"/>
            <a:ext cx="503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II</a:t>
            </a:r>
          </a:p>
        </p:txBody>
      </p:sp>
      <p:sp>
        <p:nvSpPr>
          <p:cNvPr id="14351" name="Text Box 16"/>
          <p:cNvSpPr txBox="1">
            <a:spLocks noChangeArrowheads="1"/>
          </p:cNvSpPr>
          <p:nvPr/>
        </p:nvSpPr>
        <p:spPr bwMode="auto">
          <a:xfrm>
            <a:off x="400050" y="200818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III</a:t>
            </a:r>
          </a:p>
        </p:txBody>
      </p:sp>
      <p:sp>
        <p:nvSpPr>
          <p:cNvPr id="14352" name="Text Box 17"/>
          <p:cNvSpPr txBox="1">
            <a:spLocks noChangeArrowheads="1"/>
          </p:cNvSpPr>
          <p:nvPr/>
        </p:nvSpPr>
        <p:spPr bwMode="auto">
          <a:xfrm>
            <a:off x="1330325" y="1676400"/>
            <a:ext cx="1339850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Élément de</a:t>
            </a:r>
          </a:p>
          <a:p>
            <a:pPr eaLnBrk="1" hangingPunct="1"/>
            <a:r>
              <a:rPr lang="fr-FR" altLang="fr-FR" sz="1800"/>
              <a:t>référence</a:t>
            </a:r>
          </a:p>
        </p:txBody>
      </p:sp>
      <p:sp>
        <p:nvSpPr>
          <p:cNvPr id="14353" name="Oval 18"/>
          <p:cNvSpPr>
            <a:spLocks noChangeArrowheads="1"/>
          </p:cNvSpPr>
          <p:nvPr/>
        </p:nvSpPr>
        <p:spPr bwMode="auto">
          <a:xfrm>
            <a:off x="2116138" y="3422650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4354" name="Oval 19"/>
          <p:cNvSpPr>
            <a:spLocks noChangeArrowheads="1"/>
          </p:cNvSpPr>
          <p:nvPr/>
        </p:nvSpPr>
        <p:spPr bwMode="auto">
          <a:xfrm>
            <a:off x="677863" y="2003425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pSp>
        <p:nvGrpSpPr>
          <p:cNvPr id="14355" name="Group 20"/>
          <p:cNvGrpSpPr>
            <a:grpSpLocks/>
          </p:cNvGrpSpPr>
          <p:nvPr/>
        </p:nvGrpSpPr>
        <p:grpSpPr bwMode="auto">
          <a:xfrm>
            <a:off x="6659563" y="1527175"/>
            <a:ext cx="2006600" cy="2435225"/>
            <a:chOff x="4195" y="720"/>
            <a:chExt cx="1264" cy="1534"/>
          </a:xfrm>
        </p:grpSpPr>
        <p:grpSp>
          <p:nvGrpSpPr>
            <p:cNvPr id="14364" name="Group 21"/>
            <p:cNvGrpSpPr>
              <a:grpSpLocks/>
            </p:cNvGrpSpPr>
            <p:nvPr/>
          </p:nvGrpSpPr>
          <p:grpSpPr bwMode="auto">
            <a:xfrm>
              <a:off x="4286" y="980"/>
              <a:ext cx="1043" cy="1043"/>
              <a:chOff x="4105" y="2931"/>
              <a:chExt cx="1043" cy="1043"/>
            </a:xfrm>
          </p:grpSpPr>
          <p:sp>
            <p:nvSpPr>
              <p:cNvPr id="14372" name="Line 22"/>
              <p:cNvSpPr>
                <a:spLocks noChangeShapeType="1"/>
              </p:cNvSpPr>
              <p:nvPr/>
            </p:nvSpPr>
            <p:spPr bwMode="auto">
              <a:xfrm>
                <a:off x="4105" y="3974"/>
                <a:ext cx="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73" name="Line 23"/>
              <p:cNvSpPr>
                <a:spLocks noChangeShapeType="1"/>
              </p:cNvSpPr>
              <p:nvPr/>
            </p:nvSpPr>
            <p:spPr bwMode="auto">
              <a:xfrm flipV="1">
                <a:off x="4105" y="2931"/>
                <a:ext cx="1043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74" name="Line 24"/>
              <p:cNvSpPr>
                <a:spLocks noChangeShapeType="1"/>
              </p:cNvSpPr>
              <p:nvPr/>
            </p:nvSpPr>
            <p:spPr bwMode="auto">
              <a:xfrm flipH="1">
                <a:off x="4967" y="2931"/>
                <a:ext cx="181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4365" name="Text Box 25"/>
            <p:cNvSpPr txBox="1">
              <a:spLocks noChangeArrowheads="1"/>
            </p:cNvSpPr>
            <p:nvPr/>
          </p:nvSpPr>
          <p:spPr bwMode="auto">
            <a:xfrm>
              <a:off x="4195" y="2023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366" name="Text Box 26"/>
            <p:cNvSpPr txBox="1">
              <a:spLocks noChangeArrowheads="1"/>
            </p:cNvSpPr>
            <p:nvPr/>
          </p:nvSpPr>
          <p:spPr bwMode="auto">
            <a:xfrm>
              <a:off x="5057" y="2023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>
                  <a:latin typeface="Times New Roman" panose="02020603050405020304" pitchFamily="18" charset="0"/>
                </a:rPr>
                <a:t>II</a:t>
              </a:r>
            </a:p>
          </p:txBody>
        </p:sp>
        <p:sp>
          <p:nvSpPr>
            <p:cNvPr id="14367" name="Text Box 27"/>
            <p:cNvSpPr txBox="1">
              <a:spLocks noChangeArrowheads="1"/>
            </p:cNvSpPr>
            <p:nvPr/>
          </p:nvSpPr>
          <p:spPr bwMode="auto">
            <a:xfrm>
              <a:off x="5199" y="72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>
                  <a:latin typeface="Times New Roman" panose="02020603050405020304" pitchFamily="18" charset="0"/>
                </a:rPr>
                <a:t>III</a:t>
              </a:r>
            </a:p>
          </p:txBody>
        </p:sp>
        <p:sp>
          <p:nvSpPr>
            <p:cNvPr id="14368" name="Text Box 28"/>
            <p:cNvSpPr txBox="1">
              <a:spLocks noChangeArrowheads="1"/>
            </p:cNvSpPr>
            <p:nvPr/>
          </p:nvSpPr>
          <p:spPr bwMode="auto">
            <a:xfrm>
              <a:off x="4286" y="890"/>
              <a:ext cx="644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Élément</a:t>
              </a:r>
            </a:p>
            <a:p>
              <a:pPr eaLnBrk="1" hangingPunct="1"/>
              <a:r>
                <a:rPr lang="fr-FR" altLang="fr-FR" sz="1800"/>
                <a:t>réel</a:t>
              </a:r>
            </a:p>
          </p:txBody>
        </p:sp>
        <p:sp>
          <p:nvSpPr>
            <p:cNvPr id="14369" name="Oval 29"/>
            <p:cNvSpPr>
              <a:spLocks noChangeArrowheads="1"/>
            </p:cNvSpPr>
            <p:nvPr/>
          </p:nvSpPr>
          <p:spPr bwMode="auto">
            <a:xfrm>
              <a:off x="4237" y="1956"/>
              <a:ext cx="113" cy="1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14370" name="Oval 30"/>
            <p:cNvSpPr>
              <a:spLocks noChangeArrowheads="1"/>
            </p:cNvSpPr>
            <p:nvPr/>
          </p:nvSpPr>
          <p:spPr bwMode="auto">
            <a:xfrm>
              <a:off x="5095" y="1956"/>
              <a:ext cx="113" cy="1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14371" name="Oval 31"/>
            <p:cNvSpPr>
              <a:spLocks noChangeArrowheads="1"/>
            </p:cNvSpPr>
            <p:nvPr/>
          </p:nvSpPr>
          <p:spPr bwMode="auto">
            <a:xfrm>
              <a:off x="5269" y="924"/>
              <a:ext cx="113" cy="11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</p:grpSp>
      <p:graphicFrame>
        <p:nvGraphicFramePr>
          <p:cNvPr id="14356" name="Object 32"/>
          <p:cNvGraphicFramePr>
            <a:graphicFrameLocks noChangeAspect="1"/>
          </p:cNvGraphicFramePr>
          <p:nvPr/>
        </p:nvGraphicFramePr>
        <p:xfrm>
          <a:off x="1258888" y="4659313"/>
          <a:ext cx="6481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quation" r:id="rId5" imgW="3124200" imgH="215900" progId="Equation.3">
                  <p:embed/>
                </p:oleObj>
              </mc:Choice>
              <mc:Fallback>
                <p:oleObj name="Equation" r:id="rId5" imgW="3124200" imgH="2159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659313"/>
                        <a:ext cx="6481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Text Box 33"/>
          <p:cNvSpPr txBox="1">
            <a:spLocks noChangeArrowheads="1"/>
          </p:cNvSpPr>
          <p:nvPr/>
        </p:nvSpPr>
        <p:spPr bwMode="auto">
          <a:xfrm>
            <a:off x="611188" y="4076700"/>
            <a:ext cx="6750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Polynômes d</a:t>
            </a:r>
            <a:r>
              <a:rPr lang="ja-JP" altLang="fr-FR" sz="1800"/>
              <a:t>’</a:t>
            </a:r>
            <a:r>
              <a:rPr lang="fr-FR" altLang="ja-JP" sz="1800"/>
              <a:t>interpolation de Lagrange d</a:t>
            </a:r>
            <a:r>
              <a:rPr lang="ja-JP" altLang="fr-FR" sz="1800"/>
              <a:t>’</a:t>
            </a:r>
            <a:r>
              <a:rPr lang="fr-FR" altLang="ja-JP" sz="1800"/>
              <a:t>ordre 1 : polynômes P1</a:t>
            </a:r>
            <a:endParaRPr lang="fr-FR" altLang="fr-FR" sz="1800"/>
          </a:p>
        </p:txBody>
      </p:sp>
      <p:sp>
        <p:nvSpPr>
          <p:cNvPr id="14358" name="Text Box 34"/>
          <p:cNvSpPr txBox="1">
            <a:spLocks noChangeArrowheads="1"/>
          </p:cNvSpPr>
          <p:nvPr/>
        </p:nvSpPr>
        <p:spPr bwMode="auto">
          <a:xfrm>
            <a:off x="755650" y="5373688"/>
            <a:ext cx="667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Interpolation d</a:t>
            </a:r>
            <a:r>
              <a:rPr lang="ja-JP" altLang="fr-FR" sz="1800"/>
              <a:t>’</a:t>
            </a:r>
            <a:r>
              <a:rPr lang="fr-FR" altLang="ja-JP" sz="1800"/>
              <a:t>une grandeur f connue aux nœuds d</a:t>
            </a:r>
            <a:r>
              <a:rPr lang="ja-JP" altLang="fr-FR" sz="1800"/>
              <a:t>’</a:t>
            </a:r>
            <a:r>
              <a:rPr lang="fr-FR" altLang="ja-JP" sz="1800"/>
              <a:t>interpolation</a:t>
            </a:r>
            <a:endParaRPr lang="fr-FR" altLang="fr-FR" sz="1800"/>
          </a:p>
        </p:txBody>
      </p:sp>
      <p:graphicFrame>
        <p:nvGraphicFramePr>
          <p:cNvPr id="14360" name="Object 36"/>
          <p:cNvGraphicFramePr>
            <a:graphicFrameLocks noChangeAspect="1"/>
          </p:cNvGraphicFramePr>
          <p:nvPr/>
        </p:nvGraphicFramePr>
        <p:xfrm>
          <a:off x="5811838" y="5949950"/>
          <a:ext cx="30210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0" name="Equation" r:id="rId7" imgW="1675673" imgH="215806" progId="Equation.3">
                  <p:embed/>
                </p:oleObj>
              </mc:Choice>
              <mc:Fallback>
                <p:oleObj name="Equation" r:id="rId7" imgW="1675673" imgH="21580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5949950"/>
                        <a:ext cx="30210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AutoShape 37"/>
          <p:cNvSpPr>
            <a:spLocks noChangeArrowheads="1"/>
          </p:cNvSpPr>
          <p:nvPr/>
        </p:nvSpPr>
        <p:spPr bwMode="auto">
          <a:xfrm>
            <a:off x="3995738" y="6021388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4362" name="Espace réservé du numéro de diapositive 3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BF9CD2E-8CF9-4F12-AA2F-14BA075B2BCE}" type="slidenum">
              <a:rPr lang="fr-FR" altLang="fr-FR" sz="1400"/>
              <a:pPr eaLnBrk="1" hangingPunct="1"/>
              <a:t>1</a:t>
            </a:fld>
            <a:endParaRPr lang="fr-FR" altLang="fr-FR" sz="1400"/>
          </a:p>
        </p:txBody>
      </p:sp>
      <p:sp>
        <p:nvSpPr>
          <p:cNvPr id="14363" name="ZoneTexte 1"/>
          <p:cNvSpPr txBox="1">
            <a:spLocks noChangeArrowheads="1"/>
          </p:cNvSpPr>
          <p:nvPr/>
        </p:nvSpPr>
        <p:spPr bwMode="auto">
          <a:xfrm>
            <a:off x="582613" y="228600"/>
            <a:ext cx="8027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/>
              <a:t>Résumé sur l’interpolation et l’intégration en FEM</a:t>
            </a:r>
          </a:p>
        </p:txBody>
      </p:sp>
      <p:pic>
        <p:nvPicPr>
          <p:cNvPr id="3" name="Image 2" descr="\documentclass{article}&#10;\usepackage{amsmath}&#10;\pagestyle{empty}&#10;\begin{document}&#10;&#10;&#10;\begin{align*}&#10;x(u,v) &amp;= \sum_{ie=1}^{\text{NBN}} \alpha_{ie}(u,v) \, x_{ie} \\&#10;y(u,v) &amp;= \sum_{ie=1}^{\text{NBN}} \alpha_{ie}(u,v) \, y_{ie}&#10;\end{alig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545" y="1879232"/>
            <a:ext cx="2819047" cy="1624381"/>
          </a:xfrm>
          <a:prstGeom prst="rect">
            <a:avLst/>
          </a:prstGeom>
        </p:spPr>
      </p:pic>
      <p:pic>
        <p:nvPicPr>
          <p:cNvPr id="4" name="Image 3" descr="\documentclass{article}&#10;\usepackage{amsmath}&#10;\pagestyle{empty}&#10;\begin{document}&#10;&#10;$$&#10;f(u,v) = \sum_{ie=1}^{\text{NBN}} \alpha_{ie}(u,v) \, f_{ie}&#10;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88" y="5882351"/>
            <a:ext cx="2797714" cy="737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/>
          <p:cNvSpPr txBox="1">
            <a:spLocks noChangeArrowheads="1"/>
          </p:cNvSpPr>
          <p:nvPr/>
        </p:nvSpPr>
        <p:spPr bwMode="auto">
          <a:xfrm>
            <a:off x="220663" y="238125"/>
            <a:ext cx="7053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Intégration numérique de Gauss sur un triangle</a:t>
            </a:r>
          </a:p>
        </p:txBody>
      </p:sp>
      <p:grpSp>
        <p:nvGrpSpPr>
          <p:cNvPr id="15362" name="Group 82"/>
          <p:cNvGrpSpPr>
            <a:grpSpLocks/>
          </p:cNvGrpSpPr>
          <p:nvPr/>
        </p:nvGrpSpPr>
        <p:grpSpPr bwMode="auto">
          <a:xfrm>
            <a:off x="457200" y="762000"/>
            <a:ext cx="8240713" cy="2398713"/>
            <a:chOff x="295" y="2282"/>
            <a:chExt cx="5191" cy="1511"/>
          </a:xfrm>
        </p:grpSpPr>
        <p:grpSp>
          <p:nvGrpSpPr>
            <p:cNvPr id="15408" name="Group 39"/>
            <p:cNvGrpSpPr>
              <a:grpSpLocks/>
            </p:cNvGrpSpPr>
            <p:nvPr/>
          </p:nvGrpSpPr>
          <p:grpSpPr bwMode="auto">
            <a:xfrm>
              <a:off x="295" y="2282"/>
              <a:ext cx="1604" cy="1511"/>
              <a:chOff x="295" y="2387"/>
              <a:chExt cx="1604" cy="1511"/>
            </a:xfrm>
          </p:grpSpPr>
          <p:sp>
            <p:nvSpPr>
              <p:cNvPr id="15426" name="AutoShape 40"/>
              <p:cNvSpPr>
                <a:spLocks noChangeArrowheads="1"/>
              </p:cNvSpPr>
              <p:nvPr/>
            </p:nvSpPr>
            <p:spPr bwMode="auto">
              <a:xfrm>
                <a:off x="535" y="2736"/>
                <a:ext cx="907" cy="907"/>
              </a:xfrm>
              <a:prstGeom prst="rtTriangl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27" name="Line 41"/>
              <p:cNvSpPr>
                <a:spLocks noChangeShapeType="1"/>
              </p:cNvSpPr>
              <p:nvPr/>
            </p:nvSpPr>
            <p:spPr bwMode="auto">
              <a:xfrm flipV="1">
                <a:off x="535" y="2544"/>
                <a:ext cx="0" cy="1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28" name="Text Box 42"/>
              <p:cNvSpPr txBox="1">
                <a:spLocks noChangeArrowheads="1"/>
              </p:cNvSpPr>
              <p:nvPr/>
            </p:nvSpPr>
            <p:spPr bwMode="auto">
              <a:xfrm>
                <a:off x="1687" y="33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fr-FR" altLang="fr-FR">
                    <a:latin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15429" name="Text Box 43"/>
              <p:cNvSpPr txBox="1">
                <a:spLocks noChangeArrowheads="1"/>
              </p:cNvSpPr>
              <p:nvPr/>
            </p:nvSpPr>
            <p:spPr bwMode="auto">
              <a:xfrm>
                <a:off x="525" y="238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fr-FR" altLang="fr-FR"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15430" name="Text Box 44"/>
              <p:cNvSpPr txBox="1">
                <a:spLocks noChangeArrowheads="1"/>
              </p:cNvSpPr>
              <p:nvPr/>
            </p:nvSpPr>
            <p:spPr bwMode="auto">
              <a:xfrm>
                <a:off x="1351" y="336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fr-FR" altLang="fr-FR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431" name="Text Box 45"/>
              <p:cNvSpPr txBox="1">
                <a:spLocks noChangeArrowheads="1"/>
              </p:cNvSpPr>
              <p:nvPr/>
            </p:nvSpPr>
            <p:spPr bwMode="auto">
              <a:xfrm>
                <a:off x="570" y="261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fr-FR" altLang="fr-FR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432" name="Oval 46"/>
              <p:cNvSpPr>
                <a:spLocks noChangeArrowheads="1"/>
              </p:cNvSpPr>
              <p:nvPr/>
            </p:nvSpPr>
            <p:spPr bwMode="auto">
              <a:xfrm>
                <a:off x="642" y="2988"/>
                <a:ext cx="113" cy="113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33" name="Line 47"/>
              <p:cNvSpPr>
                <a:spLocks noChangeShapeType="1"/>
              </p:cNvSpPr>
              <p:nvPr/>
            </p:nvSpPr>
            <p:spPr bwMode="auto">
              <a:xfrm flipV="1">
                <a:off x="535" y="2784"/>
                <a:ext cx="864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34" name="Line 48"/>
              <p:cNvSpPr>
                <a:spLocks noChangeShapeType="1"/>
              </p:cNvSpPr>
              <p:nvPr/>
            </p:nvSpPr>
            <p:spPr bwMode="auto">
              <a:xfrm>
                <a:off x="535" y="36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35" name="Oval 49"/>
              <p:cNvSpPr>
                <a:spLocks noChangeArrowheads="1"/>
              </p:cNvSpPr>
              <p:nvPr/>
            </p:nvSpPr>
            <p:spPr bwMode="auto">
              <a:xfrm>
                <a:off x="649" y="3408"/>
                <a:ext cx="113" cy="113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36" name="Oval 50"/>
              <p:cNvSpPr>
                <a:spLocks noChangeArrowheads="1"/>
              </p:cNvSpPr>
              <p:nvPr/>
            </p:nvSpPr>
            <p:spPr bwMode="auto">
              <a:xfrm>
                <a:off x="1039" y="3409"/>
                <a:ext cx="113" cy="113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37" name="Line 51"/>
              <p:cNvSpPr>
                <a:spLocks noChangeShapeType="1"/>
              </p:cNvSpPr>
              <p:nvPr/>
            </p:nvSpPr>
            <p:spPr bwMode="auto">
              <a:xfrm flipH="1" flipV="1">
                <a:off x="295" y="3072"/>
                <a:ext cx="1152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38" name="Line 52"/>
              <p:cNvSpPr>
                <a:spLocks noChangeShapeType="1"/>
              </p:cNvSpPr>
              <p:nvPr/>
            </p:nvSpPr>
            <p:spPr bwMode="auto">
              <a:xfrm>
                <a:off x="535" y="2736"/>
                <a:ext cx="528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39" name="Text Box 53"/>
              <p:cNvSpPr txBox="1">
                <a:spLocks noChangeArrowheads="1"/>
              </p:cNvSpPr>
              <p:nvPr/>
            </p:nvSpPr>
            <p:spPr bwMode="auto">
              <a:xfrm>
                <a:off x="422" y="3667"/>
                <a:ext cx="1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5440" name="Text Box 54"/>
              <p:cNvSpPr txBox="1">
                <a:spLocks noChangeArrowheads="1"/>
              </p:cNvSpPr>
              <p:nvPr/>
            </p:nvSpPr>
            <p:spPr bwMode="auto">
              <a:xfrm>
                <a:off x="1387" y="3653"/>
                <a:ext cx="31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>
                    <a:latin typeface="Times New Roman" panose="02020603050405020304" pitchFamily="18" charset="0"/>
                  </a:rPr>
                  <a:t>II</a:t>
                </a:r>
              </a:p>
            </p:txBody>
          </p:sp>
          <p:sp>
            <p:nvSpPr>
              <p:cNvPr id="15441" name="Text Box 55"/>
              <p:cNvSpPr txBox="1">
                <a:spLocks noChangeArrowheads="1"/>
              </p:cNvSpPr>
              <p:nvPr/>
            </p:nvSpPr>
            <p:spPr bwMode="auto">
              <a:xfrm>
                <a:off x="298" y="2701"/>
                <a:ext cx="31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>
                    <a:latin typeface="Times New Roman" panose="02020603050405020304" pitchFamily="18" charset="0"/>
                  </a:rPr>
                  <a:t>III</a:t>
                </a:r>
              </a:p>
            </p:txBody>
          </p:sp>
          <p:sp>
            <p:nvSpPr>
              <p:cNvPr id="15442" name="Text Box 56"/>
              <p:cNvSpPr txBox="1">
                <a:spLocks noChangeArrowheads="1"/>
              </p:cNvSpPr>
              <p:nvPr/>
            </p:nvSpPr>
            <p:spPr bwMode="auto">
              <a:xfrm>
                <a:off x="884" y="2492"/>
                <a:ext cx="8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 de</a:t>
                </a:r>
              </a:p>
              <a:p>
                <a:pPr eaLnBrk="1" hangingPunct="1"/>
                <a:r>
                  <a:rPr lang="fr-FR" altLang="fr-FR" sz="1800"/>
                  <a:t>référence</a:t>
                </a:r>
              </a:p>
            </p:txBody>
          </p:sp>
        </p:grpSp>
        <p:grpSp>
          <p:nvGrpSpPr>
            <p:cNvPr id="15409" name="Group 57"/>
            <p:cNvGrpSpPr>
              <a:grpSpLocks/>
            </p:cNvGrpSpPr>
            <p:nvPr/>
          </p:nvGrpSpPr>
          <p:grpSpPr bwMode="auto">
            <a:xfrm>
              <a:off x="4195" y="2324"/>
              <a:ext cx="1291" cy="1455"/>
              <a:chOff x="4195" y="2429"/>
              <a:chExt cx="1291" cy="1455"/>
            </a:xfrm>
          </p:grpSpPr>
          <p:grpSp>
            <p:nvGrpSpPr>
              <p:cNvPr id="15411" name="Group 58"/>
              <p:cNvGrpSpPr>
                <a:grpSpLocks/>
              </p:cNvGrpSpPr>
              <p:nvPr/>
            </p:nvGrpSpPr>
            <p:grpSpPr bwMode="auto">
              <a:xfrm>
                <a:off x="4195" y="2429"/>
                <a:ext cx="1258" cy="1455"/>
                <a:chOff x="4014" y="2750"/>
                <a:chExt cx="1258" cy="1455"/>
              </a:xfrm>
            </p:grpSpPr>
            <p:grpSp>
              <p:nvGrpSpPr>
                <p:cNvPr id="15419" name="Group 59"/>
                <p:cNvGrpSpPr>
                  <a:grpSpLocks/>
                </p:cNvGrpSpPr>
                <p:nvPr/>
              </p:nvGrpSpPr>
              <p:grpSpPr bwMode="auto">
                <a:xfrm>
                  <a:off x="4105" y="2931"/>
                  <a:ext cx="1043" cy="1043"/>
                  <a:chOff x="4105" y="2931"/>
                  <a:chExt cx="1043" cy="1043"/>
                </a:xfrm>
              </p:grpSpPr>
              <p:sp>
                <p:nvSpPr>
                  <p:cNvPr id="15423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3974"/>
                    <a:ext cx="86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424" name="Line 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05" y="2931"/>
                    <a:ext cx="1043" cy="104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425" name="Line 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967" y="2931"/>
                    <a:ext cx="181" cy="104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5420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4014" y="3974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fr-FR" altLang="fr-FR" sz="1800">
                      <a:latin typeface="Times New Roman" panose="02020603050405020304" pitchFamily="18" charset="0"/>
                    </a:rPr>
                    <a:t>I</a:t>
                  </a:r>
                </a:p>
              </p:txBody>
            </p:sp>
            <p:sp>
              <p:nvSpPr>
                <p:cNvPr id="15421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876" y="3974"/>
                  <a:ext cx="21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fr-FR" altLang="fr-FR" sz="1800">
                      <a:latin typeface="Times New Roman" panose="02020603050405020304" pitchFamily="18" charset="0"/>
                    </a:rPr>
                    <a:t>II</a:t>
                  </a:r>
                </a:p>
              </p:txBody>
            </p:sp>
            <p:sp>
              <p:nvSpPr>
                <p:cNvPr id="15422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5012" y="2750"/>
                  <a:ext cx="26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fr-FR" altLang="fr-FR" sz="1800">
                      <a:latin typeface="Times New Roman" panose="02020603050405020304" pitchFamily="18" charset="0"/>
                    </a:rPr>
                    <a:t>III</a:t>
                  </a:r>
                </a:p>
              </p:txBody>
            </p:sp>
          </p:grpSp>
          <p:sp>
            <p:nvSpPr>
              <p:cNvPr id="15412" name="Oval 66"/>
              <p:cNvSpPr>
                <a:spLocks noChangeArrowheads="1"/>
              </p:cNvSpPr>
              <p:nvPr/>
            </p:nvSpPr>
            <p:spPr bwMode="auto">
              <a:xfrm>
                <a:off x="4978" y="3409"/>
                <a:ext cx="113" cy="11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13" name="Oval 67"/>
              <p:cNvSpPr>
                <a:spLocks noChangeArrowheads="1"/>
              </p:cNvSpPr>
              <p:nvPr/>
            </p:nvSpPr>
            <p:spPr bwMode="auto">
              <a:xfrm>
                <a:off x="5054" y="2930"/>
                <a:ext cx="113" cy="11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14" name="Oval 68"/>
              <p:cNvSpPr>
                <a:spLocks noChangeArrowheads="1"/>
              </p:cNvSpPr>
              <p:nvPr/>
            </p:nvSpPr>
            <p:spPr bwMode="auto">
              <a:xfrm>
                <a:off x="4583" y="3410"/>
                <a:ext cx="113" cy="11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15415" name="Line 69"/>
              <p:cNvSpPr>
                <a:spLocks noChangeShapeType="1"/>
              </p:cNvSpPr>
              <p:nvPr/>
            </p:nvSpPr>
            <p:spPr bwMode="auto">
              <a:xfrm flipH="1" flipV="1">
                <a:off x="4553" y="2723"/>
                <a:ext cx="595" cy="9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16" name="Line 70"/>
              <p:cNvSpPr>
                <a:spLocks noChangeShapeType="1"/>
              </p:cNvSpPr>
              <p:nvPr/>
            </p:nvSpPr>
            <p:spPr bwMode="auto">
              <a:xfrm flipH="1">
                <a:off x="4281" y="3032"/>
                <a:ext cx="1205" cy="6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17" name="Line 71"/>
              <p:cNvSpPr>
                <a:spLocks noChangeShapeType="1"/>
              </p:cNvSpPr>
              <p:nvPr/>
            </p:nvSpPr>
            <p:spPr bwMode="auto">
              <a:xfrm flipH="1">
                <a:off x="4649" y="2614"/>
                <a:ext cx="680" cy="12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5418" name="Text Box 72"/>
              <p:cNvSpPr txBox="1">
                <a:spLocks noChangeArrowheads="1"/>
              </p:cNvSpPr>
              <p:nvPr/>
            </p:nvSpPr>
            <p:spPr bwMode="auto">
              <a:xfrm>
                <a:off x="4286" y="2520"/>
                <a:ext cx="6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</a:t>
                </a:r>
              </a:p>
              <a:p>
                <a:pPr eaLnBrk="1" hangingPunct="1"/>
                <a:r>
                  <a:rPr lang="fr-FR" altLang="fr-FR" sz="1800"/>
                  <a:t>réel</a:t>
                </a:r>
              </a:p>
            </p:txBody>
          </p:sp>
        </p:grpSp>
        <p:pic>
          <p:nvPicPr>
            <p:cNvPr id="15410" name="Picture 7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172" r="36214"/>
            <a:stretch>
              <a:fillRect/>
            </a:stretch>
          </p:blipFill>
          <p:spPr bwMode="auto">
            <a:xfrm>
              <a:off x="2018" y="2669"/>
              <a:ext cx="1860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363" name="Text Box 76"/>
          <p:cNvSpPr txBox="1">
            <a:spLocks noChangeArrowheads="1"/>
          </p:cNvSpPr>
          <p:nvPr/>
        </p:nvSpPr>
        <p:spPr bwMode="auto">
          <a:xfrm>
            <a:off x="376238" y="6021388"/>
            <a:ext cx="85391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 3 points de Gauss, intégration exacte de tout polynôme en u</a:t>
            </a:r>
            <a:r>
              <a:rPr lang="fr-FR" altLang="fr-FR" sz="1800" baseline="30000"/>
              <a:t>i</a:t>
            </a:r>
            <a:r>
              <a:rPr lang="fr-FR" altLang="fr-FR" sz="1800"/>
              <a:t> v</a:t>
            </a:r>
            <a:r>
              <a:rPr lang="fr-FR" altLang="fr-FR" sz="1800" baseline="30000"/>
              <a:t>j</a:t>
            </a:r>
            <a:r>
              <a:rPr lang="fr-FR" altLang="fr-FR" sz="1800"/>
              <a:t> </a:t>
            </a:r>
          </a:p>
          <a:p>
            <a:pPr eaLnBrk="1" hangingPunct="1"/>
            <a:r>
              <a:rPr lang="fr-FR" altLang="fr-FR" sz="1800"/>
              <a:t>tel que i+j </a:t>
            </a:r>
            <a:r>
              <a:rPr lang="fr-FR" altLang="fr-FR" sz="1800">
                <a:sym typeface="Symbol" panose="05050102010706020507" pitchFamily="18" charset="2"/>
              </a:rPr>
              <a:t> </a:t>
            </a:r>
            <a:r>
              <a:rPr lang="fr-FR" altLang="fr-FR" sz="1800"/>
              <a:t>2.</a:t>
            </a:r>
          </a:p>
        </p:txBody>
      </p:sp>
      <p:grpSp>
        <p:nvGrpSpPr>
          <p:cNvPr id="15364" name="Group 81"/>
          <p:cNvGrpSpPr>
            <a:grpSpLocks/>
          </p:cNvGrpSpPr>
          <p:nvPr/>
        </p:nvGrpSpPr>
        <p:grpSpPr bwMode="auto">
          <a:xfrm>
            <a:off x="303213" y="3089275"/>
            <a:ext cx="8085137" cy="369888"/>
            <a:chOff x="191" y="1946"/>
            <a:chExt cx="5093" cy="233"/>
          </a:xfrm>
        </p:grpSpPr>
        <p:sp>
          <p:nvSpPr>
            <p:cNvPr id="15405" name="Line 75"/>
            <p:cNvSpPr>
              <a:spLocks noChangeShapeType="1"/>
            </p:cNvSpPr>
            <p:nvPr/>
          </p:nvSpPr>
          <p:spPr bwMode="auto">
            <a:xfrm>
              <a:off x="521" y="2083"/>
              <a:ext cx="4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406" name="AutoShape 77"/>
            <p:cNvSpPr>
              <a:spLocks noChangeArrowheads="1"/>
            </p:cNvSpPr>
            <p:nvPr/>
          </p:nvSpPr>
          <p:spPr bwMode="auto">
            <a:xfrm>
              <a:off x="2109" y="1997"/>
              <a:ext cx="1777" cy="182"/>
            </a:xfrm>
            <a:prstGeom prst="rightArrow">
              <a:avLst>
                <a:gd name="adj1" fmla="val 50000"/>
                <a:gd name="adj2" fmla="val 244093"/>
              </a:avLst>
            </a:prstGeom>
            <a:solidFill>
              <a:srgbClr val="F8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15407" name="Text Box 78"/>
            <p:cNvSpPr txBox="1">
              <a:spLocks noChangeArrowheads="1"/>
            </p:cNvSpPr>
            <p:nvPr/>
          </p:nvSpPr>
          <p:spPr bwMode="auto">
            <a:xfrm>
              <a:off x="191" y="1946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OU</a:t>
              </a:r>
            </a:p>
          </p:txBody>
        </p:sp>
      </p:grpSp>
      <p:grpSp>
        <p:nvGrpSpPr>
          <p:cNvPr id="15365" name="Group 80"/>
          <p:cNvGrpSpPr>
            <a:grpSpLocks/>
          </p:cNvGrpSpPr>
          <p:nvPr/>
        </p:nvGrpSpPr>
        <p:grpSpPr bwMode="auto">
          <a:xfrm>
            <a:off x="468313" y="3511550"/>
            <a:ext cx="8240712" cy="2432050"/>
            <a:chOff x="295" y="391"/>
            <a:chExt cx="5191" cy="1532"/>
          </a:xfrm>
        </p:grpSpPr>
        <p:grpSp>
          <p:nvGrpSpPr>
            <p:cNvPr id="15367" name="Group 3"/>
            <p:cNvGrpSpPr>
              <a:grpSpLocks/>
            </p:cNvGrpSpPr>
            <p:nvPr/>
          </p:nvGrpSpPr>
          <p:grpSpPr bwMode="auto">
            <a:xfrm>
              <a:off x="4195" y="468"/>
              <a:ext cx="1291" cy="1455"/>
              <a:chOff x="4195" y="1162"/>
              <a:chExt cx="1291" cy="1455"/>
            </a:xfrm>
          </p:grpSpPr>
          <p:grpSp>
            <p:nvGrpSpPr>
              <p:cNvPr id="15389" name="Group 4"/>
              <p:cNvGrpSpPr>
                <a:grpSpLocks/>
              </p:cNvGrpSpPr>
              <p:nvPr/>
            </p:nvGrpSpPr>
            <p:grpSpPr bwMode="auto">
              <a:xfrm>
                <a:off x="4195" y="1162"/>
                <a:ext cx="1291" cy="1455"/>
                <a:chOff x="4014" y="2750"/>
                <a:chExt cx="1291" cy="1455"/>
              </a:xfrm>
            </p:grpSpPr>
            <p:grpSp>
              <p:nvGrpSpPr>
                <p:cNvPr id="15391" name="Group 5"/>
                <p:cNvGrpSpPr>
                  <a:grpSpLocks/>
                </p:cNvGrpSpPr>
                <p:nvPr/>
              </p:nvGrpSpPr>
              <p:grpSpPr bwMode="auto">
                <a:xfrm>
                  <a:off x="4014" y="2750"/>
                  <a:ext cx="1258" cy="1455"/>
                  <a:chOff x="4014" y="2750"/>
                  <a:chExt cx="1258" cy="1455"/>
                </a:xfrm>
              </p:grpSpPr>
              <p:grpSp>
                <p:nvGrpSpPr>
                  <p:cNvPr id="15398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4105" y="2931"/>
                    <a:ext cx="1043" cy="1043"/>
                    <a:chOff x="4105" y="2931"/>
                    <a:chExt cx="1043" cy="1043"/>
                  </a:xfrm>
                </p:grpSpPr>
                <p:sp>
                  <p:nvSpPr>
                    <p:cNvPr id="15402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05" y="3974"/>
                      <a:ext cx="86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5403" name="Line 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105" y="2931"/>
                      <a:ext cx="1043" cy="104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5404" name="Line 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967" y="2931"/>
                      <a:ext cx="181" cy="104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15399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14" y="3974"/>
                    <a:ext cx="164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r>
                      <a:rPr lang="fr-FR" altLang="fr-FR" sz="1800">
                        <a:latin typeface="Times New Roman" panose="02020603050405020304" pitchFamily="18" charset="0"/>
                      </a:rPr>
                      <a:t>I</a:t>
                    </a:r>
                  </a:p>
                </p:txBody>
              </p:sp>
              <p:sp>
                <p:nvSpPr>
                  <p:cNvPr id="15400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76" y="3974"/>
                    <a:ext cx="212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r>
                      <a:rPr lang="fr-FR" altLang="fr-FR" sz="1800">
                        <a:latin typeface="Times New Roman" panose="02020603050405020304" pitchFamily="18" charset="0"/>
                      </a:rPr>
                      <a:t>II</a:t>
                    </a:r>
                  </a:p>
                </p:txBody>
              </p:sp>
              <p:sp>
                <p:nvSpPr>
                  <p:cNvPr id="15401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750"/>
                    <a:ext cx="26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r>
                      <a:rPr lang="fr-FR" altLang="fr-FR" sz="1800">
                        <a:latin typeface="Times New Roman" panose="02020603050405020304" pitchFamily="18" charset="0"/>
                      </a:rPr>
                      <a:t>III</a:t>
                    </a:r>
                  </a:p>
                </p:txBody>
              </p:sp>
            </p:grpSp>
            <p:sp>
              <p:nvSpPr>
                <p:cNvPr id="15392" name="Oval 13"/>
                <p:cNvSpPr>
                  <a:spLocks noChangeArrowheads="1"/>
                </p:cNvSpPr>
                <p:nvPr/>
              </p:nvSpPr>
              <p:spPr bwMode="auto">
                <a:xfrm>
                  <a:off x="4581" y="3376"/>
                  <a:ext cx="113" cy="113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93" name="Oval 14"/>
                <p:cNvSpPr>
                  <a:spLocks noChangeArrowheads="1"/>
                </p:cNvSpPr>
                <p:nvPr/>
              </p:nvSpPr>
              <p:spPr bwMode="auto">
                <a:xfrm>
                  <a:off x="4993" y="3419"/>
                  <a:ext cx="113" cy="113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94" name="Oval 15"/>
                <p:cNvSpPr>
                  <a:spLocks noChangeArrowheads="1"/>
                </p:cNvSpPr>
                <p:nvPr/>
              </p:nvSpPr>
              <p:spPr bwMode="auto">
                <a:xfrm>
                  <a:off x="4504" y="3923"/>
                  <a:ext cx="113" cy="113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95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4372" y="3044"/>
                  <a:ext cx="595" cy="93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96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100" y="3353"/>
                  <a:ext cx="1205" cy="6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97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468" y="2933"/>
                  <a:ext cx="680" cy="122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15390" name="Text Box 19"/>
              <p:cNvSpPr txBox="1">
                <a:spLocks noChangeArrowheads="1"/>
              </p:cNvSpPr>
              <p:nvPr/>
            </p:nvSpPr>
            <p:spPr bwMode="auto">
              <a:xfrm>
                <a:off x="4286" y="1253"/>
                <a:ext cx="6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</a:t>
                </a:r>
              </a:p>
              <a:p>
                <a:pPr eaLnBrk="1" hangingPunct="1"/>
                <a:r>
                  <a:rPr lang="fr-FR" altLang="fr-FR" sz="1800"/>
                  <a:t>réel</a:t>
                </a:r>
              </a:p>
            </p:txBody>
          </p:sp>
        </p:grpSp>
        <p:grpSp>
          <p:nvGrpSpPr>
            <p:cNvPr id="15368" name="Group 20"/>
            <p:cNvGrpSpPr>
              <a:grpSpLocks/>
            </p:cNvGrpSpPr>
            <p:nvPr/>
          </p:nvGrpSpPr>
          <p:grpSpPr bwMode="auto">
            <a:xfrm>
              <a:off x="295" y="391"/>
              <a:ext cx="1604" cy="1511"/>
              <a:chOff x="204" y="1148"/>
              <a:chExt cx="1604" cy="1511"/>
            </a:xfrm>
          </p:grpSpPr>
          <p:grpSp>
            <p:nvGrpSpPr>
              <p:cNvPr id="15371" name="Group 21"/>
              <p:cNvGrpSpPr>
                <a:grpSpLocks/>
              </p:cNvGrpSpPr>
              <p:nvPr/>
            </p:nvGrpSpPr>
            <p:grpSpPr bwMode="auto">
              <a:xfrm>
                <a:off x="204" y="1148"/>
                <a:ext cx="1604" cy="1511"/>
                <a:chOff x="3648" y="803"/>
                <a:chExt cx="1604" cy="1511"/>
              </a:xfrm>
            </p:grpSpPr>
            <p:sp>
              <p:nvSpPr>
                <p:cNvPr id="15373" name="AutoShape 22"/>
                <p:cNvSpPr>
                  <a:spLocks noChangeArrowheads="1"/>
                </p:cNvSpPr>
                <p:nvPr/>
              </p:nvSpPr>
              <p:spPr bwMode="auto">
                <a:xfrm>
                  <a:off x="3888" y="1152"/>
                  <a:ext cx="907" cy="907"/>
                </a:xfrm>
                <a:prstGeom prst="rtTriangl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74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888" y="960"/>
                  <a:ext cx="0" cy="10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7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5040" y="1732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fr-FR" altLang="fr-FR">
                      <a:latin typeface="Times New Roman" panose="02020603050405020304" pitchFamily="18" charset="0"/>
                    </a:rPr>
                    <a:t>u</a:t>
                  </a:r>
                </a:p>
              </p:txBody>
            </p:sp>
            <p:sp>
              <p:nvSpPr>
                <p:cNvPr id="1537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878" y="803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fr-FR" altLang="fr-FR">
                      <a:latin typeface="Times New Roman" panose="02020603050405020304" pitchFamily="18" charset="0"/>
                    </a:rPr>
                    <a:t>v</a:t>
                  </a:r>
                </a:p>
              </p:txBody>
            </p:sp>
            <p:sp>
              <p:nvSpPr>
                <p:cNvPr id="1537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704" y="177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fr-FR" altLang="fr-FR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537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923" y="102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fr-FR" altLang="fr-FR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5379" name="Oval 28"/>
                <p:cNvSpPr>
                  <a:spLocks noChangeArrowheads="1"/>
                </p:cNvSpPr>
                <p:nvPr/>
              </p:nvSpPr>
              <p:spPr bwMode="auto">
                <a:xfrm>
                  <a:off x="4277" y="1536"/>
                  <a:ext cx="113" cy="113"/>
                </a:xfrm>
                <a:prstGeom prst="ellipse">
                  <a:avLst/>
                </a:prstGeom>
                <a:solidFill>
                  <a:srgbClr val="CC0000"/>
                </a:solidFill>
                <a:ln w="9525">
                  <a:solidFill>
                    <a:srgbClr val="CC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80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888" y="1200"/>
                  <a:ext cx="864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81" name="Line 30"/>
                <p:cNvSpPr>
                  <a:spLocks noChangeShapeType="1"/>
                </p:cNvSpPr>
                <p:nvPr/>
              </p:nvSpPr>
              <p:spPr bwMode="auto">
                <a:xfrm>
                  <a:off x="3888" y="2064"/>
                  <a:ext cx="12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82" name="Oval 31"/>
                <p:cNvSpPr>
                  <a:spLocks noChangeArrowheads="1"/>
                </p:cNvSpPr>
                <p:nvPr/>
              </p:nvSpPr>
              <p:spPr bwMode="auto">
                <a:xfrm>
                  <a:off x="3840" y="1536"/>
                  <a:ext cx="113" cy="113"/>
                </a:xfrm>
                <a:prstGeom prst="ellipse">
                  <a:avLst/>
                </a:prstGeom>
                <a:solidFill>
                  <a:srgbClr val="CC0000"/>
                </a:solidFill>
                <a:ln w="9525">
                  <a:solidFill>
                    <a:srgbClr val="CC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83" name="Oval 32"/>
                <p:cNvSpPr>
                  <a:spLocks noChangeArrowheads="1"/>
                </p:cNvSpPr>
                <p:nvPr/>
              </p:nvSpPr>
              <p:spPr bwMode="auto">
                <a:xfrm>
                  <a:off x="4272" y="1999"/>
                  <a:ext cx="113" cy="113"/>
                </a:xfrm>
                <a:prstGeom prst="ellipse">
                  <a:avLst/>
                </a:prstGeom>
                <a:solidFill>
                  <a:srgbClr val="CC0000"/>
                </a:solidFill>
                <a:ln w="9525">
                  <a:solidFill>
                    <a:srgbClr val="CC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fr-FR" altLang="fr-FR" sz="1800"/>
                </a:p>
              </p:txBody>
            </p:sp>
            <p:sp>
              <p:nvSpPr>
                <p:cNvPr id="15384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3648" y="1488"/>
                  <a:ext cx="1152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85" name="Line 34"/>
                <p:cNvSpPr>
                  <a:spLocks noChangeShapeType="1"/>
                </p:cNvSpPr>
                <p:nvPr/>
              </p:nvSpPr>
              <p:spPr bwMode="auto">
                <a:xfrm>
                  <a:off x="3888" y="1152"/>
                  <a:ext cx="528" cy="1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386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775" y="2083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fr-FR" altLang="fr-FR" sz="1800">
                      <a:latin typeface="Times New Roman" panose="02020603050405020304" pitchFamily="18" charset="0"/>
                    </a:rPr>
                    <a:t>I</a:t>
                  </a:r>
                </a:p>
              </p:txBody>
            </p:sp>
            <p:sp>
              <p:nvSpPr>
                <p:cNvPr id="15387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740" y="2069"/>
                  <a:ext cx="31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fr-FR" altLang="fr-FR" sz="1800">
                      <a:latin typeface="Times New Roman" panose="02020603050405020304" pitchFamily="18" charset="0"/>
                    </a:rPr>
                    <a:t>II</a:t>
                  </a:r>
                </a:p>
              </p:txBody>
            </p:sp>
            <p:sp>
              <p:nvSpPr>
                <p:cNvPr id="15388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651" y="1117"/>
                  <a:ext cx="31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r>
                    <a:rPr lang="fr-FR" altLang="fr-FR" sz="1800">
                      <a:latin typeface="Times New Roman" panose="02020603050405020304" pitchFamily="18" charset="0"/>
                    </a:rPr>
                    <a:t>III</a:t>
                  </a:r>
                </a:p>
              </p:txBody>
            </p:sp>
          </p:grpSp>
          <p:sp>
            <p:nvSpPr>
              <p:cNvPr id="15372" name="Text Box 38"/>
              <p:cNvSpPr txBox="1">
                <a:spLocks noChangeArrowheads="1"/>
              </p:cNvSpPr>
              <p:nvPr/>
            </p:nvSpPr>
            <p:spPr bwMode="auto">
              <a:xfrm>
                <a:off x="793" y="1253"/>
                <a:ext cx="844" cy="4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Élément de</a:t>
                </a:r>
              </a:p>
              <a:p>
                <a:pPr eaLnBrk="1" hangingPunct="1"/>
                <a:r>
                  <a:rPr lang="fr-FR" altLang="fr-FR" sz="1800"/>
                  <a:t>référence</a:t>
                </a:r>
              </a:p>
            </p:txBody>
          </p:sp>
        </p:grpSp>
        <p:pic>
          <p:nvPicPr>
            <p:cNvPr id="15369" name="Picture 7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8" y="1104"/>
              <a:ext cx="1842" cy="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0" name="Text Box 79"/>
            <p:cNvSpPr txBox="1">
              <a:spLocks noChangeArrowheads="1"/>
            </p:cNvSpPr>
            <p:nvPr/>
          </p:nvSpPr>
          <p:spPr bwMode="auto">
            <a:xfrm>
              <a:off x="2064" y="527"/>
              <a:ext cx="150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NPI nombre de points</a:t>
              </a:r>
            </a:p>
            <a:p>
              <a:pPr eaLnBrk="1" hangingPunct="1"/>
              <a:r>
                <a:rPr lang="fr-FR" altLang="fr-FR" sz="1800"/>
                <a:t>de Gauss</a:t>
              </a:r>
            </a:p>
          </p:txBody>
        </p:sp>
      </p:grpSp>
      <p:sp>
        <p:nvSpPr>
          <p:cNvPr id="15366" name="Espace réservé du numéro de diapositive 8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03BA983-A638-4EC2-95F5-9052BE14136C}" type="slidenum">
              <a:rPr lang="fr-FR" altLang="fr-FR" sz="1400"/>
              <a:pPr eaLnBrk="1" hangingPunct="1"/>
              <a:t>2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2"/>
          <p:cNvSpPr txBox="1">
            <a:spLocks noChangeArrowheads="1"/>
          </p:cNvSpPr>
          <p:nvPr/>
        </p:nvSpPr>
        <p:spPr bwMode="auto">
          <a:xfrm>
            <a:off x="381000" y="407988"/>
            <a:ext cx="764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</a:t>
            </a:r>
            <a:r>
              <a:rPr lang="ja-JP" altLang="fr-FR" sz="2000"/>
              <a:t>’</a:t>
            </a:r>
            <a:r>
              <a:rPr lang="fr-FR" altLang="ja-JP" sz="2000"/>
              <a:t>une fonction f(x, y) sur l</a:t>
            </a:r>
            <a:r>
              <a:rPr lang="ja-JP" altLang="fr-FR" sz="2000"/>
              <a:t>’</a:t>
            </a:r>
            <a:r>
              <a:rPr lang="fr-FR" altLang="ja-JP" sz="2000"/>
              <a:t>élément réel triangulaire e : </a:t>
            </a:r>
            <a:endParaRPr lang="fr-FR" altLang="fr-FR"/>
          </a:p>
        </p:txBody>
      </p:sp>
      <p:sp>
        <p:nvSpPr>
          <p:cNvPr id="16388" name="Text Box 6"/>
          <p:cNvSpPr txBox="1">
            <a:spLocks noChangeArrowheads="1"/>
          </p:cNvSpPr>
          <p:nvPr/>
        </p:nvSpPr>
        <p:spPr bwMode="auto">
          <a:xfrm>
            <a:off x="34925" y="2349500"/>
            <a:ext cx="649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latin typeface="Times New Roman" panose="02020603050405020304" pitchFamily="18" charset="0"/>
              </a:rPr>
              <a:t>avec</a:t>
            </a:r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3352800" y="2349500"/>
            <a:ext cx="366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latin typeface="Times New Roman" panose="02020603050405020304" pitchFamily="18" charset="0"/>
              </a:rPr>
              <a:t>et</a:t>
            </a:r>
          </a:p>
        </p:txBody>
      </p:sp>
      <p:sp>
        <p:nvSpPr>
          <p:cNvPr id="16392" name="Text Box 10"/>
          <p:cNvSpPr txBox="1">
            <a:spLocks noChangeArrowheads="1"/>
          </p:cNvSpPr>
          <p:nvPr/>
        </p:nvSpPr>
        <p:spPr bwMode="auto">
          <a:xfrm>
            <a:off x="304800" y="4945063"/>
            <a:ext cx="8832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</a:t>
            </a:r>
            <a:r>
              <a:rPr lang="ja-JP" altLang="fr-FR" sz="2000"/>
              <a:t>’</a:t>
            </a:r>
            <a:r>
              <a:rPr lang="fr-FR" altLang="ja-JP" sz="2000"/>
              <a:t>une fonction f(x, y) sur un domaine D maillé avec NE triangles </a:t>
            </a:r>
            <a:endParaRPr lang="fr-FR" altLang="fr-FR"/>
          </a:p>
        </p:txBody>
      </p:sp>
      <p:sp>
        <p:nvSpPr>
          <p:cNvPr id="16394" name="Espace réservé du numéro de diapositive 1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EB226DF-B85C-4A76-8BA2-387FB748A47D}" type="slidenum">
              <a:rPr lang="fr-FR" altLang="fr-FR" sz="1400"/>
              <a:pPr eaLnBrk="1" hangingPunct="1"/>
              <a:t>3</a:t>
            </a:fld>
            <a:endParaRPr lang="fr-FR" altLang="fr-FR" sz="1400"/>
          </a:p>
        </p:txBody>
      </p:sp>
      <p:pic>
        <p:nvPicPr>
          <p:cNvPr id="2" name="Image 1" descr="\documentclass{article}&#10;\usepackage{amsmath}&#10;\pagestyle{empty}&#10;\begin{document}&#10;&#10;$$&#10;\iint_e f(x, y) \, dx \, dy = \int_0^1 \int_0^{1-u} f(x(u,v), y(u,v)) \det(J(u,v)) \, du \, dv&#10;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60" y="863322"/>
            <a:ext cx="7102476" cy="632381"/>
          </a:xfrm>
          <a:prstGeom prst="rect">
            <a:avLst/>
          </a:prstGeom>
        </p:spPr>
      </p:pic>
      <p:pic>
        <p:nvPicPr>
          <p:cNvPr id="13" name="Image 12" descr="\documentclass{article}&#10;\usepackage{amsmath}&#10;\pagestyle{empty}&#10;\begin{document}&#10;&#10;&#10;\begin{align*}&#10;x(u,v) &amp;= \sum_{ie=1}^{\text{NBN}} \alpha_{ie}(u,v) \, x_{ie} \\&#10;y(u,v) &amp;= \sum_{ie=1}^{\text{NBN}} \alpha_{ie}(u,v) \, y_{ie}&#10;\end{alig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79" y="1797659"/>
            <a:ext cx="2819047" cy="1624381"/>
          </a:xfrm>
          <a:prstGeom prst="rect">
            <a:avLst/>
          </a:prstGeom>
        </p:spPr>
      </p:pic>
      <p:pic>
        <p:nvPicPr>
          <p:cNvPr id="7" name="Image 6" descr="\documentclass{article}&#10;\usepackage{amsmath}&#10;\pagestyle{empty}&#10;\begin{document}&#10;&#10;\begin{equation*}&#10;J(u,v) = \begin{pmatrix}&#10;\frac{\partial x}{\partial u} &amp; \frac{\partial x}{\partial v} \\[1.0em]&#10;\frac{\partial y}{\partial u} &amp; \frac{\partial y}{\partial v}&#10;\end{pmatrix} 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560" y="1551835"/>
            <a:ext cx="2285715" cy="911238"/>
          </a:xfrm>
          <a:prstGeom prst="rect">
            <a:avLst/>
          </a:prstGeom>
        </p:spPr>
      </p:pic>
      <p:pic>
        <p:nvPicPr>
          <p:cNvPr id="9" name="Image 8" descr="\documentclass{article}&#10;\usepackage{amsmath}&#10;\pagestyle{empty}&#10;\begin{document}&#10;&#10;\begin{equation*}&#10;= \begin{pmatrix}&#10;\sum_{ie=1}^{\text{NBN}} \frac{\partial \alpha_{ie}}{\partial u} x_{ie} &amp; \sum_{ie=1}^{\text{NBN}} \frac{\partial \alpha_{ie}}{\partial v} x_{ie} \\[1.0em]&#10;\sum_{ie=1}^{\text{NBN}} \frac{\partial \alpha_{ie}}{\partial u} y_{ie} &amp; \sum_{ie=1}^{\text{NBN}} \frac{\partial \alpha_{ie}}{\partial v} y_{ie}&#10;\end{pmatrix}&#10;\end{equation*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609849"/>
            <a:ext cx="4001526" cy="929524"/>
          </a:xfrm>
          <a:prstGeom prst="rect">
            <a:avLst/>
          </a:prstGeom>
        </p:spPr>
      </p:pic>
      <p:pic>
        <p:nvPicPr>
          <p:cNvPr id="11" name="Image 10" descr="\documentclass{article}&#10;\usepackage{amsmath}&#10;\pagestyle{empty}&#10;\begin{document}&#10;&#10;\begin{equation*}&#10;\boxed{&#10;\iint_e f(x, y) \, dx \, dy = \sum_{k=1}^{\text{NPI}} f(x(u_{k}, v_{k}), y(u_{k}, v_{k})) \det(J(u_{k}, v_{k})) \, w_{k}&#10;}&#10;\end{equation*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895" y="3756644"/>
            <a:ext cx="7059809" cy="964571"/>
          </a:xfrm>
          <a:prstGeom prst="rect">
            <a:avLst/>
          </a:prstGeom>
        </p:spPr>
      </p:pic>
      <p:pic>
        <p:nvPicPr>
          <p:cNvPr id="12" name="Image 11" descr="\documentclass{article}&#10;\usepackage{amsmath}&#10;\pagestyle{empty}&#10;\begin{document}&#10;&#10;&#10;&#10;\begin{equation*}&#10;\iint_D f(x, y) \, dx \, dy = \sum_{ne=1}^{\text{NE}} \iint_e f(x, y) \, dx \, dy&#10;\end{equation*}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965" y="5565786"/>
            <a:ext cx="4554666" cy="734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/>
          <p:cNvSpPr txBox="1">
            <a:spLocks noChangeArrowheads="1"/>
          </p:cNvSpPr>
          <p:nvPr/>
        </p:nvSpPr>
        <p:spPr bwMode="auto">
          <a:xfrm>
            <a:off x="381000" y="407988"/>
            <a:ext cx="81168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sur l</a:t>
            </a:r>
            <a:r>
              <a:rPr lang="ja-JP" altLang="fr-FR" sz="2000"/>
              <a:t>’</a:t>
            </a:r>
            <a:r>
              <a:rPr lang="fr-FR" altLang="ja-JP" sz="2000"/>
              <a:t>élément réel triangulaire e d</a:t>
            </a:r>
            <a:r>
              <a:rPr lang="ja-JP" altLang="fr-FR" sz="2000"/>
              <a:t>’</a:t>
            </a:r>
            <a:r>
              <a:rPr lang="fr-FR" altLang="ja-JP" sz="2000"/>
              <a:t>une grandeur interpolée </a:t>
            </a:r>
          </a:p>
          <a:p>
            <a:r>
              <a:rPr lang="fr-FR" altLang="fr-FR" sz="2000"/>
              <a:t>à partir de ses valeurs aux nœuds d</a:t>
            </a:r>
            <a:r>
              <a:rPr lang="ja-JP" altLang="fr-FR" sz="2000"/>
              <a:t>’</a:t>
            </a:r>
            <a:r>
              <a:rPr lang="fr-FR" altLang="ja-JP" sz="2000"/>
              <a:t>interpolation</a:t>
            </a:r>
            <a:endParaRPr lang="fr-FR" altLang="fr-FR" sz="2000"/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1692275" y="1268413"/>
          <a:ext cx="5859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Equation" r:id="rId8" imgW="3251200" imgH="482600" progId="Equation.3">
                  <p:embed/>
                </p:oleObj>
              </mc:Choice>
              <mc:Fallback>
                <p:oleObj name="Equation" r:id="rId8" imgW="32512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268413"/>
                        <a:ext cx="5859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304800" y="4945063"/>
            <a:ext cx="8832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</a:t>
            </a:r>
            <a:r>
              <a:rPr lang="ja-JP" altLang="fr-FR" sz="2000"/>
              <a:t>’</a:t>
            </a:r>
            <a:r>
              <a:rPr lang="fr-FR" altLang="ja-JP" sz="2000"/>
              <a:t>une fonction f(x, y) sur un domaine D maillé avec NE triangles </a:t>
            </a:r>
            <a:endParaRPr lang="fr-FR" altLang="fr-FR" sz="2000"/>
          </a:p>
        </p:txBody>
      </p:sp>
      <p:sp>
        <p:nvSpPr>
          <p:cNvPr id="17415" name="Espace réservé du numéro de diapositive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A343F9B-F92B-4350-B653-EA2D6E81DC39}" type="slidenum">
              <a:rPr lang="fr-FR" altLang="fr-FR" sz="1400"/>
              <a:pPr eaLnBrk="1" hangingPunct="1"/>
              <a:t>4</a:t>
            </a:fld>
            <a:endParaRPr lang="fr-FR" altLang="fr-FR" sz="1400"/>
          </a:p>
        </p:txBody>
      </p:sp>
      <p:pic>
        <p:nvPicPr>
          <p:cNvPr id="2" name="Imag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275" y="2809082"/>
            <a:ext cx="4112762" cy="74057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" y="2185795"/>
            <a:ext cx="8708571" cy="48304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015" y="2777548"/>
            <a:ext cx="1266286" cy="71009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83" y="3881229"/>
            <a:ext cx="8323046" cy="743619"/>
          </a:xfrm>
          <a:prstGeom prst="rect">
            <a:avLst/>
          </a:prstGeom>
        </p:spPr>
      </p:pic>
      <p:pic>
        <p:nvPicPr>
          <p:cNvPr id="11" name="Image 10" descr="\documentclass{article}&#10;\usepackage{amsmath}&#10;\pagestyle{empty}&#10;\begin{document}&#10;&#10;&#10;&#10;\begin{equation*}&#10;\iint_D f(x, y) \, dx \, dy = \sum_{ne=1}^{\text{NE}} \iint_e f(x, y) \, dx \, dy&#10;\end{equation*}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965" y="5565786"/>
            <a:ext cx="4554666" cy="734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2"/>
          <p:cNvSpPr txBox="1">
            <a:spLocks noChangeArrowheads="1"/>
          </p:cNvSpPr>
          <p:nvPr/>
        </p:nvSpPr>
        <p:spPr bwMode="auto">
          <a:xfrm>
            <a:off x="381000" y="404813"/>
            <a:ext cx="8685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de la dérivée fonction </a:t>
            </a:r>
            <a:r>
              <a:rPr lang="fr-FR" altLang="fr-FR" sz="2000">
                <a:sym typeface="Symbol" panose="05050102010706020507" pitchFamily="18" charset="2"/>
              </a:rPr>
              <a:t></a:t>
            </a:r>
            <a:r>
              <a:rPr lang="fr-FR" altLang="fr-FR" sz="2000" baseline="-25000">
                <a:sym typeface="Symbol" panose="05050102010706020507" pitchFamily="18" charset="2"/>
              </a:rPr>
              <a:t>x</a:t>
            </a:r>
            <a:r>
              <a:rPr lang="fr-FR" altLang="fr-FR" sz="2000"/>
              <a:t>f(x, y) sur l</a:t>
            </a:r>
            <a:r>
              <a:rPr lang="ja-JP" altLang="fr-FR" sz="2000"/>
              <a:t>’</a:t>
            </a:r>
            <a:r>
              <a:rPr lang="fr-FR" altLang="ja-JP" sz="2000"/>
              <a:t>élément réel triangulaire e : </a:t>
            </a:r>
            <a:endParaRPr lang="fr-FR" altLang="fr-FR"/>
          </a:p>
        </p:txBody>
      </p:sp>
      <p:sp>
        <p:nvSpPr>
          <p:cNvPr id="18439" name="Espace réservé du numéro de diapositive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29807AF-DEFD-41F2-B621-A339A0F7819F}" type="slidenum">
              <a:rPr lang="fr-FR" altLang="fr-FR" sz="1400"/>
              <a:pPr eaLnBrk="1" hangingPunct="1"/>
              <a:t>5</a:t>
            </a:fld>
            <a:endParaRPr lang="fr-FR" altLang="fr-FR" sz="1400"/>
          </a:p>
        </p:txBody>
      </p:sp>
      <p:pic>
        <p:nvPicPr>
          <p:cNvPr id="3" name="Image 2" descr="\documentclass{article}&#10;\usepackage{amsmath}&#10;\pagestyle{empty}&#10;\begin{document}&#10;&#10;\begin{equation*}&#10;\iint_e \partial_x f(x,y) \, dx \, dy = \int_0^{+1} \int_0^{1-u} \partial_x f(x(u,v), y(u,v)) \det(J(u,v)) \, du \, dv&#10;\end{equation*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92" y="1017588"/>
            <a:ext cx="7780572" cy="632381"/>
          </a:xfrm>
          <a:prstGeom prst="rect">
            <a:avLst/>
          </a:prstGeom>
        </p:spPr>
      </p:pic>
      <p:pic>
        <p:nvPicPr>
          <p:cNvPr id="4" name="Image 3" descr="\documentclass{article}&#10;\usepackage{amsmath}&#10;\pagestyle{empty}&#10;\begin{document}&#10;&#10;&#10;\begin{align*}&#10;dx &amp;= \frac{\partial x}{\partial u} du + \frac{\partial x}{\partial v} dv \\&#10;dy &amp;= \frac{\partial y}{\partial u} du + \frac{\partial y}{\partial v} dv&#10;\end{alig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510" y="1970676"/>
            <a:ext cx="2147047" cy="1153524"/>
          </a:xfrm>
          <a:prstGeom prst="rect">
            <a:avLst/>
          </a:prstGeom>
        </p:spPr>
      </p:pic>
      <p:pic>
        <p:nvPicPr>
          <p:cNvPr id="6" name="Image 5" descr="\documentclass{article}&#10;\usepackage{amsmath}&#10;\pagestyle{empty}&#10;\begin{document}&#10;&#10;&#10;$$&#10;df = \frac{\partial f}{\partial x} dx + \frac{\partial f}{\partial y} dy&#10;\quad \text{or}&#10;$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02" y="2286413"/>
            <a:ext cx="2611808" cy="577524"/>
          </a:xfrm>
          <a:prstGeom prst="rect">
            <a:avLst/>
          </a:prstGeom>
        </p:spPr>
      </p:pic>
      <p:pic>
        <p:nvPicPr>
          <p:cNvPr id="7" name="Image 6" descr="\documentclass{article}&#10;\usepackage{amsmath}&#10;\pagestyle{empty}&#10;\begin{document}&#10;&#10;\begin{equation*}&#10;df = \left( \frac{\partial f}{\partial x} \frac{\partial x}{\partial u} + \frac{\partial f}{\partial y} \frac{\partial y}{\partial u} \right) du + \left( \frac{\partial f}{\partial x} \frac{\partial x}{\partial v} + \frac{\partial f}{\partial y} \frac{\partial y}{\partial v} \right) dv = \frac{\partial f}{\partial u} du + \frac{\partial f}{\partial v} dv&#10;\end{equation*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00" y="3468965"/>
            <a:ext cx="7602285" cy="608000"/>
          </a:xfrm>
          <a:prstGeom prst="rect">
            <a:avLst/>
          </a:prstGeom>
        </p:spPr>
      </p:pic>
      <p:grpSp>
        <p:nvGrpSpPr>
          <p:cNvPr id="17" name="Groupe 16"/>
          <p:cNvGrpSpPr/>
          <p:nvPr/>
        </p:nvGrpSpPr>
        <p:grpSpPr>
          <a:xfrm>
            <a:off x="914400" y="4648200"/>
            <a:ext cx="7848600" cy="1971675"/>
            <a:chOff x="914400" y="4648200"/>
            <a:chExt cx="7848600" cy="1971675"/>
          </a:xfrm>
        </p:grpSpPr>
        <p:sp>
          <p:nvSpPr>
            <p:cNvPr id="18438" name="Rectangle 17"/>
            <p:cNvSpPr>
              <a:spLocks noChangeArrowheads="1"/>
            </p:cNvSpPr>
            <p:nvPr/>
          </p:nvSpPr>
          <p:spPr bwMode="auto">
            <a:xfrm>
              <a:off x="5105400" y="4648200"/>
              <a:ext cx="3657600" cy="1371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pic>
          <p:nvPicPr>
            <p:cNvPr id="14" name="Image 13" descr="\documentclass{article}&#10;\usepackage{amsmath}&#10;\pagestyle{empty}&#10;\begin{document}&#10;&#10;\begin{equation*}&#10;\begin{pmatrix}&#10;\frac{\partial x}{\partial u} &amp; \frac{\partial y}{\partial u} \\[1.0em]&#10;\frac{\partial x}{\partial v} &amp; \frac{\partial y}{\partial v}&#10;\end{pmatrix}&#10;\begin{pmatrix}&#10;\frac{\partial f}{\partial x} \\[1.0em]&#10;\frac{\partial f}{\partial y}&#10;\end{pmatrix}&#10;=&#10;\begin{pmatrix}&#10;\frac{\partial f}{\partial u} \\[1.0em]&#10;\frac{\partial f}{\partial v}&#10;\end{pmatrix}&#10;\Rightarrow&#10;\begin{pmatrix}&#10;\frac{\partial f}{\partial x} \\[1.0em]&#10;\frac{\partial f}{\partial y}&#10;\end{pmatrix}&#10;= J^{-t}(u,v)&#10;\begin{pmatrix}&#10;\frac{\partial f}{\partial u} \\[1.0em]&#10;&#10;\frac{\partial f}{\partial v}&#10;\end{pmatrix}&#10;\end{equation*}&#10;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600" y="4805172"/>
              <a:ext cx="7513600" cy="1131886"/>
            </a:xfrm>
            <a:prstGeom prst="rect">
              <a:avLst/>
            </a:prstGeom>
          </p:spPr>
        </p:pic>
        <p:sp>
          <p:nvSpPr>
            <p:cNvPr id="15" name="Accolade ouvrante 14"/>
            <p:cNvSpPr/>
            <p:nvPr/>
          </p:nvSpPr>
          <p:spPr>
            <a:xfrm rot="16200000">
              <a:off x="1394200" y="5457257"/>
              <a:ext cx="411999" cy="1371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6" name="Image 15" descr="\documentclass{article}&#10;\usepackage{amsmath}&#10;\pagestyle{empty}&#10;\begin{document}&#10;&#10;&#10;$$&#10;J^{t}&#10;$$&#10;&#10;\end{document}" title="IguanaTex Bitmap Display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008" y="6397399"/>
              <a:ext cx="216381" cy="22247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365125" y="341313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Si f(x,y) est une interpolée</a:t>
            </a:r>
          </a:p>
        </p:txBody>
      </p:sp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2868613" y="3807262"/>
            <a:ext cx="3151187" cy="888371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9462" name="Rectangle 10"/>
          <p:cNvSpPr>
            <a:spLocks noChangeArrowheads="1"/>
          </p:cNvSpPr>
          <p:nvPr/>
        </p:nvSpPr>
        <p:spPr bwMode="auto">
          <a:xfrm>
            <a:off x="609600" y="975836"/>
            <a:ext cx="762000" cy="6216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9463" name="Line 11"/>
          <p:cNvSpPr>
            <a:spLocks noChangeShapeType="1"/>
          </p:cNvSpPr>
          <p:nvPr/>
        </p:nvSpPr>
        <p:spPr bwMode="auto">
          <a:xfrm>
            <a:off x="1066800" y="1597462"/>
            <a:ext cx="2438400" cy="215962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64" name="Espace réservé du numéro de diapositive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3D0CD46-A769-47E5-BE2C-F769BCB9F849}" type="slidenum">
              <a:rPr lang="fr-FR" altLang="fr-FR" sz="1400"/>
              <a:pPr eaLnBrk="1" hangingPunct="1"/>
              <a:t>6</a:t>
            </a:fld>
            <a:endParaRPr lang="fr-FR" altLang="fr-FR" sz="1400"/>
          </a:p>
        </p:txBody>
      </p:sp>
      <p:pic>
        <p:nvPicPr>
          <p:cNvPr id="2" name="Image 1" descr="\documentclass{article}&#10;\usepackage{amsmath}&#10;\pagestyle{empty}&#10;\begin{document}&#10;&#10;$$&#10;f(x(u,v), y(u,v)) = \sum_{ie=1}^{\text{NBN}} \alpha_{ie}(u,v) \, f_{ie}&#10;$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26538"/>
            <a:ext cx="3969523" cy="737524"/>
          </a:xfrm>
          <a:prstGeom prst="rect">
            <a:avLst/>
          </a:prstGeom>
        </p:spPr>
      </p:pic>
      <p:pic>
        <p:nvPicPr>
          <p:cNvPr id="12" name="Image 11" descr="\documentclass{article}&#10;\usepackage{amsmath}&#10;\pagestyle{empty}&#10;\begin{document}&#10;&#10;\begin{equation*}&#10;\begin{pmatrix}&#10;\frac{\partial f}{\partial x} \\[1.0em]&#10;\frac{\partial f}{\partial y}&#10;\end{pmatrix}&#10;= J^{-t}(u,v)&#10;\begin{pmatrix}&#10;\frac{\partial f}{\partial u} \\[1.0em]&#10;\frac{\partial f}{\partial v}&#10;\end{pmatrix}&#10;= J^{-t}(u,v)&#10;\begin{pmatrix}&#10;\sum_{ie=1}^{\text{NBN}}&#10;\frac{\partial \alpha_{ie}(u,v)}{\partial u} &#10; \, f_{ie}&#10;\\[1.0em]&#10;\sum_{ie=1}^{\text{NBN}}&#10;\frac{\partial \alpha_{ie}(u,v)}{\partial v}&#10; \, f_{ie}&#10;\end{pmatrix}&#10;\end{equation*}&#10;&#10;\end{document}&#10;&#10;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" y="1085374"/>
            <a:ext cx="7875659" cy="1133714"/>
          </a:xfrm>
          <a:prstGeom prst="rect">
            <a:avLst/>
          </a:prstGeom>
        </p:spPr>
      </p:pic>
      <p:pic>
        <p:nvPicPr>
          <p:cNvPr id="5" name="Image 4" descr="\documentclass{article}&#10;\usepackage{amsmath}&#10;\pagestyle{empty}&#10;\begin{document}&#10;&#10;\begin{equation*}&#10;\boxed{&#10;\iint_e \frac{\partial f(x, y)}{\partial x} \, dx \, dy = \sum_{k=1}^{\text{NPI}} \frac{\partial f}{\partial x}(x(u_{k}, v_{k}), y(u_{k}, v_{k}))\quad \det(J(u_{k}, v_{k})) \, w_{k}&#10;}&#10;\end{equatio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44" y="3757091"/>
            <a:ext cx="7731808" cy="964571"/>
          </a:xfrm>
          <a:prstGeom prst="rect">
            <a:avLst/>
          </a:prstGeom>
        </p:spPr>
      </p:pic>
      <p:pic>
        <p:nvPicPr>
          <p:cNvPr id="8" name="Image 7" descr="\documentclass{article}&#10;\usepackage{amsmath}&#10;\pagestyle{empty}&#10;\begin{document}&#10;&#10;\begin{equation*}&#10;\iint_e \partial_x f(x,y) \, dx \, dy = \int_0^{+1} \int_0^{1-u} \partial_x f(x(u,v), y(u,v)) \, \det(J(u,v)) \, du \, dv&#10;\end{equation*}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20" y="2729071"/>
            <a:ext cx="7823240" cy="632381"/>
          </a:xfrm>
          <a:prstGeom prst="rect">
            <a:avLst/>
          </a:prstGeom>
        </p:spPr>
      </p:pic>
      <p:pic>
        <p:nvPicPr>
          <p:cNvPr id="7" name="Image 6" descr="\documentclass{article}&#10;\usepackage{amsmath}&#10;\pagestyle{empty}&#10;\begin{document}&#10;&#10;ou encore en notation simplifiée:&#10;\begin{equation*}&#10;\boxed{&#10;\iint_e \frac{\partial f(x, y)}{\partial x} \, dx \, dy = \sum_{k=1}^{\text{NPI}} \frac{\partial f}{\partial x}(x_k, y_k)\, \det(J_k) \, w_{k}&#10;}&#10;\end{equation*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20" y="4855648"/>
            <a:ext cx="6669713" cy="1468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AutoShape 2"/>
          <p:cNvSpPr>
            <a:spLocks noChangeArrowheads="1"/>
          </p:cNvSpPr>
          <p:nvPr/>
        </p:nvSpPr>
        <p:spPr bwMode="auto">
          <a:xfrm>
            <a:off x="5486400" y="1998663"/>
            <a:ext cx="1511300" cy="288925"/>
          </a:xfrm>
          <a:prstGeom prst="rightArrow">
            <a:avLst>
              <a:gd name="adj1" fmla="val 50000"/>
              <a:gd name="adj2" fmla="val 130769"/>
            </a:avLst>
          </a:prstGeom>
          <a:solidFill>
            <a:srgbClr val="F8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3276600" y="914400"/>
            <a:ext cx="2635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NBN nombre de noeuds</a:t>
            </a: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620713" y="238125"/>
            <a:ext cx="7186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Interpolation sur un élément linéique à 2 noeuds</a:t>
            </a:r>
          </a:p>
        </p:txBody>
      </p:sp>
      <p:sp>
        <p:nvSpPr>
          <p:cNvPr id="20485" name="Line 23"/>
          <p:cNvSpPr>
            <a:spLocks noChangeShapeType="1"/>
          </p:cNvSpPr>
          <p:nvPr/>
        </p:nvSpPr>
        <p:spPr bwMode="auto">
          <a:xfrm flipV="1">
            <a:off x="7315200" y="1344613"/>
            <a:ext cx="1144588" cy="1111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486" name="Text Box 25"/>
          <p:cNvSpPr txBox="1">
            <a:spLocks noChangeArrowheads="1"/>
          </p:cNvSpPr>
          <p:nvPr/>
        </p:nvSpPr>
        <p:spPr bwMode="auto">
          <a:xfrm>
            <a:off x="7096125" y="25622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0487" name="Text Box 27"/>
          <p:cNvSpPr txBox="1">
            <a:spLocks noChangeArrowheads="1"/>
          </p:cNvSpPr>
          <p:nvPr/>
        </p:nvSpPr>
        <p:spPr bwMode="auto">
          <a:xfrm>
            <a:off x="8253413" y="9318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II</a:t>
            </a:r>
          </a:p>
        </p:txBody>
      </p:sp>
      <p:sp>
        <p:nvSpPr>
          <p:cNvPr id="20488" name="Text Box 28"/>
          <p:cNvSpPr txBox="1">
            <a:spLocks noChangeArrowheads="1"/>
          </p:cNvSpPr>
          <p:nvPr/>
        </p:nvSpPr>
        <p:spPr bwMode="auto">
          <a:xfrm>
            <a:off x="6804025" y="1201738"/>
            <a:ext cx="1022350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Élément</a:t>
            </a:r>
          </a:p>
          <a:p>
            <a:pPr eaLnBrk="1" hangingPunct="1"/>
            <a:r>
              <a:rPr lang="fr-FR" altLang="fr-FR" sz="1800"/>
              <a:t>réel</a:t>
            </a:r>
          </a:p>
        </p:txBody>
      </p:sp>
      <p:sp>
        <p:nvSpPr>
          <p:cNvPr id="20489" name="Oval 29"/>
          <p:cNvSpPr>
            <a:spLocks noChangeArrowheads="1"/>
          </p:cNvSpPr>
          <p:nvPr/>
        </p:nvSpPr>
        <p:spPr bwMode="auto">
          <a:xfrm>
            <a:off x="7162800" y="2455863"/>
            <a:ext cx="179388" cy="17938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90" name="Oval 31"/>
          <p:cNvSpPr>
            <a:spLocks noChangeArrowheads="1"/>
          </p:cNvSpPr>
          <p:nvPr/>
        </p:nvSpPr>
        <p:spPr bwMode="auto">
          <a:xfrm>
            <a:off x="8364538" y="1255713"/>
            <a:ext cx="179387" cy="17938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0491" name="Object 32"/>
          <p:cNvGraphicFramePr>
            <a:graphicFrameLocks noChangeAspect="1"/>
          </p:cNvGraphicFramePr>
          <p:nvPr/>
        </p:nvGraphicFramePr>
        <p:xfrm>
          <a:off x="2219325" y="3675063"/>
          <a:ext cx="39624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7" name="Equation" r:id="rId5" imgW="2197100" imgH="393700" progId="Equation.DSMT4">
                  <p:embed/>
                </p:oleObj>
              </mc:Choice>
              <mc:Fallback>
                <p:oleObj name="Equation" r:id="rId5" imgW="2197100" imgH="3937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3675063"/>
                        <a:ext cx="39624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33"/>
          <p:cNvSpPr txBox="1">
            <a:spLocks noChangeArrowheads="1"/>
          </p:cNvSpPr>
          <p:nvPr/>
        </p:nvSpPr>
        <p:spPr bwMode="auto">
          <a:xfrm>
            <a:off x="611188" y="3276600"/>
            <a:ext cx="6750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Polynômes d</a:t>
            </a:r>
            <a:r>
              <a:rPr lang="ja-JP" altLang="fr-FR" sz="1800"/>
              <a:t>’</a:t>
            </a:r>
            <a:r>
              <a:rPr lang="fr-FR" altLang="ja-JP" sz="1800"/>
              <a:t>interpolation de Lagrange d</a:t>
            </a:r>
            <a:r>
              <a:rPr lang="ja-JP" altLang="fr-FR" sz="1800"/>
              <a:t>’</a:t>
            </a:r>
            <a:r>
              <a:rPr lang="fr-FR" altLang="ja-JP" sz="1800"/>
              <a:t>ordre 1 : polynômes P1</a:t>
            </a:r>
            <a:endParaRPr lang="fr-FR" altLang="fr-FR" sz="1800"/>
          </a:p>
        </p:txBody>
      </p:sp>
      <p:sp>
        <p:nvSpPr>
          <p:cNvPr id="20493" name="Text Box 34"/>
          <p:cNvSpPr txBox="1">
            <a:spLocks noChangeArrowheads="1"/>
          </p:cNvSpPr>
          <p:nvPr/>
        </p:nvSpPr>
        <p:spPr bwMode="auto">
          <a:xfrm>
            <a:off x="609600" y="4719638"/>
            <a:ext cx="667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Interpolation d</a:t>
            </a:r>
            <a:r>
              <a:rPr lang="ja-JP" altLang="fr-FR" sz="1800"/>
              <a:t>’</a:t>
            </a:r>
            <a:r>
              <a:rPr lang="fr-FR" altLang="ja-JP" sz="1800"/>
              <a:t>une grandeur f connue aux nœuds d</a:t>
            </a:r>
            <a:r>
              <a:rPr lang="ja-JP" altLang="fr-FR" sz="1800"/>
              <a:t>’</a:t>
            </a:r>
            <a:r>
              <a:rPr lang="fr-FR" altLang="ja-JP" sz="1800"/>
              <a:t>interpolation</a:t>
            </a:r>
            <a:endParaRPr lang="fr-FR" altLang="fr-FR" sz="1800"/>
          </a:p>
        </p:txBody>
      </p:sp>
      <p:sp>
        <p:nvSpPr>
          <p:cNvPr id="20497" name="Line 38"/>
          <p:cNvSpPr>
            <a:spLocks noChangeShapeType="1"/>
          </p:cNvSpPr>
          <p:nvPr/>
        </p:nvSpPr>
        <p:spPr bwMode="auto">
          <a:xfrm flipV="1">
            <a:off x="466725" y="1160463"/>
            <a:ext cx="0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498" name="Text Box 43"/>
          <p:cNvSpPr txBox="1">
            <a:spLocks noChangeArrowheads="1"/>
          </p:cNvSpPr>
          <p:nvPr/>
        </p:nvSpPr>
        <p:spPr bwMode="auto">
          <a:xfrm>
            <a:off x="2316163" y="202565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sz="2000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0499" name="Oval 44"/>
          <p:cNvSpPr>
            <a:spLocks noChangeArrowheads="1"/>
          </p:cNvSpPr>
          <p:nvPr/>
        </p:nvSpPr>
        <p:spPr bwMode="auto">
          <a:xfrm>
            <a:off x="444500" y="2312988"/>
            <a:ext cx="142875" cy="1428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500" name="Oval 45"/>
          <p:cNvSpPr>
            <a:spLocks noChangeArrowheads="1"/>
          </p:cNvSpPr>
          <p:nvPr/>
        </p:nvSpPr>
        <p:spPr bwMode="auto">
          <a:xfrm>
            <a:off x="2100263" y="2312988"/>
            <a:ext cx="142875" cy="1428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501" name="Text Box 46"/>
          <p:cNvSpPr txBox="1">
            <a:spLocks noChangeArrowheads="1"/>
          </p:cNvSpPr>
          <p:nvPr/>
        </p:nvSpPr>
        <p:spPr bwMode="auto">
          <a:xfrm>
            <a:off x="314325" y="2532063"/>
            <a:ext cx="2044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-1                      +1</a:t>
            </a:r>
          </a:p>
        </p:txBody>
      </p:sp>
      <p:sp>
        <p:nvSpPr>
          <p:cNvPr id="20502" name="Line 47"/>
          <p:cNvSpPr>
            <a:spLocks noChangeShapeType="1"/>
          </p:cNvSpPr>
          <p:nvPr/>
        </p:nvSpPr>
        <p:spPr bwMode="auto">
          <a:xfrm flipH="1">
            <a:off x="517525" y="1468438"/>
            <a:ext cx="1584325" cy="915987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503" name="Line 48"/>
          <p:cNvSpPr>
            <a:spLocks noChangeShapeType="1"/>
          </p:cNvSpPr>
          <p:nvPr/>
        </p:nvSpPr>
        <p:spPr bwMode="auto">
          <a:xfrm flipH="1" flipV="1">
            <a:off x="514350" y="1449388"/>
            <a:ext cx="1655763" cy="9556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504" name="Text Box 49"/>
          <p:cNvSpPr txBox="1">
            <a:spLocks noChangeArrowheads="1"/>
          </p:cNvSpPr>
          <p:nvPr/>
        </p:nvSpPr>
        <p:spPr bwMode="auto">
          <a:xfrm>
            <a:off x="1165225" y="20193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fr-FR" sz="1800"/>
              <a:t>e</a:t>
            </a:r>
          </a:p>
        </p:txBody>
      </p:sp>
      <p:sp>
        <p:nvSpPr>
          <p:cNvPr id="20505" name="Text Box 50"/>
          <p:cNvSpPr txBox="1">
            <a:spLocks noChangeArrowheads="1"/>
          </p:cNvSpPr>
          <p:nvPr/>
        </p:nvSpPr>
        <p:spPr bwMode="auto">
          <a:xfrm>
            <a:off x="1666875" y="11604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fr-FR" sz="1800">
                <a:solidFill>
                  <a:srgbClr val="CC0000"/>
                </a:solidFill>
                <a:latin typeface="Symbol" panose="05050102010706020507" pitchFamily="18" charset="2"/>
              </a:rPr>
              <a:t>a</a:t>
            </a:r>
            <a:r>
              <a:rPr lang="en-US" altLang="fr-FR" sz="1800" baseline="-25000">
                <a:solidFill>
                  <a:srgbClr val="CC0000"/>
                </a:solidFill>
              </a:rPr>
              <a:t>2</a:t>
            </a:r>
            <a:endParaRPr lang="en-US" altLang="fr-FR" sz="1800" baseline="30000">
              <a:solidFill>
                <a:srgbClr val="CC0000"/>
              </a:solidFill>
            </a:endParaRPr>
          </a:p>
        </p:txBody>
      </p:sp>
      <p:sp>
        <p:nvSpPr>
          <p:cNvPr id="20506" name="Text Box 51"/>
          <p:cNvSpPr txBox="1">
            <a:spLocks noChangeArrowheads="1"/>
          </p:cNvSpPr>
          <p:nvPr/>
        </p:nvSpPr>
        <p:spPr bwMode="auto">
          <a:xfrm>
            <a:off x="514350" y="11604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fr-FR" sz="1800">
                <a:latin typeface="Symbol" panose="05050102010706020507" pitchFamily="18" charset="2"/>
              </a:rPr>
              <a:t>a</a:t>
            </a:r>
            <a:r>
              <a:rPr lang="en-US" altLang="fr-FR" sz="1800" baseline="-25000"/>
              <a:t>1</a:t>
            </a:r>
            <a:endParaRPr lang="en-US" altLang="fr-FR" sz="1800" baseline="30000"/>
          </a:p>
        </p:txBody>
      </p:sp>
      <p:sp>
        <p:nvSpPr>
          <p:cNvPr id="20507" name="Text Box 52"/>
          <p:cNvSpPr txBox="1">
            <a:spLocks noChangeArrowheads="1"/>
          </p:cNvSpPr>
          <p:nvPr/>
        </p:nvSpPr>
        <p:spPr bwMode="auto">
          <a:xfrm>
            <a:off x="300038" y="1879600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20508" name="Text Box 53"/>
          <p:cNvSpPr txBox="1">
            <a:spLocks noChangeArrowheads="1"/>
          </p:cNvSpPr>
          <p:nvPr/>
        </p:nvSpPr>
        <p:spPr bwMode="auto">
          <a:xfrm>
            <a:off x="1933575" y="188118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20509" name="Line 55"/>
          <p:cNvSpPr>
            <a:spLocks noChangeShapeType="1"/>
          </p:cNvSpPr>
          <p:nvPr/>
        </p:nvSpPr>
        <p:spPr bwMode="auto">
          <a:xfrm>
            <a:off x="517525" y="2386013"/>
            <a:ext cx="1871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510" name="Text Box 61"/>
          <p:cNvSpPr txBox="1">
            <a:spLocks noChangeArrowheads="1"/>
          </p:cNvSpPr>
          <p:nvPr/>
        </p:nvSpPr>
        <p:spPr bwMode="auto">
          <a:xfrm>
            <a:off x="228600" y="123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1</a:t>
            </a:r>
          </a:p>
        </p:txBody>
      </p:sp>
      <p:sp>
        <p:nvSpPr>
          <p:cNvPr id="20511" name="Espace réservé du numéro de diapositive 3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D3F2759-88C7-450D-99F8-FB4E569BC781}" type="slidenum">
              <a:rPr lang="fr-FR" altLang="fr-FR" sz="1400"/>
              <a:pPr eaLnBrk="1" hangingPunct="1"/>
              <a:t>7</a:t>
            </a:fld>
            <a:endParaRPr lang="fr-FR" altLang="fr-FR" sz="1400"/>
          </a:p>
        </p:txBody>
      </p:sp>
      <p:pic>
        <p:nvPicPr>
          <p:cNvPr id="33" name="Image 32" descr="\documentclass{article}&#10;\usepackage{amsmath}&#10;\pagestyle{empty}&#10;\begin{document}&#10;&#10;&#10;\begin{align*}&#10;x(u,v) &amp;= \sum_{ie=1}^{\text{NBN}} \alpha_{ie}(u,v) \, x_{ie} \\&#10;y(u,v) &amp;= \sum_{ie=1}^{\text{NBN}} \alpha_{ie}(u,v) \, y_{ie}&#10;\end{align*}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089" y="1343819"/>
            <a:ext cx="2819047" cy="1624381"/>
          </a:xfrm>
          <a:prstGeom prst="rect">
            <a:avLst/>
          </a:prstGeom>
        </p:spPr>
      </p:pic>
      <p:pic>
        <p:nvPicPr>
          <p:cNvPr id="3" name="Image 2" descr="\documentclass{article}&#10;\usepackage{amsmath}&#10;\pagestyle{empty}&#10;\begin{document}&#10;&#10;$$&#10;f(x(u), y(u)) = \sum_{ie=1}^{\text{NBN}} \alpha_{ie}(u) \, f_{ie}&#10;$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239" y="5365288"/>
            <a:ext cx="3236571" cy="737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/>
          <p:cNvSpPr txBox="1">
            <a:spLocks noChangeArrowheads="1"/>
          </p:cNvSpPr>
          <p:nvPr/>
        </p:nvSpPr>
        <p:spPr bwMode="auto">
          <a:xfrm>
            <a:off x="220663" y="238125"/>
            <a:ext cx="8339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b="1"/>
              <a:t>Intégration numérique de Gauss sur un élément linéique</a:t>
            </a:r>
          </a:p>
        </p:txBody>
      </p:sp>
      <p:sp>
        <p:nvSpPr>
          <p:cNvPr id="21506" name="Text Box 84"/>
          <p:cNvSpPr txBox="1">
            <a:spLocks noChangeArrowheads="1"/>
          </p:cNvSpPr>
          <p:nvPr/>
        </p:nvSpPr>
        <p:spPr bwMode="auto">
          <a:xfrm>
            <a:off x="2397125" y="106045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sz="2000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07" name="Text Box 87"/>
          <p:cNvSpPr txBox="1">
            <a:spLocks noChangeArrowheads="1"/>
          </p:cNvSpPr>
          <p:nvPr/>
        </p:nvSpPr>
        <p:spPr bwMode="auto">
          <a:xfrm>
            <a:off x="381000" y="1563688"/>
            <a:ext cx="2044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-1                      +1</a:t>
            </a:r>
          </a:p>
        </p:txBody>
      </p:sp>
      <p:sp>
        <p:nvSpPr>
          <p:cNvPr id="21508" name="Text Box 88"/>
          <p:cNvSpPr txBox="1">
            <a:spLocks noChangeArrowheads="1"/>
          </p:cNvSpPr>
          <p:nvPr/>
        </p:nvSpPr>
        <p:spPr bwMode="auto">
          <a:xfrm>
            <a:off x="1246188" y="10541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fr-FR" sz="1800"/>
              <a:t>e</a:t>
            </a:r>
          </a:p>
        </p:txBody>
      </p:sp>
      <p:sp>
        <p:nvSpPr>
          <p:cNvPr id="21509" name="Text Box 89"/>
          <p:cNvSpPr txBox="1">
            <a:spLocks noChangeArrowheads="1"/>
          </p:cNvSpPr>
          <p:nvPr/>
        </p:nvSpPr>
        <p:spPr bwMode="auto">
          <a:xfrm>
            <a:off x="381000" y="9144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21510" name="Text Box 90"/>
          <p:cNvSpPr txBox="1">
            <a:spLocks noChangeArrowheads="1"/>
          </p:cNvSpPr>
          <p:nvPr/>
        </p:nvSpPr>
        <p:spPr bwMode="auto">
          <a:xfrm>
            <a:off x="2014538" y="91598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21511" name="Line 92"/>
          <p:cNvSpPr>
            <a:spLocks noChangeShapeType="1"/>
          </p:cNvSpPr>
          <p:nvPr/>
        </p:nvSpPr>
        <p:spPr bwMode="auto">
          <a:xfrm>
            <a:off x="598488" y="1420813"/>
            <a:ext cx="18716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512" name="Oval 93"/>
          <p:cNvSpPr>
            <a:spLocks noChangeArrowheads="1"/>
          </p:cNvSpPr>
          <p:nvPr/>
        </p:nvSpPr>
        <p:spPr bwMode="auto">
          <a:xfrm>
            <a:off x="955675" y="13843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1513" name="Oval 94"/>
          <p:cNvSpPr>
            <a:spLocks noChangeArrowheads="1"/>
          </p:cNvSpPr>
          <p:nvPr/>
        </p:nvSpPr>
        <p:spPr bwMode="auto">
          <a:xfrm>
            <a:off x="1785938" y="13843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1514" name="Text Box 95"/>
          <p:cNvSpPr txBox="1">
            <a:spLocks noChangeArrowheads="1"/>
          </p:cNvSpPr>
          <p:nvPr/>
        </p:nvSpPr>
        <p:spPr bwMode="auto">
          <a:xfrm>
            <a:off x="3071813" y="1038225"/>
            <a:ext cx="3481387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NPI = 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u = [-1./sqrt(3.) 1./sqrt(3.)];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pds=[1.0  1.0];</a:t>
            </a:r>
            <a:endParaRPr lang="fr-FR" altLang="fr-FR" sz="1400"/>
          </a:p>
        </p:txBody>
      </p:sp>
      <p:sp>
        <p:nvSpPr>
          <p:cNvPr id="21515" name="Text Box 97"/>
          <p:cNvSpPr txBox="1">
            <a:spLocks noChangeArrowheads="1"/>
          </p:cNvSpPr>
          <p:nvPr/>
        </p:nvSpPr>
        <p:spPr bwMode="auto">
          <a:xfrm>
            <a:off x="6934200" y="167640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1516" name="Text Box 98"/>
          <p:cNvSpPr txBox="1">
            <a:spLocks noChangeArrowheads="1"/>
          </p:cNvSpPr>
          <p:nvPr/>
        </p:nvSpPr>
        <p:spPr bwMode="auto">
          <a:xfrm>
            <a:off x="8154988" y="72072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latin typeface="Times New Roman" panose="02020603050405020304" pitchFamily="18" charset="0"/>
              </a:rPr>
              <a:t>II</a:t>
            </a:r>
          </a:p>
        </p:txBody>
      </p:sp>
      <p:sp>
        <p:nvSpPr>
          <p:cNvPr id="21517" name="Text Box 99"/>
          <p:cNvSpPr txBox="1">
            <a:spLocks noChangeArrowheads="1"/>
          </p:cNvSpPr>
          <p:nvPr/>
        </p:nvSpPr>
        <p:spPr bwMode="auto">
          <a:xfrm>
            <a:off x="6781800" y="762000"/>
            <a:ext cx="1022350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Élément</a:t>
            </a:r>
          </a:p>
          <a:p>
            <a:pPr eaLnBrk="1" hangingPunct="1"/>
            <a:r>
              <a:rPr lang="fr-FR" altLang="fr-FR" sz="1800"/>
              <a:t>réel</a:t>
            </a:r>
          </a:p>
        </p:txBody>
      </p:sp>
      <p:sp>
        <p:nvSpPr>
          <p:cNvPr id="21518" name="Oval 100"/>
          <p:cNvSpPr>
            <a:spLocks noChangeArrowheads="1"/>
          </p:cNvSpPr>
          <p:nvPr/>
        </p:nvSpPr>
        <p:spPr bwMode="auto">
          <a:xfrm>
            <a:off x="6858000" y="1524000"/>
            <a:ext cx="179388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1519" name="Oval 101"/>
          <p:cNvSpPr>
            <a:spLocks noChangeArrowheads="1"/>
          </p:cNvSpPr>
          <p:nvPr/>
        </p:nvSpPr>
        <p:spPr bwMode="auto">
          <a:xfrm>
            <a:off x="8266113" y="1044575"/>
            <a:ext cx="179387" cy="17938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pSp>
        <p:nvGrpSpPr>
          <p:cNvPr id="21520" name="Group 113"/>
          <p:cNvGrpSpPr>
            <a:grpSpLocks/>
          </p:cNvGrpSpPr>
          <p:nvPr/>
        </p:nvGrpSpPr>
        <p:grpSpPr bwMode="auto">
          <a:xfrm rot="1549697">
            <a:off x="7186613" y="895350"/>
            <a:ext cx="969962" cy="914400"/>
            <a:chOff x="4512" y="714"/>
            <a:chExt cx="755" cy="678"/>
          </a:xfrm>
        </p:grpSpPr>
        <p:sp>
          <p:nvSpPr>
            <p:cNvPr id="21529" name="Line 96"/>
            <p:cNvSpPr>
              <a:spLocks noChangeShapeType="1"/>
            </p:cNvSpPr>
            <p:nvPr/>
          </p:nvSpPr>
          <p:spPr bwMode="auto">
            <a:xfrm flipV="1">
              <a:off x="4512" y="714"/>
              <a:ext cx="755" cy="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530" name="Oval 102"/>
            <p:cNvSpPr>
              <a:spLocks noChangeArrowheads="1"/>
            </p:cNvSpPr>
            <p:nvPr/>
          </p:nvSpPr>
          <p:spPr bwMode="auto">
            <a:xfrm>
              <a:off x="4665" y="1184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21531" name="Oval 103"/>
            <p:cNvSpPr>
              <a:spLocks noChangeArrowheads="1"/>
            </p:cNvSpPr>
            <p:nvPr/>
          </p:nvSpPr>
          <p:spPr bwMode="auto">
            <a:xfrm>
              <a:off x="5040" y="864"/>
              <a:ext cx="68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</p:grpSp>
      <p:sp>
        <p:nvSpPr>
          <p:cNvPr id="21521" name="Text Box 105"/>
          <p:cNvSpPr txBox="1">
            <a:spLocks noChangeArrowheads="1"/>
          </p:cNvSpPr>
          <p:nvPr/>
        </p:nvSpPr>
        <p:spPr bwMode="auto">
          <a:xfrm>
            <a:off x="381000" y="2133600"/>
            <a:ext cx="7737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fr-FR" altLang="fr-FR" sz="2000"/>
              <a:t> Intégration sur l</a:t>
            </a:r>
            <a:r>
              <a:rPr lang="ja-JP" altLang="fr-FR" sz="2000"/>
              <a:t>’</a:t>
            </a:r>
            <a:r>
              <a:rPr lang="fr-FR" altLang="ja-JP" sz="2000"/>
              <a:t>élément réel linéique e d</a:t>
            </a:r>
            <a:r>
              <a:rPr lang="ja-JP" altLang="fr-FR" sz="2000"/>
              <a:t>’</a:t>
            </a:r>
            <a:r>
              <a:rPr lang="fr-FR" altLang="ja-JP" sz="2000"/>
              <a:t>une grandeur interpolée </a:t>
            </a:r>
          </a:p>
          <a:p>
            <a:r>
              <a:rPr lang="fr-FR" altLang="fr-FR" sz="2000"/>
              <a:t>à partir de ses valeurs aux nœuds d</a:t>
            </a:r>
            <a:r>
              <a:rPr lang="ja-JP" altLang="fr-FR" sz="2000"/>
              <a:t>’</a:t>
            </a:r>
            <a:r>
              <a:rPr lang="fr-FR" altLang="ja-JP" sz="2000"/>
              <a:t>interpolation</a:t>
            </a:r>
            <a:endParaRPr lang="fr-FR" altLang="fr-FR" sz="2000"/>
          </a:p>
        </p:txBody>
      </p:sp>
      <p:graphicFrame>
        <p:nvGraphicFramePr>
          <p:cNvPr id="21522" name="Object 106"/>
          <p:cNvGraphicFramePr>
            <a:graphicFrameLocks noChangeAspect="1"/>
          </p:cNvGraphicFramePr>
          <p:nvPr/>
        </p:nvGraphicFramePr>
        <p:xfrm>
          <a:off x="228600" y="2967038"/>
          <a:ext cx="5516563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9" name="Equation" r:id="rId4" imgW="3060700" imgH="469900" progId="Equation.DSMT4">
                  <p:embed/>
                </p:oleObj>
              </mc:Choice>
              <mc:Fallback>
                <p:oleObj name="Equation" r:id="rId4" imgW="3060700" imgH="469900" progId="Equation.DSMT4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67038"/>
                        <a:ext cx="5516563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Text Box 108"/>
          <p:cNvSpPr txBox="1">
            <a:spLocks noChangeArrowheads="1"/>
          </p:cNvSpPr>
          <p:nvPr/>
        </p:nvSpPr>
        <p:spPr bwMode="auto">
          <a:xfrm>
            <a:off x="5715000" y="3200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où</a:t>
            </a:r>
          </a:p>
        </p:txBody>
      </p:sp>
      <p:graphicFrame>
        <p:nvGraphicFramePr>
          <p:cNvPr id="21525" name="Object 109"/>
          <p:cNvGraphicFramePr>
            <a:graphicFrameLocks noChangeAspect="1"/>
          </p:cNvGraphicFramePr>
          <p:nvPr/>
        </p:nvGraphicFramePr>
        <p:xfrm>
          <a:off x="381000" y="3962400"/>
          <a:ext cx="82899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0" name="Equation" r:id="rId6" imgW="4597400" imgH="533400" progId="Equation.DSMT4">
                  <p:embed/>
                </p:oleObj>
              </mc:Choice>
              <mc:Fallback>
                <p:oleObj name="Equation" r:id="rId6" imgW="4597400" imgH="533400" progId="Equation.DSMT4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62400"/>
                        <a:ext cx="82899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114"/>
          <p:cNvGraphicFramePr>
            <a:graphicFrameLocks noChangeAspect="1"/>
          </p:cNvGraphicFramePr>
          <p:nvPr/>
        </p:nvGraphicFramePr>
        <p:xfrm>
          <a:off x="860425" y="5632450"/>
          <a:ext cx="64103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1" name="Equation" r:id="rId8" imgW="3556000" imgH="469900" progId="Equation.DSMT4">
                  <p:embed/>
                </p:oleObj>
              </mc:Choice>
              <mc:Fallback>
                <p:oleObj name="Equation" r:id="rId8" imgW="3556000" imgH="469900" progId="Equation.DSMT4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5632450"/>
                        <a:ext cx="6410325" cy="84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8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Text Box 115"/>
          <p:cNvSpPr txBox="1">
            <a:spLocks noChangeArrowheads="1"/>
          </p:cNvSpPr>
          <p:nvPr/>
        </p:nvSpPr>
        <p:spPr bwMode="auto">
          <a:xfrm>
            <a:off x="288925" y="5065713"/>
            <a:ext cx="405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Quadrature de Gauss sur l</a:t>
            </a:r>
            <a:r>
              <a:rPr lang="ja-JP" altLang="fr-FR" sz="1800"/>
              <a:t>’</a:t>
            </a:r>
            <a:r>
              <a:rPr lang="fr-FR" altLang="ja-JP" sz="1800"/>
              <a:t>interpolée :</a:t>
            </a:r>
            <a:endParaRPr lang="fr-FR" altLang="fr-FR" sz="1800"/>
          </a:p>
        </p:txBody>
      </p:sp>
      <p:sp>
        <p:nvSpPr>
          <p:cNvPr id="21528" name="Espace réservé du numéro de diapositive 2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BA23502-18A6-4029-BB83-992C861CEF1A}" type="slidenum">
              <a:rPr lang="fr-FR" altLang="fr-FR" sz="1400"/>
              <a:pPr eaLnBrk="1" hangingPunct="1"/>
              <a:t>8</a:t>
            </a:fld>
            <a:endParaRPr lang="fr-FR" altLang="fr-FR" sz="1400"/>
          </a:p>
        </p:txBody>
      </p:sp>
      <p:pic>
        <p:nvPicPr>
          <p:cNvPr id="2" name="Image 1" descr="\documentclass{article}&#10;\usepackage{amsmath}&#10;\pagestyle{empty}&#10;\begin{document}&#10;&#10;$$&#10;f(x(u), y(u)) = \sum_{ie=1}^{\text{NBN}} \alpha_{ie}(u) \, f_{ie}&#10;$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048000"/>
            <a:ext cx="2912914" cy="663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9.4001"/>
  <p:tag name="ORIGINALWIDTH" val="1387.327"/>
  <p:tag name="OUTPUTTYPE" val="PNG"/>
  <p:tag name="IGUANATEXVERSION" val="160"/>
  <p:tag name="LATEXADDIN" val="\documentclass{article}&#10;\usepackage{amsmath}&#10;\pagestyle{empty}&#10;\begin{document}&#10;&#10;&#10;\begin{align*}&#10;x(u,v) &amp;= \sum_{ie=1}^{\text{NBN}} \alpha_{ie}(u,v) \, x_{ie} \\&#10;y(u,v) &amp;= \sum_{ie=1}^{\text{NBN}} \alpha_{ie}(u,v) \, y_{ie}&#10;\end{align*}&#10;&#10;\end{document}"/>
  <p:tag name="IGUANATEXSIZE" val="20"/>
  <p:tag name="IGUANATEXCURSOR" val="235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9547"/>
  <p:tag name="ORIGINALWIDTH" val="1376.828"/>
  <p:tag name="OUTPUTTYPE" val="PNG"/>
  <p:tag name="IGUANATEXVERSION" val="160"/>
  <p:tag name="LATEXADDIN" val="\documentclass{article}&#10;\usepackage{amsmath}&#10;\pagestyle{empty}&#10;\begin{document}&#10;&#10;$$&#10;f(u,v) = \sum_{ie=1}^{\text{NBN}} \alpha_{ie}(u,v) \, f_{ie}&#10;$$&#10;&#10;&#10;\end{document}"/>
  <p:tag name="IGUANATEXSIZE" val="20"/>
  <p:tag name="IGUANATEXCURSOR" val="147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111"/>
  <p:tag name="ORIGINALWIDTH" val="3495.313"/>
  <p:tag name="OUTPUTTYPE" val="PNG"/>
  <p:tag name="IGUANATEXVERSION" val="160"/>
  <p:tag name="LATEXADDIN" val="\documentclass{article}&#10;\usepackage{amsmath}&#10;\pagestyle{empty}&#10;\begin{document}&#10;&#10;$$&#10;\iint_e f(x, y) \, dx \, dy = \int_0^1 \int_0^{1-u} f(x(u,v), y(u,v)) \det(J(u,v)) \, du \, dv&#10;$$&#10;&#10;&#10;\end{document}"/>
  <p:tag name="IGUANATEXSIZE" val="20"/>
  <p:tag name="IGUANATEXCURSOR" val="181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9.4001"/>
  <p:tag name="ORIGINALWIDTH" val="1387.327"/>
  <p:tag name="OUTPUTTYPE" val="PNG"/>
  <p:tag name="IGUANATEXVERSION" val="160"/>
  <p:tag name="LATEXADDIN" val="\documentclass{article}&#10;\usepackage{amsmath}&#10;\pagestyle{empty}&#10;\begin{document}&#10;&#10;&#10;\begin{align*}&#10;x(u,v) &amp;= \sum_{ie=1}^{\text{NBN}} \alpha_{ie}(u,v) \, x_{ie} \\&#10;y(u,v) &amp;= \sum_{ie=1}^{\text{NBN}} \alpha_{ie}(u,v) \, y_{ie}&#10;\end{align*}&#10;&#10;\end{document}"/>
  <p:tag name="IGUANATEXSIZE" val="20"/>
  <p:tag name="IGUANATEXCURSOR" val="235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1124.859"/>
  <p:tag name="OUTPUTTYPE" val="PNG"/>
  <p:tag name="IGUANATEXVERSION" val="160"/>
  <p:tag name="LATEXADDIN" val="\documentclass{article}&#10;\usepackage{amsmath}&#10;\pagestyle{empty}&#10;\begin{document}&#10;&#10;\begin{equation*}&#10;J(u,v) = \begin{pmatrix}&#10;\frac{\partial x}{\partial u} &amp; \frac{\partial x}{\partial v} \\[1.0em]&#10;\frac{\partial y}{\partial u} &amp; \frac{\partial y}{\partial v}&#10;\end{pmatrix} &#10;\end{equation*}&#10;&#10;&#10;\end{document}"/>
  <p:tag name="IGUANATEXSIZE" val="20"/>
  <p:tag name="IGUANATEXCURSOR" val="27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7.4428"/>
  <p:tag name="ORIGINALWIDTH" val="1969.254"/>
  <p:tag name="OUTPUTTYPE" val="PNG"/>
  <p:tag name="IGUANATEXVERSION" val="160"/>
  <p:tag name="LATEXADDIN" val="\documentclass{article}&#10;\usepackage{amsmath}&#10;\pagestyle{empty}&#10;\begin{document}&#10;&#10;\begin{equation*}&#10;= \begin{pmatrix}&#10;\sum_{ie=1}^{\text{NBN}} \frac{\partial \alpha_{ie}}{\partial u} x_{ie} &amp; \sum_{ie=1}^{\text{NBN}} \frac{\partial \alpha_{ie}}{\partial v} x_{ie} \\[1.0em]&#10;\sum_{ie=1}^{\text{NBN}} \frac{\partial \alpha_{ie}}{\partial u} y_{ie} &amp; \sum_{ie=1}^{\text{NBN}} \frac{\partial \alpha_{ie}}{\partial v} y_{ie}&#10;\end{pmatrix}&#10;\end{equation*}&#10;&#10;&#10;\end{document}"/>
  <p:tag name="IGUANATEXSIZE" val="20"/>
  <p:tag name="IGUANATEXCURSOR" val="9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4.6906"/>
  <p:tag name="ORIGINALWIDTH" val="3474.316"/>
  <p:tag name="OUTPUTTYPE" val="PNG"/>
  <p:tag name="IGUANATEXVERSION" val="160"/>
  <p:tag name="LATEXADDIN" val="\documentclass{article}&#10;\usepackage{amsmath}&#10;\pagestyle{empty}&#10;\begin{document}&#10;&#10;\begin{equation*}&#10;\boxed{&#10;\iint_e f(x, y) \, dx \, dy = \sum_{k=1}^{\text{NPI}} f(x(u_{k}, v_{k}), y(u_{k}, v_{k})) \det(J(u_{k}, v_{k})) \, w_{k}&#10;}&#10;\end{equation*}&#10;&#10;&#10;\end{document}"/>
  <p:tag name="IGUANATEXSIZE" val="20"/>
  <p:tag name="IGUANATEXCURSOR" val="22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2241.47"/>
  <p:tag name="OUTPUTTYPE" val="PNG"/>
  <p:tag name="IGUANATEXVERSION" val="160"/>
  <p:tag name="LATEXADDIN" val="\documentclass{article}&#10;\usepackage{amsmath}&#10;\pagestyle{empty}&#10;\begin{document}&#10;&#10;&#10;&#10;\begin{equation*}&#10;\iint_D f(x, y) \, dx \, dy = \sum_{ne=1}^{\text{NE}} \iint_e f(x, y) \, dx \, dy&#10;\end{equation*}&#10;&#10;&#10;\end{document}"/>
  <p:tag name="IGUANATEXSIZE" val="20"/>
  <p:tag name="IGUANATEXCURSOR" val="197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4.4544"/>
  <p:tag name="ORIGINALWIDTH" val="2023.997"/>
  <p:tag name="OUTPUTTYPE" val="PNG"/>
  <p:tag name="IGUANATEXVERSION" val="161"/>
  <p:tag name="LATEXADDIN" val="\documentclass{article}&#10;\usepackage{amsmath}&#10;\pagestyle{empty}&#10;\begin{document}&#10;&#10;&#10;$$&#10;f\big(x(u,v), y(u,v) \big) = \sum_{ie=I}^{NBN} \alpha_{ie}(u,v) \; f_{ie}&#10;$$&#10;\end{document}"/>
  <p:tag name="IGUANATEXSIZE" val="20"/>
  <p:tag name="IGUANATEXCURSOR" val="161"/>
  <p:tag name="TRANSPARENCY" val="Vrai"/>
  <p:tag name="FILENAME" val=""/>
  <p:tag name="LATEXENGINEID" val="0"/>
  <p:tag name="TEMPFOLDER" val="c:\temp\"/>
  <p:tag name="LATEXFORMHEIGHT" val="259.8"/>
  <p:tag name="LATEXFORMWIDTH" val="591"/>
  <p:tag name="LATEXFORMWRAP" val="Vrai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7.7203"/>
  <p:tag name="ORIGINALWIDTH" val="4285.714"/>
  <p:tag name="OUTPUTTYPE" val="PNG"/>
  <p:tag name="IGUANATEXVERSION" val="161"/>
  <p:tag name="LATEXADDIN" val="\documentclass{article}&#10;\usepackage{amsmath}&#10;\pagestyle{empty}&#10;\begin{document}&#10;&#10;Passage de la numérotation locale vers la globale&#10;grâce à la table de connectivité :&#10;&#10;\end{document}"/>
  <p:tag name="IGUANATEXSIZE" val="20"/>
  <p:tag name="IGUANATEXCURSOR" val="166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9.4563"/>
  <p:tag name="ORIGINALWIDTH" val="623.1721"/>
  <p:tag name="OUTPUTTYPE" val="PNG"/>
  <p:tag name="IGUANATEXVERSION" val="161"/>
  <p:tag name="LATEXADDIN" val="\documentclass{article}&#10;\usepackage{amsmath}&#10;\pagestyle{empty}&#10;\begin{document}&#10;&#10;$$ i \leftarrow ind(ie) $$&#10;$$ f_{ie} \leftarrow sol(i)$$&#10;&#10;&#10;\end{document}"/>
  <p:tag name="IGUANATEXSIZE" val="20"/>
  <p:tag name="IGUANATEXCURSOR" val="12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4095.988"/>
  <p:tag name="OUTPUTTYPE" val="PNG"/>
  <p:tag name="IGUANATEXVERSION" val="161"/>
  <p:tag name="LATEXADDIN" val="\documentclass{article}&#10;\usepackage{amsmath}&#10;\pagestyle{empty}&#10;\begin{document}&#10;&#10;$$&#10;\iint_e f(x,y)\; dx \; dy = \sum_{k=1}^{NPI}&#10;w_k \; detJ_k \; f\Big( x(u_k, v_k),  y(u_k, v_k) \Big)&#10;=&#10;\sum_{k=1}^{NPI}&#10;w_k \; detJ_k \; f_k&#10;$$&#10;&#10;&#10;\end{document}"/>
  <p:tag name="IGUANATEXSIZE" val="20"/>
  <p:tag name="IGUANATEXCURSOR" val="22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2241.47"/>
  <p:tag name="OUTPUTTYPE" val="PNG"/>
  <p:tag name="IGUANATEXVERSION" val="160"/>
  <p:tag name="LATEXADDIN" val="\documentclass{article}&#10;\usepackage{amsmath}&#10;\pagestyle{empty}&#10;\begin{document}&#10;&#10;&#10;&#10;\begin{equation*}&#10;\iint_D f(x, y) \, dx \, dy = \sum_{ne=1}^{\text{NE}} \iint_e f(x, y) \, dx \, dy&#10;\end{equation*}&#10;&#10;&#10;\end{document}"/>
  <p:tag name="IGUANATEXSIZE" val="20"/>
  <p:tag name="IGUANATEXCURSOR" val="197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111"/>
  <p:tag name="ORIGINALWIDTH" val="3829.021"/>
  <p:tag name="OUTPUTTYPE" val="PNG"/>
  <p:tag name="IGUANATEXVERSION" val="160"/>
  <p:tag name="LATEXADDIN" val="\documentclass{article}&#10;\usepackage{amsmath}&#10;\pagestyle{empty}&#10;\begin{document}&#10;&#10;\begin{equation*}&#10;\iint_e \partial_x f(x,y) \, dx \, dy = \int_0^{+1} \int_0^{1-u} \partial_x f(x(u,v), y(u,v)) \det(J(u,v)) \, du \, dv&#10;\end{equation*}&#10;&#10;&#10;\end{document}"/>
  <p:tag name="IGUANATEXSIZE" val="20"/>
  <p:tag name="IGUANATEXCURSOR" val="20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7.6791"/>
  <p:tag name="ORIGINALWIDTH" val="1056.618"/>
  <p:tag name="OUTPUTTYPE" val="PNG"/>
  <p:tag name="IGUANATEXVERSION" val="160"/>
  <p:tag name="LATEXADDIN" val="\documentclass{article}&#10;\usepackage{amsmath}&#10;\pagestyle{empty}&#10;\begin{document}&#10;&#10;&#10;\begin{align*}&#10;dx &amp;= \frac{\partial x}{\partial u} du + \frac{\partial x}{\partial v} dv \\&#10;dy &amp;= \frac{\partial y}{\partial u} du + \frac{\partial y}{\partial v} dv&#10;\end{align*}&#10;&#10;\end{document}"/>
  <p:tag name="IGUANATEXSIZE" val="20"/>
  <p:tag name="IGUANATEXCURSOR" val="25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1285.339"/>
  <p:tag name="OUTPUTTYPE" val="PNG"/>
  <p:tag name="IGUANATEXVERSION" val="160"/>
  <p:tag name="LATEXADDIN" val="\documentclass{article}&#10;\usepackage{amsmath}&#10;\pagestyle{empty}&#10;\begin{document}&#10;&#10;&#10;$$&#10;df = \frac{\partial f}{\partial x} dx + \frac{\partial f}{\partial y} dy&#10;\quad \text{or}&#10;$$&#10;&#10;\end{document}"/>
  <p:tag name="IGUANATEXSIZE" val="20"/>
  <p:tag name="IGUANATEXCURSOR" val="173"/>
  <p:tag name="TRANSPARENCY" val="Vrai"/>
  <p:tag name="FILENAME" val=""/>
  <p:tag name="LATEXENGINEID" val="0"/>
  <p:tag name="TEMPFOLDER" val="c:\temp\"/>
  <p:tag name="LATEXFORMHEIGHT" val="320"/>
  <p:tag name="LATEXFORMWIDTH" val="603"/>
  <p:tag name="LATEXFORMWRAP" val="Vrai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3741.282"/>
  <p:tag name="OUTPUTTYPE" val="PNG"/>
  <p:tag name="IGUANATEXVERSION" val="160"/>
  <p:tag name="LATEXADDIN" val="\documentclass{article}&#10;\usepackage{amsmath}&#10;\pagestyle{empty}&#10;\begin{document}&#10;&#10;\begin{equation*}&#10;df = \left( \frac{\partial f}{\partial x} \frac{\partial x}{\partial u} + \frac{\partial f}{\partial y} \frac{\partial y}{\partial u} \right) du + \left( \frac{\partial f}{\partial x} \frac{\partial x}{\partial v} + \frac{\partial f}{\partial y} \frac{\partial y}{\partial v} \right) dv = \frac{\partial f}{\partial u} du + \frac{\partial f}{\partial v} dv&#10;\end{equation*}&#10;&#10;&#10;\end{document}"/>
  <p:tag name="IGUANATEXSIZE" val="20"/>
  <p:tag name="IGUANATEXCURSOR" val="47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4.192"/>
  <p:tag name="ORIGINALWIDTH" val="3081.365"/>
  <p:tag name="OUTPUTTYPE" val="PNG"/>
  <p:tag name="IGUANATEXVERSION" val="160"/>
  <p:tag name="LATEXADDIN" val="\documentclass{article}&#10;\usepackage{amsmath}&#10;\pagestyle{empty}&#10;\begin{document}&#10;&#10;\begin{equation*}&#10;\begin{pmatrix}&#10;\frac{\partial x}{\partial u} &amp; \frac{\partial y}{\partial u} \\[1.0em]&#10;\frac{\partial x}{\partial v} &amp; \frac{\partial y}{\partial v}&#10;\end{pmatrix}&#10;\begin{pmatrix}&#10;\frac{\partial f}{\partial x} \\[1.0em]&#10;\frac{\partial f}{\partial y}&#10;\end{pmatrix}&#10;=&#10;\begin{pmatrix}&#10;\frac{\partial f}{\partial u} \\[1.0em]&#10;\frac{\partial f}{\partial v}&#10;\end{pmatrix}&#10;\Rightarrow&#10;\begin{pmatrix}&#10;\frac{\partial f}{\partial x} \\[1.0em]&#10;\frac{\partial f}{\partial y}&#10;\end{pmatrix}&#10;= J^{-t}(u,v)&#10;\begin{pmatrix}&#10;\frac{\partial f}{\partial u} \\[1.0em]&#10;&#10;\frac{\partial f}{\partial v}&#10;\end{pmatrix}&#10;\end{equation*}&#10;&#10;&#10;\end{document}"/>
  <p:tag name="IGUANATEXSIZE" val="24"/>
  <p:tag name="IGUANATEXCURSOR" val="311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106.4867"/>
  <p:tag name="OUTPUTTYPE" val="PNG"/>
  <p:tag name="IGUANATEXVERSION" val="160"/>
  <p:tag name="LATEXADDIN" val="\documentclass{article}&#10;\usepackage{amsmath}&#10;\pagestyle{empty}&#10;\begin{document}&#10;&#10;&#10;$$&#10;J^{t}&#10;$$&#10;&#10;\end{document}"/>
  <p:tag name="IGUANATEXSIZE" val="20"/>
  <p:tag name="IGUANATEXCURSOR" val="9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9547"/>
  <p:tag name="ORIGINALWIDTH" val="1953.506"/>
  <p:tag name="OUTPUTTYPE" val="PNG"/>
  <p:tag name="IGUANATEXVERSION" val="160"/>
  <p:tag name="LATEXADDIN" val="\documentclass{article}&#10;\usepackage{amsmath}&#10;\pagestyle{empty}&#10;\begin{document}&#10;&#10;$$&#10;f(x(u,v), y(u,v)) = \sum_{ie=1}^{\text{NBN}} \alpha_{ie}(u,v) \, f_{ie}&#10;$$&#10;&#10;&#10;\end{document}"/>
  <p:tag name="IGUANATEXSIZE" val="20"/>
  <p:tag name="IGUANATEXCURSOR" val="10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4.9419"/>
  <p:tag name="ORIGINALWIDTH" val="3229.846"/>
  <p:tag name="OUTPUTTYPE" val="PNG"/>
  <p:tag name="IGUANATEXVERSION" val="160"/>
  <p:tag name="LATEXADDIN" val="\documentclass{article}&#10;\usepackage{amsmath}&#10;\pagestyle{empty}&#10;\begin{document}&#10;&#10;\begin{equation*}&#10;\begin{pmatrix}&#10;\frac{\partial f}{\partial x} \\[1.0em]&#10;\frac{\partial f}{\partial y}&#10;\end{pmatrix}&#10;= J^{-t}(u,v)&#10;\begin{pmatrix}&#10;\frac{\partial f}{\partial u} \\[1.0em]&#10;\frac{\partial f}{\partial v}&#10;\end{pmatrix}&#10;= J^{-t}(u,v)&#10;\begin{pmatrix}&#10;\sum_{ie=1}^{\text{NBN}}&#10;\frac{\partial \alpha_{ie}(u,v)}{\partial u} &#10; \, f_{ie}&#10;\\[1.0em]&#10;\sum_{ie=1}^{\text{NBN}}&#10;\frac{\partial \alpha_{ie}(u,v)}{\partial v}&#10; \, f_{ie}&#10;\end{pmatrix}&#10;\end{equation*}&#10;&#10;\end{document}&#10;&#10;"/>
  <p:tag name="IGUANATEXSIZE" val="24"/>
  <p:tag name="IGUANATEXCURSOR" val="546"/>
  <p:tag name="TRANSPARENCY" val="Vrai"/>
  <p:tag name="FILENAME" val=""/>
  <p:tag name="LATEXENGINEID" val="0"/>
  <p:tag name="TEMPFOLDER" val="c:\temp\"/>
  <p:tag name="LATEXFORMHEIGHT" val="432"/>
  <p:tag name="LATEXFORMWIDTH" val="385"/>
  <p:tag name="LATEXFORMWRAP" val="Vrai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4.6906"/>
  <p:tag name="ORIGINALWIDTH" val="3805.024"/>
  <p:tag name="OUTPUTTYPE" val="PNG"/>
  <p:tag name="IGUANATEXVERSION" val="160"/>
  <p:tag name="LATEXADDIN" val="\documentclass{article}&#10;\usepackage{amsmath}&#10;\pagestyle{empty}&#10;\begin{document}&#10;&#10;\begin{equation*}&#10;\boxed{&#10;\iint_e \frac{\partial f(x, y)}{\partial x} \, dx \, dy = \sum_{k=1}^{\text{NPI}} \frac{\partial f}{\partial x}(x(u_{k}, v_{k}), y(u_{k}, v_{k}))\quad \det(J(u_{k}, v_{k})) \, w_{k}&#10;}&#10;\end{equation*}&#10;&#10;&#10;\end{document}"/>
  <p:tag name="IGUANATEXSIZE" val="20"/>
  <p:tag name="IGUANATEXCURSOR" val="257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111"/>
  <p:tag name="ORIGINALWIDTH" val="3850.019"/>
  <p:tag name="OUTPUTTYPE" val="PNG"/>
  <p:tag name="IGUANATEXVERSION" val="160"/>
  <p:tag name="LATEXADDIN" val="\documentclass{article}&#10;\usepackage{amsmath}&#10;\pagestyle{empty}&#10;\begin{document}&#10;&#10;\begin{equation*}&#10;\iint_e \partial_x f(x,y) \, dx \, dy = \int_0^{+1} \int_0^{1-u} \partial_x f(x(u,v), y(u,v)) \, \det(J(u,v)) \, du \, dv&#10;\end{equation*}&#10;&#10;&#10;\end{document}"/>
  <p:tag name="IGUANATEXSIZE" val="20"/>
  <p:tag name="IGUANATEXCURSOR" val="196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.9096"/>
  <p:tag name="ORIGINALWIDTH" val="3282.34"/>
  <p:tag name="OUTPUTTYPE" val="PNG"/>
  <p:tag name="IGUANATEXVERSION" val="160"/>
  <p:tag name="LATEXADDIN" val="\documentclass{article}&#10;\usepackage{amsmath}&#10;\pagestyle{empty}&#10;\begin{document}&#10;&#10;ou encore en notation simplifiée:&#10;\begin{equation*}&#10;\boxed{&#10;\iint_e \frac{\partial f(x, y)}{\partial x} \, dx \, dy = \sum_{k=1}^{\text{NPI}} \frac{\partial f}{\partial x}(x_k, y_k)\, \det(J_k) \, w_{k}&#10;}&#10;\end{equation*}&#10;&#10;&#10;\end{document}"/>
  <p:tag name="IGUANATEXSIZE" val="20"/>
  <p:tag name="IGUANATEXCURSOR" val="11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9.4001"/>
  <p:tag name="ORIGINALWIDTH" val="1387.327"/>
  <p:tag name="OUTPUTTYPE" val="PNG"/>
  <p:tag name="IGUANATEXVERSION" val="160"/>
  <p:tag name="LATEXADDIN" val="\documentclass{article}&#10;\usepackage{amsmath}&#10;\pagestyle{empty}&#10;\begin{document}&#10;&#10;&#10;\begin{align*}&#10;x(u,v) &amp;= \sum_{ie=1}^{\text{NBN}} \alpha_{ie}(u,v) \, x_{ie} \\&#10;y(u,v) &amp;= \sum_{ie=1}^{\text{NBN}} \alpha_{ie}(u,v) \, y_{ie}&#10;\end{align*}&#10;&#10;\end{document}"/>
  <p:tag name="IGUANATEXSIZE" val="20"/>
  <p:tag name="IGUANATEXCURSOR" val="235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9547"/>
  <p:tag name="ORIGINALWIDTH" val="1592.801"/>
  <p:tag name="OUTPUTTYPE" val="PNG"/>
  <p:tag name="IGUANATEXVERSION" val="160"/>
  <p:tag name="LATEXADDIN" val="\documentclass{article}&#10;\usepackage{amsmath}&#10;\pagestyle{empty}&#10;\begin{document}&#10;&#10;$$&#10;f(x(u), y(u)) = \sum_{ie=1}^{\text{NBN}} \alpha_{ie}(u) \, f_{ie}&#10;$$&#10;&#10;&#10;\end{document}"/>
  <p:tag name="IGUANATEXSIZE" val="20"/>
  <p:tag name="IGUANATEXCURSOR" val="96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9547"/>
  <p:tag name="ORIGINALWIDTH" val="1592.801"/>
  <p:tag name="OUTPUTTYPE" val="PNG"/>
  <p:tag name="IGUANATEXVERSION" val="160"/>
  <p:tag name="LATEXADDIN" val="\documentclass{article}&#10;\usepackage{amsmath}&#10;\pagestyle{empty}&#10;\begin{document}&#10;&#10;$$&#10;f(x(u), y(u)) = \sum_{ie=1}^{\text{NBN}} \alpha_{ie}(u) \, f_{ie}&#10;$$&#10;&#10;&#10;\end{document}"/>
  <p:tag name="IGUANATEXSIZE" val="18"/>
  <p:tag name="IGUANATEXCURSOR" val="96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361</Words>
  <Application>Microsoft Office PowerPoint</Application>
  <PresentationFormat>Affichage à l'écran (4:3)</PresentationFormat>
  <Paragraphs>103</Paragraphs>
  <Slides>8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8" baseType="lpstr">
      <vt:lpstr>ＭＳ Ｐゴシック</vt:lpstr>
      <vt:lpstr>ＭＳ Ｐゴシック</vt:lpstr>
      <vt:lpstr>Arial</vt:lpstr>
      <vt:lpstr>Calibri</vt:lpstr>
      <vt:lpstr>Courier New</vt:lpstr>
      <vt:lpstr>Symbol</vt:lpstr>
      <vt:lpstr>Times New Roman</vt:lpstr>
      <vt:lpstr>Wingdings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toussaij</dc:creator>
  <cp:lastModifiedBy>toussaij</cp:lastModifiedBy>
  <cp:revision>68</cp:revision>
  <cp:lastPrinted>1601-01-01T00:00:00Z</cp:lastPrinted>
  <dcterms:created xsi:type="dcterms:W3CDTF">1601-01-01T00:00:00Z</dcterms:created>
  <dcterms:modified xsi:type="dcterms:W3CDTF">2025-09-16T08:46:40Z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