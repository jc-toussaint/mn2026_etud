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34"/>
  </p:notesMasterIdLst>
  <p:handoutMasterIdLst>
    <p:handoutMasterId r:id="rId35"/>
  </p:handoutMasterIdLst>
  <p:sldIdLst>
    <p:sldId id="307" r:id="rId2"/>
    <p:sldId id="303" r:id="rId3"/>
    <p:sldId id="304" r:id="rId4"/>
    <p:sldId id="305" r:id="rId5"/>
    <p:sldId id="306" r:id="rId6"/>
    <p:sldId id="308" r:id="rId7"/>
    <p:sldId id="310" r:id="rId8"/>
    <p:sldId id="309" r:id="rId9"/>
    <p:sldId id="312" r:id="rId10"/>
    <p:sldId id="313" r:id="rId11"/>
    <p:sldId id="287" r:id="rId12"/>
    <p:sldId id="285" r:id="rId13"/>
    <p:sldId id="311" r:id="rId14"/>
    <p:sldId id="264" r:id="rId15"/>
    <p:sldId id="291" r:id="rId16"/>
    <p:sldId id="289" r:id="rId17"/>
    <p:sldId id="270" r:id="rId18"/>
    <p:sldId id="265" r:id="rId19"/>
    <p:sldId id="267" r:id="rId20"/>
    <p:sldId id="293" r:id="rId21"/>
    <p:sldId id="271" r:id="rId22"/>
    <p:sldId id="273" r:id="rId23"/>
    <p:sldId id="274" r:id="rId24"/>
    <p:sldId id="294" r:id="rId25"/>
    <p:sldId id="276" r:id="rId26"/>
    <p:sldId id="295" r:id="rId27"/>
    <p:sldId id="297" r:id="rId28"/>
    <p:sldId id="298" r:id="rId29"/>
    <p:sldId id="299" r:id="rId30"/>
    <p:sldId id="302" r:id="rId31"/>
    <p:sldId id="300" r:id="rId32"/>
    <p:sldId id="290" r:id="rId33"/>
  </p:sldIdLst>
  <p:sldSz cx="9144000" cy="6858000" type="screen4x3"/>
  <p:notesSz cx="10234613" cy="70993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236">
          <p15:clr>
            <a:srgbClr val="A4A3A4"/>
          </p15:clr>
        </p15:guide>
        <p15:guide id="2" pos="322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99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5" d="100"/>
          <a:sy n="75" d="100"/>
        </p:scale>
        <p:origin x="1236" y="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95" d="100"/>
          <a:sy n="95" d="100"/>
        </p:scale>
        <p:origin x="-595" y="-72"/>
      </p:cViewPr>
      <p:guideLst>
        <p:guide orient="horz" pos="2236"/>
        <p:guide pos="322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1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58.wmf"/><Relationship Id="rId2" Type="http://schemas.openxmlformats.org/officeDocument/2006/relationships/image" Target="../media/image57.wmf"/><Relationship Id="rId1" Type="http://schemas.openxmlformats.org/officeDocument/2006/relationships/image" Target="../media/image56.wmf"/><Relationship Id="rId4" Type="http://schemas.openxmlformats.org/officeDocument/2006/relationships/image" Target="../media/image59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62.wmf"/><Relationship Id="rId2" Type="http://schemas.openxmlformats.org/officeDocument/2006/relationships/image" Target="../media/image61.wmf"/><Relationship Id="rId1" Type="http://schemas.openxmlformats.org/officeDocument/2006/relationships/image" Target="../media/image60.wmf"/><Relationship Id="rId4" Type="http://schemas.openxmlformats.org/officeDocument/2006/relationships/image" Target="../media/image63.w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65.wmf"/><Relationship Id="rId1" Type="http://schemas.openxmlformats.org/officeDocument/2006/relationships/image" Target="../media/image64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67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73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74.wmf"/></Relationships>
</file>

<file path=ppt/drawings/_rels/vmlDrawing9.vml.rels><?xml version="1.0" encoding="UTF-8" standalone="yes"?>
<Relationships xmlns="http://schemas.openxmlformats.org/package/2006/relationships"><Relationship Id="rId2" Type="http://schemas.openxmlformats.org/officeDocument/2006/relationships/image" Target="../media/image76.wmf"/><Relationship Id="rId1" Type="http://schemas.openxmlformats.org/officeDocument/2006/relationships/image" Target="../media/image75.w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79.wmf"/><Relationship Id="rId2" Type="http://schemas.openxmlformats.org/officeDocument/2006/relationships/image" Target="../media/image78.wmf"/><Relationship Id="rId1" Type="http://schemas.openxmlformats.org/officeDocument/2006/relationships/image" Target="../media/image77.wmf"/><Relationship Id="rId6" Type="http://schemas.openxmlformats.org/officeDocument/2006/relationships/image" Target="../media/image82.wmf"/><Relationship Id="rId5" Type="http://schemas.openxmlformats.org/officeDocument/2006/relationships/image" Target="../media/image81.wmf"/><Relationship Id="rId4" Type="http://schemas.openxmlformats.org/officeDocument/2006/relationships/image" Target="../media/image80.w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83.w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84.wmf"/></Relationships>
</file>

<file path=ppt/drawings/_rels/vmlDrawing13.vml.rels><?xml version="1.0" encoding="UTF-8" standalone="yes"?>
<Relationships xmlns="http://schemas.openxmlformats.org/package/2006/relationships"><Relationship Id="rId2" Type="http://schemas.openxmlformats.org/officeDocument/2006/relationships/image" Target="../media/image86.wmf"/><Relationship Id="rId1" Type="http://schemas.openxmlformats.org/officeDocument/2006/relationships/image" Target="../media/image85.w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87.wmf"/></Relationships>
</file>

<file path=ppt/drawings/_rels/vmlDrawing15.vml.rels><?xml version="1.0" encoding="UTF-8" standalone="yes"?>
<Relationships xmlns="http://schemas.openxmlformats.org/package/2006/relationships"><Relationship Id="rId2" Type="http://schemas.openxmlformats.org/officeDocument/2006/relationships/image" Target="../media/image89.wmf"/><Relationship Id="rId1" Type="http://schemas.openxmlformats.org/officeDocument/2006/relationships/image" Target="../media/image88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435475" cy="355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defTabSz="990600">
              <a:defRPr sz="1300">
                <a:latin typeface="Times New Roman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797550" y="0"/>
            <a:ext cx="4435475" cy="355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 defTabSz="990600">
              <a:defRPr sz="1300">
                <a:latin typeface="Times New Roman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26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6742113"/>
            <a:ext cx="4435475" cy="355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defTabSz="990600">
              <a:defRPr sz="1300">
                <a:latin typeface="Times New Roman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26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797550" y="6742113"/>
            <a:ext cx="4435475" cy="355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 defTabSz="990600">
              <a:defRPr sz="1300" smtClean="0"/>
            </a:lvl1pPr>
          </a:lstStyle>
          <a:p>
            <a:pPr>
              <a:defRPr/>
            </a:pPr>
            <a:fld id="{1A3137CF-C89B-4DD2-A9A9-9AD99B2AAC37}" type="slidenum">
              <a:rPr lang="en-US" altLang="fr-FR"/>
              <a:pPr>
                <a:defRPr/>
              </a:pPr>
              <a:t>‹N°›</a:t>
            </a:fld>
            <a:endParaRPr lang="en-US" alt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435475" cy="355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defTabSz="990600">
              <a:defRPr sz="1300">
                <a:latin typeface="Times New Roman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799138" y="0"/>
            <a:ext cx="4435475" cy="355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 defTabSz="990600">
              <a:defRPr sz="1300">
                <a:latin typeface="Times New Roman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0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341688" y="531813"/>
            <a:ext cx="3549650" cy="266223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1365250" y="3371850"/>
            <a:ext cx="7504113" cy="3195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 noProof="0" smtClean="0"/>
              <a:t>Cliquez pour modifier les styles du texte du masque</a:t>
            </a:r>
          </a:p>
          <a:p>
            <a:pPr lvl="1"/>
            <a:r>
              <a:rPr lang="fr-FR" altLang="fr-FR" noProof="0" smtClean="0"/>
              <a:t>Deuxième niveau</a:t>
            </a:r>
          </a:p>
          <a:p>
            <a:pPr lvl="2"/>
            <a:r>
              <a:rPr lang="fr-FR" altLang="fr-FR" noProof="0" smtClean="0"/>
              <a:t>Troisième niveau</a:t>
            </a:r>
          </a:p>
          <a:p>
            <a:pPr lvl="3"/>
            <a:r>
              <a:rPr lang="fr-FR" altLang="fr-FR" noProof="0" smtClean="0"/>
              <a:t>Quatrième niveau</a:t>
            </a:r>
          </a:p>
          <a:p>
            <a:pPr lvl="4"/>
            <a:r>
              <a:rPr lang="fr-FR" altLang="fr-FR" noProof="0" smtClean="0"/>
              <a:t>Cinquième niveau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743700"/>
            <a:ext cx="4435475" cy="355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defTabSz="990600">
              <a:defRPr sz="1300">
                <a:latin typeface="Times New Roman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799138" y="6743700"/>
            <a:ext cx="4435475" cy="355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 defTabSz="990600">
              <a:defRPr sz="1300" smtClean="0"/>
            </a:lvl1pPr>
          </a:lstStyle>
          <a:p>
            <a:pPr>
              <a:defRPr/>
            </a:pPr>
            <a:fld id="{791377BF-4ACF-41EE-8E65-4F04CD42D0B8}" type="slidenum">
              <a:rPr lang="fr-FR" altLang="fr-FR"/>
              <a:pPr>
                <a:defRPr/>
              </a:pPr>
              <a:t>‹N°›</a:t>
            </a:fld>
            <a:endParaRPr lang="fr-FR" alt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itchFamily="34" charset="-128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itchFamily="34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96356D5-A6EF-45DA-92C7-8CB8CA3798D8}" type="slidenum">
              <a:rPr lang="fr-FR" altLang="fr-FR"/>
              <a:pPr>
                <a:defRPr/>
              </a:pPr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40376037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F7E80B-4412-4C5E-B701-336034ED4947}" type="slidenum">
              <a:rPr lang="fr-FR" altLang="fr-FR"/>
              <a:pPr>
                <a:defRPr/>
              </a:pPr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21208919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4346DFF-9D1C-4ED0-BDA2-2DA3CBA3D668}" type="slidenum">
              <a:rPr lang="fr-FR" altLang="fr-FR"/>
              <a:pPr>
                <a:defRPr/>
              </a:pPr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11562347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F312463-78E8-4465-822D-314A1CA4E35F}" type="slidenum">
              <a:rPr lang="fr-FR" altLang="fr-FR"/>
              <a:pPr>
                <a:defRPr/>
              </a:pPr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10958458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8AEBB76-619D-47FF-BDBE-C227816DF8D4}" type="slidenum">
              <a:rPr lang="fr-FR" altLang="fr-FR"/>
              <a:pPr>
                <a:defRPr/>
              </a:pPr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36799422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824B582-D2AD-4C83-B163-D7967FDDD237}" type="slidenum">
              <a:rPr lang="fr-FR" altLang="fr-FR"/>
              <a:pPr>
                <a:defRPr/>
              </a:pPr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15528631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94168E2-DA76-47D5-A48C-4224F5F760A4}" type="slidenum">
              <a:rPr lang="fr-FR" altLang="fr-FR"/>
              <a:pPr>
                <a:defRPr/>
              </a:pPr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7909887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6401557-0BC1-424F-B8FA-E4211551E0E2}" type="slidenum">
              <a:rPr lang="fr-FR" altLang="fr-FR"/>
              <a:pPr>
                <a:defRPr/>
              </a:pPr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24571245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931B30-14A5-44A2-BB20-E40DBE4D2142}" type="slidenum">
              <a:rPr lang="fr-FR" altLang="fr-FR"/>
              <a:pPr>
                <a:defRPr/>
              </a:pPr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27032822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BA1FFB1-DA0A-4EFD-8703-D577764A9396}" type="slidenum">
              <a:rPr lang="fr-FR" altLang="fr-FR"/>
              <a:pPr>
                <a:defRPr/>
              </a:pPr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3417423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E1BBE3C-FD79-479B-AABC-0B002321044A}" type="slidenum">
              <a:rPr lang="fr-FR" altLang="fr-FR"/>
              <a:pPr>
                <a:defRPr/>
              </a:pPr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23449615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 smtClean="0"/>
              <a:t>Cliquez pour modifier le style du titre du masque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 smtClean="0"/>
              <a:t>Cliquez pour modifier les styles du texte du masque</a:t>
            </a:r>
          </a:p>
          <a:p>
            <a:pPr lvl="1"/>
            <a:r>
              <a:rPr lang="fr-FR" altLang="fr-FR" smtClean="0"/>
              <a:t>Deuxième niveau</a:t>
            </a:r>
          </a:p>
          <a:p>
            <a:pPr lvl="2"/>
            <a:r>
              <a:rPr lang="fr-FR" altLang="fr-FR" smtClean="0"/>
              <a:t>Troisième niveau</a:t>
            </a:r>
          </a:p>
          <a:p>
            <a:pPr lvl="3"/>
            <a:r>
              <a:rPr lang="fr-FR" altLang="fr-FR" smtClean="0"/>
              <a:t>Quatrième niveau</a:t>
            </a:r>
          </a:p>
          <a:p>
            <a:pPr lvl="4"/>
            <a:r>
              <a:rPr lang="fr-FR" altLang="fr-FR" smtClean="0"/>
              <a:t>Cinquième niveau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Times New Roman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Times New Roman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AD214174-7FBD-440B-A84D-7EDD7389AF92}" type="slidenum">
              <a:rPr lang="fr-FR" altLang="fr-FR"/>
              <a:pPr>
                <a:defRPr/>
              </a:pPr>
              <a:t>‹N°›</a:t>
            </a:fld>
            <a:endParaRPr lang="fr-FR" alt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MS PGothic" pitchFamily="34" charset="-128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MS PGothic" pitchFamily="34" charset="-128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MS PGothic" pitchFamily="34" charset="-128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MS PGothic" pitchFamily="34" charset="-128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MS PGothic" pitchFamily="34" charset="-128"/>
          <a:cs typeface="ＭＳ Ｐゴシック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MS PGothic" pitchFamily="34" charset="-128"/>
          <a:cs typeface="ＭＳ Ｐゴシック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MS PGothic" pitchFamily="34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MS PGothic" pitchFamily="34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MS PGothic" pitchFamily="34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MS PGothic" pitchFamily="34" charset="-128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tags" Target="../tags/tag2.xml"/><Relationship Id="rId7" Type="http://schemas.openxmlformats.org/officeDocument/2006/relationships/image" Target="../media/image1.wmf"/><Relationship Id="rId2" Type="http://schemas.openxmlformats.org/officeDocument/2006/relationships/tags" Target="../tags/tag1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1.bin"/><Relationship Id="rId5" Type="http://schemas.openxmlformats.org/officeDocument/2006/relationships/slideLayout" Target="../slideLayouts/slideLayout7.xml"/><Relationship Id="rId10" Type="http://schemas.openxmlformats.org/officeDocument/2006/relationships/image" Target="../media/image4.png"/><Relationship Id="rId4" Type="http://schemas.openxmlformats.org/officeDocument/2006/relationships/tags" Target="../tags/tag3.xml"/><Relationship Id="rId9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tags" Target="../tags/tag6.xml"/><Relationship Id="rId7" Type="http://schemas.openxmlformats.org/officeDocument/2006/relationships/image" Target="../media/image6.png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6" Type="http://schemas.openxmlformats.org/officeDocument/2006/relationships/image" Target="../media/image5.png"/><Relationship Id="rId5" Type="http://schemas.openxmlformats.org/officeDocument/2006/relationships/slideLayout" Target="../slideLayouts/slideLayout7.xml"/><Relationship Id="rId4" Type="http://schemas.openxmlformats.org/officeDocument/2006/relationships/tags" Target="../tags/tag7.xml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9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tags" Target="../tags/tag19.xml"/><Relationship Id="rId13" Type="http://schemas.openxmlformats.org/officeDocument/2006/relationships/image" Target="../media/image17.png"/><Relationship Id="rId18" Type="http://schemas.openxmlformats.org/officeDocument/2006/relationships/image" Target="../media/image22.png"/><Relationship Id="rId3" Type="http://schemas.openxmlformats.org/officeDocument/2006/relationships/tags" Target="../tags/tag14.xml"/><Relationship Id="rId7" Type="http://schemas.openxmlformats.org/officeDocument/2006/relationships/tags" Target="../tags/tag18.xml"/><Relationship Id="rId12" Type="http://schemas.openxmlformats.org/officeDocument/2006/relationships/image" Target="../media/image16.png"/><Relationship Id="rId17" Type="http://schemas.openxmlformats.org/officeDocument/2006/relationships/image" Target="../media/image21.png"/><Relationship Id="rId2" Type="http://schemas.openxmlformats.org/officeDocument/2006/relationships/tags" Target="../tags/tag13.xml"/><Relationship Id="rId16" Type="http://schemas.openxmlformats.org/officeDocument/2006/relationships/image" Target="../media/image20.png"/><Relationship Id="rId1" Type="http://schemas.openxmlformats.org/officeDocument/2006/relationships/tags" Target="../tags/tag12.xml"/><Relationship Id="rId6" Type="http://schemas.openxmlformats.org/officeDocument/2006/relationships/tags" Target="../tags/tag17.xml"/><Relationship Id="rId11" Type="http://schemas.openxmlformats.org/officeDocument/2006/relationships/image" Target="../media/image15.png"/><Relationship Id="rId5" Type="http://schemas.openxmlformats.org/officeDocument/2006/relationships/tags" Target="../tags/tag16.xml"/><Relationship Id="rId15" Type="http://schemas.openxmlformats.org/officeDocument/2006/relationships/image" Target="../media/image19.png"/><Relationship Id="rId10" Type="http://schemas.openxmlformats.org/officeDocument/2006/relationships/image" Target="../media/image14.png"/><Relationship Id="rId19" Type="http://schemas.openxmlformats.org/officeDocument/2006/relationships/image" Target="../media/image23.png"/><Relationship Id="rId4" Type="http://schemas.openxmlformats.org/officeDocument/2006/relationships/tags" Target="../tags/tag15.xml"/><Relationship Id="rId9" Type="http://schemas.openxmlformats.org/officeDocument/2006/relationships/slideLayout" Target="../slideLayouts/slideLayout7.xml"/><Relationship Id="rId1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tags" Target="../tags/tag22.xml"/><Relationship Id="rId7" Type="http://schemas.openxmlformats.org/officeDocument/2006/relationships/image" Target="../media/image26.png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31.png"/><Relationship Id="rId2" Type="http://schemas.openxmlformats.org/officeDocument/2006/relationships/tags" Target="../tags/tag24.xml"/><Relationship Id="rId1" Type="http://schemas.openxmlformats.org/officeDocument/2006/relationships/tags" Target="../tags/tag23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36.png"/><Relationship Id="rId2" Type="http://schemas.openxmlformats.org/officeDocument/2006/relationships/tags" Target="../tags/tag26.xml"/><Relationship Id="rId1" Type="http://schemas.openxmlformats.org/officeDocument/2006/relationships/tags" Target="../tags/tag25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Relationship Id="rId9" Type="http://schemas.openxmlformats.org/officeDocument/2006/relationships/image" Target="../media/image3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8.xml"/><Relationship Id="rId1" Type="http://schemas.openxmlformats.org/officeDocument/2006/relationships/tags" Target="../tags/tag27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9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41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42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tags" Target="../tags/tag37.xml"/><Relationship Id="rId13" Type="http://schemas.openxmlformats.org/officeDocument/2006/relationships/image" Target="../media/image46.png"/><Relationship Id="rId3" Type="http://schemas.openxmlformats.org/officeDocument/2006/relationships/tags" Target="../tags/tag32.xml"/><Relationship Id="rId7" Type="http://schemas.openxmlformats.org/officeDocument/2006/relationships/tags" Target="../tags/tag36.xml"/><Relationship Id="rId12" Type="http://schemas.openxmlformats.org/officeDocument/2006/relationships/image" Target="../media/image45.png"/><Relationship Id="rId17" Type="http://schemas.openxmlformats.org/officeDocument/2006/relationships/image" Target="../media/image50.png"/><Relationship Id="rId2" Type="http://schemas.openxmlformats.org/officeDocument/2006/relationships/tags" Target="../tags/tag31.xml"/><Relationship Id="rId16" Type="http://schemas.openxmlformats.org/officeDocument/2006/relationships/image" Target="../media/image49.png"/><Relationship Id="rId1" Type="http://schemas.openxmlformats.org/officeDocument/2006/relationships/tags" Target="../tags/tag30.xml"/><Relationship Id="rId6" Type="http://schemas.openxmlformats.org/officeDocument/2006/relationships/tags" Target="../tags/tag35.xml"/><Relationship Id="rId11" Type="http://schemas.openxmlformats.org/officeDocument/2006/relationships/image" Target="../media/image44.png"/><Relationship Id="rId5" Type="http://schemas.openxmlformats.org/officeDocument/2006/relationships/tags" Target="../tags/tag34.xml"/><Relationship Id="rId15" Type="http://schemas.openxmlformats.org/officeDocument/2006/relationships/image" Target="../media/image48.png"/><Relationship Id="rId10" Type="http://schemas.openxmlformats.org/officeDocument/2006/relationships/image" Target="../media/image43.png"/><Relationship Id="rId4" Type="http://schemas.openxmlformats.org/officeDocument/2006/relationships/tags" Target="../tags/tag33.xml"/><Relationship Id="rId9" Type="http://schemas.openxmlformats.org/officeDocument/2006/relationships/slideLayout" Target="../slideLayouts/slideLayout7.xml"/><Relationship Id="rId14" Type="http://schemas.openxmlformats.org/officeDocument/2006/relationships/image" Target="../media/image4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tags" Target="../tags/tag40.xml"/><Relationship Id="rId7" Type="http://schemas.openxmlformats.org/officeDocument/2006/relationships/image" Target="../media/image53.png"/><Relationship Id="rId2" Type="http://schemas.openxmlformats.org/officeDocument/2006/relationships/tags" Target="../tags/tag39.xml"/><Relationship Id="rId1" Type="http://schemas.openxmlformats.org/officeDocument/2006/relationships/tags" Target="../tags/tag38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4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4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wmf"/><Relationship Id="rId3" Type="http://schemas.openxmlformats.org/officeDocument/2006/relationships/oleObject" Target="../embeddings/oleObject3.bin"/><Relationship Id="rId7" Type="http://schemas.openxmlformats.org/officeDocument/2006/relationships/oleObject" Target="../embeddings/oleObject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57.wmf"/><Relationship Id="rId5" Type="http://schemas.openxmlformats.org/officeDocument/2006/relationships/oleObject" Target="../embeddings/oleObject4.bin"/><Relationship Id="rId10" Type="http://schemas.openxmlformats.org/officeDocument/2006/relationships/image" Target="../media/image59.wmf"/><Relationship Id="rId4" Type="http://schemas.openxmlformats.org/officeDocument/2006/relationships/image" Target="../media/image56.wmf"/><Relationship Id="rId9" Type="http://schemas.openxmlformats.org/officeDocument/2006/relationships/oleObject" Target="../embeddings/oleObject6.bin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wmf"/><Relationship Id="rId3" Type="http://schemas.openxmlformats.org/officeDocument/2006/relationships/oleObject" Target="../embeddings/oleObject7.bin"/><Relationship Id="rId7" Type="http://schemas.openxmlformats.org/officeDocument/2006/relationships/oleObject" Target="../embeddings/oleObject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61.wmf"/><Relationship Id="rId5" Type="http://schemas.openxmlformats.org/officeDocument/2006/relationships/oleObject" Target="../embeddings/oleObject8.bin"/><Relationship Id="rId10" Type="http://schemas.openxmlformats.org/officeDocument/2006/relationships/image" Target="../media/image63.wmf"/><Relationship Id="rId4" Type="http://schemas.openxmlformats.org/officeDocument/2006/relationships/image" Target="../media/image60.wmf"/><Relationship Id="rId9" Type="http://schemas.openxmlformats.org/officeDocument/2006/relationships/oleObject" Target="../embeddings/oleObject10.bin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65.wmf"/><Relationship Id="rId2" Type="http://schemas.openxmlformats.org/officeDocument/2006/relationships/tags" Target="../tags/tag43.xml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12.bin"/><Relationship Id="rId5" Type="http://schemas.openxmlformats.org/officeDocument/2006/relationships/image" Target="../media/image64.wmf"/><Relationship Id="rId4" Type="http://schemas.openxmlformats.org/officeDocument/2006/relationships/oleObject" Target="../embeddings/oleObject11.bin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.vml"/><Relationship Id="rId5" Type="http://schemas.openxmlformats.org/officeDocument/2006/relationships/image" Target="../media/image67.wmf"/><Relationship Id="rId4" Type="http://schemas.openxmlformats.org/officeDocument/2006/relationships/oleObject" Target="../embeddings/oleObject13.bin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2.png"/><Relationship Id="rId4" Type="http://schemas.openxmlformats.org/officeDocument/2006/relationships/image" Target="../media/image7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.vml"/><Relationship Id="rId4" Type="http://schemas.openxmlformats.org/officeDocument/2006/relationships/image" Target="../media/image73.w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8.vml"/><Relationship Id="rId4" Type="http://schemas.openxmlformats.org/officeDocument/2006/relationships/image" Target="../media/image74.w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76.wmf"/><Relationship Id="rId5" Type="http://schemas.openxmlformats.org/officeDocument/2006/relationships/oleObject" Target="../embeddings/oleObject17.bin"/><Relationship Id="rId4" Type="http://schemas.openxmlformats.org/officeDocument/2006/relationships/image" Target="../media/image75.wmf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.wmf"/><Relationship Id="rId13" Type="http://schemas.openxmlformats.org/officeDocument/2006/relationships/oleObject" Target="../embeddings/oleObject24.bin"/><Relationship Id="rId3" Type="http://schemas.openxmlformats.org/officeDocument/2006/relationships/oleObject" Target="../embeddings/oleObject18.bin"/><Relationship Id="rId7" Type="http://schemas.openxmlformats.org/officeDocument/2006/relationships/oleObject" Target="../embeddings/oleObject20.bin"/><Relationship Id="rId12" Type="http://schemas.openxmlformats.org/officeDocument/2006/relationships/oleObject" Target="../embeddings/oleObject23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82.wmf"/><Relationship Id="rId1" Type="http://schemas.openxmlformats.org/officeDocument/2006/relationships/vmlDrawing" Target="../drawings/vmlDrawing10.vml"/><Relationship Id="rId6" Type="http://schemas.openxmlformats.org/officeDocument/2006/relationships/image" Target="../media/image78.wmf"/><Relationship Id="rId11" Type="http://schemas.openxmlformats.org/officeDocument/2006/relationships/oleObject" Target="../embeddings/oleObject22.bin"/><Relationship Id="rId5" Type="http://schemas.openxmlformats.org/officeDocument/2006/relationships/oleObject" Target="../embeddings/oleObject19.bin"/><Relationship Id="rId15" Type="http://schemas.openxmlformats.org/officeDocument/2006/relationships/oleObject" Target="../embeddings/oleObject25.bin"/><Relationship Id="rId10" Type="http://schemas.openxmlformats.org/officeDocument/2006/relationships/image" Target="../media/image80.wmf"/><Relationship Id="rId4" Type="http://schemas.openxmlformats.org/officeDocument/2006/relationships/image" Target="../media/image77.wmf"/><Relationship Id="rId9" Type="http://schemas.openxmlformats.org/officeDocument/2006/relationships/oleObject" Target="../embeddings/oleObject21.bin"/><Relationship Id="rId14" Type="http://schemas.openxmlformats.org/officeDocument/2006/relationships/image" Target="../media/image81.wm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1.vml"/><Relationship Id="rId4" Type="http://schemas.openxmlformats.org/officeDocument/2006/relationships/image" Target="../media/image83.wmf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2.vml"/><Relationship Id="rId4" Type="http://schemas.openxmlformats.org/officeDocument/2006/relationships/image" Target="../media/image84.wmf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86.wmf"/><Relationship Id="rId5" Type="http://schemas.openxmlformats.org/officeDocument/2006/relationships/oleObject" Target="../embeddings/oleObject29.bin"/><Relationship Id="rId4" Type="http://schemas.openxmlformats.org/officeDocument/2006/relationships/image" Target="../media/image85.wmf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4.vml"/><Relationship Id="rId4" Type="http://schemas.openxmlformats.org/officeDocument/2006/relationships/image" Target="../media/image87.wmf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5.vml"/><Relationship Id="rId6" Type="http://schemas.openxmlformats.org/officeDocument/2006/relationships/image" Target="../media/image89.wmf"/><Relationship Id="rId5" Type="http://schemas.openxmlformats.org/officeDocument/2006/relationships/oleObject" Target="../embeddings/oleObject32.bin"/><Relationship Id="rId4" Type="http://schemas.openxmlformats.org/officeDocument/2006/relationships/image" Target="../media/image88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2" name="Rectangle 17"/>
          <p:cNvSpPr>
            <a:spLocks noChangeArrowheads="1"/>
          </p:cNvSpPr>
          <p:nvPr/>
        </p:nvSpPr>
        <p:spPr bwMode="auto">
          <a:xfrm>
            <a:off x="899592" y="-1588"/>
            <a:ext cx="794121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fr-FR" altLang="fr-FR" sz="2400" b="1" dirty="0">
                <a:solidFill>
                  <a:srgbClr val="FF0000"/>
                </a:solidFill>
                <a:latin typeface="Arial" panose="020B0604020202020204" pitchFamily="34" charset="0"/>
              </a:rPr>
              <a:t>INTEGRATION NUMERIQUE </a:t>
            </a:r>
            <a:r>
              <a:rPr lang="fr-FR" altLang="fr-FR" sz="2400" b="1" dirty="0" smtClean="0">
                <a:solidFill>
                  <a:srgbClr val="FF0000"/>
                </a:solidFill>
                <a:latin typeface="Arial" panose="020B0604020202020204" pitchFamily="34" charset="0"/>
              </a:rPr>
              <a:t>D’UNE FONCTION EN </a:t>
            </a:r>
            <a:r>
              <a:rPr lang="fr-FR" altLang="fr-FR" sz="2400" b="1" dirty="0">
                <a:solidFill>
                  <a:srgbClr val="FF0000"/>
                </a:solidFill>
                <a:latin typeface="Arial" panose="020B0604020202020204" pitchFamily="34" charset="0"/>
              </a:rPr>
              <a:t>1D</a:t>
            </a:r>
          </a:p>
        </p:txBody>
      </p:sp>
      <p:sp>
        <p:nvSpPr>
          <p:cNvPr id="4113" name="Espace réservé du numéro de diapositive 18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A416F00-6F6F-41C6-94E0-1FB31ECF494B}" type="slidenum">
              <a:rPr lang="fr-FR" altLang="fr-FR" sz="1400"/>
              <a:pPr>
                <a:spcBef>
                  <a:spcPct val="0"/>
                </a:spcBef>
                <a:buFontTx/>
                <a:buNone/>
              </a:pPr>
              <a:t>1</a:t>
            </a:fld>
            <a:endParaRPr lang="fr-FR" altLang="fr-FR" sz="1400"/>
          </a:p>
        </p:txBody>
      </p:sp>
      <p:grpSp>
        <p:nvGrpSpPr>
          <p:cNvPr id="20" name="Group 33"/>
          <p:cNvGrpSpPr>
            <a:grpSpLocks/>
          </p:cNvGrpSpPr>
          <p:nvPr/>
        </p:nvGrpSpPr>
        <p:grpSpPr bwMode="auto">
          <a:xfrm>
            <a:off x="5161776" y="2766826"/>
            <a:ext cx="3776662" cy="574675"/>
            <a:chOff x="3323" y="3186"/>
            <a:chExt cx="2379" cy="362"/>
          </a:xfrm>
        </p:grpSpPr>
        <p:sp>
          <p:nvSpPr>
            <p:cNvPr id="21" name="Line 22"/>
            <p:cNvSpPr>
              <a:spLocks noChangeShapeType="1"/>
            </p:cNvSpPr>
            <p:nvPr/>
          </p:nvSpPr>
          <p:spPr bwMode="auto">
            <a:xfrm>
              <a:off x="3412" y="3394"/>
              <a:ext cx="156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2" name="Line 23"/>
            <p:cNvSpPr>
              <a:spLocks noChangeShapeType="1"/>
            </p:cNvSpPr>
            <p:nvPr/>
          </p:nvSpPr>
          <p:spPr bwMode="auto">
            <a:xfrm>
              <a:off x="4977" y="3394"/>
              <a:ext cx="56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3" name="Text Box 24"/>
            <p:cNvSpPr txBox="1">
              <a:spLocks noChangeArrowheads="1"/>
            </p:cNvSpPr>
            <p:nvPr/>
          </p:nvSpPr>
          <p:spPr bwMode="auto">
            <a:xfrm>
              <a:off x="5529" y="3336"/>
              <a:ext cx="173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fr-FR" sz="1600" i="1"/>
                <a:t>x</a:t>
              </a:r>
            </a:p>
          </p:txBody>
        </p:sp>
        <p:sp>
          <p:nvSpPr>
            <p:cNvPr id="24" name="Text Box 28"/>
            <p:cNvSpPr txBox="1">
              <a:spLocks noChangeArrowheads="1"/>
            </p:cNvSpPr>
            <p:nvPr/>
          </p:nvSpPr>
          <p:spPr bwMode="auto">
            <a:xfrm>
              <a:off x="3323" y="3186"/>
              <a:ext cx="17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fr-FR" sz="1400">
                  <a:latin typeface="Arial" panose="020B0604020202020204" pitchFamily="34" charset="0"/>
                </a:rPr>
                <a:t>a</a:t>
              </a:r>
            </a:p>
          </p:txBody>
        </p:sp>
        <p:sp>
          <p:nvSpPr>
            <p:cNvPr id="25" name="Text Box 29"/>
            <p:cNvSpPr txBox="1">
              <a:spLocks noChangeArrowheads="1"/>
            </p:cNvSpPr>
            <p:nvPr/>
          </p:nvSpPr>
          <p:spPr bwMode="auto">
            <a:xfrm>
              <a:off x="4888" y="3186"/>
              <a:ext cx="17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fr-FR" sz="1400">
                  <a:latin typeface="Arial" panose="020B0604020202020204" pitchFamily="34" charset="0"/>
                </a:rPr>
                <a:t>b</a:t>
              </a:r>
            </a:p>
          </p:txBody>
        </p:sp>
      </p:grpSp>
      <p:grpSp>
        <p:nvGrpSpPr>
          <p:cNvPr id="26" name="Group 34"/>
          <p:cNvGrpSpPr>
            <a:grpSpLocks/>
          </p:cNvGrpSpPr>
          <p:nvPr/>
        </p:nvGrpSpPr>
        <p:grpSpPr bwMode="auto">
          <a:xfrm>
            <a:off x="519193" y="2901991"/>
            <a:ext cx="2598738" cy="484188"/>
            <a:chOff x="3717" y="3789"/>
            <a:chExt cx="1637" cy="305"/>
          </a:xfrm>
        </p:grpSpPr>
        <p:sp>
          <p:nvSpPr>
            <p:cNvPr id="27" name="Line 25"/>
            <p:cNvSpPr>
              <a:spLocks noChangeShapeType="1"/>
            </p:cNvSpPr>
            <p:nvPr/>
          </p:nvSpPr>
          <p:spPr bwMode="auto">
            <a:xfrm>
              <a:off x="3817" y="3865"/>
              <a:ext cx="81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8" name="Line 26"/>
            <p:cNvSpPr>
              <a:spLocks noChangeShapeType="1"/>
            </p:cNvSpPr>
            <p:nvPr/>
          </p:nvSpPr>
          <p:spPr bwMode="auto">
            <a:xfrm>
              <a:off x="4633" y="3866"/>
              <a:ext cx="56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9" name="Text Box 27"/>
            <p:cNvSpPr txBox="1">
              <a:spLocks noChangeArrowheads="1"/>
            </p:cNvSpPr>
            <p:nvPr/>
          </p:nvSpPr>
          <p:spPr bwMode="auto">
            <a:xfrm>
              <a:off x="5174" y="3789"/>
              <a:ext cx="18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fr-FR" sz="1600" i="1"/>
                <a:t>u</a:t>
              </a:r>
            </a:p>
          </p:txBody>
        </p:sp>
        <p:sp>
          <p:nvSpPr>
            <p:cNvPr id="30" name="Text Box 30"/>
            <p:cNvSpPr txBox="1">
              <a:spLocks noChangeArrowheads="1"/>
            </p:cNvSpPr>
            <p:nvPr/>
          </p:nvSpPr>
          <p:spPr bwMode="auto">
            <a:xfrm>
              <a:off x="3717" y="3892"/>
              <a:ext cx="215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fr-FR" sz="1400">
                  <a:latin typeface="Arial" panose="020B0604020202020204" pitchFamily="34" charset="0"/>
                </a:rPr>
                <a:t>-1</a:t>
              </a:r>
            </a:p>
          </p:txBody>
        </p:sp>
        <p:sp>
          <p:nvSpPr>
            <p:cNvPr id="31" name="Text Box 31"/>
            <p:cNvSpPr txBox="1">
              <a:spLocks noChangeArrowheads="1"/>
            </p:cNvSpPr>
            <p:nvPr/>
          </p:nvSpPr>
          <p:spPr bwMode="auto">
            <a:xfrm>
              <a:off x="4549" y="3902"/>
              <a:ext cx="17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fr-FR" sz="1400">
                  <a:latin typeface="Arial" panose="020B0604020202020204" pitchFamily="34" charset="0"/>
                </a:rPr>
                <a:t>1</a:t>
              </a:r>
            </a:p>
          </p:txBody>
        </p:sp>
      </p:grpSp>
      <p:sp>
        <p:nvSpPr>
          <p:cNvPr id="32" name="AutoShape 35"/>
          <p:cNvSpPr>
            <a:spLocks noChangeArrowheads="1"/>
          </p:cNvSpPr>
          <p:nvPr/>
        </p:nvSpPr>
        <p:spPr bwMode="auto">
          <a:xfrm rot="10800000">
            <a:off x="3631414" y="2918083"/>
            <a:ext cx="1223963" cy="287338"/>
          </a:xfrm>
          <a:prstGeom prst="leftArrow">
            <a:avLst>
              <a:gd name="adj1" fmla="val 50000"/>
              <a:gd name="adj2" fmla="val 106492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fr-FR" altLang="fr-FR" sz="2400"/>
          </a:p>
        </p:txBody>
      </p:sp>
      <p:graphicFrame>
        <p:nvGraphicFramePr>
          <p:cNvPr id="33" name="Object 3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46265635"/>
              </p:ext>
            </p:extLst>
          </p:nvPr>
        </p:nvGraphicFramePr>
        <p:xfrm>
          <a:off x="2903817" y="2132856"/>
          <a:ext cx="2384425" cy="587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76" name="Equation" r:id="rId6" imgW="1600200" imgH="393700" progId="Equation.DSMT4">
                  <p:embed/>
                </p:oleObj>
              </mc:Choice>
              <mc:Fallback>
                <p:oleObj name="Equation" r:id="rId6" imgW="1600200" imgH="393700" progId="Equation.DSMT4">
                  <p:embed/>
                  <p:pic>
                    <p:nvPicPr>
                      <p:cNvPr id="5129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03817" y="2132856"/>
                        <a:ext cx="2384425" cy="587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Image 4" descr="\documentclass{article}&#10;\usepackage{amsmath}&#10;\pagestyle{empty}&#10;\begin{document}&#10;&#10;\subsection*{But : évaluer $\int_a^b f(x) dx$ numériquement où f(x) analytique}&#10;&#10;On suppose que $f$ est continue et dérivable sur $[a, b]$.&#10;&#10;\noindent&#10;On définit une transformation géométrique affine permettant de passer d’un intervalle de référence &#10;$u \in [-1, 1]$ à l’intervalle réel $x \in [a, b]$.&#10;&#10;&#10;&#10;\end{document}" title="IguanaTex Bitmap Display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449" y="577607"/>
            <a:ext cx="7841828" cy="1298741"/>
          </a:xfrm>
          <a:prstGeom prst="rect">
            <a:avLst/>
          </a:prstGeom>
        </p:spPr>
      </p:pic>
      <p:pic>
        <p:nvPicPr>
          <p:cNvPr id="7" name="Image 6" descr="\documentclass{article}&#10;\usepackage{amsmath}&#10;\pagestyle{empty}&#10;\begin{document}&#10;&#10;\[&#10;\boxed{&#10;\int_a^b f(x)\,dx &#10;= \frac{b-a}{2} \int_{-1}^{1} f\!\big(T(u)\big)\,du&#10;= \frac{b-a}{2} \sum_{k=1}^{\text{NPI}} w_k\, f\!\big(T(u_k)\big)&#10;= \frac{b-a}{2} \sum_{k=1}^{\text{NPI}} w_k\, g(u_k)&#10;}&#10;\]&#10;avec $g = f \circ T$.&#10;&#10;\noindent&#10;Le nombre d'abscisses $u_k \in [-1, 1]$ et de poids $w_k$ dépend de la méthode d'intégration et de la précision souhaitée.&#10;\end{document}" title="IguanaTex Bitmap Display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194" y="3665045"/>
            <a:ext cx="8184686" cy="1869256"/>
          </a:xfrm>
          <a:prstGeom prst="rect">
            <a:avLst/>
          </a:prstGeom>
        </p:spPr>
      </p:pic>
      <p:pic>
        <p:nvPicPr>
          <p:cNvPr id="8" name="Image 7" descr="\documentclass{article}&#10;\usepackage{amsmath}&#10;\pagestyle{empty}&#10;\begin{document}&#10;&#10;\[&#10;\boxed{&#10; \int_{-1}^{1} g\!\big(u\big)\,du&#10;= \sum_{k=1}^{\text{NPI}} w_k\, g(u_k)&#10;}&#10;\]&#10;&#10;\end{document}" title="IguanaTex Bitmap Display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7626" y="5693663"/>
            <a:ext cx="2790858" cy="868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62136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94168E2-DA76-47D5-A48C-4224F5F760A4}" type="slidenum">
              <a:rPr lang="fr-FR" altLang="fr-FR" smtClean="0"/>
              <a:pPr>
                <a:defRPr/>
              </a:pPr>
              <a:t>2</a:t>
            </a:fld>
            <a:endParaRPr lang="fr-FR" altLang="fr-FR"/>
          </a:p>
        </p:txBody>
      </p:sp>
      <p:pic>
        <p:nvPicPr>
          <p:cNvPr id="32" name="Image 31" descr="\documentclass{article}&#10;\usepackage{amsmath}&#10;\pagestyle{empty}&#10;\usepackage{amsmath}&#10;\usepackage{array}&#10;\usepackage{booktabs}&#10;\usepackage{multirow}&#10;\usepackage{caption}&#10;&#10;\begin{document}&#10;&#10;\begin{table*}[h!]&#10;\centering&#10;%\caption*{Formules de Newton-Cotes pour l'intégration sur [-1, 1]}&#10;\begin{tabular}{|c|c|c|c|c|}&#10;\hline&#10;\textbf{Nombre de points} &amp; \textbf{Nom} &amp; \textbf{Abscisses} &amp; \textbf{Poids} &amp; \textbf{Deg. polyn. exact} \\[0.2em]&#10;\hline&#10;\multirow{1}{*}{1} &amp; Rectangle &amp; $u_1 = 0$ &amp; $w_1 = 2$ &amp; 1 \\[0.2em]&#10;&amp; (point milieu) &amp; &amp; &amp; \\[0.2em]&#10;\hline&#10;\multirow{2}{*}{2} &amp; \multirow{2}{*}{Trapèze} &amp; $u_1 = -1$ &amp; $w_1 = 1$ &amp; \multirow{2}{*}{1} \\[0.2em]&#10;&amp; &amp; $u_2 = 1$ &amp; $w_2 = 1$ &amp; \\[0.2em]&#10;\hline&#10;\multirow{3}{*}{3} &amp; \multirow{3}{*}{Simpson} &amp; $u_1 = -1$ &amp; $w_1 = \frac{1}{3}$ &amp; \multirow{3}{*}{3} \\[0.2em]&#10;&amp; &amp; $u_2 = 0$ &amp; $w_2 = \frac{4}{3}$ &amp; \\[0.2em]&#10;&amp; &amp; $u_3 = 1$ &amp; $w_3 = \frac{1}{3}$ &amp; \\[0.2em]&#10;\hline&#10;\end{tabular}&#10;\end{table*}&#10;&#10;\end{document}" title="IguanaTex Bitmap Display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4779" y="1391596"/>
            <a:ext cx="7744612" cy="2311315"/>
          </a:xfrm>
          <a:prstGeom prst="rect">
            <a:avLst/>
          </a:prstGeom>
        </p:spPr>
      </p:pic>
      <p:pic>
        <p:nvPicPr>
          <p:cNvPr id="6" name="Image 5" descr="\documentclass{article}&#10;\usepackage{amsmath}&#10;\pagestyle{empty}&#10;\usepackage{amsmath}&#10;\usepackage{array}&#10;\usepackage{booktabs}&#10;\usepackage{multirow}&#10;\usepackage{caption}&#10;&#10;\begin{document}&#10;&#10;&#10;\begin{table*}[h!]&#10;\centering&#10;%\caption*{Formules de Gauss-Legendre pour l'intégration sur [-1, 1]}&#10;\begin{tabular}{|c|c|c|c|}&#10;\hline&#10;\textbf{Nombre de points} &amp; \textbf{Abscisses} &amp; \textbf{Poids} &amp; \textbf{Deg. polyn. exact} \\&#10;\hline&#10;\multirow{1}{*}{1} &amp; $u_1 = 0$ &amp; $w_1 = 2$ &amp; 1 \\&#10;&amp; &amp; &amp; \\&#10;\hline&#10;\multirow{2}{*}{2} &amp; $u_1 = -\frac{1}{\sqrt{3}} \approx -0.5774$ &amp; $w_1 = 1$ &amp; \multirow{2}{*}{3} \\&#10;&amp; $u_2 = \frac{1}{\sqrt{3}} \approx 0.5774$ &amp; $w_2 = 1$ &amp; \\&#10;\hline&#10;\multirow{3}{*}{3} &amp; $u_1 = -\sqrt{\frac{3}{5}} \approx -0.7746$ &amp; $w_1 = \frac{5}{9}$ &amp; \multirow{3}{*}{5} \\&#10;&amp; $u_2 = 0$ &amp; $w_2 = \frac{8}{9}$ &amp; \\&#10;&amp; $u_3 = \sqrt{\frac{3}{5}} \approx 0.7746$ &amp; $w_3 = \frac{5}{9}$ &amp; \\&#10;\hline&#10;\end{tabular}&#10;\end{table*}&#10;Voir détails dans le document supplémentaire integ1D\_Gauss\_Legendre.pdf&#10;\end{document}" title="IguanaTex Bitmap Display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4113" y="3933056"/>
            <a:ext cx="7275278" cy="2847697"/>
          </a:xfrm>
          <a:prstGeom prst="rect">
            <a:avLst/>
          </a:prstGeom>
          <a:solidFill>
            <a:srgbClr val="FFFFFF"/>
          </a:solidFill>
        </p:spPr>
      </p:pic>
      <p:pic>
        <p:nvPicPr>
          <p:cNvPr id="24" name="Image 23" descr="\documentclass{article}&#10;\usepackage{amsmath}&#10;\pagestyle{empty}&#10;\begin{document}&#10;&#10;\subsection*{Intégration numérique d'une fonction $f(u)$ dans $[-1, 1]$}&#10;&#10;\end{document}" title="IguanaTex Bitmap Display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4" y="250138"/>
            <a:ext cx="7187657" cy="274286"/>
          </a:xfrm>
          <a:prstGeom prst="rect">
            <a:avLst/>
          </a:prstGeom>
        </p:spPr>
      </p:pic>
      <p:pic>
        <p:nvPicPr>
          <p:cNvPr id="3" name="Image 2" descr="\documentclass{article}&#10;\usepackage{amsmath}&#10;\pagestyle{empty}&#10;\begin{document}&#10;&#10;$$&#10;\int_{-1}^{+1} \; du \; g(u) = \sum_{k=1}^\text{NPI} \; w_k\; g(u_k)&#10;$$&#10;&#10;&#10;\end{document}" title="IguanaTex Bitmap Display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5816" y="623381"/>
            <a:ext cx="2882744" cy="669257"/>
          </a:xfrm>
          <a:prstGeom prst="rect">
            <a:avLst/>
          </a:prstGeom>
        </p:spPr>
      </p:pic>
      <p:grpSp>
        <p:nvGrpSpPr>
          <p:cNvPr id="11" name="Groupe 10"/>
          <p:cNvGrpSpPr/>
          <p:nvPr/>
        </p:nvGrpSpPr>
        <p:grpSpPr>
          <a:xfrm>
            <a:off x="926994" y="4179452"/>
            <a:ext cx="2204847" cy="2201244"/>
            <a:chOff x="926994" y="4179452"/>
            <a:chExt cx="2204847" cy="2201244"/>
          </a:xfrm>
        </p:grpSpPr>
        <p:sp>
          <p:nvSpPr>
            <p:cNvPr id="29" name="ZoneTexte 28"/>
            <p:cNvSpPr txBox="1"/>
            <p:nvPr/>
          </p:nvSpPr>
          <p:spPr>
            <a:xfrm rot="16200000">
              <a:off x="57205" y="5049241"/>
              <a:ext cx="220124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dirty="0" smtClean="0"/>
                <a:t>Gauss-Legendre</a:t>
              </a:r>
              <a:endParaRPr lang="fr-FR" dirty="0"/>
            </a:p>
          </p:txBody>
        </p:sp>
        <p:cxnSp>
          <p:nvCxnSpPr>
            <p:cNvPr id="5" name="Connecteur droit 4"/>
            <p:cNvCxnSpPr/>
            <p:nvPr/>
          </p:nvCxnSpPr>
          <p:spPr bwMode="auto">
            <a:xfrm>
              <a:off x="1763689" y="6093296"/>
              <a:ext cx="1368152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2" name="Connecteur droit 11"/>
            <p:cNvCxnSpPr/>
            <p:nvPr/>
          </p:nvCxnSpPr>
          <p:spPr bwMode="auto">
            <a:xfrm>
              <a:off x="1763689" y="5157192"/>
              <a:ext cx="1368152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grpSp>
          <p:nvGrpSpPr>
            <p:cNvPr id="9" name="Groupe 8"/>
            <p:cNvGrpSpPr/>
            <p:nvPr/>
          </p:nvGrpSpPr>
          <p:grpSpPr>
            <a:xfrm>
              <a:off x="1763689" y="4509120"/>
              <a:ext cx="1368152" cy="144016"/>
              <a:chOff x="1763688" y="4509120"/>
              <a:chExt cx="1368152" cy="144016"/>
            </a:xfrm>
          </p:grpSpPr>
          <p:cxnSp>
            <p:nvCxnSpPr>
              <p:cNvPr id="13" name="Connecteur droit 12"/>
              <p:cNvCxnSpPr/>
              <p:nvPr/>
            </p:nvCxnSpPr>
            <p:spPr bwMode="auto">
              <a:xfrm>
                <a:off x="1763688" y="4581128"/>
                <a:ext cx="1368152" cy="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8" name="Ellipse 7"/>
              <p:cNvSpPr/>
              <p:nvPr/>
            </p:nvSpPr>
            <p:spPr bwMode="auto">
              <a:xfrm>
                <a:off x="2375764" y="4509120"/>
                <a:ext cx="144000" cy="144016"/>
              </a:xfrm>
              <a:prstGeom prst="ellipse">
                <a:avLst/>
              </a:prstGeom>
              <a:solidFill>
                <a:srgbClr val="FF0000"/>
              </a:solidFill>
              <a:ln w="9525" cap="flat" cmpd="sng" algn="ctr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fr-FR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</a:endParaRPr>
              </a:p>
            </p:txBody>
          </p:sp>
        </p:grpSp>
        <p:sp>
          <p:nvSpPr>
            <p:cNvPr id="16" name="Ellipse 15"/>
            <p:cNvSpPr/>
            <p:nvPr/>
          </p:nvSpPr>
          <p:spPr bwMode="auto">
            <a:xfrm>
              <a:off x="1979713" y="5085184"/>
              <a:ext cx="144000" cy="144016"/>
            </a:xfrm>
            <a:prstGeom prst="ellipse">
              <a:avLst/>
            </a:prstGeom>
            <a:solidFill>
              <a:srgbClr val="FF0000"/>
            </a:solidFill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fr-FR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  <p:sp>
          <p:nvSpPr>
            <p:cNvPr id="17" name="Ellipse 16"/>
            <p:cNvSpPr/>
            <p:nvPr/>
          </p:nvSpPr>
          <p:spPr bwMode="auto">
            <a:xfrm>
              <a:off x="2714766" y="5085184"/>
              <a:ext cx="144000" cy="144016"/>
            </a:xfrm>
            <a:prstGeom prst="ellipse">
              <a:avLst/>
            </a:prstGeom>
            <a:solidFill>
              <a:srgbClr val="FF0000"/>
            </a:solidFill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fr-FR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  <p:sp>
          <p:nvSpPr>
            <p:cNvPr id="18" name="Ellipse 17"/>
            <p:cNvSpPr/>
            <p:nvPr/>
          </p:nvSpPr>
          <p:spPr bwMode="auto">
            <a:xfrm>
              <a:off x="2375765" y="6021288"/>
              <a:ext cx="144000" cy="144016"/>
            </a:xfrm>
            <a:prstGeom prst="ellipse">
              <a:avLst/>
            </a:prstGeom>
            <a:solidFill>
              <a:srgbClr val="FF0000"/>
            </a:solidFill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fr-FR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  <p:sp>
          <p:nvSpPr>
            <p:cNvPr id="19" name="Ellipse 18"/>
            <p:cNvSpPr/>
            <p:nvPr/>
          </p:nvSpPr>
          <p:spPr bwMode="auto">
            <a:xfrm>
              <a:off x="2894794" y="6021288"/>
              <a:ext cx="144000" cy="144016"/>
            </a:xfrm>
            <a:prstGeom prst="ellipse">
              <a:avLst/>
            </a:prstGeom>
            <a:solidFill>
              <a:srgbClr val="FF0000"/>
            </a:solidFill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fr-FR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  <p:sp>
          <p:nvSpPr>
            <p:cNvPr id="20" name="Ellipse 19"/>
            <p:cNvSpPr/>
            <p:nvPr/>
          </p:nvSpPr>
          <p:spPr bwMode="auto">
            <a:xfrm>
              <a:off x="1890886" y="6021288"/>
              <a:ext cx="144000" cy="144016"/>
            </a:xfrm>
            <a:prstGeom prst="ellipse">
              <a:avLst/>
            </a:prstGeom>
            <a:solidFill>
              <a:srgbClr val="FF0000"/>
            </a:solidFill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fr-FR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</p:grpSp>
      <p:grpSp>
        <p:nvGrpSpPr>
          <p:cNvPr id="10" name="Groupe 9"/>
          <p:cNvGrpSpPr/>
          <p:nvPr/>
        </p:nvGrpSpPr>
        <p:grpSpPr>
          <a:xfrm>
            <a:off x="465328" y="1666487"/>
            <a:ext cx="2270460" cy="1962397"/>
            <a:chOff x="465328" y="1666487"/>
            <a:chExt cx="2270460" cy="1962397"/>
          </a:xfrm>
        </p:grpSpPr>
        <p:sp>
          <p:nvSpPr>
            <p:cNvPr id="30" name="ZoneTexte 29"/>
            <p:cNvSpPr txBox="1"/>
            <p:nvPr/>
          </p:nvSpPr>
          <p:spPr>
            <a:xfrm rot="16200000">
              <a:off x="-285038" y="2416853"/>
              <a:ext cx="196239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dirty="0" smtClean="0"/>
                <a:t>Newton-Cotes</a:t>
              </a:r>
              <a:endParaRPr lang="fr-FR" dirty="0"/>
            </a:p>
          </p:txBody>
        </p:sp>
        <p:grpSp>
          <p:nvGrpSpPr>
            <p:cNvPr id="22" name="Groupe 21"/>
            <p:cNvGrpSpPr/>
            <p:nvPr/>
          </p:nvGrpSpPr>
          <p:grpSpPr>
            <a:xfrm>
              <a:off x="1278809" y="1988840"/>
              <a:ext cx="1368152" cy="144016"/>
              <a:chOff x="1763688" y="4509120"/>
              <a:chExt cx="1368152" cy="144016"/>
            </a:xfrm>
          </p:grpSpPr>
          <p:cxnSp>
            <p:nvCxnSpPr>
              <p:cNvPr id="23" name="Connecteur droit 22"/>
              <p:cNvCxnSpPr/>
              <p:nvPr/>
            </p:nvCxnSpPr>
            <p:spPr bwMode="auto">
              <a:xfrm>
                <a:off x="1763688" y="4581128"/>
                <a:ext cx="1368152" cy="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25" name="Ellipse 24"/>
              <p:cNvSpPr/>
              <p:nvPr/>
            </p:nvSpPr>
            <p:spPr bwMode="auto">
              <a:xfrm>
                <a:off x="2375764" y="4509120"/>
                <a:ext cx="144000" cy="144016"/>
              </a:xfrm>
              <a:prstGeom prst="ellipse">
                <a:avLst/>
              </a:prstGeom>
              <a:solidFill>
                <a:srgbClr val="FF0000"/>
              </a:solidFill>
              <a:ln w="9525" cap="flat" cmpd="sng" algn="ctr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fr-FR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</a:endParaRPr>
              </a:p>
            </p:txBody>
          </p:sp>
        </p:grpSp>
        <p:cxnSp>
          <p:nvCxnSpPr>
            <p:cNvPr id="27" name="Connecteur droit 26"/>
            <p:cNvCxnSpPr/>
            <p:nvPr/>
          </p:nvCxnSpPr>
          <p:spPr bwMode="auto">
            <a:xfrm>
              <a:off x="1278809" y="2669110"/>
              <a:ext cx="1368152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8" name="Ellipse 27"/>
            <p:cNvSpPr/>
            <p:nvPr/>
          </p:nvSpPr>
          <p:spPr bwMode="auto">
            <a:xfrm>
              <a:off x="2591788" y="2604715"/>
              <a:ext cx="144000" cy="144016"/>
            </a:xfrm>
            <a:prstGeom prst="ellipse">
              <a:avLst/>
            </a:prstGeom>
            <a:solidFill>
              <a:srgbClr val="FF0000"/>
            </a:solidFill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fr-FR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  <p:cxnSp>
          <p:nvCxnSpPr>
            <p:cNvPr id="33" name="Connecteur droit 32"/>
            <p:cNvCxnSpPr/>
            <p:nvPr/>
          </p:nvCxnSpPr>
          <p:spPr bwMode="auto">
            <a:xfrm>
              <a:off x="1295636" y="3419987"/>
              <a:ext cx="1368152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34" name="Ellipse 33"/>
            <p:cNvSpPr/>
            <p:nvPr/>
          </p:nvSpPr>
          <p:spPr bwMode="auto">
            <a:xfrm>
              <a:off x="1907712" y="3347979"/>
              <a:ext cx="144000" cy="144016"/>
            </a:xfrm>
            <a:prstGeom prst="ellipse">
              <a:avLst/>
            </a:prstGeom>
            <a:solidFill>
              <a:srgbClr val="FF0000"/>
            </a:solidFill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fr-FR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  <p:sp>
          <p:nvSpPr>
            <p:cNvPr id="35" name="Ellipse 34"/>
            <p:cNvSpPr/>
            <p:nvPr/>
          </p:nvSpPr>
          <p:spPr bwMode="auto">
            <a:xfrm>
              <a:off x="2591788" y="3347979"/>
              <a:ext cx="144000" cy="144016"/>
            </a:xfrm>
            <a:prstGeom prst="ellipse">
              <a:avLst/>
            </a:prstGeom>
            <a:solidFill>
              <a:srgbClr val="FF0000"/>
            </a:solidFill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fr-FR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  <p:sp>
          <p:nvSpPr>
            <p:cNvPr id="36" name="Ellipse 35"/>
            <p:cNvSpPr/>
            <p:nvPr/>
          </p:nvSpPr>
          <p:spPr bwMode="auto">
            <a:xfrm>
              <a:off x="1264939" y="3356993"/>
              <a:ext cx="144000" cy="144016"/>
            </a:xfrm>
            <a:prstGeom prst="ellipse">
              <a:avLst/>
            </a:prstGeom>
            <a:solidFill>
              <a:srgbClr val="FF0000"/>
            </a:solidFill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fr-FR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  <p:sp>
          <p:nvSpPr>
            <p:cNvPr id="37" name="Ellipse 36"/>
            <p:cNvSpPr/>
            <p:nvPr/>
          </p:nvSpPr>
          <p:spPr bwMode="auto">
            <a:xfrm>
              <a:off x="1263002" y="2586085"/>
              <a:ext cx="144000" cy="144016"/>
            </a:xfrm>
            <a:prstGeom prst="ellipse">
              <a:avLst/>
            </a:prstGeom>
            <a:solidFill>
              <a:srgbClr val="FF0000"/>
            </a:solidFill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fr-FR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41243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94168E2-DA76-47D5-A48C-4224F5F760A4}" type="slidenum">
              <a:rPr lang="fr-FR" altLang="fr-FR" smtClean="0"/>
              <a:pPr>
                <a:defRPr/>
              </a:pPr>
              <a:t>3</a:t>
            </a:fld>
            <a:endParaRPr lang="fr-FR" altLang="fr-FR"/>
          </a:p>
        </p:txBody>
      </p:sp>
      <p:pic>
        <p:nvPicPr>
          <p:cNvPr id="10" name="Image 9" descr="\documentclass{article}&#10;\usepackage{amsmath}&#10;\usepackage[paperwidth=20cm]{geometry}&#10;\pagestyle{empty}&#10;\begin{document}&#10;&#10;\textbf{Newton--Cotes :}&#10;\begin{itemize}&#10;  \item Simple à implémenter : points équidistants, adapté aux données tabulées.&#10;  \item Certaines formules (ex.~Simpson) offrent une bonne précision.&#10;  \item Inconvénients : convergence lente, instabilité pour beaucoup de points (Runge), efficacité limitée.&#10;\end{itemize}&#10;&#10;\textbf{Gauss--Legendre :}&#10;\begin{itemize}&#10;  \item Précision optimale : $n$ points $\Rightarrow$ exact pour les polynômes de degré $\leq 2n-1$.&#10;  \item Convergence rapide et bonne stabilité numérique.&#10;  \item Inconvénients : calcul préalable des abscisses/poids, implémentation plus complexe, non adapté aux données tabulées.&#10;\end{itemize}&#10;&#10;\textbf{En pratique :}&#10;\begin{itemize}&#10;  \item Newton--Cotes : données régulièrement espacées, intégrations simples.&#10;  \item Gauss--Legendre : intégrants lisses, calculs de haute précision.&#10;\end{itemize}&#10;&#10;\end{document}&#10;" title="IguanaTex Bitmap Display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1" y="548680"/>
            <a:ext cx="8705829" cy="5304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79437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94168E2-DA76-47D5-A48C-4224F5F760A4}" type="slidenum">
              <a:rPr lang="fr-FR" altLang="fr-FR" smtClean="0"/>
              <a:pPr>
                <a:defRPr/>
              </a:pPr>
              <a:t>4</a:t>
            </a:fld>
            <a:endParaRPr lang="fr-FR" altLang="fr-FR"/>
          </a:p>
        </p:txBody>
      </p:sp>
      <p:pic>
        <p:nvPicPr>
          <p:cNvPr id="3" name="Image 2" descr="\documentclass{article}&#10;\usepackage{amsmath}&#10;\pagestyle{empty}&#10;\usepackage{amsmath,amssymb}&#10;\usepackage[french]{babel}&#10;&#10;\begin{document}&#10;&#10;\subsection*{Evolution de l'erreur d'intégration en fonction du nombre de sous-intervalles avec la méthode des rectangles}&#10;&#10;On découpe l'intervalle $[a,b]$ en $N$ sous-intervalles de longueur :&#10;$&#10;h = \frac{b-a}{N}.&#10;$&#10;&#10;La fonction f est supposée $C_\infty$.&#10;&#10;\subsection*{Erreur locale :}&#10;&#10;Sur chaque sous-intervalle $[x_i, x_{i+1}]$, l'erreur locale s'écrit&#10;\[&#10;E_i = \frac{h^3}{24} f''(\xi_i), &#10;\quad \xi_i \in [x_i, x_{i+1}].&#10;\]&#10;&#10;\subsection*{Erreur globale :}&#10;&#10;En sommant sur les $N$ sous-intervalles :&#10;\[&#10;E_{\text{total}} = \sum_{i=0}^{N-1} E_i &#10;= \sum_{i=0}^{N-1} \frac{h^3}{24} f''(\xi_i).&#10;\]&#10;&#10;Par le théorème de la valeur intermédiaire, il existe $\xi \in [a,b]$ tel que&#10;\[&#10;E_{\text{total}} = &#10;N \cdot \frac{h^3}{24} f''(\xi).&#10;\]&#10;&#10;&#10;\end{document}&#10;" title="IguanaTex Bitmap Display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038" y="260649"/>
            <a:ext cx="7836346" cy="6197487"/>
          </a:xfrm>
          <a:prstGeom prst="rect">
            <a:avLst/>
          </a:prstGeom>
        </p:spPr>
      </p:pic>
      <p:pic>
        <p:nvPicPr>
          <p:cNvPr id="4" name="Imag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8144" y="2724020"/>
            <a:ext cx="3168352" cy="2361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68827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94168E2-DA76-47D5-A48C-4224F5F760A4}" type="slidenum">
              <a:rPr lang="fr-FR" altLang="fr-FR" smtClean="0"/>
              <a:pPr>
                <a:defRPr/>
              </a:pPr>
              <a:t>5</a:t>
            </a:fld>
            <a:endParaRPr lang="fr-FR" altLang="fr-FR"/>
          </a:p>
        </p:txBody>
      </p:sp>
      <p:pic>
        <p:nvPicPr>
          <p:cNvPr id="6" name="Image 5" descr="\documentclass{article}&#10;\usepackage{amsmath}&#10;\usepackage{xcolor}&#10;\pagestyle{empty}&#10;\usepackage{amsmath,amssymb}&#10;\usepackage[french]{babel}&#10;&#10;\begin{document}&#10;&#10;&#10;Comme $N \cdot h = b-a$ et $h = \tfrac{b-a}{N}$, on obtient&#10;\[&#10;E_{\text{total}} &#10;= \frac{(b-a) \cdot h^2}{24} f''(\xi) &#10;= \frac{(b-a)^3}{24 N^2} f''(\xi).&#10;\]&#10;&#10;\subsection*{Évolution de l'erreur :}&#10;&#10;Ainsi, l'erreur d'intégration évolue comme&#10;\[&#10;E_{\text{total}} = \mathcal{O}\!\left(\frac{1}{N^2}\right).&#10;\]&#10;&#10;\subsection*{Conséquences pratiques :}&#10;&#10;\begin{itemize}&#10;  \item Pour diviser l'erreur par 4, il faut multiplier $N$ par 2.&#10;  \item Pour diviser l'erreur par 100, il faut multiplier $N$ par 10.&#10;  \item La convergence est d'ordre 2 en fonction du nombre de subdivisions.&#10;\end{itemize}&#10;&#10;\subsection*{Conclusion :}&#10;{\color{red}&#10;Il est préférable de découper l'intervalle $[a, b]$ en sous-intervalles de longueur de plus en plus petite et de mettre en oeuvre la méthode de Gauss avec 2 points de Gauss  que d'utiliser une méthode d'intégration d'ordre très élevé.}&#10;&#10;\end{document}&#10;" title="IguanaTex Bitmap Display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565" y="404664"/>
            <a:ext cx="7841829" cy="6031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58424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2" name="Rectangle 17"/>
          <p:cNvSpPr>
            <a:spLocks noChangeArrowheads="1"/>
          </p:cNvSpPr>
          <p:nvPr/>
        </p:nvSpPr>
        <p:spPr bwMode="auto">
          <a:xfrm>
            <a:off x="323530" y="260648"/>
            <a:ext cx="835536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fr-FR" altLang="fr-FR" sz="2000" b="1" dirty="0">
                <a:solidFill>
                  <a:srgbClr val="FF0000"/>
                </a:solidFill>
                <a:latin typeface="Arial" panose="020B0604020202020204" pitchFamily="34" charset="0"/>
              </a:rPr>
              <a:t>INTEGRATION </a:t>
            </a:r>
            <a:r>
              <a:rPr lang="fr-FR" altLang="fr-FR" sz="2000" b="1" dirty="0" smtClean="0">
                <a:solidFill>
                  <a:srgbClr val="FF0000"/>
                </a:solidFill>
                <a:latin typeface="Arial" panose="020B0604020202020204" pitchFamily="34" charset="0"/>
              </a:rPr>
              <a:t>NUM. D’UNE GRANDEUR ECHANTILLONNEE EN </a:t>
            </a:r>
            <a:r>
              <a:rPr lang="fr-FR" altLang="fr-FR" sz="2000" b="1" dirty="0">
                <a:solidFill>
                  <a:srgbClr val="FF0000"/>
                </a:solidFill>
                <a:latin typeface="Arial" panose="020B0604020202020204" pitchFamily="34" charset="0"/>
              </a:rPr>
              <a:t>1D</a:t>
            </a:r>
          </a:p>
        </p:txBody>
      </p:sp>
      <p:sp>
        <p:nvSpPr>
          <p:cNvPr id="4113" name="Espace réservé du numéro de diapositive 18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A416F00-6F6F-41C6-94E0-1FB31ECF494B}" type="slidenum">
              <a:rPr lang="fr-FR" altLang="fr-FR" sz="1400"/>
              <a:pPr>
                <a:spcBef>
                  <a:spcPct val="0"/>
                </a:spcBef>
                <a:buFontTx/>
                <a:buNone/>
              </a:pPr>
              <a:t>6</a:t>
            </a:fld>
            <a:endParaRPr lang="fr-FR" altLang="fr-FR" sz="1400"/>
          </a:p>
        </p:txBody>
      </p:sp>
      <p:pic>
        <p:nvPicPr>
          <p:cNvPr id="5" name="Image 4" descr="\documentclass{article}&#10;\usepackage{amsmath}&#10;\usepackage[paperwidth=18cm]{geometry}&#10;\pagestyle{empty}&#10;\begin{document}&#10;\subsection*{But : évaluer $\int_a^b f(x) dx$ numériquement où f(x) est interpolée}&#10;On suppose que la grandeur $f$ est échantillonnée en N+1 noeuds d'abscisses $x_i$. On obtient un tableau de mesures $(x_i, y_i)$ où $i \in [1, N+1]$.&#10;\subsubsection*{La pire méthode: interpolée de degré N}&#10;Elle consiste à faire passer un polynômes de degré N par tous les points de mesure:&#10;$$P_N(x) = \sum_{i=0}^N \; L_i^{(N)}(x) \; y_i $$&#10;&#10;\subsubsection*{Polynômes de Lagrange}&#10;&#10;Les polynômes de Lagrange $L_i^{(N)}(x)$ de degré N sont définis par :&#10;&#10;$$L_i^{(N)}(x) = \prod_{\substack{j=0 \\ j \neq i}}^N \frac{x - x_j}{x_i - x_j}$$&#10;&#10;&#10;&#10;&#10;\end{document}" title="IguanaTex Bitmap Display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530" y="1268649"/>
            <a:ext cx="8144921" cy="5112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80073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3" name="Espace réservé du numéro de diapositive 18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A416F00-6F6F-41C6-94E0-1FB31ECF494B}" type="slidenum">
              <a:rPr lang="fr-FR" altLang="fr-FR" sz="1400"/>
              <a:pPr>
                <a:spcBef>
                  <a:spcPct val="0"/>
                </a:spcBef>
                <a:buFontTx/>
                <a:buNone/>
              </a:pPr>
              <a:t>7</a:t>
            </a:fld>
            <a:endParaRPr lang="fr-FR" altLang="fr-FR" sz="1400"/>
          </a:p>
        </p:txBody>
      </p:sp>
      <p:pic>
        <p:nvPicPr>
          <p:cNvPr id="3" name="Image 2" descr="\documentclass{article}&#10;\usepackage{amsmath}&#10;\usepackage{xcolor}&#10;\usepackage[paperwidth=18cm]{geometry}&#10;\pagestyle{empty}&#10;\begin{document}&#10;&#10;Ces polynômes possèdent les propriétés fondamentales suivantes :&#10;$$\sum_{i=0}^N L_i(x) =1 \quad \forall x \in [a, b] \quad \text{et} \quad&#10;L_i^{(N)}(x_j) = \delta_{ij} = \begin{cases} &#10;1 &amp; \text{si } i = j \\&#10;0 &amp; \text{si } i \neq j&#10;\end{cases}.$$&#10;Par conséquent, on vérifie que $P_N(x_i) \equiv y_i$.&#10; &#10;{\color{red}&#10;Les valeurs prises par les polynômes de Lagrange $L_i^{(N&gt;1)}(x)$ de degré 2 voire supérieur ne sont pas nécessairement confinées à l’intervalle [0,1].}&#10;&#10;\end{document}" title="IguanaTex Bitmap Display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532" y="432097"/>
            <a:ext cx="8147669" cy="2232684"/>
          </a:xfrm>
          <a:prstGeom prst="rect">
            <a:avLst/>
          </a:prstGeom>
        </p:spPr>
      </p:pic>
      <p:pic>
        <p:nvPicPr>
          <p:cNvPr id="23" name="Image 22" descr="\documentclass{article}&#10;\usepackage{amsmath}&#10;\pagestyle{empty}&#10;\begin{document}&#10;&#10;$$&#10;x = [-1, 1]&#10;$$&#10;&#10;&#10;\end{document}" title="IguanaTex Bitmap Display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6288" y="6085203"/>
            <a:ext cx="1034057" cy="229029"/>
          </a:xfrm>
          <a:prstGeom prst="rect">
            <a:avLst/>
          </a:prstGeom>
        </p:spPr>
      </p:pic>
      <p:pic>
        <p:nvPicPr>
          <p:cNvPr id="24" name="Image 23" descr="\documentclass{article}&#10;\usepackage{amsmath}&#10;\pagestyle{empty}&#10;\begin{document}&#10;&#10;$$&#10;x = [-1, 0.5, 1]&#10;$$&#10;&#10;&#10;\end{document}" title="IguanaTex Bitmap Display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9209" y="6144953"/>
            <a:ext cx="1426286" cy="229029"/>
          </a:xfrm>
          <a:prstGeom prst="rect">
            <a:avLst/>
          </a:prstGeom>
        </p:spPr>
      </p:pic>
      <p:grpSp>
        <p:nvGrpSpPr>
          <p:cNvPr id="45" name="Groupe 44"/>
          <p:cNvGrpSpPr/>
          <p:nvPr/>
        </p:nvGrpSpPr>
        <p:grpSpPr>
          <a:xfrm>
            <a:off x="434758" y="2780930"/>
            <a:ext cx="8230773" cy="3235184"/>
            <a:chOff x="434758" y="2780930"/>
            <a:chExt cx="8230773" cy="3235184"/>
          </a:xfrm>
        </p:grpSpPr>
        <p:pic>
          <p:nvPicPr>
            <p:cNvPr id="8" name="Image 7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4788024" y="3017879"/>
              <a:ext cx="3859267" cy="2998235"/>
            </a:xfrm>
            <a:prstGeom prst="rect">
              <a:avLst/>
            </a:prstGeom>
          </p:spPr>
        </p:pic>
        <p:pic>
          <p:nvPicPr>
            <p:cNvPr id="9" name="Image 8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507494" y="2996951"/>
              <a:ext cx="3888432" cy="2960423"/>
            </a:xfrm>
            <a:prstGeom prst="rect">
              <a:avLst/>
            </a:prstGeom>
          </p:spPr>
        </p:pic>
        <p:sp>
          <p:nvSpPr>
            <p:cNvPr id="11" name="Ellipse 10"/>
            <p:cNvSpPr>
              <a:spLocks noChangeAspect="1"/>
            </p:cNvSpPr>
            <p:nvPr/>
          </p:nvSpPr>
          <p:spPr bwMode="auto">
            <a:xfrm>
              <a:off x="5004048" y="3573016"/>
              <a:ext cx="216000" cy="216000"/>
            </a:xfrm>
            <a:prstGeom prst="ellipse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fr-FR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  <p:sp>
          <p:nvSpPr>
            <p:cNvPr id="14" name="Ellipse 13"/>
            <p:cNvSpPr>
              <a:spLocks noChangeAspect="1"/>
            </p:cNvSpPr>
            <p:nvPr/>
          </p:nvSpPr>
          <p:spPr bwMode="auto">
            <a:xfrm>
              <a:off x="758288" y="3017879"/>
              <a:ext cx="216000" cy="216000"/>
            </a:xfrm>
            <a:prstGeom prst="ellipse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fr-FR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  <p:sp>
          <p:nvSpPr>
            <p:cNvPr id="15" name="Ellipse 14"/>
            <p:cNvSpPr>
              <a:spLocks noChangeAspect="1"/>
            </p:cNvSpPr>
            <p:nvPr/>
          </p:nvSpPr>
          <p:spPr bwMode="auto">
            <a:xfrm>
              <a:off x="8361826" y="3573016"/>
              <a:ext cx="216000" cy="216000"/>
            </a:xfrm>
            <a:prstGeom prst="ellipse">
              <a:avLst/>
            </a:prstGeom>
            <a:solidFill>
              <a:schemeClr val="accent2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fr-FR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  <p:sp>
          <p:nvSpPr>
            <p:cNvPr id="16" name="Ellipse 15"/>
            <p:cNvSpPr>
              <a:spLocks noChangeAspect="1"/>
            </p:cNvSpPr>
            <p:nvPr/>
          </p:nvSpPr>
          <p:spPr bwMode="auto">
            <a:xfrm>
              <a:off x="4067944" y="3017879"/>
              <a:ext cx="216000" cy="216000"/>
            </a:xfrm>
            <a:prstGeom prst="ellipse">
              <a:avLst/>
            </a:prstGeom>
            <a:solidFill>
              <a:schemeClr val="accent2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fr-FR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  <p:sp>
          <p:nvSpPr>
            <p:cNvPr id="17" name="Ellipse 16"/>
            <p:cNvSpPr>
              <a:spLocks noChangeAspect="1"/>
            </p:cNvSpPr>
            <p:nvPr/>
          </p:nvSpPr>
          <p:spPr bwMode="auto">
            <a:xfrm>
              <a:off x="7566640" y="3573016"/>
              <a:ext cx="216000" cy="216000"/>
            </a:xfrm>
            <a:prstGeom prst="ellipse">
              <a:avLst/>
            </a:prstGeom>
            <a:solidFill>
              <a:srgbClr val="00B05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fr-FR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  <p:sp>
          <p:nvSpPr>
            <p:cNvPr id="12" name="ZoneTexte 11"/>
            <p:cNvSpPr txBox="1"/>
            <p:nvPr/>
          </p:nvSpPr>
          <p:spPr>
            <a:xfrm>
              <a:off x="470190" y="2925824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2000" dirty="0" smtClean="0"/>
                <a:t>1</a:t>
              </a:r>
              <a:endParaRPr lang="fr-FR" sz="2000" dirty="0"/>
            </a:p>
          </p:txBody>
        </p:sp>
        <p:sp>
          <p:nvSpPr>
            <p:cNvPr id="20" name="ZoneTexte 19"/>
            <p:cNvSpPr txBox="1"/>
            <p:nvPr/>
          </p:nvSpPr>
          <p:spPr>
            <a:xfrm>
              <a:off x="4696918" y="3480961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2000" dirty="0" smtClean="0"/>
                <a:t>1</a:t>
              </a:r>
              <a:endParaRPr lang="fr-FR" sz="2000" dirty="0"/>
            </a:p>
          </p:txBody>
        </p:sp>
        <p:sp>
          <p:nvSpPr>
            <p:cNvPr id="21" name="ZoneTexte 20"/>
            <p:cNvSpPr txBox="1"/>
            <p:nvPr/>
          </p:nvSpPr>
          <p:spPr>
            <a:xfrm>
              <a:off x="434758" y="5557264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2000" dirty="0" smtClean="0"/>
                <a:t>0</a:t>
              </a:r>
              <a:endParaRPr lang="fr-FR" sz="2000" dirty="0"/>
            </a:p>
          </p:txBody>
        </p:sp>
        <p:sp>
          <p:nvSpPr>
            <p:cNvPr id="22" name="ZoneTexte 21"/>
            <p:cNvSpPr txBox="1"/>
            <p:nvPr/>
          </p:nvSpPr>
          <p:spPr>
            <a:xfrm>
              <a:off x="4691142" y="4794565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2000" dirty="0" smtClean="0"/>
                <a:t>0</a:t>
              </a:r>
              <a:endParaRPr lang="fr-FR" sz="2000" dirty="0"/>
            </a:p>
          </p:txBody>
        </p:sp>
        <p:cxnSp>
          <p:nvCxnSpPr>
            <p:cNvPr id="18" name="Connecteur droit 17"/>
            <p:cNvCxnSpPr/>
            <p:nvPr/>
          </p:nvCxnSpPr>
          <p:spPr bwMode="auto">
            <a:xfrm>
              <a:off x="866288" y="5757319"/>
              <a:ext cx="3309656" cy="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5" name="Connecteur droit 24"/>
            <p:cNvCxnSpPr/>
            <p:nvPr/>
          </p:nvCxnSpPr>
          <p:spPr bwMode="auto">
            <a:xfrm>
              <a:off x="5160170" y="4994620"/>
              <a:ext cx="3309656" cy="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</p:cxnSp>
        <p:pic>
          <p:nvPicPr>
            <p:cNvPr id="30" name="Image 29" descr="\documentclass{article}&#10;\usepackage{amsmath}&#10;\usepackage{xcolor}&#10;\pagestyle{empty}&#10;\begin{document}&#10;&#10;{\color{red}&#10;$$&#10;L_0^{(1)}(x) = \frac{1-x}{2}&#10;$$&#10;}&#10;&#10;\end{document}" title="IguanaTex Bitmap Display"/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10364" y="3452158"/>
              <a:ext cx="1379962" cy="410819"/>
            </a:xfrm>
            <a:prstGeom prst="rect">
              <a:avLst/>
            </a:prstGeom>
            <a:solidFill>
              <a:srgbClr val="FFFFFF"/>
            </a:solidFill>
          </p:spPr>
        </p:pic>
        <p:pic>
          <p:nvPicPr>
            <p:cNvPr id="32" name="Image 31" descr="\documentclass{article}&#10;\usepackage{amsmath}&#10;\usepackage{xcolor}&#10;\pagestyle{empty}&#10;\begin{document}&#10;&#10;{\color{blue}&#10;$$&#10;L_1^{(1)}(x) = \frac{1+x}{2}&#10;$$&#10;}&#10;&#10;\end{document}" title="IguanaTex Bitmap Display"/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96815" y="3823929"/>
              <a:ext cx="1379962" cy="410819"/>
            </a:xfrm>
            <a:prstGeom prst="rect">
              <a:avLst/>
            </a:prstGeom>
            <a:solidFill>
              <a:srgbClr val="FFFFFF"/>
            </a:solidFill>
          </p:spPr>
        </p:pic>
        <p:pic>
          <p:nvPicPr>
            <p:cNvPr id="35" name="Image 34" descr="\documentclass{article}&#10;\usepackage{amsmath}&#10;\usepackage{xcolor}&#10;\pagestyle{empty}&#10;\begin{document}&#10;&#10;{\color{red}&#10;$$&#10;L_0^{(2)}(x) = \frac{(1-x)(1-2x)}{6}&#10;$$&#10;}&#10;&#10;\end{document}" title="IguanaTex Bitmap Display"/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522526" y="4357809"/>
              <a:ext cx="1977600" cy="378667"/>
            </a:xfrm>
            <a:prstGeom prst="rect">
              <a:avLst/>
            </a:prstGeom>
            <a:solidFill>
              <a:srgbClr val="FFFFFF"/>
            </a:solidFill>
          </p:spPr>
        </p:pic>
        <p:pic>
          <p:nvPicPr>
            <p:cNvPr id="38" name="Image 37" descr="\documentclass{article}&#10;\usepackage{amsmath}&#10;\usepackage{xcolor}&#10;\pagestyle{empty}&#10;\begin{document}&#10;&#10;{\color{blue}&#10;$$&#10;L_2^{(2)}(x) = \frac{(1+x)(2x-1)}{2}&#10;$$&#10;}&#10;&#10;\end{document}" title="IguanaTex Bitmap Display"/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87931" y="5252765"/>
              <a:ext cx="1977600" cy="374400"/>
            </a:xfrm>
            <a:prstGeom prst="rect">
              <a:avLst/>
            </a:prstGeom>
            <a:solidFill>
              <a:srgbClr val="FFFFFF"/>
            </a:solidFill>
          </p:spPr>
        </p:pic>
        <p:pic>
          <p:nvPicPr>
            <p:cNvPr id="44" name="Image 43" descr="\documentclass{article}&#10;\usepackage{amsmath}&#10;\usepackage[dvipsnames]{xcolor}&#10;\pagestyle{empty}&#10;\begin{document}&#10;&#10;{\color{OliveGreen}&#10;$$&#10;L_1^{(2)}(x) = \frac{4(1+x)(1-x)}{3}&#10;$$&#10;}&#10;&#10;\end{document}" title="IguanaTex Bitmap Display"/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1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12160" y="2780930"/>
              <a:ext cx="1977600" cy="378667"/>
            </a:xfrm>
            <a:prstGeom prst="rect">
              <a:avLst/>
            </a:prstGeom>
            <a:solidFill>
              <a:srgbClr val="FFFFFF"/>
            </a:solidFill>
          </p:spPr>
        </p:pic>
        <p:cxnSp>
          <p:nvCxnSpPr>
            <p:cNvPr id="47" name="Connecteur droit 46"/>
            <p:cNvCxnSpPr/>
            <p:nvPr/>
          </p:nvCxnSpPr>
          <p:spPr bwMode="auto">
            <a:xfrm>
              <a:off x="5220048" y="3671755"/>
              <a:ext cx="3309656" cy="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val="15235412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94168E2-DA76-47D5-A48C-4224F5F760A4}" type="slidenum">
              <a:rPr lang="fr-FR" altLang="fr-FR" smtClean="0"/>
              <a:pPr>
                <a:defRPr/>
              </a:pPr>
              <a:t>8</a:t>
            </a:fld>
            <a:endParaRPr lang="fr-FR" altLang="fr-FR"/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1592" y="404665"/>
            <a:ext cx="3631928" cy="2918513"/>
          </a:xfrm>
          <a:prstGeom prst="rect">
            <a:avLst/>
          </a:prstGeom>
        </p:spPr>
      </p:pic>
      <p:pic>
        <p:nvPicPr>
          <p:cNvPr id="13" name="Image 12" descr="\documentclass{article}&#10;\usepackage{amsmath}&#10;\usepackage[paperwidth=10cm]{geometry}&#10;\pagestyle{empty}&#10;\begin{document}&#10;&#10;\subsubsection*{Pourquoi cette méthode est &quot;la pire&quot; : le phénomène de Runge}&#10;&#10;L'interpolation de Lagrange de degré élevé présente un défaut majeur : les \textbf{oscillations de Runge}. Ce phénomène se manifeste par des oscillations parasites de grande amplitude, particulièrement près des bords de l'intervalle d'interpolation.&#10;&#10;\end{document}" title="IguanaTex Bitmap Display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228" y="404665"/>
            <a:ext cx="5396572" cy="1989943"/>
          </a:xfrm>
          <a:prstGeom prst="rect">
            <a:avLst/>
          </a:prstGeom>
        </p:spPr>
      </p:pic>
      <p:pic>
        <p:nvPicPr>
          <p:cNvPr id="9" name="Image 8" descr="\documentclass{article}&#10;\usepackage{amsmath}&#10;\pagestyle{empty}&#10;\begin{document}&#10;&#10;\noindent&#10;Exemple : interpolation d'une fonction \\&#10; sinus légèrement bruité (5\% de fluctuation) \\&#10;évaluée en N=15 points équi-espacés.&#10;&#10;&#10;\end{document}" title="IguanaTex Bitmap Display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774" y="2623485"/>
            <a:ext cx="4288457" cy="750171"/>
          </a:xfrm>
          <a:prstGeom prst="rect">
            <a:avLst/>
          </a:prstGeom>
        </p:spPr>
      </p:pic>
      <p:pic>
        <p:nvPicPr>
          <p:cNvPr id="22" name="Image 21" descr="\documentclass{article}&#10;\usepackage{amsmath}&#10;\usepackage{xcolor}&#10;\usepackage[paperwidth=17cm]{geometry}&#10;\usepackage[french]{babel}&#10;\usepackage[T1]{fontenc}&#10;\usepackage[utf8]{inputenc}&#10;\pagestyle{empty}&#10;&#10;\begin{document}&#10;&#10;\subsubsection*{La bonne méthode : interpoler et intégrer par morceaux}&#10;&#10;{\color{red}&#10;Cette méthode consiste à découper l'intervalle d'intégration $[a, b]$ en morceaux jointifs formés de 2 ou 3 nœuds. Sur chaque morceau, on effectue une interpolation de Lagrange de la grandeur échantillonnée, puis on intègre l'interpolée en utilisant la méthode de quadrature de Gauss.}&#10;&#10;L'intégrale complète est finalement estimée comme étant la somme des intégrales élémentaires obtenues sur chaque sous-intervalle.&#10;&#10;Dans la suite du cours, l'intervalle formé par 2 nœuds successifs servira à construire un élément fini P1 de Lagrange. Les éléments finis formés de 3 nœuds successifs sont les éléments P2 de Lagrange.&#10;&#10;\end{document}" title="IguanaTex Bitmap Display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933" y="3725825"/>
            <a:ext cx="7703316" cy="2810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72389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94168E2-DA76-47D5-A48C-4224F5F760A4}" type="slidenum">
              <a:rPr lang="fr-FR" altLang="fr-FR" smtClean="0"/>
              <a:pPr>
                <a:defRPr/>
              </a:pPr>
              <a:t>9</a:t>
            </a:fld>
            <a:endParaRPr lang="fr-FR" altLang="fr-FR"/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 rotWithShape="1">
          <a:blip r:embed="rId4"/>
          <a:srcRect b="13783"/>
          <a:stretch/>
        </p:blipFill>
        <p:spPr>
          <a:xfrm>
            <a:off x="179512" y="332656"/>
            <a:ext cx="8478153" cy="3312368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91680" y="3868056"/>
            <a:ext cx="3010320" cy="1505160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48064" y="3925868"/>
            <a:ext cx="2067213" cy="1181265"/>
          </a:xfrm>
          <a:prstGeom prst="rect">
            <a:avLst/>
          </a:prstGeom>
        </p:spPr>
      </p:pic>
      <p:pic>
        <p:nvPicPr>
          <p:cNvPr id="14" name="Image 13" descr="\documentclass{article}&#10;\usepackage{amsmath}&#10;\usepackage{xcolor}&#10;\pagestyle{empty}&#10;\begin{document}&#10;&#10;{\color{red}&#10;feuille de TD : integ1D1.pdf}&#10;&#10;&#10;\end{document}" title="IguanaTex Bitmap Display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6081" y="102561"/>
            <a:ext cx="3119238" cy="230095"/>
          </a:xfrm>
          <a:prstGeom prst="rect">
            <a:avLst/>
          </a:prstGeom>
        </p:spPr>
      </p:pic>
      <p:pic>
        <p:nvPicPr>
          <p:cNvPr id="15" name="Image 14" descr="\documentclass{article}&#10;\usepackage{amsmath}&#10;\pagestyle{empty}&#10;\begin{document}&#10;&#10;&#10;Notre but est d'estimer l'intégrale suivante I, en utilisant la propriété d'additivité des intégrales élémentaires :&#10;$$&#10;I = \int_D \; dx\; Q(x) = \sum_{e=1}^{\text{NE}}  &#10;\int_e \; dx \; \; Q_e(x) = \sum_{e=1}^{\text{NE}} I_e&#10;$$&#10;&#10;\end{document}" title="IguanaTex Bitmap Display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976" y="5351881"/>
            <a:ext cx="7275276" cy="1253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28114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/>
          <p:cNvPicPr>
            <a:picLocks noChangeAspect="1"/>
          </p:cNvPicPr>
          <p:nvPr/>
        </p:nvPicPr>
        <p:blipFill rotWithShape="1">
          <a:blip r:embed="rId4"/>
          <a:srcRect l="18561"/>
          <a:stretch/>
        </p:blipFill>
        <p:spPr>
          <a:xfrm>
            <a:off x="4067944" y="3429000"/>
            <a:ext cx="4259192" cy="3105583"/>
          </a:xfrm>
          <a:prstGeom prst="rect">
            <a:avLst/>
          </a:prstGeom>
        </p:spPr>
      </p:pic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94168E2-DA76-47D5-A48C-4224F5F760A4}" type="slidenum">
              <a:rPr lang="fr-FR" altLang="fr-FR" smtClean="0"/>
              <a:pPr>
                <a:defRPr/>
              </a:pPr>
              <a:t>10</a:t>
            </a:fld>
            <a:endParaRPr lang="fr-FR" altLang="fr-FR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9552" y="260648"/>
            <a:ext cx="7802064" cy="1028844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 rotWithShape="1">
          <a:blip r:embed="rId6"/>
          <a:srcRect l="26798" t="15427" r="19711" b="18461"/>
          <a:stretch/>
        </p:blipFill>
        <p:spPr>
          <a:xfrm>
            <a:off x="4572000" y="1412776"/>
            <a:ext cx="4392488" cy="2160240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9552" y="1289492"/>
            <a:ext cx="3733067" cy="3154577"/>
          </a:xfrm>
          <a:prstGeom prst="rect">
            <a:avLst/>
          </a:prstGeom>
        </p:spPr>
      </p:pic>
      <p:pic>
        <p:nvPicPr>
          <p:cNvPr id="11" name="Image 10" descr="\documentclass{article}&#10;\usepackage{amsmath}&#10;\pagestyle{empty}&#10;\begin{document}&#10;&#10;\noindent&#10;Discrétisation du domaine de calcul D \\&#10;en éléments triangulaires jointifs&#10;&#10;&#10;\end{document}" title="IguanaTex Bitmap Display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085" y="4618823"/>
            <a:ext cx="3786514" cy="478628"/>
          </a:xfrm>
          <a:prstGeom prst="rect">
            <a:avLst/>
          </a:prstGeom>
        </p:spPr>
      </p:pic>
      <p:pic>
        <p:nvPicPr>
          <p:cNvPr id="13" name="Image 12" descr="\documentclass{article}&#10;\usepackage{amsmath}&#10;\usepackage{xcolor}&#10;\pagestyle{empty}&#10;\begin{document}&#10;&#10;{\color{red}&#10;feuille de TD : integ2D1.pdf}&#10;&#10;&#10;\end{document}" title="IguanaTex Bitmap Display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71498" y="83959"/>
            <a:ext cx="3119238" cy="230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44377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7" name="Espace réservé du numéro de diapositive 1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E5B341A-C15C-49BF-9739-00E921C1B5BB}" type="slidenum">
              <a:rPr lang="fr-FR" altLang="fr-FR" sz="1400"/>
              <a:pPr>
                <a:spcBef>
                  <a:spcPct val="0"/>
                </a:spcBef>
                <a:buFontTx/>
                <a:buNone/>
              </a:pPr>
              <a:t>11</a:t>
            </a:fld>
            <a:endParaRPr lang="fr-FR" altLang="fr-FR" sz="1400"/>
          </a:p>
        </p:txBody>
      </p:sp>
      <p:pic>
        <p:nvPicPr>
          <p:cNvPr id="7" name="Image 6" descr="\documentclass{article}&#10;\usepackage{amsmath}&#10;\pagestyle{empty}&#10;\begin{document}&#10;&#10;On met ensuite en oeuvre la propriété d'additivité des intégrales élémentaires&#10;pour estimer l'intégrale totale:&#10;$$&#10;\iint_D \; dx \; dy \; Q(x,y) = \sum_{e=1}^{\text{NE}}  &#10;\iint_e \; dx \; dy \; Q_e(x,y) = &#10;\sum_{e=1}^{\text{NE}} I_e&#10;$$&#10;où $I_e$ est l'intégrale élémentaire sur e. \\&#10;NE est le nombre d'éléments finis triangulaires.&#10;&#10;\end{document}" title="IguanaTex Bitmap Display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36" y="3777452"/>
            <a:ext cx="7841829" cy="2161371"/>
          </a:xfrm>
          <a:prstGeom prst="rect">
            <a:avLst/>
          </a:prstGeom>
        </p:spPr>
      </p:pic>
      <p:pic>
        <p:nvPicPr>
          <p:cNvPr id="6" name="Image 5" descr="\documentclass{article}&#10;\usepackage{amsmath}&#10;\pagestyle{empty}&#10;\begin{document}&#10;&#10;\subsubsection*{&#10;Problématique: calcul de l’intégrale surfacique d’une grandeur $Q(x,y)$}&#10;&#10;On désire estimer la quantité de pluie tombée sur une région D. On a à notre disposition un ensemble de pluviomètre dont la répartition ne trouve pas sur&#10;une grille régulière.&#10;&#10;Notre but est d'estimer l'intégrale suivante :&#10;$$&#10;I = \iint_D \; dx\; dy\; Q(x,y)&#10;$$&#10;&#10;On triangule la région en plaçant chaque pluviomètre au sommet d'un triangle. &#10;&#10;&#10;\end{document}" title="IguanaTex Bitmap Display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2" y="188640"/>
            <a:ext cx="8713143" cy="327923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ext Box 2"/>
          <p:cNvSpPr txBox="1">
            <a:spLocks noChangeArrowheads="1"/>
          </p:cNvSpPr>
          <p:nvPr/>
        </p:nvSpPr>
        <p:spPr bwMode="auto">
          <a:xfrm>
            <a:off x="625475" y="692150"/>
            <a:ext cx="82994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 dirty="0">
                <a:latin typeface="Arial" panose="020B0604020202020204" pitchFamily="34" charset="0"/>
              </a:rPr>
              <a:t>Utilisation d’une transformation géométrique pour passer de l’élément </a:t>
            </a:r>
            <a:r>
              <a:rPr lang="fr-FR" altLang="fr-FR" sz="1800" dirty="0" smtClean="0">
                <a:latin typeface="Arial" panose="020B0604020202020204" pitchFamily="34" charset="0"/>
              </a:rPr>
              <a:t>de référence </a:t>
            </a:r>
            <a:r>
              <a:rPr lang="fr-FR" altLang="fr-FR" sz="1800" dirty="0">
                <a:latin typeface="Arial" panose="020B0604020202020204" pitchFamily="34" charset="0"/>
              </a:rPr>
              <a:t>à l’élément </a:t>
            </a:r>
            <a:r>
              <a:rPr lang="fr-FR" altLang="fr-FR" sz="1800" dirty="0" smtClean="0">
                <a:latin typeface="Arial" panose="020B0604020202020204" pitchFamily="34" charset="0"/>
              </a:rPr>
              <a:t>réel</a:t>
            </a:r>
            <a:endParaRPr lang="fr-FR" altLang="fr-FR" sz="18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364" name="Text Box 5"/>
          <p:cNvSpPr txBox="1">
            <a:spLocks noChangeArrowheads="1"/>
          </p:cNvSpPr>
          <p:nvPr/>
        </p:nvSpPr>
        <p:spPr bwMode="auto">
          <a:xfrm>
            <a:off x="5962650" y="3097367"/>
            <a:ext cx="147989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fr-FR" altLang="fr-FR" sz="1800" dirty="0">
                <a:latin typeface="Arial" panose="020B0604020202020204" pitchFamily="34" charset="0"/>
              </a:rPr>
              <a:t>Elément réel</a:t>
            </a:r>
          </a:p>
        </p:txBody>
      </p:sp>
      <p:grpSp>
        <p:nvGrpSpPr>
          <p:cNvPr id="2" name="Groupe 1"/>
          <p:cNvGrpSpPr/>
          <p:nvPr/>
        </p:nvGrpSpPr>
        <p:grpSpPr>
          <a:xfrm>
            <a:off x="5156072" y="2158783"/>
            <a:ext cx="915988" cy="717550"/>
            <a:chOff x="314325" y="1922463"/>
            <a:chExt cx="915988" cy="717550"/>
          </a:xfrm>
        </p:grpSpPr>
        <p:sp>
          <p:nvSpPr>
            <p:cNvPr id="15365" name="Line 6"/>
            <p:cNvSpPr>
              <a:spLocks noChangeShapeType="1"/>
            </p:cNvSpPr>
            <p:nvPr/>
          </p:nvSpPr>
          <p:spPr bwMode="auto">
            <a:xfrm flipH="1" flipV="1">
              <a:off x="579438" y="2149475"/>
              <a:ext cx="3175" cy="4730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5366" name="Line 7"/>
            <p:cNvSpPr>
              <a:spLocks noChangeShapeType="1"/>
            </p:cNvSpPr>
            <p:nvPr/>
          </p:nvSpPr>
          <p:spPr bwMode="auto">
            <a:xfrm rot="16200000">
              <a:off x="858044" y="2336007"/>
              <a:ext cx="1587" cy="558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5367" name="Text Box 8"/>
            <p:cNvSpPr txBox="1">
              <a:spLocks noChangeArrowheads="1"/>
            </p:cNvSpPr>
            <p:nvPr/>
          </p:nvSpPr>
          <p:spPr bwMode="auto">
            <a:xfrm>
              <a:off x="919163" y="2243138"/>
              <a:ext cx="31115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fr-FR" altLang="fr-FR" sz="2000"/>
                <a:t>x</a:t>
              </a:r>
            </a:p>
          </p:txBody>
        </p:sp>
        <p:sp>
          <p:nvSpPr>
            <p:cNvPr id="15368" name="Text Box 9"/>
            <p:cNvSpPr txBox="1">
              <a:spLocks noChangeArrowheads="1"/>
            </p:cNvSpPr>
            <p:nvPr/>
          </p:nvSpPr>
          <p:spPr bwMode="auto">
            <a:xfrm>
              <a:off x="314325" y="1922463"/>
              <a:ext cx="31115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fr-FR" altLang="fr-FR" sz="2000"/>
                <a:t>y</a:t>
              </a:r>
            </a:p>
          </p:txBody>
        </p:sp>
      </p:grpSp>
      <p:sp>
        <p:nvSpPr>
          <p:cNvPr id="15369" name="Freeform 11"/>
          <p:cNvSpPr>
            <a:spLocks/>
          </p:cNvSpPr>
          <p:nvPr/>
        </p:nvSpPr>
        <p:spPr bwMode="auto">
          <a:xfrm rot="-1482084">
            <a:off x="6048375" y="1619250"/>
            <a:ext cx="1441450" cy="642938"/>
          </a:xfrm>
          <a:custGeom>
            <a:avLst/>
            <a:gdLst>
              <a:gd name="T0" fmla="*/ 0 w 563"/>
              <a:gd name="T1" fmla="*/ 2147483646 h 450"/>
              <a:gd name="T2" fmla="*/ 0 w 563"/>
              <a:gd name="T3" fmla="*/ 0 h 450"/>
              <a:gd name="T4" fmla="*/ 2147483646 w 563"/>
              <a:gd name="T5" fmla="*/ 2147483646 h 450"/>
              <a:gd name="T6" fmla="*/ 0 w 563"/>
              <a:gd name="T7" fmla="*/ 2147483646 h 450"/>
              <a:gd name="T8" fmla="*/ 0 60000 65536"/>
              <a:gd name="T9" fmla="*/ 0 60000 65536"/>
              <a:gd name="T10" fmla="*/ 0 60000 65536"/>
              <a:gd name="T11" fmla="*/ 0 60000 65536"/>
              <a:gd name="T12" fmla="*/ 0 w 563"/>
              <a:gd name="T13" fmla="*/ 0 h 450"/>
              <a:gd name="T14" fmla="*/ 563 w 563"/>
              <a:gd name="T15" fmla="*/ 450 h 45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63" h="450">
                <a:moveTo>
                  <a:pt x="0" y="450"/>
                </a:moveTo>
                <a:lnTo>
                  <a:pt x="0" y="0"/>
                </a:lnTo>
                <a:lnTo>
                  <a:pt x="563" y="450"/>
                </a:lnTo>
                <a:lnTo>
                  <a:pt x="0" y="450"/>
                </a:lnTo>
                <a:close/>
              </a:path>
            </a:pathLst>
          </a:custGeom>
          <a:noFill/>
          <a:ln w="38100" cmpd="sng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fr-FR"/>
          </a:p>
        </p:txBody>
      </p:sp>
      <p:grpSp>
        <p:nvGrpSpPr>
          <p:cNvPr id="15371" name="Group 20"/>
          <p:cNvGrpSpPr>
            <a:grpSpLocks/>
          </p:cNvGrpSpPr>
          <p:nvPr/>
        </p:nvGrpSpPr>
        <p:grpSpPr bwMode="auto">
          <a:xfrm>
            <a:off x="1474788" y="1306512"/>
            <a:ext cx="2060575" cy="1685925"/>
            <a:chOff x="3696" y="1439"/>
            <a:chExt cx="1298" cy="1062"/>
          </a:xfrm>
        </p:grpSpPr>
        <p:sp>
          <p:nvSpPr>
            <p:cNvPr id="15383" name="Line 21"/>
            <p:cNvSpPr>
              <a:spLocks noChangeShapeType="1"/>
            </p:cNvSpPr>
            <p:nvPr/>
          </p:nvSpPr>
          <p:spPr bwMode="auto">
            <a:xfrm flipV="1">
              <a:off x="3999" y="1641"/>
              <a:ext cx="0" cy="67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5384" name="Line 22"/>
            <p:cNvSpPr>
              <a:spLocks noChangeShapeType="1"/>
            </p:cNvSpPr>
            <p:nvPr/>
          </p:nvSpPr>
          <p:spPr bwMode="auto">
            <a:xfrm rot="5400000" flipV="1">
              <a:off x="4378" y="1928"/>
              <a:ext cx="6" cy="76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5385" name="Freeform 23"/>
            <p:cNvSpPr>
              <a:spLocks/>
            </p:cNvSpPr>
            <p:nvPr/>
          </p:nvSpPr>
          <p:spPr bwMode="auto">
            <a:xfrm rot="5400000" flipH="1">
              <a:off x="3994" y="1810"/>
              <a:ext cx="521" cy="499"/>
            </a:xfrm>
            <a:custGeom>
              <a:avLst/>
              <a:gdLst>
                <a:gd name="T0" fmla="*/ 0 w 563"/>
                <a:gd name="T1" fmla="*/ 927 h 450"/>
                <a:gd name="T2" fmla="*/ 0 w 563"/>
                <a:gd name="T3" fmla="*/ 0 h 450"/>
                <a:gd name="T4" fmla="*/ 328 w 563"/>
                <a:gd name="T5" fmla="*/ 927 h 450"/>
                <a:gd name="T6" fmla="*/ 0 w 563"/>
                <a:gd name="T7" fmla="*/ 927 h 45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63"/>
                <a:gd name="T13" fmla="*/ 0 h 450"/>
                <a:gd name="T14" fmla="*/ 563 w 563"/>
                <a:gd name="T15" fmla="*/ 450 h 45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63" h="450">
                  <a:moveTo>
                    <a:pt x="0" y="450"/>
                  </a:moveTo>
                  <a:lnTo>
                    <a:pt x="0" y="0"/>
                  </a:lnTo>
                  <a:lnTo>
                    <a:pt x="563" y="450"/>
                  </a:lnTo>
                  <a:lnTo>
                    <a:pt x="0" y="450"/>
                  </a:lnTo>
                  <a:close/>
                </a:path>
              </a:pathLst>
            </a:custGeom>
            <a:noFill/>
            <a:ln w="38100" cmpd="sng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5386" name="Text Box 24"/>
            <p:cNvSpPr txBox="1">
              <a:spLocks noChangeArrowheads="1"/>
            </p:cNvSpPr>
            <p:nvPr/>
          </p:nvSpPr>
          <p:spPr bwMode="auto">
            <a:xfrm>
              <a:off x="3876" y="1439"/>
              <a:ext cx="18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fr-FR" altLang="fr-FR" sz="1600"/>
                <a:t>v</a:t>
              </a:r>
            </a:p>
          </p:txBody>
        </p:sp>
        <p:sp>
          <p:nvSpPr>
            <p:cNvPr id="15387" name="Text Box 25"/>
            <p:cNvSpPr txBox="1">
              <a:spLocks noChangeArrowheads="1"/>
            </p:cNvSpPr>
            <p:nvPr/>
          </p:nvSpPr>
          <p:spPr bwMode="auto">
            <a:xfrm>
              <a:off x="4814" y="2206"/>
              <a:ext cx="18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fr-FR" altLang="fr-FR" sz="1600"/>
                <a:t>u</a:t>
              </a:r>
            </a:p>
          </p:txBody>
        </p:sp>
        <p:sp>
          <p:nvSpPr>
            <p:cNvPr id="15388" name="Text Box 26"/>
            <p:cNvSpPr txBox="1">
              <a:spLocks noChangeArrowheads="1"/>
            </p:cNvSpPr>
            <p:nvPr/>
          </p:nvSpPr>
          <p:spPr bwMode="auto">
            <a:xfrm>
              <a:off x="3696" y="1695"/>
              <a:ext cx="33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fr-FR" altLang="fr-FR" sz="1400"/>
                <a:t>(0,1)</a:t>
              </a:r>
            </a:p>
          </p:txBody>
        </p:sp>
        <p:sp>
          <p:nvSpPr>
            <p:cNvPr id="15389" name="Text Box 27"/>
            <p:cNvSpPr txBox="1">
              <a:spLocks noChangeArrowheads="1"/>
            </p:cNvSpPr>
            <p:nvPr/>
          </p:nvSpPr>
          <p:spPr bwMode="auto">
            <a:xfrm>
              <a:off x="4371" y="2308"/>
              <a:ext cx="330" cy="1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fr-FR" altLang="fr-FR" sz="1400"/>
                <a:t>(1,0)</a:t>
              </a:r>
            </a:p>
          </p:txBody>
        </p:sp>
      </p:grpSp>
      <p:sp>
        <p:nvSpPr>
          <p:cNvPr id="15372" name="Text Box 28"/>
          <p:cNvSpPr txBox="1">
            <a:spLocks noChangeArrowheads="1"/>
          </p:cNvSpPr>
          <p:nvPr/>
        </p:nvSpPr>
        <p:spPr bwMode="auto">
          <a:xfrm>
            <a:off x="858837" y="3071812"/>
            <a:ext cx="3818096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fr-FR" altLang="fr-FR" sz="1800" dirty="0">
                <a:latin typeface="Arial" panose="020B0604020202020204" pitchFamily="34" charset="0"/>
              </a:rPr>
              <a:t>Elément de </a:t>
            </a:r>
            <a:r>
              <a:rPr lang="fr-FR" altLang="fr-FR" sz="1800" dirty="0" smtClean="0">
                <a:latin typeface="Arial" panose="020B0604020202020204" pitchFamily="34" charset="0"/>
              </a:rPr>
              <a:t>référence :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fr-FR" altLang="fr-FR" sz="1800" dirty="0" smtClean="0">
                <a:latin typeface="Arial" panose="020B0604020202020204" pitchFamily="34" charset="0"/>
              </a:rPr>
              <a:t>Triangle rectangle isocèle de coté 1</a:t>
            </a:r>
            <a:endParaRPr lang="fr-FR" altLang="fr-FR" sz="1800" dirty="0">
              <a:latin typeface="Arial" panose="020B0604020202020204" pitchFamily="34" charset="0"/>
            </a:endParaRPr>
          </a:p>
        </p:txBody>
      </p:sp>
      <p:sp>
        <p:nvSpPr>
          <p:cNvPr id="15373" name="Text Box 35"/>
          <p:cNvSpPr txBox="1">
            <a:spLocks noChangeArrowheads="1"/>
          </p:cNvSpPr>
          <p:nvPr/>
        </p:nvSpPr>
        <p:spPr bwMode="auto">
          <a:xfrm>
            <a:off x="611188" y="115888"/>
            <a:ext cx="74834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fr-FR" altLang="fr-FR" sz="2400" b="1">
                <a:solidFill>
                  <a:srgbClr val="FF0000"/>
                </a:solidFill>
                <a:latin typeface="Arial" panose="020B0604020202020204" pitchFamily="34" charset="0"/>
              </a:rPr>
              <a:t>INTÉGRATION NUMÉRIQUE SUR UN DOMAINE 2D</a:t>
            </a:r>
          </a:p>
        </p:txBody>
      </p:sp>
      <p:sp>
        <p:nvSpPr>
          <p:cNvPr id="15375" name="AutoShape 44"/>
          <p:cNvSpPr>
            <a:spLocks noChangeArrowheads="1"/>
          </p:cNvSpPr>
          <p:nvPr/>
        </p:nvSpPr>
        <p:spPr bwMode="auto">
          <a:xfrm rot="5400000">
            <a:off x="4428431" y="1951513"/>
            <a:ext cx="287338" cy="576263"/>
          </a:xfrm>
          <a:prstGeom prst="upArrow">
            <a:avLst>
              <a:gd name="adj1" fmla="val 50000"/>
              <a:gd name="adj2" fmla="val 50138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fr-FR" altLang="fr-FR" sz="2400"/>
          </a:p>
        </p:txBody>
      </p:sp>
      <p:sp>
        <p:nvSpPr>
          <p:cNvPr id="15378" name="Espace réservé du numéro de diapositive 37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4ECAF35-7FE1-4DB2-AC15-7DC1CFCF3A0F}" type="slidenum">
              <a:rPr lang="fr-FR" altLang="fr-FR" sz="1400"/>
              <a:pPr>
                <a:spcBef>
                  <a:spcPct val="0"/>
                </a:spcBef>
                <a:buFontTx/>
                <a:buNone/>
              </a:pPr>
              <a:t>12</a:t>
            </a:fld>
            <a:endParaRPr lang="fr-FR" altLang="fr-FR" sz="1400"/>
          </a:p>
        </p:txBody>
      </p:sp>
      <p:pic>
        <p:nvPicPr>
          <p:cNvPr id="8" name="Image 7" descr="\documentclass{article}&#10;\usepackage{amsmath}&#10;\pagestyle{empty}&#10;\begin{document}&#10;&#10;$$&#10;I_e =  \iint_e \; dx \; dy \; Q_e(x,y) &#10;= \iint_{e_{ref}} \; du \; dv \; &#10;\text{detJ}(u,v) \; Q_e(u,v) &#10;$$&#10;en utilisant la notation simplifiée :&#10;$$&#10;\text{detJ}(u,v) \equiv \text{detJ}\Big(x(u,v), y(u,v)\Big)&#10;$$&#10;et&#10;$$Q_e(u,v) &#10;=Q_e\Big(x(u,v),y(u,v)\Big) &#10;$$&#10;&#10;\end{document}" title="IguanaTex Bitmap Display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110" y="3933056"/>
            <a:ext cx="7599236" cy="2663621"/>
          </a:xfrm>
          <a:prstGeom prst="rect">
            <a:avLst/>
          </a:prstGeom>
        </p:spPr>
      </p:pic>
      <p:graphicFrame>
        <p:nvGraphicFramePr>
          <p:cNvPr id="43" name="Object 3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90167823"/>
              </p:ext>
            </p:extLst>
          </p:nvPr>
        </p:nvGraphicFramePr>
        <p:xfrm>
          <a:off x="7096321" y="4818999"/>
          <a:ext cx="1670050" cy="1831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59" name="Equation" r:id="rId5" imgW="927100" imgH="1016000" progId="Equation.3">
                  <p:embed/>
                </p:oleObj>
              </mc:Choice>
              <mc:Fallback>
                <p:oleObj name="Equation" r:id="rId5" imgW="927100" imgH="1016000" progId="Equation.3">
                  <p:embed/>
                  <p:pic>
                    <p:nvPicPr>
                      <p:cNvPr id="16391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96321" y="4818999"/>
                        <a:ext cx="1670050" cy="183197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94168E2-DA76-47D5-A48C-4224F5F760A4}" type="slidenum">
              <a:rPr lang="fr-FR" altLang="fr-FR" smtClean="0"/>
              <a:pPr>
                <a:defRPr/>
              </a:pPr>
              <a:t>13</a:t>
            </a:fld>
            <a:endParaRPr lang="fr-FR" altLang="fr-FR"/>
          </a:p>
        </p:txBody>
      </p:sp>
      <p:grpSp>
        <p:nvGrpSpPr>
          <p:cNvPr id="37" name="Groupe 36"/>
          <p:cNvGrpSpPr/>
          <p:nvPr/>
        </p:nvGrpSpPr>
        <p:grpSpPr>
          <a:xfrm>
            <a:off x="2003136" y="764704"/>
            <a:ext cx="4729104" cy="3107171"/>
            <a:chOff x="1613001" y="1321901"/>
            <a:chExt cx="4729104" cy="3107171"/>
          </a:xfrm>
        </p:grpSpPr>
        <p:cxnSp>
          <p:nvCxnSpPr>
            <p:cNvPr id="19" name="Connecteur droit 18"/>
            <p:cNvCxnSpPr/>
            <p:nvPr/>
          </p:nvCxnSpPr>
          <p:spPr bwMode="auto">
            <a:xfrm flipV="1">
              <a:off x="3419872" y="2895427"/>
              <a:ext cx="2088232" cy="1181645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0" name="Connecteur droit 19"/>
            <p:cNvCxnSpPr/>
            <p:nvPr/>
          </p:nvCxnSpPr>
          <p:spPr bwMode="auto">
            <a:xfrm flipV="1">
              <a:off x="3230596" y="1916832"/>
              <a:ext cx="2088232" cy="1181645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1" name="Connecteur droit 20"/>
            <p:cNvCxnSpPr/>
            <p:nvPr/>
          </p:nvCxnSpPr>
          <p:spPr bwMode="auto">
            <a:xfrm flipH="1" flipV="1">
              <a:off x="3037386" y="1893019"/>
              <a:ext cx="397076" cy="2168458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4" name="Connecteur droit 23"/>
            <p:cNvCxnSpPr/>
            <p:nvPr/>
          </p:nvCxnSpPr>
          <p:spPr bwMode="auto">
            <a:xfrm flipH="1" flipV="1">
              <a:off x="3979569" y="1321901"/>
              <a:ext cx="397076" cy="2168458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pic>
          <p:nvPicPr>
            <p:cNvPr id="26" name="Image 25" descr="\documentclass{article}&#10;\usepackage{amsmath}&#10;\pagestyle{empty}&#10;\begin{document}&#10;&#10;&#10;$M\Big(u,v\Big)$ &#10;&#10;&#10;\end{document}" title="IguanaTex Bitmap Display"/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58601" y="3973453"/>
              <a:ext cx="909714" cy="455619"/>
            </a:xfrm>
            <a:prstGeom prst="rect">
              <a:avLst/>
            </a:prstGeom>
          </p:spPr>
        </p:pic>
        <p:pic>
          <p:nvPicPr>
            <p:cNvPr id="28" name="Image 27" descr="\documentclass{article}&#10;\usepackage{amsmath}&#10;\pagestyle{empty}&#10;\begin{document}&#10;&#10;&#10;$M\Big(u+du,v\Big)$ &#10;&#10;&#10;\end{document}" title="IguanaTex Bitmap Display"/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95733" y="3465598"/>
              <a:ext cx="1494857" cy="455619"/>
            </a:xfrm>
            <a:prstGeom prst="rect">
              <a:avLst/>
            </a:prstGeom>
          </p:spPr>
        </p:pic>
        <p:pic>
          <p:nvPicPr>
            <p:cNvPr id="30" name="Image 29" descr="\documentclass{article}&#10;\usepackage{amsmath}&#10;\pagestyle{empty}&#10;\begin{document}&#10;&#10;&#10;$M\Big(u,v+dv\Big)$ &#10;&#10;&#10;\end{document}" title="IguanaTex Bitmap Display"/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13001" y="2870667"/>
              <a:ext cx="1481143" cy="455619"/>
            </a:xfrm>
            <a:prstGeom prst="rect">
              <a:avLst/>
            </a:prstGeom>
          </p:spPr>
        </p:pic>
        <p:pic>
          <p:nvPicPr>
            <p:cNvPr id="33" name="Image 32" descr="\documentclass{article}&#10;\usepackage{amsmath}&#10;\pagestyle{empty}&#10;\begin{document}&#10;&#10;&#10;$M\Big(u+du,v+dv\Big)$ &#10;&#10;&#10;\end{document}" title="IguanaTex Bitmap Display"/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74295" y="2020451"/>
              <a:ext cx="2067810" cy="455619"/>
            </a:xfrm>
            <a:prstGeom prst="rect">
              <a:avLst/>
            </a:prstGeom>
            <a:solidFill>
              <a:srgbClr val="FFFFFF"/>
            </a:solidFill>
          </p:spPr>
        </p:pic>
        <p:pic>
          <p:nvPicPr>
            <p:cNvPr id="34" name="Image 33" descr="\documentclass{article}&#10;\usepackage{amsmath}&#10;\pagestyle{empty}&#10;\begin{document}&#10;&#10;&#10;$v = C^{te}$&#10;&#10;\end{document}" title="IguanaTex Bitmap Display"/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0004010">
              <a:off x="4608700" y="2875115"/>
              <a:ext cx="825905" cy="208762"/>
            </a:xfrm>
            <a:prstGeom prst="rect">
              <a:avLst/>
            </a:prstGeom>
          </p:spPr>
        </p:pic>
        <p:pic>
          <p:nvPicPr>
            <p:cNvPr id="36" name="Image 35" descr="\documentclass{article}&#10;\usepackage{amsmath}&#10;\pagestyle{empty}&#10;\begin{document}&#10;&#10;&#10;$u = C^{te}$&#10;&#10;\end{document}" title="IguanaTex Bitmap Display"/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4637180">
              <a:off x="2881491" y="2219672"/>
              <a:ext cx="839619" cy="208762"/>
            </a:xfrm>
            <a:prstGeom prst="rect">
              <a:avLst/>
            </a:prstGeom>
          </p:spPr>
        </p:pic>
      </p:grpSp>
      <p:pic>
        <p:nvPicPr>
          <p:cNvPr id="45" name="Image 44" descr="\documentclass{article}&#10;\usepackage{amsmath}&#10;\usepackage{xcolor}&#10;\pagestyle{empty}&#10;\begin{document}&#10;&#10;&#10;$${\color{red}&#10;dS} = \overline{e}_z \cdot \Big(\dfrac{\partial \overline{M}}{\partial u} \; du \times  \dfrac{\partial \overline{M}}{\partial v} \; dv\Big) = &#10;\left|&#10;\begin{array}{ccc}&#10;0 &amp;\frac{\partial x}{\partial u} &amp; \frac{\partial x}{\partial v} \\[0.5em]&#10;0 &amp;\frac{\partial y}{\partial u} &amp; \frac{\partial y}{\partial v} \\[0.5em]&#10;1 &amp; 0 &amp; 0&#10;\end{array}&#10;\right| =&#10;\left|&#10;\begin{array}{cc}&#10;\frac{\partial x}{\partial u} &amp; \frac{\partial x}{\partial v} \\[0.5em]&#10;\frac{\partial y}{\partial u} &amp; \frac{\partial y}{\partial v} &#10;\end{array}&#10;\right|&#10;$$&#10;\end{document}" title="IguanaTex Bitmap Display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223" y="4509120"/>
            <a:ext cx="6857137" cy="1226665"/>
          </a:xfrm>
          <a:prstGeom prst="rect">
            <a:avLst/>
          </a:prstGeom>
        </p:spPr>
      </p:pic>
      <p:pic>
        <p:nvPicPr>
          <p:cNvPr id="43" name="Image 42" descr="\documentclass{article}&#10;\usepackage{amsmath}&#10;\pagestyle{empty}&#10;\begin{document}&#10;&#10;\subsection*{Explication géométrique du déterminant jacobien}&#10;&#10;&#10;\end{document}" title="IguanaTex Bitmap Display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167" y="211686"/>
            <a:ext cx="7381333" cy="274286"/>
          </a:xfrm>
          <a:prstGeom prst="rect">
            <a:avLst/>
          </a:prstGeom>
        </p:spPr>
      </p:pic>
      <p:sp>
        <p:nvSpPr>
          <p:cNvPr id="44" name="Forme libre 43"/>
          <p:cNvSpPr/>
          <p:nvPr/>
        </p:nvSpPr>
        <p:spPr bwMode="auto">
          <a:xfrm>
            <a:off x="3644026" y="1981981"/>
            <a:ext cx="1129553" cy="1535953"/>
          </a:xfrm>
          <a:custGeom>
            <a:avLst/>
            <a:gdLst>
              <a:gd name="connsiteX0" fmla="*/ 173318 w 1129553"/>
              <a:gd name="connsiteY0" fmla="*/ 1535953 h 1535953"/>
              <a:gd name="connsiteX1" fmla="*/ 1129553 w 1129553"/>
              <a:gd name="connsiteY1" fmla="*/ 986118 h 1535953"/>
              <a:gd name="connsiteX2" fmla="*/ 944282 w 1129553"/>
              <a:gd name="connsiteY2" fmla="*/ 0 h 1535953"/>
              <a:gd name="connsiteX3" fmla="*/ 0 w 1129553"/>
              <a:gd name="connsiteY3" fmla="*/ 531906 h 1535953"/>
              <a:gd name="connsiteX4" fmla="*/ 173318 w 1129553"/>
              <a:gd name="connsiteY4" fmla="*/ 1535953 h 15359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9553" h="1535953">
                <a:moveTo>
                  <a:pt x="173318" y="1535953"/>
                </a:moveTo>
                <a:lnTo>
                  <a:pt x="1129553" y="986118"/>
                </a:lnTo>
                <a:lnTo>
                  <a:pt x="944282" y="0"/>
                </a:lnTo>
                <a:lnTo>
                  <a:pt x="0" y="531906"/>
                </a:lnTo>
                <a:lnTo>
                  <a:pt x="173318" y="1535953"/>
                </a:lnTo>
                <a:close/>
              </a:path>
            </a:pathLst>
          </a:custGeom>
          <a:pattFill prst="wdDnDiag">
            <a:fgClr>
              <a:srgbClr val="FF0000"/>
            </a:fgClr>
            <a:bgClr>
              <a:schemeClr val="bg1"/>
            </a:bgClr>
          </a:patt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grpSp>
        <p:nvGrpSpPr>
          <p:cNvPr id="46" name="Groupe 45"/>
          <p:cNvGrpSpPr/>
          <p:nvPr/>
        </p:nvGrpSpPr>
        <p:grpSpPr>
          <a:xfrm>
            <a:off x="1655894" y="3285290"/>
            <a:ext cx="915988" cy="717550"/>
            <a:chOff x="314325" y="1922463"/>
            <a:chExt cx="915988" cy="717550"/>
          </a:xfrm>
        </p:grpSpPr>
        <p:sp>
          <p:nvSpPr>
            <p:cNvPr id="47" name="Line 6"/>
            <p:cNvSpPr>
              <a:spLocks noChangeShapeType="1"/>
            </p:cNvSpPr>
            <p:nvPr/>
          </p:nvSpPr>
          <p:spPr bwMode="auto">
            <a:xfrm flipH="1" flipV="1">
              <a:off x="579438" y="2149475"/>
              <a:ext cx="3175" cy="4730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8" name="Line 7"/>
            <p:cNvSpPr>
              <a:spLocks noChangeShapeType="1"/>
            </p:cNvSpPr>
            <p:nvPr/>
          </p:nvSpPr>
          <p:spPr bwMode="auto">
            <a:xfrm rot="16200000">
              <a:off x="858044" y="2336007"/>
              <a:ext cx="1587" cy="558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9" name="Text Box 8"/>
            <p:cNvSpPr txBox="1">
              <a:spLocks noChangeArrowheads="1"/>
            </p:cNvSpPr>
            <p:nvPr/>
          </p:nvSpPr>
          <p:spPr bwMode="auto">
            <a:xfrm>
              <a:off x="919163" y="2243138"/>
              <a:ext cx="31115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fr-FR" altLang="fr-FR" sz="2000"/>
                <a:t>x</a:t>
              </a:r>
            </a:p>
          </p:txBody>
        </p:sp>
        <p:sp>
          <p:nvSpPr>
            <p:cNvPr id="50" name="Text Box 9"/>
            <p:cNvSpPr txBox="1">
              <a:spLocks noChangeArrowheads="1"/>
            </p:cNvSpPr>
            <p:nvPr/>
          </p:nvSpPr>
          <p:spPr bwMode="auto">
            <a:xfrm>
              <a:off x="314325" y="1922463"/>
              <a:ext cx="31115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fr-FR" altLang="fr-FR" sz="2000"/>
                <a:t>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615609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98" name="Espace réservé du numéro de diapositive 3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83D44CC-68EA-46C0-82FF-B2F80D59169D}" type="slidenum">
              <a:rPr lang="fr-FR" altLang="fr-FR" sz="1400"/>
              <a:pPr>
                <a:spcBef>
                  <a:spcPct val="0"/>
                </a:spcBef>
                <a:buFontTx/>
                <a:buNone/>
              </a:pPr>
              <a:t>14</a:t>
            </a:fld>
            <a:endParaRPr lang="fr-FR" altLang="fr-FR" sz="1400"/>
          </a:p>
        </p:txBody>
      </p:sp>
      <p:pic>
        <p:nvPicPr>
          <p:cNvPr id="11" name="Image 10" descr="\documentclass{article}&#10;\usepackage{amsmath}&#10;\pagestyle{empty}&#10;\begin{document}&#10;&#10;\subsection*{Estimation numérique de l'intégrale élémentaire $I_e$}&#10;&#10;Il faut d'abord définir les coordonnées $(u_k, v_k)$ des points de Gauss &#10;dans l'élément de référence et de leur associer des poids.\\&#10;Tout intégrant de la forme $u^i \; v^j$ sera intégré exactement si $i+j \le m$. \\&#10;On remarque que $\sum_k w_k = \frac{1}{2}$ l'aire du triangle élémentaire.&#10;&#10;\end{document}" title="IguanaTex Bitmap Display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530" y="260648"/>
            <a:ext cx="8711619" cy="1677716"/>
          </a:xfrm>
          <a:prstGeom prst="rect">
            <a:avLst/>
          </a:prstGeom>
        </p:spPr>
      </p:pic>
      <p:grpSp>
        <p:nvGrpSpPr>
          <p:cNvPr id="2" name="Groupe 1"/>
          <p:cNvGrpSpPr/>
          <p:nvPr/>
        </p:nvGrpSpPr>
        <p:grpSpPr>
          <a:xfrm>
            <a:off x="1604396" y="2114330"/>
            <a:ext cx="2146300" cy="1979613"/>
            <a:chOff x="1604396" y="2114330"/>
            <a:chExt cx="2146300" cy="1979613"/>
          </a:xfrm>
        </p:grpSpPr>
        <p:sp>
          <p:nvSpPr>
            <p:cNvPr id="40" name="Line 39"/>
            <p:cNvSpPr>
              <a:spLocks noChangeShapeType="1"/>
            </p:cNvSpPr>
            <p:nvPr/>
          </p:nvSpPr>
          <p:spPr bwMode="auto">
            <a:xfrm flipV="1">
              <a:off x="1980634" y="2522318"/>
              <a:ext cx="0" cy="1168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1" name="Line 40"/>
            <p:cNvSpPr>
              <a:spLocks noChangeShapeType="1"/>
            </p:cNvSpPr>
            <p:nvPr/>
          </p:nvSpPr>
          <p:spPr bwMode="auto">
            <a:xfrm rot="5400000" flipV="1">
              <a:off x="2658496" y="3004918"/>
              <a:ext cx="9525" cy="13684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2" name="Freeform 41"/>
            <p:cNvSpPr>
              <a:spLocks/>
            </p:cNvSpPr>
            <p:nvPr/>
          </p:nvSpPr>
          <p:spPr bwMode="auto">
            <a:xfrm rot="5400000" flipH="1">
              <a:off x="1983808" y="2804893"/>
              <a:ext cx="906463" cy="893763"/>
            </a:xfrm>
            <a:custGeom>
              <a:avLst/>
              <a:gdLst>
                <a:gd name="T0" fmla="*/ 0 w 563"/>
                <a:gd name="T1" fmla="*/ 2158 h 450"/>
                <a:gd name="T2" fmla="*/ 0 w 563"/>
                <a:gd name="T3" fmla="*/ 0 h 450"/>
                <a:gd name="T4" fmla="*/ 621 w 563"/>
                <a:gd name="T5" fmla="*/ 2158 h 450"/>
                <a:gd name="T6" fmla="*/ 0 w 563"/>
                <a:gd name="T7" fmla="*/ 2158 h 45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63"/>
                <a:gd name="T13" fmla="*/ 0 h 450"/>
                <a:gd name="T14" fmla="*/ 563 w 563"/>
                <a:gd name="T15" fmla="*/ 450 h 45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63" h="450">
                  <a:moveTo>
                    <a:pt x="0" y="450"/>
                  </a:moveTo>
                  <a:lnTo>
                    <a:pt x="0" y="0"/>
                  </a:lnTo>
                  <a:lnTo>
                    <a:pt x="563" y="450"/>
                  </a:lnTo>
                  <a:lnTo>
                    <a:pt x="0" y="450"/>
                  </a:lnTo>
                  <a:close/>
                </a:path>
              </a:pathLst>
            </a:custGeom>
            <a:noFill/>
            <a:ln w="38100" cmpd="sng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3" name="Text Box 42"/>
            <p:cNvSpPr txBox="1">
              <a:spLocks noChangeArrowheads="1"/>
            </p:cNvSpPr>
            <p:nvPr/>
          </p:nvSpPr>
          <p:spPr bwMode="auto">
            <a:xfrm>
              <a:off x="3439546" y="3458943"/>
              <a:ext cx="31115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fr-FR" altLang="fr-FR" sz="2000"/>
                <a:t>u</a:t>
              </a:r>
            </a:p>
          </p:txBody>
        </p:sp>
        <p:sp>
          <p:nvSpPr>
            <p:cNvPr id="44" name="Text Box 43"/>
            <p:cNvSpPr txBox="1">
              <a:spLocks noChangeArrowheads="1"/>
            </p:cNvSpPr>
            <p:nvPr/>
          </p:nvSpPr>
          <p:spPr bwMode="auto">
            <a:xfrm>
              <a:off x="2760096" y="3697068"/>
              <a:ext cx="31115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fr-FR" altLang="fr-FR" sz="2000"/>
                <a:t>1</a:t>
              </a:r>
            </a:p>
          </p:txBody>
        </p:sp>
        <p:sp>
          <p:nvSpPr>
            <p:cNvPr id="45" name="Text Box 44"/>
            <p:cNvSpPr txBox="1">
              <a:spLocks noChangeArrowheads="1"/>
            </p:cNvSpPr>
            <p:nvPr/>
          </p:nvSpPr>
          <p:spPr bwMode="auto">
            <a:xfrm>
              <a:off x="1604396" y="2601693"/>
              <a:ext cx="31115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fr-FR" altLang="fr-FR" sz="2000"/>
                <a:t>1</a:t>
              </a:r>
            </a:p>
          </p:txBody>
        </p:sp>
        <p:sp>
          <p:nvSpPr>
            <p:cNvPr id="49" name="Oval 48"/>
            <p:cNvSpPr>
              <a:spLocks noChangeArrowheads="1"/>
            </p:cNvSpPr>
            <p:nvPr/>
          </p:nvSpPr>
          <p:spPr bwMode="auto">
            <a:xfrm>
              <a:off x="2150496" y="3389093"/>
              <a:ext cx="107950" cy="10795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fr-FR" altLang="fr-FR" sz="2400"/>
            </a:p>
          </p:txBody>
        </p:sp>
        <p:sp>
          <p:nvSpPr>
            <p:cNvPr id="54" name="Text Box 73"/>
            <p:cNvSpPr txBox="1">
              <a:spLocks noChangeArrowheads="1"/>
            </p:cNvSpPr>
            <p:nvPr/>
          </p:nvSpPr>
          <p:spPr bwMode="auto">
            <a:xfrm>
              <a:off x="1842521" y="2114330"/>
              <a:ext cx="31115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fr-FR" altLang="fr-FR" sz="2000"/>
                <a:t>v</a:t>
              </a:r>
            </a:p>
          </p:txBody>
        </p:sp>
      </p:grpSp>
      <p:grpSp>
        <p:nvGrpSpPr>
          <p:cNvPr id="3" name="Groupe 2"/>
          <p:cNvGrpSpPr/>
          <p:nvPr/>
        </p:nvGrpSpPr>
        <p:grpSpPr>
          <a:xfrm>
            <a:off x="1619672" y="4021935"/>
            <a:ext cx="2146300" cy="1970088"/>
            <a:chOff x="1685359" y="4021935"/>
            <a:chExt cx="2146300" cy="1970088"/>
          </a:xfrm>
        </p:grpSpPr>
        <p:sp>
          <p:nvSpPr>
            <p:cNvPr id="58" name="Line 52"/>
            <p:cNvSpPr>
              <a:spLocks noChangeShapeType="1"/>
            </p:cNvSpPr>
            <p:nvPr/>
          </p:nvSpPr>
          <p:spPr bwMode="auto">
            <a:xfrm flipV="1">
              <a:off x="2061597" y="4420398"/>
              <a:ext cx="0" cy="1168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9" name="Line 53"/>
            <p:cNvSpPr>
              <a:spLocks noChangeShapeType="1"/>
            </p:cNvSpPr>
            <p:nvPr/>
          </p:nvSpPr>
          <p:spPr bwMode="auto">
            <a:xfrm rot="5400000" flipV="1">
              <a:off x="2739459" y="4902998"/>
              <a:ext cx="9525" cy="13684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60" name="Freeform 54"/>
            <p:cNvSpPr>
              <a:spLocks/>
            </p:cNvSpPr>
            <p:nvPr/>
          </p:nvSpPr>
          <p:spPr bwMode="auto">
            <a:xfrm rot="5400000" flipH="1">
              <a:off x="2064771" y="4702973"/>
              <a:ext cx="906463" cy="893763"/>
            </a:xfrm>
            <a:custGeom>
              <a:avLst/>
              <a:gdLst>
                <a:gd name="T0" fmla="*/ 0 w 563"/>
                <a:gd name="T1" fmla="*/ 2158 h 450"/>
                <a:gd name="T2" fmla="*/ 0 w 563"/>
                <a:gd name="T3" fmla="*/ 0 h 450"/>
                <a:gd name="T4" fmla="*/ 621 w 563"/>
                <a:gd name="T5" fmla="*/ 2158 h 450"/>
                <a:gd name="T6" fmla="*/ 0 w 563"/>
                <a:gd name="T7" fmla="*/ 2158 h 45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63"/>
                <a:gd name="T13" fmla="*/ 0 h 450"/>
                <a:gd name="T14" fmla="*/ 563 w 563"/>
                <a:gd name="T15" fmla="*/ 450 h 45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63" h="450">
                  <a:moveTo>
                    <a:pt x="0" y="450"/>
                  </a:moveTo>
                  <a:lnTo>
                    <a:pt x="0" y="0"/>
                  </a:lnTo>
                  <a:lnTo>
                    <a:pt x="563" y="450"/>
                  </a:lnTo>
                  <a:lnTo>
                    <a:pt x="0" y="450"/>
                  </a:lnTo>
                  <a:close/>
                </a:path>
              </a:pathLst>
            </a:custGeom>
            <a:noFill/>
            <a:ln w="38100" cmpd="sng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61" name="Text Box 55"/>
            <p:cNvSpPr txBox="1">
              <a:spLocks noChangeArrowheads="1"/>
            </p:cNvSpPr>
            <p:nvPr/>
          </p:nvSpPr>
          <p:spPr bwMode="auto">
            <a:xfrm>
              <a:off x="1840934" y="4021935"/>
              <a:ext cx="31115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fr-FR" altLang="fr-FR" sz="2000"/>
                <a:t>v</a:t>
              </a:r>
            </a:p>
          </p:txBody>
        </p:sp>
        <p:sp>
          <p:nvSpPr>
            <p:cNvPr id="62" name="Text Box 56"/>
            <p:cNvSpPr txBox="1">
              <a:spLocks noChangeArrowheads="1"/>
            </p:cNvSpPr>
            <p:nvPr/>
          </p:nvSpPr>
          <p:spPr bwMode="auto">
            <a:xfrm>
              <a:off x="3520509" y="5357023"/>
              <a:ext cx="31115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fr-FR" altLang="fr-FR" sz="2000"/>
                <a:t>u</a:t>
              </a:r>
            </a:p>
          </p:txBody>
        </p:sp>
        <p:sp>
          <p:nvSpPr>
            <p:cNvPr id="63" name="Text Box 57"/>
            <p:cNvSpPr txBox="1">
              <a:spLocks noChangeArrowheads="1"/>
            </p:cNvSpPr>
            <p:nvPr/>
          </p:nvSpPr>
          <p:spPr bwMode="auto">
            <a:xfrm>
              <a:off x="2841059" y="5595148"/>
              <a:ext cx="31115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fr-FR" altLang="fr-FR" sz="2000"/>
                <a:t>1</a:t>
              </a:r>
            </a:p>
          </p:txBody>
        </p:sp>
        <p:sp>
          <p:nvSpPr>
            <p:cNvPr id="64" name="Text Box 58"/>
            <p:cNvSpPr txBox="1">
              <a:spLocks noChangeArrowheads="1"/>
            </p:cNvSpPr>
            <p:nvPr/>
          </p:nvSpPr>
          <p:spPr bwMode="auto">
            <a:xfrm>
              <a:off x="1685359" y="4499773"/>
              <a:ext cx="31115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fr-FR" altLang="fr-FR" sz="2000"/>
                <a:t>1</a:t>
              </a:r>
            </a:p>
          </p:txBody>
        </p:sp>
        <p:sp>
          <p:nvSpPr>
            <p:cNvPr id="68" name="Oval 62"/>
            <p:cNvSpPr>
              <a:spLocks noChangeArrowheads="1"/>
            </p:cNvSpPr>
            <p:nvPr/>
          </p:nvSpPr>
          <p:spPr bwMode="auto">
            <a:xfrm>
              <a:off x="2529909" y="5385598"/>
              <a:ext cx="107950" cy="10795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fr-FR" altLang="fr-FR" sz="2400"/>
            </a:p>
          </p:txBody>
        </p:sp>
        <p:sp>
          <p:nvSpPr>
            <p:cNvPr id="69" name="Oval 63"/>
            <p:cNvSpPr>
              <a:spLocks noChangeArrowheads="1"/>
            </p:cNvSpPr>
            <p:nvPr/>
          </p:nvSpPr>
          <p:spPr bwMode="auto">
            <a:xfrm>
              <a:off x="2183834" y="5382423"/>
              <a:ext cx="107950" cy="10795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fr-FR" altLang="fr-FR" sz="2400"/>
            </a:p>
          </p:txBody>
        </p:sp>
        <p:sp>
          <p:nvSpPr>
            <p:cNvPr id="70" name="Oval 64"/>
            <p:cNvSpPr>
              <a:spLocks noChangeArrowheads="1"/>
            </p:cNvSpPr>
            <p:nvPr/>
          </p:nvSpPr>
          <p:spPr bwMode="auto">
            <a:xfrm>
              <a:off x="2172722" y="5052223"/>
              <a:ext cx="107950" cy="10795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fr-FR" altLang="fr-FR" sz="2400"/>
            </a:p>
          </p:txBody>
        </p:sp>
      </p:grpSp>
      <p:pic>
        <p:nvPicPr>
          <p:cNvPr id="8" name="Image 7" descr="\documentclass{article}&#10;\usepackage{amsmath}&#10;\usepackage{array}&#10;\usepackage{booktabs}&#10;\usepackage{multirow}&#10;\usepackage[french]{babel}&#10;\usepackage[T1]{fontenc}&#10;\usepackage[utf8]{inputenc}&#10;&#10;\begin{document}&#10;&#10;\begin{table}[h]&#10;\centering&#10;\renewcommand{\arraystretch}{2}&#10;\begin{tabular}{c|cc|c}&#10;\toprule&#10;$m$ &amp; $u_k$ &amp; $v_k$ &amp; $w_k$ \\&#10;\midrule&#10;\multirow{1}{*}{1} &amp; $\frac{1}{3}$ &amp; $\frac{1}{3}$ &amp; $\frac{1}{2}$ \\&#10;\midrule&#10;\multirow{3}{*}{2} &amp; $\frac{1}{6}$ &amp; $\frac{1}{6}$ &amp; $\frac{1}{6}$ \\&#10;                   &amp; $\frac{2}{3}$ &amp; $\frac{1}{6}$ &amp; $\frac{1}{6}$ \\&#10;                   &amp; $\frac{1}{6}$ &amp; $\frac{2}{3}$ &amp; $\frac{1}{6}$ \\&#10;\bottomrule&#10;\end{tabular}&#10;%\caption{Points et poids de quadrature pour les éléments triangulaires}&#10;\end{table}&#10;&#10;\end{document}" title="IguanaTex Bitmap Display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9048" y="2221735"/>
            <a:ext cx="2279618" cy="14672761"/>
          </a:xfrm>
          <a:prstGeom prst="rect">
            <a:avLst/>
          </a:prstGeom>
        </p:spPr>
      </p:pic>
      <p:pic>
        <p:nvPicPr>
          <p:cNvPr id="12" name="Image 11" descr="\documentclass{article}&#10;\usepackage{amsmath}&#10;\usepackage{xcolor}&#10;\pagestyle{empty}&#10;\begin{document}&#10;&#10;{\color{red}&#10;On notera que les points d'intégration de Gauss&#10;sont localisés à l'intérieur de l'élément.&#10;}&#10;&#10;\end{document}" title="IguanaTex Bitmap Display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574" y="6013261"/>
            <a:ext cx="8713143" cy="48457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60" name="Espace réservé du numéro de diapositive 8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0986363-6797-4712-A172-AAA01A6BF110}" type="slidenum">
              <a:rPr lang="fr-FR" altLang="fr-FR" sz="1400"/>
              <a:pPr>
                <a:spcBef>
                  <a:spcPct val="0"/>
                </a:spcBef>
                <a:buFontTx/>
                <a:buNone/>
              </a:pPr>
              <a:t>15</a:t>
            </a:fld>
            <a:endParaRPr lang="fr-FR" altLang="fr-FR" sz="1400"/>
          </a:p>
        </p:txBody>
      </p:sp>
      <p:pic>
        <p:nvPicPr>
          <p:cNvPr id="4" name="Image 3" descr="\documentclass{article}&#10;\usepackage{amsmath}&#10;\usepackage{xcolor}&#10;\pagestyle{empty}&#10;\begin{document}&#10;&#10;\subsection*{Estimation numérique de l'intégrale élémentaire $I_e$}&#10;&#10;On rappelle :&#10;$$&#10;I_e = \iint_{e_{ref}} \; du \; dv \; &#10;\text{detJ}(u,v) \; Q_e(u,v) &#10;$$&#10;&#10;Connaissant les coordonnées $(u_k, v_k)$ des points de Gauss &#10;et leur poids $w_k$, une estimation de $I_e$ est donnée par&#10;la méthode de quadrature de Gauss :&#10;$$&#10;I_e \approx \sum_{k=1}^{\text{NPI}} &#10;\text{detJ}({\color{red} u_k},{\color{red} v_k})\; {\color{red} w_k} \; Q_e({\color{red} u_k},{\color{red} v_k}) &#10;$$&#10;&#10;\end{document}" title="IguanaTex Bitmap Display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532" y="404662"/>
            <a:ext cx="8700951" cy="3146674"/>
          </a:xfrm>
          <a:prstGeom prst="rect">
            <a:avLst/>
          </a:prstGeom>
        </p:spPr>
      </p:pic>
      <p:grpSp>
        <p:nvGrpSpPr>
          <p:cNvPr id="2" name="Groupe 1"/>
          <p:cNvGrpSpPr/>
          <p:nvPr/>
        </p:nvGrpSpPr>
        <p:grpSpPr>
          <a:xfrm>
            <a:off x="1921644" y="3717032"/>
            <a:ext cx="5242644" cy="1979613"/>
            <a:chOff x="1921644" y="3717032"/>
            <a:chExt cx="5242644" cy="1979613"/>
          </a:xfrm>
        </p:grpSpPr>
        <p:sp>
          <p:nvSpPr>
            <p:cNvPr id="28" name="Line 39"/>
            <p:cNvSpPr>
              <a:spLocks noChangeShapeType="1"/>
            </p:cNvSpPr>
            <p:nvPr/>
          </p:nvSpPr>
          <p:spPr bwMode="auto">
            <a:xfrm flipV="1">
              <a:off x="2297882" y="4125020"/>
              <a:ext cx="0" cy="1168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9" name="Line 40"/>
            <p:cNvSpPr>
              <a:spLocks noChangeShapeType="1"/>
            </p:cNvSpPr>
            <p:nvPr/>
          </p:nvSpPr>
          <p:spPr bwMode="auto">
            <a:xfrm rot="5400000" flipV="1">
              <a:off x="2975744" y="4607620"/>
              <a:ext cx="9525" cy="13684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0" name="Freeform 41"/>
            <p:cNvSpPr>
              <a:spLocks/>
            </p:cNvSpPr>
            <p:nvPr/>
          </p:nvSpPr>
          <p:spPr bwMode="auto">
            <a:xfrm rot="5400000" flipH="1">
              <a:off x="2301056" y="4407595"/>
              <a:ext cx="906463" cy="893763"/>
            </a:xfrm>
            <a:custGeom>
              <a:avLst/>
              <a:gdLst>
                <a:gd name="T0" fmla="*/ 0 w 563"/>
                <a:gd name="T1" fmla="*/ 2158 h 450"/>
                <a:gd name="T2" fmla="*/ 0 w 563"/>
                <a:gd name="T3" fmla="*/ 0 h 450"/>
                <a:gd name="T4" fmla="*/ 621 w 563"/>
                <a:gd name="T5" fmla="*/ 2158 h 450"/>
                <a:gd name="T6" fmla="*/ 0 w 563"/>
                <a:gd name="T7" fmla="*/ 2158 h 45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63"/>
                <a:gd name="T13" fmla="*/ 0 h 450"/>
                <a:gd name="T14" fmla="*/ 563 w 563"/>
                <a:gd name="T15" fmla="*/ 450 h 45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63" h="450">
                  <a:moveTo>
                    <a:pt x="0" y="450"/>
                  </a:moveTo>
                  <a:lnTo>
                    <a:pt x="0" y="0"/>
                  </a:lnTo>
                  <a:lnTo>
                    <a:pt x="563" y="450"/>
                  </a:lnTo>
                  <a:lnTo>
                    <a:pt x="0" y="450"/>
                  </a:lnTo>
                  <a:close/>
                </a:path>
              </a:pathLst>
            </a:custGeom>
            <a:noFill/>
            <a:ln w="38100" cmpd="sng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1" name="Text Box 42"/>
            <p:cNvSpPr txBox="1">
              <a:spLocks noChangeArrowheads="1"/>
            </p:cNvSpPr>
            <p:nvPr/>
          </p:nvSpPr>
          <p:spPr bwMode="auto">
            <a:xfrm>
              <a:off x="3756794" y="5061645"/>
              <a:ext cx="31115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fr-FR" altLang="fr-FR" sz="2000"/>
                <a:t>u</a:t>
              </a:r>
            </a:p>
          </p:txBody>
        </p:sp>
        <p:sp>
          <p:nvSpPr>
            <p:cNvPr id="32" name="Text Box 43"/>
            <p:cNvSpPr txBox="1">
              <a:spLocks noChangeArrowheads="1"/>
            </p:cNvSpPr>
            <p:nvPr/>
          </p:nvSpPr>
          <p:spPr bwMode="auto">
            <a:xfrm>
              <a:off x="3077344" y="5299770"/>
              <a:ext cx="31115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fr-FR" altLang="fr-FR" sz="2000"/>
                <a:t>1</a:t>
              </a:r>
            </a:p>
          </p:txBody>
        </p:sp>
        <p:sp>
          <p:nvSpPr>
            <p:cNvPr id="33" name="Text Box 44"/>
            <p:cNvSpPr txBox="1">
              <a:spLocks noChangeArrowheads="1"/>
            </p:cNvSpPr>
            <p:nvPr/>
          </p:nvSpPr>
          <p:spPr bwMode="auto">
            <a:xfrm>
              <a:off x="1921644" y="4204395"/>
              <a:ext cx="31115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fr-FR" altLang="fr-FR" sz="2000"/>
                <a:t>1</a:t>
              </a:r>
            </a:p>
          </p:txBody>
        </p:sp>
        <p:sp>
          <p:nvSpPr>
            <p:cNvPr id="37" name="Oval 48"/>
            <p:cNvSpPr>
              <a:spLocks noChangeArrowheads="1"/>
            </p:cNvSpPr>
            <p:nvPr/>
          </p:nvSpPr>
          <p:spPr bwMode="auto">
            <a:xfrm>
              <a:off x="2467744" y="4991795"/>
              <a:ext cx="107950" cy="10795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fr-FR" altLang="fr-FR" sz="2400"/>
            </a:p>
          </p:txBody>
        </p:sp>
        <p:sp>
          <p:nvSpPr>
            <p:cNvPr id="38" name="Text Box 73"/>
            <p:cNvSpPr txBox="1">
              <a:spLocks noChangeArrowheads="1"/>
            </p:cNvSpPr>
            <p:nvPr/>
          </p:nvSpPr>
          <p:spPr bwMode="auto">
            <a:xfrm>
              <a:off x="2159769" y="3717032"/>
              <a:ext cx="31115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fr-FR" altLang="fr-FR" sz="2000"/>
                <a:t>v</a:t>
              </a:r>
            </a:p>
          </p:txBody>
        </p:sp>
        <p:sp>
          <p:nvSpPr>
            <p:cNvPr id="40" name="Line 52"/>
            <p:cNvSpPr>
              <a:spLocks noChangeShapeType="1"/>
            </p:cNvSpPr>
            <p:nvPr/>
          </p:nvSpPr>
          <p:spPr bwMode="auto">
            <a:xfrm flipV="1">
              <a:off x="5394226" y="4125020"/>
              <a:ext cx="0" cy="1168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1" name="Line 53"/>
            <p:cNvSpPr>
              <a:spLocks noChangeShapeType="1"/>
            </p:cNvSpPr>
            <p:nvPr/>
          </p:nvSpPr>
          <p:spPr bwMode="auto">
            <a:xfrm rot="5400000" flipV="1">
              <a:off x="6072088" y="4607620"/>
              <a:ext cx="9525" cy="13684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2" name="Freeform 54"/>
            <p:cNvSpPr>
              <a:spLocks/>
            </p:cNvSpPr>
            <p:nvPr/>
          </p:nvSpPr>
          <p:spPr bwMode="auto">
            <a:xfrm rot="5400000" flipH="1">
              <a:off x="5397400" y="4407595"/>
              <a:ext cx="906463" cy="893763"/>
            </a:xfrm>
            <a:custGeom>
              <a:avLst/>
              <a:gdLst>
                <a:gd name="T0" fmla="*/ 0 w 563"/>
                <a:gd name="T1" fmla="*/ 2158 h 450"/>
                <a:gd name="T2" fmla="*/ 0 w 563"/>
                <a:gd name="T3" fmla="*/ 0 h 450"/>
                <a:gd name="T4" fmla="*/ 621 w 563"/>
                <a:gd name="T5" fmla="*/ 2158 h 450"/>
                <a:gd name="T6" fmla="*/ 0 w 563"/>
                <a:gd name="T7" fmla="*/ 2158 h 45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63"/>
                <a:gd name="T13" fmla="*/ 0 h 450"/>
                <a:gd name="T14" fmla="*/ 563 w 563"/>
                <a:gd name="T15" fmla="*/ 450 h 45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63" h="450">
                  <a:moveTo>
                    <a:pt x="0" y="450"/>
                  </a:moveTo>
                  <a:lnTo>
                    <a:pt x="0" y="0"/>
                  </a:lnTo>
                  <a:lnTo>
                    <a:pt x="563" y="450"/>
                  </a:lnTo>
                  <a:lnTo>
                    <a:pt x="0" y="450"/>
                  </a:lnTo>
                  <a:close/>
                </a:path>
              </a:pathLst>
            </a:custGeom>
            <a:noFill/>
            <a:ln w="38100" cmpd="sng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3" name="Text Box 55"/>
            <p:cNvSpPr txBox="1">
              <a:spLocks noChangeArrowheads="1"/>
            </p:cNvSpPr>
            <p:nvPr/>
          </p:nvSpPr>
          <p:spPr bwMode="auto">
            <a:xfrm>
              <a:off x="5173563" y="3726557"/>
              <a:ext cx="31115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fr-FR" altLang="fr-FR" sz="2000"/>
                <a:t>v</a:t>
              </a:r>
            </a:p>
          </p:txBody>
        </p:sp>
        <p:sp>
          <p:nvSpPr>
            <p:cNvPr id="44" name="Text Box 56"/>
            <p:cNvSpPr txBox="1">
              <a:spLocks noChangeArrowheads="1"/>
            </p:cNvSpPr>
            <p:nvPr/>
          </p:nvSpPr>
          <p:spPr bwMode="auto">
            <a:xfrm>
              <a:off x="6853138" y="5061645"/>
              <a:ext cx="31115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fr-FR" altLang="fr-FR" sz="2000"/>
                <a:t>u</a:t>
              </a:r>
            </a:p>
          </p:txBody>
        </p:sp>
        <p:sp>
          <p:nvSpPr>
            <p:cNvPr id="45" name="Text Box 57"/>
            <p:cNvSpPr txBox="1">
              <a:spLocks noChangeArrowheads="1"/>
            </p:cNvSpPr>
            <p:nvPr/>
          </p:nvSpPr>
          <p:spPr bwMode="auto">
            <a:xfrm>
              <a:off x="6173688" y="5299770"/>
              <a:ext cx="31115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fr-FR" altLang="fr-FR" sz="2000"/>
                <a:t>1</a:t>
              </a:r>
            </a:p>
          </p:txBody>
        </p:sp>
        <p:sp>
          <p:nvSpPr>
            <p:cNvPr id="46" name="Text Box 58"/>
            <p:cNvSpPr txBox="1">
              <a:spLocks noChangeArrowheads="1"/>
            </p:cNvSpPr>
            <p:nvPr/>
          </p:nvSpPr>
          <p:spPr bwMode="auto">
            <a:xfrm>
              <a:off x="5017988" y="4204395"/>
              <a:ext cx="31115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fr-FR" altLang="fr-FR" sz="2000"/>
                <a:t>1</a:t>
              </a:r>
            </a:p>
          </p:txBody>
        </p:sp>
        <p:sp>
          <p:nvSpPr>
            <p:cNvPr id="50" name="Oval 62"/>
            <p:cNvSpPr>
              <a:spLocks noChangeArrowheads="1"/>
            </p:cNvSpPr>
            <p:nvPr/>
          </p:nvSpPr>
          <p:spPr bwMode="auto">
            <a:xfrm>
              <a:off x="5862538" y="5090220"/>
              <a:ext cx="107950" cy="10795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fr-FR" altLang="fr-FR" sz="2400"/>
            </a:p>
          </p:txBody>
        </p:sp>
        <p:sp>
          <p:nvSpPr>
            <p:cNvPr id="51" name="Oval 63"/>
            <p:cNvSpPr>
              <a:spLocks noChangeArrowheads="1"/>
            </p:cNvSpPr>
            <p:nvPr/>
          </p:nvSpPr>
          <p:spPr bwMode="auto">
            <a:xfrm>
              <a:off x="5516463" y="5087045"/>
              <a:ext cx="107950" cy="10795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fr-FR" altLang="fr-FR" sz="2400"/>
            </a:p>
          </p:txBody>
        </p:sp>
        <p:sp>
          <p:nvSpPr>
            <p:cNvPr id="52" name="Oval 64"/>
            <p:cNvSpPr>
              <a:spLocks noChangeArrowheads="1"/>
            </p:cNvSpPr>
            <p:nvPr/>
          </p:nvSpPr>
          <p:spPr bwMode="auto">
            <a:xfrm>
              <a:off x="5505351" y="4756845"/>
              <a:ext cx="107950" cy="10795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fr-FR" altLang="fr-FR" sz="2400"/>
            </a:p>
          </p:txBody>
        </p:sp>
      </p:grpSp>
      <p:sp>
        <p:nvSpPr>
          <p:cNvPr id="58" name="Text Box 89"/>
          <p:cNvSpPr txBox="1">
            <a:spLocks noChangeArrowheads="1"/>
          </p:cNvSpPr>
          <p:nvPr/>
        </p:nvSpPr>
        <p:spPr bwMode="auto">
          <a:xfrm>
            <a:off x="6452339" y="4185633"/>
            <a:ext cx="2434449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fr-FR" altLang="fr-FR" sz="2000" b="1" dirty="0" smtClean="0">
                <a:solidFill>
                  <a:srgbClr val="FF0000"/>
                </a:solidFill>
                <a:latin typeface="Trebuchet MS" panose="020B0603020202020204" pitchFamily="34" charset="0"/>
              </a:rPr>
              <a:t>Point d’intégration</a:t>
            </a:r>
            <a:endParaRPr lang="fr-FR" altLang="fr-FR" sz="2000" b="1" dirty="0">
              <a:solidFill>
                <a:srgbClr val="FF0000"/>
              </a:solidFill>
              <a:latin typeface="Trebuchet MS" panose="020B0603020202020204" pitchFamily="34" charset="0"/>
            </a:endParaRPr>
          </a:p>
        </p:txBody>
      </p:sp>
      <p:cxnSp>
        <p:nvCxnSpPr>
          <p:cNvPr id="60" name="Connecteur droit avec flèche 59"/>
          <p:cNvCxnSpPr>
            <a:stCxn id="58" idx="1"/>
            <a:endCxn id="52" idx="7"/>
          </p:cNvCxnSpPr>
          <p:nvPr/>
        </p:nvCxnSpPr>
        <p:spPr bwMode="auto">
          <a:xfrm flipH="1">
            <a:off x="5597492" y="4385688"/>
            <a:ext cx="854847" cy="38696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47" name="Espace réservé du numéro de diapositive 50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D5B302D-B20C-4539-B729-613CBB82058D}" type="slidenum">
              <a:rPr lang="fr-FR" altLang="fr-FR" sz="1400"/>
              <a:pPr>
                <a:spcBef>
                  <a:spcPct val="0"/>
                </a:spcBef>
                <a:buFontTx/>
                <a:buNone/>
              </a:pPr>
              <a:t>16</a:t>
            </a:fld>
            <a:endParaRPr lang="fr-FR" altLang="fr-FR" sz="1400"/>
          </a:p>
        </p:txBody>
      </p:sp>
      <p:pic>
        <p:nvPicPr>
          <p:cNvPr id="15" name="Image 14" descr="\documentclass{article}&#10;\usepackage{amsmath}&#10;\pagestyle{empty}&#10;\begin{document}&#10;&#10;&#10;\subsection*{Interpolation dans l'élément de référence}&#10;&#10;La grandeur Q est connue aux NP nœuds du maillage.\\&#10;L’estimation de Q en tout point (u,v) de l’élément de référence se fait par interpolation.&#10;&#10;$$&#10;Q_e(u,v) = \sum_{ie=I}^{NBN=III} \; \alpha_{ie}(u,v) \; Q_{ie}&#10;$$&#10;où NBN=III est le nombre de noeuds d'interpolation (sommets) de l'élément triangulaire de référence.&#10;&#10;$\alpha_{ie}(u,v)$ sont les polynomes d'interpolation P1 de Lagrange dans l'élément de référence.&#10;&#10;\subsubsection*{Propriétés}&#10;$$\forall ie \in [1, \text{NBN}] \quad&#10;\alpha_{ie}(u_{je},v_{je}) = \delta_{ie, je}&#10;\quad \text{et} \quad&#10;\sum_{ie=I}^{\text{NBN}=III} \alpha_{ie}(u,v) =1$$.&#10;&#10;\end{document}" title="IguanaTex Bitmap Display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618" y="87687"/>
            <a:ext cx="7844571" cy="5015316"/>
          </a:xfrm>
          <a:prstGeom prst="rect">
            <a:avLst/>
          </a:prstGeom>
        </p:spPr>
      </p:pic>
      <p:grpSp>
        <p:nvGrpSpPr>
          <p:cNvPr id="13" name="Groupe 12"/>
          <p:cNvGrpSpPr/>
          <p:nvPr/>
        </p:nvGrpSpPr>
        <p:grpSpPr>
          <a:xfrm>
            <a:off x="629448" y="4771280"/>
            <a:ext cx="7576361" cy="1970088"/>
            <a:chOff x="629448" y="4771280"/>
            <a:chExt cx="7576361" cy="1970088"/>
          </a:xfrm>
        </p:grpSpPr>
        <p:grpSp>
          <p:nvGrpSpPr>
            <p:cNvPr id="18438" name="Group 70"/>
            <p:cNvGrpSpPr>
              <a:grpSpLocks/>
            </p:cNvGrpSpPr>
            <p:nvPr/>
          </p:nvGrpSpPr>
          <p:grpSpPr bwMode="auto">
            <a:xfrm>
              <a:off x="3936210" y="4771280"/>
              <a:ext cx="2146300" cy="1970088"/>
              <a:chOff x="3379" y="1329"/>
              <a:chExt cx="1352" cy="1241"/>
            </a:xfrm>
          </p:grpSpPr>
          <p:grpSp>
            <p:nvGrpSpPr>
              <p:cNvPr id="18448" name="Group 71"/>
              <p:cNvGrpSpPr>
                <a:grpSpLocks/>
              </p:cNvGrpSpPr>
              <p:nvPr/>
            </p:nvGrpSpPr>
            <p:grpSpPr bwMode="auto">
              <a:xfrm>
                <a:off x="3379" y="1329"/>
                <a:ext cx="1352" cy="1241"/>
                <a:chOff x="514" y="4165"/>
                <a:chExt cx="1352" cy="1241"/>
              </a:xfrm>
            </p:grpSpPr>
            <p:sp>
              <p:nvSpPr>
                <p:cNvPr id="18452" name="Line 72"/>
                <p:cNvSpPr>
                  <a:spLocks noChangeShapeType="1"/>
                </p:cNvSpPr>
                <p:nvPr/>
              </p:nvSpPr>
              <p:spPr bwMode="auto">
                <a:xfrm flipV="1">
                  <a:off x="751" y="4416"/>
                  <a:ext cx="0" cy="73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18453" name="Line 73"/>
                <p:cNvSpPr>
                  <a:spLocks noChangeShapeType="1"/>
                </p:cNvSpPr>
                <p:nvPr/>
              </p:nvSpPr>
              <p:spPr bwMode="auto">
                <a:xfrm rot="5400000" flipV="1">
                  <a:off x="1178" y="4720"/>
                  <a:ext cx="6" cy="86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18454" name="Freeform 74"/>
                <p:cNvSpPr>
                  <a:spLocks/>
                </p:cNvSpPr>
                <p:nvPr/>
              </p:nvSpPr>
              <p:spPr bwMode="auto">
                <a:xfrm rot="5400000" flipH="1">
                  <a:off x="753" y="4594"/>
                  <a:ext cx="571" cy="563"/>
                </a:xfrm>
                <a:custGeom>
                  <a:avLst/>
                  <a:gdLst>
                    <a:gd name="T0" fmla="*/ 0 w 563"/>
                    <a:gd name="T1" fmla="*/ 2158 h 450"/>
                    <a:gd name="T2" fmla="*/ 0 w 563"/>
                    <a:gd name="T3" fmla="*/ 0 h 450"/>
                    <a:gd name="T4" fmla="*/ 621 w 563"/>
                    <a:gd name="T5" fmla="*/ 2158 h 450"/>
                    <a:gd name="T6" fmla="*/ 0 w 563"/>
                    <a:gd name="T7" fmla="*/ 2158 h 45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563"/>
                    <a:gd name="T13" fmla="*/ 0 h 450"/>
                    <a:gd name="T14" fmla="*/ 563 w 563"/>
                    <a:gd name="T15" fmla="*/ 450 h 45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563" h="450">
                      <a:moveTo>
                        <a:pt x="0" y="450"/>
                      </a:moveTo>
                      <a:lnTo>
                        <a:pt x="0" y="0"/>
                      </a:lnTo>
                      <a:lnTo>
                        <a:pt x="563" y="450"/>
                      </a:lnTo>
                      <a:lnTo>
                        <a:pt x="0" y="450"/>
                      </a:lnTo>
                      <a:close/>
                    </a:path>
                  </a:pathLst>
                </a:custGeom>
                <a:noFill/>
                <a:ln w="381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18455" name="Text Box 75"/>
                <p:cNvSpPr txBox="1">
                  <a:spLocks noChangeArrowheads="1"/>
                </p:cNvSpPr>
                <p:nvPr/>
              </p:nvSpPr>
              <p:spPr bwMode="auto">
                <a:xfrm>
                  <a:off x="612" y="4165"/>
                  <a:ext cx="196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r>
                    <a:rPr lang="fr-FR" altLang="fr-FR" sz="2000"/>
                    <a:t>v</a:t>
                  </a:r>
                </a:p>
              </p:txBody>
            </p:sp>
            <p:sp>
              <p:nvSpPr>
                <p:cNvPr id="18456" name="Text Box 76"/>
                <p:cNvSpPr txBox="1">
                  <a:spLocks noChangeArrowheads="1"/>
                </p:cNvSpPr>
                <p:nvPr/>
              </p:nvSpPr>
              <p:spPr bwMode="auto">
                <a:xfrm>
                  <a:off x="1670" y="5006"/>
                  <a:ext cx="196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r>
                    <a:rPr lang="fr-FR" altLang="fr-FR" sz="2000"/>
                    <a:t>u</a:t>
                  </a:r>
                </a:p>
              </p:txBody>
            </p:sp>
            <p:sp>
              <p:nvSpPr>
                <p:cNvPr id="18457" name="Text Box 77"/>
                <p:cNvSpPr txBox="1">
                  <a:spLocks noChangeArrowheads="1"/>
                </p:cNvSpPr>
                <p:nvPr/>
              </p:nvSpPr>
              <p:spPr bwMode="auto">
                <a:xfrm>
                  <a:off x="1242" y="5156"/>
                  <a:ext cx="196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r>
                    <a:rPr lang="fr-FR" altLang="fr-FR" sz="2000"/>
                    <a:t>1</a:t>
                  </a:r>
                </a:p>
              </p:txBody>
            </p:sp>
            <p:sp>
              <p:nvSpPr>
                <p:cNvPr id="18458" name="Text Box 78"/>
                <p:cNvSpPr txBox="1">
                  <a:spLocks noChangeArrowheads="1"/>
                </p:cNvSpPr>
                <p:nvPr/>
              </p:nvSpPr>
              <p:spPr bwMode="auto">
                <a:xfrm>
                  <a:off x="514" y="4466"/>
                  <a:ext cx="196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r>
                    <a:rPr lang="fr-FR" altLang="fr-FR" sz="2000"/>
                    <a:t>1</a:t>
                  </a:r>
                </a:p>
              </p:txBody>
            </p:sp>
            <p:sp>
              <p:nvSpPr>
                <p:cNvPr id="18459" name="Oval 79"/>
                <p:cNvSpPr>
                  <a:spLocks noChangeArrowheads="1"/>
                </p:cNvSpPr>
                <p:nvPr/>
              </p:nvSpPr>
              <p:spPr bwMode="auto">
                <a:xfrm>
                  <a:off x="701" y="4551"/>
                  <a:ext cx="90" cy="90"/>
                </a:xfrm>
                <a:prstGeom prst="ellipse">
                  <a:avLst/>
                </a:prstGeom>
                <a:solidFill>
                  <a:schemeClr val="accent2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fr-FR" altLang="fr-FR" sz="2400"/>
                </a:p>
              </p:txBody>
            </p:sp>
            <p:sp>
              <p:nvSpPr>
                <p:cNvPr id="18460" name="Oval 80"/>
                <p:cNvSpPr>
                  <a:spLocks noChangeArrowheads="1"/>
                </p:cNvSpPr>
                <p:nvPr/>
              </p:nvSpPr>
              <p:spPr bwMode="auto">
                <a:xfrm>
                  <a:off x="701" y="5099"/>
                  <a:ext cx="90" cy="90"/>
                </a:xfrm>
                <a:prstGeom prst="ellipse">
                  <a:avLst/>
                </a:prstGeom>
                <a:solidFill>
                  <a:schemeClr val="accent2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fr-FR" altLang="fr-FR" sz="2400"/>
                </a:p>
              </p:txBody>
            </p:sp>
            <p:sp>
              <p:nvSpPr>
                <p:cNvPr id="18461" name="Oval 81"/>
                <p:cNvSpPr>
                  <a:spLocks noChangeArrowheads="1"/>
                </p:cNvSpPr>
                <p:nvPr/>
              </p:nvSpPr>
              <p:spPr bwMode="auto">
                <a:xfrm>
                  <a:off x="1241" y="5099"/>
                  <a:ext cx="90" cy="90"/>
                </a:xfrm>
                <a:prstGeom prst="ellipse">
                  <a:avLst/>
                </a:prstGeom>
                <a:solidFill>
                  <a:schemeClr val="accent2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fr-FR" altLang="fr-FR" sz="2400"/>
                </a:p>
              </p:txBody>
            </p:sp>
            <p:sp>
              <p:nvSpPr>
                <p:cNvPr id="18462" name="Oval 82"/>
                <p:cNvSpPr>
                  <a:spLocks noChangeArrowheads="1"/>
                </p:cNvSpPr>
                <p:nvPr/>
              </p:nvSpPr>
              <p:spPr bwMode="auto">
                <a:xfrm>
                  <a:off x="1046" y="5024"/>
                  <a:ext cx="68" cy="68"/>
                </a:xfrm>
                <a:prstGeom prst="ellipse">
                  <a:avLst/>
                </a:prstGeom>
                <a:solidFill>
                  <a:srgbClr val="FF0000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fr-FR" altLang="fr-FR" sz="2400"/>
                </a:p>
              </p:txBody>
            </p:sp>
            <p:sp>
              <p:nvSpPr>
                <p:cNvPr id="18463" name="Oval 83"/>
                <p:cNvSpPr>
                  <a:spLocks noChangeArrowheads="1"/>
                </p:cNvSpPr>
                <p:nvPr/>
              </p:nvSpPr>
              <p:spPr bwMode="auto">
                <a:xfrm>
                  <a:off x="828" y="5022"/>
                  <a:ext cx="68" cy="68"/>
                </a:xfrm>
                <a:prstGeom prst="ellipse">
                  <a:avLst/>
                </a:prstGeom>
                <a:solidFill>
                  <a:srgbClr val="FF0000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fr-FR" altLang="fr-FR" sz="2400"/>
                </a:p>
              </p:txBody>
            </p:sp>
            <p:sp>
              <p:nvSpPr>
                <p:cNvPr id="18464" name="Oval 84"/>
                <p:cNvSpPr>
                  <a:spLocks noChangeArrowheads="1"/>
                </p:cNvSpPr>
                <p:nvPr/>
              </p:nvSpPr>
              <p:spPr bwMode="auto">
                <a:xfrm>
                  <a:off x="821" y="4814"/>
                  <a:ext cx="68" cy="68"/>
                </a:xfrm>
                <a:prstGeom prst="ellipse">
                  <a:avLst/>
                </a:prstGeom>
                <a:solidFill>
                  <a:srgbClr val="FF0000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fr-FR" altLang="fr-FR" sz="2400"/>
                </a:p>
              </p:txBody>
            </p:sp>
          </p:grpSp>
          <p:sp>
            <p:nvSpPr>
              <p:cNvPr id="18449" name="Text Box 85"/>
              <p:cNvSpPr txBox="1">
                <a:spLocks noChangeArrowheads="1"/>
              </p:cNvSpPr>
              <p:nvPr/>
            </p:nvSpPr>
            <p:spPr bwMode="auto">
              <a:xfrm>
                <a:off x="4150" y="2024"/>
                <a:ext cx="244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fr-FR" altLang="fr-FR" sz="2400"/>
                  <a:t>II</a:t>
                </a:r>
              </a:p>
            </p:txBody>
          </p:sp>
          <p:sp>
            <p:nvSpPr>
              <p:cNvPr id="18450" name="Text Box 86"/>
              <p:cNvSpPr txBox="1">
                <a:spLocks noChangeArrowheads="1"/>
              </p:cNvSpPr>
              <p:nvPr/>
            </p:nvSpPr>
            <p:spPr bwMode="auto">
              <a:xfrm>
                <a:off x="3606" y="1480"/>
                <a:ext cx="30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fr-FR" altLang="fr-FR" sz="2400"/>
                  <a:t>III</a:t>
                </a:r>
              </a:p>
            </p:txBody>
          </p:sp>
          <p:sp>
            <p:nvSpPr>
              <p:cNvPr id="18451" name="Text Box 87"/>
              <p:cNvSpPr txBox="1">
                <a:spLocks noChangeArrowheads="1"/>
              </p:cNvSpPr>
              <p:nvPr/>
            </p:nvSpPr>
            <p:spPr bwMode="auto">
              <a:xfrm>
                <a:off x="3424" y="2280"/>
                <a:ext cx="18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fr-FR" altLang="fr-FR" sz="2400"/>
                  <a:t>I</a:t>
                </a:r>
              </a:p>
            </p:txBody>
          </p:sp>
        </p:grpSp>
        <p:sp>
          <p:nvSpPr>
            <p:cNvPr id="18439" name="Text Box 88"/>
            <p:cNvSpPr txBox="1">
              <a:spLocks noChangeArrowheads="1"/>
            </p:cNvSpPr>
            <p:nvPr/>
          </p:nvSpPr>
          <p:spPr bwMode="auto">
            <a:xfrm>
              <a:off x="629448" y="5418980"/>
              <a:ext cx="341637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fr-FR" altLang="fr-FR" sz="2000" b="1" dirty="0">
                  <a:solidFill>
                    <a:schemeClr val="accent2"/>
                  </a:solidFill>
                  <a:latin typeface="Trebuchet MS" panose="020B0603020202020204" pitchFamily="34" charset="0"/>
                </a:rPr>
                <a:t>Nœuds </a:t>
              </a:r>
              <a:r>
                <a:rPr lang="fr-FR" altLang="fr-FR" sz="2000" b="1" dirty="0" smtClean="0">
                  <a:solidFill>
                    <a:schemeClr val="accent2"/>
                  </a:solidFill>
                  <a:latin typeface="Trebuchet MS" panose="020B0603020202020204" pitchFamily="34" charset="0"/>
                </a:rPr>
                <a:t>d’interpolation</a:t>
              </a:r>
              <a:endParaRPr lang="fr-FR" altLang="fr-FR" sz="2000" b="1" dirty="0">
                <a:solidFill>
                  <a:schemeClr val="accent2"/>
                </a:solidFill>
                <a:latin typeface="Trebuchet MS" panose="020B0603020202020204" pitchFamily="34" charset="0"/>
              </a:endParaRPr>
            </a:p>
          </p:txBody>
        </p:sp>
        <p:sp>
          <p:nvSpPr>
            <p:cNvPr id="18440" name="Text Box 89"/>
            <p:cNvSpPr txBox="1">
              <a:spLocks noChangeArrowheads="1"/>
            </p:cNvSpPr>
            <p:nvPr/>
          </p:nvSpPr>
          <p:spPr bwMode="auto">
            <a:xfrm>
              <a:off x="5771360" y="5384055"/>
              <a:ext cx="2434449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fr-FR" altLang="fr-FR" sz="2000" b="1" dirty="0" smtClean="0">
                  <a:solidFill>
                    <a:srgbClr val="FF0000"/>
                  </a:solidFill>
                  <a:latin typeface="Trebuchet MS" panose="020B0603020202020204" pitchFamily="34" charset="0"/>
                </a:rPr>
                <a:t>Point d’intégration</a:t>
              </a:r>
              <a:endParaRPr lang="fr-FR" altLang="fr-FR" sz="2000" b="1" dirty="0">
                <a:solidFill>
                  <a:srgbClr val="FF0000"/>
                </a:solidFill>
                <a:latin typeface="Trebuchet MS" panose="020B0603020202020204" pitchFamily="34" charset="0"/>
              </a:endParaRPr>
            </a:p>
          </p:txBody>
        </p:sp>
        <p:cxnSp>
          <p:nvCxnSpPr>
            <p:cNvPr id="10" name="Connecteur droit avec flèche 9"/>
            <p:cNvCxnSpPr>
              <a:endCxn id="18451" idx="0"/>
            </p:cNvCxnSpPr>
            <p:nvPr/>
          </p:nvCxnSpPr>
          <p:spPr bwMode="auto">
            <a:xfrm>
              <a:off x="3491880" y="5645993"/>
              <a:ext cx="658643" cy="63500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2" name="Connecteur droit avec flèche 11"/>
            <p:cNvCxnSpPr>
              <a:stCxn id="18440" idx="1"/>
              <a:endCxn id="18464" idx="6"/>
            </p:cNvCxnSpPr>
            <p:nvPr/>
          </p:nvCxnSpPr>
          <p:spPr bwMode="auto">
            <a:xfrm flipH="1">
              <a:off x="4531523" y="5584110"/>
              <a:ext cx="1239837" cy="271433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ext Box 15"/>
          <p:cNvSpPr txBox="1">
            <a:spLocks noChangeArrowheads="1"/>
          </p:cNvSpPr>
          <p:nvPr/>
        </p:nvSpPr>
        <p:spPr bwMode="auto">
          <a:xfrm>
            <a:off x="4140200" y="1316038"/>
            <a:ext cx="3178175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fr-FR" altLang="fr-FR" sz="2000">
                <a:latin typeface="Trebuchet MS" panose="020B0603020202020204" pitchFamily="34" charset="0"/>
              </a:rPr>
              <a:t>3 noeuds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fr-FR" altLang="fr-FR" sz="2000">
                <a:latin typeface="Trebuchet MS" panose="020B0603020202020204" pitchFamily="34" charset="0"/>
              </a:rPr>
              <a:t>3 fonctions d'interpolation</a:t>
            </a:r>
          </a:p>
        </p:txBody>
      </p:sp>
      <p:grpSp>
        <p:nvGrpSpPr>
          <p:cNvPr id="19459" name="Group 30"/>
          <p:cNvGrpSpPr>
            <a:grpSpLocks/>
          </p:cNvGrpSpPr>
          <p:nvPr/>
        </p:nvGrpSpPr>
        <p:grpSpPr bwMode="auto">
          <a:xfrm>
            <a:off x="1993900" y="655638"/>
            <a:ext cx="2146300" cy="1981200"/>
            <a:chOff x="1256" y="413"/>
            <a:chExt cx="1352" cy="1248"/>
          </a:xfrm>
        </p:grpSpPr>
        <p:sp>
          <p:nvSpPr>
            <p:cNvPr id="19473" name="Line 5"/>
            <p:cNvSpPr>
              <a:spLocks noChangeShapeType="1"/>
            </p:cNvSpPr>
            <p:nvPr/>
          </p:nvSpPr>
          <p:spPr bwMode="auto">
            <a:xfrm flipV="1">
              <a:off x="1493" y="664"/>
              <a:ext cx="0" cy="7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9474" name="Line 6"/>
            <p:cNvSpPr>
              <a:spLocks noChangeShapeType="1"/>
            </p:cNvSpPr>
            <p:nvPr/>
          </p:nvSpPr>
          <p:spPr bwMode="auto">
            <a:xfrm rot="5400000" flipV="1">
              <a:off x="1920" y="968"/>
              <a:ext cx="6" cy="8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9475" name="Freeform 7"/>
            <p:cNvSpPr>
              <a:spLocks/>
            </p:cNvSpPr>
            <p:nvPr/>
          </p:nvSpPr>
          <p:spPr bwMode="auto">
            <a:xfrm rot="5400000" flipH="1">
              <a:off x="1495" y="842"/>
              <a:ext cx="571" cy="563"/>
            </a:xfrm>
            <a:custGeom>
              <a:avLst/>
              <a:gdLst>
                <a:gd name="T0" fmla="*/ 0 w 563"/>
                <a:gd name="T1" fmla="*/ 2158 h 450"/>
                <a:gd name="T2" fmla="*/ 0 w 563"/>
                <a:gd name="T3" fmla="*/ 0 h 450"/>
                <a:gd name="T4" fmla="*/ 621 w 563"/>
                <a:gd name="T5" fmla="*/ 2158 h 450"/>
                <a:gd name="T6" fmla="*/ 0 w 563"/>
                <a:gd name="T7" fmla="*/ 2158 h 45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63"/>
                <a:gd name="T13" fmla="*/ 0 h 450"/>
                <a:gd name="T14" fmla="*/ 563 w 563"/>
                <a:gd name="T15" fmla="*/ 450 h 45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63" h="450">
                  <a:moveTo>
                    <a:pt x="0" y="450"/>
                  </a:moveTo>
                  <a:lnTo>
                    <a:pt x="0" y="0"/>
                  </a:lnTo>
                  <a:lnTo>
                    <a:pt x="563" y="450"/>
                  </a:lnTo>
                  <a:lnTo>
                    <a:pt x="0" y="450"/>
                  </a:lnTo>
                  <a:close/>
                </a:path>
              </a:pathLst>
            </a:custGeom>
            <a:noFill/>
            <a:ln w="38100" cmpd="sng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9476" name="Text Box 8"/>
            <p:cNvSpPr txBox="1">
              <a:spLocks noChangeArrowheads="1"/>
            </p:cNvSpPr>
            <p:nvPr/>
          </p:nvSpPr>
          <p:spPr bwMode="auto">
            <a:xfrm>
              <a:off x="1354" y="413"/>
              <a:ext cx="19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fr-FR" altLang="fr-FR" sz="2000"/>
                <a:t>v</a:t>
              </a:r>
            </a:p>
          </p:txBody>
        </p:sp>
        <p:sp>
          <p:nvSpPr>
            <p:cNvPr id="19477" name="Text Box 9"/>
            <p:cNvSpPr txBox="1">
              <a:spLocks noChangeArrowheads="1"/>
            </p:cNvSpPr>
            <p:nvPr/>
          </p:nvSpPr>
          <p:spPr bwMode="auto">
            <a:xfrm>
              <a:off x="2412" y="1254"/>
              <a:ext cx="19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fr-FR" altLang="fr-FR" sz="2000"/>
                <a:t>u</a:t>
              </a:r>
            </a:p>
          </p:txBody>
        </p:sp>
        <p:sp>
          <p:nvSpPr>
            <p:cNvPr id="19478" name="Text Box 10"/>
            <p:cNvSpPr txBox="1">
              <a:spLocks noChangeArrowheads="1"/>
            </p:cNvSpPr>
            <p:nvPr/>
          </p:nvSpPr>
          <p:spPr bwMode="auto">
            <a:xfrm>
              <a:off x="1984" y="1404"/>
              <a:ext cx="19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fr-FR" altLang="fr-FR" sz="2000"/>
                <a:t>1</a:t>
              </a:r>
            </a:p>
          </p:txBody>
        </p:sp>
        <p:sp>
          <p:nvSpPr>
            <p:cNvPr id="19479" name="Text Box 11"/>
            <p:cNvSpPr txBox="1">
              <a:spLocks noChangeArrowheads="1"/>
            </p:cNvSpPr>
            <p:nvPr/>
          </p:nvSpPr>
          <p:spPr bwMode="auto">
            <a:xfrm>
              <a:off x="1256" y="714"/>
              <a:ext cx="19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fr-FR" altLang="fr-FR" sz="2000"/>
                <a:t>1</a:t>
              </a:r>
            </a:p>
          </p:txBody>
        </p:sp>
        <p:sp>
          <p:nvSpPr>
            <p:cNvPr id="19480" name="Oval 12"/>
            <p:cNvSpPr>
              <a:spLocks noChangeArrowheads="1"/>
            </p:cNvSpPr>
            <p:nvPr/>
          </p:nvSpPr>
          <p:spPr bwMode="auto">
            <a:xfrm>
              <a:off x="1443" y="799"/>
              <a:ext cx="90" cy="90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fr-FR" altLang="fr-FR" sz="2400"/>
            </a:p>
          </p:txBody>
        </p:sp>
        <p:sp>
          <p:nvSpPr>
            <p:cNvPr id="19481" name="Oval 13"/>
            <p:cNvSpPr>
              <a:spLocks noChangeArrowheads="1"/>
            </p:cNvSpPr>
            <p:nvPr/>
          </p:nvSpPr>
          <p:spPr bwMode="auto">
            <a:xfrm>
              <a:off x="1443" y="1347"/>
              <a:ext cx="90" cy="90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fr-FR" altLang="fr-FR" sz="2400"/>
            </a:p>
          </p:txBody>
        </p:sp>
        <p:sp>
          <p:nvSpPr>
            <p:cNvPr id="19482" name="Oval 14"/>
            <p:cNvSpPr>
              <a:spLocks noChangeArrowheads="1"/>
            </p:cNvSpPr>
            <p:nvPr/>
          </p:nvSpPr>
          <p:spPr bwMode="auto">
            <a:xfrm>
              <a:off x="1983" y="1347"/>
              <a:ext cx="90" cy="90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fr-FR" altLang="fr-FR" sz="2400"/>
            </a:p>
          </p:txBody>
        </p:sp>
        <p:sp>
          <p:nvSpPr>
            <p:cNvPr id="19483" name="Text Box 16"/>
            <p:cNvSpPr txBox="1">
              <a:spLocks noChangeArrowheads="1"/>
            </p:cNvSpPr>
            <p:nvPr/>
          </p:nvSpPr>
          <p:spPr bwMode="auto">
            <a:xfrm>
              <a:off x="1519" y="1171"/>
              <a:ext cx="16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fr-FR" altLang="fr-FR" sz="2000"/>
                <a:t>I</a:t>
              </a:r>
            </a:p>
          </p:txBody>
        </p:sp>
        <p:sp>
          <p:nvSpPr>
            <p:cNvPr id="19484" name="Text Box 17"/>
            <p:cNvSpPr txBox="1">
              <a:spLocks noChangeArrowheads="1"/>
            </p:cNvSpPr>
            <p:nvPr/>
          </p:nvSpPr>
          <p:spPr bwMode="auto">
            <a:xfrm>
              <a:off x="2044" y="1133"/>
              <a:ext cx="22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fr-FR" altLang="fr-FR" sz="2000"/>
                <a:t>II</a:t>
              </a:r>
            </a:p>
          </p:txBody>
        </p:sp>
        <p:sp>
          <p:nvSpPr>
            <p:cNvPr id="19485" name="Text Box 18"/>
            <p:cNvSpPr txBox="1">
              <a:spLocks noChangeArrowheads="1"/>
            </p:cNvSpPr>
            <p:nvPr/>
          </p:nvSpPr>
          <p:spPr bwMode="auto">
            <a:xfrm>
              <a:off x="1526" y="660"/>
              <a:ext cx="275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fr-FR" altLang="fr-FR" sz="2000"/>
                <a:t>III</a:t>
              </a:r>
            </a:p>
          </p:txBody>
        </p:sp>
        <p:sp>
          <p:nvSpPr>
            <p:cNvPr id="19486" name="Text Box 19"/>
            <p:cNvSpPr txBox="1">
              <a:spLocks noChangeArrowheads="1"/>
            </p:cNvSpPr>
            <p:nvPr/>
          </p:nvSpPr>
          <p:spPr bwMode="auto">
            <a:xfrm>
              <a:off x="1270" y="1411"/>
              <a:ext cx="19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fr-FR" altLang="fr-FR" sz="2000"/>
                <a:t>0</a:t>
              </a:r>
            </a:p>
          </p:txBody>
        </p:sp>
      </p:grpSp>
      <p:sp>
        <p:nvSpPr>
          <p:cNvPr id="19460" name="Freeform 22"/>
          <p:cNvSpPr>
            <a:spLocks/>
          </p:cNvSpPr>
          <p:nvPr/>
        </p:nvSpPr>
        <p:spPr bwMode="auto">
          <a:xfrm>
            <a:off x="528638" y="3573463"/>
            <a:ext cx="796925" cy="1657350"/>
          </a:xfrm>
          <a:custGeom>
            <a:avLst/>
            <a:gdLst>
              <a:gd name="T0" fmla="*/ 2147483646 w 502"/>
              <a:gd name="T1" fmla="*/ 0 h 1132"/>
              <a:gd name="T2" fmla="*/ 0 w 502"/>
              <a:gd name="T3" fmla="*/ 0 h 1132"/>
              <a:gd name="T4" fmla="*/ 0 w 502"/>
              <a:gd name="T5" fmla="*/ 2147483646 h 1132"/>
              <a:gd name="T6" fmla="*/ 2147483646 w 502"/>
              <a:gd name="T7" fmla="*/ 2147483646 h 1132"/>
              <a:gd name="T8" fmla="*/ 0 60000 65536"/>
              <a:gd name="T9" fmla="*/ 0 60000 65536"/>
              <a:gd name="T10" fmla="*/ 0 60000 65536"/>
              <a:gd name="T11" fmla="*/ 0 60000 65536"/>
              <a:gd name="T12" fmla="*/ 0 w 502"/>
              <a:gd name="T13" fmla="*/ 0 h 1132"/>
              <a:gd name="T14" fmla="*/ 502 w 502"/>
              <a:gd name="T15" fmla="*/ 1132 h 113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02" h="1132">
                <a:moveTo>
                  <a:pt x="180" y="0"/>
                </a:moveTo>
                <a:lnTo>
                  <a:pt x="0" y="0"/>
                </a:lnTo>
                <a:lnTo>
                  <a:pt x="0" y="1132"/>
                </a:lnTo>
                <a:lnTo>
                  <a:pt x="502" y="1132"/>
                </a:lnTo>
              </a:path>
            </a:pathLst>
          </a:custGeom>
          <a:noFill/>
          <a:ln w="9525">
            <a:solidFill>
              <a:srgbClr val="FF0000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fr-FR"/>
          </a:p>
        </p:txBody>
      </p:sp>
      <p:graphicFrame>
        <p:nvGraphicFramePr>
          <p:cNvPr id="19461" name="Object 23"/>
          <p:cNvGraphicFramePr>
            <a:graphicFrameLocks noChangeAspect="1"/>
          </p:cNvGraphicFramePr>
          <p:nvPr/>
        </p:nvGraphicFramePr>
        <p:xfrm>
          <a:off x="1763713" y="4797425"/>
          <a:ext cx="3890962" cy="1144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723" name="Equation" r:id="rId3" imgW="2159000" imgH="635000" progId="Equation.3">
                  <p:embed/>
                </p:oleObj>
              </mc:Choice>
              <mc:Fallback>
                <p:oleObj name="Equation" r:id="rId3" imgW="2159000" imgH="635000" progId="Equation.3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713" y="4797425"/>
                        <a:ext cx="3890962" cy="1144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2" name="Object 24"/>
          <p:cNvGraphicFramePr>
            <a:graphicFrameLocks noChangeAspect="1"/>
          </p:cNvGraphicFramePr>
          <p:nvPr/>
        </p:nvGraphicFramePr>
        <p:xfrm>
          <a:off x="6732588" y="4797425"/>
          <a:ext cx="2033587" cy="1233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724" name="Equation" r:id="rId5" imgW="1130300" imgH="685800" progId="Equation.3">
                  <p:embed/>
                </p:oleObj>
              </mc:Choice>
              <mc:Fallback>
                <p:oleObj name="Equation" r:id="rId5" imgW="1130300" imgH="685800" progId="Equation.3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32588" y="4797425"/>
                        <a:ext cx="2033587" cy="1233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63" name="AutoShape 25"/>
          <p:cNvSpPr>
            <a:spLocks/>
          </p:cNvSpPr>
          <p:nvPr/>
        </p:nvSpPr>
        <p:spPr bwMode="auto">
          <a:xfrm>
            <a:off x="1549400" y="4672013"/>
            <a:ext cx="74613" cy="1285875"/>
          </a:xfrm>
          <a:prstGeom prst="leftBracket">
            <a:avLst>
              <a:gd name="adj" fmla="val 143616"/>
            </a:avLst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fr-FR" altLang="fr-FR" sz="2400"/>
          </a:p>
        </p:txBody>
      </p:sp>
      <p:sp>
        <p:nvSpPr>
          <p:cNvPr id="19464" name="Rectangle 26"/>
          <p:cNvSpPr>
            <a:spLocks noChangeArrowheads="1"/>
          </p:cNvSpPr>
          <p:nvPr/>
        </p:nvSpPr>
        <p:spPr bwMode="auto">
          <a:xfrm>
            <a:off x="1116013" y="188913"/>
            <a:ext cx="60833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fr-FR" altLang="fr-FR" sz="2400">
                <a:solidFill>
                  <a:srgbClr val="FF0000"/>
                </a:solidFill>
                <a:latin typeface="Trebuchet MS" panose="020B0603020202020204" pitchFamily="34" charset="0"/>
              </a:rPr>
              <a:t>Polynômes d’interpolation dans un triangle</a:t>
            </a:r>
          </a:p>
        </p:txBody>
      </p:sp>
      <p:graphicFrame>
        <p:nvGraphicFramePr>
          <p:cNvPr id="19465" name="Object 27"/>
          <p:cNvGraphicFramePr>
            <a:graphicFrameLocks noChangeAspect="1"/>
          </p:cNvGraphicFramePr>
          <p:nvPr/>
        </p:nvGraphicFramePr>
        <p:xfrm>
          <a:off x="5335588" y="2593975"/>
          <a:ext cx="2578100" cy="40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725" name="Equation" r:id="rId7" imgW="1295400" imgH="203200" progId="Equation.3">
                  <p:embed/>
                </p:oleObj>
              </mc:Choice>
              <mc:Fallback>
                <p:oleObj name="Equation" r:id="rId7" imgW="1295400" imgH="203200" progId="Equation.3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5588" y="2593975"/>
                        <a:ext cx="2578100" cy="403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66" name="Text Box 28"/>
          <p:cNvSpPr txBox="1">
            <a:spLocks noChangeArrowheads="1"/>
          </p:cNvSpPr>
          <p:nvPr/>
        </p:nvSpPr>
        <p:spPr bwMode="auto">
          <a:xfrm>
            <a:off x="755650" y="2593975"/>
            <a:ext cx="40243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fr-FR" altLang="fr-FR" sz="2000">
                <a:latin typeface="Arial" panose="020B0604020202020204" pitchFamily="34" charset="0"/>
              </a:rPr>
              <a:t>Expression générale du polynôme</a:t>
            </a:r>
          </a:p>
        </p:txBody>
      </p:sp>
      <p:sp>
        <p:nvSpPr>
          <p:cNvPr id="19467" name="Text Box 29"/>
          <p:cNvSpPr txBox="1">
            <a:spLocks noChangeArrowheads="1"/>
          </p:cNvSpPr>
          <p:nvPr/>
        </p:nvSpPr>
        <p:spPr bwMode="auto">
          <a:xfrm>
            <a:off x="5867400" y="5205413"/>
            <a:ext cx="6159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fr-FR" altLang="fr-FR" sz="1800">
                <a:latin typeface="Arial" panose="020B0604020202020204" pitchFamily="34" charset="0"/>
              </a:rPr>
              <a:t>d’où</a:t>
            </a:r>
          </a:p>
        </p:txBody>
      </p:sp>
      <p:sp>
        <p:nvSpPr>
          <p:cNvPr id="19468" name="Rectangle 31"/>
          <p:cNvSpPr>
            <a:spLocks noChangeArrowheads="1"/>
          </p:cNvSpPr>
          <p:nvPr/>
        </p:nvSpPr>
        <p:spPr bwMode="auto">
          <a:xfrm>
            <a:off x="900113" y="3429000"/>
            <a:ext cx="5327650" cy="360363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fr-FR" altLang="fr-FR" sz="2400"/>
          </a:p>
        </p:txBody>
      </p:sp>
      <p:graphicFrame>
        <p:nvGraphicFramePr>
          <p:cNvPr id="19469" name="Object 32"/>
          <p:cNvGraphicFramePr>
            <a:graphicFrameLocks noChangeAspect="1"/>
          </p:cNvGraphicFramePr>
          <p:nvPr/>
        </p:nvGraphicFramePr>
        <p:xfrm>
          <a:off x="1701800" y="3068638"/>
          <a:ext cx="4957763" cy="190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726" name="Equation" r:id="rId9" imgW="2908300" imgH="1117600" progId="Equation.DSMT4">
                  <p:embed/>
                </p:oleObj>
              </mc:Choice>
              <mc:Fallback>
                <p:oleObj name="Equation" r:id="rId9" imgW="2908300" imgH="1117600" progId="Equation.DSMT4">
                  <p:embed/>
                  <p:pic>
                    <p:nvPicPr>
                      <p:cNvPr id="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01800" y="3068638"/>
                        <a:ext cx="4957763" cy="1905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70" name="Line 33"/>
          <p:cNvSpPr>
            <a:spLocks noChangeShapeType="1"/>
          </p:cNvSpPr>
          <p:nvPr/>
        </p:nvSpPr>
        <p:spPr bwMode="auto">
          <a:xfrm>
            <a:off x="1022350" y="3389313"/>
            <a:ext cx="51339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9471" name="Line 34"/>
          <p:cNvSpPr>
            <a:spLocks noChangeShapeType="1"/>
          </p:cNvSpPr>
          <p:nvPr/>
        </p:nvSpPr>
        <p:spPr bwMode="auto">
          <a:xfrm>
            <a:off x="2339975" y="3141663"/>
            <a:ext cx="0" cy="1511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9472" name="Espace réservé du numéro de diapositive 3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96A2A29-0A04-451E-BF3A-C66F18DD9D5B}" type="slidenum">
              <a:rPr lang="fr-FR" altLang="fr-FR" sz="1400"/>
              <a:pPr>
                <a:spcBef>
                  <a:spcPct val="0"/>
                </a:spcBef>
                <a:buFontTx/>
                <a:buNone/>
              </a:pPr>
              <a:t>17</a:t>
            </a:fld>
            <a:endParaRPr lang="fr-FR" altLang="fr-FR" sz="1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4"/>
          <p:cNvSpPr>
            <a:spLocks noChangeArrowheads="1"/>
          </p:cNvSpPr>
          <p:nvPr/>
        </p:nvSpPr>
        <p:spPr bwMode="auto">
          <a:xfrm>
            <a:off x="539750" y="188913"/>
            <a:ext cx="76120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fr-FR" altLang="fr-FR" sz="2400">
                <a:solidFill>
                  <a:srgbClr val="FF0000"/>
                </a:solidFill>
                <a:latin typeface="Trebuchet MS" panose="020B0603020202020204" pitchFamily="34" charset="0"/>
              </a:rPr>
              <a:t>Déterminant jacobien det J(u</a:t>
            </a:r>
            <a:r>
              <a:rPr lang="fr-FR" altLang="fr-FR" sz="2400" baseline="-25000">
                <a:solidFill>
                  <a:srgbClr val="FF0000"/>
                </a:solidFill>
                <a:latin typeface="Trebuchet MS" panose="020B0603020202020204" pitchFamily="34" charset="0"/>
              </a:rPr>
              <a:t>k</a:t>
            </a:r>
            <a:r>
              <a:rPr lang="fr-FR" altLang="fr-FR" sz="2400">
                <a:solidFill>
                  <a:srgbClr val="FF0000"/>
                </a:solidFill>
                <a:latin typeface="Trebuchet MS" panose="020B0603020202020204" pitchFamily="34" charset="0"/>
              </a:rPr>
              <a:t>,v</a:t>
            </a:r>
            <a:r>
              <a:rPr lang="fr-FR" altLang="fr-FR" sz="2400" baseline="-25000">
                <a:solidFill>
                  <a:srgbClr val="FF0000"/>
                </a:solidFill>
                <a:latin typeface="Trebuchet MS" panose="020B0603020202020204" pitchFamily="34" charset="0"/>
              </a:rPr>
              <a:t>k</a:t>
            </a:r>
            <a:r>
              <a:rPr lang="fr-FR" altLang="fr-FR" sz="2400">
                <a:solidFill>
                  <a:srgbClr val="FF0000"/>
                </a:solidFill>
                <a:latin typeface="Trebuchet MS" panose="020B0603020202020204" pitchFamily="34" charset="0"/>
              </a:rPr>
              <a:t>) aux points de Gauss</a:t>
            </a:r>
          </a:p>
        </p:txBody>
      </p:sp>
      <p:graphicFrame>
        <p:nvGraphicFramePr>
          <p:cNvPr id="22531" name="Object 24"/>
          <p:cNvGraphicFramePr>
            <a:graphicFrameLocks noChangeAspect="1"/>
          </p:cNvGraphicFramePr>
          <p:nvPr/>
        </p:nvGraphicFramePr>
        <p:xfrm>
          <a:off x="3132138" y="836613"/>
          <a:ext cx="2678112" cy="709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75" name="Equation" r:id="rId3" imgW="1485900" imgH="393700" progId="Equation.3">
                  <p:embed/>
                </p:oleObj>
              </mc:Choice>
              <mc:Fallback>
                <p:oleObj name="Equation" r:id="rId3" imgW="1485900" imgH="393700" progId="Equation.3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2138" y="836613"/>
                        <a:ext cx="2678112" cy="709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32" name="Text Box 25"/>
          <p:cNvSpPr txBox="1">
            <a:spLocks noChangeArrowheads="1"/>
          </p:cNvSpPr>
          <p:nvPr/>
        </p:nvSpPr>
        <p:spPr bwMode="auto">
          <a:xfrm>
            <a:off x="250825" y="1738313"/>
            <a:ext cx="8847138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fr-FR" altLang="fr-FR" sz="2000">
                <a:latin typeface="Arial" panose="020B0604020202020204" pitchFamily="34" charset="0"/>
              </a:rPr>
              <a:t>On utilise des éléments isoparamétriques (mêmes polynômes d’interpolation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fr-FR" altLang="fr-FR" sz="2000">
                <a:latin typeface="Arial" panose="020B0604020202020204" pitchFamily="34" charset="0"/>
              </a:rPr>
              <a:t>pour la grandeur que les transformations géométriques)</a:t>
            </a:r>
          </a:p>
        </p:txBody>
      </p:sp>
      <p:graphicFrame>
        <p:nvGraphicFramePr>
          <p:cNvPr id="22533" name="Object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99427338"/>
              </p:ext>
            </p:extLst>
          </p:nvPr>
        </p:nvGraphicFramePr>
        <p:xfrm>
          <a:off x="1982788" y="2506663"/>
          <a:ext cx="4687887" cy="777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76" name="Equation" r:id="rId5" imgW="2603160" imgH="431640" progId="Equation.DSMT4">
                  <p:embed/>
                </p:oleObj>
              </mc:Choice>
              <mc:Fallback>
                <p:oleObj name="Equation" r:id="rId5" imgW="2603160" imgH="431640" progId="Equation.DSMT4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2788" y="2506663"/>
                        <a:ext cx="4687887" cy="777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2534" name="Group 31"/>
          <p:cNvGrpSpPr>
            <a:grpSpLocks/>
          </p:cNvGrpSpPr>
          <p:nvPr/>
        </p:nvGrpSpPr>
        <p:grpSpPr bwMode="auto">
          <a:xfrm>
            <a:off x="1944688" y="3500440"/>
            <a:ext cx="5418137" cy="1931989"/>
            <a:chOff x="1225" y="2205"/>
            <a:chExt cx="3413" cy="1217"/>
          </a:xfrm>
        </p:grpSpPr>
        <p:graphicFrame>
          <p:nvGraphicFramePr>
            <p:cNvPr id="22537" name="Object 2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9174459"/>
                </p:ext>
              </p:extLst>
            </p:nvPr>
          </p:nvGraphicFramePr>
          <p:xfrm>
            <a:off x="1225" y="2205"/>
            <a:ext cx="3413" cy="49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777" name="Equation" r:id="rId7" imgW="3009600" imgH="431640" progId="Equation.DSMT4">
                    <p:embed/>
                  </p:oleObj>
                </mc:Choice>
                <mc:Fallback>
                  <p:oleObj name="Equation" r:id="rId7" imgW="3009600" imgH="431640" progId="Equation.DSMT4">
                    <p:embed/>
                    <p:pic>
                      <p:nvPicPr>
                        <p:cNvPr id="0" name="Object 2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25" y="2205"/>
                          <a:ext cx="3413" cy="490"/>
                        </a:xfrm>
                        <a:prstGeom prst="rect">
                          <a:avLst/>
                        </a:prstGeom>
                        <a:noFill/>
                        <a:ln w="28575">
                          <a:solidFill>
                            <a:srgbClr val="FF0000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538" name="Object 2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9122569"/>
                </p:ext>
              </p:extLst>
            </p:nvPr>
          </p:nvGraphicFramePr>
          <p:xfrm>
            <a:off x="1225" y="2931"/>
            <a:ext cx="3385" cy="49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778" name="Equation" r:id="rId9" imgW="2984400" imgH="431640" progId="Equation.DSMT4">
                    <p:embed/>
                  </p:oleObj>
                </mc:Choice>
                <mc:Fallback>
                  <p:oleObj name="Equation" r:id="rId9" imgW="2984400" imgH="431640" progId="Equation.DSMT4">
                    <p:embed/>
                    <p:pic>
                      <p:nvPicPr>
                        <p:cNvPr id="0" name="Object 2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25" y="2931"/>
                          <a:ext cx="3385" cy="491"/>
                        </a:xfrm>
                        <a:prstGeom prst="rect">
                          <a:avLst/>
                        </a:prstGeom>
                        <a:noFill/>
                        <a:ln w="28575">
                          <a:solidFill>
                            <a:srgbClr val="FF0000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2535" name="Rectangle 30"/>
          <p:cNvSpPr>
            <a:spLocks noChangeArrowheads="1"/>
          </p:cNvSpPr>
          <p:nvPr/>
        </p:nvSpPr>
        <p:spPr bwMode="auto">
          <a:xfrm>
            <a:off x="684213" y="5695950"/>
            <a:ext cx="56213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fr-FR" altLang="fr-FR" sz="2000">
                <a:latin typeface="Arial" panose="020B0604020202020204" pitchFamily="34" charset="0"/>
              </a:rPr>
              <a:t>Det J à calculer aux (NPI) points de Gauss u</a:t>
            </a:r>
            <a:r>
              <a:rPr lang="fr-FR" altLang="fr-FR" sz="2000" baseline="-25000">
                <a:latin typeface="Arial" panose="020B0604020202020204" pitchFamily="34" charset="0"/>
              </a:rPr>
              <a:t>k</a:t>
            </a:r>
            <a:r>
              <a:rPr lang="fr-FR" altLang="fr-FR" sz="2000">
                <a:latin typeface="Arial" panose="020B0604020202020204" pitchFamily="34" charset="0"/>
              </a:rPr>
              <a:t>,v</a:t>
            </a:r>
            <a:r>
              <a:rPr lang="fr-FR" altLang="fr-FR" sz="2000" baseline="-25000">
                <a:latin typeface="Arial" panose="020B0604020202020204" pitchFamily="34" charset="0"/>
              </a:rPr>
              <a:t>k</a:t>
            </a:r>
            <a:r>
              <a:rPr lang="fr-FR" altLang="fr-FR" sz="2000"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22536" name="Espace réservé du numéro de diapositive 1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B69CF23-AD5A-4233-93A3-DEB5D6F745DC}" type="slidenum">
              <a:rPr lang="fr-FR" altLang="fr-FR" sz="1400"/>
              <a:pPr>
                <a:spcBef>
                  <a:spcPct val="0"/>
                </a:spcBef>
                <a:buFontTx/>
                <a:buNone/>
              </a:pPr>
              <a:t>18</a:t>
            </a:fld>
            <a:endParaRPr lang="fr-FR" altLang="fr-FR" sz="1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55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54517780"/>
              </p:ext>
            </p:extLst>
          </p:nvPr>
        </p:nvGraphicFramePr>
        <p:xfrm>
          <a:off x="684213" y="1051595"/>
          <a:ext cx="1716087" cy="219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69" name="Equation" r:id="rId4" imgW="952087" imgH="1218671" progId="Equation.3">
                  <p:embed/>
                </p:oleObj>
              </mc:Choice>
              <mc:Fallback>
                <p:oleObj name="Equation" r:id="rId4" imgW="952087" imgH="1218671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213" y="1051595"/>
                        <a:ext cx="1716087" cy="219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82561237"/>
              </p:ext>
            </p:extLst>
          </p:nvPr>
        </p:nvGraphicFramePr>
        <p:xfrm>
          <a:off x="3708400" y="1051595"/>
          <a:ext cx="1760538" cy="2195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70" name="Equation" r:id="rId6" imgW="977900" imgH="1219200" progId="Equation.3">
                  <p:embed/>
                </p:oleObj>
              </mc:Choice>
              <mc:Fallback>
                <p:oleObj name="Equation" r:id="rId6" imgW="977900" imgH="12192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08400" y="1051595"/>
                        <a:ext cx="1760538" cy="2195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3558" name="Group 8"/>
          <p:cNvGrpSpPr>
            <a:grpSpLocks/>
          </p:cNvGrpSpPr>
          <p:nvPr/>
        </p:nvGrpSpPr>
        <p:grpSpPr bwMode="auto">
          <a:xfrm>
            <a:off x="6300788" y="908720"/>
            <a:ext cx="2146300" cy="1970088"/>
            <a:chOff x="514" y="4165"/>
            <a:chExt cx="1352" cy="1241"/>
          </a:xfrm>
        </p:grpSpPr>
        <p:sp>
          <p:nvSpPr>
            <p:cNvPr id="23578" name="Line 9"/>
            <p:cNvSpPr>
              <a:spLocks noChangeShapeType="1"/>
            </p:cNvSpPr>
            <p:nvPr/>
          </p:nvSpPr>
          <p:spPr bwMode="auto">
            <a:xfrm flipV="1">
              <a:off x="751" y="4416"/>
              <a:ext cx="0" cy="7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3579" name="Line 10"/>
            <p:cNvSpPr>
              <a:spLocks noChangeShapeType="1"/>
            </p:cNvSpPr>
            <p:nvPr/>
          </p:nvSpPr>
          <p:spPr bwMode="auto">
            <a:xfrm rot="5400000" flipV="1">
              <a:off x="1178" y="4720"/>
              <a:ext cx="6" cy="8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3580" name="Freeform 11"/>
            <p:cNvSpPr>
              <a:spLocks/>
            </p:cNvSpPr>
            <p:nvPr/>
          </p:nvSpPr>
          <p:spPr bwMode="auto">
            <a:xfrm rot="5400000" flipH="1">
              <a:off x="753" y="4594"/>
              <a:ext cx="571" cy="563"/>
            </a:xfrm>
            <a:custGeom>
              <a:avLst/>
              <a:gdLst>
                <a:gd name="T0" fmla="*/ 0 w 563"/>
                <a:gd name="T1" fmla="*/ 2158 h 450"/>
                <a:gd name="T2" fmla="*/ 0 w 563"/>
                <a:gd name="T3" fmla="*/ 0 h 450"/>
                <a:gd name="T4" fmla="*/ 621 w 563"/>
                <a:gd name="T5" fmla="*/ 2158 h 450"/>
                <a:gd name="T6" fmla="*/ 0 w 563"/>
                <a:gd name="T7" fmla="*/ 2158 h 45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63"/>
                <a:gd name="T13" fmla="*/ 0 h 450"/>
                <a:gd name="T14" fmla="*/ 563 w 563"/>
                <a:gd name="T15" fmla="*/ 450 h 45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63" h="450">
                  <a:moveTo>
                    <a:pt x="0" y="450"/>
                  </a:moveTo>
                  <a:lnTo>
                    <a:pt x="0" y="0"/>
                  </a:lnTo>
                  <a:lnTo>
                    <a:pt x="563" y="450"/>
                  </a:lnTo>
                  <a:lnTo>
                    <a:pt x="0" y="450"/>
                  </a:lnTo>
                  <a:close/>
                </a:path>
              </a:pathLst>
            </a:custGeom>
            <a:noFill/>
            <a:ln w="38100" cmpd="sng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3581" name="Text Box 12"/>
            <p:cNvSpPr txBox="1">
              <a:spLocks noChangeArrowheads="1"/>
            </p:cNvSpPr>
            <p:nvPr/>
          </p:nvSpPr>
          <p:spPr bwMode="auto">
            <a:xfrm>
              <a:off x="612" y="4165"/>
              <a:ext cx="19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fr-FR" altLang="fr-FR" sz="2000"/>
                <a:t>v</a:t>
              </a:r>
            </a:p>
          </p:txBody>
        </p:sp>
        <p:sp>
          <p:nvSpPr>
            <p:cNvPr id="23582" name="Text Box 13"/>
            <p:cNvSpPr txBox="1">
              <a:spLocks noChangeArrowheads="1"/>
            </p:cNvSpPr>
            <p:nvPr/>
          </p:nvSpPr>
          <p:spPr bwMode="auto">
            <a:xfrm>
              <a:off x="1670" y="5006"/>
              <a:ext cx="19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fr-FR" altLang="fr-FR" sz="2000"/>
                <a:t>u</a:t>
              </a:r>
            </a:p>
          </p:txBody>
        </p:sp>
        <p:sp>
          <p:nvSpPr>
            <p:cNvPr id="23583" name="Text Box 14"/>
            <p:cNvSpPr txBox="1">
              <a:spLocks noChangeArrowheads="1"/>
            </p:cNvSpPr>
            <p:nvPr/>
          </p:nvSpPr>
          <p:spPr bwMode="auto">
            <a:xfrm>
              <a:off x="1242" y="5156"/>
              <a:ext cx="19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fr-FR" altLang="fr-FR" sz="2000"/>
                <a:t>1</a:t>
              </a:r>
            </a:p>
          </p:txBody>
        </p:sp>
        <p:sp>
          <p:nvSpPr>
            <p:cNvPr id="23584" name="Text Box 15"/>
            <p:cNvSpPr txBox="1">
              <a:spLocks noChangeArrowheads="1"/>
            </p:cNvSpPr>
            <p:nvPr/>
          </p:nvSpPr>
          <p:spPr bwMode="auto">
            <a:xfrm>
              <a:off x="514" y="4466"/>
              <a:ext cx="19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fr-FR" altLang="fr-FR" sz="2000"/>
                <a:t>1</a:t>
              </a:r>
            </a:p>
          </p:txBody>
        </p:sp>
        <p:sp>
          <p:nvSpPr>
            <p:cNvPr id="23585" name="Oval 16"/>
            <p:cNvSpPr>
              <a:spLocks noChangeArrowheads="1"/>
            </p:cNvSpPr>
            <p:nvPr/>
          </p:nvSpPr>
          <p:spPr bwMode="auto">
            <a:xfrm>
              <a:off x="701" y="4551"/>
              <a:ext cx="90" cy="90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fr-FR" altLang="fr-FR" sz="2400"/>
            </a:p>
          </p:txBody>
        </p:sp>
        <p:sp>
          <p:nvSpPr>
            <p:cNvPr id="23586" name="Oval 17"/>
            <p:cNvSpPr>
              <a:spLocks noChangeArrowheads="1"/>
            </p:cNvSpPr>
            <p:nvPr/>
          </p:nvSpPr>
          <p:spPr bwMode="auto">
            <a:xfrm>
              <a:off x="701" y="5099"/>
              <a:ext cx="90" cy="90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fr-FR" altLang="fr-FR" sz="2400"/>
            </a:p>
          </p:txBody>
        </p:sp>
        <p:sp>
          <p:nvSpPr>
            <p:cNvPr id="23587" name="Oval 18"/>
            <p:cNvSpPr>
              <a:spLocks noChangeArrowheads="1"/>
            </p:cNvSpPr>
            <p:nvPr/>
          </p:nvSpPr>
          <p:spPr bwMode="auto">
            <a:xfrm>
              <a:off x="1241" y="5099"/>
              <a:ext cx="90" cy="90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fr-FR" altLang="fr-FR" sz="2400"/>
            </a:p>
          </p:txBody>
        </p:sp>
        <p:sp>
          <p:nvSpPr>
            <p:cNvPr id="23588" name="Oval 19"/>
            <p:cNvSpPr>
              <a:spLocks noChangeArrowheads="1"/>
            </p:cNvSpPr>
            <p:nvPr/>
          </p:nvSpPr>
          <p:spPr bwMode="auto">
            <a:xfrm>
              <a:off x="1046" y="5024"/>
              <a:ext cx="68" cy="68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fr-FR" altLang="fr-FR" sz="2400"/>
            </a:p>
          </p:txBody>
        </p:sp>
        <p:sp>
          <p:nvSpPr>
            <p:cNvPr id="23589" name="Oval 20"/>
            <p:cNvSpPr>
              <a:spLocks noChangeArrowheads="1"/>
            </p:cNvSpPr>
            <p:nvPr/>
          </p:nvSpPr>
          <p:spPr bwMode="auto">
            <a:xfrm>
              <a:off x="828" y="5022"/>
              <a:ext cx="68" cy="68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fr-FR" altLang="fr-FR" sz="2400"/>
            </a:p>
          </p:txBody>
        </p:sp>
        <p:sp>
          <p:nvSpPr>
            <p:cNvPr id="23590" name="Oval 21"/>
            <p:cNvSpPr>
              <a:spLocks noChangeArrowheads="1"/>
            </p:cNvSpPr>
            <p:nvPr/>
          </p:nvSpPr>
          <p:spPr bwMode="auto">
            <a:xfrm>
              <a:off x="821" y="4814"/>
              <a:ext cx="68" cy="68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fr-FR" altLang="fr-FR" sz="2400"/>
            </a:p>
          </p:txBody>
        </p:sp>
      </p:grpSp>
      <p:sp>
        <p:nvSpPr>
          <p:cNvPr id="23561" name="Rectangle 39"/>
          <p:cNvSpPr>
            <a:spLocks noChangeArrowheads="1"/>
          </p:cNvSpPr>
          <p:nvPr/>
        </p:nvSpPr>
        <p:spPr bwMode="auto">
          <a:xfrm>
            <a:off x="684213" y="188913"/>
            <a:ext cx="567174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fr-FR" altLang="fr-FR" sz="2400" dirty="0" smtClean="0">
                <a:solidFill>
                  <a:srgbClr val="FF0000"/>
                </a:solidFill>
                <a:latin typeface="Trebuchet MS" panose="020B0603020202020204" pitchFamily="34" charset="0"/>
              </a:rPr>
              <a:t>Dérivées des polynômes P1 de Lagrange</a:t>
            </a:r>
            <a:endParaRPr lang="fr-FR" altLang="fr-FR" sz="2400" dirty="0">
              <a:solidFill>
                <a:srgbClr val="FF0000"/>
              </a:solidFill>
              <a:latin typeface="Trebuchet MS" panose="020B0603020202020204" pitchFamily="34" charset="0"/>
            </a:endParaRPr>
          </a:p>
        </p:txBody>
      </p:sp>
      <p:sp>
        <p:nvSpPr>
          <p:cNvPr id="23563" name="Espace réservé du numéro de diapositive 39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01258AD-24A3-4FA7-9688-66F3093B17B4}" type="slidenum">
              <a:rPr lang="fr-FR" altLang="fr-FR" sz="1400"/>
              <a:pPr>
                <a:spcBef>
                  <a:spcPct val="0"/>
                </a:spcBef>
                <a:buFontTx/>
                <a:buNone/>
              </a:pPr>
              <a:t>19</a:t>
            </a:fld>
            <a:endParaRPr lang="fr-FR" altLang="fr-FR" sz="1400"/>
          </a:p>
        </p:txBody>
      </p:sp>
      <p:pic>
        <p:nvPicPr>
          <p:cNvPr id="6" name="Image 5" descr="\documentclass{article}&#10;\usepackage{amsmath}&#10;\pagestyle{empty}&#10;\begin{document}&#10;&#10;On remarque que, dans le cas de triangles P1, les dérivées des polynômes d'interpolation de Lagrange sont constants par élément et ne dépendent pas du point d'intégration $k$. Il en est de même pour la jacobienne et son déterminant. \\&#10;&#10;Attention, ce n'est plus le cas pour les éléments P2&#10;de Lagrange.&#10;&#10;&#10;\end{document}" title="IguanaTex Bitmap Display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577" y="3405800"/>
            <a:ext cx="8716189" cy="144457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8" name="Picture 4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5736" y="3178175"/>
            <a:ext cx="4251325" cy="3354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579" name="Rectangle 2"/>
          <p:cNvSpPr>
            <a:spLocks noChangeArrowheads="1"/>
          </p:cNvSpPr>
          <p:nvPr/>
        </p:nvSpPr>
        <p:spPr bwMode="auto">
          <a:xfrm>
            <a:off x="395288" y="836613"/>
            <a:ext cx="8640762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fr-FR" altLang="fr-FR" sz="2000">
                <a:latin typeface="Arial" panose="020B0604020202020204" pitchFamily="34" charset="0"/>
              </a:rPr>
              <a:t>Problématique: calcul de la hauteur moyenne de pluie tombée sur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fr-FR" altLang="fr-FR" sz="2000">
                <a:latin typeface="Arial" panose="020B0604020202020204" pitchFamily="34" charset="0"/>
              </a:rPr>
              <a:t>une région</a:t>
            </a:r>
          </a:p>
        </p:txBody>
      </p:sp>
      <p:graphicFrame>
        <p:nvGraphicFramePr>
          <p:cNvPr id="24580" name="Object 43"/>
          <p:cNvGraphicFramePr>
            <a:graphicFrameLocks noChangeAspect="1"/>
          </p:cNvGraphicFramePr>
          <p:nvPr/>
        </p:nvGraphicFramePr>
        <p:xfrm>
          <a:off x="2843213" y="1484313"/>
          <a:ext cx="2665412" cy="1074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45" name="Equation" r:id="rId4" imgW="1447172" imgH="583947" progId="Equation.3">
                  <p:embed/>
                </p:oleObj>
              </mc:Choice>
              <mc:Fallback>
                <p:oleObj name="Equation" r:id="rId4" imgW="1447172" imgH="583947" progId="Equation.3">
                  <p:embed/>
                  <p:pic>
                    <p:nvPicPr>
                      <p:cNvPr id="0" name="Object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3213" y="1484313"/>
                        <a:ext cx="2665412" cy="1074737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81" name="Text Box 44"/>
          <p:cNvSpPr txBox="1">
            <a:spLocks noChangeArrowheads="1"/>
          </p:cNvSpPr>
          <p:nvPr/>
        </p:nvSpPr>
        <p:spPr bwMode="auto">
          <a:xfrm>
            <a:off x="539750" y="2781300"/>
            <a:ext cx="465890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fr-FR" altLang="fr-FR" sz="2000" dirty="0">
                <a:latin typeface="Arial" panose="020B0604020202020204" pitchFamily="34" charset="0"/>
              </a:rPr>
              <a:t>A partir d’une discrétisation en </a:t>
            </a:r>
            <a:r>
              <a:rPr lang="fr-FR" altLang="fr-FR" sz="2000" dirty="0" smtClean="0">
                <a:latin typeface="Arial" panose="020B0604020202020204" pitchFamily="34" charset="0"/>
              </a:rPr>
              <a:t>triangles</a:t>
            </a:r>
            <a:endParaRPr lang="fr-FR" altLang="fr-FR" sz="2000" dirty="0">
              <a:latin typeface="Arial" panose="020B0604020202020204" pitchFamily="34" charset="0"/>
            </a:endParaRPr>
          </a:p>
        </p:txBody>
      </p:sp>
      <p:sp>
        <p:nvSpPr>
          <p:cNvPr id="24582" name="Text Box 46"/>
          <p:cNvSpPr txBox="1">
            <a:spLocks noChangeArrowheads="1"/>
          </p:cNvSpPr>
          <p:nvPr/>
        </p:nvSpPr>
        <p:spPr bwMode="auto">
          <a:xfrm>
            <a:off x="611188" y="260350"/>
            <a:ext cx="21986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fr-FR" altLang="fr-FR" sz="2400">
                <a:solidFill>
                  <a:srgbClr val="FF0000"/>
                </a:solidFill>
                <a:latin typeface="Arial" panose="020B0604020202020204" pitchFamily="34" charset="0"/>
              </a:rPr>
              <a:t>APPLICATION</a:t>
            </a:r>
          </a:p>
        </p:txBody>
      </p:sp>
      <p:sp>
        <p:nvSpPr>
          <p:cNvPr id="24584" name="Espace réservé du numéro de diapositive 9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8F6DFBC-2814-4A09-A669-B5B3D1F0D02B}" type="slidenum">
              <a:rPr lang="fr-FR" altLang="fr-FR" sz="1400"/>
              <a:pPr>
                <a:spcBef>
                  <a:spcPct val="0"/>
                </a:spcBef>
                <a:buFontTx/>
                <a:buNone/>
              </a:pPr>
              <a:t>20</a:t>
            </a:fld>
            <a:endParaRPr lang="fr-FR" altLang="fr-FR" sz="1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107504" y="32419"/>
            <a:ext cx="8924238" cy="65556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b="1" dirty="0">
                <a:solidFill>
                  <a:srgbClr val="028009"/>
                </a:solidFill>
                <a:latin typeface="Courier New" panose="02070309020205020404" pitchFamily="49" charset="0"/>
              </a:rPr>
              <a:t>% INTEGRATION NUMERIQUE - METHODE DE GAUSS - INTERPOLATION PAR</a:t>
            </a:r>
            <a:endParaRPr lang="fr-FR" sz="1200" dirty="0">
              <a:solidFill>
                <a:srgbClr val="028009"/>
              </a:solidFill>
              <a:latin typeface="Courier New" panose="02070309020205020404" pitchFamily="49" charset="0"/>
            </a:endParaRPr>
          </a:p>
          <a:p>
            <a:r>
              <a:rPr lang="fr-FR" sz="1200" b="1" dirty="0">
                <a:solidFill>
                  <a:srgbClr val="028009"/>
                </a:solidFill>
                <a:latin typeface="Courier New" panose="02070309020205020404" pitchFamily="49" charset="0"/>
              </a:rPr>
              <a:t>% POLYNOMES DE LAGRANGE - ORDRE 1 SUR TRIANGLE</a:t>
            </a:r>
            <a:endParaRPr lang="fr-FR" sz="1200" dirty="0">
              <a:solidFill>
                <a:srgbClr val="028009"/>
              </a:solidFill>
              <a:latin typeface="Courier New" panose="02070309020205020404" pitchFamily="49" charset="0"/>
            </a:endParaRPr>
          </a:p>
          <a:p>
            <a:r>
              <a:rPr lang="fr-FR" sz="1200" b="1" dirty="0">
                <a:solidFill>
                  <a:srgbClr val="028009"/>
                </a:solidFill>
                <a:latin typeface="Courier New" panose="02070309020205020404" pitchFamily="49" charset="0"/>
              </a:rPr>
              <a:t>% 1 OU 3 POINTS D INTEGRATION SUR TRIANGLE</a:t>
            </a:r>
            <a:endParaRPr lang="fr-FR" sz="1200" dirty="0">
              <a:solidFill>
                <a:srgbClr val="028009"/>
              </a:solidFill>
              <a:latin typeface="Courier New" panose="02070309020205020404" pitchFamily="49" charset="0"/>
            </a:endParaRPr>
          </a:p>
          <a:p>
            <a:r>
              <a:rPr lang="fr-FR" sz="1200" b="1" dirty="0">
                <a:solidFill>
                  <a:srgbClr val="028009"/>
                </a:solidFill>
                <a:latin typeface="Courier New" panose="02070309020205020404" pitchFamily="49" charset="0"/>
              </a:rPr>
              <a:t>% PROGRAMME DE CALCUL DE LA HAUTEUR MOYENNE DE PRECIPITATION</a:t>
            </a:r>
            <a:endParaRPr lang="fr-FR" sz="1200" dirty="0">
              <a:solidFill>
                <a:srgbClr val="028009"/>
              </a:solidFill>
              <a:latin typeface="Courier New" panose="02070309020205020404" pitchFamily="49" charset="0"/>
            </a:endParaRPr>
          </a:p>
          <a:p>
            <a:r>
              <a:rPr lang="fr-FR" sz="1200" b="1" dirty="0">
                <a:solidFill>
                  <a:srgbClr val="028009"/>
                </a:solidFill>
                <a:latin typeface="Courier New" panose="02070309020205020404" pitchFamily="49" charset="0"/>
              </a:rPr>
              <a:t>%</a:t>
            </a:r>
            <a:endParaRPr lang="fr-FR" sz="1200" dirty="0">
              <a:solidFill>
                <a:srgbClr val="028009"/>
              </a:solidFill>
              <a:latin typeface="Courier New" panose="02070309020205020404" pitchFamily="49" charset="0"/>
            </a:endParaRPr>
          </a:p>
          <a:p>
            <a:r>
              <a:rPr lang="fr-FR" sz="1200" b="1" dirty="0">
                <a:solidFill>
                  <a:srgbClr val="028009"/>
                </a:solidFill>
                <a:latin typeface="Courier New" panose="02070309020205020404" pitchFamily="49" charset="0"/>
              </a:rPr>
              <a:t>%Les 2 structures de </a:t>
            </a:r>
            <a:r>
              <a:rPr lang="fr-FR" sz="1200" b="1" dirty="0" err="1">
                <a:solidFill>
                  <a:srgbClr val="028009"/>
                </a:solidFill>
                <a:latin typeface="Courier New" panose="02070309020205020404" pitchFamily="49" charset="0"/>
              </a:rPr>
              <a:t>donnees</a:t>
            </a:r>
            <a:r>
              <a:rPr lang="fr-FR" sz="1200" b="1" dirty="0">
                <a:solidFill>
                  <a:srgbClr val="028009"/>
                </a:solidFill>
                <a:latin typeface="Courier New" panose="02070309020205020404" pitchFamily="49" charset="0"/>
              </a:rPr>
              <a:t> du programme : </a:t>
            </a:r>
            <a:endParaRPr lang="fr-FR" sz="1200" dirty="0">
              <a:solidFill>
                <a:srgbClr val="028009"/>
              </a:solidFill>
              <a:latin typeface="Courier New" panose="02070309020205020404" pitchFamily="49" charset="0"/>
            </a:endParaRPr>
          </a:p>
          <a:p>
            <a:r>
              <a:rPr lang="fr-FR" sz="1200" b="1" dirty="0">
                <a:solidFill>
                  <a:srgbClr val="028009"/>
                </a:solidFill>
                <a:latin typeface="Courier New" panose="02070309020205020404" pitchFamily="49" charset="0"/>
              </a:rPr>
              <a:t>%</a:t>
            </a:r>
            <a:r>
              <a:rPr lang="fr-FR" sz="1200" b="1" dirty="0" err="1">
                <a:solidFill>
                  <a:srgbClr val="028009"/>
                </a:solidFill>
                <a:latin typeface="Courier New" panose="02070309020205020404" pitchFamily="49" charset="0"/>
              </a:rPr>
              <a:t>fem</a:t>
            </a:r>
            <a:r>
              <a:rPr lang="fr-FR" sz="1200" b="1" dirty="0">
                <a:solidFill>
                  <a:srgbClr val="028009"/>
                </a:solidFill>
                <a:latin typeface="Courier New" panose="02070309020205020404" pitchFamily="49" charset="0"/>
              </a:rPr>
              <a:t> et gauss   </a:t>
            </a:r>
            <a:endParaRPr lang="fr-FR" sz="1200" dirty="0">
              <a:solidFill>
                <a:srgbClr val="028009"/>
              </a:solidFill>
              <a:latin typeface="Courier New" panose="02070309020205020404" pitchFamily="49" charset="0"/>
            </a:endParaRPr>
          </a:p>
          <a:p>
            <a:r>
              <a:rPr lang="fr-FR" sz="1200" b="1" dirty="0">
                <a:solidFill>
                  <a:srgbClr val="028009"/>
                </a:solidFill>
                <a:latin typeface="Courier New" panose="02070309020205020404" pitchFamily="49" charset="0"/>
              </a:rPr>
              <a:t>%</a:t>
            </a:r>
            <a:endParaRPr lang="fr-FR" sz="1200" dirty="0">
              <a:solidFill>
                <a:srgbClr val="028009"/>
              </a:solidFill>
              <a:latin typeface="Courier New" panose="02070309020205020404" pitchFamily="49" charset="0"/>
            </a:endParaRPr>
          </a:p>
          <a:p>
            <a:r>
              <a:rPr lang="fr-FR" sz="1200" b="1" dirty="0">
                <a:solidFill>
                  <a:srgbClr val="028009"/>
                </a:solidFill>
                <a:latin typeface="Courier New" panose="02070309020205020404" pitchFamily="49" charset="0"/>
              </a:rPr>
              <a:t>%La structure </a:t>
            </a:r>
            <a:r>
              <a:rPr lang="fr-FR" sz="1200" b="1" dirty="0" err="1">
                <a:solidFill>
                  <a:srgbClr val="028009"/>
                </a:solidFill>
                <a:latin typeface="Courier New" panose="02070309020205020404" pitchFamily="49" charset="0"/>
              </a:rPr>
              <a:t>fem</a:t>
            </a:r>
            <a:endParaRPr lang="fr-FR" sz="1200" dirty="0">
              <a:solidFill>
                <a:srgbClr val="028009"/>
              </a:solidFill>
              <a:latin typeface="Courier New" panose="02070309020205020404" pitchFamily="49" charset="0"/>
            </a:endParaRPr>
          </a:p>
          <a:p>
            <a:r>
              <a:rPr lang="fr-FR" sz="1200" b="1" dirty="0">
                <a:solidFill>
                  <a:srgbClr val="028009"/>
                </a:solidFill>
                <a:latin typeface="Courier New" panose="02070309020205020404" pitchFamily="49" charset="0"/>
              </a:rPr>
              <a:t>%----------------</a:t>
            </a:r>
            <a:endParaRPr lang="fr-FR" sz="1200" dirty="0">
              <a:solidFill>
                <a:srgbClr val="028009"/>
              </a:solidFill>
              <a:latin typeface="Courier New" panose="02070309020205020404" pitchFamily="49" charset="0"/>
            </a:endParaRPr>
          </a:p>
          <a:p>
            <a:r>
              <a:rPr lang="fr-FR" sz="1200" b="1" dirty="0">
                <a:solidFill>
                  <a:srgbClr val="028009"/>
                </a:solidFill>
                <a:latin typeface="Courier New" panose="02070309020205020404" pitchFamily="49" charset="0"/>
              </a:rPr>
              <a:t>%fem.NP : nombre de </a:t>
            </a:r>
            <a:r>
              <a:rPr lang="fr-FR" sz="1200" b="1" dirty="0" err="1">
                <a:solidFill>
                  <a:srgbClr val="028009"/>
                </a:solidFill>
                <a:latin typeface="Courier New" panose="02070309020205020404" pitchFamily="49" charset="0"/>
              </a:rPr>
              <a:t>noeuds</a:t>
            </a:r>
            <a:r>
              <a:rPr lang="fr-FR" sz="1200" b="1" dirty="0">
                <a:solidFill>
                  <a:srgbClr val="028009"/>
                </a:solidFill>
                <a:latin typeface="Courier New" panose="02070309020205020404" pitchFamily="49" charset="0"/>
              </a:rPr>
              <a:t> du maillage</a:t>
            </a:r>
            <a:endParaRPr lang="fr-FR" sz="1200" dirty="0">
              <a:solidFill>
                <a:srgbClr val="028009"/>
              </a:solidFill>
              <a:latin typeface="Courier New" panose="02070309020205020404" pitchFamily="49" charset="0"/>
            </a:endParaRPr>
          </a:p>
          <a:p>
            <a:r>
              <a:rPr lang="fr-FR" sz="1200" b="1" dirty="0">
                <a:solidFill>
                  <a:srgbClr val="028009"/>
                </a:solidFill>
                <a:latin typeface="Courier New" panose="02070309020205020404" pitchFamily="49" charset="0"/>
              </a:rPr>
              <a:t>%</a:t>
            </a:r>
            <a:r>
              <a:rPr lang="fr-FR" sz="1200" b="1" dirty="0" err="1">
                <a:solidFill>
                  <a:srgbClr val="028009"/>
                </a:solidFill>
                <a:latin typeface="Courier New" panose="02070309020205020404" pitchFamily="49" charset="0"/>
              </a:rPr>
              <a:t>fem.noeud</a:t>
            </a:r>
            <a:r>
              <a:rPr lang="fr-FR" sz="1200" b="1" dirty="0">
                <a:solidFill>
                  <a:srgbClr val="028009"/>
                </a:solidFill>
                <a:latin typeface="Courier New" panose="02070309020205020404" pitchFamily="49" charset="0"/>
              </a:rPr>
              <a:t>(</a:t>
            </a:r>
            <a:r>
              <a:rPr lang="fr-FR" sz="1200" b="1" dirty="0" err="1">
                <a:solidFill>
                  <a:srgbClr val="028009"/>
                </a:solidFill>
                <a:latin typeface="Courier New" panose="02070309020205020404" pitchFamily="49" charset="0"/>
              </a:rPr>
              <a:t>np</a:t>
            </a:r>
            <a:r>
              <a:rPr lang="fr-FR" sz="1200" b="1" dirty="0">
                <a:solidFill>
                  <a:srgbClr val="028009"/>
                </a:solidFill>
                <a:latin typeface="Courier New" panose="02070309020205020404" pitchFamily="49" charset="0"/>
              </a:rPr>
              <a:t>).x    : Abscisse du </a:t>
            </a:r>
            <a:r>
              <a:rPr lang="fr-FR" sz="1200" b="1" dirty="0" err="1">
                <a:solidFill>
                  <a:srgbClr val="028009"/>
                </a:solidFill>
                <a:latin typeface="Courier New" panose="02070309020205020404" pitchFamily="49" charset="0"/>
              </a:rPr>
              <a:t>noeud</a:t>
            </a:r>
            <a:r>
              <a:rPr lang="fr-FR" sz="1200" b="1" dirty="0">
                <a:solidFill>
                  <a:srgbClr val="028009"/>
                </a:solidFill>
                <a:latin typeface="Courier New" panose="02070309020205020404" pitchFamily="49" charset="0"/>
              </a:rPr>
              <a:t> </a:t>
            </a:r>
            <a:r>
              <a:rPr lang="fr-FR" sz="1200" b="1" dirty="0" err="1">
                <a:solidFill>
                  <a:srgbClr val="028009"/>
                </a:solidFill>
                <a:latin typeface="Courier New" panose="02070309020205020404" pitchFamily="49" charset="0"/>
              </a:rPr>
              <a:t>numero</a:t>
            </a:r>
            <a:r>
              <a:rPr lang="fr-FR" sz="1200" b="1" dirty="0">
                <a:solidFill>
                  <a:srgbClr val="028009"/>
                </a:solidFill>
                <a:latin typeface="Courier New" panose="02070309020205020404" pitchFamily="49" charset="0"/>
              </a:rPr>
              <a:t> </a:t>
            </a:r>
            <a:r>
              <a:rPr lang="fr-FR" sz="1200" b="1" dirty="0" err="1">
                <a:solidFill>
                  <a:srgbClr val="028009"/>
                </a:solidFill>
                <a:latin typeface="Courier New" panose="02070309020205020404" pitchFamily="49" charset="0"/>
              </a:rPr>
              <a:t>np</a:t>
            </a:r>
            <a:r>
              <a:rPr lang="fr-FR" sz="1200" b="1" dirty="0">
                <a:solidFill>
                  <a:srgbClr val="028009"/>
                </a:solidFill>
                <a:latin typeface="Courier New" panose="02070309020205020404" pitchFamily="49" charset="0"/>
              </a:rPr>
              <a:t> in [1, fem.NP]</a:t>
            </a:r>
            <a:endParaRPr lang="fr-FR" sz="1200" dirty="0">
              <a:solidFill>
                <a:srgbClr val="028009"/>
              </a:solidFill>
              <a:latin typeface="Courier New" panose="02070309020205020404" pitchFamily="49" charset="0"/>
            </a:endParaRPr>
          </a:p>
          <a:p>
            <a:r>
              <a:rPr lang="fr-FR" sz="1200" b="1" dirty="0">
                <a:solidFill>
                  <a:srgbClr val="028009"/>
                </a:solidFill>
                <a:latin typeface="Courier New" panose="02070309020205020404" pitchFamily="49" charset="0"/>
              </a:rPr>
              <a:t>%</a:t>
            </a:r>
            <a:endParaRPr lang="fr-FR" sz="1200" dirty="0">
              <a:solidFill>
                <a:srgbClr val="028009"/>
              </a:solidFill>
              <a:latin typeface="Courier New" panose="02070309020205020404" pitchFamily="49" charset="0"/>
            </a:endParaRPr>
          </a:p>
          <a:p>
            <a:r>
              <a:rPr lang="fr-FR" sz="1200" b="1" dirty="0">
                <a:solidFill>
                  <a:srgbClr val="028009"/>
                </a:solidFill>
                <a:latin typeface="Courier New" panose="02070309020205020404" pitchFamily="49" charset="0"/>
              </a:rPr>
              <a:t>%fem.NE : nombre total d'éléments finis</a:t>
            </a:r>
            <a:endParaRPr lang="fr-FR" sz="1200" dirty="0">
              <a:solidFill>
                <a:srgbClr val="028009"/>
              </a:solidFill>
              <a:latin typeface="Courier New" panose="02070309020205020404" pitchFamily="49" charset="0"/>
            </a:endParaRPr>
          </a:p>
          <a:p>
            <a:r>
              <a:rPr lang="fr-FR" sz="1200" b="1" dirty="0">
                <a:solidFill>
                  <a:srgbClr val="028009"/>
                </a:solidFill>
                <a:latin typeface="Courier New" panose="02070309020205020404" pitchFamily="49" charset="0"/>
              </a:rPr>
              <a:t>%</a:t>
            </a:r>
            <a:r>
              <a:rPr lang="fr-FR" sz="1200" b="1" dirty="0" err="1">
                <a:solidFill>
                  <a:srgbClr val="028009"/>
                </a:solidFill>
                <a:latin typeface="Courier New" panose="02070309020205020404" pitchFamily="49" charset="0"/>
              </a:rPr>
              <a:t>fem.elt</a:t>
            </a:r>
            <a:r>
              <a:rPr lang="fr-FR" sz="1200" b="1" dirty="0">
                <a:solidFill>
                  <a:srgbClr val="028009"/>
                </a:solidFill>
                <a:latin typeface="Courier New" panose="02070309020205020404" pitchFamily="49" charset="0"/>
              </a:rPr>
              <a:t>(ne).</a:t>
            </a:r>
            <a:r>
              <a:rPr lang="fr-FR" sz="1200" b="1" dirty="0" smtClean="0">
                <a:solidFill>
                  <a:srgbClr val="028009"/>
                </a:solidFill>
                <a:latin typeface="Courier New" panose="02070309020205020404" pitchFamily="49" charset="0"/>
              </a:rPr>
              <a:t>NBN : nombre de nœuds de l’</a:t>
            </a:r>
            <a:r>
              <a:rPr lang="fr-FR" sz="1200" b="1" dirty="0" err="1" smtClean="0">
                <a:solidFill>
                  <a:srgbClr val="028009"/>
                </a:solidFill>
                <a:latin typeface="Courier New" panose="02070309020205020404" pitchFamily="49" charset="0"/>
              </a:rPr>
              <a:t>element</a:t>
            </a:r>
            <a:r>
              <a:rPr lang="fr-FR" sz="1200" b="1" dirty="0" smtClean="0">
                <a:solidFill>
                  <a:srgbClr val="028009"/>
                </a:solidFill>
                <a:latin typeface="Courier New" panose="02070309020205020404" pitchFamily="49" charset="0"/>
              </a:rPr>
              <a:t> ne</a:t>
            </a:r>
            <a:endParaRPr lang="fr-FR" sz="1200" dirty="0">
              <a:solidFill>
                <a:srgbClr val="028009"/>
              </a:solidFill>
              <a:latin typeface="Courier New" panose="02070309020205020404" pitchFamily="49" charset="0"/>
            </a:endParaRPr>
          </a:p>
          <a:p>
            <a:r>
              <a:rPr lang="fr-FR" sz="1200" b="1" dirty="0">
                <a:solidFill>
                  <a:srgbClr val="028009"/>
                </a:solidFill>
                <a:latin typeface="Courier New" panose="02070309020205020404" pitchFamily="49" charset="0"/>
              </a:rPr>
              <a:t>%</a:t>
            </a:r>
            <a:r>
              <a:rPr lang="fr-FR" sz="1200" b="1" dirty="0" err="1">
                <a:solidFill>
                  <a:srgbClr val="028009"/>
                </a:solidFill>
                <a:latin typeface="Courier New" panose="02070309020205020404" pitchFamily="49" charset="0"/>
              </a:rPr>
              <a:t>fem.elt</a:t>
            </a:r>
            <a:r>
              <a:rPr lang="fr-FR" sz="1200" b="1" dirty="0">
                <a:solidFill>
                  <a:srgbClr val="028009"/>
                </a:solidFill>
                <a:latin typeface="Courier New" panose="02070309020205020404" pitchFamily="49" charset="0"/>
              </a:rPr>
              <a:t>(ne).</a:t>
            </a:r>
            <a:r>
              <a:rPr lang="fr-FR" sz="1200" b="1" dirty="0" err="1">
                <a:solidFill>
                  <a:srgbClr val="028009"/>
                </a:solidFill>
                <a:latin typeface="Courier New" panose="02070309020205020404" pitchFamily="49" charset="0"/>
              </a:rPr>
              <a:t>ind</a:t>
            </a:r>
            <a:r>
              <a:rPr lang="fr-FR" sz="1200" b="1" dirty="0">
                <a:solidFill>
                  <a:srgbClr val="028009"/>
                </a:solidFill>
                <a:latin typeface="Courier New" panose="02070309020205020404" pitchFamily="49" charset="0"/>
              </a:rPr>
              <a:t>(</a:t>
            </a:r>
            <a:r>
              <a:rPr lang="fr-FR" sz="1200" b="1" dirty="0" err="1">
                <a:solidFill>
                  <a:srgbClr val="028009"/>
                </a:solidFill>
                <a:latin typeface="Courier New" panose="02070309020205020404" pitchFamily="49" charset="0"/>
              </a:rPr>
              <a:t>ie</a:t>
            </a:r>
            <a:r>
              <a:rPr lang="fr-FR" sz="1200" b="1" dirty="0">
                <a:solidFill>
                  <a:srgbClr val="028009"/>
                </a:solidFill>
                <a:latin typeface="Courier New" panose="02070309020205020404" pitchFamily="49" charset="0"/>
              </a:rPr>
              <a:t>)    : </a:t>
            </a:r>
            <a:r>
              <a:rPr lang="fr-FR" sz="1200" b="1" dirty="0" err="1">
                <a:solidFill>
                  <a:srgbClr val="028009"/>
                </a:solidFill>
                <a:latin typeface="Courier New" panose="02070309020205020404" pitchFamily="49" charset="0"/>
              </a:rPr>
              <a:t>Numero</a:t>
            </a:r>
            <a:r>
              <a:rPr lang="fr-FR" sz="1200" b="1" dirty="0">
                <a:solidFill>
                  <a:srgbClr val="028009"/>
                </a:solidFill>
                <a:latin typeface="Courier New" panose="02070309020205020404" pitchFamily="49" charset="0"/>
              </a:rPr>
              <a:t> global du </a:t>
            </a:r>
            <a:r>
              <a:rPr lang="fr-FR" sz="1200" b="1" dirty="0" err="1">
                <a:solidFill>
                  <a:srgbClr val="028009"/>
                </a:solidFill>
                <a:latin typeface="Courier New" panose="02070309020205020404" pitchFamily="49" charset="0"/>
              </a:rPr>
              <a:t>noeud</a:t>
            </a:r>
            <a:r>
              <a:rPr lang="fr-FR" sz="1200" b="1" dirty="0">
                <a:solidFill>
                  <a:srgbClr val="028009"/>
                </a:solidFill>
                <a:latin typeface="Courier New" panose="02070309020205020404" pitchFamily="49" charset="0"/>
              </a:rPr>
              <a:t> local </a:t>
            </a:r>
            <a:r>
              <a:rPr lang="fr-FR" sz="1200" b="1" dirty="0" err="1">
                <a:solidFill>
                  <a:srgbClr val="028009"/>
                </a:solidFill>
                <a:latin typeface="Courier New" panose="02070309020205020404" pitchFamily="49" charset="0"/>
              </a:rPr>
              <a:t>ie</a:t>
            </a:r>
            <a:r>
              <a:rPr lang="fr-FR" sz="1200" b="1" dirty="0">
                <a:solidFill>
                  <a:srgbClr val="028009"/>
                </a:solidFill>
                <a:latin typeface="Courier New" panose="02070309020205020404" pitchFamily="49" charset="0"/>
              </a:rPr>
              <a:t> dans l'</a:t>
            </a:r>
            <a:r>
              <a:rPr lang="fr-FR" sz="1200" b="1" dirty="0" err="1">
                <a:solidFill>
                  <a:srgbClr val="028009"/>
                </a:solidFill>
                <a:latin typeface="Courier New" panose="02070309020205020404" pitchFamily="49" charset="0"/>
              </a:rPr>
              <a:t>element</a:t>
            </a:r>
            <a:r>
              <a:rPr lang="fr-FR" sz="1200" b="1" dirty="0">
                <a:solidFill>
                  <a:srgbClr val="028009"/>
                </a:solidFill>
                <a:latin typeface="Courier New" panose="02070309020205020404" pitchFamily="49" charset="0"/>
              </a:rPr>
              <a:t> ne</a:t>
            </a:r>
            <a:endParaRPr lang="fr-FR" sz="1200" dirty="0">
              <a:solidFill>
                <a:srgbClr val="028009"/>
              </a:solidFill>
              <a:latin typeface="Courier New" panose="02070309020205020404" pitchFamily="49" charset="0"/>
            </a:endParaRPr>
          </a:p>
          <a:p>
            <a:r>
              <a:rPr lang="fr-FR" sz="1200" b="1" dirty="0">
                <a:solidFill>
                  <a:srgbClr val="028009"/>
                </a:solidFill>
                <a:latin typeface="Courier New" panose="02070309020205020404" pitchFamily="49" charset="0"/>
              </a:rPr>
              <a:t>%</a:t>
            </a:r>
            <a:r>
              <a:rPr lang="fr-FR" sz="1200" b="1" dirty="0" err="1">
                <a:solidFill>
                  <a:srgbClr val="028009"/>
                </a:solidFill>
                <a:latin typeface="Courier New" panose="02070309020205020404" pitchFamily="49" charset="0"/>
              </a:rPr>
              <a:t>fem.noeud</a:t>
            </a:r>
            <a:r>
              <a:rPr lang="fr-FR" sz="1200" b="1" dirty="0">
                <a:solidFill>
                  <a:srgbClr val="028009"/>
                </a:solidFill>
                <a:latin typeface="Courier New" panose="02070309020205020404" pitchFamily="49" charset="0"/>
              </a:rPr>
              <a:t>(</a:t>
            </a:r>
            <a:r>
              <a:rPr lang="fr-FR" sz="1200" b="1" dirty="0" err="1">
                <a:solidFill>
                  <a:srgbClr val="028009"/>
                </a:solidFill>
                <a:latin typeface="Courier New" panose="02070309020205020404" pitchFamily="49" charset="0"/>
              </a:rPr>
              <a:t>fem.elt</a:t>
            </a:r>
            <a:r>
              <a:rPr lang="fr-FR" sz="1200" b="1" dirty="0">
                <a:solidFill>
                  <a:srgbClr val="028009"/>
                </a:solidFill>
                <a:latin typeface="Courier New" panose="02070309020205020404" pitchFamily="49" charset="0"/>
              </a:rPr>
              <a:t>(ne).</a:t>
            </a:r>
            <a:r>
              <a:rPr lang="fr-FR" sz="1200" b="1" dirty="0" err="1">
                <a:solidFill>
                  <a:srgbClr val="028009"/>
                </a:solidFill>
                <a:latin typeface="Courier New" panose="02070309020205020404" pitchFamily="49" charset="0"/>
              </a:rPr>
              <a:t>ind</a:t>
            </a:r>
            <a:r>
              <a:rPr lang="fr-FR" sz="1200" b="1" dirty="0">
                <a:solidFill>
                  <a:srgbClr val="028009"/>
                </a:solidFill>
                <a:latin typeface="Courier New" panose="02070309020205020404" pitchFamily="49" charset="0"/>
              </a:rPr>
              <a:t>(</a:t>
            </a:r>
            <a:r>
              <a:rPr lang="fr-FR" sz="1200" b="1" dirty="0" err="1">
                <a:solidFill>
                  <a:srgbClr val="028009"/>
                </a:solidFill>
                <a:latin typeface="Courier New" panose="02070309020205020404" pitchFamily="49" charset="0"/>
              </a:rPr>
              <a:t>ie</a:t>
            </a:r>
            <a:r>
              <a:rPr lang="fr-FR" sz="1200" b="1" dirty="0">
                <a:solidFill>
                  <a:srgbClr val="028009"/>
                </a:solidFill>
                <a:latin typeface="Courier New" panose="02070309020205020404" pitchFamily="49" charset="0"/>
              </a:rPr>
              <a:t>)).x   : Abscisse du </a:t>
            </a:r>
            <a:r>
              <a:rPr lang="fr-FR" sz="1200" b="1" dirty="0" err="1">
                <a:solidFill>
                  <a:srgbClr val="028009"/>
                </a:solidFill>
                <a:latin typeface="Courier New" panose="02070309020205020404" pitchFamily="49" charset="0"/>
              </a:rPr>
              <a:t>noeud</a:t>
            </a:r>
            <a:r>
              <a:rPr lang="fr-FR" sz="1200" b="1" dirty="0">
                <a:solidFill>
                  <a:srgbClr val="028009"/>
                </a:solidFill>
                <a:latin typeface="Courier New" panose="02070309020205020404" pitchFamily="49" charset="0"/>
              </a:rPr>
              <a:t> local </a:t>
            </a:r>
            <a:r>
              <a:rPr lang="fr-FR" sz="1200" b="1" dirty="0" err="1">
                <a:solidFill>
                  <a:srgbClr val="028009"/>
                </a:solidFill>
                <a:latin typeface="Courier New" panose="02070309020205020404" pitchFamily="49" charset="0"/>
              </a:rPr>
              <a:t>ie</a:t>
            </a:r>
            <a:r>
              <a:rPr lang="fr-FR" sz="1200" b="1" dirty="0">
                <a:solidFill>
                  <a:srgbClr val="028009"/>
                </a:solidFill>
                <a:latin typeface="Courier New" panose="02070309020205020404" pitchFamily="49" charset="0"/>
              </a:rPr>
              <a:t> dans l </a:t>
            </a:r>
            <a:r>
              <a:rPr lang="fr-FR" sz="1200" b="1" dirty="0" err="1">
                <a:solidFill>
                  <a:srgbClr val="028009"/>
                </a:solidFill>
                <a:latin typeface="Courier New" panose="02070309020205020404" pitchFamily="49" charset="0"/>
              </a:rPr>
              <a:t>element</a:t>
            </a:r>
            <a:r>
              <a:rPr lang="fr-FR" sz="1200" b="1" dirty="0">
                <a:solidFill>
                  <a:srgbClr val="028009"/>
                </a:solidFill>
                <a:latin typeface="Courier New" panose="02070309020205020404" pitchFamily="49" charset="0"/>
              </a:rPr>
              <a:t> ne</a:t>
            </a:r>
            <a:endParaRPr lang="fr-FR" sz="1200" dirty="0">
              <a:solidFill>
                <a:srgbClr val="028009"/>
              </a:solidFill>
              <a:latin typeface="Courier New" panose="02070309020205020404" pitchFamily="49" charset="0"/>
            </a:endParaRPr>
          </a:p>
          <a:p>
            <a:r>
              <a:rPr lang="fr-FR" sz="1200" b="1" dirty="0">
                <a:solidFill>
                  <a:srgbClr val="028009"/>
                </a:solidFill>
                <a:latin typeface="Courier New" panose="02070309020205020404" pitchFamily="49" charset="0"/>
              </a:rPr>
              <a:t>%</a:t>
            </a:r>
            <a:r>
              <a:rPr lang="fr-FR" sz="1200" b="1" dirty="0" err="1">
                <a:solidFill>
                  <a:srgbClr val="028009"/>
                </a:solidFill>
                <a:latin typeface="Courier New" panose="02070309020205020404" pitchFamily="49" charset="0"/>
              </a:rPr>
              <a:t>fem.sol</a:t>
            </a:r>
            <a:r>
              <a:rPr lang="fr-FR" sz="1200" b="1" dirty="0">
                <a:solidFill>
                  <a:srgbClr val="028009"/>
                </a:solidFill>
                <a:latin typeface="Courier New" panose="02070309020205020404" pitchFamily="49" charset="0"/>
              </a:rPr>
              <a:t>(</a:t>
            </a:r>
            <a:r>
              <a:rPr lang="fr-FR" sz="1200" b="1" dirty="0" err="1">
                <a:solidFill>
                  <a:srgbClr val="028009"/>
                </a:solidFill>
                <a:latin typeface="Courier New" panose="02070309020205020404" pitchFamily="49" charset="0"/>
              </a:rPr>
              <a:t>np</a:t>
            </a:r>
            <a:r>
              <a:rPr lang="fr-FR" sz="1200" b="1" dirty="0">
                <a:solidFill>
                  <a:srgbClr val="028009"/>
                </a:solidFill>
                <a:latin typeface="Courier New" panose="02070309020205020404" pitchFamily="49" charset="0"/>
              </a:rPr>
              <a:t>)    : Valeur de l inconnue au </a:t>
            </a:r>
            <a:r>
              <a:rPr lang="fr-FR" sz="1200" b="1" dirty="0" err="1">
                <a:solidFill>
                  <a:srgbClr val="028009"/>
                </a:solidFill>
                <a:latin typeface="Courier New" panose="02070309020205020404" pitchFamily="49" charset="0"/>
              </a:rPr>
              <a:t>noeud</a:t>
            </a:r>
            <a:r>
              <a:rPr lang="fr-FR" sz="1200" b="1" dirty="0">
                <a:solidFill>
                  <a:srgbClr val="028009"/>
                </a:solidFill>
                <a:latin typeface="Courier New" panose="02070309020205020404" pitchFamily="49" charset="0"/>
              </a:rPr>
              <a:t> </a:t>
            </a:r>
            <a:r>
              <a:rPr lang="fr-FR" sz="1200" b="1" dirty="0" err="1">
                <a:solidFill>
                  <a:srgbClr val="028009"/>
                </a:solidFill>
                <a:latin typeface="Courier New" panose="02070309020205020404" pitchFamily="49" charset="0"/>
              </a:rPr>
              <a:t>np</a:t>
            </a:r>
            <a:endParaRPr lang="fr-FR" sz="1200" dirty="0">
              <a:solidFill>
                <a:srgbClr val="028009"/>
              </a:solidFill>
              <a:latin typeface="Courier New" panose="02070309020205020404" pitchFamily="49" charset="0"/>
            </a:endParaRPr>
          </a:p>
          <a:p>
            <a:r>
              <a:rPr lang="fr-FR" sz="1200" b="1" dirty="0">
                <a:solidFill>
                  <a:srgbClr val="028009"/>
                </a:solidFill>
                <a:latin typeface="Courier New" panose="02070309020205020404" pitchFamily="49" charset="0"/>
              </a:rPr>
              <a:t>%</a:t>
            </a:r>
            <a:endParaRPr lang="fr-FR" sz="1200" dirty="0">
              <a:solidFill>
                <a:srgbClr val="028009"/>
              </a:solidFill>
              <a:latin typeface="Courier New" panose="02070309020205020404" pitchFamily="49" charset="0"/>
            </a:endParaRPr>
          </a:p>
          <a:p>
            <a:r>
              <a:rPr lang="fr-FR" sz="1200" b="1" dirty="0">
                <a:solidFill>
                  <a:srgbClr val="028009"/>
                </a:solidFill>
                <a:latin typeface="Courier New" panose="02070309020205020404" pitchFamily="49" charset="0"/>
              </a:rPr>
              <a:t>%La structure gauss</a:t>
            </a:r>
            <a:endParaRPr lang="fr-FR" sz="1200" dirty="0">
              <a:solidFill>
                <a:srgbClr val="028009"/>
              </a:solidFill>
              <a:latin typeface="Courier New" panose="02070309020205020404" pitchFamily="49" charset="0"/>
            </a:endParaRPr>
          </a:p>
          <a:p>
            <a:r>
              <a:rPr lang="fr-FR" sz="1200" b="1" dirty="0">
                <a:solidFill>
                  <a:srgbClr val="028009"/>
                </a:solidFill>
                <a:latin typeface="Courier New" panose="02070309020205020404" pitchFamily="49" charset="0"/>
              </a:rPr>
              <a:t>%------------------</a:t>
            </a:r>
            <a:endParaRPr lang="fr-FR" sz="1200" dirty="0">
              <a:solidFill>
                <a:srgbClr val="028009"/>
              </a:solidFill>
              <a:latin typeface="Courier New" panose="02070309020205020404" pitchFamily="49" charset="0"/>
            </a:endParaRPr>
          </a:p>
          <a:p>
            <a:r>
              <a:rPr lang="fr-FR" sz="1200" b="1" dirty="0">
                <a:solidFill>
                  <a:srgbClr val="028009"/>
                </a:solidFill>
                <a:latin typeface="Courier New" panose="02070309020205020404" pitchFamily="49" charset="0"/>
              </a:rPr>
              <a:t>%</a:t>
            </a:r>
            <a:r>
              <a:rPr lang="fr-FR" sz="1200" b="1" dirty="0" err="1">
                <a:solidFill>
                  <a:srgbClr val="028009"/>
                </a:solidFill>
                <a:latin typeface="Courier New" panose="02070309020205020404" pitchFamily="49" charset="0"/>
              </a:rPr>
              <a:t>gauss.NPI</a:t>
            </a:r>
            <a:r>
              <a:rPr lang="fr-FR" sz="1200" b="1" dirty="0">
                <a:solidFill>
                  <a:srgbClr val="028009"/>
                </a:solidFill>
                <a:latin typeface="Courier New" panose="02070309020205020404" pitchFamily="49" charset="0"/>
              </a:rPr>
              <a:t>  : Nombre de points d </a:t>
            </a:r>
            <a:r>
              <a:rPr lang="fr-FR" sz="1200" b="1" dirty="0" err="1">
                <a:solidFill>
                  <a:srgbClr val="028009"/>
                </a:solidFill>
                <a:latin typeface="Courier New" panose="02070309020205020404" pitchFamily="49" charset="0"/>
              </a:rPr>
              <a:t>integration</a:t>
            </a:r>
            <a:endParaRPr lang="fr-FR" sz="1200" dirty="0">
              <a:solidFill>
                <a:srgbClr val="028009"/>
              </a:solidFill>
              <a:latin typeface="Courier New" panose="02070309020205020404" pitchFamily="49" charset="0"/>
            </a:endParaRPr>
          </a:p>
          <a:p>
            <a:r>
              <a:rPr lang="fr-FR" sz="1200" b="1" dirty="0">
                <a:solidFill>
                  <a:srgbClr val="028009"/>
                </a:solidFill>
                <a:latin typeface="Courier New" panose="02070309020205020404" pitchFamily="49" charset="0"/>
              </a:rPr>
              <a:t>%</a:t>
            </a:r>
            <a:r>
              <a:rPr lang="fr-FR" sz="1200" b="1" dirty="0" err="1">
                <a:solidFill>
                  <a:srgbClr val="028009"/>
                </a:solidFill>
                <a:latin typeface="Courier New" panose="02070309020205020404" pitchFamily="49" charset="0"/>
              </a:rPr>
              <a:t>gauss.u</a:t>
            </a:r>
            <a:r>
              <a:rPr lang="fr-FR" sz="1200" b="1" dirty="0">
                <a:solidFill>
                  <a:srgbClr val="028009"/>
                </a:solidFill>
                <a:latin typeface="Courier New" panose="02070309020205020404" pitchFamily="49" charset="0"/>
              </a:rPr>
              <a:t>(k) : Abscisse du point de gauss k in [1, NPI]</a:t>
            </a:r>
            <a:endParaRPr lang="fr-FR" sz="1200" dirty="0">
              <a:solidFill>
                <a:srgbClr val="028009"/>
              </a:solidFill>
              <a:latin typeface="Courier New" panose="02070309020205020404" pitchFamily="49" charset="0"/>
            </a:endParaRPr>
          </a:p>
          <a:p>
            <a:r>
              <a:rPr lang="fr-FR" sz="1200" b="1" dirty="0">
                <a:solidFill>
                  <a:srgbClr val="028009"/>
                </a:solidFill>
                <a:latin typeface="Courier New" panose="02070309020205020404" pitchFamily="49" charset="0"/>
              </a:rPr>
              <a:t>%</a:t>
            </a:r>
            <a:r>
              <a:rPr lang="fr-FR" sz="1200" b="1" dirty="0" err="1">
                <a:solidFill>
                  <a:srgbClr val="028009"/>
                </a:solidFill>
                <a:latin typeface="Courier New" panose="02070309020205020404" pitchFamily="49" charset="0"/>
              </a:rPr>
              <a:t>gauss.pds</a:t>
            </a:r>
            <a:r>
              <a:rPr lang="fr-FR" sz="1200" b="1" dirty="0">
                <a:solidFill>
                  <a:srgbClr val="028009"/>
                </a:solidFill>
                <a:latin typeface="Courier New" panose="02070309020205020404" pitchFamily="49" charset="0"/>
              </a:rPr>
              <a:t>(k)   : Poids du point de gauss k</a:t>
            </a:r>
            <a:endParaRPr lang="fr-FR" sz="1200" dirty="0">
              <a:solidFill>
                <a:srgbClr val="028009"/>
              </a:solidFill>
              <a:latin typeface="Courier New" panose="02070309020205020404" pitchFamily="49" charset="0"/>
            </a:endParaRPr>
          </a:p>
          <a:p>
            <a:r>
              <a:rPr lang="fr-FR" sz="1200" b="1" dirty="0">
                <a:solidFill>
                  <a:srgbClr val="028009"/>
                </a:solidFill>
                <a:latin typeface="Courier New" panose="02070309020205020404" pitchFamily="49" charset="0"/>
              </a:rPr>
              <a:t>%</a:t>
            </a:r>
            <a:r>
              <a:rPr lang="fr-FR" sz="1200" b="1" dirty="0" err="1">
                <a:solidFill>
                  <a:srgbClr val="028009"/>
                </a:solidFill>
                <a:latin typeface="Courier New" panose="02070309020205020404" pitchFamily="49" charset="0"/>
              </a:rPr>
              <a:t>gauss.alpha</a:t>
            </a:r>
            <a:r>
              <a:rPr lang="fr-FR" sz="1200" b="1" dirty="0">
                <a:solidFill>
                  <a:srgbClr val="028009"/>
                </a:solidFill>
                <a:latin typeface="Courier New" panose="02070309020205020404" pitchFamily="49" charset="0"/>
              </a:rPr>
              <a:t>(</a:t>
            </a:r>
            <a:r>
              <a:rPr lang="fr-FR" sz="1200" b="1" dirty="0" err="1">
                <a:solidFill>
                  <a:srgbClr val="028009"/>
                </a:solidFill>
                <a:latin typeface="Courier New" panose="02070309020205020404" pitchFamily="49" charset="0"/>
              </a:rPr>
              <a:t>ie</a:t>
            </a:r>
            <a:r>
              <a:rPr lang="fr-FR" sz="1200" b="1" dirty="0">
                <a:solidFill>
                  <a:srgbClr val="028009"/>
                </a:solidFill>
                <a:latin typeface="Courier New" panose="02070309020205020404" pitchFamily="49" charset="0"/>
              </a:rPr>
              <a:t>, k) : </a:t>
            </a:r>
            <a:r>
              <a:rPr lang="fr-FR" sz="1200" b="1" dirty="0" err="1">
                <a:solidFill>
                  <a:srgbClr val="028009"/>
                </a:solidFill>
                <a:latin typeface="Courier New" panose="02070309020205020404" pitchFamily="49" charset="0"/>
              </a:rPr>
              <a:t>Polynome</a:t>
            </a:r>
            <a:r>
              <a:rPr lang="fr-FR" sz="1200" b="1" dirty="0">
                <a:solidFill>
                  <a:srgbClr val="028009"/>
                </a:solidFill>
                <a:latin typeface="Courier New" panose="02070309020205020404" pitchFamily="49" charset="0"/>
              </a:rPr>
              <a:t> du </a:t>
            </a:r>
            <a:r>
              <a:rPr lang="fr-FR" sz="1200" b="1" dirty="0" err="1">
                <a:solidFill>
                  <a:srgbClr val="028009"/>
                </a:solidFill>
                <a:latin typeface="Courier New" panose="02070309020205020404" pitchFamily="49" charset="0"/>
              </a:rPr>
              <a:t>noeud</a:t>
            </a:r>
            <a:r>
              <a:rPr lang="fr-FR" sz="1200" b="1" dirty="0">
                <a:solidFill>
                  <a:srgbClr val="028009"/>
                </a:solidFill>
                <a:latin typeface="Courier New" panose="02070309020205020404" pitchFamily="49" charset="0"/>
              </a:rPr>
              <a:t> </a:t>
            </a:r>
            <a:r>
              <a:rPr lang="fr-FR" sz="1200" b="1" dirty="0" err="1">
                <a:solidFill>
                  <a:srgbClr val="028009"/>
                </a:solidFill>
                <a:latin typeface="Courier New" panose="02070309020205020404" pitchFamily="49" charset="0"/>
              </a:rPr>
              <a:t>ie</a:t>
            </a:r>
            <a:r>
              <a:rPr lang="fr-FR" sz="1200" b="1" dirty="0">
                <a:solidFill>
                  <a:srgbClr val="028009"/>
                </a:solidFill>
                <a:latin typeface="Courier New" panose="02070309020205020404" pitchFamily="49" charset="0"/>
              </a:rPr>
              <a:t> in [1, NBN] au point de gauss k</a:t>
            </a:r>
            <a:endParaRPr lang="fr-FR" sz="1200" dirty="0">
              <a:solidFill>
                <a:srgbClr val="028009"/>
              </a:solidFill>
              <a:latin typeface="Courier New" panose="02070309020205020404" pitchFamily="49" charset="0"/>
            </a:endParaRPr>
          </a:p>
          <a:p>
            <a:r>
              <a:rPr lang="fr-FR" sz="1200" b="1" dirty="0">
                <a:solidFill>
                  <a:srgbClr val="028009"/>
                </a:solidFill>
                <a:latin typeface="Courier New" panose="02070309020205020404" pitchFamily="49" charset="0"/>
              </a:rPr>
              <a:t>%</a:t>
            </a:r>
            <a:r>
              <a:rPr lang="fr-FR" sz="1200" b="1" dirty="0" err="1">
                <a:solidFill>
                  <a:srgbClr val="028009"/>
                </a:solidFill>
                <a:latin typeface="Courier New" panose="02070309020205020404" pitchFamily="49" charset="0"/>
              </a:rPr>
              <a:t>gauss.detJ</a:t>
            </a:r>
            <a:r>
              <a:rPr lang="fr-FR" sz="1200" b="1" dirty="0">
                <a:solidFill>
                  <a:srgbClr val="028009"/>
                </a:solidFill>
                <a:latin typeface="Courier New" panose="02070309020205020404" pitchFamily="49" charset="0"/>
              </a:rPr>
              <a:t>(k)  : </a:t>
            </a:r>
            <a:r>
              <a:rPr lang="fr-FR" sz="1200" b="1" dirty="0" err="1">
                <a:solidFill>
                  <a:srgbClr val="028009"/>
                </a:solidFill>
                <a:latin typeface="Courier New" panose="02070309020205020404" pitchFamily="49" charset="0"/>
              </a:rPr>
              <a:t>Determinant</a:t>
            </a:r>
            <a:r>
              <a:rPr lang="fr-FR" sz="1200" b="1" dirty="0">
                <a:solidFill>
                  <a:srgbClr val="028009"/>
                </a:solidFill>
                <a:latin typeface="Courier New" panose="02070309020205020404" pitchFamily="49" charset="0"/>
              </a:rPr>
              <a:t> de la matrice </a:t>
            </a:r>
            <a:r>
              <a:rPr lang="fr-FR" sz="1200" b="1" dirty="0" err="1">
                <a:solidFill>
                  <a:srgbClr val="028009"/>
                </a:solidFill>
                <a:latin typeface="Courier New" panose="02070309020205020404" pitchFamily="49" charset="0"/>
              </a:rPr>
              <a:t>Jacobienne</a:t>
            </a:r>
            <a:r>
              <a:rPr lang="fr-FR" sz="1200" b="1" dirty="0">
                <a:solidFill>
                  <a:srgbClr val="028009"/>
                </a:solidFill>
                <a:latin typeface="Courier New" panose="02070309020205020404" pitchFamily="49" charset="0"/>
              </a:rPr>
              <a:t> au point de gauss k</a:t>
            </a:r>
            <a:endParaRPr lang="fr-FR" sz="1200" dirty="0">
              <a:solidFill>
                <a:srgbClr val="028009"/>
              </a:solidFill>
              <a:latin typeface="Courier New" panose="02070309020205020404" pitchFamily="49" charset="0"/>
            </a:endParaRPr>
          </a:p>
          <a:p>
            <a:r>
              <a:rPr lang="fr-FR" sz="1200" b="1" dirty="0" smtClean="0">
                <a:solidFill>
                  <a:srgbClr val="028009"/>
                </a:solidFill>
                <a:latin typeface="Courier New" panose="02070309020205020404" pitchFamily="49" charset="0"/>
              </a:rPr>
              <a:t>%</a:t>
            </a:r>
            <a:endParaRPr lang="fr-FR" sz="1200" dirty="0">
              <a:solidFill>
                <a:srgbClr val="028009"/>
              </a:solidFill>
              <a:latin typeface="Courier New" panose="02070309020205020404" pitchFamily="49" charset="0"/>
            </a:endParaRPr>
          </a:p>
          <a:p>
            <a:r>
              <a:rPr lang="fr-FR" sz="1200" b="1" dirty="0">
                <a:solidFill>
                  <a:srgbClr val="028009"/>
                </a:solidFill>
                <a:latin typeface="Courier New" panose="02070309020205020404" pitchFamily="49" charset="0"/>
              </a:rPr>
              <a:t>%Nom des fonctions</a:t>
            </a:r>
            <a:endParaRPr lang="fr-FR" sz="1200" dirty="0">
              <a:solidFill>
                <a:srgbClr val="028009"/>
              </a:solidFill>
              <a:latin typeface="Courier New" panose="02070309020205020404" pitchFamily="49" charset="0"/>
            </a:endParaRPr>
          </a:p>
          <a:p>
            <a:r>
              <a:rPr lang="fr-FR" sz="1200" b="1" dirty="0">
                <a:solidFill>
                  <a:srgbClr val="028009"/>
                </a:solidFill>
                <a:latin typeface="Courier New" panose="02070309020205020404" pitchFamily="49" charset="0"/>
              </a:rPr>
              <a:t>%-----------------</a:t>
            </a:r>
            <a:endParaRPr lang="fr-FR" sz="1200" dirty="0">
              <a:solidFill>
                <a:srgbClr val="028009"/>
              </a:solidFill>
              <a:latin typeface="Courier New" panose="02070309020205020404" pitchFamily="49" charset="0"/>
            </a:endParaRPr>
          </a:p>
          <a:p>
            <a:r>
              <a:rPr lang="fr-FR" sz="1200" b="1" dirty="0">
                <a:solidFill>
                  <a:srgbClr val="028009"/>
                </a:solidFill>
                <a:latin typeface="Courier New" panose="02070309020205020404" pitchFamily="49" charset="0"/>
              </a:rPr>
              <a:t>%</a:t>
            </a:r>
            <a:r>
              <a:rPr lang="fr-FR" sz="1200" b="1" dirty="0" err="1">
                <a:solidFill>
                  <a:srgbClr val="028009"/>
                </a:solidFill>
                <a:latin typeface="Courier New" panose="02070309020205020404" pitchFamily="49" charset="0"/>
              </a:rPr>
              <a:t>PRECIPITATION_main</a:t>
            </a:r>
            <a:r>
              <a:rPr lang="fr-FR" sz="1200" b="1" dirty="0">
                <a:solidFill>
                  <a:srgbClr val="028009"/>
                </a:solidFill>
                <a:latin typeface="Courier New" panose="02070309020205020404" pitchFamily="49" charset="0"/>
              </a:rPr>
              <a:t>     Programme principal</a:t>
            </a:r>
            <a:endParaRPr lang="fr-FR" sz="1200" dirty="0">
              <a:solidFill>
                <a:srgbClr val="028009"/>
              </a:solidFill>
              <a:latin typeface="Courier New" panose="02070309020205020404" pitchFamily="49" charset="0"/>
            </a:endParaRPr>
          </a:p>
          <a:p>
            <a:r>
              <a:rPr lang="fr-FR" sz="1200" b="1" dirty="0">
                <a:solidFill>
                  <a:srgbClr val="028009"/>
                </a:solidFill>
                <a:latin typeface="Courier New" panose="02070309020205020404" pitchFamily="49" charset="0"/>
              </a:rPr>
              <a:t>%   </a:t>
            </a:r>
            <a:r>
              <a:rPr lang="fr-FR" sz="1200" b="1" dirty="0" err="1">
                <a:solidFill>
                  <a:srgbClr val="028009"/>
                </a:solidFill>
                <a:latin typeface="Courier New" panose="02070309020205020404" pitchFamily="49" charset="0"/>
              </a:rPr>
              <a:t>lecture_probleme</a:t>
            </a:r>
            <a:r>
              <a:rPr lang="fr-FR" sz="1200" b="1" dirty="0">
                <a:solidFill>
                  <a:srgbClr val="028009"/>
                </a:solidFill>
                <a:latin typeface="Courier New" panose="02070309020205020404" pitchFamily="49" charset="0"/>
              </a:rPr>
              <a:t>    Lecture des </a:t>
            </a:r>
            <a:r>
              <a:rPr lang="fr-FR" sz="1200" b="1" dirty="0" err="1">
                <a:solidFill>
                  <a:srgbClr val="028009"/>
                </a:solidFill>
                <a:latin typeface="Courier New" panose="02070309020205020404" pitchFamily="49" charset="0"/>
              </a:rPr>
              <a:t>donnees</a:t>
            </a:r>
            <a:r>
              <a:rPr lang="fr-FR" sz="1200" b="1" dirty="0">
                <a:solidFill>
                  <a:srgbClr val="028009"/>
                </a:solidFill>
                <a:latin typeface="Courier New" panose="02070309020205020404" pitchFamily="49" charset="0"/>
              </a:rPr>
              <a:t> du </a:t>
            </a:r>
            <a:r>
              <a:rPr lang="fr-FR" sz="1200" b="1" dirty="0" err="1">
                <a:solidFill>
                  <a:srgbClr val="028009"/>
                </a:solidFill>
                <a:latin typeface="Courier New" panose="02070309020205020404" pitchFamily="49" charset="0"/>
              </a:rPr>
              <a:t>probleme</a:t>
            </a:r>
            <a:endParaRPr lang="fr-FR" sz="1200" dirty="0">
              <a:solidFill>
                <a:srgbClr val="028009"/>
              </a:solidFill>
              <a:latin typeface="Courier New" panose="02070309020205020404" pitchFamily="49" charset="0"/>
            </a:endParaRPr>
          </a:p>
          <a:p>
            <a:r>
              <a:rPr lang="fr-FR" sz="1200" b="1" dirty="0">
                <a:solidFill>
                  <a:srgbClr val="028009"/>
                </a:solidFill>
                <a:latin typeface="Courier New" panose="02070309020205020404" pitchFamily="49" charset="0"/>
              </a:rPr>
              <a:t>%   </a:t>
            </a:r>
            <a:r>
              <a:rPr lang="fr-FR" sz="1200" b="1" dirty="0" err="1">
                <a:solidFill>
                  <a:srgbClr val="028009"/>
                </a:solidFill>
                <a:latin typeface="Courier New" panose="02070309020205020404" pitchFamily="49" charset="0"/>
              </a:rPr>
              <a:t>affichage_maillage</a:t>
            </a:r>
            <a:r>
              <a:rPr lang="fr-FR" sz="1200" b="1" dirty="0">
                <a:solidFill>
                  <a:srgbClr val="028009"/>
                </a:solidFill>
                <a:latin typeface="Courier New" panose="02070309020205020404" pitchFamily="49" charset="0"/>
              </a:rPr>
              <a:t>  Affichage du maillage et de la </a:t>
            </a:r>
            <a:r>
              <a:rPr lang="fr-FR" sz="1200" b="1" dirty="0" err="1">
                <a:solidFill>
                  <a:srgbClr val="028009"/>
                </a:solidFill>
                <a:latin typeface="Courier New" panose="02070309020205020404" pitchFamily="49" charset="0"/>
              </a:rPr>
              <a:t>numerotation</a:t>
            </a:r>
            <a:r>
              <a:rPr lang="fr-FR" sz="1200" b="1" dirty="0">
                <a:solidFill>
                  <a:srgbClr val="028009"/>
                </a:solidFill>
                <a:latin typeface="Courier New" panose="02070309020205020404" pitchFamily="49" charset="0"/>
              </a:rPr>
              <a:t> des </a:t>
            </a:r>
            <a:r>
              <a:rPr lang="fr-FR" sz="1200" b="1" dirty="0" err="1">
                <a:solidFill>
                  <a:srgbClr val="028009"/>
                </a:solidFill>
                <a:latin typeface="Courier New" panose="02070309020205020404" pitchFamily="49" charset="0"/>
              </a:rPr>
              <a:t>noeuds</a:t>
            </a:r>
            <a:r>
              <a:rPr lang="fr-FR" sz="1200" b="1" dirty="0">
                <a:solidFill>
                  <a:srgbClr val="028009"/>
                </a:solidFill>
                <a:latin typeface="Courier New" panose="02070309020205020404" pitchFamily="49" charset="0"/>
              </a:rPr>
              <a:t> et des </a:t>
            </a:r>
            <a:r>
              <a:rPr lang="fr-FR" sz="1200" b="1" dirty="0" err="1">
                <a:solidFill>
                  <a:srgbClr val="028009"/>
                </a:solidFill>
                <a:latin typeface="Courier New" panose="02070309020205020404" pitchFamily="49" charset="0"/>
              </a:rPr>
              <a:t>elements</a:t>
            </a:r>
            <a:endParaRPr lang="fr-FR" sz="1200" dirty="0">
              <a:solidFill>
                <a:srgbClr val="028009"/>
              </a:solidFill>
              <a:latin typeface="Courier New" panose="02070309020205020404" pitchFamily="49" charset="0"/>
            </a:endParaRPr>
          </a:p>
          <a:p>
            <a:r>
              <a:rPr lang="fr-FR" sz="1200" b="1" dirty="0">
                <a:solidFill>
                  <a:srgbClr val="028009"/>
                </a:solidFill>
                <a:latin typeface="Courier New" panose="02070309020205020404" pitchFamily="49" charset="0"/>
              </a:rPr>
              <a:t>%   solution        Calcul de l'</a:t>
            </a:r>
            <a:r>
              <a:rPr lang="fr-FR" sz="1200" b="1" dirty="0" err="1">
                <a:solidFill>
                  <a:srgbClr val="028009"/>
                </a:solidFill>
                <a:latin typeface="Courier New" panose="02070309020205020404" pitchFamily="49" charset="0"/>
              </a:rPr>
              <a:t>integrale</a:t>
            </a:r>
            <a:r>
              <a:rPr lang="fr-FR" sz="1200" b="1" dirty="0">
                <a:solidFill>
                  <a:srgbClr val="028009"/>
                </a:solidFill>
                <a:latin typeface="Courier New" panose="02070309020205020404" pitchFamily="49" charset="0"/>
              </a:rPr>
              <a:t> de la hauteur d'eau sur tous les </a:t>
            </a:r>
            <a:r>
              <a:rPr lang="fr-FR" sz="1200" b="1" dirty="0" err="1">
                <a:solidFill>
                  <a:srgbClr val="028009"/>
                </a:solidFill>
                <a:latin typeface="Courier New" panose="02070309020205020404" pitchFamily="49" charset="0"/>
              </a:rPr>
              <a:t>elements</a:t>
            </a:r>
            <a:r>
              <a:rPr lang="fr-FR" sz="1200" b="1" dirty="0">
                <a:solidFill>
                  <a:srgbClr val="028009"/>
                </a:solidFill>
                <a:latin typeface="Courier New" panose="02070309020205020404" pitchFamily="49" charset="0"/>
              </a:rPr>
              <a:t> </a:t>
            </a:r>
            <a:endParaRPr lang="fr-FR" sz="1200" dirty="0">
              <a:solidFill>
                <a:srgbClr val="028009"/>
              </a:solidFill>
              <a:latin typeface="Courier New" panose="02070309020205020404" pitchFamily="49" charset="0"/>
            </a:endParaRPr>
          </a:p>
          <a:p>
            <a:r>
              <a:rPr lang="fr-FR" sz="1200" b="1" dirty="0">
                <a:solidFill>
                  <a:srgbClr val="028009"/>
                </a:solidFill>
                <a:latin typeface="Courier New" panose="02070309020205020404" pitchFamily="49" charset="0"/>
              </a:rPr>
              <a:t>%   </a:t>
            </a:r>
            <a:r>
              <a:rPr lang="fr-FR" sz="1200" b="1" dirty="0" err="1">
                <a:solidFill>
                  <a:srgbClr val="028009"/>
                </a:solidFill>
                <a:latin typeface="Courier New" panose="02070309020205020404" pitchFamily="49" charset="0"/>
              </a:rPr>
              <a:t>integrale</a:t>
            </a:r>
            <a:r>
              <a:rPr lang="fr-FR" sz="1200" b="1" dirty="0">
                <a:solidFill>
                  <a:srgbClr val="028009"/>
                </a:solidFill>
                <a:latin typeface="Courier New" panose="02070309020205020404" pitchFamily="49" charset="0"/>
              </a:rPr>
              <a:t>       Calcul de l'</a:t>
            </a:r>
            <a:r>
              <a:rPr lang="fr-FR" sz="1200" b="1" dirty="0" err="1">
                <a:solidFill>
                  <a:srgbClr val="028009"/>
                </a:solidFill>
                <a:latin typeface="Courier New" panose="02070309020205020404" pitchFamily="49" charset="0"/>
              </a:rPr>
              <a:t>integrale</a:t>
            </a:r>
            <a:r>
              <a:rPr lang="fr-FR" sz="1200" b="1" dirty="0">
                <a:solidFill>
                  <a:srgbClr val="028009"/>
                </a:solidFill>
                <a:latin typeface="Courier New" panose="02070309020205020404" pitchFamily="49" charset="0"/>
              </a:rPr>
              <a:t> </a:t>
            </a:r>
            <a:r>
              <a:rPr lang="fr-FR" sz="1200" b="1" dirty="0" err="1">
                <a:solidFill>
                  <a:srgbClr val="028009"/>
                </a:solidFill>
                <a:latin typeface="Courier New" panose="02070309020205020404" pitchFamily="49" charset="0"/>
              </a:rPr>
              <a:t>elementaire</a:t>
            </a:r>
            <a:r>
              <a:rPr lang="fr-FR" sz="1200" b="1" dirty="0">
                <a:solidFill>
                  <a:srgbClr val="028009"/>
                </a:solidFill>
                <a:latin typeface="Courier New" panose="02070309020205020404" pitchFamily="49" charset="0"/>
              </a:rPr>
              <a:t> sur l'</a:t>
            </a:r>
            <a:r>
              <a:rPr lang="fr-FR" sz="1200" b="1" dirty="0" err="1">
                <a:solidFill>
                  <a:srgbClr val="028009"/>
                </a:solidFill>
                <a:latin typeface="Courier New" panose="02070309020205020404" pitchFamily="49" charset="0"/>
              </a:rPr>
              <a:t>element</a:t>
            </a:r>
            <a:r>
              <a:rPr lang="fr-FR" sz="1200" b="1" dirty="0">
                <a:solidFill>
                  <a:srgbClr val="028009"/>
                </a:solidFill>
                <a:latin typeface="Courier New" panose="02070309020205020404" pitchFamily="49" charset="0"/>
              </a:rPr>
              <a:t> e</a:t>
            </a:r>
            <a:endParaRPr lang="fr-FR" sz="1200" dirty="0">
              <a:solidFill>
                <a:srgbClr val="028009"/>
              </a:solidFill>
              <a:latin typeface="Courier New" panose="02070309020205020404" pitchFamily="49" charset="0"/>
            </a:endParaRPr>
          </a:p>
          <a:p>
            <a:r>
              <a:rPr lang="fr-FR" sz="1200" b="1" dirty="0">
                <a:solidFill>
                  <a:srgbClr val="028009"/>
                </a:solidFill>
                <a:latin typeface="Courier New" panose="02070309020205020404" pitchFamily="49" charset="0"/>
              </a:rPr>
              <a:t>%   polynomes_T3    </a:t>
            </a:r>
            <a:r>
              <a:rPr lang="fr-FR" sz="1200" b="1" dirty="0" err="1" smtClean="0">
                <a:solidFill>
                  <a:srgbClr val="028009"/>
                </a:solidFill>
                <a:latin typeface="Courier New" panose="02070309020205020404" pitchFamily="49" charset="0"/>
              </a:rPr>
              <a:t>Polynomes</a:t>
            </a:r>
            <a:r>
              <a:rPr lang="fr-FR" sz="1200" b="1" dirty="0" smtClean="0">
                <a:solidFill>
                  <a:srgbClr val="028009"/>
                </a:solidFill>
                <a:latin typeface="Courier New" panose="02070309020205020404" pitchFamily="49" charset="0"/>
              </a:rPr>
              <a:t> P1. Poids et </a:t>
            </a:r>
            <a:r>
              <a:rPr lang="fr-FR" sz="1200" b="1" dirty="0" err="1" smtClean="0">
                <a:solidFill>
                  <a:srgbClr val="028009"/>
                </a:solidFill>
                <a:latin typeface="Courier New" panose="02070309020205020404" pitchFamily="49" charset="0"/>
              </a:rPr>
              <a:t>detJ</a:t>
            </a:r>
            <a:r>
              <a:rPr lang="fr-FR" sz="1200" b="1" dirty="0" smtClean="0">
                <a:solidFill>
                  <a:srgbClr val="028009"/>
                </a:solidFill>
                <a:latin typeface="Courier New" panose="02070309020205020404" pitchFamily="49" charset="0"/>
              </a:rPr>
              <a:t> aux points de Gauss</a:t>
            </a:r>
            <a:endParaRPr lang="fr-FR" sz="1200" dirty="0">
              <a:solidFill>
                <a:srgbClr val="028009"/>
              </a:solidFill>
              <a:latin typeface="Courier New" panose="02070309020205020404" pitchFamily="49" charset="0"/>
            </a:endParaRPr>
          </a:p>
        </p:txBody>
      </p:sp>
      <p:sp>
        <p:nvSpPr>
          <p:cNvPr id="25602" name="Rectangle 4"/>
          <p:cNvSpPr>
            <a:spLocks noChangeArrowheads="1"/>
          </p:cNvSpPr>
          <p:nvPr/>
        </p:nvSpPr>
        <p:spPr bwMode="auto">
          <a:xfrm>
            <a:off x="6149782" y="73243"/>
            <a:ext cx="299421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2000" b="1" dirty="0" err="1" smtClean="0">
                <a:latin typeface="Trebuchet MS" panose="020B0603020202020204" pitchFamily="34" charset="0"/>
              </a:rPr>
              <a:t>PRECIPITATION_main.m</a:t>
            </a:r>
            <a:endParaRPr lang="fr-FR" altLang="fr-FR" sz="2000" b="1" dirty="0">
              <a:latin typeface="Trebuchet MS" panose="020B0603020202020204" pitchFamily="34" charset="0"/>
            </a:endParaRPr>
          </a:p>
        </p:txBody>
      </p:sp>
      <p:sp>
        <p:nvSpPr>
          <p:cNvPr id="25605" name="Text Box 7"/>
          <p:cNvSpPr txBox="1">
            <a:spLocks noChangeArrowheads="1"/>
          </p:cNvSpPr>
          <p:nvPr/>
        </p:nvSpPr>
        <p:spPr bwMode="auto">
          <a:xfrm rot="3401945">
            <a:off x="7667625" y="2209260"/>
            <a:ext cx="1581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 dirty="0">
                <a:latin typeface="Arial" panose="020B0604020202020204" pitchFamily="34" charset="0"/>
              </a:rPr>
              <a:t>Structure</a:t>
            </a:r>
            <a:r>
              <a:rPr lang="fr-FR" altLang="fr-FR" sz="1800" b="1" dirty="0">
                <a:latin typeface="Arial" panose="020B0604020202020204" pitchFamily="34" charset="0"/>
              </a:rPr>
              <a:t> </a:t>
            </a:r>
            <a:r>
              <a:rPr lang="fr-FR" altLang="fr-FR" sz="1800" b="1" dirty="0" err="1">
                <a:latin typeface="Arial" panose="020B0604020202020204" pitchFamily="34" charset="0"/>
              </a:rPr>
              <a:t>fem</a:t>
            </a:r>
            <a:endParaRPr lang="fr-FR" altLang="fr-FR" sz="1800" b="1" dirty="0">
              <a:latin typeface="Arial" panose="020B0604020202020204" pitchFamily="34" charset="0"/>
            </a:endParaRPr>
          </a:p>
        </p:txBody>
      </p:sp>
      <p:sp>
        <p:nvSpPr>
          <p:cNvPr id="25606" name="Text Box 8"/>
          <p:cNvSpPr txBox="1">
            <a:spLocks noChangeArrowheads="1"/>
          </p:cNvSpPr>
          <p:nvPr/>
        </p:nvSpPr>
        <p:spPr bwMode="auto">
          <a:xfrm rot="3417118">
            <a:off x="7001669" y="4128523"/>
            <a:ext cx="1835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 dirty="0">
                <a:latin typeface="Arial" panose="020B0604020202020204" pitchFamily="34" charset="0"/>
              </a:rPr>
              <a:t>Structure</a:t>
            </a:r>
            <a:r>
              <a:rPr lang="fr-FR" altLang="fr-FR" sz="1800" b="1" dirty="0">
                <a:latin typeface="Arial" panose="020B0604020202020204" pitchFamily="34" charset="0"/>
              </a:rPr>
              <a:t> gauss</a:t>
            </a:r>
          </a:p>
        </p:txBody>
      </p:sp>
      <p:sp>
        <p:nvSpPr>
          <p:cNvPr id="25607" name="AutoShape 9"/>
          <p:cNvSpPr>
            <a:spLocks/>
          </p:cNvSpPr>
          <p:nvPr/>
        </p:nvSpPr>
        <p:spPr bwMode="auto">
          <a:xfrm>
            <a:off x="7739063" y="1844823"/>
            <a:ext cx="360362" cy="1597939"/>
          </a:xfrm>
          <a:prstGeom prst="rightBrace">
            <a:avLst>
              <a:gd name="adj1" fmla="val 59949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fr-FR" altLang="fr-FR" sz="2400"/>
          </a:p>
        </p:txBody>
      </p:sp>
      <p:sp>
        <p:nvSpPr>
          <p:cNvPr id="25608" name="AutoShape 10"/>
          <p:cNvSpPr>
            <a:spLocks/>
          </p:cNvSpPr>
          <p:nvPr/>
        </p:nvSpPr>
        <p:spPr bwMode="auto">
          <a:xfrm>
            <a:off x="7020272" y="3804552"/>
            <a:ext cx="360362" cy="1283065"/>
          </a:xfrm>
          <a:prstGeom prst="rightBrace">
            <a:avLst>
              <a:gd name="adj1" fmla="val 39978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fr-FR" altLang="fr-FR" sz="2400"/>
          </a:p>
        </p:txBody>
      </p:sp>
      <p:sp>
        <p:nvSpPr>
          <p:cNvPr id="25609" name="Espace réservé du numéro de diapositive 10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ACD6B43-9545-45FA-8EC3-571DC0C9E687}" type="slidenum">
              <a:rPr lang="fr-FR" altLang="fr-FR" sz="1400"/>
              <a:pPr>
                <a:spcBef>
                  <a:spcPct val="0"/>
                </a:spcBef>
                <a:buFontTx/>
                <a:buNone/>
              </a:pPr>
              <a:t>21</a:t>
            </a:fld>
            <a:endParaRPr lang="fr-FR" altLang="fr-FR" sz="1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Rectangle 5"/>
          <p:cNvSpPr>
            <a:spLocks noChangeArrowheads="1"/>
          </p:cNvSpPr>
          <p:nvPr/>
        </p:nvSpPr>
        <p:spPr bwMode="auto">
          <a:xfrm>
            <a:off x="6274881" y="23540"/>
            <a:ext cx="286911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 b="1" dirty="0" err="1" smtClean="0">
                <a:latin typeface="Arial" panose="020B0604020202020204" pitchFamily="34" charset="0"/>
              </a:rPr>
              <a:t>PRECIPITATION_main.m</a:t>
            </a:r>
            <a:endParaRPr lang="fr-FR" altLang="fr-FR" sz="1800" b="1" dirty="0">
              <a:latin typeface="Arial" panose="020B0604020202020204" pitchFamily="34" charset="0"/>
            </a:endParaRPr>
          </a:p>
        </p:txBody>
      </p:sp>
      <p:sp>
        <p:nvSpPr>
          <p:cNvPr id="27652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308CBBB-5EDE-4944-9D78-4D536DCD68F7}" type="slidenum">
              <a:rPr lang="fr-FR" altLang="fr-FR" sz="1400"/>
              <a:pPr>
                <a:spcBef>
                  <a:spcPct val="0"/>
                </a:spcBef>
                <a:buFontTx/>
                <a:buNone/>
              </a:pPr>
              <a:t>22</a:t>
            </a:fld>
            <a:endParaRPr lang="fr-FR" altLang="fr-FR" sz="1400"/>
          </a:p>
        </p:txBody>
      </p:sp>
      <p:sp>
        <p:nvSpPr>
          <p:cNvPr id="2" name="ZoneTexte 1"/>
          <p:cNvSpPr txBox="1"/>
          <p:nvPr/>
        </p:nvSpPr>
        <p:spPr>
          <a:xfrm>
            <a:off x="326788" y="912919"/>
            <a:ext cx="8824852" cy="477053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clear</a:t>
            </a:r>
            <a:r>
              <a:rPr lang="fr-FR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fr-FR" sz="1600" b="1" dirty="0">
                <a:solidFill>
                  <a:srgbClr val="AA04F9"/>
                </a:solidFill>
                <a:latin typeface="Courier New" panose="02070309020205020404" pitchFamily="49" charset="0"/>
              </a:rPr>
              <a:t>all</a:t>
            </a:r>
            <a:r>
              <a:rPr lang="fr-FR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;</a:t>
            </a:r>
            <a:endParaRPr lang="fr-FR" sz="16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fr-FR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close </a:t>
            </a:r>
            <a:r>
              <a:rPr lang="fr-FR" sz="1600" b="1" dirty="0">
                <a:solidFill>
                  <a:srgbClr val="AA04F9"/>
                </a:solidFill>
                <a:latin typeface="Courier New" panose="02070309020205020404" pitchFamily="49" charset="0"/>
              </a:rPr>
              <a:t>all</a:t>
            </a:r>
            <a:r>
              <a:rPr lang="fr-FR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;</a:t>
            </a:r>
            <a:endParaRPr lang="fr-FR" sz="16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fr-FR" sz="16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clc</a:t>
            </a:r>
            <a:endParaRPr lang="fr-FR" sz="16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fr-FR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fr-FR" sz="16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fr-FR" sz="1600" b="1" dirty="0">
                <a:solidFill>
                  <a:srgbClr val="028009"/>
                </a:solidFill>
                <a:latin typeface="Courier New" panose="02070309020205020404" pitchFamily="49" charset="0"/>
              </a:rPr>
              <a:t>% nom : nom du fichier contenant le maillage et </a:t>
            </a:r>
            <a:r>
              <a:rPr lang="fr-FR" sz="1600" b="1" dirty="0" smtClean="0">
                <a:solidFill>
                  <a:srgbClr val="028009"/>
                </a:solidFill>
                <a:latin typeface="Courier New" panose="02070309020205020404" pitchFamily="49" charset="0"/>
              </a:rPr>
              <a:t>les valeurs </a:t>
            </a:r>
            <a:r>
              <a:rPr lang="fr-FR" sz="1600" b="1" dirty="0">
                <a:solidFill>
                  <a:srgbClr val="028009"/>
                </a:solidFill>
                <a:latin typeface="Courier New" panose="02070309020205020404" pitchFamily="49" charset="0"/>
              </a:rPr>
              <a:t>aux </a:t>
            </a:r>
            <a:r>
              <a:rPr lang="fr-FR" sz="1600" b="1" dirty="0" err="1">
                <a:solidFill>
                  <a:srgbClr val="028009"/>
                </a:solidFill>
                <a:latin typeface="Courier New" panose="02070309020205020404" pitchFamily="49" charset="0"/>
              </a:rPr>
              <a:t>noeuds</a:t>
            </a:r>
            <a:endParaRPr lang="fr-FR" sz="1600" dirty="0">
              <a:solidFill>
                <a:srgbClr val="028009"/>
              </a:solidFill>
              <a:latin typeface="Courier New" panose="02070309020205020404" pitchFamily="49" charset="0"/>
            </a:endParaRPr>
          </a:p>
          <a:p>
            <a:r>
              <a:rPr lang="fr-FR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nom=</a:t>
            </a:r>
            <a:r>
              <a:rPr lang="fr-FR" sz="1600" b="1" dirty="0">
                <a:solidFill>
                  <a:srgbClr val="AA04F9"/>
                </a:solidFill>
                <a:latin typeface="Courier New" panose="02070309020205020404" pitchFamily="49" charset="0"/>
              </a:rPr>
              <a:t>'triangles.pro'</a:t>
            </a:r>
            <a:r>
              <a:rPr lang="fr-FR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;                 </a:t>
            </a:r>
            <a:endParaRPr lang="fr-FR" sz="16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fr-FR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fr-FR" sz="16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fr-FR" sz="1600" b="1" dirty="0">
                <a:solidFill>
                  <a:srgbClr val="028009"/>
                </a:solidFill>
                <a:latin typeface="Courier New" panose="02070309020205020404" pitchFamily="49" charset="0"/>
              </a:rPr>
              <a:t>% lecture maillage + valeurs aux </a:t>
            </a:r>
            <a:r>
              <a:rPr lang="fr-FR" sz="1600" b="1" dirty="0" err="1">
                <a:solidFill>
                  <a:srgbClr val="028009"/>
                </a:solidFill>
                <a:latin typeface="Courier New" panose="02070309020205020404" pitchFamily="49" charset="0"/>
              </a:rPr>
              <a:t>noeuds</a:t>
            </a:r>
            <a:endParaRPr lang="fr-FR" sz="1600" dirty="0">
              <a:solidFill>
                <a:srgbClr val="028009"/>
              </a:solidFill>
              <a:latin typeface="Courier New" panose="02070309020205020404" pitchFamily="49" charset="0"/>
            </a:endParaRPr>
          </a:p>
          <a:p>
            <a:r>
              <a:rPr lang="fr-FR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[</a:t>
            </a:r>
            <a:r>
              <a:rPr lang="fr-FR" sz="16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fem</a:t>
            </a:r>
            <a:r>
              <a:rPr lang="fr-FR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fr-FR" sz="16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err</a:t>
            </a:r>
            <a:r>
              <a:rPr lang="fr-FR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]=</a:t>
            </a:r>
            <a:r>
              <a:rPr lang="fr-FR" sz="16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lecture_probleme</a:t>
            </a:r>
            <a:r>
              <a:rPr lang="fr-FR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(nom);</a:t>
            </a:r>
            <a:endParaRPr lang="fr-FR" sz="16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fr-FR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fr-FR" sz="16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fr-FR" sz="1600" b="1" dirty="0">
                <a:solidFill>
                  <a:srgbClr val="028009"/>
                </a:solidFill>
                <a:latin typeface="Courier New" panose="02070309020205020404" pitchFamily="49" charset="0"/>
              </a:rPr>
              <a:t>% affichage maillage avec </a:t>
            </a:r>
            <a:r>
              <a:rPr lang="fr-FR" sz="1600" b="1" dirty="0" err="1">
                <a:solidFill>
                  <a:srgbClr val="028009"/>
                </a:solidFill>
                <a:latin typeface="Courier New" panose="02070309020205020404" pitchFamily="49" charset="0"/>
              </a:rPr>
              <a:t>numerotation</a:t>
            </a:r>
            <a:r>
              <a:rPr lang="fr-FR" sz="1600" b="1" dirty="0">
                <a:solidFill>
                  <a:srgbClr val="028009"/>
                </a:solidFill>
                <a:latin typeface="Courier New" panose="02070309020205020404" pitchFamily="49" charset="0"/>
              </a:rPr>
              <a:t> des </a:t>
            </a:r>
            <a:r>
              <a:rPr lang="fr-FR" sz="1600" b="1" dirty="0" err="1">
                <a:solidFill>
                  <a:srgbClr val="028009"/>
                </a:solidFill>
                <a:latin typeface="Courier New" panose="02070309020205020404" pitchFamily="49" charset="0"/>
              </a:rPr>
              <a:t>noeuds</a:t>
            </a:r>
            <a:r>
              <a:rPr lang="fr-FR" sz="1600" b="1" dirty="0">
                <a:solidFill>
                  <a:srgbClr val="028009"/>
                </a:solidFill>
                <a:latin typeface="Courier New" panose="02070309020205020404" pitchFamily="49" charset="0"/>
              </a:rPr>
              <a:t> et des </a:t>
            </a:r>
            <a:r>
              <a:rPr lang="fr-FR" sz="1600" b="1" dirty="0" err="1">
                <a:solidFill>
                  <a:srgbClr val="028009"/>
                </a:solidFill>
                <a:latin typeface="Courier New" panose="02070309020205020404" pitchFamily="49" charset="0"/>
              </a:rPr>
              <a:t>elements</a:t>
            </a:r>
            <a:endParaRPr lang="fr-FR" sz="1600" dirty="0">
              <a:solidFill>
                <a:srgbClr val="028009"/>
              </a:solidFill>
              <a:latin typeface="Courier New" panose="02070309020205020404" pitchFamily="49" charset="0"/>
            </a:endParaRPr>
          </a:p>
          <a:p>
            <a:r>
              <a:rPr lang="fr-FR" sz="16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affichage_maillage</a:t>
            </a:r>
            <a:r>
              <a:rPr lang="fr-FR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fr-FR" sz="16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fem</a:t>
            </a:r>
            <a:r>
              <a:rPr lang="fr-FR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);</a:t>
            </a:r>
            <a:endParaRPr lang="fr-FR" sz="16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fr-FR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fr-FR" sz="16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fr-FR" sz="1600" b="1" dirty="0">
                <a:solidFill>
                  <a:srgbClr val="028009"/>
                </a:solidFill>
                <a:latin typeface="Courier New" panose="02070309020205020404" pitchFamily="49" charset="0"/>
              </a:rPr>
              <a:t>% calcul de l'</a:t>
            </a:r>
            <a:r>
              <a:rPr lang="fr-FR" sz="1600" b="1" dirty="0" err="1">
                <a:solidFill>
                  <a:srgbClr val="028009"/>
                </a:solidFill>
                <a:latin typeface="Courier New" panose="02070309020205020404" pitchFamily="49" charset="0"/>
              </a:rPr>
              <a:t>integrale</a:t>
            </a:r>
            <a:endParaRPr lang="fr-FR" sz="1600" dirty="0">
              <a:solidFill>
                <a:srgbClr val="028009"/>
              </a:solidFill>
              <a:latin typeface="Courier New" panose="02070309020205020404" pitchFamily="49" charset="0"/>
            </a:endParaRPr>
          </a:p>
          <a:p>
            <a:r>
              <a:rPr lang="fr-FR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I=solution(</a:t>
            </a:r>
            <a:r>
              <a:rPr lang="fr-FR" sz="16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fem</a:t>
            </a:r>
            <a:r>
              <a:rPr lang="fr-FR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);</a:t>
            </a:r>
            <a:endParaRPr lang="fr-FR" sz="16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fr-FR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fr-FR" sz="16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fr-FR" sz="1600" b="1" dirty="0">
                <a:solidFill>
                  <a:srgbClr val="028009"/>
                </a:solidFill>
                <a:latin typeface="Courier New" panose="02070309020205020404" pitchFamily="49" charset="0"/>
              </a:rPr>
              <a:t>% affichage</a:t>
            </a:r>
            <a:endParaRPr lang="fr-FR" sz="1600" dirty="0">
              <a:solidFill>
                <a:srgbClr val="028009"/>
              </a:solidFill>
              <a:latin typeface="Courier New" panose="02070309020205020404" pitchFamily="49" charset="0"/>
            </a:endParaRPr>
          </a:p>
          <a:p>
            <a:r>
              <a:rPr lang="fr-FR" sz="16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disp</a:t>
            </a:r>
            <a:r>
              <a:rPr lang="fr-FR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([</a:t>
            </a:r>
            <a:r>
              <a:rPr lang="fr-FR" sz="1600" b="1" dirty="0">
                <a:solidFill>
                  <a:srgbClr val="AA04F9"/>
                </a:solidFill>
                <a:latin typeface="Courier New" panose="02070309020205020404" pitchFamily="49" charset="0"/>
              </a:rPr>
              <a:t>'</a:t>
            </a:r>
            <a:r>
              <a:rPr lang="fr-FR" sz="1600" b="1" dirty="0" err="1">
                <a:solidFill>
                  <a:srgbClr val="AA04F9"/>
                </a:solidFill>
                <a:latin typeface="Courier New" panose="02070309020205020404" pitchFamily="49" charset="0"/>
              </a:rPr>
              <a:t>Integrale</a:t>
            </a:r>
            <a:r>
              <a:rPr lang="fr-FR" sz="1600" b="1" dirty="0">
                <a:solidFill>
                  <a:srgbClr val="AA04F9"/>
                </a:solidFill>
                <a:latin typeface="Courier New" panose="02070309020205020404" pitchFamily="49" charset="0"/>
              </a:rPr>
              <a:t> : '</a:t>
            </a:r>
            <a:r>
              <a:rPr lang="fr-FR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num2str(I)]);</a:t>
            </a:r>
            <a:endParaRPr lang="fr-FR" sz="16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endParaRPr lang="fr-FR" sz="1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7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6931"/>
          <a:stretch>
            <a:fillRect/>
          </a:stretch>
        </p:blipFill>
        <p:spPr bwMode="auto">
          <a:xfrm>
            <a:off x="468313" y="1196975"/>
            <a:ext cx="3790950" cy="4897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675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1911"/>
          <a:stretch>
            <a:fillRect/>
          </a:stretch>
        </p:blipFill>
        <p:spPr bwMode="auto">
          <a:xfrm>
            <a:off x="4716463" y="1196975"/>
            <a:ext cx="4103687" cy="320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676" name="Text Box 6"/>
          <p:cNvSpPr txBox="1">
            <a:spLocks noChangeArrowheads="1"/>
          </p:cNvSpPr>
          <p:nvPr/>
        </p:nvSpPr>
        <p:spPr bwMode="auto">
          <a:xfrm>
            <a:off x="2051050" y="188913"/>
            <a:ext cx="5251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>
                <a:latin typeface="Arial" panose="020B0604020202020204" pitchFamily="34" charset="0"/>
              </a:rPr>
              <a:t>Le fichier de maillage *.pro : </a:t>
            </a:r>
            <a:r>
              <a:rPr lang="fr-FR" altLang="fr-FR" sz="1800" b="1">
                <a:latin typeface="Arial" panose="020B0604020202020204" pitchFamily="34" charset="0"/>
              </a:rPr>
              <a:t>triangles_npi_ 3.pro</a:t>
            </a:r>
          </a:p>
        </p:txBody>
      </p:sp>
      <p:pic>
        <p:nvPicPr>
          <p:cNvPr id="28677" name="Picture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33" r="79437" b="87004"/>
          <a:stretch>
            <a:fillRect/>
          </a:stretch>
        </p:blipFill>
        <p:spPr bwMode="auto">
          <a:xfrm>
            <a:off x="2195513" y="2060575"/>
            <a:ext cx="2374900" cy="619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678" name="Picture 8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9" t="19542" r="75322" b="54466"/>
          <a:stretch>
            <a:fillRect/>
          </a:stretch>
        </p:blipFill>
        <p:spPr bwMode="auto">
          <a:xfrm>
            <a:off x="3851275" y="4941888"/>
            <a:ext cx="2736850" cy="1173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679" name="Picture 9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31" t="67177" r="85205" b="21979"/>
          <a:stretch>
            <a:fillRect/>
          </a:stretch>
        </p:blipFill>
        <p:spPr bwMode="auto">
          <a:xfrm>
            <a:off x="6227763" y="2205038"/>
            <a:ext cx="1584325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680" name="Picture 10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9" t="93216" r="86002" b="-1863"/>
          <a:stretch>
            <a:fillRect/>
          </a:stretch>
        </p:blipFill>
        <p:spPr bwMode="auto">
          <a:xfrm>
            <a:off x="5724525" y="4221163"/>
            <a:ext cx="1512888" cy="401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681" name="Espace réservé du numéro de diapositive 10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2296B6A-DBB4-4C3A-96F1-8F851C15B54E}" type="slidenum">
              <a:rPr lang="fr-FR" altLang="fr-FR" sz="1400"/>
              <a:pPr>
                <a:spcBef>
                  <a:spcPct val="0"/>
                </a:spcBef>
                <a:buFontTx/>
                <a:buNone/>
              </a:pPr>
              <a:t>23</a:t>
            </a:fld>
            <a:endParaRPr lang="fr-FR" altLang="fr-FR" sz="1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ext Box 9"/>
          <p:cNvSpPr txBox="1">
            <a:spLocks noChangeArrowheads="1"/>
          </p:cNvSpPr>
          <p:nvPr/>
        </p:nvSpPr>
        <p:spPr bwMode="auto">
          <a:xfrm>
            <a:off x="303213" y="882650"/>
            <a:ext cx="7096815" cy="57554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fr-FR" altLang="fr-FR" sz="1600" b="1" dirty="0" err="1">
                <a:solidFill>
                  <a:srgbClr val="0000FF"/>
                </a:solidFill>
                <a:latin typeface="Courier New" panose="02070309020205020404" pitchFamily="49" charset="0"/>
              </a:rPr>
              <a:t>function</a:t>
            </a:r>
            <a:r>
              <a:rPr lang="fr-FR" altLang="fr-FR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solution(</a:t>
            </a:r>
            <a:r>
              <a:rPr lang="fr-FR" altLang="fr-FR" sz="16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fem,gauss</a:t>
            </a:r>
            <a:r>
              <a:rPr lang="fr-FR" altLang="fr-FR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  <a:endParaRPr lang="fr-FR" altLang="fr-FR" sz="1600" dirty="0"/>
          </a:p>
          <a:p>
            <a:pPr>
              <a:spcBef>
                <a:spcPct val="0"/>
              </a:spcBef>
              <a:buFontTx/>
              <a:buNone/>
            </a:pPr>
            <a:r>
              <a:rPr lang="fr-FR" altLang="fr-FR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fr-FR" altLang="fr-FR" sz="1600" dirty="0"/>
          </a:p>
          <a:p>
            <a:pPr>
              <a:spcBef>
                <a:spcPct val="0"/>
              </a:spcBef>
              <a:buFontTx/>
              <a:buNone/>
            </a:pPr>
            <a:r>
              <a:rPr lang="fr-FR" altLang="fr-FR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NP=fem.NP;</a:t>
            </a:r>
            <a:endParaRPr lang="fr-FR" altLang="fr-FR" sz="1600" dirty="0"/>
          </a:p>
          <a:p>
            <a:pPr>
              <a:spcBef>
                <a:spcPct val="0"/>
              </a:spcBef>
              <a:buFontTx/>
              <a:buNone/>
            </a:pPr>
            <a:r>
              <a:rPr lang="fr-FR" altLang="fr-FR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fr-FR" altLang="fr-FR" sz="1600" dirty="0"/>
          </a:p>
          <a:p>
            <a:pPr>
              <a:spcBef>
                <a:spcPct val="0"/>
              </a:spcBef>
              <a:buFontTx/>
              <a:buNone/>
            </a:pPr>
            <a:r>
              <a:rPr lang="fr-FR" altLang="fr-FR" sz="16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resultat</a:t>
            </a:r>
            <a:r>
              <a:rPr lang="fr-FR" altLang="fr-FR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= 0.0;</a:t>
            </a:r>
            <a:endParaRPr lang="fr-FR" altLang="fr-FR" sz="1600" dirty="0"/>
          </a:p>
          <a:p>
            <a:pPr>
              <a:spcBef>
                <a:spcPct val="0"/>
              </a:spcBef>
              <a:buFontTx/>
              <a:buNone/>
            </a:pPr>
            <a:r>
              <a:rPr lang="fr-FR" altLang="fr-FR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surface  = 0.0;</a:t>
            </a:r>
            <a:endParaRPr lang="fr-FR" altLang="fr-FR" sz="1600" dirty="0"/>
          </a:p>
          <a:p>
            <a:pPr>
              <a:spcBef>
                <a:spcPct val="0"/>
              </a:spcBef>
              <a:buFontTx/>
              <a:buNone/>
            </a:pPr>
            <a:r>
              <a:rPr lang="fr-FR" altLang="fr-FR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fr-FR" altLang="fr-FR" sz="1600" dirty="0"/>
          </a:p>
          <a:p>
            <a:pPr>
              <a:spcBef>
                <a:spcPct val="0"/>
              </a:spcBef>
              <a:buFontTx/>
              <a:buNone/>
            </a:pPr>
            <a:r>
              <a:rPr lang="fr-FR" altLang="fr-FR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NE=fem.NE;</a:t>
            </a:r>
            <a:endParaRPr lang="fr-FR" altLang="fr-FR" sz="1600" dirty="0"/>
          </a:p>
          <a:p>
            <a:pPr>
              <a:spcBef>
                <a:spcPct val="0"/>
              </a:spcBef>
              <a:buFontTx/>
              <a:buNone/>
            </a:pPr>
            <a:r>
              <a:rPr lang="fr-FR" altLang="fr-FR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fr-FR" altLang="fr-FR" sz="1600" dirty="0"/>
          </a:p>
          <a:p>
            <a:pPr>
              <a:spcBef>
                <a:spcPct val="0"/>
              </a:spcBef>
              <a:buFontTx/>
              <a:buNone/>
            </a:pPr>
            <a:r>
              <a:rPr lang="fr-FR" altLang="fr-FR" sz="1600" b="1" dirty="0">
                <a:solidFill>
                  <a:srgbClr val="0000FF"/>
                </a:solidFill>
                <a:latin typeface="Courier New" panose="02070309020205020404" pitchFamily="49" charset="0"/>
              </a:rPr>
              <a:t>for</a:t>
            </a:r>
            <a:r>
              <a:rPr lang="fr-FR" altLang="fr-FR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ne = 1:NE </a:t>
            </a:r>
            <a:r>
              <a:rPr lang="fr-FR" altLang="fr-FR" sz="1600" b="1" dirty="0">
                <a:solidFill>
                  <a:srgbClr val="228B22"/>
                </a:solidFill>
                <a:latin typeface="Courier New" panose="02070309020205020404" pitchFamily="49" charset="0"/>
              </a:rPr>
              <a:t>% boucle sur tous les </a:t>
            </a:r>
            <a:r>
              <a:rPr lang="fr-FR" altLang="fr-FR" sz="1600" b="1" dirty="0" err="1">
                <a:solidFill>
                  <a:srgbClr val="228B22"/>
                </a:solidFill>
                <a:latin typeface="Courier New" panose="02070309020205020404" pitchFamily="49" charset="0"/>
              </a:rPr>
              <a:t>elements</a:t>
            </a:r>
            <a:endParaRPr lang="fr-FR" altLang="fr-FR" sz="1600" dirty="0"/>
          </a:p>
          <a:p>
            <a:pPr>
              <a:spcBef>
                <a:spcPct val="0"/>
              </a:spcBef>
              <a:buFontTx/>
              <a:buNone/>
            </a:pPr>
            <a:r>
              <a:rPr lang="fr-FR" altLang="fr-FR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</a:t>
            </a:r>
            <a:endParaRPr lang="fr-FR" altLang="fr-FR" sz="1600" dirty="0"/>
          </a:p>
          <a:p>
            <a:pPr>
              <a:spcBef>
                <a:spcPct val="0"/>
              </a:spcBef>
              <a:buFontTx/>
              <a:buNone/>
            </a:pPr>
            <a:r>
              <a:rPr lang="fr-FR" altLang="fr-FR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fr-FR" altLang="fr-FR" sz="1600" b="1" dirty="0">
                <a:solidFill>
                  <a:srgbClr val="228B22"/>
                </a:solidFill>
                <a:latin typeface="Courier New" panose="02070309020205020404" pitchFamily="49" charset="0"/>
              </a:rPr>
              <a:t>% Calcul de l'</a:t>
            </a:r>
            <a:r>
              <a:rPr lang="fr-FR" altLang="fr-FR" sz="1600" b="1" dirty="0" err="1">
                <a:solidFill>
                  <a:srgbClr val="228B22"/>
                </a:solidFill>
                <a:latin typeface="Courier New" panose="02070309020205020404" pitchFamily="49" charset="0"/>
              </a:rPr>
              <a:t>integrale</a:t>
            </a:r>
            <a:r>
              <a:rPr lang="fr-FR" altLang="fr-FR" sz="1600" b="1" dirty="0">
                <a:solidFill>
                  <a:srgbClr val="228B22"/>
                </a:solidFill>
                <a:latin typeface="Courier New" panose="02070309020205020404" pitchFamily="49" charset="0"/>
              </a:rPr>
              <a:t> </a:t>
            </a:r>
            <a:r>
              <a:rPr lang="fr-FR" altLang="fr-FR" sz="1600" b="1" dirty="0" err="1">
                <a:solidFill>
                  <a:srgbClr val="228B22"/>
                </a:solidFill>
                <a:latin typeface="Courier New" panose="02070309020205020404" pitchFamily="49" charset="0"/>
              </a:rPr>
              <a:t>elementaire</a:t>
            </a:r>
            <a:r>
              <a:rPr lang="fr-FR" altLang="fr-FR" sz="1600" b="1" dirty="0">
                <a:solidFill>
                  <a:srgbClr val="228B22"/>
                </a:solidFill>
                <a:latin typeface="Courier New" panose="02070309020205020404" pitchFamily="49" charset="0"/>
              </a:rPr>
              <a:t> et de la surface</a:t>
            </a:r>
            <a:endParaRPr lang="fr-FR" altLang="fr-FR" sz="1600" dirty="0"/>
          </a:p>
          <a:p>
            <a:pPr>
              <a:spcBef>
                <a:spcPct val="0"/>
              </a:spcBef>
              <a:buFontTx/>
              <a:buNone/>
            </a:pPr>
            <a:r>
              <a:rPr lang="fr-FR" altLang="fr-FR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fr-FR" altLang="fr-FR" sz="1600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[</a:t>
            </a:r>
            <a:r>
              <a:rPr lang="fr-FR" altLang="fr-FR" sz="1600" b="1" dirty="0" err="1" smtClean="0">
                <a:solidFill>
                  <a:srgbClr val="000000"/>
                </a:solidFill>
                <a:latin typeface="Courier New" panose="02070309020205020404" pitchFamily="49" charset="0"/>
              </a:rPr>
              <a:t>Ie</a:t>
            </a:r>
            <a:r>
              <a:rPr lang="fr-FR" altLang="fr-FR" sz="1600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, Se]=</a:t>
            </a:r>
            <a:r>
              <a:rPr lang="fr-FR" altLang="fr-FR" sz="16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integrale</a:t>
            </a:r>
            <a:r>
              <a:rPr lang="fr-FR" altLang="fr-FR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fr-FR" altLang="fr-FR" sz="16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gauss,fem,ne</a:t>
            </a:r>
            <a:r>
              <a:rPr lang="fr-FR" altLang="fr-FR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);</a:t>
            </a:r>
            <a:endParaRPr lang="fr-FR" altLang="fr-FR" sz="1600" dirty="0"/>
          </a:p>
          <a:p>
            <a:pPr>
              <a:spcBef>
                <a:spcPct val="0"/>
              </a:spcBef>
              <a:buFontTx/>
              <a:buNone/>
            </a:pPr>
            <a:r>
              <a:rPr lang="fr-FR" altLang="fr-FR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fr-FR" altLang="fr-FR" sz="1600" dirty="0"/>
          </a:p>
          <a:p>
            <a:pPr>
              <a:spcBef>
                <a:spcPct val="0"/>
              </a:spcBef>
              <a:buFontTx/>
              <a:buNone/>
            </a:pPr>
            <a:r>
              <a:rPr lang="fr-FR" altLang="fr-FR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fr-FR" altLang="fr-FR" sz="1600" b="1" dirty="0">
                <a:solidFill>
                  <a:srgbClr val="228B22"/>
                </a:solidFill>
                <a:latin typeface="Courier New" panose="02070309020205020404" pitchFamily="49" charset="0"/>
              </a:rPr>
              <a:t>% Accumulation</a:t>
            </a:r>
            <a:endParaRPr lang="fr-FR" altLang="fr-FR" sz="1600" dirty="0"/>
          </a:p>
          <a:p>
            <a:pPr>
              <a:spcBef>
                <a:spcPct val="0"/>
              </a:spcBef>
              <a:buFontTx/>
              <a:buNone/>
            </a:pPr>
            <a:r>
              <a:rPr lang="fr-FR" altLang="fr-FR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fr-FR" altLang="fr-FR" sz="1600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I </a:t>
            </a:r>
            <a:r>
              <a:rPr lang="fr-FR" altLang="fr-FR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= </a:t>
            </a:r>
            <a:r>
              <a:rPr lang="fr-FR" altLang="fr-FR" sz="1600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I </a:t>
            </a:r>
            <a:r>
              <a:rPr lang="fr-FR" altLang="fr-FR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+ </a:t>
            </a:r>
            <a:r>
              <a:rPr lang="fr-FR" altLang="fr-FR" sz="1600" b="1" dirty="0" err="1" smtClean="0">
                <a:solidFill>
                  <a:srgbClr val="000000"/>
                </a:solidFill>
                <a:latin typeface="Courier New" panose="02070309020205020404" pitchFamily="49" charset="0"/>
              </a:rPr>
              <a:t>Ie</a:t>
            </a:r>
            <a:r>
              <a:rPr lang="fr-FR" altLang="fr-FR" sz="1600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; </a:t>
            </a:r>
            <a:r>
              <a:rPr lang="fr-FR" altLang="fr-FR" sz="1600" b="1" dirty="0">
                <a:solidFill>
                  <a:srgbClr val="228B22"/>
                </a:solidFill>
                <a:latin typeface="Courier New" panose="02070309020205020404" pitchFamily="49" charset="0"/>
              </a:rPr>
              <a:t>% Calcul de la </a:t>
            </a:r>
            <a:r>
              <a:rPr lang="fr-FR" altLang="fr-FR" sz="1600" b="1" dirty="0" err="1">
                <a:solidFill>
                  <a:srgbClr val="228B22"/>
                </a:solidFill>
                <a:latin typeface="Courier New" panose="02070309020205020404" pitchFamily="49" charset="0"/>
              </a:rPr>
              <a:t>precipitation</a:t>
            </a:r>
            <a:endParaRPr lang="fr-FR" altLang="fr-FR" sz="1600" dirty="0"/>
          </a:p>
          <a:p>
            <a:pPr>
              <a:spcBef>
                <a:spcPct val="0"/>
              </a:spcBef>
              <a:buFontTx/>
              <a:buNone/>
            </a:pPr>
            <a:r>
              <a:rPr lang="fr-FR" altLang="fr-FR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fr-FR" altLang="fr-FR" sz="1600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S </a:t>
            </a:r>
            <a:r>
              <a:rPr lang="fr-FR" altLang="fr-FR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= </a:t>
            </a:r>
            <a:r>
              <a:rPr lang="fr-FR" altLang="fr-FR" sz="1600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S </a:t>
            </a:r>
            <a:r>
              <a:rPr lang="fr-FR" altLang="fr-FR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+ </a:t>
            </a:r>
            <a:r>
              <a:rPr lang="fr-FR" altLang="fr-FR" sz="1600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Se; </a:t>
            </a:r>
            <a:r>
              <a:rPr lang="fr-FR" altLang="fr-FR" sz="1600" b="1" dirty="0">
                <a:solidFill>
                  <a:srgbClr val="228B22"/>
                </a:solidFill>
                <a:latin typeface="Courier New" panose="02070309020205020404" pitchFamily="49" charset="0"/>
              </a:rPr>
              <a:t>% Calcul de la surface</a:t>
            </a:r>
            <a:endParaRPr lang="fr-FR" altLang="fr-FR" sz="1600" dirty="0"/>
          </a:p>
          <a:p>
            <a:pPr>
              <a:spcBef>
                <a:spcPct val="0"/>
              </a:spcBef>
              <a:buFontTx/>
              <a:buNone/>
            </a:pPr>
            <a:r>
              <a:rPr lang="fr-FR" altLang="fr-FR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endParaRPr lang="fr-FR" altLang="fr-FR" sz="1600" dirty="0"/>
          </a:p>
          <a:p>
            <a:pPr>
              <a:spcBef>
                <a:spcPct val="0"/>
              </a:spcBef>
              <a:buFontTx/>
              <a:buNone/>
            </a:pPr>
            <a:r>
              <a:rPr lang="fr-FR" altLang="fr-FR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fr-FR" altLang="fr-FR" sz="16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resultat_elem</a:t>
            </a:r>
            <a:r>
              <a:rPr lang="fr-FR" altLang="fr-FR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(ne</a:t>
            </a:r>
            <a:r>
              <a:rPr lang="fr-FR" altLang="fr-FR" sz="1600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)=</a:t>
            </a:r>
            <a:r>
              <a:rPr lang="fr-FR" altLang="fr-FR" sz="1600" b="1" dirty="0" err="1" smtClean="0">
                <a:solidFill>
                  <a:srgbClr val="000000"/>
                </a:solidFill>
                <a:latin typeface="Courier New" panose="02070309020205020404" pitchFamily="49" charset="0"/>
              </a:rPr>
              <a:t>Ie</a:t>
            </a:r>
            <a:r>
              <a:rPr lang="fr-FR" altLang="fr-FR" sz="1600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;</a:t>
            </a:r>
            <a:endParaRPr lang="fr-FR" altLang="fr-FR" sz="1600" dirty="0"/>
          </a:p>
          <a:p>
            <a:pPr>
              <a:spcBef>
                <a:spcPct val="0"/>
              </a:spcBef>
              <a:buFontTx/>
              <a:buNone/>
            </a:pPr>
            <a:r>
              <a:rPr lang="fr-FR" altLang="fr-FR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fr-FR" altLang="fr-FR" sz="16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surface_elem</a:t>
            </a:r>
            <a:r>
              <a:rPr lang="fr-FR" altLang="fr-FR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(ne</a:t>
            </a:r>
            <a:r>
              <a:rPr lang="fr-FR" altLang="fr-FR" sz="1600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) =Se;</a:t>
            </a:r>
            <a:endParaRPr lang="fr-FR" altLang="fr-FR" sz="1600" dirty="0"/>
          </a:p>
          <a:p>
            <a:pPr>
              <a:spcBef>
                <a:spcPct val="0"/>
              </a:spcBef>
              <a:buFontTx/>
              <a:buNone/>
            </a:pPr>
            <a:r>
              <a:rPr lang="fr-FR" altLang="fr-FR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endParaRPr lang="fr-FR" altLang="fr-FR" sz="1600" dirty="0"/>
          </a:p>
          <a:p>
            <a:pPr>
              <a:spcBef>
                <a:spcPct val="0"/>
              </a:spcBef>
              <a:buFontTx/>
              <a:buNone/>
            </a:pPr>
            <a:r>
              <a:rPr lang="fr-FR" altLang="fr-FR" sz="1600" b="1" dirty="0">
                <a:solidFill>
                  <a:srgbClr val="0000FF"/>
                </a:solidFill>
                <a:latin typeface="Courier New" panose="02070309020205020404" pitchFamily="49" charset="0"/>
              </a:rPr>
              <a:t>end</a:t>
            </a:r>
            <a:endParaRPr lang="fr-FR" altLang="fr-FR" sz="1600" dirty="0"/>
          </a:p>
          <a:p>
            <a:pPr>
              <a:spcBef>
                <a:spcPct val="0"/>
              </a:spcBef>
              <a:buFontTx/>
              <a:buNone/>
            </a:pPr>
            <a:endParaRPr lang="fr-FR" altLang="fr-FR" sz="1600" dirty="0"/>
          </a:p>
        </p:txBody>
      </p:sp>
      <p:sp>
        <p:nvSpPr>
          <p:cNvPr id="29699" name="Text Box 3"/>
          <p:cNvSpPr txBox="1">
            <a:spLocks noChangeArrowheads="1"/>
          </p:cNvSpPr>
          <p:nvPr/>
        </p:nvSpPr>
        <p:spPr bwMode="auto">
          <a:xfrm>
            <a:off x="7524750" y="123825"/>
            <a:ext cx="14668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2000" b="1">
                <a:latin typeface="Arial" panose="020B0604020202020204" pitchFamily="34" charset="0"/>
              </a:rPr>
              <a:t>solution.m</a:t>
            </a:r>
          </a:p>
        </p:txBody>
      </p:sp>
      <p:graphicFrame>
        <p:nvGraphicFramePr>
          <p:cNvPr id="29700" name="Object 4"/>
          <p:cNvGraphicFramePr>
            <a:graphicFrameLocks noChangeAspect="1"/>
          </p:cNvGraphicFramePr>
          <p:nvPr/>
        </p:nvGraphicFramePr>
        <p:xfrm>
          <a:off x="2925763" y="1657350"/>
          <a:ext cx="5678487" cy="763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68" name="Equation" r:id="rId3" imgW="2832100" imgH="381000" progId="Equation.3">
                  <p:embed/>
                </p:oleObj>
              </mc:Choice>
              <mc:Fallback>
                <p:oleObj name="Equation" r:id="rId3" imgW="2832100" imgH="3810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25763" y="1657350"/>
                        <a:ext cx="5678487" cy="763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01" name="Line 5"/>
          <p:cNvSpPr>
            <a:spLocks noChangeShapeType="1"/>
          </p:cNvSpPr>
          <p:nvPr/>
        </p:nvSpPr>
        <p:spPr bwMode="auto">
          <a:xfrm flipH="1">
            <a:off x="1979613" y="2276475"/>
            <a:ext cx="4105275" cy="865188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9702" name="Text Box 6"/>
          <p:cNvSpPr txBox="1">
            <a:spLocks noChangeArrowheads="1"/>
          </p:cNvSpPr>
          <p:nvPr/>
        </p:nvSpPr>
        <p:spPr bwMode="auto">
          <a:xfrm>
            <a:off x="250825" y="188913"/>
            <a:ext cx="67691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fr-FR" altLang="fr-FR" sz="2000" b="1">
                <a:solidFill>
                  <a:srgbClr val="FF0000"/>
                </a:solidFill>
                <a:latin typeface="Arial" panose="020B0604020202020204" pitchFamily="34" charset="0"/>
              </a:rPr>
              <a:t>Calcul de la somme des intégrales élémentaires</a:t>
            </a:r>
          </a:p>
        </p:txBody>
      </p:sp>
      <p:sp>
        <p:nvSpPr>
          <p:cNvPr id="29703" name="Rectangle 7"/>
          <p:cNvSpPr>
            <a:spLocks noChangeArrowheads="1"/>
          </p:cNvSpPr>
          <p:nvPr/>
        </p:nvSpPr>
        <p:spPr bwMode="auto">
          <a:xfrm>
            <a:off x="6516688" y="1628775"/>
            <a:ext cx="2159000" cy="863600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fr-FR" altLang="fr-FR" sz="2400"/>
          </a:p>
        </p:txBody>
      </p:sp>
      <p:sp>
        <p:nvSpPr>
          <p:cNvPr id="29704" name="Text Box 8"/>
          <p:cNvSpPr txBox="1">
            <a:spLocks noChangeArrowheads="1"/>
          </p:cNvSpPr>
          <p:nvPr/>
        </p:nvSpPr>
        <p:spPr bwMode="auto">
          <a:xfrm>
            <a:off x="7380288" y="1125538"/>
            <a:ext cx="43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fr-FR" altLang="fr-FR" sz="2400" b="1">
                <a:solidFill>
                  <a:srgbClr val="990099"/>
                </a:solidFill>
                <a:latin typeface="Trebuchet MS" panose="020B0603020202020204" pitchFamily="34" charset="0"/>
              </a:rPr>
              <a:t>?</a:t>
            </a:r>
          </a:p>
        </p:txBody>
      </p:sp>
      <p:sp>
        <p:nvSpPr>
          <p:cNvPr id="29705" name="Line 11"/>
          <p:cNvSpPr>
            <a:spLocks noChangeShapeType="1"/>
          </p:cNvSpPr>
          <p:nvPr/>
        </p:nvSpPr>
        <p:spPr bwMode="auto">
          <a:xfrm>
            <a:off x="7524750" y="2492375"/>
            <a:ext cx="0" cy="1800225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9706" name="Line 12"/>
          <p:cNvSpPr>
            <a:spLocks noChangeShapeType="1"/>
          </p:cNvSpPr>
          <p:nvPr/>
        </p:nvSpPr>
        <p:spPr bwMode="auto">
          <a:xfrm flipH="1">
            <a:off x="1258888" y="4292600"/>
            <a:ext cx="6265862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9707" name="Line 13"/>
          <p:cNvSpPr>
            <a:spLocks noChangeShapeType="1"/>
          </p:cNvSpPr>
          <p:nvPr/>
        </p:nvSpPr>
        <p:spPr bwMode="auto">
          <a:xfrm flipV="1">
            <a:off x="1258888" y="4076700"/>
            <a:ext cx="0" cy="2159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9708" name="Espace réservé du numéro de diapositive 1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DAEBFEA-09EF-4E21-A6F3-1C408FBC2171}" type="slidenum">
              <a:rPr lang="fr-FR" altLang="fr-FR" sz="1400"/>
              <a:pPr>
                <a:spcBef>
                  <a:spcPct val="0"/>
                </a:spcBef>
                <a:buFontTx/>
                <a:buNone/>
              </a:pPr>
              <a:t>24</a:t>
            </a:fld>
            <a:endParaRPr lang="fr-FR" altLang="fr-FR" sz="1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ext Box 4"/>
          <p:cNvSpPr txBox="1">
            <a:spLocks noChangeArrowheads="1"/>
          </p:cNvSpPr>
          <p:nvPr/>
        </p:nvSpPr>
        <p:spPr bwMode="auto">
          <a:xfrm>
            <a:off x="7594600" y="63500"/>
            <a:ext cx="14033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 b="1">
                <a:latin typeface="Arial" panose="020B0604020202020204" pitchFamily="34" charset="0"/>
              </a:rPr>
              <a:t>integrale.m</a:t>
            </a:r>
          </a:p>
        </p:txBody>
      </p:sp>
      <p:sp>
        <p:nvSpPr>
          <p:cNvPr id="30723" name="Text Box 10"/>
          <p:cNvSpPr txBox="1">
            <a:spLocks noChangeArrowheads="1"/>
          </p:cNvSpPr>
          <p:nvPr/>
        </p:nvSpPr>
        <p:spPr bwMode="auto">
          <a:xfrm>
            <a:off x="395288" y="188913"/>
            <a:ext cx="61928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fr-FR" altLang="fr-FR" sz="2000" b="1">
                <a:solidFill>
                  <a:srgbClr val="FF0000"/>
                </a:solidFill>
                <a:latin typeface="Arial" panose="020B0604020202020204" pitchFamily="34" charset="0"/>
              </a:rPr>
              <a:t>Calcul de chaque intégrale élémentaire (1/2)</a:t>
            </a:r>
          </a:p>
        </p:txBody>
      </p:sp>
      <p:sp>
        <p:nvSpPr>
          <p:cNvPr id="30724" name="Text Box 18"/>
          <p:cNvSpPr txBox="1">
            <a:spLocks noChangeArrowheads="1"/>
          </p:cNvSpPr>
          <p:nvPr/>
        </p:nvSpPr>
        <p:spPr bwMode="auto">
          <a:xfrm>
            <a:off x="395288" y="692150"/>
            <a:ext cx="8129587" cy="5226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fr-FR" altLang="fr-FR" sz="1600" b="1" dirty="0" err="1">
                <a:solidFill>
                  <a:srgbClr val="0000FF"/>
                </a:solidFill>
                <a:latin typeface="Courier New" panose="02070309020205020404" pitchFamily="49" charset="0"/>
              </a:rPr>
              <a:t>function</a:t>
            </a:r>
            <a:r>
              <a:rPr lang="fr-FR" altLang="fr-FR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fr-FR" altLang="fr-FR" sz="1600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[</a:t>
            </a:r>
            <a:r>
              <a:rPr lang="fr-FR" altLang="fr-FR" sz="1600" b="1" dirty="0" err="1" smtClean="0">
                <a:solidFill>
                  <a:srgbClr val="000000"/>
                </a:solidFill>
                <a:latin typeface="Courier New" panose="02070309020205020404" pitchFamily="49" charset="0"/>
              </a:rPr>
              <a:t>Ie</a:t>
            </a:r>
            <a:r>
              <a:rPr lang="fr-FR" altLang="fr-FR" sz="1600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, Se]=</a:t>
            </a:r>
            <a:r>
              <a:rPr lang="fr-FR" altLang="fr-FR" sz="16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integrale</a:t>
            </a:r>
            <a:r>
              <a:rPr lang="fr-FR" altLang="fr-FR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fr-FR" altLang="fr-FR" sz="16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gauss,fem,ne</a:t>
            </a:r>
            <a:r>
              <a:rPr lang="fr-FR" altLang="fr-FR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  <a:endParaRPr lang="fr-FR" altLang="fr-FR" sz="1600" dirty="0"/>
          </a:p>
          <a:p>
            <a:pPr>
              <a:spcBef>
                <a:spcPct val="0"/>
              </a:spcBef>
              <a:buFontTx/>
              <a:buNone/>
            </a:pPr>
            <a:r>
              <a:rPr lang="fr-FR" altLang="fr-FR" sz="1600" b="1" dirty="0">
                <a:solidFill>
                  <a:srgbClr val="228B22"/>
                </a:solidFill>
                <a:latin typeface="Courier New" panose="02070309020205020404" pitchFamily="49" charset="0"/>
              </a:rPr>
              <a:t>% Calcul de l </a:t>
            </a:r>
            <a:r>
              <a:rPr lang="fr-FR" altLang="fr-FR" sz="1600" b="1" dirty="0" err="1" smtClean="0">
                <a:solidFill>
                  <a:srgbClr val="228B22"/>
                </a:solidFill>
                <a:latin typeface="Courier New" panose="02070309020205020404" pitchFamily="49" charset="0"/>
              </a:rPr>
              <a:t>integrale</a:t>
            </a:r>
            <a:r>
              <a:rPr lang="fr-FR" altLang="fr-FR" sz="1600" b="1" dirty="0" smtClean="0">
                <a:solidFill>
                  <a:srgbClr val="228B22"/>
                </a:solidFill>
                <a:latin typeface="Courier New" panose="02070309020205020404" pitchFamily="49" charset="0"/>
              </a:rPr>
              <a:t> </a:t>
            </a:r>
            <a:r>
              <a:rPr lang="fr-FR" altLang="fr-FR" sz="1600" b="1" dirty="0" err="1" smtClean="0">
                <a:solidFill>
                  <a:srgbClr val="228B22"/>
                </a:solidFill>
                <a:latin typeface="Courier New" panose="02070309020205020404" pitchFamily="49" charset="0"/>
              </a:rPr>
              <a:t>Ie</a:t>
            </a:r>
            <a:r>
              <a:rPr lang="fr-FR" altLang="fr-FR" sz="1600" b="1" dirty="0" smtClean="0">
                <a:solidFill>
                  <a:srgbClr val="228B22"/>
                </a:solidFill>
                <a:latin typeface="Courier New" panose="02070309020205020404" pitchFamily="49" charset="0"/>
              </a:rPr>
              <a:t> sur l’</a:t>
            </a:r>
            <a:r>
              <a:rPr lang="fr-FR" altLang="fr-FR" sz="1600" b="1" dirty="0" err="1" smtClean="0">
                <a:solidFill>
                  <a:srgbClr val="228B22"/>
                </a:solidFill>
                <a:latin typeface="Courier New" panose="02070309020205020404" pitchFamily="49" charset="0"/>
              </a:rPr>
              <a:t>element</a:t>
            </a:r>
            <a:r>
              <a:rPr lang="fr-FR" altLang="fr-FR" sz="1600" b="1" dirty="0" smtClean="0">
                <a:solidFill>
                  <a:srgbClr val="228B22"/>
                </a:solidFill>
                <a:latin typeface="Courier New" panose="02070309020205020404" pitchFamily="49" charset="0"/>
              </a:rPr>
              <a:t> ne</a:t>
            </a:r>
            <a:endParaRPr lang="fr-FR" altLang="fr-FR" sz="1600" dirty="0"/>
          </a:p>
          <a:p>
            <a:pPr>
              <a:spcBef>
                <a:spcPct val="0"/>
              </a:spcBef>
              <a:buFontTx/>
              <a:buNone/>
            </a:pPr>
            <a:r>
              <a:rPr lang="fr-FR" altLang="fr-FR" sz="1600" b="1" dirty="0">
                <a:solidFill>
                  <a:srgbClr val="228B22"/>
                </a:solidFill>
                <a:latin typeface="Courier New" panose="02070309020205020404" pitchFamily="49" charset="0"/>
              </a:rPr>
              <a:t>% et calcul de </a:t>
            </a:r>
            <a:r>
              <a:rPr lang="fr-FR" altLang="fr-FR" sz="1600" b="1" dirty="0" smtClean="0">
                <a:solidFill>
                  <a:srgbClr val="228B22"/>
                </a:solidFill>
                <a:latin typeface="Courier New" panose="02070309020205020404" pitchFamily="49" charset="0"/>
              </a:rPr>
              <a:t>sa </a:t>
            </a:r>
            <a:r>
              <a:rPr lang="fr-FR" altLang="fr-FR" sz="1600" b="1" dirty="0">
                <a:solidFill>
                  <a:srgbClr val="228B22"/>
                </a:solidFill>
                <a:latin typeface="Courier New" panose="02070309020205020404" pitchFamily="49" charset="0"/>
              </a:rPr>
              <a:t>surface </a:t>
            </a:r>
            <a:r>
              <a:rPr lang="fr-FR" altLang="fr-FR" sz="1600" b="1" dirty="0" smtClean="0">
                <a:solidFill>
                  <a:srgbClr val="228B22"/>
                </a:solidFill>
                <a:latin typeface="Courier New" panose="02070309020205020404" pitchFamily="49" charset="0"/>
              </a:rPr>
              <a:t>Se</a:t>
            </a:r>
            <a:endParaRPr lang="fr-FR" altLang="fr-FR" sz="1600" dirty="0"/>
          </a:p>
          <a:p>
            <a:pPr>
              <a:spcBef>
                <a:spcPct val="0"/>
              </a:spcBef>
              <a:buFontTx/>
              <a:buNone/>
            </a:pPr>
            <a:r>
              <a:rPr lang="fr-FR" altLang="fr-FR" sz="1600" b="1" dirty="0">
                <a:solidFill>
                  <a:srgbClr val="228B22"/>
                </a:solidFill>
                <a:latin typeface="Courier New" panose="02070309020205020404" pitchFamily="49" charset="0"/>
              </a:rPr>
              <a:t>% </a:t>
            </a:r>
            <a:endParaRPr lang="fr-FR" altLang="fr-FR" sz="1600" dirty="0"/>
          </a:p>
          <a:p>
            <a:pPr>
              <a:spcBef>
                <a:spcPct val="0"/>
              </a:spcBef>
              <a:buFontTx/>
              <a:buNone/>
            </a:pPr>
            <a:r>
              <a:rPr lang="fr-FR" altLang="fr-FR" sz="1600" b="1" dirty="0" err="1" smtClean="0">
                <a:solidFill>
                  <a:srgbClr val="000000"/>
                </a:solidFill>
                <a:latin typeface="Courier New" panose="02070309020205020404" pitchFamily="49" charset="0"/>
              </a:rPr>
              <a:t>Ie</a:t>
            </a:r>
            <a:r>
              <a:rPr lang="fr-FR" altLang="fr-FR" sz="1600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 </a:t>
            </a:r>
            <a:r>
              <a:rPr lang="fr-FR" altLang="fr-FR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= 0.;</a:t>
            </a:r>
            <a:endParaRPr lang="fr-FR" altLang="fr-FR" sz="1600" dirty="0"/>
          </a:p>
          <a:p>
            <a:pPr>
              <a:spcBef>
                <a:spcPct val="0"/>
              </a:spcBef>
              <a:buFontTx/>
              <a:buNone/>
            </a:pPr>
            <a:r>
              <a:rPr lang="fr-FR" altLang="fr-FR" sz="1600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Se  </a:t>
            </a:r>
            <a:r>
              <a:rPr lang="fr-FR" altLang="fr-FR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= 0.;</a:t>
            </a:r>
            <a:endParaRPr lang="fr-FR" altLang="fr-FR" sz="1600" dirty="0"/>
          </a:p>
          <a:p>
            <a:pPr>
              <a:spcBef>
                <a:spcPct val="0"/>
              </a:spcBef>
              <a:buFontTx/>
              <a:buNone/>
            </a:pPr>
            <a:endParaRPr lang="fr-FR" altLang="fr-FR" sz="1600" b="1" dirty="0">
              <a:solidFill>
                <a:srgbClr val="0000FF"/>
              </a:solidFill>
              <a:latin typeface="Courier New" panose="02070309020205020404" pitchFamily="49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fr-FR" altLang="fr-FR" sz="1600" b="1" dirty="0">
                <a:solidFill>
                  <a:srgbClr val="0000FF"/>
                </a:solidFill>
                <a:latin typeface="Courier New" panose="02070309020205020404" pitchFamily="49" charset="0"/>
              </a:rPr>
              <a:t>switch</a:t>
            </a:r>
            <a:r>
              <a:rPr lang="fr-FR" altLang="fr-FR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fr-FR" altLang="fr-FR" sz="16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fem.elt</a:t>
            </a:r>
            <a:r>
              <a:rPr lang="fr-FR" altLang="fr-FR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(ne).NBN)</a:t>
            </a:r>
            <a:endParaRPr lang="fr-FR" altLang="fr-FR" sz="1600" dirty="0"/>
          </a:p>
          <a:p>
            <a:pPr>
              <a:spcBef>
                <a:spcPct val="0"/>
              </a:spcBef>
              <a:buFontTx/>
              <a:buNone/>
            </a:pPr>
            <a:r>
              <a:rPr lang="fr-FR" altLang="fr-FR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fr-FR" altLang="fr-FR" sz="1600" b="1" dirty="0">
                <a:solidFill>
                  <a:srgbClr val="0000FF"/>
                </a:solidFill>
                <a:latin typeface="Courier New" panose="02070309020205020404" pitchFamily="49" charset="0"/>
              </a:rPr>
              <a:t>case</a:t>
            </a:r>
            <a:r>
              <a:rPr lang="fr-FR" altLang="fr-FR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4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fr-FR" altLang="fr-FR" sz="1600" b="1" dirty="0">
                <a:solidFill>
                  <a:srgbClr val="228B22"/>
                </a:solidFill>
                <a:latin typeface="Courier New" panose="02070309020205020404" pitchFamily="49" charset="0"/>
              </a:rPr>
              <a:t>    % quadrangle a 4 nœuds</a:t>
            </a:r>
            <a:r>
              <a:rPr lang="fr-FR" altLang="fr-FR" sz="1600" dirty="0"/>
              <a:t> - </a:t>
            </a:r>
            <a:r>
              <a:rPr lang="fr-FR" altLang="fr-FR" sz="1600" b="1" dirty="0">
                <a:solidFill>
                  <a:srgbClr val="228B22"/>
                </a:solidFill>
                <a:latin typeface="Courier New" panose="02070309020205020404" pitchFamily="49" charset="0"/>
              </a:rPr>
              <a:t>chargement de la structure gauss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fr-FR" altLang="fr-FR" sz="1600" b="1" dirty="0">
                <a:solidFill>
                  <a:srgbClr val="228B22"/>
                </a:solidFill>
                <a:latin typeface="Courier New" panose="02070309020205020404" pitchFamily="49" charset="0"/>
              </a:rPr>
              <a:t>    % E/ : </a:t>
            </a:r>
            <a:r>
              <a:rPr lang="fr-FR" altLang="fr-FR" sz="1600" b="1" dirty="0" err="1">
                <a:solidFill>
                  <a:srgbClr val="228B22"/>
                </a:solidFill>
                <a:latin typeface="Courier New" panose="02070309020205020404" pitchFamily="49" charset="0"/>
              </a:rPr>
              <a:t>gauss.NPI</a:t>
            </a:r>
            <a:r>
              <a:rPr lang="fr-FR" altLang="fr-FR" sz="1600" b="1" dirty="0">
                <a:solidFill>
                  <a:srgbClr val="228B22"/>
                </a:solidFill>
                <a:latin typeface="Courier New" panose="02070309020205020404" pitchFamily="49" charset="0"/>
              </a:rPr>
              <a:t> = nb de points de Gauss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fr-FR" altLang="fr-FR" sz="1600" b="1" dirty="0">
                <a:solidFill>
                  <a:srgbClr val="228B22"/>
                </a:solidFill>
                <a:latin typeface="Courier New" panose="02070309020205020404" pitchFamily="49" charset="0"/>
              </a:rPr>
              <a:t>    % S/ : </a:t>
            </a:r>
            <a:r>
              <a:rPr lang="fr-FR" altLang="fr-FR" sz="1600" b="1" dirty="0" err="1">
                <a:solidFill>
                  <a:srgbClr val="228B22"/>
                </a:solidFill>
                <a:latin typeface="Courier New" panose="02070309020205020404" pitchFamily="49" charset="0"/>
              </a:rPr>
              <a:t>gauss.alpha</a:t>
            </a:r>
            <a:r>
              <a:rPr lang="fr-FR" altLang="fr-FR" sz="1600" b="1" dirty="0">
                <a:solidFill>
                  <a:srgbClr val="228B22"/>
                </a:solidFill>
                <a:latin typeface="Courier New" panose="02070309020205020404" pitchFamily="49" charset="0"/>
              </a:rPr>
              <a:t>(1:NBN, 1:NPI) = </a:t>
            </a:r>
            <a:r>
              <a:rPr lang="fr-FR" altLang="fr-FR" sz="1600" b="1" dirty="0" err="1">
                <a:solidFill>
                  <a:srgbClr val="228B22"/>
                </a:solidFill>
                <a:latin typeface="Courier New" panose="02070309020205020404" pitchFamily="49" charset="0"/>
              </a:rPr>
              <a:t>polynomes</a:t>
            </a:r>
            <a:r>
              <a:rPr lang="fr-FR" altLang="fr-FR" sz="1600" b="1" dirty="0">
                <a:solidFill>
                  <a:srgbClr val="228B22"/>
                </a:solidFill>
                <a:latin typeface="Courier New" panose="02070309020205020404" pitchFamily="49" charset="0"/>
              </a:rPr>
              <a:t> de Lagrange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fr-FR" altLang="fr-FR" sz="1600" b="1" dirty="0">
                <a:solidFill>
                  <a:srgbClr val="228B22"/>
                </a:solidFill>
                <a:latin typeface="Courier New" panose="02070309020205020404" pitchFamily="49" charset="0"/>
              </a:rPr>
              <a:t>    % S/ : </a:t>
            </a:r>
            <a:r>
              <a:rPr lang="fr-FR" altLang="fr-FR" sz="1600" b="1" dirty="0" err="1">
                <a:solidFill>
                  <a:srgbClr val="228B22"/>
                </a:solidFill>
                <a:latin typeface="Courier New" panose="02070309020205020404" pitchFamily="49" charset="0"/>
              </a:rPr>
              <a:t>gauss.pds</a:t>
            </a:r>
            <a:r>
              <a:rPr lang="fr-FR" altLang="fr-FR" sz="1600" b="1" dirty="0">
                <a:solidFill>
                  <a:srgbClr val="228B22"/>
                </a:solidFill>
                <a:latin typeface="Courier New" panose="02070309020205020404" pitchFamily="49" charset="0"/>
              </a:rPr>
              <a:t>(1:NPI) = poids aux points de Gauss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fr-FR" altLang="fr-FR" sz="1600" b="1" dirty="0">
                <a:solidFill>
                  <a:srgbClr val="228B22"/>
                </a:solidFill>
                <a:latin typeface="Courier New" panose="02070309020205020404" pitchFamily="49" charset="0"/>
              </a:rPr>
              <a:t>    % S/ : </a:t>
            </a:r>
            <a:r>
              <a:rPr lang="fr-FR" altLang="fr-FR" sz="1600" b="1" dirty="0" err="1">
                <a:solidFill>
                  <a:srgbClr val="228B22"/>
                </a:solidFill>
                <a:latin typeface="Courier New" panose="02070309020205020404" pitchFamily="49" charset="0"/>
              </a:rPr>
              <a:t>gauss.detJ</a:t>
            </a:r>
            <a:r>
              <a:rPr lang="fr-FR" altLang="fr-FR" sz="1600" b="1" dirty="0">
                <a:solidFill>
                  <a:srgbClr val="228B22"/>
                </a:solidFill>
                <a:latin typeface="Courier New" panose="02070309020205020404" pitchFamily="49" charset="0"/>
              </a:rPr>
              <a:t>(1:NPI) = </a:t>
            </a:r>
            <a:r>
              <a:rPr lang="fr-FR" altLang="fr-FR" sz="1600" b="1" dirty="0" err="1">
                <a:solidFill>
                  <a:srgbClr val="228B22"/>
                </a:solidFill>
                <a:latin typeface="Courier New" panose="02070309020205020404" pitchFamily="49" charset="0"/>
              </a:rPr>
              <a:t>det</a:t>
            </a:r>
            <a:r>
              <a:rPr lang="fr-FR" altLang="fr-FR" sz="1600" b="1" dirty="0">
                <a:solidFill>
                  <a:srgbClr val="228B22"/>
                </a:solidFill>
                <a:latin typeface="Courier New" panose="02070309020205020404" pitchFamily="49" charset="0"/>
              </a:rPr>
              <a:t> </a:t>
            </a:r>
            <a:r>
              <a:rPr lang="fr-FR" altLang="fr-FR" sz="1600" b="1" dirty="0" err="1">
                <a:solidFill>
                  <a:srgbClr val="228B22"/>
                </a:solidFill>
                <a:latin typeface="Courier New" panose="02070309020205020404" pitchFamily="49" charset="0"/>
              </a:rPr>
              <a:t>jacobien</a:t>
            </a:r>
            <a:r>
              <a:rPr lang="fr-FR" altLang="fr-FR" sz="1600" b="1" dirty="0">
                <a:solidFill>
                  <a:srgbClr val="228B22"/>
                </a:solidFill>
                <a:latin typeface="Courier New" panose="02070309020205020404" pitchFamily="49" charset="0"/>
              </a:rPr>
              <a:t> aux points de Gauss</a:t>
            </a:r>
            <a:endParaRPr lang="fr-FR" altLang="fr-FR" sz="1600" dirty="0">
              <a:solidFill>
                <a:schemeClr val="accent1"/>
              </a:solidFill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fr-FR" altLang="fr-FR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[gauss]=polynomes_Q4(</a:t>
            </a:r>
            <a:r>
              <a:rPr lang="fr-FR" altLang="fr-FR" sz="16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gauss,fem,ne</a:t>
            </a:r>
            <a:r>
              <a:rPr lang="fr-FR" altLang="fr-FR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);</a:t>
            </a:r>
          </a:p>
          <a:p>
            <a:pPr>
              <a:spcBef>
                <a:spcPct val="0"/>
              </a:spcBef>
              <a:buFontTx/>
              <a:buNone/>
            </a:pPr>
            <a:endParaRPr lang="fr-FR" altLang="fr-FR" sz="1600" dirty="0"/>
          </a:p>
          <a:p>
            <a:pPr>
              <a:spcBef>
                <a:spcPct val="0"/>
              </a:spcBef>
              <a:buFontTx/>
              <a:buNone/>
            </a:pPr>
            <a:r>
              <a:rPr lang="fr-FR" altLang="fr-FR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fr-FR" altLang="fr-FR" sz="1600" b="1" dirty="0">
                <a:solidFill>
                  <a:srgbClr val="0000FF"/>
                </a:solidFill>
                <a:latin typeface="Courier New" panose="02070309020205020404" pitchFamily="49" charset="0"/>
              </a:rPr>
              <a:t>case</a:t>
            </a:r>
            <a:r>
              <a:rPr lang="fr-FR" altLang="fr-FR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3     </a:t>
            </a:r>
            <a:endParaRPr lang="fr-FR" altLang="fr-FR" sz="1600" dirty="0"/>
          </a:p>
          <a:p>
            <a:pPr>
              <a:spcBef>
                <a:spcPct val="0"/>
              </a:spcBef>
              <a:buFontTx/>
              <a:buNone/>
            </a:pPr>
            <a:r>
              <a:rPr lang="fr-FR" altLang="fr-FR" sz="1600" b="1" dirty="0">
                <a:solidFill>
                  <a:srgbClr val="228B22"/>
                </a:solidFill>
                <a:latin typeface="Courier New" panose="02070309020205020404" pitchFamily="49" charset="0"/>
              </a:rPr>
              <a:t>    % triangle a 3 nœuds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fr-FR" altLang="fr-FR" sz="1600" b="1" dirty="0">
                <a:solidFill>
                  <a:srgbClr val="228B22"/>
                </a:solidFill>
                <a:latin typeface="Courier New" panose="02070309020205020404" pitchFamily="49" charset="0"/>
              </a:rPr>
              <a:t>    % idem</a:t>
            </a:r>
            <a:endParaRPr lang="fr-FR" altLang="fr-FR" sz="1600" dirty="0"/>
          </a:p>
          <a:p>
            <a:pPr>
              <a:spcBef>
                <a:spcPct val="0"/>
              </a:spcBef>
              <a:buFontTx/>
              <a:buNone/>
            </a:pPr>
            <a:r>
              <a:rPr lang="fr-FR" altLang="fr-FR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[gauss]=polynomes_T3(</a:t>
            </a:r>
            <a:r>
              <a:rPr lang="fr-FR" altLang="fr-FR" sz="16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gauss,fem,ne</a:t>
            </a:r>
            <a:r>
              <a:rPr lang="fr-FR" altLang="fr-FR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);</a:t>
            </a:r>
            <a:endParaRPr lang="fr-FR" altLang="fr-FR" sz="1600" dirty="0"/>
          </a:p>
          <a:p>
            <a:pPr>
              <a:spcBef>
                <a:spcPct val="0"/>
              </a:spcBef>
              <a:buFontTx/>
              <a:buNone/>
            </a:pPr>
            <a:r>
              <a:rPr lang="fr-FR" altLang="fr-FR" sz="1600" b="1" dirty="0">
                <a:solidFill>
                  <a:srgbClr val="0000FF"/>
                </a:solidFill>
                <a:latin typeface="Courier New" panose="02070309020205020404" pitchFamily="49" charset="0"/>
              </a:rPr>
              <a:t>end</a:t>
            </a:r>
            <a:r>
              <a:rPr lang="fr-FR" altLang="fr-FR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; </a:t>
            </a:r>
          </a:p>
        </p:txBody>
      </p:sp>
      <p:graphicFrame>
        <p:nvGraphicFramePr>
          <p:cNvPr id="30725" name="Object 19"/>
          <p:cNvGraphicFramePr>
            <a:graphicFrameLocks noChangeAspect="1"/>
          </p:cNvGraphicFramePr>
          <p:nvPr/>
        </p:nvGraphicFramePr>
        <p:xfrm>
          <a:off x="3995738" y="2205038"/>
          <a:ext cx="3884612" cy="409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7" name="Equation" r:id="rId3" imgW="2159000" imgH="228600" progId="Equation.DSMT4">
                  <p:embed/>
                </p:oleObj>
              </mc:Choice>
              <mc:Fallback>
                <p:oleObj name="Equation" r:id="rId3" imgW="2159000" imgH="228600" progId="Equation.DSMT4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95738" y="2205038"/>
                        <a:ext cx="3884612" cy="409575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26" name="Text Box 20"/>
          <p:cNvSpPr txBox="1">
            <a:spLocks noChangeArrowheads="1"/>
          </p:cNvSpPr>
          <p:nvPr/>
        </p:nvSpPr>
        <p:spPr bwMode="auto">
          <a:xfrm>
            <a:off x="3903663" y="1720850"/>
            <a:ext cx="3346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fr-FR" altLang="fr-FR" sz="1800">
                <a:latin typeface="Arial" panose="020B0604020202020204" pitchFamily="34" charset="0"/>
              </a:rPr>
              <a:t>Calcul pour chaque élément ne</a:t>
            </a:r>
          </a:p>
        </p:txBody>
      </p:sp>
      <p:sp>
        <p:nvSpPr>
          <p:cNvPr id="30727" name="Espace réservé du numéro de diapositive 8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2F3A4F3-3538-4F5F-9BEA-41BE3A268E4A}" type="slidenum">
              <a:rPr lang="fr-FR" altLang="fr-FR" sz="1400"/>
              <a:pPr>
                <a:spcBef>
                  <a:spcPct val="0"/>
                </a:spcBef>
                <a:buFontTx/>
                <a:buNone/>
              </a:pPr>
              <a:t>25</a:t>
            </a:fld>
            <a:endParaRPr lang="fr-FR" altLang="fr-FR" sz="1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ext Box 9"/>
          <p:cNvSpPr txBox="1">
            <a:spLocks noChangeArrowheads="1"/>
          </p:cNvSpPr>
          <p:nvPr/>
        </p:nvSpPr>
        <p:spPr bwMode="auto">
          <a:xfrm>
            <a:off x="395288" y="1196975"/>
            <a:ext cx="6973384" cy="57554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fr-FR" altLang="fr-FR" sz="1600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NPI = </a:t>
            </a:r>
            <a:r>
              <a:rPr lang="fr-FR" altLang="fr-FR" sz="1600" b="1" dirty="0" err="1" smtClean="0">
                <a:solidFill>
                  <a:srgbClr val="000000"/>
                </a:solidFill>
                <a:latin typeface="Courier New" panose="02070309020205020404" pitchFamily="49" charset="0"/>
              </a:rPr>
              <a:t>gauss.NPI</a:t>
            </a:r>
            <a:r>
              <a:rPr lang="fr-FR" altLang="fr-FR" sz="1600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fr-FR" altLang="fr-FR" sz="1600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e   = </a:t>
            </a:r>
            <a:r>
              <a:rPr lang="fr-FR" altLang="fr-FR" sz="1600" b="1" dirty="0" err="1" smtClean="0">
                <a:solidFill>
                  <a:srgbClr val="000000"/>
                </a:solidFill>
                <a:latin typeface="Courier New" panose="02070309020205020404" pitchFamily="49" charset="0"/>
              </a:rPr>
              <a:t>fem.elt</a:t>
            </a:r>
            <a:r>
              <a:rPr lang="fr-FR" altLang="fr-FR" sz="1600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(ne);</a:t>
            </a:r>
            <a:endParaRPr lang="fr-FR" altLang="fr-FR" sz="1600" dirty="0"/>
          </a:p>
          <a:p>
            <a:pPr>
              <a:spcBef>
                <a:spcPct val="0"/>
              </a:spcBef>
              <a:buFontTx/>
              <a:buNone/>
            </a:pPr>
            <a:r>
              <a:rPr lang="fr-FR" altLang="fr-FR" sz="1600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NBN = </a:t>
            </a:r>
            <a:r>
              <a:rPr lang="fr-FR" altLang="fr-FR" sz="1600" b="1" dirty="0" err="1" smtClean="0">
                <a:solidFill>
                  <a:srgbClr val="000000"/>
                </a:solidFill>
                <a:latin typeface="Courier New" panose="02070309020205020404" pitchFamily="49" charset="0"/>
              </a:rPr>
              <a:t>e.NBN</a:t>
            </a:r>
            <a:r>
              <a:rPr lang="fr-FR" altLang="fr-FR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;</a:t>
            </a:r>
            <a:endParaRPr lang="fr-FR" altLang="fr-FR" sz="1600" dirty="0"/>
          </a:p>
          <a:p>
            <a:pPr>
              <a:spcBef>
                <a:spcPct val="0"/>
              </a:spcBef>
              <a:buFontTx/>
              <a:buNone/>
            </a:pPr>
            <a:r>
              <a:rPr lang="fr-FR" altLang="fr-FR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fr-FR" altLang="fr-FR" sz="1600" dirty="0"/>
          </a:p>
          <a:p>
            <a:pPr>
              <a:spcBef>
                <a:spcPct val="0"/>
              </a:spcBef>
              <a:buFontTx/>
              <a:buNone/>
            </a:pPr>
            <a:r>
              <a:rPr lang="fr-FR" altLang="fr-FR" sz="1600" b="1" dirty="0">
                <a:solidFill>
                  <a:srgbClr val="228B22"/>
                </a:solidFill>
                <a:latin typeface="Courier New" panose="02070309020205020404" pitchFamily="49" charset="0"/>
              </a:rPr>
              <a:t>% </a:t>
            </a:r>
            <a:r>
              <a:rPr lang="fr-FR" altLang="fr-FR" sz="1600" b="1" dirty="0" err="1">
                <a:solidFill>
                  <a:srgbClr val="228B22"/>
                </a:solidFill>
                <a:latin typeface="Courier New" panose="02070309020205020404" pitchFamily="49" charset="0"/>
              </a:rPr>
              <a:t>integrale</a:t>
            </a:r>
            <a:r>
              <a:rPr lang="fr-FR" altLang="fr-FR" sz="1600" b="1" dirty="0">
                <a:solidFill>
                  <a:srgbClr val="228B22"/>
                </a:solidFill>
                <a:latin typeface="Courier New" panose="02070309020205020404" pitchFamily="49" charset="0"/>
              </a:rPr>
              <a:t> sur 1’element ne</a:t>
            </a:r>
            <a:endParaRPr lang="fr-FR" altLang="fr-FR" sz="1600" dirty="0"/>
          </a:p>
          <a:p>
            <a:pPr>
              <a:spcBef>
                <a:spcPct val="0"/>
              </a:spcBef>
              <a:buFontTx/>
              <a:buNone/>
            </a:pPr>
            <a:r>
              <a:rPr lang="fr-FR" altLang="fr-FR" sz="1600" b="1" dirty="0">
                <a:solidFill>
                  <a:srgbClr val="0000FF"/>
                </a:solidFill>
                <a:latin typeface="Courier New" panose="02070309020205020404" pitchFamily="49" charset="0"/>
              </a:rPr>
              <a:t>for</a:t>
            </a:r>
            <a:r>
              <a:rPr lang="fr-FR" altLang="fr-FR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fr-FR" altLang="fr-FR" sz="1600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k </a:t>
            </a:r>
            <a:r>
              <a:rPr lang="fr-FR" altLang="fr-FR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= 1:NPI </a:t>
            </a:r>
            <a:r>
              <a:rPr lang="fr-FR" altLang="fr-FR" sz="1600" b="1" dirty="0">
                <a:solidFill>
                  <a:srgbClr val="228B22"/>
                </a:solidFill>
                <a:latin typeface="Courier New" panose="02070309020205020404" pitchFamily="49" charset="0"/>
              </a:rPr>
              <a:t>% </a:t>
            </a:r>
            <a:r>
              <a:rPr lang="fr-FR" altLang="fr-FR" sz="1600" b="1" dirty="0" smtClean="0">
                <a:solidFill>
                  <a:srgbClr val="228B22"/>
                </a:solidFill>
                <a:latin typeface="Courier New" panose="02070309020205020404" pitchFamily="49" charset="0"/>
              </a:rPr>
              <a:t>boucle </a:t>
            </a:r>
            <a:r>
              <a:rPr lang="fr-FR" altLang="fr-FR" sz="1600" b="1" dirty="0">
                <a:solidFill>
                  <a:srgbClr val="228B22"/>
                </a:solidFill>
                <a:latin typeface="Courier New" panose="02070309020205020404" pitchFamily="49" charset="0"/>
              </a:rPr>
              <a:t>sur tous les points de Gauss </a:t>
            </a:r>
            <a:endParaRPr lang="fr-FR" altLang="fr-FR" sz="1600" dirty="0"/>
          </a:p>
          <a:p>
            <a:pPr>
              <a:spcBef>
                <a:spcPct val="0"/>
              </a:spcBef>
              <a:buFontTx/>
              <a:buNone/>
            </a:pPr>
            <a:r>
              <a:rPr lang="fr-FR" altLang="fr-FR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pPr>
              <a:spcBef>
                <a:spcPct val="0"/>
              </a:spcBef>
              <a:buFontTx/>
              <a:buNone/>
            </a:pPr>
            <a:endParaRPr lang="fr-FR" altLang="fr-FR" sz="1600" dirty="0"/>
          </a:p>
          <a:p>
            <a:pPr>
              <a:spcBef>
                <a:spcPct val="0"/>
              </a:spcBef>
              <a:buFontTx/>
              <a:buNone/>
            </a:pPr>
            <a:r>
              <a:rPr lang="fr-FR" altLang="fr-FR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fr-FR" altLang="fr-FR" sz="1600" b="1" dirty="0">
                <a:solidFill>
                  <a:srgbClr val="228B22"/>
                </a:solidFill>
                <a:latin typeface="Courier New" panose="02070309020205020404" pitchFamily="49" charset="0"/>
              </a:rPr>
              <a:t>% calcul de l’interpolée de Q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fr-FR" altLang="fr-FR" sz="1600" b="1" dirty="0">
                <a:solidFill>
                  <a:srgbClr val="228B22"/>
                </a:solidFill>
                <a:latin typeface="Courier New" panose="02070309020205020404" pitchFamily="49" charset="0"/>
              </a:rPr>
              <a:t>aux points d’</a:t>
            </a:r>
            <a:r>
              <a:rPr lang="fr-FR" altLang="fr-FR" sz="1600" b="1" dirty="0" err="1">
                <a:solidFill>
                  <a:srgbClr val="228B22"/>
                </a:solidFill>
                <a:latin typeface="Courier New" panose="02070309020205020404" pitchFamily="49" charset="0"/>
              </a:rPr>
              <a:t>integration</a:t>
            </a:r>
            <a:r>
              <a:rPr lang="fr-FR" altLang="fr-FR" sz="1600" b="1" dirty="0">
                <a:solidFill>
                  <a:srgbClr val="228B22"/>
                </a:solidFill>
                <a:latin typeface="Courier New" panose="02070309020205020404" pitchFamily="49" charset="0"/>
              </a:rPr>
              <a:t> de Gauss</a:t>
            </a:r>
            <a:endParaRPr lang="fr-FR" altLang="fr-FR" sz="1600" dirty="0"/>
          </a:p>
          <a:p>
            <a:pPr>
              <a:spcBef>
                <a:spcPct val="0"/>
              </a:spcBef>
              <a:buFontTx/>
              <a:buNone/>
            </a:pPr>
            <a:r>
              <a:rPr lang="fr-FR" altLang="fr-FR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fr-FR" altLang="fr-FR" sz="1600" b="1" dirty="0" err="1" smtClean="0">
                <a:solidFill>
                  <a:srgbClr val="000000"/>
                </a:solidFill>
                <a:latin typeface="Courier New" panose="02070309020205020404" pitchFamily="49" charset="0"/>
              </a:rPr>
              <a:t>Qk</a:t>
            </a:r>
            <a:r>
              <a:rPr lang="fr-FR" altLang="fr-FR" sz="1600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fr-FR" altLang="fr-FR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= 0.;</a:t>
            </a:r>
            <a:endParaRPr lang="fr-FR" altLang="fr-FR" sz="1600" dirty="0"/>
          </a:p>
          <a:p>
            <a:pPr>
              <a:spcBef>
                <a:spcPct val="0"/>
              </a:spcBef>
              <a:buFontTx/>
              <a:buNone/>
            </a:pPr>
            <a:r>
              <a:rPr lang="fr-FR" altLang="fr-FR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fr-FR" altLang="fr-FR" sz="1600" b="1" dirty="0">
                <a:solidFill>
                  <a:srgbClr val="0000FF"/>
                </a:solidFill>
                <a:latin typeface="Courier New" panose="02070309020205020404" pitchFamily="49" charset="0"/>
              </a:rPr>
              <a:t>for</a:t>
            </a:r>
            <a:r>
              <a:rPr lang="fr-FR" altLang="fr-FR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fr-FR" altLang="fr-FR" sz="16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ie</a:t>
            </a:r>
            <a:r>
              <a:rPr lang="fr-FR" altLang="fr-FR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= 1:NBN</a:t>
            </a:r>
            <a:r>
              <a:rPr lang="fr-FR" altLang="fr-FR" sz="1600" dirty="0"/>
              <a:t> </a:t>
            </a:r>
            <a:r>
              <a:rPr lang="fr-FR" altLang="fr-FR" sz="1600" b="1" dirty="0">
                <a:solidFill>
                  <a:srgbClr val="228B22"/>
                </a:solidFill>
                <a:latin typeface="Courier New" panose="02070309020205020404" pitchFamily="49" charset="0"/>
              </a:rPr>
              <a:t>% boucle sur la numérotation locale</a:t>
            </a:r>
            <a:endParaRPr lang="fr-FR" altLang="fr-FR" sz="1600" dirty="0"/>
          </a:p>
          <a:p>
            <a:pPr>
              <a:spcBef>
                <a:spcPct val="0"/>
              </a:spcBef>
              <a:buFontTx/>
              <a:buNone/>
            </a:pPr>
            <a:r>
              <a:rPr lang="fr-FR" altLang="fr-FR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</a:t>
            </a:r>
            <a:r>
              <a:rPr lang="fr-FR" altLang="fr-FR" sz="16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iglobal</a:t>
            </a:r>
            <a:r>
              <a:rPr lang="fr-FR" altLang="fr-FR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= </a:t>
            </a:r>
            <a:r>
              <a:rPr lang="fr-FR" altLang="fr-FR" sz="1600" b="1" dirty="0" err="1" smtClean="0">
                <a:solidFill>
                  <a:srgbClr val="000000"/>
                </a:solidFill>
                <a:latin typeface="Courier New" panose="02070309020205020404" pitchFamily="49" charset="0"/>
              </a:rPr>
              <a:t>e.ind</a:t>
            </a:r>
            <a:r>
              <a:rPr lang="fr-FR" altLang="fr-FR" sz="1600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fr-FR" altLang="fr-FR" sz="1600" b="1" dirty="0" err="1" smtClean="0">
                <a:solidFill>
                  <a:srgbClr val="000000"/>
                </a:solidFill>
                <a:latin typeface="Courier New" panose="02070309020205020404" pitchFamily="49" charset="0"/>
              </a:rPr>
              <a:t>ie</a:t>
            </a:r>
            <a:r>
              <a:rPr lang="fr-FR" altLang="fr-FR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);</a:t>
            </a:r>
            <a:endParaRPr lang="fr-FR" altLang="fr-FR" sz="1600" dirty="0"/>
          </a:p>
          <a:p>
            <a:pPr>
              <a:spcBef>
                <a:spcPct val="0"/>
              </a:spcBef>
              <a:buFontTx/>
              <a:buNone/>
            </a:pPr>
            <a:r>
              <a:rPr lang="fr-FR" altLang="fr-FR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</a:t>
            </a:r>
            <a:r>
              <a:rPr lang="fr-FR" altLang="fr-FR" sz="1600" b="1" dirty="0" err="1" smtClean="0">
                <a:solidFill>
                  <a:srgbClr val="000000"/>
                </a:solidFill>
                <a:latin typeface="Courier New" panose="02070309020205020404" pitchFamily="49" charset="0"/>
              </a:rPr>
              <a:t>Qk</a:t>
            </a:r>
            <a:r>
              <a:rPr lang="fr-FR" altLang="fr-FR" sz="1600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fr-FR" altLang="fr-FR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= </a:t>
            </a:r>
            <a:r>
              <a:rPr lang="fr-FR" altLang="fr-FR" sz="1600" b="1" dirty="0" err="1" smtClean="0">
                <a:solidFill>
                  <a:srgbClr val="000000"/>
                </a:solidFill>
                <a:latin typeface="Courier New" panose="02070309020205020404" pitchFamily="49" charset="0"/>
              </a:rPr>
              <a:t>Qk</a:t>
            </a:r>
            <a:r>
              <a:rPr lang="fr-FR" altLang="fr-FR" sz="1600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fr-FR" altLang="fr-FR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+ </a:t>
            </a:r>
            <a:r>
              <a:rPr lang="fr-FR" altLang="fr-FR" sz="1600" b="1" dirty="0" err="1" smtClean="0">
                <a:solidFill>
                  <a:srgbClr val="000000"/>
                </a:solidFill>
                <a:latin typeface="Courier New" panose="02070309020205020404" pitchFamily="49" charset="0"/>
              </a:rPr>
              <a:t>gauss.alpha</a:t>
            </a:r>
            <a:r>
              <a:rPr lang="fr-FR" altLang="fr-FR" sz="1600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fr-FR" altLang="fr-FR" sz="1600" b="1" dirty="0" err="1" smtClean="0">
                <a:solidFill>
                  <a:srgbClr val="000000"/>
                </a:solidFill>
                <a:latin typeface="Courier New" panose="02070309020205020404" pitchFamily="49" charset="0"/>
              </a:rPr>
              <a:t>ie</a:t>
            </a:r>
            <a:r>
              <a:rPr lang="fr-FR" altLang="fr-FR" sz="1600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, k)*</a:t>
            </a:r>
            <a:r>
              <a:rPr lang="fr-FR" altLang="fr-FR" sz="16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fem.sol</a:t>
            </a:r>
            <a:r>
              <a:rPr lang="fr-FR" altLang="fr-FR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fr-FR" altLang="fr-FR" sz="16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iglobal</a:t>
            </a:r>
            <a:r>
              <a:rPr lang="fr-FR" altLang="fr-FR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);</a:t>
            </a:r>
            <a:endParaRPr lang="fr-FR" altLang="fr-FR" sz="1600" dirty="0"/>
          </a:p>
          <a:p>
            <a:pPr>
              <a:spcBef>
                <a:spcPct val="0"/>
              </a:spcBef>
              <a:buFontTx/>
              <a:buNone/>
            </a:pPr>
            <a:r>
              <a:rPr lang="fr-FR" altLang="fr-FR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fr-FR" altLang="fr-FR" sz="1600" b="1" dirty="0">
                <a:solidFill>
                  <a:srgbClr val="0000FF"/>
                </a:solidFill>
                <a:latin typeface="Courier New" panose="02070309020205020404" pitchFamily="49" charset="0"/>
              </a:rPr>
              <a:t>end</a:t>
            </a:r>
            <a:endParaRPr lang="fr-FR" altLang="fr-FR" sz="1600" dirty="0"/>
          </a:p>
          <a:p>
            <a:pPr>
              <a:spcBef>
                <a:spcPct val="0"/>
              </a:spcBef>
              <a:buFontTx/>
              <a:buNone/>
            </a:pPr>
            <a:endParaRPr lang="fr-FR" altLang="fr-FR" sz="1600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fr-FR" altLang="fr-FR" sz="1600" b="1" dirty="0">
                <a:solidFill>
                  <a:srgbClr val="228B22"/>
                </a:solidFill>
                <a:latin typeface="Courier New" panose="02070309020205020404" pitchFamily="49" charset="0"/>
              </a:rPr>
              <a:t>    % accumulation</a:t>
            </a:r>
            <a:r>
              <a:rPr lang="fr-FR" altLang="fr-FR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fr-FR" altLang="fr-FR" sz="1600" dirty="0"/>
          </a:p>
          <a:p>
            <a:pPr>
              <a:spcBef>
                <a:spcPct val="0"/>
              </a:spcBef>
              <a:buFontTx/>
              <a:buNone/>
            </a:pPr>
            <a:r>
              <a:rPr lang="fr-FR" altLang="fr-FR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fr-FR" altLang="fr-FR" sz="1600" b="1" dirty="0" err="1" smtClean="0">
                <a:solidFill>
                  <a:srgbClr val="000000"/>
                </a:solidFill>
                <a:latin typeface="Courier New" panose="02070309020205020404" pitchFamily="49" charset="0"/>
              </a:rPr>
              <a:t>Ie</a:t>
            </a:r>
            <a:r>
              <a:rPr lang="fr-FR" altLang="fr-FR" sz="1600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 </a:t>
            </a:r>
            <a:r>
              <a:rPr lang="fr-FR" altLang="fr-FR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= </a:t>
            </a:r>
            <a:r>
              <a:rPr lang="fr-FR" altLang="fr-FR" sz="1600" b="1" dirty="0" err="1" smtClean="0">
                <a:solidFill>
                  <a:srgbClr val="000000"/>
                </a:solidFill>
                <a:latin typeface="Courier New" panose="02070309020205020404" pitchFamily="49" charset="0"/>
              </a:rPr>
              <a:t>Ie</a:t>
            </a:r>
            <a:r>
              <a:rPr lang="fr-FR" altLang="fr-FR" sz="1600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 </a:t>
            </a:r>
            <a:r>
              <a:rPr lang="fr-FR" altLang="fr-FR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+ </a:t>
            </a:r>
            <a:r>
              <a:rPr lang="fr-FR" altLang="fr-FR" sz="1600" b="1" dirty="0" err="1" smtClean="0">
                <a:solidFill>
                  <a:srgbClr val="000000"/>
                </a:solidFill>
                <a:latin typeface="Courier New" panose="02070309020205020404" pitchFamily="49" charset="0"/>
              </a:rPr>
              <a:t>gauss.pds</a:t>
            </a:r>
            <a:r>
              <a:rPr lang="fr-FR" altLang="fr-FR" sz="1600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(k)*</a:t>
            </a:r>
            <a:r>
              <a:rPr lang="fr-FR" altLang="fr-FR" sz="1600" b="1" dirty="0" err="1" smtClean="0">
                <a:solidFill>
                  <a:srgbClr val="000000"/>
                </a:solidFill>
                <a:latin typeface="Courier New" panose="02070309020205020404" pitchFamily="49" charset="0"/>
              </a:rPr>
              <a:t>gauss.detJ</a:t>
            </a:r>
            <a:r>
              <a:rPr lang="fr-FR" altLang="fr-FR" sz="1600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(k)* </a:t>
            </a:r>
            <a:r>
              <a:rPr lang="fr-FR" altLang="fr-FR" sz="1600" b="1" dirty="0" err="1" smtClean="0">
                <a:solidFill>
                  <a:srgbClr val="000000"/>
                </a:solidFill>
                <a:latin typeface="Courier New" panose="02070309020205020404" pitchFamily="49" charset="0"/>
              </a:rPr>
              <a:t>Qk</a:t>
            </a:r>
            <a:r>
              <a:rPr lang="fr-FR" altLang="fr-FR" sz="1600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;</a:t>
            </a:r>
            <a:endParaRPr lang="fr-FR" altLang="fr-FR" sz="1600" dirty="0"/>
          </a:p>
          <a:p>
            <a:pPr>
              <a:spcBef>
                <a:spcPct val="0"/>
              </a:spcBef>
              <a:buFontTx/>
              <a:buNone/>
            </a:pPr>
            <a:r>
              <a:rPr lang="fr-FR" altLang="fr-FR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fr-FR" altLang="fr-FR" sz="1600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Se  = Se  + </a:t>
            </a:r>
            <a:r>
              <a:rPr lang="fr-FR" altLang="fr-FR" sz="1600" b="1" dirty="0" err="1" smtClean="0">
                <a:solidFill>
                  <a:srgbClr val="000000"/>
                </a:solidFill>
                <a:latin typeface="Courier New" panose="02070309020205020404" pitchFamily="49" charset="0"/>
              </a:rPr>
              <a:t>gauss.pds</a:t>
            </a:r>
            <a:r>
              <a:rPr lang="fr-FR" altLang="fr-FR" sz="1600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(k)*</a:t>
            </a:r>
            <a:r>
              <a:rPr lang="fr-FR" altLang="fr-FR" sz="1600" b="1" dirty="0" err="1" smtClean="0">
                <a:solidFill>
                  <a:srgbClr val="000000"/>
                </a:solidFill>
                <a:latin typeface="Courier New" panose="02070309020205020404" pitchFamily="49" charset="0"/>
              </a:rPr>
              <a:t>gauss.detJ</a:t>
            </a:r>
            <a:r>
              <a:rPr lang="fr-FR" altLang="fr-FR" sz="1600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(k);</a:t>
            </a:r>
            <a:endParaRPr lang="fr-FR" altLang="fr-FR" sz="1600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fr-FR" altLang="fr-FR" sz="1600" dirty="0"/>
          </a:p>
          <a:p>
            <a:pPr>
              <a:spcBef>
                <a:spcPct val="0"/>
              </a:spcBef>
              <a:buFontTx/>
              <a:buNone/>
            </a:pPr>
            <a:r>
              <a:rPr lang="fr-FR" altLang="fr-FR" sz="1600" b="1" dirty="0">
                <a:solidFill>
                  <a:srgbClr val="0000FF"/>
                </a:solidFill>
                <a:latin typeface="Courier New" panose="02070309020205020404" pitchFamily="49" charset="0"/>
              </a:rPr>
              <a:t>end</a:t>
            </a:r>
            <a:endParaRPr lang="fr-FR" altLang="fr-FR" sz="1600" dirty="0"/>
          </a:p>
          <a:p>
            <a:pPr>
              <a:spcBef>
                <a:spcPct val="0"/>
              </a:spcBef>
              <a:buFontTx/>
              <a:buNone/>
            </a:pPr>
            <a:endParaRPr lang="fr-FR" altLang="fr-FR" sz="1600" dirty="0"/>
          </a:p>
          <a:p>
            <a:pPr>
              <a:spcBef>
                <a:spcPct val="0"/>
              </a:spcBef>
              <a:buFontTx/>
              <a:buNone/>
            </a:pPr>
            <a:endParaRPr lang="fr-FR" altLang="fr-FR" sz="1600" dirty="0"/>
          </a:p>
        </p:txBody>
      </p:sp>
      <p:sp>
        <p:nvSpPr>
          <p:cNvPr id="31747" name="Text Box 3"/>
          <p:cNvSpPr txBox="1">
            <a:spLocks noChangeArrowheads="1"/>
          </p:cNvSpPr>
          <p:nvPr/>
        </p:nvSpPr>
        <p:spPr bwMode="auto">
          <a:xfrm>
            <a:off x="7524750" y="115888"/>
            <a:ext cx="14033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 b="1">
                <a:latin typeface="Arial" panose="020B0604020202020204" pitchFamily="34" charset="0"/>
              </a:rPr>
              <a:t>integrale.m</a:t>
            </a:r>
          </a:p>
        </p:txBody>
      </p:sp>
      <p:graphicFrame>
        <p:nvGraphicFramePr>
          <p:cNvPr id="3174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6429420"/>
              </p:ext>
            </p:extLst>
          </p:nvPr>
        </p:nvGraphicFramePr>
        <p:xfrm>
          <a:off x="4922838" y="2692400"/>
          <a:ext cx="3227387" cy="776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70" name="Equation" r:id="rId3" imgW="1790640" imgH="431640" progId="Equation.DSMT4">
                  <p:embed/>
                </p:oleObj>
              </mc:Choice>
              <mc:Fallback>
                <p:oleObj name="Equation" r:id="rId3" imgW="1790640" imgH="43164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22838" y="2692400"/>
                        <a:ext cx="3227387" cy="776288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4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64545238"/>
              </p:ext>
            </p:extLst>
          </p:nvPr>
        </p:nvGraphicFramePr>
        <p:xfrm>
          <a:off x="3998913" y="981075"/>
          <a:ext cx="4724400" cy="820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71" name="Equation" r:id="rId5" imgW="2628720" imgH="457200" progId="Equation.DSMT4">
                  <p:embed/>
                </p:oleObj>
              </mc:Choice>
              <mc:Fallback>
                <p:oleObj name="Equation" r:id="rId5" imgW="2628720" imgH="4572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98913" y="981075"/>
                        <a:ext cx="4724400" cy="820738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50" name="Text Box 11"/>
          <p:cNvSpPr txBox="1">
            <a:spLocks noChangeArrowheads="1"/>
          </p:cNvSpPr>
          <p:nvPr/>
        </p:nvSpPr>
        <p:spPr bwMode="auto">
          <a:xfrm>
            <a:off x="395288" y="188913"/>
            <a:ext cx="61928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fr-FR" altLang="fr-FR" sz="2000" b="1">
                <a:solidFill>
                  <a:srgbClr val="FF0000"/>
                </a:solidFill>
                <a:latin typeface="Arial" panose="020B0604020202020204" pitchFamily="34" charset="0"/>
              </a:rPr>
              <a:t>Calcul de chaque intégrale élémentaire (2/2)</a:t>
            </a:r>
          </a:p>
        </p:txBody>
      </p:sp>
      <p:sp>
        <p:nvSpPr>
          <p:cNvPr id="31751" name="Espace réservé du numéro de diapositive 8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966FC23-6595-407E-9F8A-84A247AF1D37}" type="slidenum">
              <a:rPr lang="fr-FR" altLang="fr-FR" sz="1400"/>
              <a:pPr>
                <a:spcBef>
                  <a:spcPct val="0"/>
                </a:spcBef>
                <a:buFontTx/>
                <a:buNone/>
              </a:pPr>
              <a:t>26</a:t>
            </a:fld>
            <a:endParaRPr lang="fr-FR" altLang="fr-FR" sz="1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ext Box 4"/>
          <p:cNvSpPr txBox="1">
            <a:spLocks noChangeArrowheads="1"/>
          </p:cNvSpPr>
          <p:nvPr/>
        </p:nvSpPr>
        <p:spPr bwMode="auto">
          <a:xfrm>
            <a:off x="323850" y="1027113"/>
            <a:ext cx="4910319" cy="56938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fr-FR" altLang="fr-FR" sz="1400" b="1" dirty="0" err="1">
                <a:solidFill>
                  <a:srgbClr val="0000FF"/>
                </a:solidFill>
                <a:latin typeface="Courier New" panose="02070309020205020404" pitchFamily="49" charset="0"/>
              </a:rPr>
              <a:t>function</a:t>
            </a:r>
            <a:r>
              <a:rPr lang="fr-FR" altLang="fr-FR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[gauss]=polynomes_T3(</a:t>
            </a:r>
            <a:r>
              <a:rPr lang="fr-FR" altLang="fr-FR" sz="14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gauss,fem,ne</a:t>
            </a:r>
            <a:r>
              <a:rPr lang="fr-FR" altLang="fr-FR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  <a:endParaRPr lang="fr-FR" altLang="fr-FR" sz="1400" dirty="0"/>
          </a:p>
          <a:p>
            <a:pPr>
              <a:spcBef>
                <a:spcPct val="0"/>
              </a:spcBef>
              <a:buFontTx/>
              <a:buNone/>
            </a:pPr>
            <a:r>
              <a:rPr lang="fr-FR" altLang="fr-FR" sz="1400" b="1" dirty="0">
                <a:solidFill>
                  <a:srgbClr val="228B22"/>
                </a:solidFill>
                <a:latin typeface="Courier New" panose="02070309020205020404" pitchFamily="49" charset="0"/>
              </a:rPr>
              <a:t> </a:t>
            </a:r>
            <a:endParaRPr lang="fr-FR" altLang="fr-FR" sz="1400" dirty="0"/>
          </a:p>
          <a:p>
            <a:pPr>
              <a:spcBef>
                <a:spcPct val="0"/>
              </a:spcBef>
              <a:buFontTx/>
              <a:buNone/>
            </a:pPr>
            <a:r>
              <a:rPr lang="fr-FR" altLang="fr-FR" sz="1400" b="1" dirty="0">
                <a:solidFill>
                  <a:srgbClr val="228B22"/>
                </a:solidFill>
                <a:latin typeface="Courier New" panose="02070309020205020404" pitchFamily="49" charset="0"/>
              </a:rPr>
              <a:t>% Nombre de </a:t>
            </a:r>
            <a:r>
              <a:rPr lang="fr-FR" altLang="fr-FR" sz="1400" b="1" dirty="0" err="1">
                <a:solidFill>
                  <a:srgbClr val="228B22"/>
                </a:solidFill>
                <a:latin typeface="Courier New" panose="02070309020205020404" pitchFamily="49" charset="0"/>
              </a:rPr>
              <a:t>noeuds</a:t>
            </a:r>
            <a:r>
              <a:rPr lang="fr-FR" altLang="fr-FR" sz="1400" b="1" dirty="0">
                <a:solidFill>
                  <a:srgbClr val="228B22"/>
                </a:solidFill>
                <a:latin typeface="Courier New" panose="02070309020205020404" pitchFamily="49" charset="0"/>
              </a:rPr>
              <a:t> dans l'</a:t>
            </a:r>
            <a:r>
              <a:rPr lang="fr-FR" altLang="fr-FR" sz="1400" b="1" dirty="0" err="1">
                <a:solidFill>
                  <a:srgbClr val="228B22"/>
                </a:solidFill>
                <a:latin typeface="Courier New" panose="02070309020205020404" pitchFamily="49" charset="0"/>
              </a:rPr>
              <a:t>element</a:t>
            </a:r>
            <a:r>
              <a:rPr lang="fr-FR" altLang="fr-FR" sz="1400" b="1" dirty="0">
                <a:solidFill>
                  <a:srgbClr val="228B22"/>
                </a:solidFill>
                <a:latin typeface="Courier New" panose="02070309020205020404" pitchFamily="49" charset="0"/>
              </a:rPr>
              <a:t> </a:t>
            </a:r>
            <a:r>
              <a:rPr lang="fr-FR" altLang="fr-FR" sz="1400" b="1" dirty="0" smtClean="0">
                <a:solidFill>
                  <a:srgbClr val="228B22"/>
                </a:solidFill>
                <a:latin typeface="Courier New" panose="02070309020205020404" pitchFamily="49" charset="0"/>
              </a:rPr>
              <a:t>e</a:t>
            </a:r>
          </a:p>
          <a:p>
            <a:pPr>
              <a:buNone/>
            </a:pPr>
            <a:r>
              <a:rPr lang="fr-FR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e = </a:t>
            </a:r>
            <a:r>
              <a:rPr lang="fr-FR" sz="14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fem.elt</a:t>
            </a:r>
            <a:r>
              <a:rPr lang="fr-FR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(ne);</a:t>
            </a:r>
            <a:endParaRPr lang="fr-FR" sz="14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fr-FR" altLang="fr-FR" sz="1400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NBN = </a:t>
            </a:r>
            <a:r>
              <a:rPr lang="fr-FR" altLang="fr-FR" sz="1400" b="1" dirty="0" err="1" smtClean="0">
                <a:solidFill>
                  <a:srgbClr val="000000"/>
                </a:solidFill>
                <a:latin typeface="Courier New" panose="02070309020205020404" pitchFamily="49" charset="0"/>
              </a:rPr>
              <a:t>e.NBN</a:t>
            </a:r>
            <a:r>
              <a:rPr lang="fr-FR" altLang="fr-FR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;</a:t>
            </a:r>
            <a:endParaRPr lang="fr-FR" altLang="fr-FR" sz="1400" dirty="0"/>
          </a:p>
          <a:p>
            <a:pPr>
              <a:spcBef>
                <a:spcPct val="0"/>
              </a:spcBef>
              <a:buFontTx/>
              <a:buNone/>
            </a:pPr>
            <a:r>
              <a:rPr lang="fr-FR" altLang="fr-FR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fr-FR" altLang="fr-FR" sz="1400" dirty="0"/>
          </a:p>
          <a:p>
            <a:pPr>
              <a:spcBef>
                <a:spcPct val="0"/>
              </a:spcBef>
              <a:buFontTx/>
              <a:buNone/>
            </a:pPr>
            <a:r>
              <a:rPr lang="fr-FR" altLang="fr-FR" sz="1400" b="1" dirty="0">
                <a:solidFill>
                  <a:srgbClr val="228B22"/>
                </a:solidFill>
                <a:latin typeface="Courier New" panose="02070309020205020404" pitchFamily="49" charset="0"/>
              </a:rPr>
              <a:t>% Nombre de points d </a:t>
            </a:r>
            <a:r>
              <a:rPr lang="fr-FR" altLang="fr-FR" sz="1400" b="1" dirty="0" err="1">
                <a:solidFill>
                  <a:srgbClr val="228B22"/>
                </a:solidFill>
                <a:latin typeface="Courier New" panose="02070309020205020404" pitchFamily="49" charset="0"/>
              </a:rPr>
              <a:t>integration</a:t>
            </a:r>
            <a:endParaRPr lang="fr-FR" altLang="fr-FR" sz="1400" dirty="0"/>
          </a:p>
          <a:p>
            <a:pPr>
              <a:spcBef>
                <a:spcPct val="0"/>
              </a:spcBef>
              <a:buFontTx/>
              <a:buNone/>
            </a:pPr>
            <a:r>
              <a:rPr lang="fr-FR" altLang="fr-FR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NPI=</a:t>
            </a:r>
            <a:r>
              <a:rPr lang="fr-FR" altLang="fr-FR" sz="14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gauss.NPI</a:t>
            </a:r>
            <a:r>
              <a:rPr lang="fr-FR" altLang="fr-FR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;</a:t>
            </a:r>
            <a:endParaRPr lang="fr-FR" altLang="fr-FR" sz="1400" dirty="0"/>
          </a:p>
          <a:p>
            <a:pPr>
              <a:spcBef>
                <a:spcPct val="0"/>
              </a:spcBef>
              <a:buFontTx/>
              <a:buNone/>
            </a:pPr>
            <a:r>
              <a:rPr lang="fr-FR" altLang="fr-FR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fr-FR" altLang="fr-FR" sz="1400" dirty="0"/>
          </a:p>
          <a:p>
            <a:pPr>
              <a:spcBef>
                <a:spcPct val="0"/>
              </a:spcBef>
              <a:buFontTx/>
              <a:buNone/>
            </a:pPr>
            <a:r>
              <a:rPr lang="fr-FR" altLang="fr-FR" sz="1400" b="1" dirty="0">
                <a:solidFill>
                  <a:srgbClr val="0000FF"/>
                </a:solidFill>
                <a:latin typeface="Courier New" panose="02070309020205020404" pitchFamily="49" charset="0"/>
              </a:rPr>
              <a:t>switch</a:t>
            </a:r>
            <a:r>
              <a:rPr lang="fr-FR" altLang="fr-FR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NPI</a:t>
            </a:r>
            <a:endParaRPr lang="fr-FR" altLang="fr-FR" sz="1400" dirty="0"/>
          </a:p>
          <a:p>
            <a:pPr>
              <a:spcBef>
                <a:spcPct val="0"/>
              </a:spcBef>
              <a:buFontTx/>
              <a:buNone/>
            </a:pPr>
            <a:r>
              <a:rPr lang="fr-FR" altLang="fr-FR" sz="1400" b="1" dirty="0">
                <a:solidFill>
                  <a:srgbClr val="0000FF"/>
                </a:solidFill>
                <a:latin typeface="Courier New" panose="02070309020205020404" pitchFamily="49" charset="0"/>
              </a:rPr>
              <a:t>case</a:t>
            </a:r>
            <a:r>
              <a:rPr lang="fr-FR" altLang="fr-FR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1</a:t>
            </a:r>
            <a:endParaRPr lang="fr-FR" altLang="fr-FR" sz="1400" dirty="0"/>
          </a:p>
          <a:p>
            <a:pPr>
              <a:spcBef>
                <a:spcPct val="0"/>
              </a:spcBef>
              <a:buFontTx/>
              <a:buNone/>
            </a:pPr>
            <a:r>
              <a:rPr lang="fr-FR" altLang="fr-FR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fr-FR" altLang="fr-FR" sz="1400" b="1" dirty="0">
                <a:solidFill>
                  <a:srgbClr val="228B22"/>
                </a:solidFill>
                <a:latin typeface="Courier New" panose="02070309020205020404" pitchFamily="49" charset="0"/>
              </a:rPr>
              <a:t>% </a:t>
            </a:r>
            <a:r>
              <a:rPr lang="fr-FR" altLang="fr-FR" sz="1400" b="1" dirty="0" err="1">
                <a:solidFill>
                  <a:srgbClr val="228B22"/>
                </a:solidFill>
                <a:latin typeface="Courier New" panose="02070309020205020404" pitchFamily="49" charset="0"/>
              </a:rPr>
              <a:t>Coordonnees</a:t>
            </a:r>
            <a:r>
              <a:rPr lang="fr-FR" altLang="fr-FR" sz="1400" b="1" dirty="0">
                <a:solidFill>
                  <a:srgbClr val="228B22"/>
                </a:solidFill>
                <a:latin typeface="Courier New" panose="02070309020205020404" pitchFamily="49" charset="0"/>
              </a:rPr>
              <a:t> du point d </a:t>
            </a:r>
            <a:r>
              <a:rPr lang="fr-FR" altLang="fr-FR" sz="1400" b="1" dirty="0" err="1">
                <a:solidFill>
                  <a:srgbClr val="228B22"/>
                </a:solidFill>
                <a:latin typeface="Courier New" panose="02070309020205020404" pitchFamily="49" charset="0"/>
              </a:rPr>
              <a:t>integration</a:t>
            </a:r>
            <a:endParaRPr lang="fr-FR" altLang="fr-FR" sz="1400" dirty="0"/>
          </a:p>
          <a:p>
            <a:pPr>
              <a:spcBef>
                <a:spcPct val="0"/>
              </a:spcBef>
              <a:buFontTx/>
              <a:buNone/>
            </a:pPr>
            <a:r>
              <a:rPr lang="fr-FR" altLang="fr-FR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u   = [1.0/3.0] ;</a:t>
            </a:r>
            <a:endParaRPr lang="fr-FR" altLang="fr-FR" sz="1400" dirty="0"/>
          </a:p>
          <a:p>
            <a:pPr>
              <a:spcBef>
                <a:spcPct val="0"/>
              </a:spcBef>
              <a:buFontTx/>
              <a:buNone/>
            </a:pPr>
            <a:r>
              <a:rPr lang="fr-FR" altLang="fr-FR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v   = [1.0/3.0] ;</a:t>
            </a:r>
            <a:endParaRPr lang="fr-FR" altLang="fr-FR" sz="1400" dirty="0"/>
          </a:p>
          <a:p>
            <a:pPr>
              <a:spcBef>
                <a:spcPct val="0"/>
              </a:spcBef>
              <a:buFontTx/>
              <a:buNone/>
            </a:pPr>
            <a:r>
              <a:rPr lang="fr-FR" altLang="fr-FR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fr-FR" altLang="fr-FR" sz="1400" b="1" dirty="0">
                <a:solidFill>
                  <a:srgbClr val="228B22"/>
                </a:solidFill>
                <a:latin typeface="Courier New" panose="02070309020205020404" pitchFamily="49" charset="0"/>
              </a:rPr>
              <a:t>% poids de Gauss</a:t>
            </a:r>
            <a:endParaRPr lang="fr-FR" altLang="fr-FR" sz="1400" dirty="0"/>
          </a:p>
          <a:p>
            <a:pPr>
              <a:spcBef>
                <a:spcPct val="0"/>
              </a:spcBef>
              <a:buFontTx/>
              <a:buNone/>
            </a:pPr>
            <a:r>
              <a:rPr lang="fr-FR" altLang="fr-FR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pds = [0.5] ;</a:t>
            </a:r>
            <a:endParaRPr lang="fr-FR" altLang="fr-FR" sz="1400" dirty="0"/>
          </a:p>
          <a:p>
            <a:pPr>
              <a:spcBef>
                <a:spcPct val="0"/>
              </a:spcBef>
              <a:buFontTx/>
              <a:buNone/>
            </a:pPr>
            <a:r>
              <a:rPr lang="fr-FR" altLang="fr-FR" sz="1400" b="1" dirty="0">
                <a:solidFill>
                  <a:srgbClr val="0000FF"/>
                </a:solidFill>
                <a:latin typeface="Courier New" panose="02070309020205020404" pitchFamily="49" charset="0"/>
              </a:rPr>
              <a:t>case</a:t>
            </a:r>
            <a:r>
              <a:rPr lang="fr-FR" altLang="fr-FR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3</a:t>
            </a:r>
            <a:endParaRPr lang="fr-FR" altLang="fr-FR" sz="1400" dirty="0"/>
          </a:p>
          <a:p>
            <a:pPr>
              <a:spcBef>
                <a:spcPct val="0"/>
              </a:spcBef>
              <a:buFontTx/>
              <a:buNone/>
            </a:pPr>
            <a:r>
              <a:rPr lang="fr-FR" altLang="fr-FR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fr-FR" altLang="fr-FR" sz="1400" b="1" dirty="0">
                <a:solidFill>
                  <a:srgbClr val="228B22"/>
                </a:solidFill>
                <a:latin typeface="Courier New" panose="02070309020205020404" pitchFamily="49" charset="0"/>
              </a:rPr>
              <a:t>% </a:t>
            </a:r>
            <a:r>
              <a:rPr lang="fr-FR" altLang="fr-FR" sz="1400" b="1" dirty="0" err="1">
                <a:solidFill>
                  <a:srgbClr val="228B22"/>
                </a:solidFill>
                <a:latin typeface="Courier New" panose="02070309020205020404" pitchFamily="49" charset="0"/>
              </a:rPr>
              <a:t>Coordonnees</a:t>
            </a:r>
            <a:r>
              <a:rPr lang="fr-FR" altLang="fr-FR" sz="1400" b="1" dirty="0">
                <a:solidFill>
                  <a:srgbClr val="228B22"/>
                </a:solidFill>
                <a:latin typeface="Courier New" panose="02070309020205020404" pitchFamily="49" charset="0"/>
              </a:rPr>
              <a:t> des 3 points d </a:t>
            </a:r>
            <a:r>
              <a:rPr lang="fr-FR" altLang="fr-FR" sz="1400" b="1" dirty="0" err="1">
                <a:solidFill>
                  <a:srgbClr val="228B22"/>
                </a:solidFill>
                <a:latin typeface="Courier New" panose="02070309020205020404" pitchFamily="49" charset="0"/>
              </a:rPr>
              <a:t>integration</a:t>
            </a:r>
            <a:endParaRPr lang="fr-FR" altLang="fr-FR" sz="1400" dirty="0"/>
          </a:p>
          <a:p>
            <a:pPr>
              <a:spcBef>
                <a:spcPct val="0"/>
              </a:spcBef>
              <a:buFontTx/>
              <a:buNone/>
            </a:pPr>
            <a:r>
              <a:rPr lang="fr-FR" altLang="fr-FR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u   = [1./6. 2./3. 1./6.];</a:t>
            </a:r>
            <a:endParaRPr lang="fr-FR" altLang="fr-FR" sz="1400" dirty="0"/>
          </a:p>
          <a:p>
            <a:pPr>
              <a:spcBef>
                <a:spcPct val="0"/>
              </a:spcBef>
              <a:buFontTx/>
              <a:buNone/>
            </a:pPr>
            <a:r>
              <a:rPr lang="fr-FR" altLang="fr-FR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v   = [1./6. 1./6. 2./3.];</a:t>
            </a:r>
            <a:endParaRPr lang="fr-FR" altLang="fr-FR" sz="1400" dirty="0"/>
          </a:p>
          <a:p>
            <a:pPr>
              <a:spcBef>
                <a:spcPct val="0"/>
              </a:spcBef>
              <a:buFontTx/>
              <a:buNone/>
            </a:pPr>
            <a:r>
              <a:rPr lang="fr-FR" altLang="fr-FR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fr-FR" altLang="fr-FR" sz="1400" b="1" dirty="0">
                <a:solidFill>
                  <a:srgbClr val="228B22"/>
                </a:solidFill>
                <a:latin typeface="Courier New" panose="02070309020205020404" pitchFamily="49" charset="0"/>
              </a:rPr>
              <a:t>% poids de Gauss</a:t>
            </a:r>
            <a:endParaRPr lang="fr-FR" altLang="fr-FR" sz="1400" dirty="0"/>
          </a:p>
          <a:p>
            <a:pPr>
              <a:spcBef>
                <a:spcPct val="0"/>
              </a:spcBef>
              <a:buFontTx/>
              <a:buNone/>
            </a:pPr>
            <a:r>
              <a:rPr lang="fr-FR" altLang="fr-FR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pds = [1./6. 1./6. 1./6.];</a:t>
            </a:r>
            <a:endParaRPr lang="fr-FR" altLang="fr-FR" sz="1400" dirty="0"/>
          </a:p>
          <a:p>
            <a:pPr>
              <a:spcBef>
                <a:spcPct val="0"/>
              </a:spcBef>
              <a:buFontTx/>
              <a:buNone/>
            </a:pPr>
            <a:r>
              <a:rPr lang="fr-FR" altLang="fr-FR" sz="1400" b="1" dirty="0">
                <a:solidFill>
                  <a:srgbClr val="0000FF"/>
                </a:solidFill>
                <a:latin typeface="Courier New" panose="02070309020205020404" pitchFamily="49" charset="0"/>
              </a:rPr>
              <a:t>end</a:t>
            </a:r>
            <a:endParaRPr lang="fr-FR" altLang="fr-FR" sz="1400" dirty="0"/>
          </a:p>
          <a:p>
            <a:pPr>
              <a:spcBef>
                <a:spcPct val="0"/>
              </a:spcBef>
              <a:buFontTx/>
              <a:buNone/>
            </a:pPr>
            <a:r>
              <a:rPr lang="fr-FR" altLang="fr-FR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endParaRPr lang="fr-FR" altLang="fr-FR" sz="1400" dirty="0"/>
          </a:p>
          <a:p>
            <a:pPr>
              <a:spcBef>
                <a:spcPct val="0"/>
              </a:spcBef>
              <a:buFontTx/>
              <a:buNone/>
            </a:pPr>
            <a:r>
              <a:rPr lang="fr-FR" altLang="fr-FR" sz="14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gauss.pds</a:t>
            </a:r>
            <a:r>
              <a:rPr lang="fr-FR" altLang="fr-FR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=pds;</a:t>
            </a:r>
            <a:endParaRPr lang="fr-FR" altLang="fr-FR" sz="1400" dirty="0"/>
          </a:p>
          <a:p>
            <a:pPr>
              <a:spcBef>
                <a:spcPct val="0"/>
              </a:spcBef>
              <a:buFontTx/>
              <a:buNone/>
            </a:pPr>
            <a:endParaRPr lang="fr-FR" altLang="fr-FR" sz="1400" dirty="0"/>
          </a:p>
        </p:txBody>
      </p:sp>
      <p:sp>
        <p:nvSpPr>
          <p:cNvPr id="32771" name="Text Box 5"/>
          <p:cNvSpPr txBox="1">
            <a:spLocks noChangeArrowheads="1"/>
          </p:cNvSpPr>
          <p:nvPr/>
        </p:nvSpPr>
        <p:spPr bwMode="auto">
          <a:xfrm>
            <a:off x="6953250" y="106363"/>
            <a:ext cx="20510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 b="1">
                <a:latin typeface="Arial" panose="020B0604020202020204" pitchFamily="34" charset="0"/>
              </a:rPr>
              <a:t>polynomes_T3.m</a:t>
            </a:r>
          </a:p>
        </p:txBody>
      </p:sp>
      <p:sp>
        <p:nvSpPr>
          <p:cNvPr id="32772" name="Text Box 6"/>
          <p:cNvSpPr txBox="1">
            <a:spLocks noChangeArrowheads="1"/>
          </p:cNvSpPr>
          <p:nvPr/>
        </p:nvSpPr>
        <p:spPr bwMode="auto">
          <a:xfrm>
            <a:off x="323850" y="115888"/>
            <a:ext cx="72009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fr-FR" altLang="fr-FR" sz="2000">
                <a:solidFill>
                  <a:srgbClr val="FF0000"/>
                </a:solidFill>
                <a:latin typeface="Arial" panose="020B0604020202020204" pitchFamily="34" charset="0"/>
              </a:rPr>
              <a:t>Calcul des poids, des polynômes de Lagrange et du det jacobien aux point de Gauss </a:t>
            </a:r>
          </a:p>
        </p:txBody>
      </p:sp>
      <p:grpSp>
        <p:nvGrpSpPr>
          <p:cNvPr id="32773" name="Group 7"/>
          <p:cNvGrpSpPr>
            <a:grpSpLocks/>
          </p:cNvGrpSpPr>
          <p:nvPr/>
        </p:nvGrpSpPr>
        <p:grpSpPr bwMode="auto">
          <a:xfrm>
            <a:off x="4611688" y="3703638"/>
            <a:ext cx="4268787" cy="2678112"/>
            <a:chOff x="2905" y="890"/>
            <a:chExt cx="2689" cy="1687"/>
          </a:xfrm>
        </p:grpSpPr>
        <p:graphicFrame>
          <p:nvGraphicFramePr>
            <p:cNvPr id="32791" name="Object 8"/>
            <p:cNvGraphicFramePr>
              <a:graphicFrameLocks noChangeAspect="1"/>
            </p:cNvGraphicFramePr>
            <p:nvPr/>
          </p:nvGraphicFramePr>
          <p:xfrm>
            <a:off x="4422" y="1795"/>
            <a:ext cx="279" cy="3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285" name="Équation" r:id="rId3" imgW="444307" imgH="609336" progId="Equation.3">
                    <p:embed/>
                  </p:oleObj>
                </mc:Choice>
                <mc:Fallback>
                  <p:oleObj name="Équation" r:id="rId3" imgW="444307" imgH="609336" progId="Equation.3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22" y="1795"/>
                          <a:ext cx="279" cy="3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32792" name="Group 9"/>
            <p:cNvGrpSpPr>
              <a:grpSpLocks/>
            </p:cNvGrpSpPr>
            <p:nvPr/>
          </p:nvGrpSpPr>
          <p:grpSpPr bwMode="auto">
            <a:xfrm>
              <a:off x="2905" y="1330"/>
              <a:ext cx="1352" cy="1241"/>
              <a:chOff x="514" y="4165"/>
              <a:chExt cx="1352" cy="1241"/>
            </a:xfrm>
          </p:grpSpPr>
          <p:sp>
            <p:nvSpPr>
              <p:cNvPr id="32800" name="Line 10"/>
              <p:cNvSpPr>
                <a:spLocks noChangeShapeType="1"/>
              </p:cNvSpPr>
              <p:nvPr/>
            </p:nvSpPr>
            <p:spPr bwMode="auto">
              <a:xfrm flipV="1">
                <a:off x="751" y="4416"/>
                <a:ext cx="0" cy="7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32801" name="Line 11"/>
              <p:cNvSpPr>
                <a:spLocks noChangeShapeType="1"/>
              </p:cNvSpPr>
              <p:nvPr/>
            </p:nvSpPr>
            <p:spPr bwMode="auto">
              <a:xfrm rot="5400000" flipV="1">
                <a:off x="1178" y="4720"/>
                <a:ext cx="6" cy="86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32802" name="Freeform 12"/>
              <p:cNvSpPr>
                <a:spLocks/>
              </p:cNvSpPr>
              <p:nvPr/>
            </p:nvSpPr>
            <p:spPr bwMode="auto">
              <a:xfrm rot="5400000" flipH="1">
                <a:off x="753" y="4594"/>
                <a:ext cx="571" cy="563"/>
              </a:xfrm>
              <a:custGeom>
                <a:avLst/>
                <a:gdLst>
                  <a:gd name="T0" fmla="*/ 0 w 563"/>
                  <a:gd name="T1" fmla="*/ 2158 h 450"/>
                  <a:gd name="T2" fmla="*/ 0 w 563"/>
                  <a:gd name="T3" fmla="*/ 0 h 450"/>
                  <a:gd name="T4" fmla="*/ 621 w 563"/>
                  <a:gd name="T5" fmla="*/ 2158 h 450"/>
                  <a:gd name="T6" fmla="*/ 0 w 563"/>
                  <a:gd name="T7" fmla="*/ 2158 h 45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63"/>
                  <a:gd name="T13" fmla="*/ 0 h 450"/>
                  <a:gd name="T14" fmla="*/ 563 w 563"/>
                  <a:gd name="T15" fmla="*/ 450 h 45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63" h="450">
                    <a:moveTo>
                      <a:pt x="0" y="450"/>
                    </a:moveTo>
                    <a:lnTo>
                      <a:pt x="0" y="0"/>
                    </a:lnTo>
                    <a:lnTo>
                      <a:pt x="563" y="450"/>
                    </a:lnTo>
                    <a:lnTo>
                      <a:pt x="0" y="450"/>
                    </a:lnTo>
                    <a:close/>
                  </a:path>
                </a:pathLst>
              </a:custGeom>
              <a:noFill/>
              <a:ln w="38100" cmpd="sng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32803" name="Text Box 13"/>
              <p:cNvSpPr txBox="1">
                <a:spLocks noChangeArrowheads="1"/>
              </p:cNvSpPr>
              <p:nvPr/>
            </p:nvSpPr>
            <p:spPr bwMode="auto">
              <a:xfrm>
                <a:off x="612" y="4165"/>
                <a:ext cx="19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fr-FR" altLang="fr-FR" sz="2000"/>
                  <a:t>v</a:t>
                </a:r>
              </a:p>
            </p:txBody>
          </p:sp>
          <p:sp>
            <p:nvSpPr>
              <p:cNvPr id="32804" name="Text Box 14"/>
              <p:cNvSpPr txBox="1">
                <a:spLocks noChangeArrowheads="1"/>
              </p:cNvSpPr>
              <p:nvPr/>
            </p:nvSpPr>
            <p:spPr bwMode="auto">
              <a:xfrm>
                <a:off x="1670" y="5006"/>
                <a:ext cx="19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fr-FR" altLang="fr-FR" sz="2000"/>
                  <a:t>u</a:t>
                </a:r>
              </a:p>
            </p:txBody>
          </p:sp>
          <p:sp>
            <p:nvSpPr>
              <p:cNvPr id="32805" name="Text Box 15"/>
              <p:cNvSpPr txBox="1">
                <a:spLocks noChangeArrowheads="1"/>
              </p:cNvSpPr>
              <p:nvPr/>
            </p:nvSpPr>
            <p:spPr bwMode="auto">
              <a:xfrm>
                <a:off x="1242" y="5156"/>
                <a:ext cx="19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fr-FR" altLang="fr-FR" sz="2000"/>
                  <a:t>1</a:t>
                </a:r>
              </a:p>
            </p:txBody>
          </p:sp>
          <p:sp>
            <p:nvSpPr>
              <p:cNvPr id="32806" name="Text Box 16"/>
              <p:cNvSpPr txBox="1">
                <a:spLocks noChangeArrowheads="1"/>
              </p:cNvSpPr>
              <p:nvPr/>
            </p:nvSpPr>
            <p:spPr bwMode="auto">
              <a:xfrm>
                <a:off x="514" y="4466"/>
                <a:ext cx="19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fr-FR" altLang="fr-FR" sz="2000"/>
                  <a:t>1</a:t>
                </a:r>
              </a:p>
            </p:txBody>
          </p:sp>
          <p:sp>
            <p:nvSpPr>
              <p:cNvPr id="32807" name="Oval 17"/>
              <p:cNvSpPr>
                <a:spLocks noChangeArrowheads="1"/>
              </p:cNvSpPr>
              <p:nvPr/>
            </p:nvSpPr>
            <p:spPr bwMode="auto">
              <a:xfrm>
                <a:off x="701" y="4551"/>
                <a:ext cx="90" cy="90"/>
              </a:xfrm>
              <a:prstGeom prst="ellipse">
                <a:avLst/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fr-FR" altLang="fr-FR" sz="2400"/>
              </a:p>
            </p:txBody>
          </p:sp>
          <p:sp>
            <p:nvSpPr>
              <p:cNvPr id="32808" name="Oval 18"/>
              <p:cNvSpPr>
                <a:spLocks noChangeArrowheads="1"/>
              </p:cNvSpPr>
              <p:nvPr/>
            </p:nvSpPr>
            <p:spPr bwMode="auto">
              <a:xfrm>
                <a:off x="701" y="5099"/>
                <a:ext cx="90" cy="90"/>
              </a:xfrm>
              <a:prstGeom prst="ellipse">
                <a:avLst/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fr-FR" altLang="fr-FR" sz="2400"/>
              </a:p>
            </p:txBody>
          </p:sp>
          <p:sp>
            <p:nvSpPr>
              <p:cNvPr id="32809" name="Oval 19"/>
              <p:cNvSpPr>
                <a:spLocks noChangeArrowheads="1"/>
              </p:cNvSpPr>
              <p:nvPr/>
            </p:nvSpPr>
            <p:spPr bwMode="auto">
              <a:xfrm>
                <a:off x="1241" y="5099"/>
                <a:ext cx="90" cy="90"/>
              </a:xfrm>
              <a:prstGeom prst="ellipse">
                <a:avLst/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fr-FR" altLang="fr-FR" sz="2400"/>
              </a:p>
            </p:txBody>
          </p:sp>
          <p:sp>
            <p:nvSpPr>
              <p:cNvPr id="32810" name="Oval 20"/>
              <p:cNvSpPr>
                <a:spLocks noChangeArrowheads="1"/>
              </p:cNvSpPr>
              <p:nvPr/>
            </p:nvSpPr>
            <p:spPr bwMode="auto">
              <a:xfrm>
                <a:off x="1046" y="5024"/>
                <a:ext cx="68" cy="68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fr-FR" altLang="fr-FR" sz="2400"/>
              </a:p>
            </p:txBody>
          </p:sp>
          <p:sp>
            <p:nvSpPr>
              <p:cNvPr id="32811" name="Oval 21"/>
              <p:cNvSpPr>
                <a:spLocks noChangeArrowheads="1"/>
              </p:cNvSpPr>
              <p:nvPr/>
            </p:nvSpPr>
            <p:spPr bwMode="auto">
              <a:xfrm>
                <a:off x="828" y="5022"/>
                <a:ext cx="68" cy="68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fr-FR" altLang="fr-FR" sz="2400"/>
              </a:p>
            </p:txBody>
          </p:sp>
          <p:sp>
            <p:nvSpPr>
              <p:cNvPr id="32812" name="Oval 22"/>
              <p:cNvSpPr>
                <a:spLocks noChangeArrowheads="1"/>
              </p:cNvSpPr>
              <p:nvPr/>
            </p:nvSpPr>
            <p:spPr bwMode="auto">
              <a:xfrm>
                <a:off x="821" y="4814"/>
                <a:ext cx="68" cy="68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fr-FR" altLang="fr-FR" sz="2400"/>
              </a:p>
            </p:txBody>
          </p:sp>
        </p:grpSp>
        <p:graphicFrame>
          <p:nvGraphicFramePr>
            <p:cNvPr id="32793" name="Object 23"/>
            <p:cNvGraphicFramePr>
              <a:graphicFrameLocks noChangeAspect="1"/>
            </p:cNvGraphicFramePr>
            <p:nvPr/>
          </p:nvGraphicFramePr>
          <p:xfrm>
            <a:off x="4422" y="1389"/>
            <a:ext cx="279" cy="3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286" name="Équation" r:id="rId5" imgW="444307" imgH="609336" progId="Equation.3">
                    <p:embed/>
                  </p:oleObj>
                </mc:Choice>
                <mc:Fallback>
                  <p:oleObj name="Équation" r:id="rId5" imgW="444307" imgH="609336" progId="Equation.3">
                    <p:embed/>
                    <p:pic>
                      <p:nvPicPr>
                        <p:cNvPr id="0" name="Object 2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22" y="1389"/>
                          <a:ext cx="279" cy="3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2794" name="Object 24"/>
            <p:cNvGraphicFramePr>
              <a:graphicFrameLocks noChangeAspect="1"/>
            </p:cNvGraphicFramePr>
            <p:nvPr/>
          </p:nvGraphicFramePr>
          <p:xfrm>
            <a:off x="4415" y="2193"/>
            <a:ext cx="279" cy="3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287" name="Équation" r:id="rId7" imgW="444307" imgH="609336" progId="Equation.3">
                    <p:embed/>
                  </p:oleObj>
                </mc:Choice>
                <mc:Fallback>
                  <p:oleObj name="Équation" r:id="rId7" imgW="444307" imgH="609336" progId="Equation.3">
                    <p:embed/>
                    <p:pic>
                      <p:nvPicPr>
                        <p:cNvPr id="0" name="Object 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15" y="2193"/>
                          <a:ext cx="279" cy="3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2795" name="Object 25"/>
            <p:cNvGraphicFramePr>
              <a:graphicFrameLocks noChangeAspect="1"/>
            </p:cNvGraphicFramePr>
            <p:nvPr/>
          </p:nvGraphicFramePr>
          <p:xfrm>
            <a:off x="5270" y="1397"/>
            <a:ext cx="120" cy="3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288" name="Équation" r:id="rId9" imgW="190417" imgH="609336" progId="Equation.3">
                    <p:embed/>
                  </p:oleObj>
                </mc:Choice>
                <mc:Fallback>
                  <p:oleObj name="Équation" r:id="rId9" imgW="190417" imgH="609336" progId="Equation.3">
                    <p:embed/>
                    <p:pic>
                      <p:nvPicPr>
                        <p:cNvPr id="0" name="Object 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70" y="1397"/>
                          <a:ext cx="120" cy="3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2796" name="Object 26"/>
            <p:cNvGraphicFramePr>
              <a:graphicFrameLocks noChangeAspect="1"/>
            </p:cNvGraphicFramePr>
            <p:nvPr/>
          </p:nvGraphicFramePr>
          <p:xfrm>
            <a:off x="5270" y="1817"/>
            <a:ext cx="120" cy="3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289" name="Équation" r:id="rId11" imgW="190417" imgH="609336" progId="Equation.3">
                    <p:embed/>
                  </p:oleObj>
                </mc:Choice>
                <mc:Fallback>
                  <p:oleObj name="Équation" r:id="rId11" imgW="190417" imgH="609336" progId="Equation.3">
                    <p:embed/>
                    <p:pic>
                      <p:nvPicPr>
                        <p:cNvPr id="0" name="Object 2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70" y="1817"/>
                          <a:ext cx="120" cy="3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2797" name="Object 27"/>
            <p:cNvGraphicFramePr>
              <a:graphicFrameLocks noChangeAspect="1"/>
            </p:cNvGraphicFramePr>
            <p:nvPr/>
          </p:nvGraphicFramePr>
          <p:xfrm>
            <a:off x="5263" y="2184"/>
            <a:ext cx="120" cy="3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290" name="Équation" r:id="rId12" imgW="190417" imgH="609336" progId="Equation.3">
                    <p:embed/>
                  </p:oleObj>
                </mc:Choice>
                <mc:Fallback>
                  <p:oleObj name="Équation" r:id="rId12" imgW="190417" imgH="609336" progId="Equation.3">
                    <p:embed/>
                    <p:pic>
                      <p:nvPicPr>
                        <p:cNvPr id="0" name="Object 2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63" y="2184"/>
                          <a:ext cx="120" cy="3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2798" name="Text Box 28"/>
            <p:cNvSpPr txBox="1">
              <a:spLocks noChangeArrowheads="1"/>
            </p:cNvSpPr>
            <p:nvPr/>
          </p:nvSpPr>
          <p:spPr bwMode="auto">
            <a:xfrm>
              <a:off x="4241" y="890"/>
              <a:ext cx="552" cy="4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fr-FR" altLang="fr-FR" sz="2000">
                  <a:solidFill>
                    <a:schemeClr val="accent2"/>
                  </a:solidFill>
                  <a:latin typeface="Trebuchet MS" panose="020B0603020202020204" pitchFamily="34" charset="0"/>
                </a:rPr>
                <a:t>Points</a:t>
              </a:r>
            </a:p>
            <a:p>
              <a:pPr algn="ctr">
                <a:spcBef>
                  <a:spcPct val="0"/>
                </a:spcBef>
                <a:buFontTx/>
                <a:buNone/>
              </a:pPr>
              <a:r>
                <a:rPr lang="fr-FR" altLang="fr-FR" sz="2000">
                  <a:solidFill>
                    <a:schemeClr val="accent2"/>
                  </a:solidFill>
                  <a:latin typeface="Trebuchet MS" panose="020B0603020202020204" pitchFamily="34" charset="0"/>
                </a:rPr>
                <a:t>u</a:t>
              </a:r>
              <a:r>
                <a:rPr lang="fr-FR" altLang="fr-FR" sz="2000" baseline="-25000">
                  <a:solidFill>
                    <a:schemeClr val="accent2"/>
                  </a:solidFill>
                  <a:latin typeface="Trebuchet MS" panose="020B0603020202020204" pitchFamily="34" charset="0"/>
                </a:rPr>
                <a:t>k</a:t>
              </a:r>
              <a:r>
                <a:rPr lang="fr-FR" altLang="fr-FR" sz="2000">
                  <a:solidFill>
                    <a:schemeClr val="accent2"/>
                  </a:solidFill>
                  <a:latin typeface="Trebuchet MS" panose="020B0603020202020204" pitchFamily="34" charset="0"/>
                </a:rPr>
                <a:t>,v</a:t>
              </a:r>
              <a:r>
                <a:rPr lang="fr-FR" altLang="fr-FR" sz="2000" baseline="-25000">
                  <a:solidFill>
                    <a:schemeClr val="accent2"/>
                  </a:solidFill>
                  <a:latin typeface="Trebuchet MS" panose="020B0603020202020204" pitchFamily="34" charset="0"/>
                </a:rPr>
                <a:t>k</a:t>
              </a:r>
              <a:endParaRPr lang="fr-FR" altLang="fr-FR" sz="2000" baseline="-25000">
                <a:latin typeface="Trebuchet MS" panose="020B0603020202020204" pitchFamily="34" charset="0"/>
              </a:endParaRPr>
            </a:p>
          </p:txBody>
        </p:sp>
        <p:sp>
          <p:nvSpPr>
            <p:cNvPr id="32799" name="Text Box 29"/>
            <p:cNvSpPr txBox="1">
              <a:spLocks noChangeArrowheads="1"/>
            </p:cNvSpPr>
            <p:nvPr/>
          </p:nvSpPr>
          <p:spPr bwMode="auto">
            <a:xfrm>
              <a:off x="5103" y="890"/>
              <a:ext cx="491" cy="4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fr-FR" altLang="fr-FR" sz="2000">
                  <a:solidFill>
                    <a:schemeClr val="accent2"/>
                  </a:solidFill>
                  <a:latin typeface="Trebuchet MS" panose="020B0603020202020204" pitchFamily="34" charset="0"/>
                </a:rPr>
                <a:t>Poids</a:t>
              </a:r>
            </a:p>
            <a:p>
              <a:pPr algn="ctr">
                <a:spcBef>
                  <a:spcPct val="0"/>
                </a:spcBef>
                <a:buFontTx/>
                <a:buNone/>
              </a:pPr>
              <a:r>
                <a:rPr lang="fr-FR" altLang="fr-FR" sz="1800">
                  <a:solidFill>
                    <a:schemeClr val="accent2"/>
                  </a:solidFill>
                  <a:latin typeface="Arial" panose="020B0604020202020204" pitchFamily="34" charset="0"/>
                </a:rPr>
                <a:t>w</a:t>
              </a:r>
              <a:r>
                <a:rPr lang="fr-FR" altLang="fr-FR" sz="2000" baseline="-25000">
                  <a:solidFill>
                    <a:schemeClr val="accent2"/>
                  </a:solidFill>
                  <a:latin typeface="Trebuchet MS" panose="020B0603020202020204" pitchFamily="34" charset="0"/>
                </a:rPr>
                <a:t>k</a:t>
              </a:r>
              <a:endParaRPr lang="fr-FR" altLang="fr-FR" sz="2000" baseline="-25000">
                <a:latin typeface="Trebuchet MS" panose="020B0603020202020204" pitchFamily="34" charset="0"/>
              </a:endParaRPr>
            </a:p>
          </p:txBody>
        </p:sp>
      </p:grpSp>
      <p:grpSp>
        <p:nvGrpSpPr>
          <p:cNvPr id="32774" name="Group 30"/>
          <p:cNvGrpSpPr>
            <a:grpSpLocks/>
          </p:cNvGrpSpPr>
          <p:nvPr/>
        </p:nvGrpSpPr>
        <p:grpSpPr bwMode="auto">
          <a:xfrm>
            <a:off x="4611688" y="1395413"/>
            <a:ext cx="4137025" cy="2033587"/>
            <a:chOff x="3033" y="584"/>
            <a:chExt cx="2606" cy="1281"/>
          </a:xfrm>
        </p:grpSpPr>
        <p:sp>
          <p:nvSpPr>
            <p:cNvPr id="32776" name="Line 31"/>
            <p:cNvSpPr>
              <a:spLocks noChangeShapeType="1"/>
            </p:cNvSpPr>
            <p:nvPr/>
          </p:nvSpPr>
          <p:spPr bwMode="auto">
            <a:xfrm flipV="1">
              <a:off x="3270" y="875"/>
              <a:ext cx="0" cy="7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2777" name="Line 32"/>
            <p:cNvSpPr>
              <a:spLocks noChangeShapeType="1"/>
            </p:cNvSpPr>
            <p:nvPr/>
          </p:nvSpPr>
          <p:spPr bwMode="auto">
            <a:xfrm rot="5400000" flipV="1">
              <a:off x="3697" y="1179"/>
              <a:ext cx="6" cy="8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2778" name="Freeform 33"/>
            <p:cNvSpPr>
              <a:spLocks/>
            </p:cNvSpPr>
            <p:nvPr/>
          </p:nvSpPr>
          <p:spPr bwMode="auto">
            <a:xfrm rot="5400000" flipH="1">
              <a:off x="3272" y="1053"/>
              <a:ext cx="571" cy="563"/>
            </a:xfrm>
            <a:custGeom>
              <a:avLst/>
              <a:gdLst>
                <a:gd name="T0" fmla="*/ 0 w 563"/>
                <a:gd name="T1" fmla="*/ 2158 h 450"/>
                <a:gd name="T2" fmla="*/ 0 w 563"/>
                <a:gd name="T3" fmla="*/ 0 h 450"/>
                <a:gd name="T4" fmla="*/ 621 w 563"/>
                <a:gd name="T5" fmla="*/ 2158 h 450"/>
                <a:gd name="T6" fmla="*/ 0 w 563"/>
                <a:gd name="T7" fmla="*/ 2158 h 45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63"/>
                <a:gd name="T13" fmla="*/ 0 h 450"/>
                <a:gd name="T14" fmla="*/ 563 w 563"/>
                <a:gd name="T15" fmla="*/ 450 h 45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63" h="450">
                  <a:moveTo>
                    <a:pt x="0" y="450"/>
                  </a:moveTo>
                  <a:lnTo>
                    <a:pt x="0" y="0"/>
                  </a:lnTo>
                  <a:lnTo>
                    <a:pt x="563" y="450"/>
                  </a:lnTo>
                  <a:lnTo>
                    <a:pt x="0" y="450"/>
                  </a:lnTo>
                  <a:close/>
                </a:path>
              </a:pathLst>
            </a:custGeom>
            <a:noFill/>
            <a:ln w="38100" cmpd="sng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2779" name="Text Box 34"/>
            <p:cNvSpPr txBox="1">
              <a:spLocks noChangeArrowheads="1"/>
            </p:cNvSpPr>
            <p:nvPr/>
          </p:nvSpPr>
          <p:spPr bwMode="auto">
            <a:xfrm>
              <a:off x="4189" y="1465"/>
              <a:ext cx="19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fr-FR" altLang="fr-FR" sz="2000"/>
                <a:t>u</a:t>
              </a:r>
            </a:p>
          </p:txBody>
        </p:sp>
        <p:sp>
          <p:nvSpPr>
            <p:cNvPr id="32780" name="Text Box 35"/>
            <p:cNvSpPr txBox="1">
              <a:spLocks noChangeArrowheads="1"/>
            </p:cNvSpPr>
            <p:nvPr/>
          </p:nvSpPr>
          <p:spPr bwMode="auto">
            <a:xfrm>
              <a:off x="3761" y="1615"/>
              <a:ext cx="19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fr-FR" altLang="fr-FR" sz="2000"/>
                <a:t>1</a:t>
              </a:r>
            </a:p>
          </p:txBody>
        </p:sp>
        <p:sp>
          <p:nvSpPr>
            <p:cNvPr id="32781" name="Text Box 36"/>
            <p:cNvSpPr txBox="1">
              <a:spLocks noChangeArrowheads="1"/>
            </p:cNvSpPr>
            <p:nvPr/>
          </p:nvSpPr>
          <p:spPr bwMode="auto">
            <a:xfrm>
              <a:off x="3033" y="925"/>
              <a:ext cx="19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fr-FR" altLang="fr-FR" sz="2000"/>
                <a:t>1</a:t>
              </a:r>
            </a:p>
          </p:txBody>
        </p:sp>
        <p:sp>
          <p:nvSpPr>
            <p:cNvPr id="32782" name="Oval 37"/>
            <p:cNvSpPr>
              <a:spLocks noChangeArrowheads="1"/>
            </p:cNvSpPr>
            <p:nvPr/>
          </p:nvSpPr>
          <p:spPr bwMode="auto">
            <a:xfrm>
              <a:off x="3220" y="1010"/>
              <a:ext cx="90" cy="90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fr-FR" altLang="fr-FR" sz="2400"/>
            </a:p>
          </p:txBody>
        </p:sp>
        <p:sp>
          <p:nvSpPr>
            <p:cNvPr id="32783" name="Oval 38"/>
            <p:cNvSpPr>
              <a:spLocks noChangeArrowheads="1"/>
            </p:cNvSpPr>
            <p:nvPr/>
          </p:nvSpPr>
          <p:spPr bwMode="auto">
            <a:xfrm>
              <a:off x="3220" y="1558"/>
              <a:ext cx="90" cy="90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fr-FR" altLang="fr-FR" sz="2400"/>
            </a:p>
          </p:txBody>
        </p:sp>
        <p:sp>
          <p:nvSpPr>
            <p:cNvPr id="32784" name="Oval 39"/>
            <p:cNvSpPr>
              <a:spLocks noChangeArrowheads="1"/>
            </p:cNvSpPr>
            <p:nvPr/>
          </p:nvSpPr>
          <p:spPr bwMode="auto">
            <a:xfrm>
              <a:off x="3760" y="1558"/>
              <a:ext cx="90" cy="90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fr-FR" altLang="fr-FR" sz="2400"/>
            </a:p>
          </p:txBody>
        </p:sp>
        <p:sp>
          <p:nvSpPr>
            <p:cNvPr id="32785" name="Oval 40"/>
            <p:cNvSpPr>
              <a:spLocks noChangeArrowheads="1"/>
            </p:cNvSpPr>
            <p:nvPr/>
          </p:nvSpPr>
          <p:spPr bwMode="auto">
            <a:xfrm>
              <a:off x="3377" y="1421"/>
              <a:ext cx="68" cy="68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fr-FR" altLang="fr-FR" sz="2400"/>
            </a:p>
          </p:txBody>
        </p:sp>
        <p:graphicFrame>
          <p:nvGraphicFramePr>
            <p:cNvPr id="32786" name="Object 41"/>
            <p:cNvGraphicFramePr>
              <a:graphicFrameLocks noChangeAspect="1"/>
            </p:cNvGraphicFramePr>
            <p:nvPr/>
          </p:nvGraphicFramePr>
          <p:xfrm>
            <a:off x="4468" y="1133"/>
            <a:ext cx="264" cy="3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291" name="Équation" r:id="rId13" imgW="419100" imgH="609600" progId="Equation.3">
                    <p:embed/>
                  </p:oleObj>
                </mc:Choice>
                <mc:Fallback>
                  <p:oleObj name="Équation" r:id="rId13" imgW="419100" imgH="609600" progId="Equation.3">
                    <p:embed/>
                    <p:pic>
                      <p:nvPicPr>
                        <p:cNvPr id="0" name="Object 4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68" y="1133"/>
                          <a:ext cx="264" cy="3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2787" name="Object 42"/>
            <p:cNvGraphicFramePr>
              <a:graphicFrameLocks noChangeAspect="1"/>
            </p:cNvGraphicFramePr>
            <p:nvPr/>
          </p:nvGraphicFramePr>
          <p:xfrm>
            <a:off x="5294" y="1117"/>
            <a:ext cx="120" cy="3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292" name="Équation" r:id="rId15" imgW="190417" imgH="609336" progId="Equation.3">
                    <p:embed/>
                  </p:oleObj>
                </mc:Choice>
                <mc:Fallback>
                  <p:oleObj name="Équation" r:id="rId15" imgW="190417" imgH="609336" progId="Equation.3">
                    <p:embed/>
                    <p:pic>
                      <p:nvPicPr>
                        <p:cNvPr id="0" name="Object 4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94" y="1117"/>
                          <a:ext cx="120" cy="3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2788" name="Text Box 43"/>
            <p:cNvSpPr txBox="1">
              <a:spLocks noChangeArrowheads="1"/>
            </p:cNvSpPr>
            <p:nvPr/>
          </p:nvSpPr>
          <p:spPr bwMode="auto">
            <a:xfrm>
              <a:off x="4286" y="584"/>
              <a:ext cx="552" cy="4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fr-FR" altLang="fr-FR" sz="2000">
                  <a:solidFill>
                    <a:schemeClr val="accent2"/>
                  </a:solidFill>
                  <a:latin typeface="Trebuchet MS" panose="020B0603020202020204" pitchFamily="34" charset="0"/>
                </a:rPr>
                <a:t>Points</a:t>
              </a:r>
            </a:p>
            <a:p>
              <a:pPr algn="ctr">
                <a:spcBef>
                  <a:spcPct val="0"/>
                </a:spcBef>
                <a:buFontTx/>
                <a:buNone/>
              </a:pPr>
              <a:r>
                <a:rPr lang="fr-FR" altLang="fr-FR" sz="2000">
                  <a:solidFill>
                    <a:schemeClr val="accent2"/>
                  </a:solidFill>
                  <a:latin typeface="Trebuchet MS" panose="020B0603020202020204" pitchFamily="34" charset="0"/>
                </a:rPr>
                <a:t>u</a:t>
              </a:r>
              <a:r>
                <a:rPr lang="fr-FR" altLang="fr-FR" sz="2000" baseline="-25000">
                  <a:solidFill>
                    <a:schemeClr val="accent2"/>
                  </a:solidFill>
                  <a:latin typeface="Trebuchet MS" panose="020B0603020202020204" pitchFamily="34" charset="0"/>
                </a:rPr>
                <a:t>k</a:t>
              </a:r>
              <a:r>
                <a:rPr lang="fr-FR" altLang="fr-FR" sz="2000">
                  <a:solidFill>
                    <a:schemeClr val="accent2"/>
                  </a:solidFill>
                  <a:latin typeface="Trebuchet MS" panose="020B0603020202020204" pitchFamily="34" charset="0"/>
                </a:rPr>
                <a:t>,v</a:t>
              </a:r>
              <a:r>
                <a:rPr lang="fr-FR" altLang="fr-FR" sz="2000" baseline="-25000">
                  <a:solidFill>
                    <a:schemeClr val="accent2"/>
                  </a:solidFill>
                  <a:latin typeface="Trebuchet MS" panose="020B0603020202020204" pitchFamily="34" charset="0"/>
                </a:rPr>
                <a:t>k</a:t>
              </a:r>
              <a:endParaRPr lang="fr-FR" altLang="fr-FR" sz="2000" baseline="-25000">
                <a:latin typeface="Trebuchet MS" panose="020B0603020202020204" pitchFamily="34" charset="0"/>
              </a:endParaRPr>
            </a:p>
          </p:txBody>
        </p:sp>
        <p:sp>
          <p:nvSpPr>
            <p:cNvPr id="32789" name="Text Box 44"/>
            <p:cNvSpPr txBox="1">
              <a:spLocks noChangeArrowheads="1"/>
            </p:cNvSpPr>
            <p:nvPr/>
          </p:nvSpPr>
          <p:spPr bwMode="auto">
            <a:xfrm>
              <a:off x="5148" y="584"/>
              <a:ext cx="491" cy="4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fr-FR" altLang="fr-FR" sz="2000">
                  <a:solidFill>
                    <a:schemeClr val="accent2"/>
                  </a:solidFill>
                  <a:latin typeface="Trebuchet MS" panose="020B0603020202020204" pitchFamily="34" charset="0"/>
                </a:rPr>
                <a:t>Poids</a:t>
              </a:r>
            </a:p>
            <a:p>
              <a:pPr algn="ctr">
                <a:spcBef>
                  <a:spcPct val="0"/>
                </a:spcBef>
                <a:buFontTx/>
                <a:buNone/>
              </a:pPr>
              <a:r>
                <a:rPr lang="fr-FR" altLang="fr-FR" sz="2000">
                  <a:solidFill>
                    <a:schemeClr val="accent2"/>
                  </a:solidFill>
                  <a:latin typeface="Arial" panose="020B0604020202020204" pitchFamily="34" charset="0"/>
                </a:rPr>
                <a:t>w</a:t>
              </a:r>
              <a:r>
                <a:rPr lang="fr-FR" altLang="fr-FR" sz="2000" baseline="-25000">
                  <a:solidFill>
                    <a:schemeClr val="accent2"/>
                  </a:solidFill>
                  <a:latin typeface="Trebuchet MS" panose="020B0603020202020204" pitchFamily="34" charset="0"/>
                </a:rPr>
                <a:t>k</a:t>
              </a:r>
              <a:endParaRPr lang="fr-FR" altLang="fr-FR" sz="2000" baseline="-25000">
                <a:latin typeface="Trebuchet MS" panose="020B0603020202020204" pitchFamily="34" charset="0"/>
              </a:endParaRPr>
            </a:p>
          </p:txBody>
        </p:sp>
        <p:sp>
          <p:nvSpPr>
            <p:cNvPr id="32790" name="Text Box 45"/>
            <p:cNvSpPr txBox="1">
              <a:spLocks noChangeArrowheads="1"/>
            </p:cNvSpPr>
            <p:nvPr/>
          </p:nvSpPr>
          <p:spPr bwMode="auto">
            <a:xfrm>
              <a:off x="3183" y="618"/>
              <a:ext cx="19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fr-FR" altLang="fr-FR" sz="2000"/>
                <a:t>v</a:t>
              </a:r>
            </a:p>
          </p:txBody>
        </p:sp>
      </p:grpSp>
      <p:sp>
        <p:nvSpPr>
          <p:cNvPr id="32775" name="Espace réservé du numéro de diapositive 4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62D38D1-489E-4384-A247-34EC00AF6AE6}" type="slidenum">
              <a:rPr lang="fr-FR" altLang="fr-FR" sz="1400"/>
              <a:pPr>
                <a:spcBef>
                  <a:spcPct val="0"/>
                </a:spcBef>
                <a:buFontTx/>
                <a:buNone/>
              </a:pPr>
              <a:t>27</a:t>
            </a:fld>
            <a:endParaRPr lang="fr-FR" altLang="fr-FR" sz="1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ext Box 4"/>
          <p:cNvSpPr txBox="1">
            <a:spLocks noChangeArrowheads="1"/>
          </p:cNvSpPr>
          <p:nvPr/>
        </p:nvSpPr>
        <p:spPr bwMode="auto">
          <a:xfrm>
            <a:off x="179512" y="887442"/>
            <a:ext cx="9145452" cy="41919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fr-FR" altLang="fr-FR" sz="1800" b="1" dirty="0">
                <a:solidFill>
                  <a:srgbClr val="228B22"/>
                </a:solidFill>
                <a:latin typeface="Courier New" panose="02070309020205020404" pitchFamily="49" charset="0"/>
              </a:rPr>
              <a:t>%calcul des </a:t>
            </a:r>
            <a:r>
              <a:rPr lang="fr-FR" altLang="fr-FR" sz="1800" b="1" dirty="0" err="1">
                <a:solidFill>
                  <a:srgbClr val="228B22"/>
                </a:solidFill>
                <a:latin typeface="Courier New" panose="02070309020205020404" pitchFamily="49" charset="0"/>
              </a:rPr>
              <a:t>polynomes</a:t>
            </a:r>
            <a:r>
              <a:rPr lang="fr-FR" altLang="fr-FR" sz="1800" b="1" dirty="0">
                <a:solidFill>
                  <a:srgbClr val="228B22"/>
                </a:solidFill>
                <a:latin typeface="Courier New" panose="02070309020205020404" pitchFamily="49" charset="0"/>
              </a:rPr>
              <a:t> de Lagrange</a:t>
            </a:r>
            <a:r>
              <a:rPr lang="fr-FR" altLang="fr-FR" sz="1800" dirty="0"/>
              <a:t> </a:t>
            </a:r>
            <a:r>
              <a:rPr lang="fr-FR" altLang="fr-FR" sz="1800" b="1" dirty="0">
                <a:solidFill>
                  <a:srgbClr val="228B22"/>
                </a:solidFill>
                <a:latin typeface="Courier New" panose="02070309020205020404" pitchFamily="49" charset="0"/>
              </a:rPr>
              <a:t>aux points d’</a:t>
            </a:r>
            <a:r>
              <a:rPr lang="fr-FR" altLang="fr-FR" sz="1800" b="1" dirty="0" err="1">
                <a:solidFill>
                  <a:srgbClr val="228B22"/>
                </a:solidFill>
                <a:latin typeface="Courier New" panose="02070309020205020404" pitchFamily="49" charset="0"/>
              </a:rPr>
              <a:t>integration</a:t>
            </a:r>
            <a:endParaRPr lang="fr-FR" altLang="fr-FR" sz="1800" dirty="0"/>
          </a:p>
          <a:p>
            <a:pPr>
              <a:spcBef>
                <a:spcPct val="0"/>
              </a:spcBef>
              <a:buFontTx/>
              <a:buNone/>
            </a:pPr>
            <a:endParaRPr lang="fr-FR" altLang="fr-FR" sz="1800" b="1" dirty="0">
              <a:solidFill>
                <a:srgbClr val="0000FF"/>
              </a:solidFill>
              <a:latin typeface="Courier New" panose="02070309020205020404" pitchFamily="49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fr-FR" altLang="fr-FR" sz="1800" b="1" dirty="0">
                <a:solidFill>
                  <a:srgbClr val="0000FF"/>
                </a:solidFill>
                <a:latin typeface="Courier New" panose="02070309020205020404" pitchFamily="49" charset="0"/>
              </a:rPr>
              <a:t>for</a:t>
            </a:r>
            <a:r>
              <a:rPr lang="fr-FR" altLang="fr-FR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 k</a:t>
            </a:r>
            <a:r>
              <a:rPr lang="fr-FR" altLang="fr-FR" sz="1800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=1:NPI </a:t>
            </a:r>
            <a:r>
              <a:rPr lang="fr-FR" altLang="fr-FR" sz="1800" b="1" dirty="0">
                <a:solidFill>
                  <a:srgbClr val="228B22"/>
                </a:solidFill>
                <a:latin typeface="Courier New" panose="02070309020205020404" pitchFamily="49" charset="0"/>
              </a:rPr>
              <a:t>%boucle sur les points de Gauss </a:t>
            </a:r>
            <a:endParaRPr lang="fr-FR" altLang="fr-FR" sz="1800" dirty="0"/>
          </a:p>
          <a:p>
            <a:pPr>
              <a:spcBef>
                <a:spcPct val="0"/>
              </a:spcBef>
              <a:buFontTx/>
              <a:buNone/>
            </a:pPr>
            <a:r>
              <a:rPr lang="fr-FR" altLang="fr-FR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</a:t>
            </a:r>
            <a:r>
              <a:rPr lang="fr-FR" altLang="fr-FR" sz="1800" b="1" dirty="0">
                <a:solidFill>
                  <a:srgbClr val="228B22"/>
                </a:solidFill>
                <a:latin typeface="Courier New" panose="02070309020205020404" pitchFamily="49" charset="0"/>
              </a:rPr>
              <a:t>% </a:t>
            </a:r>
            <a:r>
              <a:rPr lang="fr-FR" altLang="fr-FR" sz="1800" b="1" dirty="0" err="1">
                <a:solidFill>
                  <a:srgbClr val="228B22"/>
                </a:solidFill>
                <a:latin typeface="Courier New" panose="02070309020205020404" pitchFamily="49" charset="0"/>
              </a:rPr>
              <a:t>Polynomes</a:t>
            </a:r>
            <a:r>
              <a:rPr lang="fr-FR" altLang="fr-FR" sz="1800" b="1" dirty="0">
                <a:solidFill>
                  <a:srgbClr val="228B22"/>
                </a:solidFill>
                <a:latin typeface="Courier New" panose="02070309020205020404" pitchFamily="49" charset="0"/>
              </a:rPr>
              <a:t> aux </a:t>
            </a:r>
            <a:r>
              <a:rPr lang="fr-FR" altLang="fr-FR" sz="1800" b="1" dirty="0" err="1">
                <a:solidFill>
                  <a:srgbClr val="228B22"/>
                </a:solidFill>
                <a:latin typeface="Courier New" panose="02070309020205020404" pitchFamily="49" charset="0"/>
              </a:rPr>
              <a:t>noeuds</a:t>
            </a:r>
            <a:r>
              <a:rPr lang="fr-FR" altLang="fr-FR" sz="1800" b="1" dirty="0">
                <a:solidFill>
                  <a:srgbClr val="228B22"/>
                </a:solidFill>
                <a:latin typeface="Courier New" panose="02070309020205020404" pitchFamily="49" charset="0"/>
              </a:rPr>
              <a:t> I,II et III</a:t>
            </a:r>
            <a:endParaRPr lang="fr-FR" altLang="fr-FR" sz="1800" dirty="0"/>
          </a:p>
          <a:p>
            <a:pPr>
              <a:spcBef>
                <a:spcPct val="0"/>
              </a:spcBef>
              <a:buFontTx/>
              <a:buNone/>
            </a:pPr>
            <a:r>
              <a:rPr lang="fr-FR" altLang="fr-FR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</a:t>
            </a:r>
            <a:r>
              <a:rPr lang="fr-FR" altLang="fr-FR" sz="1800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alpha(1,k) = (1-u(k)-v(k));</a:t>
            </a:r>
            <a:endParaRPr lang="fr-FR" altLang="fr-FR" sz="1800" dirty="0"/>
          </a:p>
          <a:p>
            <a:pPr>
              <a:spcBef>
                <a:spcPct val="0"/>
              </a:spcBef>
              <a:buFontTx/>
              <a:buNone/>
            </a:pPr>
            <a:r>
              <a:rPr lang="fr-FR" altLang="fr-FR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</a:t>
            </a:r>
            <a:r>
              <a:rPr lang="fr-FR" altLang="fr-FR" sz="1800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alpha(2,k) = u(k);</a:t>
            </a:r>
            <a:endParaRPr lang="fr-FR" altLang="fr-FR" sz="1800" dirty="0"/>
          </a:p>
          <a:p>
            <a:pPr>
              <a:spcBef>
                <a:spcPct val="0"/>
              </a:spcBef>
              <a:buFontTx/>
              <a:buNone/>
            </a:pPr>
            <a:r>
              <a:rPr lang="fr-FR" altLang="fr-FR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</a:t>
            </a:r>
            <a:r>
              <a:rPr lang="fr-FR" altLang="fr-FR" sz="1800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alpha(3,k) = v(</a:t>
            </a:r>
            <a:r>
              <a:rPr lang="fr-FR" altLang="fr-FR" sz="1800" b="1" dirty="0" err="1" smtClean="0">
                <a:solidFill>
                  <a:srgbClr val="000000"/>
                </a:solidFill>
                <a:latin typeface="Courier New" panose="02070309020205020404" pitchFamily="49" charset="0"/>
              </a:rPr>
              <a:t>npi</a:t>
            </a:r>
            <a:r>
              <a:rPr lang="fr-FR" altLang="fr-FR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);  </a:t>
            </a:r>
            <a:endParaRPr lang="fr-FR" altLang="fr-FR" sz="1800" dirty="0"/>
          </a:p>
          <a:p>
            <a:pPr>
              <a:spcBef>
                <a:spcPct val="0"/>
              </a:spcBef>
              <a:buFontTx/>
              <a:buNone/>
            </a:pPr>
            <a:r>
              <a:rPr lang="fr-FR" altLang="fr-FR" sz="1800" b="1" dirty="0">
                <a:solidFill>
                  <a:srgbClr val="0000FF"/>
                </a:solidFill>
                <a:latin typeface="Courier New" panose="02070309020205020404" pitchFamily="49" charset="0"/>
              </a:rPr>
              <a:t>end</a:t>
            </a:r>
            <a:r>
              <a:rPr lang="fr-FR" altLang="fr-FR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;</a:t>
            </a:r>
            <a:endParaRPr lang="fr-FR" altLang="fr-FR" sz="1800" dirty="0"/>
          </a:p>
          <a:p>
            <a:pPr>
              <a:spcBef>
                <a:spcPct val="0"/>
              </a:spcBef>
              <a:buFontTx/>
              <a:buNone/>
            </a:pPr>
            <a:r>
              <a:rPr lang="fr-FR" altLang="fr-FR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fr-FR" altLang="fr-FR" sz="1800" dirty="0"/>
          </a:p>
          <a:p>
            <a:pPr>
              <a:buNone/>
            </a:pPr>
            <a:r>
              <a:rPr lang="fr-FR" sz="18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gauss.NPI</a:t>
            </a:r>
            <a:r>
              <a:rPr lang="fr-FR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=NPI;      </a:t>
            </a:r>
            <a:r>
              <a:rPr lang="fr-FR" sz="1800" b="1" dirty="0">
                <a:solidFill>
                  <a:srgbClr val="028009"/>
                </a:solidFill>
                <a:latin typeface="Courier New" panose="02070309020205020404" pitchFamily="49" charset="0"/>
              </a:rPr>
              <a:t>% nombre de points de Gauss </a:t>
            </a:r>
            <a:endParaRPr lang="fr-FR" sz="1800" dirty="0">
              <a:solidFill>
                <a:srgbClr val="028009"/>
              </a:solidFill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fr-FR" sz="1800" b="1" dirty="0" err="1" smtClean="0">
                <a:solidFill>
                  <a:srgbClr val="000000"/>
                </a:solidFill>
                <a:latin typeface="Courier New" panose="02070309020205020404" pitchFamily="49" charset="0"/>
              </a:rPr>
              <a:t>gauss.pds</a:t>
            </a:r>
            <a:r>
              <a:rPr lang="fr-FR" sz="1800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=pds</a:t>
            </a:r>
            <a:r>
              <a:rPr lang="fr-FR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;      </a:t>
            </a:r>
            <a:r>
              <a:rPr lang="fr-FR" sz="1800" b="1" dirty="0">
                <a:solidFill>
                  <a:srgbClr val="028009"/>
                </a:solidFill>
                <a:latin typeface="Courier New" panose="02070309020205020404" pitchFamily="49" charset="0"/>
              </a:rPr>
              <a:t>% tableau = valeur de w(k)</a:t>
            </a:r>
            <a:endParaRPr lang="fr-FR" sz="1800" dirty="0">
              <a:solidFill>
                <a:srgbClr val="028009"/>
              </a:solidFill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fr-FR" sz="18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gauss.alpha</a:t>
            </a:r>
            <a:r>
              <a:rPr lang="fr-FR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=alpha;  </a:t>
            </a:r>
            <a:r>
              <a:rPr lang="fr-FR" sz="1800" b="1" dirty="0">
                <a:solidFill>
                  <a:srgbClr val="028009"/>
                </a:solidFill>
                <a:latin typeface="Courier New" panose="02070309020205020404" pitchFamily="49" charset="0"/>
              </a:rPr>
              <a:t>% matrice = </a:t>
            </a:r>
            <a:r>
              <a:rPr lang="fr-FR" sz="1800" b="1" dirty="0" err="1">
                <a:solidFill>
                  <a:srgbClr val="028009"/>
                </a:solidFill>
                <a:latin typeface="Courier New" panose="02070309020205020404" pitchFamily="49" charset="0"/>
              </a:rPr>
              <a:t>gauss.alpha</a:t>
            </a:r>
            <a:r>
              <a:rPr lang="fr-FR" sz="1800" b="1" dirty="0">
                <a:solidFill>
                  <a:srgbClr val="028009"/>
                </a:solidFill>
                <a:latin typeface="Courier New" panose="02070309020205020404" pitchFamily="49" charset="0"/>
              </a:rPr>
              <a:t>(</a:t>
            </a:r>
            <a:r>
              <a:rPr lang="fr-FR" sz="1800" b="1" dirty="0" err="1">
                <a:solidFill>
                  <a:srgbClr val="028009"/>
                </a:solidFill>
                <a:latin typeface="Courier New" panose="02070309020205020404" pitchFamily="49" charset="0"/>
              </a:rPr>
              <a:t>ie</a:t>
            </a:r>
            <a:r>
              <a:rPr lang="fr-FR" sz="1800" b="1" dirty="0">
                <a:solidFill>
                  <a:srgbClr val="028009"/>
                </a:solidFill>
                <a:latin typeface="Courier New" panose="02070309020205020404" pitchFamily="49" charset="0"/>
              </a:rPr>
              <a:t>, k) </a:t>
            </a:r>
            <a:endParaRPr lang="fr-FR" sz="1800" dirty="0">
              <a:solidFill>
                <a:srgbClr val="028009"/>
              </a:solidFill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fr-FR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            </a:t>
            </a:r>
            <a:r>
              <a:rPr lang="fr-FR" sz="1800" b="1" dirty="0">
                <a:solidFill>
                  <a:srgbClr val="028009"/>
                </a:solidFill>
                <a:latin typeface="Courier New" panose="02070309020205020404" pitchFamily="49" charset="0"/>
              </a:rPr>
              <a:t>% </a:t>
            </a:r>
            <a:r>
              <a:rPr lang="fr-FR" sz="1800" b="1" dirty="0" err="1">
                <a:solidFill>
                  <a:srgbClr val="028009"/>
                </a:solidFill>
                <a:latin typeface="Courier New" panose="02070309020205020404" pitchFamily="49" charset="0"/>
              </a:rPr>
              <a:t>ie</a:t>
            </a:r>
            <a:r>
              <a:rPr lang="fr-FR" sz="1800" b="1" dirty="0">
                <a:solidFill>
                  <a:srgbClr val="028009"/>
                </a:solidFill>
                <a:latin typeface="Courier New" panose="02070309020205020404" pitchFamily="49" charset="0"/>
              </a:rPr>
              <a:t> dans {I, II, III}, k dans [1, </a:t>
            </a:r>
            <a:r>
              <a:rPr lang="fr-FR" sz="1800" b="1" dirty="0" err="1">
                <a:solidFill>
                  <a:srgbClr val="028009"/>
                </a:solidFill>
                <a:latin typeface="Courier New" panose="02070309020205020404" pitchFamily="49" charset="0"/>
              </a:rPr>
              <a:t>gauss.NPI</a:t>
            </a:r>
            <a:r>
              <a:rPr lang="fr-FR" sz="1800" b="1" dirty="0">
                <a:solidFill>
                  <a:srgbClr val="028009"/>
                </a:solidFill>
                <a:latin typeface="Courier New" panose="02070309020205020404" pitchFamily="49" charset="0"/>
              </a:rPr>
              <a:t>]</a:t>
            </a:r>
            <a:endParaRPr lang="fr-FR" sz="1800" dirty="0">
              <a:solidFill>
                <a:srgbClr val="028009"/>
              </a:solidFill>
              <a:latin typeface="Courier New" panose="02070309020205020404" pitchFamily="49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fr-FR" altLang="fr-FR" sz="1800" dirty="0"/>
          </a:p>
        </p:txBody>
      </p:sp>
      <p:sp>
        <p:nvSpPr>
          <p:cNvPr id="33795" name="Text Box 5"/>
          <p:cNvSpPr txBox="1">
            <a:spLocks noChangeArrowheads="1"/>
          </p:cNvSpPr>
          <p:nvPr/>
        </p:nvSpPr>
        <p:spPr bwMode="auto">
          <a:xfrm>
            <a:off x="323850" y="115888"/>
            <a:ext cx="72009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fr-FR" altLang="fr-FR" sz="2000">
                <a:solidFill>
                  <a:srgbClr val="FF0000"/>
                </a:solidFill>
                <a:latin typeface="Arial" panose="020B0604020202020204" pitchFamily="34" charset="0"/>
              </a:rPr>
              <a:t>Calcul des polynômes de Lagrange (suite)</a:t>
            </a:r>
          </a:p>
        </p:txBody>
      </p:sp>
      <p:graphicFrame>
        <p:nvGraphicFramePr>
          <p:cNvPr id="33796" name="Object 6"/>
          <p:cNvGraphicFramePr>
            <a:graphicFrameLocks noChangeAspect="1"/>
          </p:cNvGraphicFramePr>
          <p:nvPr/>
        </p:nvGraphicFramePr>
        <p:xfrm>
          <a:off x="6084888" y="1916113"/>
          <a:ext cx="2422525" cy="1233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58" name="Equation" r:id="rId3" imgW="1346200" imgH="685800" progId="Equation.DSMT4">
                  <p:embed/>
                </p:oleObj>
              </mc:Choice>
              <mc:Fallback>
                <p:oleObj name="Equation" r:id="rId3" imgW="1346200" imgH="6858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84888" y="1916113"/>
                        <a:ext cx="2422525" cy="1233487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797" name="Text Box 7"/>
          <p:cNvSpPr txBox="1">
            <a:spLocks noChangeArrowheads="1"/>
          </p:cNvSpPr>
          <p:nvPr/>
        </p:nvSpPr>
        <p:spPr bwMode="auto">
          <a:xfrm>
            <a:off x="6953250" y="106363"/>
            <a:ext cx="20510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 b="1">
                <a:latin typeface="Arial" panose="020B0604020202020204" pitchFamily="34" charset="0"/>
              </a:rPr>
              <a:t>polynomes_T3.m</a:t>
            </a:r>
          </a:p>
        </p:txBody>
      </p:sp>
      <p:sp>
        <p:nvSpPr>
          <p:cNvPr id="33798" name="Espace réservé du numéro de diapositive 7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DF2D0A7-90C1-4403-A567-DB73A6AB2AA3}" type="slidenum">
              <a:rPr lang="fr-FR" altLang="fr-FR" sz="1400"/>
              <a:pPr>
                <a:spcBef>
                  <a:spcPct val="0"/>
                </a:spcBef>
                <a:buFontTx/>
                <a:buNone/>
              </a:pPr>
              <a:t>28</a:t>
            </a:fld>
            <a:endParaRPr lang="fr-FR" altLang="fr-FR" sz="1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2" name="Text Box 14"/>
          <p:cNvSpPr txBox="1">
            <a:spLocks noChangeArrowheads="1"/>
          </p:cNvSpPr>
          <p:nvPr/>
        </p:nvSpPr>
        <p:spPr bwMode="auto">
          <a:xfrm>
            <a:off x="308528" y="623090"/>
            <a:ext cx="8869736" cy="58539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fr-FR" altLang="fr-FR" sz="18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dalpha_du</a:t>
            </a:r>
            <a:r>
              <a:rPr lang="fr-FR" altLang="fr-FR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=</a:t>
            </a:r>
            <a:r>
              <a:rPr lang="fr-FR" altLang="fr-FR" sz="18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zeros</a:t>
            </a:r>
            <a:r>
              <a:rPr lang="fr-FR" altLang="fr-FR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(NBN,NPI);</a:t>
            </a:r>
            <a:endParaRPr lang="fr-FR" altLang="fr-FR" sz="1800" dirty="0"/>
          </a:p>
          <a:p>
            <a:pPr>
              <a:spcBef>
                <a:spcPct val="0"/>
              </a:spcBef>
              <a:buFontTx/>
              <a:buNone/>
            </a:pPr>
            <a:r>
              <a:rPr lang="fr-FR" altLang="fr-FR" sz="18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dalpha_dv</a:t>
            </a:r>
            <a:r>
              <a:rPr lang="fr-FR" altLang="fr-FR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=</a:t>
            </a:r>
            <a:r>
              <a:rPr lang="fr-FR" altLang="fr-FR" sz="18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zeros</a:t>
            </a:r>
            <a:r>
              <a:rPr lang="fr-FR" altLang="fr-FR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(NBN,NPI);</a:t>
            </a:r>
            <a:endParaRPr lang="fr-FR" altLang="fr-FR" sz="1800" dirty="0"/>
          </a:p>
          <a:p>
            <a:pPr>
              <a:spcBef>
                <a:spcPct val="0"/>
              </a:spcBef>
              <a:buFontTx/>
              <a:buNone/>
            </a:pPr>
            <a:r>
              <a:rPr lang="fr-FR" altLang="fr-FR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fr-FR" altLang="fr-FR" sz="1800" dirty="0"/>
          </a:p>
          <a:p>
            <a:pPr>
              <a:buNone/>
            </a:pPr>
            <a:r>
              <a:rPr lang="fr-FR" sz="1800" b="1" dirty="0">
                <a:solidFill>
                  <a:srgbClr val="028009"/>
                </a:solidFill>
                <a:latin typeface="Courier New" panose="02070309020205020404" pitchFamily="49" charset="0"/>
              </a:rPr>
              <a:t>% </a:t>
            </a:r>
            <a:r>
              <a:rPr lang="fr-FR" sz="1800" b="1" dirty="0" err="1">
                <a:solidFill>
                  <a:srgbClr val="028009"/>
                </a:solidFill>
                <a:latin typeface="Courier New" panose="02070309020205020404" pitchFamily="49" charset="0"/>
              </a:rPr>
              <a:t>derivees</a:t>
            </a:r>
            <a:r>
              <a:rPr lang="fr-FR" sz="1800" b="1" dirty="0">
                <a:solidFill>
                  <a:srgbClr val="028009"/>
                </a:solidFill>
                <a:latin typeface="Courier New" panose="02070309020205020404" pitchFamily="49" charset="0"/>
              </a:rPr>
              <a:t> </a:t>
            </a:r>
            <a:r>
              <a:rPr lang="fr-FR" sz="1800" b="1" dirty="0" err="1">
                <a:solidFill>
                  <a:srgbClr val="028009"/>
                </a:solidFill>
                <a:latin typeface="Courier New" panose="02070309020205020404" pitchFamily="49" charset="0"/>
              </a:rPr>
              <a:t>polynomes</a:t>
            </a:r>
            <a:r>
              <a:rPr lang="fr-FR" sz="1800" b="1" dirty="0">
                <a:solidFill>
                  <a:srgbClr val="028009"/>
                </a:solidFill>
                <a:latin typeface="Courier New" panose="02070309020205020404" pitchFamily="49" charset="0"/>
              </a:rPr>
              <a:t> de Lagrange P1 dans l'</a:t>
            </a:r>
            <a:r>
              <a:rPr lang="fr-FR" sz="1800" b="1" dirty="0" err="1">
                <a:solidFill>
                  <a:srgbClr val="028009"/>
                </a:solidFill>
                <a:latin typeface="Courier New" panose="02070309020205020404" pitchFamily="49" charset="0"/>
              </a:rPr>
              <a:t>element</a:t>
            </a:r>
            <a:r>
              <a:rPr lang="fr-FR" sz="1800" b="1" dirty="0">
                <a:solidFill>
                  <a:srgbClr val="028009"/>
                </a:solidFill>
                <a:latin typeface="Courier New" panose="02070309020205020404" pitchFamily="49" charset="0"/>
              </a:rPr>
              <a:t> de </a:t>
            </a:r>
            <a:r>
              <a:rPr lang="fr-FR" sz="1800" b="1" dirty="0" err="1">
                <a:solidFill>
                  <a:srgbClr val="028009"/>
                </a:solidFill>
                <a:latin typeface="Courier New" panose="02070309020205020404" pitchFamily="49" charset="0"/>
              </a:rPr>
              <a:t>reference</a:t>
            </a:r>
            <a:endParaRPr lang="fr-FR" sz="1800" dirty="0">
              <a:solidFill>
                <a:srgbClr val="028009"/>
              </a:solidFill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fr-FR" sz="1800" b="1" dirty="0">
                <a:solidFill>
                  <a:srgbClr val="0E00FF"/>
                </a:solidFill>
                <a:latin typeface="Courier New" panose="02070309020205020404" pitchFamily="49" charset="0"/>
              </a:rPr>
              <a:t>for</a:t>
            </a:r>
            <a:r>
              <a:rPr lang="fr-FR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 k=1:NPI</a:t>
            </a:r>
            <a:endParaRPr lang="fr-FR" sz="18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fr-FR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fr-FR" sz="1800" b="1" dirty="0">
                <a:solidFill>
                  <a:srgbClr val="028009"/>
                </a:solidFill>
                <a:latin typeface="Courier New" panose="02070309020205020404" pitchFamily="49" charset="0"/>
              </a:rPr>
              <a:t>% </a:t>
            </a:r>
            <a:r>
              <a:rPr lang="fr-FR" sz="1800" b="1" dirty="0" err="1">
                <a:solidFill>
                  <a:srgbClr val="028009"/>
                </a:solidFill>
                <a:latin typeface="Courier New" panose="02070309020205020404" pitchFamily="49" charset="0"/>
              </a:rPr>
              <a:t>dalpha_du</a:t>
            </a:r>
            <a:r>
              <a:rPr lang="fr-FR" sz="1800" b="1" dirty="0">
                <a:solidFill>
                  <a:srgbClr val="028009"/>
                </a:solidFill>
                <a:latin typeface="Courier New" panose="02070309020205020404" pitchFamily="49" charset="0"/>
              </a:rPr>
              <a:t>(</a:t>
            </a:r>
            <a:r>
              <a:rPr lang="fr-FR" sz="1800" b="1" dirty="0" err="1">
                <a:solidFill>
                  <a:srgbClr val="028009"/>
                </a:solidFill>
                <a:latin typeface="Courier New" panose="02070309020205020404" pitchFamily="49" charset="0"/>
              </a:rPr>
              <a:t>ie</a:t>
            </a:r>
            <a:r>
              <a:rPr lang="fr-FR" sz="1800" b="1" dirty="0">
                <a:solidFill>
                  <a:srgbClr val="028009"/>
                </a:solidFill>
                <a:latin typeface="Courier New" panose="02070309020205020404" pitchFamily="49" charset="0"/>
              </a:rPr>
              <a:t>, k) </a:t>
            </a:r>
            <a:r>
              <a:rPr lang="fr-FR" sz="1800" b="1" dirty="0" err="1">
                <a:solidFill>
                  <a:srgbClr val="028009"/>
                </a:solidFill>
                <a:latin typeface="Courier New" panose="02070309020205020404" pitchFamily="49" charset="0"/>
              </a:rPr>
              <a:t>derivee</a:t>
            </a:r>
            <a:r>
              <a:rPr lang="fr-FR" sz="1800" b="1" dirty="0">
                <a:solidFill>
                  <a:srgbClr val="028009"/>
                </a:solidFill>
                <a:latin typeface="Courier New" panose="02070309020205020404" pitchFamily="49" charset="0"/>
              </a:rPr>
              <a:t> par rapport a u </a:t>
            </a:r>
            <a:endParaRPr lang="fr-FR" sz="1800" dirty="0">
              <a:solidFill>
                <a:srgbClr val="028009"/>
              </a:solidFill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fr-FR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fr-FR" sz="1800" b="1" dirty="0">
                <a:solidFill>
                  <a:srgbClr val="028009"/>
                </a:solidFill>
                <a:latin typeface="Courier New" panose="02070309020205020404" pitchFamily="49" charset="0"/>
              </a:rPr>
              <a:t>% du </a:t>
            </a:r>
            <a:r>
              <a:rPr lang="fr-FR" sz="1800" b="1" dirty="0" err="1">
                <a:solidFill>
                  <a:srgbClr val="028009"/>
                </a:solidFill>
                <a:latin typeface="Courier New" panose="02070309020205020404" pitchFamily="49" charset="0"/>
              </a:rPr>
              <a:t>polynome</a:t>
            </a:r>
            <a:r>
              <a:rPr lang="fr-FR" sz="1800" b="1" dirty="0">
                <a:solidFill>
                  <a:srgbClr val="028009"/>
                </a:solidFill>
                <a:latin typeface="Courier New" panose="02070309020205020404" pitchFamily="49" charset="0"/>
              </a:rPr>
              <a:t> de Lagrange </a:t>
            </a:r>
            <a:r>
              <a:rPr lang="fr-FR" sz="1800" b="1" dirty="0" err="1">
                <a:solidFill>
                  <a:srgbClr val="028009"/>
                </a:solidFill>
                <a:latin typeface="Courier New" panose="02070309020205020404" pitchFamily="49" charset="0"/>
              </a:rPr>
              <a:t>calculee</a:t>
            </a:r>
            <a:r>
              <a:rPr lang="fr-FR" sz="1800" b="1" dirty="0">
                <a:solidFill>
                  <a:srgbClr val="028009"/>
                </a:solidFill>
                <a:latin typeface="Courier New" panose="02070309020205020404" pitchFamily="49" charset="0"/>
              </a:rPr>
              <a:t> au point de Gauss k</a:t>
            </a:r>
            <a:endParaRPr lang="fr-FR" sz="1800" dirty="0">
              <a:solidFill>
                <a:srgbClr val="028009"/>
              </a:solidFill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fr-FR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fr-FR" sz="18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dalpha_du</a:t>
            </a:r>
            <a:r>
              <a:rPr lang="fr-FR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(1, k)=-1;</a:t>
            </a:r>
            <a:endParaRPr lang="fr-FR" sz="18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fr-FR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fr-FR" sz="18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dalpha_du</a:t>
            </a:r>
            <a:r>
              <a:rPr lang="fr-FR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(2, k)=+1;</a:t>
            </a:r>
            <a:endParaRPr lang="fr-FR" sz="18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fr-FR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fr-FR" sz="18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dalpha_du</a:t>
            </a:r>
            <a:r>
              <a:rPr lang="fr-FR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(3, k)= 0;</a:t>
            </a:r>
            <a:endParaRPr lang="fr-FR" sz="18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fr-FR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fr-FR" sz="18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fr-FR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fr-FR" sz="1800" b="1" dirty="0">
                <a:solidFill>
                  <a:srgbClr val="028009"/>
                </a:solidFill>
                <a:latin typeface="Courier New" panose="02070309020205020404" pitchFamily="49" charset="0"/>
              </a:rPr>
              <a:t>% </a:t>
            </a:r>
            <a:r>
              <a:rPr lang="fr-FR" sz="1800" b="1" dirty="0" err="1">
                <a:solidFill>
                  <a:srgbClr val="028009"/>
                </a:solidFill>
                <a:latin typeface="Courier New" panose="02070309020205020404" pitchFamily="49" charset="0"/>
              </a:rPr>
              <a:t>dalpha_dv</a:t>
            </a:r>
            <a:r>
              <a:rPr lang="fr-FR" sz="1800" b="1" dirty="0">
                <a:solidFill>
                  <a:srgbClr val="028009"/>
                </a:solidFill>
                <a:latin typeface="Courier New" panose="02070309020205020404" pitchFamily="49" charset="0"/>
              </a:rPr>
              <a:t>(</a:t>
            </a:r>
            <a:r>
              <a:rPr lang="fr-FR" sz="1800" b="1" dirty="0" err="1">
                <a:solidFill>
                  <a:srgbClr val="028009"/>
                </a:solidFill>
                <a:latin typeface="Courier New" panose="02070309020205020404" pitchFamily="49" charset="0"/>
              </a:rPr>
              <a:t>ie</a:t>
            </a:r>
            <a:r>
              <a:rPr lang="fr-FR" sz="1800" b="1" dirty="0">
                <a:solidFill>
                  <a:srgbClr val="028009"/>
                </a:solidFill>
                <a:latin typeface="Courier New" panose="02070309020205020404" pitchFamily="49" charset="0"/>
              </a:rPr>
              <a:t>, k) </a:t>
            </a:r>
            <a:r>
              <a:rPr lang="fr-FR" sz="1800" b="1" dirty="0" err="1">
                <a:solidFill>
                  <a:srgbClr val="028009"/>
                </a:solidFill>
                <a:latin typeface="Courier New" panose="02070309020205020404" pitchFamily="49" charset="0"/>
              </a:rPr>
              <a:t>derivee</a:t>
            </a:r>
            <a:r>
              <a:rPr lang="fr-FR" sz="1800" b="1" dirty="0">
                <a:solidFill>
                  <a:srgbClr val="028009"/>
                </a:solidFill>
                <a:latin typeface="Courier New" panose="02070309020205020404" pitchFamily="49" charset="0"/>
              </a:rPr>
              <a:t> par rapport a v </a:t>
            </a:r>
            <a:endParaRPr lang="fr-FR" sz="1800" dirty="0">
              <a:solidFill>
                <a:srgbClr val="028009"/>
              </a:solidFill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fr-FR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fr-FR" sz="1800" b="1" dirty="0">
                <a:solidFill>
                  <a:srgbClr val="028009"/>
                </a:solidFill>
                <a:latin typeface="Courier New" panose="02070309020205020404" pitchFamily="49" charset="0"/>
              </a:rPr>
              <a:t>% du </a:t>
            </a:r>
            <a:r>
              <a:rPr lang="fr-FR" sz="1800" b="1" dirty="0" err="1">
                <a:solidFill>
                  <a:srgbClr val="028009"/>
                </a:solidFill>
                <a:latin typeface="Courier New" panose="02070309020205020404" pitchFamily="49" charset="0"/>
              </a:rPr>
              <a:t>polynome</a:t>
            </a:r>
            <a:r>
              <a:rPr lang="fr-FR" sz="1800" b="1" dirty="0">
                <a:solidFill>
                  <a:srgbClr val="028009"/>
                </a:solidFill>
                <a:latin typeface="Courier New" panose="02070309020205020404" pitchFamily="49" charset="0"/>
              </a:rPr>
              <a:t> de Lagrange </a:t>
            </a:r>
            <a:r>
              <a:rPr lang="fr-FR" sz="1800" b="1" dirty="0" err="1">
                <a:solidFill>
                  <a:srgbClr val="028009"/>
                </a:solidFill>
                <a:latin typeface="Courier New" panose="02070309020205020404" pitchFamily="49" charset="0"/>
              </a:rPr>
              <a:t>calculee</a:t>
            </a:r>
            <a:r>
              <a:rPr lang="fr-FR" sz="1800" b="1" dirty="0">
                <a:solidFill>
                  <a:srgbClr val="028009"/>
                </a:solidFill>
                <a:latin typeface="Courier New" panose="02070309020205020404" pitchFamily="49" charset="0"/>
              </a:rPr>
              <a:t> au point de Gauss k</a:t>
            </a:r>
            <a:endParaRPr lang="fr-FR" sz="1800" dirty="0">
              <a:solidFill>
                <a:srgbClr val="028009"/>
              </a:solidFill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fr-FR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fr-FR" sz="18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dalpha_dv</a:t>
            </a:r>
            <a:r>
              <a:rPr lang="fr-FR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(1, k)=-1;</a:t>
            </a:r>
            <a:endParaRPr lang="fr-FR" sz="18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fr-FR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fr-FR" sz="18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dalpha_dv</a:t>
            </a:r>
            <a:r>
              <a:rPr lang="fr-FR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(2, k)= 0;</a:t>
            </a:r>
            <a:endParaRPr lang="fr-FR" sz="18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fr-FR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fr-FR" sz="18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dalpha_dv</a:t>
            </a:r>
            <a:r>
              <a:rPr lang="fr-FR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(3, k)=+1;</a:t>
            </a:r>
            <a:endParaRPr lang="fr-FR" sz="18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fr-FR" sz="1800" b="1" dirty="0">
                <a:solidFill>
                  <a:srgbClr val="0E00FF"/>
                </a:solidFill>
                <a:latin typeface="Courier New" panose="02070309020205020404" pitchFamily="49" charset="0"/>
              </a:rPr>
              <a:t>end</a:t>
            </a:r>
            <a:endParaRPr lang="fr-FR" sz="1800" dirty="0">
              <a:solidFill>
                <a:srgbClr val="0E00FF"/>
              </a:solidFill>
              <a:latin typeface="Courier New" panose="02070309020205020404" pitchFamily="49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fr-FR" altLang="fr-FR" sz="1800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fr-FR" altLang="fr-FR" sz="1800" dirty="0"/>
          </a:p>
        </p:txBody>
      </p:sp>
      <p:sp>
        <p:nvSpPr>
          <p:cNvPr id="34818" name="Text Box 4"/>
          <p:cNvSpPr txBox="1">
            <a:spLocks noChangeArrowheads="1"/>
          </p:cNvSpPr>
          <p:nvPr/>
        </p:nvSpPr>
        <p:spPr bwMode="auto">
          <a:xfrm>
            <a:off x="323850" y="115888"/>
            <a:ext cx="72009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fr-FR" altLang="fr-FR" sz="2000">
                <a:solidFill>
                  <a:srgbClr val="FF0000"/>
                </a:solidFill>
                <a:latin typeface="Arial" panose="020B0604020202020204" pitchFamily="34" charset="0"/>
              </a:rPr>
              <a:t>Calcul du determinant jacobien aux points de Gauss</a:t>
            </a:r>
          </a:p>
        </p:txBody>
      </p:sp>
      <p:graphicFrame>
        <p:nvGraphicFramePr>
          <p:cNvPr id="3481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64219469"/>
              </p:ext>
            </p:extLst>
          </p:nvPr>
        </p:nvGraphicFramePr>
        <p:xfrm>
          <a:off x="4806305" y="662778"/>
          <a:ext cx="3529012" cy="687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995" name="Equation" r:id="rId3" imgW="2286000" imgH="444500" progId="Equation.DSMT4">
                  <p:embed/>
                </p:oleObj>
              </mc:Choice>
              <mc:Fallback>
                <p:oleObj name="Equation" r:id="rId3" imgW="2286000" imgH="4445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6305" y="662778"/>
                        <a:ext cx="3529012" cy="687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821" name="Text Box 13"/>
          <p:cNvSpPr txBox="1">
            <a:spLocks noChangeArrowheads="1"/>
          </p:cNvSpPr>
          <p:nvPr/>
        </p:nvSpPr>
        <p:spPr bwMode="auto">
          <a:xfrm>
            <a:off x="6953250" y="106363"/>
            <a:ext cx="20510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 b="1">
                <a:latin typeface="Arial" panose="020B0604020202020204" pitchFamily="34" charset="0"/>
              </a:rPr>
              <a:t>polynomes_T3.m</a:t>
            </a:r>
          </a:p>
        </p:txBody>
      </p:sp>
      <p:sp>
        <p:nvSpPr>
          <p:cNvPr id="34823" name="Espace réservé du numéro de diapositive 1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D35AE8C-8C1E-45B8-A02A-9008E7F3DA5B}" type="slidenum">
              <a:rPr lang="fr-FR" altLang="fr-FR" sz="1400"/>
              <a:pPr>
                <a:spcBef>
                  <a:spcPct val="0"/>
                </a:spcBef>
                <a:buFontTx/>
                <a:buNone/>
              </a:pPr>
              <a:t>29</a:t>
            </a:fld>
            <a:endParaRPr lang="fr-FR" altLang="fr-FR" sz="1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ext Box 2"/>
          <p:cNvSpPr txBox="1">
            <a:spLocks noChangeArrowheads="1"/>
          </p:cNvSpPr>
          <p:nvPr/>
        </p:nvSpPr>
        <p:spPr bwMode="auto">
          <a:xfrm>
            <a:off x="303213" y="169863"/>
            <a:ext cx="6628738" cy="52629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fr-FR" altLang="fr-FR" sz="1400" b="1" dirty="0">
                <a:solidFill>
                  <a:srgbClr val="228B22"/>
                </a:solidFill>
                <a:latin typeface="Courier New" panose="02070309020205020404" pitchFamily="49" charset="0"/>
              </a:rPr>
              <a:t>% </a:t>
            </a:r>
            <a:r>
              <a:rPr lang="fr-FR" altLang="fr-FR" sz="1400" b="1" dirty="0" err="1" smtClean="0">
                <a:solidFill>
                  <a:srgbClr val="228B22"/>
                </a:solidFill>
                <a:latin typeface="Courier New" panose="02070309020205020404" pitchFamily="49" charset="0"/>
              </a:rPr>
              <a:t>detJ</a:t>
            </a:r>
            <a:r>
              <a:rPr lang="fr-FR" altLang="fr-FR" sz="1400" b="1" dirty="0" smtClean="0">
                <a:solidFill>
                  <a:srgbClr val="228B22"/>
                </a:solidFill>
                <a:latin typeface="Courier New" panose="02070309020205020404" pitchFamily="49" charset="0"/>
              </a:rPr>
              <a:t> </a:t>
            </a:r>
            <a:r>
              <a:rPr lang="fr-FR" altLang="fr-FR" sz="1400" b="1" dirty="0">
                <a:solidFill>
                  <a:srgbClr val="228B22"/>
                </a:solidFill>
                <a:latin typeface="Courier New" panose="02070309020205020404" pitchFamily="49" charset="0"/>
              </a:rPr>
              <a:t>: </a:t>
            </a:r>
            <a:r>
              <a:rPr lang="fr-FR" altLang="fr-FR" sz="1400" b="1" dirty="0" err="1" smtClean="0">
                <a:solidFill>
                  <a:srgbClr val="228B22"/>
                </a:solidFill>
                <a:latin typeface="Courier New" panose="02070309020205020404" pitchFamily="49" charset="0"/>
              </a:rPr>
              <a:t>determinant</a:t>
            </a:r>
            <a:r>
              <a:rPr lang="fr-FR" altLang="fr-FR" sz="1400" b="1" dirty="0" smtClean="0">
                <a:solidFill>
                  <a:srgbClr val="228B22"/>
                </a:solidFill>
                <a:latin typeface="Courier New" panose="02070309020205020404" pitchFamily="49" charset="0"/>
              </a:rPr>
              <a:t> de la matrice </a:t>
            </a:r>
            <a:r>
              <a:rPr lang="fr-FR" altLang="fr-FR" sz="1400" b="1" dirty="0" err="1">
                <a:solidFill>
                  <a:srgbClr val="228B22"/>
                </a:solidFill>
                <a:latin typeface="Courier New" panose="02070309020205020404" pitchFamily="49" charset="0"/>
              </a:rPr>
              <a:t>Jacobienne</a:t>
            </a:r>
            <a:r>
              <a:rPr lang="fr-FR" altLang="fr-FR" sz="1400" b="1" dirty="0">
                <a:solidFill>
                  <a:srgbClr val="228B22"/>
                </a:solidFill>
                <a:latin typeface="Courier New" panose="02070309020205020404" pitchFamily="49" charset="0"/>
              </a:rPr>
              <a:t> [J] </a:t>
            </a:r>
            <a:endParaRPr lang="fr-FR" altLang="fr-FR" sz="1400" b="1" dirty="0" smtClean="0">
              <a:solidFill>
                <a:srgbClr val="228B22"/>
              </a:solidFill>
              <a:latin typeface="Courier New" panose="02070309020205020404" pitchFamily="49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fr-FR" altLang="fr-FR" sz="1400" b="1" dirty="0" err="1" smtClean="0">
                <a:solidFill>
                  <a:srgbClr val="000000"/>
                </a:solidFill>
                <a:latin typeface="Courier New" panose="02070309020205020404" pitchFamily="49" charset="0"/>
              </a:rPr>
              <a:t>detJ</a:t>
            </a:r>
            <a:r>
              <a:rPr lang="fr-FR" altLang="fr-FR" sz="1400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=</a:t>
            </a:r>
            <a:r>
              <a:rPr lang="fr-FR" altLang="fr-FR" sz="1400" b="1" dirty="0" err="1" smtClean="0">
                <a:solidFill>
                  <a:srgbClr val="000000"/>
                </a:solidFill>
                <a:latin typeface="Courier New" panose="02070309020205020404" pitchFamily="49" charset="0"/>
              </a:rPr>
              <a:t>zeros</a:t>
            </a:r>
            <a:r>
              <a:rPr lang="fr-FR" altLang="fr-FR" sz="1400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(NPI,1</a:t>
            </a:r>
            <a:r>
              <a:rPr lang="fr-FR" altLang="fr-FR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);</a:t>
            </a:r>
            <a:endParaRPr lang="fr-FR" altLang="fr-FR" sz="1400" dirty="0"/>
          </a:p>
          <a:p>
            <a:pPr>
              <a:spcBef>
                <a:spcPct val="0"/>
              </a:spcBef>
              <a:buFontTx/>
              <a:buNone/>
            </a:pPr>
            <a:r>
              <a:rPr lang="fr-FR" altLang="fr-FR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fr-FR" altLang="fr-FR" sz="1400" dirty="0"/>
          </a:p>
          <a:p>
            <a:pPr>
              <a:spcBef>
                <a:spcPct val="0"/>
              </a:spcBef>
              <a:buFontTx/>
              <a:buNone/>
            </a:pPr>
            <a:r>
              <a:rPr lang="fr-FR" altLang="fr-FR" sz="1400" b="1" dirty="0">
                <a:solidFill>
                  <a:srgbClr val="0000FF"/>
                </a:solidFill>
                <a:latin typeface="Courier New" panose="02070309020205020404" pitchFamily="49" charset="0"/>
              </a:rPr>
              <a:t>for</a:t>
            </a:r>
            <a:r>
              <a:rPr lang="fr-FR" altLang="fr-FR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fr-FR" altLang="fr-FR" sz="14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ie</a:t>
            </a:r>
            <a:r>
              <a:rPr lang="fr-FR" altLang="fr-FR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=1:NBN </a:t>
            </a:r>
            <a:r>
              <a:rPr lang="fr-FR" altLang="fr-FR" sz="1400" b="1" dirty="0">
                <a:solidFill>
                  <a:srgbClr val="228B22"/>
                </a:solidFill>
                <a:latin typeface="Courier New" panose="02070309020205020404" pitchFamily="49" charset="0"/>
              </a:rPr>
              <a:t>% boucle sur la </a:t>
            </a:r>
            <a:r>
              <a:rPr lang="fr-FR" altLang="fr-FR" sz="1400" b="1" dirty="0" err="1">
                <a:solidFill>
                  <a:srgbClr val="228B22"/>
                </a:solidFill>
                <a:latin typeface="Courier New" panose="02070309020205020404" pitchFamily="49" charset="0"/>
              </a:rPr>
              <a:t>numerotation</a:t>
            </a:r>
            <a:r>
              <a:rPr lang="fr-FR" altLang="fr-FR" sz="1400" b="1" dirty="0">
                <a:solidFill>
                  <a:srgbClr val="228B22"/>
                </a:solidFill>
                <a:latin typeface="Courier New" panose="02070309020205020404" pitchFamily="49" charset="0"/>
              </a:rPr>
              <a:t> locale I, II, III </a:t>
            </a:r>
            <a:endParaRPr lang="fr-FR" altLang="fr-FR" sz="1400" dirty="0"/>
          </a:p>
          <a:p>
            <a:pPr>
              <a:spcBef>
                <a:spcPct val="0"/>
              </a:spcBef>
              <a:buFontTx/>
              <a:buNone/>
            </a:pPr>
            <a:r>
              <a:rPr lang="fr-FR" altLang="fr-FR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fr-FR" altLang="fr-FR" sz="14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iglobal</a:t>
            </a:r>
            <a:r>
              <a:rPr lang="fr-FR" altLang="fr-FR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=</a:t>
            </a:r>
            <a:r>
              <a:rPr lang="fr-FR" altLang="fr-FR" sz="14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fem.elt</a:t>
            </a:r>
            <a:r>
              <a:rPr lang="fr-FR" altLang="fr-FR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(ne).</a:t>
            </a:r>
            <a:r>
              <a:rPr lang="fr-FR" altLang="fr-FR" sz="14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ind</a:t>
            </a:r>
            <a:r>
              <a:rPr lang="fr-FR" altLang="fr-FR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fr-FR" altLang="fr-FR" sz="14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ie</a:t>
            </a:r>
            <a:r>
              <a:rPr lang="fr-FR" altLang="fr-FR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); </a:t>
            </a:r>
            <a:r>
              <a:rPr lang="fr-FR" altLang="fr-FR" sz="1400" b="1" dirty="0">
                <a:solidFill>
                  <a:srgbClr val="228B22"/>
                </a:solidFill>
                <a:latin typeface="Courier New" panose="02070309020205020404" pitchFamily="49" charset="0"/>
              </a:rPr>
              <a:t>% calcul du </a:t>
            </a:r>
            <a:r>
              <a:rPr lang="fr-FR" altLang="fr-FR" sz="1400" b="1" dirty="0" err="1">
                <a:solidFill>
                  <a:srgbClr val="228B22"/>
                </a:solidFill>
                <a:latin typeface="Courier New" panose="02070309020205020404" pitchFamily="49" charset="0"/>
              </a:rPr>
              <a:t>numero</a:t>
            </a:r>
            <a:r>
              <a:rPr lang="fr-FR" altLang="fr-FR" sz="1400" b="1" dirty="0">
                <a:solidFill>
                  <a:srgbClr val="228B22"/>
                </a:solidFill>
                <a:latin typeface="Courier New" panose="02070309020205020404" pitchFamily="49" charset="0"/>
              </a:rPr>
              <a:t> global </a:t>
            </a:r>
            <a:endParaRPr lang="fr-FR" altLang="fr-FR" sz="1400" dirty="0"/>
          </a:p>
          <a:p>
            <a:pPr>
              <a:spcBef>
                <a:spcPct val="0"/>
              </a:spcBef>
              <a:buFontTx/>
              <a:buNone/>
            </a:pPr>
            <a:r>
              <a:rPr lang="fr-FR" altLang="fr-FR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fr-FR" altLang="fr-FR" sz="14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xp</a:t>
            </a:r>
            <a:r>
              <a:rPr lang="fr-FR" altLang="fr-FR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fr-FR" altLang="fr-FR" sz="14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ie</a:t>
            </a:r>
            <a:r>
              <a:rPr lang="fr-FR" altLang="fr-FR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)  = </a:t>
            </a:r>
            <a:r>
              <a:rPr lang="fr-FR" altLang="fr-FR" sz="14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fem.noeud</a:t>
            </a:r>
            <a:r>
              <a:rPr lang="fr-FR" altLang="fr-FR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fr-FR" altLang="fr-FR" sz="14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iglobal</a:t>
            </a:r>
            <a:r>
              <a:rPr lang="fr-FR" altLang="fr-FR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).x;</a:t>
            </a:r>
            <a:endParaRPr lang="fr-FR" altLang="fr-FR" sz="1400" dirty="0"/>
          </a:p>
          <a:p>
            <a:pPr>
              <a:spcBef>
                <a:spcPct val="0"/>
              </a:spcBef>
              <a:buFontTx/>
              <a:buNone/>
            </a:pPr>
            <a:r>
              <a:rPr lang="fr-FR" altLang="fr-FR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fr-FR" altLang="fr-FR" sz="14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yp</a:t>
            </a:r>
            <a:r>
              <a:rPr lang="fr-FR" altLang="fr-FR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fr-FR" altLang="fr-FR" sz="14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ie</a:t>
            </a:r>
            <a:r>
              <a:rPr lang="fr-FR" altLang="fr-FR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)  = </a:t>
            </a:r>
            <a:r>
              <a:rPr lang="fr-FR" altLang="fr-FR" sz="14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fem.noeud</a:t>
            </a:r>
            <a:r>
              <a:rPr lang="fr-FR" altLang="fr-FR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fr-FR" altLang="fr-FR" sz="14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iglobal</a:t>
            </a:r>
            <a:r>
              <a:rPr lang="fr-FR" altLang="fr-FR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).y;</a:t>
            </a:r>
            <a:endParaRPr lang="fr-FR" altLang="fr-FR" sz="1400" dirty="0"/>
          </a:p>
          <a:p>
            <a:pPr>
              <a:spcBef>
                <a:spcPct val="0"/>
              </a:spcBef>
              <a:buFontTx/>
              <a:buNone/>
            </a:pPr>
            <a:r>
              <a:rPr lang="fr-FR" altLang="fr-FR" sz="1400" b="1" dirty="0">
                <a:solidFill>
                  <a:srgbClr val="0000FF"/>
                </a:solidFill>
                <a:latin typeface="Courier New" panose="02070309020205020404" pitchFamily="49" charset="0"/>
              </a:rPr>
              <a:t>end</a:t>
            </a:r>
            <a:endParaRPr lang="fr-FR" altLang="fr-FR" sz="1400" dirty="0"/>
          </a:p>
          <a:p>
            <a:pPr>
              <a:spcBef>
                <a:spcPct val="0"/>
              </a:spcBef>
              <a:buFontTx/>
              <a:buNone/>
            </a:pPr>
            <a:r>
              <a:rPr lang="fr-FR" altLang="fr-FR" sz="1400" b="1" dirty="0">
                <a:solidFill>
                  <a:srgbClr val="0000FF"/>
                </a:solidFill>
                <a:latin typeface="Courier New" panose="02070309020205020404" pitchFamily="49" charset="0"/>
              </a:rPr>
              <a:t> </a:t>
            </a:r>
            <a:endParaRPr lang="fr-FR" altLang="fr-FR" sz="1400" dirty="0"/>
          </a:p>
          <a:p>
            <a:pPr>
              <a:spcBef>
                <a:spcPct val="0"/>
              </a:spcBef>
              <a:buFontTx/>
              <a:buNone/>
            </a:pPr>
            <a:r>
              <a:rPr lang="fr-FR" altLang="fr-FR" sz="1400" b="1" dirty="0">
                <a:solidFill>
                  <a:srgbClr val="0000FF"/>
                </a:solidFill>
                <a:latin typeface="Courier New" panose="02070309020205020404" pitchFamily="49" charset="0"/>
              </a:rPr>
              <a:t>for</a:t>
            </a:r>
            <a:r>
              <a:rPr lang="fr-FR" altLang="fr-FR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fr-FR" altLang="fr-FR" sz="1400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k = 1:NPI</a:t>
            </a:r>
            <a:endParaRPr lang="fr-FR" altLang="fr-FR" sz="1400" dirty="0"/>
          </a:p>
          <a:p>
            <a:pPr>
              <a:spcBef>
                <a:spcPct val="0"/>
              </a:spcBef>
              <a:buFontTx/>
              <a:buNone/>
            </a:pPr>
            <a:r>
              <a:rPr lang="fr-FR" altLang="fr-FR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fr-FR" altLang="fr-FR" sz="1400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  </a:t>
            </a:r>
            <a:r>
              <a:rPr lang="fr-FR" altLang="fr-FR" sz="1400" b="1" dirty="0" err="1" smtClean="0">
                <a:solidFill>
                  <a:srgbClr val="000000"/>
                </a:solidFill>
                <a:latin typeface="Courier New" panose="02070309020205020404" pitchFamily="49" charset="0"/>
              </a:rPr>
              <a:t>dx_du</a:t>
            </a:r>
            <a:r>
              <a:rPr lang="fr-FR" altLang="fr-FR" sz="1400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fr-FR" altLang="fr-FR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= 0.;</a:t>
            </a:r>
            <a:r>
              <a:rPr lang="fr-FR" altLang="fr-FR" sz="1400" dirty="0"/>
              <a:t>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fr-FR" altLang="fr-FR" sz="1400" dirty="0"/>
              <a:t>          </a:t>
            </a:r>
            <a:r>
              <a:rPr lang="fr-FR" altLang="fr-FR" sz="14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dx_dv</a:t>
            </a:r>
            <a:r>
              <a:rPr lang="fr-FR" altLang="fr-FR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= 0.;</a:t>
            </a:r>
            <a:r>
              <a:rPr lang="fr-FR" altLang="fr-FR" sz="1400" dirty="0"/>
              <a:t> </a:t>
            </a:r>
          </a:p>
          <a:p>
            <a:pPr>
              <a:spcBef>
                <a:spcPct val="0"/>
              </a:spcBef>
              <a:buFontTx/>
              <a:buNone/>
            </a:pPr>
            <a:endParaRPr lang="fr-FR" altLang="fr-FR" sz="1400" dirty="0"/>
          </a:p>
          <a:p>
            <a:pPr>
              <a:spcBef>
                <a:spcPct val="0"/>
              </a:spcBef>
              <a:buFontTx/>
              <a:buNone/>
            </a:pPr>
            <a:r>
              <a:rPr lang="fr-FR" altLang="fr-FR" sz="1400" dirty="0"/>
              <a:t>          </a:t>
            </a:r>
            <a:r>
              <a:rPr lang="fr-FR" altLang="fr-FR" sz="14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dy_dv</a:t>
            </a:r>
            <a:r>
              <a:rPr lang="fr-FR" altLang="fr-FR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= 0.;</a:t>
            </a:r>
            <a:r>
              <a:rPr lang="fr-FR" altLang="fr-FR" sz="1400" dirty="0"/>
              <a:t>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fr-FR" altLang="fr-FR" sz="1400" dirty="0"/>
              <a:t>          </a:t>
            </a:r>
            <a:r>
              <a:rPr lang="fr-FR" altLang="fr-FR" sz="14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dy_du</a:t>
            </a:r>
            <a:r>
              <a:rPr lang="fr-FR" altLang="fr-FR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= 0.;</a:t>
            </a:r>
            <a:endParaRPr lang="fr-FR" altLang="fr-FR" sz="1400" dirty="0"/>
          </a:p>
          <a:p>
            <a:pPr>
              <a:spcBef>
                <a:spcPct val="0"/>
              </a:spcBef>
              <a:buFontTx/>
              <a:buNone/>
            </a:pPr>
            <a:r>
              <a:rPr lang="fr-FR" altLang="fr-FR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pPr>
              <a:spcBef>
                <a:spcPct val="0"/>
              </a:spcBef>
              <a:buFontTx/>
              <a:buNone/>
            </a:pPr>
            <a:endParaRPr lang="fr-FR" altLang="fr-FR" sz="1400" dirty="0"/>
          </a:p>
          <a:p>
            <a:pPr>
              <a:spcBef>
                <a:spcPct val="0"/>
              </a:spcBef>
              <a:buFontTx/>
              <a:buNone/>
            </a:pPr>
            <a:r>
              <a:rPr lang="fr-FR" altLang="fr-FR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fr-FR" altLang="fr-FR" sz="1400" b="1" dirty="0">
                <a:solidFill>
                  <a:srgbClr val="0000FF"/>
                </a:solidFill>
                <a:latin typeface="Courier New" panose="02070309020205020404" pitchFamily="49" charset="0"/>
              </a:rPr>
              <a:t>for</a:t>
            </a:r>
            <a:r>
              <a:rPr lang="fr-FR" altLang="fr-FR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fr-FR" altLang="fr-FR" sz="14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ie</a:t>
            </a:r>
            <a:r>
              <a:rPr lang="fr-FR" altLang="fr-FR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= 1:NBN</a:t>
            </a:r>
            <a:endParaRPr lang="fr-FR" altLang="fr-FR" sz="1400" dirty="0"/>
          </a:p>
          <a:p>
            <a:pPr>
              <a:spcBef>
                <a:spcPct val="0"/>
              </a:spcBef>
              <a:buFontTx/>
              <a:buNone/>
            </a:pPr>
            <a:r>
              <a:rPr lang="fr-FR" altLang="fr-FR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</a:t>
            </a:r>
            <a:r>
              <a:rPr lang="fr-FR" altLang="fr-FR" sz="14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dx_du</a:t>
            </a:r>
            <a:r>
              <a:rPr lang="fr-FR" altLang="fr-FR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= </a:t>
            </a:r>
            <a:r>
              <a:rPr lang="fr-FR" altLang="fr-FR" sz="14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dx_du</a:t>
            </a:r>
            <a:r>
              <a:rPr lang="fr-FR" altLang="fr-FR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+ </a:t>
            </a:r>
            <a:r>
              <a:rPr lang="fr-FR" altLang="fr-FR" sz="1400" b="1" dirty="0" err="1" smtClean="0">
                <a:solidFill>
                  <a:srgbClr val="000000"/>
                </a:solidFill>
                <a:latin typeface="Courier New" panose="02070309020205020404" pitchFamily="49" charset="0"/>
              </a:rPr>
              <a:t>dalpha_du</a:t>
            </a:r>
            <a:r>
              <a:rPr lang="fr-FR" altLang="fr-FR" sz="1400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fr-FR" altLang="fr-FR" sz="1400" b="1" dirty="0" err="1" smtClean="0">
                <a:solidFill>
                  <a:srgbClr val="000000"/>
                </a:solidFill>
                <a:latin typeface="Courier New" panose="02070309020205020404" pitchFamily="49" charset="0"/>
              </a:rPr>
              <a:t>ie</a:t>
            </a:r>
            <a:r>
              <a:rPr lang="fr-FR" altLang="fr-FR" sz="1400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, k)*</a:t>
            </a:r>
            <a:r>
              <a:rPr lang="fr-FR" altLang="fr-FR" sz="14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xp</a:t>
            </a:r>
            <a:r>
              <a:rPr lang="fr-FR" altLang="fr-FR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fr-FR" altLang="fr-FR" sz="14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ie</a:t>
            </a:r>
            <a:r>
              <a:rPr lang="fr-FR" altLang="fr-FR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);</a:t>
            </a:r>
            <a:endParaRPr lang="fr-FR" altLang="fr-FR" sz="1400" dirty="0"/>
          </a:p>
          <a:p>
            <a:pPr>
              <a:spcBef>
                <a:spcPct val="0"/>
              </a:spcBef>
              <a:buFontTx/>
              <a:buNone/>
            </a:pPr>
            <a:r>
              <a:rPr lang="fr-FR" altLang="fr-FR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</a:t>
            </a:r>
            <a:r>
              <a:rPr lang="fr-FR" altLang="fr-FR" sz="14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dx_dv</a:t>
            </a:r>
            <a:r>
              <a:rPr lang="fr-FR" altLang="fr-FR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= </a:t>
            </a:r>
            <a:r>
              <a:rPr lang="fr-FR" altLang="fr-FR" sz="14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dx_dv</a:t>
            </a:r>
            <a:r>
              <a:rPr lang="fr-FR" altLang="fr-FR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+ </a:t>
            </a:r>
            <a:r>
              <a:rPr lang="fr-FR" altLang="fr-FR" sz="1400" b="1" dirty="0" err="1" smtClean="0">
                <a:solidFill>
                  <a:srgbClr val="000000"/>
                </a:solidFill>
                <a:latin typeface="Courier New" panose="02070309020205020404" pitchFamily="49" charset="0"/>
              </a:rPr>
              <a:t>dalpha_dv</a:t>
            </a:r>
            <a:r>
              <a:rPr lang="fr-FR" altLang="fr-FR" sz="1400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fr-FR" altLang="fr-FR" sz="1400" b="1" dirty="0" err="1" smtClean="0">
                <a:solidFill>
                  <a:srgbClr val="000000"/>
                </a:solidFill>
                <a:latin typeface="Courier New" panose="02070309020205020404" pitchFamily="49" charset="0"/>
              </a:rPr>
              <a:t>ie</a:t>
            </a:r>
            <a:r>
              <a:rPr lang="fr-FR" altLang="fr-FR" sz="1400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, k)*</a:t>
            </a:r>
            <a:r>
              <a:rPr lang="fr-FR" altLang="fr-FR" sz="14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xp</a:t>
            </a:r>
            <a:r>
              <a:rPr lang="fr-FR" altLang="fr-FR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fr-FR" altLang="fr-FR" sz="14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ie</a:t>
            </a:r>
            <a:r>
              <a:rPr lang="fr-FR" altLang="fr-FR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);</a:t>
            </a:r>
            <a:endParaRPr lang="fr-FR" altLang="fr-FR" sz="1400" dirty="0"/>
          </a:p>
          <a:p>
            <a:pPr>
              <a:spcBef>
                <a:spcPct val="0"/>
              </a:spcBef>
              <a:buFontTx/>
              <a:buNone/>
            </a:pPr>
            <a:r>
              <a:rPr lang="fr-FR" altLang="fr-FR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fr-FR" altLang="fr-FR" sz="1400" dirty="0"/>
          </a:p>
          <a:p>
            <a:pPr>
              <a:spcBef>
                <a:spcPct val="0"/>
              </a:spcBef>
              <a:buFontTx/>
              <a:buNone/>
            </a:pPr>
            <a:r>
              <a:rPr lang="fr-FR" altLang="fr-FR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</a:t>
            </a:r>
            <a:r>
              <a:rPr lang="fr-FR" altLang="fr-FR" sz="14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dy_dv</a:t>
            </a:r>
            <a:r>
              <a:rPr lang="fr-FR" altLang="fr-FR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= </a:t>
            </a:r>
            <a:r>
              <a:rPr lang="fr-FR" altLang="fr-FR" sz="14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dy_dv</a:t>
            </a:r>
            <a:r>
              <a:rPr lang="fr-FR" altLang="fr-FR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+ </a:t>
            </a:r>
            <a:r>
              <a:rPr lang="fr-FR" altLang="fr-FR" sz="1400" b="1" dirty="0" err="1" smtClean="0">
                <a:solidFill>
                  <a:srgbClr val="000000"/>
                </a:solidFill>
                <a:latin typeface="Courier New" panose="02070309020205020404" pitchFamily="49" charset="0"/>
              </a:rPr>
              <a:t>dalpha_dv</a:t>
            </a:r>
            <a:r>
              <a:rPr lang="fr-FR" altLang="fr-FR" sz="1400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fr-FR" altLang="fr-FR" sz="1400" b="1" dirty="0" err="1" smtClean="0">
                <a:solidFill>
                  <a:srgbClr val="000000"/>
                </a:solidFill>
                <a:latin typeface="Courier New" panose="02070309020205020404" pitchFamily="49" charset="0"/>
              </a:rPr>
              <a:t>ie</a:t>
            </a:r>
            <a:r>
              <a:rPr lang="fr-FR" altLang="fr-FR" sz="1400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, k)*</a:t>
            </a:r>
            <a:r>
              <a:rPr lang="fr-FR" altLang="fr-FR" sz="14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yp</a:t>
            </a:r>
            <a:r>
              <a:rPr lang="fr-FR" altLang="fr-FR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fr-FR" altLang="fr-FR" sz="14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ie</a:t>
            </a:r>
            <a:r>
              <a:rPr lang="fr-FR" altLang="fr-FR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);    </a:t>
            </a:r>
            <a:endParaRPr lang="fr-FR" altLang="fr-FR" sz="1400" dirty="0"/>
          </a:p>
          <a:p>
            <a:pPr>
              <a:spcBef>
                <a:spcPct val="0"/>
              </a:spcBef>
              <a:buFontTx/>
              <a:buNone/>
            </a:pPr>
            <a:r>
              <a:rPr lang="fr-FR" altLang="fr-FR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</a:t>
            </a:r>
            <a:r>
              <a:rPr lang="fr-FR" altLang="fr-FR" sz="14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dy_du</a:t>
            </a:r>
            <a:r>
              <a:rPr lang="fr-FR" altLang="fr-FR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= </a:t>
            </a:r>
            <a:r>
              <a:rPr lang="fr-FR" altLang="fr-FR" sz="14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dy_du</a:t>
            </a:r>
            <a:r>
              <a:rPr lang="fr-FR" altLang="fr-FR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+ </a:t>
            </a:r>
            <a:r>
              <a:rPr lang="fr-FR" altLang="fr-FR" sz="1400" b="1" dirty="0" err="1" smtClean="0">
                <a:solidFill>
                  <a:srgbClr val="000000"/>
                </a:solidFill>
                <a:latin typeface="Courier New" panose="02070309020205020404" pitchFamily="49" charset="0"/>
              </a:rPr>
              <a:t>dalpha_du</a:t>
            </a:r>
            <a:r>
              <a:rPr lang="fr-FR" altLang="fr-FR" sz="1400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fr-FR" altLang="fr-FR" sz="1400" b="1" dirty="0" err="1" smtClean="0">
                <a:solidFill>
                  <a:srgbClr val="000000"/>
                </a:solidFill>
                <a:latin typeface="Courier New" panose="02070309020205020404" pitchFamily="49" charset="0"/>
              </a:rPr>
              <a:t>ie</a:t>
            </a:r>
            <a:r>
              <a:rPr lang="fr-FR" altLang="fr-FR" sz="1400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, k)*</a:t>
            </a:r>
            <a:r>
              <a:rPr lang="fr-FR" altLang="fr-FR" sz="14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yp</a:t>
            </a:r>
            <a:r>
              <a:rPr lang="fr-FR" altLang="fr-FR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fr-FR" altLang="fr-FR" sz="14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ie</a:t>
            </a:r>
            <a:r>
              <a:rPr lang="fr-FR" altLang="fr-FR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);    </a:t>
            </a:r>
            <a:endParaRPr lang="fr-FR" altLang="fr-FR" sz="1400" dirty="0"/>
          </a:p>
          <a:p>
            <a:pPr>
              <a:spcBef>
                <a:spcPct val="0"/>
              </a:spcBef>
              <a:buFontTx/>
              <a:buNone/>
            </a:pPr>
            <a:r>
              <a:rPr lang="fr-FR" altLang="fr-FR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fr-FR" altLang="fr-FR" sz="1400" b="1" dirty="0">
                <a:solidFill>
                  <a:srgbClr val="0000FF"/>
                </a:solidFill>
                <a:latin typeface="Courier New" panose="02070309020205020404" pitchFamily="49" charset="0"/>
              </a:rPr>
              <a:t>end</a:t>
            </a:r>
          </a:p>
        </p:txBody>
      </p:sp>
      <p:grpSp>
        <p:nvGrpSpPr>
          <p:cNvPr id="35843" name="Group 3"/>
          <p:cNvGrpSpPr>
            <a:grpSpLocks/>
          </p:cNvGrpSpPr>
          <p:nvPr/>
        </p:nvGrpSpPr>
        <p:grpSpPr bwMode="auto">
          <a:xfrm>
            <a:off x="3686694" y="2019508"/>
            <a:ext cx="5100637" cy="1563687"/>
            <a:chOff x="2653" y="663"/>
            <a:chExt cx="3213" cy="985"/>
          </a:xfrm>
        </p:grpSpPr>
        <p:graphicFrame>
          <p:nvGraphicFramePr>
            <p:cNvPr id="35846" name="Object 4"/>
            <p:cNvGraphicFramePr>
              <a:graphicFrameLocks noChangeAspect="1"/>
            </p:cNvGraphicFramePr>
            <p:nvPr/>
          </p:nvGraphicFramePr>
          <p:xfrm>
            <a:off x="2653" y="666"/>
            <a:ext cx="3195" cy="4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970" name="Equation" r:id="rId3" imgW="3175000" imgH="444500" progId="Equation.DSMT4">
                    <p:embed/>
                  </p:oleObj>
                </mc:Choice>
                <mc:Fallback>
                  <p:oleObj name="Equation" r:id="rId3" imgW="3175000" imgH="444500" progId="Equation.DSMT4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53" y="666"/>
                          <a:ext cx="3195" cy="44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5847" name="Object 5"/>
            <p:cNvGraphicFramePr>
              <a:graphicFrameLocks noChangeAspect="1"/>
            </p:cNvGraphicFramePr>
            <p:nvPr/>
          </p:nvGraphicFramePr>
          <p:xfrm>
            <a:off x="2659" y="1201"/>
            <a:ext cx="3207" cy="4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971" name="Equation" r:id="rId5" imgW="3162300" imgH="444500" progId="Equation.DSMT4">
                    <p:embed/>
                  </p:oleObj>
                </mc:Choice>
                <mc:Fallback>
                  <p:oleObj name="Equation" r:id="rId5" imgW="3162300" imgH="444500" progId="Equation.DSMT4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59" y="1201"/>
                          <a:ext cx="3207" cy="44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5848" name="Rectangle 6"/>
            <p:cNvSpPr>
              <a:spLocks noChangeArrowheads="1"/>
            </p:cNvSpPr>
            <p:nvPr/>
          </p:nvSpPr>
          <p:spPr bwMode="auto">
            <a:xfrm>
              <a:off x="3315" y="1207"/>
              <a:ext cx="664" cy="409"/>
            </a:xfrm>
            <a:prstGeom prst="rect">
              <a:avLst/>
            </a:prstGeom>
            <a:noFill/>
            <a:ln w="28575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fr-FR" altLang="fr-FR" sz="2400"/>
            </a:p>
          </p:txBody>
        </p:sp>
        <p:sp>
          <p:nvSpPr>
            <p:cNvPr id="35849" name="Rectangle 7"/>
            <p:cNvSpPr>
              <a:spLocks noChangeArrowheads="1"/>
            </p:cNvSpPr>
            <p:nvPr/>
          </p:nvSpPr>
          <p:spPr bwMode="auto">
            <a:xfrm>
              <a:off x="3300" y="663"/>
              <a:ext cx="679" cy="409"/>
            </a:xfrm>
            <a:prstGeom prst="rect">
              <a:avLst/>
            </a:prstGeom>
            <a:noFill/>
            <a:ln w="28575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fr-FR" altLang="fr-FR" sz="2400"/>
            </a:p>
          </p:txBody>
        </p:sp>
        <p:sp>
          <p:nvSpPr>
            <p:cNvPr id="35850" name="Rectangle 8"/>
            <p:cNvSpPr>
              <a:spLocks noChangeArrowheads="1"/>
            </p:cNvSpPr>
            <p:nvPr/>
          </p:nvSpPr>
          <p:spPr bwMode="auto">
            <a:xfrm>
              <a:off x="5013" y="1207"/>
              <a:ext cx="664" cy="409"/>
            </a:xfrm>
            <a:prstGeom prst="rect">
              <a:avLst/>
            </a:prstGeom>
            <a:noFill/>
            <a:ln w="28575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fr-FR" altLang="fr-FR" sz="2400"/>
            </a:p>
          </p:txBody>
        </p:sp>
        <p:sp>
          <p:nvSpPr>
            <p:cNvPr id="35851" name="Rectangle 9"/>
            <p:cNvSpPr>
              <a:spLocks noChangeArrowheads="1"/>
            </p:cNvSpPr>
            <p:nvPr/>
          </p:nvSpPr>
          <p:spPr bwMode="auto">
            <a:xfrm>
              <a:off x="4999" y="663"/>
              <a:ext cx="678" cy="409"/>
            </a:xfrm>
            <a:prstGeom prst="rect">
              <a:avLst/>
            </a:prstGeom>
            <a:noFill/>
            <a:ln w="28575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fr-FR" altLang="fr-FR" sz="2400"/>
            </a:p>
          </p:txBody>
        </p:sp>
      </p:grpSp>
      <p:sp>
        <p:nvSpPr>
          <p:cNvPr id="35844" name="Line 10"/>
          <p:cNvSpPr>
            <a:spLocks noChangeShapeType="1"/>
          </p:cNvSpPr>
          <p:nvPr/>
        </p:nvSpPr>
        <p:spPr bwMode="auto">
          <a:xfrm>
            <a:off x="539750" y="2348880"/>
            <a:ext cx="0" cy="42926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35845" name="Espace réservé du numéro de diapositive 12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D0E9F8E-733D-489B-A9FC-FB7DABD453DA}" type="slidenum">
              <a:rPr lang="fr-FR" altLang="fr-FR" sz="1400"/>
              <a:pPr>
                <a:spcBef>
                  <a:spcPct val="0"/>
                </a:spcBef>
                <a:buFontTx/>
                <a:buNone/>
              </a:pPr>
              <a:t>30</a:t>
            </a:fld>
            <a:endParaRPr lang="fr-FR" altLang="fr-FR" sz="1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ext Box 4"/>
          <p:cNvSpPr txBox="1">
            <a:spLocks noChangeArrowheads="1"/>
          </p:cNvSpPr>
          <p:nvPr/>
        </p:nvSpPr>
        <p:spPr bwMode="auto">
          <a:xfrm>
            <a:off x="303213" y="677863"/>
            <a:ext cx="9195146" cy="4524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fr-FR" altLang="fr-FR" sz="1600" b="1" dirty="0">
                <a:solidFill>
                  <a:srgbClr val="228B22"/>
                </a:solidFill>
                <a:latin typeface="Courier New" panose="02070309020205020404" pitchFamily="49" charset="0"/>
              </a:rPr>
              <a:t> % Matrice </a:t>
            </a:r>
            <a:r>
              <a:rPr lang="fr-FR" altLang="fr-FR" sz="1600" b="1" dirty="0" err="1">
                <a:solidFill>
                  <a:srgbClr val="228B22"/>
                </a:solidFill>
                <a:latin typeface="Courier New" panose="02070309020205020404" pitchFamily="49" charset="0"/>
              </a:rPr>
              <a:t>Jacobienne</a:t>
            </a:r>
            <a:r>
              <a:rPr lang="fr-FR" altLang="fr-FR" sz="1600" b="1" dirty="0">
                <a:solidFill>
                  <a:srgbClr val="228B22"/>
                </a:solidFill>
                <a:latin typeface="Courier New" panose="02070309020205020404" pitchFamily="49" charset="0"/>
              </a:rPr>
              <a:t> au point </a:t>
            </a:r>
            <a:r>
              <a:rPr lang="fr-FR" altLang="fr-FR" sz="1600" b="1" dirty="0" err="1">
                <a:solidFill>
                  <a:srgbClr val="228B22"/>
                </a:solidFill>
                <a:latin typeface="Courier New" panose="02070309020205020404" pitchFamily="49" charset="0"/>
              </a:rPr>
              <a:t>npi</a:t>
            </a:r>
            <a:endParaRPr lang="fr-FR" altLang="fr-FR" sz="1600" dirty="0"/>
          </a:p>
          <a:p>
            <a:pPr>
              <a:spcBef>
                <a:spcPct val="0"/>
              </a:spcBef>
              <a:buFontTx/>
              <a:buNone/>
            </a:pPr>
            <a:r>
              <a:rPr lang="fr-FR" altLang="fr-FR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J=[</a:t>
            </a:r>
            <a:r>
              <a:rPr lang="fr-FR" altLang="fr-FR" sz="16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dx_du</a:t>
            </a:r>
            <a:r>
              <a:rPr lang="fr-FR" altLang="fr-FR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fr-FR" altLang="fr-FR" sz="16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dx_dv</a:t>
            </a:r>
            <a:r>
              <a:rPr lang="fr-FR" altLang="fr-FR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;</a:t>
            </a:r>
            <a:endParaRPr lang="fr-FR" altLang="fr-FR" sz="1600" dirty="0"/>
          </a:p>
          <a:p>
            <a:pPr>
              <a:spcBef>
                <a:spcPct val="0"/>
              </a:spcBef>
              <a:buFontTx/>
              <a:buNone/>
            </a:pPr>
            <a:r>
              <a:rPr lang="fr-FR" altLang="fr-FR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</a:t>
            </a:r>
            <a:r>
              <a:rPr lang="fr-FR" altLang="fr-FR" sz="16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dy_du</a:t>
            </a:r>
            <a:r>
              <a:rPr lang="fr-FR" altLang="fr-FR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fr-FR" altLang="fr-FR" sz="16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dy_dv</a:t>
            </a:r>
            <a:r>
              <a:rPr lang="fr-FR" altLang="fr-FR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];</a:t>
            </a:r>
            <a:endParaRPr lang="fr-FR" altLang="fr-FR" sz="1600" dirty="0"/>
          </a:p>
          <a:p>
            <a:pPr>
              <a:spcBef>
                <a:spcPct val="0"/>
              </a:spcBef>
              <a:buFontTx/>
              <a:buNone/>
            </a:pPr>
            <a:r>
              <a:rPr lang="fr-FR" altLang="fr-FR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pPr>
              <a:spcBef>
                <a:spcPct val="0"/>
              </a:spcBef>
              <a:buFontTx/>
              <a:buNone/>
            </a:pPr>
            <a:endParaRPr lang="fr-FR" altLang="fr-FR" sz="1600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fr-FR" altLang="fr-FR" sz="1600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fr-FR" altLang="fr-FR" sz="1600" dirty="0"/>
          </a:p>
          <a:p>
            <a:pPr>
              <a:spcBef>
                <a:spcPct val="0"/>
              </a:spcBef>
              <a:buFontTx/>
              <a:buNone/>
            </a:pPr>
            <a:r>
              <a:rPr lang="fr-FR" altLang="fr-FR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fr-FR" altLang="fr-FR" sz="1600" b="1" dirty="0">
                <a:solidFill>
                  <a:srgbClr val="228B22"/>
                </a:solidFill>
                <a:latin typeface="Courier New" panose="02070309020205020404" pitchFamily="49" charset="0"/>
              </a:rPr>
              <a:t>% Calcul du </a:t>
            </a:r>
            <a:r>
              <a:rPr lang="fr-FR" altLang="fr-FR" sz="1600" b="1" dirty="0" err="1">
                <a:solidFill>
                  <a:srgbClr val="228B22"/>
                </a:solidFill>
                <a:latin typeface="Courier New" panose="02070309020205020404" pitchFamily="49" charset="0"/>
              </a:rPr>
              <a:t>determinant</a:t>
            </a:r>
            <a:r>
              <a:rPr lang="fr-FR" altLang="fr-FR" sz="1600" b="1" dirty="0">
                <a:solidFill>
                  <a:srgbClr val="228B22"/>
                </a:solidFill>
                <a:latin typeface="Courier New" panose="02070309020205020404" pitchFamily="49" charset="0"/>
              </a:rPr>
              <a:t> de la matrice </a:t>
            </a:r>
            <a:r>
              <a:rPr lang="fr-FR" altLang="fr-FR" sz="1600" b="1" dirty="0" err="1">
                <a:solidFill>
                  <a:srgbClr val="228B22"/>
                </a:solidFill>
                <a:latin typeface="Courier New" panose="02070309020205020404" pitchFamily="49" charset="0"/>
              </a:rPr>
              <a:t>Jacobienne</a:t>
            </a:r>
            <a:r>
              <a:rPr lang="fr-FR" altLang="fr-FR" sz="1600" b="1" dirty="0">
                <a:solidFill>
                  <a:srgbClr val="228B22"/>
                </a:solidFill>
                <a:latin typeface="Courier New" panose="02070309020205020404" pitchFamily="49" charset="0"/>
              </a:rPr>
              <a:t> au point </a:t>
            </a:r>
            <a:r>
              <a:rPr lang="fr-FR" altLang="fr-FR" sz="1600" b="1" dirty="0" err="1">
                <a:solidFill>
                  <a:srgbClr val="228B22"/>
                </a:solidFill>
                <a:latin typeface="Courier New" panose="02070309020205020404" pitchFamily="49" charset="0"/>
              </a:rPr>
              <a:t>npi</a:t>
            </a:r>
            <a:endParaRPr lang="fr-FR" altLang="fr-FR" sz="1600" dirty="0"/>
          </a:p>
          <a:p>
            <a:pPr>
              <a:spcBef>
                <a:spcPct val="0"/>
              </a:spcBef>
              <a:buFontTx/>
              <a:buNone/>
            </a:pPr>
            <a:r>
              <a:rPr lang="fr-FR" altLang="fr-FR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fr-FR" altLang="fr-FR" sz="16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detJ</a:t>
            </a:r>
            <a:r>
              <a:rPr lang="fr-FR" altLang="fr-FR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fr-FR" altLang="fr-FR" sz="16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npi</a:t>
            </a:r>
            <a:r>
              <a:rPr lang="fr-FR" altLang="fr-FR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)=</a:t>
            </a:r>
            <a:r>
              <a:rPr lang="fr-FR" altLang="fr-FR" sz="16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det</a:t>
            </a:r>
            <a:r>
              <a:rPr lang="fr-FR" altLang="fr-FR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(J);    </a:t>
            </a:r>
            <a:endParaRPr lang="fr-FR" altLang="fr-FR" sz="1600" dirty="0"/>
          </a:p>
          <a:p>
            <a:pPr>
              <a:spcBef>
                <a:spcPct val="0"/>
              </a:spcBef>
              <a:buFontTx/>
              <a:buNone/>
            </a:pPr>
            <a:r>
              <a:rPr lang="fr-FR" altLang="fr-FR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</a:t>
            </a:r>
            <a:endParaRPr lang="fr-FR" altLang="fr-FR" sz="1600" dirty="0"/>
          </a:p>
          <a:p>
            <a:pPr>
              <a:spcBef>
                <a:spcPct val="0"/>
              </a:spcBef>
              <a:buFontTx/>
              <a:buNone/>
            </a:pPr>
            <a:r>
              <a:rPr lang="fr-FR" altLang="fr-FR" sz="1600" b="1" dirty="0">
                <a:solidFill>
                  <a:srgbClr val="0000FF"/>
                </a:solidFill>
                <a:latin typeface="Courier New" panose="02070309020205020404" pitchFamily="49" charset="0"/>
              </a:rPr>
              <a:t>end</a:t>
            </a:r>
            <a:r>
              <a:rPr lang="fr-FR" altLang="fr-FR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; </a:t>
            </a:r>
            <a:r>
              <a:rPr lang="fr-FR" altLang="fr-FR" sz="1600" b="1" dirty="0">
                <a:solidFill>
                  <a:srgbClr val="228B22"/>
                </a:solidFill>
                <a:latin typeface="Courier New" panose="02070309020205020404" pitchFamily="49" charset="0"/>
              </a:rPr>
              <a:t>% fin de boucle sur les </a:t>
            </a:r>
            <a:r>
              <a:rPr lang="fr-FR" altLang="fr-FR" sz="1600" b="1" dirty="0" err="1">
                <a:solidFill>
                  <a:srgbClr val="228B22"/>
                </a:solidFill>
                <a:latin typeface="Courier New" panose="02070309020205020404" pitchFamily="49" charset="0"/>
              </a:rPr>
              <a:t>npi</a:t>
            </a:r>
            <a:endParaRPr lang="fr-FR" altLang="fr-FR" sz="1600" dirty="0"/>
          </a:p>
          <a:p>
            <a:pPr>
              <a:spcBef>
                <a:spcPct val="0"/>
              </a:spcBef>
              <a:buFontTx/>
              <a:buNone/>
            </a:pPr>
            <a:r>
              <a:rPr lang="fr-FR" altLang="fr-FR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fr-FR" altLang="fr-FR" sz="1600" dirty="0"/>
          </a:p>
          <a:p>
            <a:pPr>
              <a:buNone/>
            </a:pPr>
            <a:r>
              <a:rPr lang="fr-FR" sz="16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gauss.NPI</a:t>
            </a:r>
            <a:r>
              <a:rPr lang="fr-FR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=NPI;      </a:t>
            </a:r>
            <a:r>
              <a:rPr lang="fr-FR" sz="1600" b="1" dirty="0">
                <a:solidFill>
                  <a:srgbClr val="028009"/>
                </a:solidFill>
                <a:latin typeface="Courier New" panose="02070309020205020404" pitchFamily="49" charset="0"/>
              </a:rPr>
              <a:t>% nombre de points de Gauss </a:t>
            </a:r>
            <a:endParaRPr lang="fr-FR" sz="1600" dirty="0">
              <a:solidFill>
                <a:srgbClr val="028009"/>
              </a:solidFill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fr-FR" sz="16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gauss.detJ</a:t>
            </a:r>
            <a:r>
              <a:rPr lang="fr-FR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=</a:t>
            </a:r>
            <a:r>
              <a:rPr lang="fr-FR" sz="16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detJ</a:t>
            </a:r>
            <a:r>
              <a:rPr lang="fr-FR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;    </a:t>
            </a:r>
            <a:r>
              <a:rPr lang="fr-FR" sz="1600" b="1" dirty="0">
                <a:solidFill>
                  <a:srgbClr val="028009"/>
                </a:solidFill>
                <a:latin typeface="Courier New" panose="02070309020205020404" pitchFamily="49" charset="0"/>
              </a:rPr>
              <a:t>% tableau = </a:t>
            </a:r>
            <a:r>
              <a:rPr lang="fr-FR" sz="1600" b="1" dirty="0" smtClean="0">
                <a:solidFill>
                  <a:srgbClr val="028009"/>
                </a:solidFill>
                <a:latin typeface="Courier New" panose="02070309020205020404" pitchFamily="49" charset="0"/>
              </a:rPr>
              <a:t>valeurs </a:t>
            </a:r>
            <a:r>
              <a:rPr lang="fr-FR" sz="1600" b="1" dirty="0">
                <a:solidFill>
                  <a:srgbClr val="028009"/>
                </a:solidFill>
                <a:latin typeface="Courier New" panose="02070309020205020404" pitchFamily="49" charset="0"/>
              </a:rPr>
              <a:t>de </a:t>
            </a:r>
            <a:r>
              <a:rPr lang="fr-FR" sz="1600" b="1" dirty="0" err="1">
                <a:solidFill>
                  <a:srgbClr val="028009"/>
                </a:solidFill>
                <a:latin typeface="Courier New" panose="02070309020205020404" pitchFamily="49" charset="0"/>
              </a:rPr>
              <a:t>detJ</a:t>
            </a:r>
            <a:r>
              <a:rPr lang="fr-FR" sz="1600" b="1" dirty="0">
                <a:solidFill>
                  <a:srgbClr val="028009"/>
                </a:solidFill>
                <a:latin typeface="Courier New" panose="02070309020205020404" pitchFamily="49" charset="0"/>
              </a:rPr>
              <a:t>(k) </a:t>
            </a:r>
            <a:r>
              <a:rPr lang="fr-FR" sz="1600" b="1" dirty="0" smtClean="0">
                <a:solidFill>
                  <a:srgbClr val="028009"/>
                </a:solidFill>
                <a:latin typeface="Courier New" panose="02070309020205020404" pitchFamily="49" charset="0"/>
              </a:rPr>
              <a:t>aux points </a:t>
            </a:r>
            <a:r>
              <a:rPr lang="fr-FR" sz="1600" b="1" dirty="0">
                <a:solidFill>
                  <a:srgbClr val="028009"/>
                </a:solidFill>
                <a:latin typeface="Courier New" panose="02070309020205020404" pitchFamily="49" charset="0"/>
              </a:rPr>
              <a:t>de </a:t>
            </a:r>
            <a:r>
              <a:rPr lang="fr-FR" sz="1600" b="1" dirty="0" smtClean="0">
                <a:solidFill>
                  <a:srgbClr val="028009"/>
                </a:solidFill>
                <a:latin typeface="Courier New" panose="02070309020205020404" pitchFamily="49" charset="0"/>
              </a:rPr>
              <a:t>Gauss </a:t>
            </a:r>
            <a:endParaRPr lang="fr-FR" sz="1600" dirty="0">
              <a:solidFill>
                <a:srgbClr val="028009"/>
              </a:solidFill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fr-FR" sz="16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gauss.pds</a:t>
            </a:r>
            <a:r>
              <a:rPr lang="fr-FR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=pds;      </a:t>
            </a:r>
            <a:r>
              <a:rPr lang="fr-FR" sz="1600" b="1" dirty="0">
                <a:solidFill>
                  <a:srgbClr val="028009"/>
                </a:solidFill>
                <a:latin typeface="Courier New" panose="02070309020205020404" pitchFamily="49" charset="0"/>
              </a:rPr>
              <a:t>% tableau = valeur de w(k)</a:t>
            </a:r>
            <a:endParaRPr lang="fr-FR" sz="1600" dirty="0">
              <a:solidFill>
                <a:srgbClr val="028009"/>
              </a:solidFill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fr-FR" sz="16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gauss.alpha</a:t>
            </a:r>
            <a:r>
              <a:rPr lang="fr-FR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=alpha;  </a:t>
            </a:r>
            <a:r>
              <a:rPr lang="fr-FR" sz="1600" b="1" dirty="0">
                <a:solidFill>
                  <a:srgbClr val="028009"/>
                </a:solidFill>
                <a:latin typeface="Courier New" panose="02070309020205020404" pitchFamily="49" charset="0"/>
              </a:rPr>
              <a:t>% matrice = </a:t>
            </a:r>
            <a:r>
              <a:rPr lang="fr-FR" sz="1600" b="1" dirty="0" err="1">
                <a:solidFill>
                  <a:srgbClr val="028009"/>
                </a:solidFill>
                <a:latin typeface="Courier New" panose="02070309020205020404" pitchFamily="49" charset="0"/>
              </a:rPr>
              <a:t>gauss.alpha</a:t>
            </a:r>
            <a:r>
              <a:rPr lang="fr-FR" sz="1600" b="1" dirty="0">
                <a:solidFill>
                  <a:srgbClr val="028009"/>
                </a:solidFill>
                <a:latin typeface="Courier New" panose="02070309020205020404" pitchFamily="49" charset="0"/>
              </a:rPr>
              <a:t>(</a:t>
            </a:r>
            <a:r>
              <a:rPr lang="fr-FR" sz="1600" b="1" dirty="0" err="1">
                <a:solidFill>
                  <a:srgbClr val="028009"/>
                </a:solidFill>
                <a:latin typeface="Courier New" panose="02070309020205020404" pitchFamily="49" charset="0"/>
              </a:rPr>
              <a:t>ie</a:t>
            </a:r>
            <a:r>
              <a:rPr lang="fr-FR" sz="1600" b="1" dirty="0">
                <a:solidFill>
                  <a:srgbClr val="028009"/>
                </a:solidFill>
                <a:latin typeface="Courier New" panose="02070309020205020404" pitchFamily="49" charset="0"/>
              </a:rPr>
              <a:t>, k) </a:t>
            </a:r>
            <a:endParaRPr lang="fr-FR" sz="1600" dirty="0">
              <a:solidFill>
                <a:srgbClr val="028009"/>
              </a:solidFill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fr-FR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            </a:t>
            </a:r>
            <a:r>
              <a:rPr lang="fr-FR" sz="1600" b="1" dirty="0">
                <a:solidFill>
                  <a:srgbClr val="028009"/>
                </a:solidFill>
                <a:latin typeface="Courier New" panose="02070309020205020404" pitchFamily="49" charset="0"/>
              </a:rPr>
              <a:t>% </a:t>
            </a:r>
            <a:r>
              <a:rPr lang="fr-FR" sz="1600" b="1" dirty="0" err="1">
                <a:solidFill>
                  <a:srgbClr val="028009"/>
                </a:solidFill>
                <a:latin typeface="Courier New" panose="02070309020205020404" pitchFamily="49" charset="0"/>
              </a:rPr>
              <a:t>ie</a:t>
            </a:r>
            <a:r>
              <a:rPr lang="fr-FR" sz="1600" b="1" dirty="0">
                <a:solidFill>
                  <a:srgbClr val="028009"/>
                </a:solidFill>
                <a:latin typeface="Courier New" panose="02070309020205020404" pitchFamily="49" charset="0"/>
              </a:rPr>
              <a:t> dans {I, II, III}, k dans [1, </a:t>
            </a:r>
            <a:r>
              <a:rPr lang="fr-FR" sz="1600" b="1" dirty="0" err="1">
                <a:solidFill>
                  <a:srgbClr val="028009"/>
                </a:solidFill>
                <a:latin typeface="Courier New" panose="02070309020205020404" pitchFamily="49" charset="0"/>
              </a:rPr>
              <a:t>gauss.NPI</a:t>
            </a:r>
            <a:r>
              <a:rPr lang="fr-FR" sz="1600" b="1" dirty="0">
                <a:solidFill>
                  <a:srgbClr val="028009"/>
                </a:solidFill>
                <a:latin typeface="Courier New" panose="02070309020205020404" pitchFamily="49" charset="0"/>
              </a:rPr>
              <a:t>]</a:t>
            </a:r>
            <a:endParaRPr lang="fr-FR" sz="1600" dirty="0">
              <a:solidFill>
                <a:srgbClr val="028009"/>
              </a:solidFill>
              <a:latin typeface="Courier New" panose="02070309020205020404" pitchFamily="49" charset="0"/>
            </a:endParaRPr>
          </a:p>
        </p:txBody>
      </p:sp>
      <p:graphicFrame>
        <p:nvGraphicFramePr>
          <p:cNvPr id="36867" name="Object 5"/>
          <p:cNvGraphicFramePr>
            <a:graphicFrameLocks noChangeAspect="1"/>
          </p:cNvGraphicFramePr>
          <p:nvPr/>
        </p:nvGraphicFramePr>
        <p:xfrm>
          <a:off x="5797550" y="522288"/>
          <a:ext cx="2519363" cy="1466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929" name="Equation" r:id="rId3" imgW="1574800" imgH="914400" progId="Equation.DSMT4">
                  <p:embed/>
                </p:oleObj>
              </mc:Choice>
              <mc:Fallback>
                <p:oleObj name="Equation" r:id="rId3" imgW="1574800" imgH="9144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7550" y="522288"/>
                        <a:ext cx="2519363" cy="1466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868" name="Line 6"/>
          <p:cNvSpPr>
            <a:spLocks noChangeShapeType="1"/>
          </p:cNvSpPr>
          <p:nvPr/>
        </p:nvSpPr>
        <p:spPr bwMode="auto">
          <a:xfrm>
            <a:off x="468313" y="0"/>
            <a:ext cx="0" cy="3141663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36869" name="Espace réservé du numéro de diapositive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A025188-B15D-4A3D-889E-B99F0ABE5283}" type="slidenum">
              <a:rPr lang="fr-FR" altLang="fr-FR" sz="1400"/>
              <a:pPr>
                <a:spcBef>
                  <a:spcPct val="0"/>
                </a:spcBef>
                <a:buFontTx/>
                <a:buNone/>
              </a:pPr>
              <a:t>31</a:t>
            </a:fld>
            <a:endParaRPr lang="fr-FR" altLang="fr-FR" sz="1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ext Box 2"/>
          <p:cNvSpPr txBox="1">
            <a:spLocks noChangeArrowheads="1"/>
          </p:cNvSpPr>
          <p:nvPr/>
        </p:nvSpPr>
        <p:spPr bwMode="auto">
          <a:xfrm>
            <a:off x="250825" y="906463"/>
            <a:ext cx="8234363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fr-FR" altLang="fr-FR" sz="2000">
                <a:latin typeface="Arial" panose="020B0604020202020204" pitchFamily="34" charset="0"/>
              </a:rPr>
              <a:t>Sur un élément de référence carré, on peut utiliser une méthode produit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fr-FR" altLang="fr-FR" sz="2000">
                <a:latin typeface="Arial" panose="020B0604020202020204" pitchFamily="34" charset="0"/>
              </a:rPr>
              <a:t>d’une intégration numérique 1D selon chacune des directions.</a:t>
            </a:r>
            <a:endParaRPr lang="fr-FR" altLang="fr-FR" sz="2400">
              <a:latin typeface="Arial" panose="020B0604020202020204" pitchFamily="34" charset="0"/>
            </a:endParaRPr>
          </a:p>
        </p:txBody>
      </p:sp>
      <p:graphicFrame>
        <p:nvGraphicFramePr>
          <p:cNvPr id="37891" name="Object 3"/>
          <p:cNvGraphicFramePr>
            <a:graphicFrameLocks noChangeAspect="1"/>
          </p:cNvGraphicFramePr>
          <p:nvPr/>
        </p:nvGraphicFramePr>
        <p:xfrm>
          <a:off x="900113" y="1771650"/>
          <a:ext cx="4595812" cy="846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037" name="Equation" r:id="rId3" imgW="2552700" imgH="469900" progId="Equation.3">
                  <p:embed/>
                </p:oleObj>
              </mc:Choice>
              <mc:Fallback>
                <p:oleObj name="Equation" r:id="rId3" imgW="2552700" imgH="4699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113" y="1771650"/>
                        <a:ext cx="4595812" cy="846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892" name="Text Box 4"/>
          <p:cNvSpPr txBox="1">
            <a:spLocks noChangeArrowheads="1"/>
          </p:cNvSpPr>
          <p:nvPr/>
        </p:nvSpPr>
        <p:spPr bwMode="auto">
          <a:xfrm>
            <a:off x="833438" y="2859088"/>
            <a:ext cx="70802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fr-FR" altLang="fr-FR" sz="1800">
                <a:latin typeface="Arial" panose="020B0604020202020204" pitchFamily="34" charset="0"/>
              </a:rPr>
              <a:t>où n est le nombre de points d ’intégration (NPI) selon une direction.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fr-FR" altLang="fr-FR" sz="1800">
                <a:latin typeface="Arial" panose="020B0604020202020204" pitchFamily="34" charset="0"/>
              </a:rPr>
              <a:t>Leur position</a:t>
            </a:r>
          </a:p>
        </p:txBody>
      </p:sp>
      <p:sp>
        <p:nvSpPr>
          <p:cNvPr id="37893" name="Text Box 5"/>
          <p:cNvSpPr txBox="1">
            <a:spLocks noChangeArrowheads="1"/>
          </p:cNvSpPr>
          <p:nvPr/>
        </p:nvSpPr>
        <p:spPr bwMode="auto">
          <a:xfrm>
            <a:off x="323850" y="3789363"/>
            <a:ext cx="8607425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fr-FR" altLang="fr-FR" sz="2000">
                <a:latin typeface="Arial" panose="020B0604020202020204" pitchFamily="34" charset="0"/>
              </a:rPr>
              <a:t>Sur un élément de référence triangulaire, les positions et les poids de Gauss sont spécifiques à cet élément (cf. tables)</a:t>
            </a:r>
            <a:endParaRPr lang="fr-FR" altLang="fr-FR" sz="2400">
              <a:latin typeface="Arial" panose="020B0604020202020204" pitchFamily="34" charset="0"/>
            </a:endParaRPr>
          </a:p>
        </p:txBody>
      </p:sp>
      <p:graphicFrame>
        <p:nvGraphicFramePr>
          <p:cNvPr id="37894" name="Object 6"/>
          <p:cNvGraphicFramePr>
            <a:graphicFrameLocks noChangeAspect="1"/>
          </p:cNvGraphicFramePr>
          <p:nvPr/>
        </p:nvGraphicFramePr>
        <p:xfrm>
          <a:off x="900113" y="4724400"/>
          <a:ext cx="3937000" cy="866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038" name="Equation" r:id="rId5" imgW="2184400" imgH="482600" progId="Equation.3">
                  <p:embed/>
                </p:oleObj>
              </mc:Choice>
              <mc:Fallback>
                <p:oleObj name="Equation" r:id="rId5" imgW="2184400" imgH="4826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113" y="4724400"/>
                        <a:ext cx="3937000" cy="866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895" name="Text Box 7"/>
          <p:cNvSpPr txBox="1">
            <a:spLocks noChangeArrowheads="1"/>
          </p:cNvSpPr>
          <p:nvPr/>
        </p:nvSpPr>
        <p:spPr bwMode="auto">
          <a:xfrm>
            <a:off x="827088" y="5803900"/>
            <a:ext cx="55308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fr-FR" altLang="fr-FR" sz="1800">
                <a:latin typeface="Arial" panose="020B0604020202020204" pitchFamily="34" charset="0"/>
              </a:rPr>
              <a:t>où n est le nombre total de points d ’intégration (NPI)</a:t>
            </a:r>
          </a:p>
        </p:txBody>
      </p:sp>
      <p:grpSp>
        <p:nvGrpSpPr>
          <p:cNvPr id="37896" name="Group 8"/>
          <p:cNvGrpSpPr>
            <a:grpSpLocks/>
          </p:cNvGrpSpPr>
          <p:nvPr/>
        </p:nvGrpSpPr>
        <p:grpSpPr bwMode="auto">
          <a:xfrm>
            <a:off x="6532563" y="1412875"/>
            <a:ext cx="1711325" cy="1516063"/>
            <a:chOff x="4115" y="890"/>
            <a:chExt cx="1078" cy="955"/>
          </a:xfrm>
        </p:grpSpPr>
        <p:sp>
          <p:nvSpPr>
            <p:cNvPr id="37910" name="Line 9"/>
            <p:cNvSpPr>
              <a:spLocks noChangeShapeType="1"/>
            </p:cNvSpPr>
            <p:nvPr/>
          </p:nvSpPr>
          <p:spPr bwMode="auto">
            <a:xfrm flipV="1">
              <a:off x="4529" y="1109"/>
              <a:ext cx="0" cy="7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7911" name="Line 10"/>
            <p:cNvSpPr>
              <a:spLocks noChangeShapeType="1"/>
            </p:cNvSpPr>
            <p:nvPr/>
          </p:nvSpPr>
          <p:spPr bwMode="auto">
            <a:xfrm rot="5400000" flipV="1">
              <a:off x="4543" y="1053"/>
              <a:ext cx="6" cy="8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7912" name="Rectangle 11"/>
            <p:cNvSpPr>
              <a:spLocks noChangeArrowheads="1"/>
            </p:cNvSpPr>
            <p:nvPr/>
          </p:nvSpPr>
          <p:spPr bwMode="auto">
            <a:xfrm>
              <a:off x="4245" y="1256"/>
              <a:ext cx="563" cy="450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fr-FR" altLang="fr-FR" sz="2400"/>
            </a:p>
          </p:txBody>
        </p:sp>
        <p:sp>
          <p:nvSpPr>
            <p:cNvPr id="37913" name="Text Box 12"/>
            <p:cNvSpPr txBox="1">
              <a:spLocks noChangeArrowheads="1"/>
            </p:cNvSpPr>
            <p:nvPr/>
          </p:nvSpPr>
          <p:spPr bwMode="auto">
            <a:xfrm>
              <a:off x="4997" y="1369"/>
              <a:ext cx="19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fr-FR" altLang="fr-FR" sz="2000"/>
                <a:t>u</a:t>
              </a:r>
            </a:p>
          </p:txBody>
        </p:sp>
        <p:sp>
          <p:nvSpPr>
            <p:cNvPr id="37914" name="Text Box 13"/>
            <p:cNvSpPr txBox="1">
              <a:spLocks noChangeArrowheads="1"/>
            </p:cNvSpPr>
            <p:nvPr/>
          </p:nvSpPr>
          <p:spPr bwMode="auto">
            <a:xfrm>
              <a:off x="4449" y="890"/>
              <a:ext cx="19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fr-FR" altLang="fr-FR" sz="2000"/>
                <a:t>v</a:t>
              </a:r>
            </a:p>
          </p:txBody>
        </p:sp>
        <p:sp>
          <p:nvSpPr>
            <p:cNvPr id="37915" name="Oval 14"/>
            <p:cNvSpPr>
              <a:spLocks noChangeArrowheads="1"/>
            </p:cNvSpPr>
            <p:nvPr/>
          </p:nvSpPr>
          <p:spPr bwMode="auto">
            <a:xfrm>
              <a:off x="4328" y="1568"/>
              <a:ext cx="68" cy="68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fr-FR" altLang="fr-FR" sz="2400"/>
            </a:p>
          </p:txBody>
        </p:sp>
        <p:sp>
          <p:nvSpPr>
            <p:cNvPr id="37916" name="Oval 15"/>
            <p:cNvSpPr>
              <a:spLocks noChangeArrowheads="1"/>
            </p:cNvSpPr>
            <p:nvPr/>
          </p:nvSpPr>
          <p:spPr bwMode="auto">
            <a:xfrm>
              <a:off x="4328" y="1321"/>
              <a:ext cx="68" cy="68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fr-FR" altLang="fr-FR" sz="2400"/>
            </a:p>
          </p:txBody>
        </p:sp>
        <p:sp>
          <p:nvSpPr>
            <p:cNvPr id="37917" name="Oval 16"/>
            <p:cNvSpPr>
              <a:spLocks noChangeArrowheads="1"/>
            </p:cNvSpPr>
            <p:nvPr/>
          </p:nvSpPr>
          <p:spPr bwMode="auto">
            <a:xfrm>
              <a:off x="4651" y="1314"/>
              <a:ext cx="68" cy="68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fr-FR" altLang="fr-FR" sz="2400"/>
            </a:p>
          </p:txBody>
        </p:sp>
        <p:sp>
          <p:nvSpPr>
            <p:cNvPr id="37918" name="Oval 17"/>
            <p:cNvSpPr>
              <a:spLocks noChangeArrowheads="1"/>
            </p:cNvSpPr>
            <p:nvPr/>
          </p:nvSpPr>
          <p:spPr bwMode="auto">
            <a:xfrm>
              <a:off x="4650" y="1561"/>
              <a:ext cx="68" cy="68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fr-FR" altLang="fr-FR" sz="2400"/>
            </a:p>
          </p:txBody>
        </p:sp>
      </p:grpSp>
      <p:grpSp>
        <p:nvGrpSpPr>
          <p:cNvPr id="37897" name="Group 18"/>
          <p:cNvGrpSpPr>
            <a:grpSpLocks/>
          </p:cNvGrpSpPr>
          <p:nvPr/>
        </p:nvGrpSpPr>
        <p:grpSpPr bwMode="auto">
          <a:xfrm>
            <a:off x="6300788" y="4483100"/>
            <a:ext cx="2146300" cy="1970088"/>
            <a:chOff x="3969" y="2824"/>
            <a:chExt cx="1352" cy="1241"/>
          </a:xfrm>
        </p:grpSpPr>
        <p:sp>
          <p:nvSpPr>
            <p:cNvPr id="37900" name="Line 19"/>
            <p:cNvSpPr>
              <a:spLocks noChangeShapeType="1"/>
            </p:cNvSpPr>
            <p:nvPr/>
          </p:nvSpPr>
          <p:spPr bwMode="auto">
            <a:xfrm flipV="1">
              <a:off x="4206" y="3075"/>
              <a:ext cx="0" cy="7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7901" name="Line 20"/>
            <p:cNvSpPr>
              <a:spLocks noChangeShapeType="1"/>
            </p:cNvSpPr>
            <p:nvPr/>
          </p:nvSpPr>
          <p:spPr bwMode="auto">
            <a:xfrm rot="5400000" flipV="1">
              <a:off x="4633" y="3379"/>
              <a:ext cx="6" cy="8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7902" name="Freeform 21"/>
            <p:cNvSpPr>
              <a:spLocks/>
            </p:cNvSpPr>
            <p:nvPr/>
          </p:nvSpPr>
          <p:spPr bwMode="auto">
            <a:xfrm rot="5400000" flipH="1">
              <a:off x="4208" y="3253"/>
              <a:ext cx="571" cy="563"/>
            </a:xfrm>
            <a:custGeom>
              <a:avLst/>
              <a:gdLst>
                <a:gd name="T0" fmla="*/ 0 w 563"/>
                <a:gd name="T1" fmla="*/ 2158 h 450"/>
                <a:gd name="T2" fmla="*/ 0 w 563"/>
                <a:gd name="T3" fmla="*/ 0 h 450"/>
                <a:gd name="T4" fmla="*/ 621 w 563"/>
                <a:gd name="T5" fmla="*/ 2158 h 450"/>
                <a:gd name="T6" fmla="*/ 0 w 563"/>
                <a:gd name="T7" fmla="*/ 2158 h 45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63"/>
                <a:gd name="T13" fmla="*/ 0 h 450"/>
                <a:gd name="T14" fmla="*/ 563 w 563"/>
                <a:gd name="T15" fmla="*/ 450 h 45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63" h="450">
                  <a:moveTo>
                    <a:pt x="0" y="450"/>
                  </a:moveTo>
                  <a:lnTo>
                    <a:pt x="0" y="0"/>
                  </a:lnTo>
                  <a:lnTo>
                    <a:pt x="563" y="450"/>
                  </a:lnTo>
                  <a:lnTo>
                    <a:pt x="0" y="450"/>
                  </a:lnTo>
                  <a:close/>
                </a:path>
              </a:pathLst>
            </a:custGeom>
            <a:noFill/>
            <a:ln w="38100" cmpd="sng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7903" name="Text Box 22"/>
            <p:cNvSpPr txBox="1">
              <a:spLocks noChangeArrowheads="1"/>
            </p:cNvSpPr>
            <p:nvPr/>
          </p:nvSpPr>
          <p:spPr bwMode="auto">
            <a:xfrm>
              <a:off x="4067" y="2824"/>
              <a:ext cx="19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fr-FR" altLang="fr-FR" sz="2000"/>
                <a:t>v</a:t>
              </a:r>
            </a:p>
          </p:txBody>
        </p:sp>
        <p:sp>
          <p:nvSpPr>
            <p:cNvPr id="37904" name="Text Box 23"/>
            <p:cNvSpPr txBox="1">
              <a:spLocks noChangeArrowheads="1"/>
            </p:cNvSpPr>
            <p:nvPr/>
          </p:nvSpPr>
          <p:spPr bwMode="auto">
            <a:xfrm>
              <a:off x="5125" y="3665"/>
              <a:ext cx="19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fr-FR" altLang="fr-FR" sz="2000"/>
                <a:t>u</a:t>
              </a:r>
            </a:p>
          </p:txBody>
        </p:sp>
        <p:sp>
          <p:nvSpPr>
            <p:cNvPr id="37905" name="Text Box 24"/>
            <p:cNvSpPr txBox="1">
              <a:spLocks noChangeArrowheads="1"/>
            </p:cNvSpPr>
            <p:nvPr/>
          </p:nvSpPr>
          <p:spPr bwMode="auto">
            <a:xfrm>
              <a:off x="4697" y="3815"/>
              <a:ext cx="19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fr-FR" altLang="fr-FR" sz="2000"/>
                <a:t>1</a:t>
              </a:r>
            </a:p>
          </p:txBody>
        </p:sp>
        <p:sp>
          <p:nvSpPr>
            <p:cNvPr id="37906" name="Text Box 25"/>
            <p:cNvSpPr txBox="1">
              <a:spLocks noChangeArrowheads="1"/>
            </p:cNvSpPr>
            <p:nvPr/>
          </p:nvSpPr>
          <p:spPr bwMode="auto">
            <a:xfrm>
              <a:off x="3969" y="3125"/>
              <a:ext cx="19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fr-FR" altLang="fr-FR" sz="2000"/>
                <a:t>1</a:t>
              </a:r>
            </a:p>
          </p:txBody>
        </p:sp>
        <p:sp>
          <p:nvSpPr>
            <p:cNvPr id="37907" name="Oval 26"/>
            <p:cNvSpPr>
              <a:spLocks noChangeArrowheads="1"/>
            </p:cNvSpPr>
            <p:nvPr/>
          </p:nvSpPr>
          <p:spPr bwMode="auto">
            <a:xfrm>
              <a:off x="4501" y="3683"/>
              <a:ext cx="68" cy="68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fr-FR" altLang="fr-FR" sz="2400"/>
            </a:p>
          </p:txBody>
        </p:sp>
        <p:sp>
          <p:nvSpPr>
            <p:cNvPr id="37908" name="Oval 27"/>
            <p:cNvSpPr>
              <a:spLocks noChangeArrowheads="1"/>
            </p:cNvSpPr>
            <p:nvPr/>
          </p:nvSpPr>
          <p:spPr bwMode="auto">
            <a:xfrm>
              <a:off x="4283" y="3681"/>
              <a:ext cx="68" cy="68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fr-FR" altLang="fr-FR" sz="2400"/>
            </a:p>
          </p:txBody>
        </p:sp>
        <p:sp>
          <p:nvSpPr>
            <p:cNvPr id="37909" name="Oval 28"/>
            <p:cNvSpPr>
              <a:spLocks noChangeArrowheads="1"/>
            </p:cNvSpPr>
            <p:nvPr/>
          </p:nvSpPr>
          <p:spPr bwMode="auto">
            <a:xfrm>
              <a:off x="4276" y="3473"/>
              <a:ext cx="68" cy="68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fr-FR" altLang="fr-FR" sz="2400"/>
            </a:p>
          </p:txBody>
        </p:sp>
      </p:grpSp>
      <p:sp>
        <p:nvSpPr>
          <p:cNvPr id="37898" name="Text Box 29"/>
          <p:cNvSpPr txBox="1">
            <a:spLocks noChangeArrowheads="1"/>
          </p:cNvSpPr>
          <p:nvPr/>
        </p:nvSpPr>
        <p:spPr bwMode="auto">
          <a:xfrm>
            <a:off x="611188" y="260350"/>
            <a:ext cx="68564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fr-FR" altLang="fr-FR" sz="2400" b="1">
                <a:solidFill>
                  <a:srgbClr val="FF0000"/>
                </a:solidFill>
                <a:latin typeface="Arial" panose="020B0604020202020204" pitchFamily="34" charset="0"/>
              </a:rPr>
              <a:t>INTÉGRATION 2D dans l’élément de référence</a:t>
            </a:r>
          </a:p>
        </p:txBody>
      </p:sp>
      <p:sp>
        <p:nvSpPr>
          <p:cNvPr id="37899" name="Espace réservé du numéro de diapositive 3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ADA84BB-00E2-46E9-9888-5F29AC4726D6}" type="slidenum">
              <a:rPr lang="fr-FR" altLang="fr-FR" sz="1400"/>
              <a:pPr>
                <a:spcBef>
                  <a:spcPct val="0"/>
                </a:spcBef>
                <a:buFontTx/>
                <a:buNone/>
              </a:pPr>
              <a:t>32</a:t>
            </a:fld>
            <a:endParaRPr lang="fr-FR" altLang="fr-FR" sz="1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10.1613"/>
  <p:tag name="ORIGINALWIDTH" val="4287.964"/>
  <p:tag name="OUTPUTTYPE" val="PNG"/>
  <p:tag name="IGUANATEXVERSION" val="160"/>
  <p:tag name="LATEXADDIN" val="\documentclass{article}&#10;\usepackage{amsmath}&#10;\pagestyle{empty}&#10;\begin{document}&#10;&#10;\subsection*{But : évaluer $\int_a^b f(x) dx$ numériquement où f(x) analytique}&#10;&#10;On suppose que $f$ est continue et dérivable sur $[a, b]$.&#10;&#10;\noindent&#10;On définit une transformation géométrique affine permettant de passer d’un intervalle de référence &#10;$u \in [-1, 1]$ à l’intervalle réel $x \in [a, b]$.&#10;&#10;&#10;&#10;\end{document}"/>
  <p:tag name="IGUANATEXSIZE" val="18"/>
  <p:tag name="IGUANATEXCURSOR" val="159"/>
  <p:tag name="TRANSPARENCY" val="Vrai"/>
  <p:tag name="FILENAME" val=""/>
  <p:tag name="LATEXENGINEID" val="0"/>
  <p:tag name="TEMPFOLDER" val="c:\temp\"/>
  <p:tag name="LATEXFORMHEIGHT" val="320"/>
  <p:tag name="LATEXFORMWIDTH" val="385"/>
  <p:tag name="LATEXFORMWRAP" val="Vrai"/>
  <p:tag name="BITMAPVECTOR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022.122"/>
  <p:tag name="ORIGINALWIDTH" val="4475.44"/>
  <p:tag name="OUTPUTTYPE" val="PNG"/>
  <p:tag name="IGUANATEXVERSION" val="160"/>
  <p:tag name="LATEXADDIN" val="\documentclass{article}&#10;\usepackage{amsmath}&#10;\pagestyle{empty}&#10;\begin{document}&#10;&#10;\[&#10;\boxed{&#10;\int_a^b f(x)\,dx &#10;= \frac{b-a}{2} \int_{-1}^{1} f\!\big(T(u)\big)\,du&#10;= \frac{b-a}{2} \sum_{k=1}^{\text{NPI}} w_k\, f\!\big(T(u_k)\big)&#10;= \frac{b-a}{2} \sum_{k=1}^{\text{NPI}} w_k\, g(u_k)&#10;}&#10;\]&#10;avec $g = f \circ T$.&#10;&#10;\noindent&#10;Le nombre d'abscisses $u_k \in [-1, 1]$ et de poids $w_k$ dépend de la méthode d'intégration et de la précision souhaitée.&#10;\end{document}"/>
  <p:tag name="IGUANATEXSIZE" val="18"/>
  <p:tag name="IGUANATEXCURSOR" val="442"/>
  <p:tag name="TRANSPARENCY" val="Vrai"/>
  <p:tag name="FILENAME" val=""/>
  <p:tag name="LATEXENGINEID" val="0"/>
  <p:tag name="TEMPFOLDER" val="c:\temp\"/>
  <p:tag name="LATEXFORMHEIGHT" val="320"/>
  <p:tag name="LATEXFORMWIDTH" val="385"/>
  <p:tag name="LATEXFORMWRAP" val="Vrai"/>
  <p:tag name="BITMAPVECTOR" val="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474.6906"/>
  <p:tag name="ORIGINALWIDTH" val="1526.059"/>
  <p:tag name="OUTPUTTYPE" val="PNG"/>
  <p:tag name="IGUANATEXVERSION" val="160"/>
  <p:tag name="LATEXADDIN" val="\documentclass{article}&#10;\usepackage{amsmath}&#10;\pagestyle{empty}&#10;\begin{document}&#10;&#10;\[&#10;\boxed{&#10; \int_{-1}^{1} g\!\big(u\big)\,du&#10;= \sum_{k=1}^{\text{NPI}} w_k\, g(u_k)&#10;}&#10;\]&#10;&#10;\end{document}"/>
  <p:tag name="IGUANATEXSIZE" val="18"/>
  <p:tag name="IGUANATEXCURSOR" val="170"/>
  <p:tag name="TRANSPARENCY" val="Vrai"/>
  <p:tag name="FILENAME" val=""/>
  <p:tag name="LATEXENGINEID" val="0"/>
  <p:tag name="TEMPFOLDER" val="c:\temp\"/>
  <p:tag name="LATEXFORMHEIGHT" val="320"/>
  <p:tag name="LATEXFORMWIDTH" val="385"/>
  <p:tag name="LATEXFORMWRAP" val="Vrai"/>
  <p:tag name="BITMAPVECTOR" val="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421.822"/>
  <p:tag name="ORIGINALWIDTH" val="4764.154"/>
  <p:tag name="OUTPUTTYPE" val="PNG"/>
  <p:tag name="IGUANATEXVERSION" val="160"/>
  <p:tag name="LATEXADDIN" val="\documentclass{article}&#10;\usepackage{amsmath}&#10;\pagestyle{empty}&#10;\usepackage{amsmath}&#10;\usepackage{array}&#10;\usepackage{booktabs}&#10;\usepackage{multirow}&#10;\usepackage{caption}&#10;&#10;\begin{document}&#10;&#10;\begin{table*}[h!]&#10;\centering&#10;%\caption*{Formules de Newton-Cotes pour l'intégration sur [-1, 1]}&#10;\begin{tabular}{|c|c|c|c|c|}&#10;\hline&#10;\textbf{Nombre de points} &amp; \textbf{Nom} &amp; \textbf{Abscisses} &amp; \textbf{Poids} &amp; \textbf{Deg. polyn. exact} \\[0.2em]&#10;\hline&#10;\multirow{1}{*}{1} &amp; Rectangle &amp; $u_1 = 0$ &amp; $w_1 = 2$ &amp; 1 \\[0.2em]&#10;&amp; (point milieu) &amp; &amp; &amp; \\[0.2em]&#10;\hline&#10;\multirow{2}{*}{2} &amp; \multirow{2}{*}{Trapèze} &amp; $u_1 = -1$ &amp; $w_1 = 1$ &amp; \multirow{2}{*}{1} \\[0.2em]&#10;&amp; &amp; $u_2 = 1$ &amp; $w_2 = 1$ &amp; \\[0.2em]&#10;\hline&#10;\multirow{3}{*}{3} &amp; \multirow{3}{*}{Simpson} &amp; $u_1 = -1$ &amp; $w_1 = \frac{1}{3}$ &amp; \multirow{3}{*}{3} \\[0.2em]&#10;&amp; &amp; $u_2 = 0$ &amp; $w_2 = \frac{4}{3}$ &amp; \\[0.2em]&#10;&amp; &amp; $u_3 = 1$ &amp; $w_3 = \frac{1}{3}$ &amp; \\[0.2em]&#10;\hline&#10;\end{tabular}&#10;\end{table*}&#10;&#10;\end{document}"/>
  <p:tag name="IGUANATEXSIZE" val="16"/>
  <p:tag name="IGUANATEXCURSOR" val="492"/>
  <p:tag name="TRANSPARENCY" val="Vrai"/>
  <p:tag name="FILENAME" val=""/>
  <p:tag name="LATEXENGINEID" val="0"/>
  <p:tag name="TEMPFOLDER" val="c:\temp\"/>
  <p:tag name="LATEXFORMHEIGHT" val="320"/>
  <p:tag name="LATEXFORMWIDTH" val="385"/>
  <p:tag name="LATEXFORMWRAP" val="Vrai"/>
  <p:tag name="BITMAPVECTOR" val="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751.781"/>
  <p:tag name="ORIGINALWIDTH" val="4475.44"/>
  <p:tag name="OUTPUTTYPE" val="PNG"/>
  <p:tag name="IGUANATEXVERSION" val="160"/>
  <p:tag name="LATEXADDIN" val="\documentclass{article}&#10;\usepackage{amsmath}&#10;\pagestyle{empty}&#10;\usepackage{amsmath}&#10;\usepackage{array}&#10;\usepackage{booktabs}&#10;\usepackage{multirow}&#10;\usepackage{caption}&#10;&#10;\begin{document}&#10;&#10;&#10;\begin{table*}[h!]&#10;\centering&#10;%\caption*{Formules de Gauss-Legendre pour l'intégration sur [-1, 1]}&#10;\begin{tabular}{|c|c|c|c|}&#10;\hline&#10;\textbf{Nombre de points} &amp; \textbf{Abscisses} &amp; \textbf{Poids} &amp; \textbf{Deg. polyn. exact} \\&#10;\hline&#10;\multirow{1}{*}{1} &amp; $u_1 = 0$ &amp; $w_1 = 2$ &amp; 1 \\&#10;&amp; &amp; &amp; \\&#10;\hline&#10;\multirow{2}{*}{2} &amp; $u_1 = -\frac{1}{\sqrt{3}} \approx -0.5774$ &amp; $w_1 = 1$ &amp; \multirow{2}{*}{3} \\&#10;&amp; $u_2 = \frac{1}{\sqrt{3}} \approx 0.5774$ &amp; $w_2 = 1$ &amp; \\&#10;\hline&#10;\multirow{3}{*}{3} &amp; $u_1 = -\sqrt{\frac{3}{5}} \approx -0.7746$ &amp; $w_1 = \frac{5}{9}$ &amp; \multirow{3}{*}{5} \\&#10;&amp; $u_2 = 0$ &amp; $w_2 = \frac{8}{9}$ &amp; \\&#10;&amp; $u_3 = \sqrt{\frac{3}{5}} \approx 0.7746$ &amp; $w_3 = \frac{5}{9}$ &amp; \\&#10;\hline&#10;\end{tabular}&#10;\end{table*}&#10;Voir détails dans le document supplémentaire integ1D\_Gauss\_Legendre.pdf&#10;\end{document}"/>
  <p:tag name="IGUANATEXSIZE" val="16"/>
  <p:tag name="IGUANATEXCURSOR" val="988"/>
  <p:tag name="TRANSPARENCY" val="Faux"/>
  <p:tag name="FILENAME" val=""/>
  <p:tag name="LATEXENGINEID" val="0"/>
  <p:tag name="TEMPFOLDER" val="c:\temp\"/>
  <p:tag name="LATEXFORMHEIGHT" val="320"/>
  <p:tag name="LATEXFORMWIDTH" val="385"/>
  <p:tag name="LATEXFORMWRAP" val="Vrai"/>
  <p:tag name="BITMAPVECTOR" val="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49.9813"/>
  <p:tag name="ORIGINALWIDTH" val="3930.259"/>
  <p:tag name="OUTPUTTYPE" val="PNG"/>
  <p:tag name="IGUANATEXVERSION" val="160"/>
  <p:tag name="LATEXADDIN" val="\documentclass{article}&#10;\usepackage{amsmath}&#10;\pagestyle{empty}&#10;\begin{document}&#10;&#10;\subsection*{Intégration numérique d'une fonction $f(u)$ dans $[-1, 1]$}&#10;&#10;\end{document}"/>
  <p:tag name="IGUANATEXSIZE" val="18"/>
  <p:tag name="IGUANATEXCURSOR" val="144"/>
  <p:tag name="TRANSPARENCY" val="Vrai"/>
  <p:tag name="FILENAME" val=""/>
  <p:tag name="LATEXENGINEID" val="0"/>
  <p:tag name="TEMPFOLDER" val="c:\temp\"/>
  <p:tag name="LATEXFORMHEIGHT" val="320"/>
  <p:tag name="LATEXFORMWIDTH" val="385"/>
  <p:tag name="LATEXFORMWRAP" val="Vrai"/>
  <p:tag name="BITMAPVECTOR" val="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65.9543"/>
  <p:tag name="ORIGINALWIDTH" val="1576.303"/>
  <p:tag name="OUTPUTTYPE" val="PNG"/>
  <p:tag name="IGUANATEXVERSION" val="160"/>
  <p:tag name="LATEXADDIN" val="\documentclass{article}&#10;\usepackage{amsmath}&#10;\pagestyle{empty}&#10;\begin{document}&#10;&#10;$$&#10;\int_{-1}^{+1} \; du \; g(u) = \sum_{k=1}^\text{NPI} \; w_k\; g(u_k)&#10;$$&#10;&#10;&#10;\end{document}"/>
  <p:tag name="IGUANATEXSIZE" val="18"/>
  <p:tag name="IGUANATEXCURSOR" val="147"/>
  <p:tag name="TRANSPARENCY" val="Vrai"/>
  <p:tag name="FILENAME" val=""/>
  <p:tag name="LATEXENGINEID" val="0"/>
  <p:tag name="TEMPFOLDER" val="c:\temp\"/>
  <p:tag name="LATEXFORMHEIGHT" val="320"/>
  <p:tag name="LATEXFORMWIDTH" val="385"/>
  <p:tag name="LATEXFORMWRAP" val="Vrai"/>
  <p:tag name="BITMAPVECTOR" val="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900.637"/>
  <p:tag name="ORIGINALWIDTH" val="4760.405"/>
  <p:tag name="OUTPUTTYPE" val="PNG"/>
  <p:tag name="IGUANATEXVERSION" val="160"/>
  <p:tag name="LATEXADDIN" val="\documentclass{article}&#10;\usepackage{amsmath}&#10;\usepackage[paperwidth=20cm]{geometry}&#10;\pagestyle{empty}&#10;\begin{document}&#10;&#10;\textbf{Newton--Cotes :}&#10;\begin{itemize}&#10;  \item Simple à implémenter : points équidistants, adapté aux données tabulées.&#10;  \item Certaines formules (ex.~Simpson) offrent une bonne précision.&#10;  \item Inconvénients : convergence lente, instabilité pour beaucoup de points (Runge), efficacité limitée.&#10;\end{itemize}&#10;&#10;\textbf{Gauss--Legendre :}&#10;\begin{itemize}&#10;  \item Précision optimale : $n$ points $\Rightarrow$ exact pour les polynômes de degré $\leq 2n-1$.&#10;  \item Convergence rapide et bonne stabilité numérique.&#10;  \item Inconvénients : calcul préalable des abscisses/poids, implémentation plus complexe, non adapté aux données tabulées.&#10;\end{itemize}&#10;&#10;\textbf{En pratique :}&#10;\begin{itemize}&#10;  \item Newton--Cotes : données régulièrement espacées, intégrations simples.&#10;  \item Gauss--Legendre : intégrants lisses, calculs de haute précision.&#10;\end{itemize}&#10;&#10;\end{document}&#10;"/>
  <p:tag name="IGUANATEXSIZE" val="18"/>
  <p:tag name="IGUANATEXCURSOR" val="70"/>
  <p:tag name="TRANSPARENCY" val="Vrai"/>
  <p:tag name="FILENAME" val=""/>
  <p:tag name="LATEXENGINEID" val="0"/>
  <p:tag name="TEMPFOLDER" val="c:\temp\"/>
  <p:tag name="LATEXFORMHEIGHT" val="393"/>
  <p:tag name="LATEXFORMWIDTH" val="549"/>
  <p:tag name="LATEXFORMWRAP" val="Vrai"/>
  <p:tag name="BITMAPVECTOR" val="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388.826"/>
  <p:tag name="ORIGINALWIDTH" val="4284.964"/>
  <p:tag name="OUTPUTTYPE" val="PNG"/>
  <p:tag name="IGUANATEXVERSION" val="160"/>
  <p:tag name="LATEXADDIN" val="\documentclass{article}&#10;\usepackage{amsmath}&#10;\pagestyle{empty}&#10;\usepackage{amsmath,amssymb}&#10;\usepackage[french]{babel}&#10;&#10;\begin{document}&#10;&#10;\subsection*{Evolution de l'erreur d'intégration en fonction du nombre de sous-intervalles avec la méthode des rectangles}&#10;&#10;On découpe l'intervalle $[a,b]$ en $N$ sous-intervalles de longueur :&#10;$&#10;h = \frac{b-a}{N}.&#10;$&#10;&#10;La fonction f est supposée $C_\infty$.&#10;&#10;\subsection*{Erreur locale :}&#10;&#10;Sur chaque sous-intervalle $[x_i, x_{i+1}]$, l'erreur locale s'écrit&#10;\[&#10;E_i = \frac{h^3}{24} f''(\xi_i), &#10;\quad \xi_i \in [x_i, x_{i+1}].&#10;\]&#10;&#10;\subsection*{Erreur globale :}&#10;&#10;En sommant sur les $N$ sous-intervalles :&#10;\[&#10;E_{\text{total}} = \sum_{i=0}^{N-1} E_i &#10;= \sum_{i=0}^{N-1} \frac{h^3}{24} f''(\xi_i).&#10;\]&#10;&#10;Par le théorème de la valeur intermédiaire, il existe $\xi \in [a,b]$ tel que&#10;\[&#10;E_{\text{total}} = &#10;N \cdot \frac{h^3}{24} f''(\xi).&#10;\]&#10;&#10;&#10;\end{document}&#10;"/>
  <p:tag name="IGUANATEXSIZE" val="18"/>
  <p:tag name="IGUANATEXCURSOR" val="395"/>
  <p:tag name="TRANSPARENCY" val="Vrai"/>
  <p:tag name="FILENAME" val=""/>
  <p:tag name="LATEXENGINEID" val="0"/>
  <p:tag name="TEMPFOLDER" val="c:\temp\"/>
  <p:tag name="LATEXFORMHEIGHT" val="405"/>
  <p:tag name="LATEXFORMWIDTH" val="600.75"/>
  <p:tag name="LATEXFORMWRAP" val="Vrai"/>
  <p:tag name="BITMAPVECTOR" val="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298.088"/>
  <p:tag name="ORIGINALWIDTH" val="4287.964"/>
  <p:tag name="OUTPUTTYPE" val="PNG"/>
  <p:tag name="IGUANATEXVERSION" val="160"/>
  <p:tag name="LATEXADDIN" val="\documentclass{article}&#10;\usepackage{amsmath}&#10;\usepackage{xcolor}&#10;\pagestyle{empty}&#10;\usepackage{amsmath,amssymb}&#10;\usepackage[french]{babel}&#10;&#10;\begin{document}&#10;&#10;&#10;Comme $N \cdot h = b-a$ et $h = \tfrac{b-a}{N}$, on obtient&#10;\[&#10;E_{\text{total}} &#10;= \frac{(b-a) \cdot h^2}{24} f''(\xi) &#10;= \frac{(b-a)^3}{24 N^2} f''(\xi).&#10;\]&#10;&#10;\subsection*{Évolution de l'erreur :}&#10;&#10;Ainsi, l'erreur d'intégration évolue comme&#10;\[&#10;E_{\text{total}} = \mathcal{O}\!\left(\frac{1}{N^2}\right).&#10;\]&#10;&#10;\subsection*{Conséquences pratiques :}&#10;&#10;\begin{itemize}&#10;  \item Pour diviser l'erreur par 4, il faut multiplier $N$ par 2.&#10;  \item Pour diviser l'erreur par 100, il faut multiplier $N$ par 10.&#10;  \item La convergence est d'ordre 2 en fonction du nombre de subdivisions.&#10;\end{itemize}&#10;&#10;\subsection*{Conclusion :}&#10;{\color{red}&#10;Il est préférable de découper l'intervalle $[a, b]$ en sous-intervalles de longueur de plus en plus petite et de mettre en oeuvre la méthode de Gauss avec 2 points de Gauss  que d'utiliser une méthode d'intégration d'ordre très élevé.}&#10;&#10;\end{document}&#10;"/>
  <p:tag name="IGUANATEXSIZE" val="18"/>
  <p:tag name="IGUANATEXCURSOR" val="941"/>
  <p:tag name="TRANSPARENCY" val="Vrai"/>
  <p:tag name="FILENAME" val=""/>
  <p:tag name="LATEXENGINEID" val="0"/>
  <p:tag name="TEMPFOLDER" val="c:\temp\"/>
  <p:tag name="LATEXFORMHEIGHT" val="378"/>
  <p:tag name="LATEXFORMWIDTH" val="517.5"/>
  <p:tag name="LATEXFORMWRAP" val="Vrai"/>
  <p:tag name="BITMAPVECTOR" val="0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795.65"/>
  <p:tag name="ORIGINALWIDTH" val="4453.693"/>
  <p:tag name="OUTPUTTYPE" val="PNG"/>
  <p:tag name="IGUANATEXVERSION" val="160"/>
  <p:tag name="LATEXADDIN" val="\documentclass{article}&#10;\usepackage{amsmath}&#10;\usepackage[paperwidth=18cm]{geometry}&#10;\pagestyle{empty}&#10;\begin{document}&#10;\subsection*{But : évaluer $\int_a^b f(x) dx$ numériquement où f(x) est interpolée}&#10;On suppose que la grandeur $f$ est échantillonnée en N+1 noeuds d'abscisses $x_i$. On obtient un tableau de mesures $(x_i, y_i)$ où $i \in [1, N+1]$.&#10;\subsubsection*{La pire méthode: interpolée de degré N}&#10;Elle consiste à faire passer un polynômes de degré N par tous les points de mesure:&#10;$$P_N(x) = \sum_{i=0}^N \; L_i^{(N)}(x) \; y_i $$&#10;&#10;\subsubsection*{Polynômes de Lagrange}&#10;&#10;Les polynômes de Lagrange $L_i^{(N)}(x)$ de degré N sont définis par :&#10;&#10;$$L_i^{(N)}(x) = \prod_{\substack{j=0 \\ j \neq i}}^N \frac{x - x_j}{x_i - x_j}$$&#10;&#10;&#10;&#10;&#10;\end{document}"/>
  <p:tag name="IGUANATEXSIZE" val="18"/>
  <p:tag name="IGUANATEXCURSOR" val="739"/>
  <p:tag name="TRANSPARENCY" val="Vrai"/>
  <p:tag name="FILENAME" val=""/>
  <p:tag name="LATEXENGINEID" val="0"/>
  <p:tag name="TEMPFOLDER" val="c:\temp\"/>
  <p:tag name="LATEXFORMHEIGHT" val="412.5"/>
  <p:tag name="LATEXFORMWIDTH" val="577.5"/>
  <p:tag name="LATEXFORMWRAP" val="Vrai"/>
  <p:tag name="BITMAPVECTOR" val="0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20.847"/>
  <p:tag name="ORIGINALWIDTH" val="4455.193"/>
  <p:tag name="OUTPUTTYPE" val="PNG"/>
  <p:tag name="IGUANATEXVERSION" val="160"/>
  <p:tag name="LATEXADDIN" val="\documentclass{article}&#10;\usepackage{amsmath}&#10;\usepackage{xcolor}&#10;\usepackage[paperwidth=18cm]{geometry}&#10;\pagestyle{empty}&#10;\begin{document}&#10;&#10;Ces polynômes possèdent les propriétés fondamentales suivantes :&#10;$$\sum_{i=0}^N L_i(x) =1 \quad \forall x \in [a, b] \quad \text{et} \quad&#10;L_i^{(N)}(x_j) = \delta_{ij} = \begin{cases} &#10;1 &amp; \text{si } i = j \\&#10;0 &amp; \text{si } i \neq j&#10;\end{cases}.$$&#10;Par conséquent, on vérifie que $P_N(x_i) \equiv y_i$.&#10; &#10;{\color{red}&#10;Les valeurs prises par les polynômes de Lagrange $L_i^{(N&gt;1)}(x)$ de degré 2 voire supérieur ne sont pas nécessairement confinées à l’intervalle [0,1].}&#10;&#10;\end{document}"/>
  <p:tag name="IGUANATEXSIZE" val="18"/>
  <p:tag name="IGUANATEXCURSOR" val="257"/>
  <p:tag name="TRANSPARENCY" val="Vrai"/>
  <p:tag name="FILENAME" val=""/>
  <p:tag name="LATEXENGINEID" val="0"/>
  <p:tag name="TEMPFOLDER" val="c:\temp\"/>
  <p:tag name="LATEXFORMHEIGHT" val="412.5"/>
  <p:tag name="LATEXFORMWIDTH" val="577.5"/>
  <p:tag name="LATEXFORMWRAP" val="Vrai"/>
  <p:tag name="BITMAPVECTOR" val="0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565.4293"/>
  <p:tag name="OUTPUTTYPE" val="PNG"/>
  <p:tag name="IGUANATEXVERSION" val="160"/>
  <p:tag name="LATEXADDIN" val="\documentclass{article}&#10;\usepackage{amsmath}&#10;\pagestyle{empty}&#10;\begin{document}&#10;&#10;$$&#10;x = [-1, 1]&#10;$$&#10;&#10;&#10;\end{document}"/>
  <p:tag name="IGUANATEXSIZE" val="18"/>
  <p:tag name="IGUANATEXCURSOR" val="95"/>
  <p:tag name="TRANSPARENCY" val="Vrai"/>
  <p:tag name="FILENAME" val=""/>
  <p:tag name="LATEXENGINEID" val="0"/>
  <p:tag name="TEMPFOLDER" val="c:\temp\"/>
  <p:tag name="LATEXFORMHEIGHT" val="320"/>
  <p:tag name="LATEXFORMWIDTH" val="385"/>
  <p:tag name="LATEXFORMWRAP" val="Vrai"/>
  <p:tag name="BITMAPVECTOR" val="0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779.9025"/>
  <p:tag name="OUTPUTTYPE" val="PNG"/>
  <p:tag name="IGUANATEXVERSION" val="160"/>
  <p:tag name="LATEXADDIN" val="\documentclass{article}&#10;\usepackage{amsmath}&#10;\pagestyle{empty}&#10;\begin{document}&#10;&#10;$$&#10;x = [-1, 0.5, 1]&#10;$$&#10;&#10;&#10;\end{document}"/>
  <p:tag name="IGUANATEXSIZE" val="18"/>
  <p:tag name="IGUANATEXCURSOR" val="98"/>
  <p:tag name="TRANSPARENCY" val="Vrai"/>
  <p:tag name="FILENAME" val=""/>
  <p:tag name="LATEXENGINEID" val="0"/>
  <p:tag name="TEMPFOLDER" val="c:\temp\"/>
  <p:tag name="LATEXFORMHEIGHT" val="320"/>
  <p:tag name="LATEXFORMWIDTH" val="385"/>
  <p:tag name="LATEXFORMWRAP" val="Vrai"/>
  <p:tag name="BITMAPVECTOR" val="0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52.7184"/>
  <p:tag name="ORIGINALWIDTH" val="848.8939"/>
  <p:tag name="OUTPUTTYPE" val="PNG"/>
  <p:tag name="IGUANATEXVERSION" val="160"/>
  <p:tag name="LATEXADDIN" val="\documentclass{article}&#10;\usepackage{amsmath}&#10;\usepackage{xcolor}&#10;\pagestyle{empty}&#10;\begin{document}&#10;&#10;{\color{red}&#10;$$&#10;L_0^{(1)}(x) = \frac{1-x}{2}&#10;$$&#10;}&#10;&#10;\end{document}"/>
  <p:tag name="IGUANATEXSIZE" val="16"/>
  <p:tag name="IGUANATEXCURSOR" val="150"/>
  <p:tag name="TRANSPARENCY" val="Faux"/>
  <p:tag name="FILENAME" val=""/>
  <p:tag name="LATEXENGINEID" val="0"/>
  <p:tag name="TEMPFOLDER" val="c:\temp\"/>
  <p:tag name="LATEXFORMHEIGHT" val="320"/>
  <p:tag name="LATEXFORMWIDTH" val="385"/>
  <p:tag name="LATEXFORMWRAP" val="Vrai"/>
  <p:tag name="BITMAPVECTOR" val="0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52.7184"/>
  <p:tag name="ORIGINALWIDTH" val="848.8939"/>
  <p:tag name="OUTPUTTYPE" val="PNG"/>
  <p:tag name="IGUANATEXVERSION" val="160"/>
  <p:tag name="LATEXADDIN" val="\documentclass{article}&#10;\usepackage{amsmath}&#10;\usepackage{xcolor}&#10;\pagestyle{empty}&#10;\begin{document}&#10;&#10;{\color{blue}&#10;$$&#10;L_1^{(1)}(x) = \frac{1+x}{2}&#10;$$&#10;}&#10;&#10;\end{document}"/>
  <p:tag name="IGUANATEXSIZE" val="16"/>
  <p:tag name="IGUANATEXCURSOR" val="121"/>
  <p:tag name="TRANSPARENCY" val="Faux"/>
  <p:tag name="FILENAME" val=""/>
  <p:tag name="LATEXENGINEID" val="0"/>
  <p:tag name="TEMPFOLDER" val="c:\temp\"/>
  <p:tag name="LATEXFORMHEIGHT" val="320"/>
  <p:tag name="LATEXFORMWIDTH" val="385"/>
  <p:tag name="LATEXFORMWRAP" val="Vrai"/>
  <p:tag name="BITMAPVECTOR" val="0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66.2167"/>
  <p:tag name="ORIGINALWIDTH" val="1390.326"/>
  <p:tag name="OUTPUTTYPE" val="PNG"/>
  <p:tag name="IGUANATEXVERSION" val="160"/>
  <p:tag name="LATEXADDIN" val="\documentclass{article}&#10;\usepackage{amsmath}&#10;\usepackage{xcolor}&#10;\pagestyle{empty}&#10;\begin{document}&#10;&#10;{\color{red}&#10;$$&#10;L_0^{(2)}(x) = \frac{(1-x)(1-2x)}{6}&#10;$$&#10;}&#10;&#10;\end{document}"/>
  <p:tag name="IGUANATEXSIZE" val="14"/>
  <p:tag name="IGUANATEXCURSOR" val="124"/>
  <p:tag name="TRANSPARENCY" val="Faux"/>
  <p:tag name="FILENAME" val=""/>
  <p:tag name="LATEXENGINEID" val="0"/>
  <p:tag name="TEMPFOLDER" val="c:\temp\"/>
  <p:tag name="LATEXFORMHEIGHT" val="320"/>
  <p:tag name="LATEXFORMWIDTH" val="385"/>
  <p:tag name="LATEXFORMWRAP" val="Vrai"/>
  <p:tag name="BITMAPVECTOR" val="0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63.2171"/>
  <p:tag name="ORIGINALWIDTH" val="1390.326"/>
  <p:tag name="OUTPUTTYPE" val="PNG"/>
  <p:tag name="IGUANATEXVERSION" val="160"/>
  <p:tag name="LATEXADDIN" val="\documentclass{article}&#10;\usepackage{amsmath}&#10;\usepackage{xcolor}&#10;\pagestyle{empty}&#10;\begin{document}&#10;&#10;{\color{blue}&#10;$$&#10;L_2^{(2)}(x) = \frac{(1+x)(2x-1)}{2}&#10;$$&#10;}&#10;&#10;\end{document}"/>
  <p:tag name="IGUANATEXSIZE" val="14"/>
  <p:tag name="IGUANATEXCURSOR" val="113"/>
  <p:tag name="TRANSPARENCY" val="Faux"/>
  <p:tag name="FILENAME" val=""/>
  <p:tag name="LATEXENGINEID" val="0"/>
  <p:tag name="TEMPFOLDER" val="c:\temp\"/>
  <p:tag name="LATEXFORMHEIGHT" val="320"/>
  <p:tag name="LATEXFORMWIDTH" val="385"/>
  <p:tag name="LATEXFORMWRAP" val="Vrai"/>
  <p:tag name="BITMAPVECTOR" val="0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66.2167"/>
  <p:tag name="ORIGINALWIDTH" val="1390.326"/>
  <p:tag name="OUTPUTTYPE" val="PNG"/>
  <p:tag name="IGUANATEXVERSION" val="160"/>
  <p:tag name="LATEXADDIN" val="\documentclass{article}&#10;\usepackage{amsmath}&#10;\usepackage[dvipsnames]{xcolor}&#10;\pagestyle{empty}&#10;\begin{document}&#10;&#10;{\color{OliveGreen}&#10;$$&#10;L_1^{(2)}(x) = \frac{4(1+x)(1-x)}{3}&#10;$$&#10;}&#10;&#10;\end{document}"/>
  <p:tag name="IGUANATEXSIZE" val="14"/>
  <p:tag name="IGUANATEXCURSOR" val="126"/>
  <p:tag name="TRANSPARENCY" val="Faux"/>
  <p:tag name="FILENAME" val=""/>
  <p:tag name="LATEXENGINEID" val="0"/>
  <p:tag name="TEMPFOLDER" val="c:\temp\"/>
  <p:tag name="LATEXFORMHEIGHT" val="320"/>
  <p:tag name="LATEXFORMWIDTH" val="385"/>
  <p:tag name="LATEXFORMWRAP" val="Vrai"/>
  <p:tag name="BITMAPVECTOR" val="0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088.114"/>
  <p:tag name="ORIGINALWIDTH" val="2950.881"/>
  <p:tag name="OUTPUTTYPE" val="PNG"/>
  <p:tag name="IGUANATEXVERSION" val="160"/>
  <p:tag name="LATEXADDIN" val="\documentclass{article}&#10;\usepackage{amsmath}&#10;\usepackage[paperwidth=10cm]{geometry}&#10;\pagestyle{empty}&#10;\begin{document}&#10;&#10;\subsubsection*{Pourquoi cette méthode est &quot;la pire&quot; : le phénomène de Runge}&#10;&#10;L'interpolation de Lagrange de degré élevé présente un défaut majeur : les \textbf{oscillations de Runge}. Ce phénomène se manifeste par des oscillations parasites de grande amplitude, particulièrement près des bords de l'intervalle d'interpolation.&#10;&#10;\end{document}"/>
  <p:tag name="IGUANATEXSIZE" val="18"/>
  <p:tag name="IGUANATEXCURSOR" val="70"/>
  <p:tag name="TRANSPARENCY" val="Vrai"/>
  <p:tag name="FILENAME" val=""/>
  <p:tag name="LATEXENGINEID" val="0"/>
  <p:tag name="TEMPFOLDER" val="c:\temp\"/>
  <p:tag name="LATEXFORMHEIGHT" val="419.25"/>
  <p:tag name="LATEXFORMWIDTH" val="618.75"/>
  <p:tag name="LATEXFORMWRAP" val="Vrai"/>
  <p:tag name="BITMAPVECTOR" val="0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410.1987"/>
  <p:tag name="ORIGINALWIDTH" val="2344.957"/>
  <p:tag name="OUTPUTTYPE" val="PNG"/>
  <p:tag name="IGUANATEXVERSION" val="160"/>
  <p:tag name="LATEXADDIN" val="\documentclass{article}&#10;\usepackage{amsmath}&#10;\pagestyle{empty}&#10;\begin{document}&#10;&#10;\noindent&#10;Exemple : interpolation d'une fonction \\&#10; sinus légèrement bruité (5\% de fluctuation) \\&#10;évaluée en N=15 points équi-espacés.&#10;&#10;&#10;\end{document}"/>
  <p:tag name="IGUANATEXSIZE" val="18"/>
  <p:tag name="IGUANATEXCURSOR" val="161"/>
  <p:tag name="TRANSPARENCY" val="Vrai"/>
  <p:tag name="FILENAME" val=""/>
  <p:tag name="LATEXENGINEID" val="0"/>
  <p:tag name="TEMPFOLDER" val="c:\temp\"/>
  <p:tag name="LATEXFORMHEIGHT" val="320"/>
  <p:tag name="LATEXFORMWIDTH" val="534"/>
  <p:tag name="LATEXFORMWRAP" val="Vrai"/>
  <p:tag name="BITMAPVECTOR" val="0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536.558"/>
  <p:tag name="ORIGINALWIDTH" val="4212.224"/>
  <p:tag name="OUTPUTTYPE" val="PNG"/>
  <p:tag name="IGUANATEXVERSION" val="160"/>
  <p:tag name="LATEXADDIN" val="\documentclass{article}&#10;\usepackage{amsmath}&#10;\usepackage{xcolor}&#10;\usepackage[paperwidth=17cm]{geometry}&#10;\usepackage[french]{babel}&#10;\usepackage[T1]{fontenc}&#10;\usepackage[utf8]{inputenc}&#10;\pagestyle{empty}&#10;&#10;\begin{document}&#10;&#10;\subsubsection*{La bonne méthode : interpoler et intégrer par morceaux}&#10;&#10;{\color{red}&#10;Cette méthode consiste à découper l'intervalle d'intégration $[a, b]$ en morceaux jointifs formés de 2 ou 3 nœuds. Sur chaque morceau, on effectue une interpolation de Lagrange de la grandeur échantillonnée, puis on intègre l'interpolée en utilisant la méthode de quadrature de Gauss.}&#10;&#10;L'intégrale complète est finalement estimée comme étant la somme des intégrales élémentaires obtenues sur chaque sous-intervalle.&#10;&#10;Dans la suite du cours, l'intervalle formé par 2 nœuds successifs servira à construire un élément fini P1 de Lagrange. Les éléments finis formés de 3 nœuds successifs sont les éléments P2 de Lagrange.&#10;&#10;\end{document}"/>
  <p:tag name="IGUANATEXSIZE" val="18"/>
  <p:tag name="IGUANATEXCURSOR" val="592"/>
  <p:tag name="TRANSPARENCY" val="Vrai"/>
  <p:tag name="FILENAME" val=""/>
  <p:tag name="LATEXENGINEID" val="0"/>
  <p:tag name="TEMPFOLDER" val="c:\temp\"/>
  <p:tag name="LATEXFORMHEIGHT" val="419.25"/>
  <p:tag name="LATEXFORMWIDTH" val="618.75"/>
  <p:tag name="LATEXFORMWRAP" val="Vrai"/>
  <p:tag name="BITMAPVECTOR" val="0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3.2358"/>
  <p:tag name="ORIGINALWIDTH" val="1535.058"/>
  <p:tag name="OUTPUTTYPE" val="PNG"/>
  <p:tag name="IGUANATEXVERSION" val="160"/>
  <p:tag name="LATEXADDIN" val="\documentclass{article}&#10;\usepackage{amsmath}&#10;\usepackage{xcolor}&#10;\pagestyle{empty}&#10;\begin{document}&#10;&#10;{\color{red}&#10;feuille de TD : integ1D1.pdf}&#10;&#10;&#10;\end{document}"/>
  <p:tag name="IGUANATEXSIZE" val="20"/>
  <p:tag name="IGUANATEXCURSOR" val="114"/>
  <p:tag name="TRANSPARENCY" val="Vrai"/>
  <p:tag name="FILENAME" val=""/>
  <p:tag name="LATEXENGINEID" val="0"/>
  <p:tag name="TEMPFOLDER" val="c:\temp\"/>
  <p:tag name="LATEXFORMHEIGHT" val="320"/>
  <p:tag name="LATEXFORMWIDTH" val="385"/>
  <p:tag name="LATEXFORMWRAP" val="Vrai"/>
  <p:tag name="BITMAPVECTOR" val="0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70.9036"/>
  <p:tag name="ORIGINALWIDTH" val="4475.44"/>
  <p:tag name="OUTPUTTYPE" val="PNG"/>
  <p:tag name="IGUANATEXVERSION" val="160"/>
  <p:tag name="LATEXADDIN" val="\documentclass{article}&#10;\usepackage{amsmath}&#10;\pagestyle{empty}&#10;\begin{document}&#10;&#10;&#10;Notre but est d'estimer l'intégrale suivante I, en utilisant la propriété d'additivité des intégrales élémentaires :&#10;$$&#10;I = \int_D \; dx\; Q(x) = \sum_{e=1}^{\text{NE}}  &#10;\int_e \; dx \; \; Q_e(x) = \sum_{e=1}^{\text{NE}} I_e&#10;$$&#10;&#10;\end{document}"/>
  <p:tag name="IGUANATEXSIZE" val="16"/>
  <p:tag name="IGUANATEXCURSOR" val="254"/>
  <p:tag name="TRANSPARENCY" val="Vrai"/>
  <p:tag name="FILENAME" val=""/>
  <p:tag name="LATEXENGINEID" val="0"/>
  <p:tag name="TEMPFOLDER" val="c:\temp\"/>
  <p:tag name="LATEXFORMHEIGHT" val="320"/>
  <p:tag name="LATEXFORMWIDTH" val="385"/>
  <p:tag name="LATEXFORMWRAP" val="Vrai"/>
  <p:tag name="BITMAPVECTOR" val="0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61.7173"/>
  <p:tag name="ORIGINALWIDTH" val="2070.491"/>
  <p:tag name="OUTPUTTYPE" val="PNG"/>
  <p:tag name="IGUANATEXVERSION" val="160"/>
  <p:tag name="LATEXADDIN" val="\documentclass{article}&#10;\usepackage{amsmath}&#10;\pagestyle{empty}&#10;\begin{document}&#10;&#10;\noindent&#10;Discrétisation du domaine de calcul D \\&#10;en éléments triangulaires jointifs&#10;&#10;&#10;\end{document}"/>
  <p:tag name="IGUANATEXSIZE" val="18"/>
  <p:tag name="IGUANATEXCURSOR" val="90"/>
  <p:tag name="TRANSPARENCY" val="Vrai"/>
  <p:tag name="FILENAME" val=""/>
  <p:tag name="LATEXENGINEID" val="0"/>
  <p:tag name="TEMPFOLDER" val="c:\temp\"/>
  <p:tag name="LATEXFORMHEIGHT" val="320"/>
  <p:tag name="LATEXFORMWIDTH" val="385"/>
  <p:tag name="LATEXFORMWRAP" val="Vrai"/>
  <p:tag name="BITMAPVECTOR" val="0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3.2358"/>
  <p:tag name="ORIGINALWIDTH" val="1535.058"/>
  <p:tag name="OUTPUTTYPE" val="PNG"/>
  <p:tag name="IGUANATEXVERSION" val="160"/>
  <p:tag name="LATEXADDIN" val="\documentclass{article}&#10;\usepackage{amsmath}&#10;\usepackage{xcolor}&#10;\pagestyle{empty}&#10;\begin{document}&#10;&#10;{\color{red}&#10;feuille de TD : integ2D1.pdf}&#10;&#10;&#10;\end{document}"/>
  <p:tag name="IGUANATEXSIZE" val="20"/>
  <p:tag name="IGUANATEXCURSOR" val="114"/>
  <p:tag name="TRANSPARENCY" val="Vrai"/>
  <p:tag name="FILENAME" val=""/>
  <p:tag name="LATEXENGINEID" val="0"/>
  <p:tag name="TEMPFOLDER" val="c:\temp\"/>
  <p:tag name="LATEXFORMHEIGHT" val="320"/>
  <p:tag name="LATEXFORMWIDTH" val="385"/>
  <p:tag name="LATEXFORMWRAP" val="Vrai"/>
  <p:tag name="BITMAPVECTOR" val="0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81.852"/>
  <p:tag name="ORIGINALWIDTH" val="4287.964"/>
  <p:tag name="OUTPUTTYPE" val="PNG"/>
  <p:tag name="IGUANATEXVERSION" val="160"/>
  <p:tag name="LATEXADDIN" val="\documentclass{article}&#10;\usepackage{amsmath}&#10;\pagestyle{empty}&#10;\begin{document}&#10;&#10;On met ensuite en oeuvre la propriété d'additivité des intégrales élémentaires&#10;pour estimer l'intégrale totale:&#10;$$&#10;\iint_D \; dx \; dy \; Q(x,y) = \sum_{e=1}^{\text{NE}}  &#10;\iint_e \; dx \; dy \; Q_e(x,y) = &#10;\sum_{e=1}^{\text{NE}} I_e&#10;$$&#10;où $I_e$ est l'intégrale élémentaire sur e. \\&#10;NE est le nombre d'éléments finis triangulaires.&#10;&#10;\end{document}"/>
  <p:tag name="IGUANATEXSIZE" val="18"/>
  <p:tag name="IGUANATEXCURSOR" val="96"/>
  <p:tag name="TRANSPARENCY" val="Vrai"/>
  <p:tag name="FILENAME" val=""/>
  <p:tag name="LATEXENGINEID" val="0"/>
  <p:tag name="TEMPFOLDER" val="c:\temp\"/>
  <p:tag name="LATEXFORMHEIGHT" val="320"/>
  <p:tag name="LATEXFORMWIDTH" val="550.5"/>
  <p:tag name="LATEXFORMWRAP" val="Vrai"/>
  <p:tag name="BITMAPVECTOR" val="0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613.798"/>
  <p:tag name="ORIGINALWIDTH" val="4287.964"/>
  <p:tag name="OUTPUTTYPE" val="PNG"/>
  <p:tag name="IGUANATEXVERSION" val="160"/>
  <p:tag name="LATEXADDIN" val="\documentclass{article}&#10;\usepackage{amsmath}&#10;\pagestyle{empty}&#10;\begin{document}&#10;&#10;\subsubsection*{&#10;Problématique: calcul de l’intégrale surfacique d’une grandeur $Q(x,y)$}&#10;&#10;On désire estimer la quantité de pluie tombée sur une région D. On a à notre disposition un ensemble de pluviomètre dont la répartition ne trouve pas sur&#10;une grille régulière.&#10;&#10;Notre but est d'estimer l'intégrale suivante :&#10;$$&#10;I = \iint_D \; dx\; dy\; Q(x,y)&#10;$$&#10;&#10;On triangule la région en plaçant chaque pluviomètre au sommet d'un triangle. &#10;&#10;&#10;\end{document}"/>
  <p:tag name="IGUANATEXSIZE" val="20"/>
  <p:tag name="IGUANATEXCURSOR" val="512"/>
  <p:tag name="TRANSPARENCY" val="Vrai"/>
  <p:tag name="FILENAME" val=""/>
  <p:tag name="LATEXENGINEID" val="0"/>
  <p:tag name="TEMPFOLDER" val="c:\temp\"/>
  <p:tag name="LATEXFORMHEIGHT" val="320"/>
  <p:tag name="LATEXFORMWIDTH" val="385"/>
  <p:tag name="LATEXFORMWRAP" val="Vrai"/>
  <p:tag name="BITMAPVECTOR" val="0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310.836"/>
  <p:tag name="ORIGINALWIDTH" val="3739.783"/>
  <p:tag name="OUTPUTTYPE" val="PNG"/>
  <p:tag name="IGUANATEXVERSION" val="160"/>
  <p:tag name="LATEXADDIN" val="\documentclass{article}&#10;\usepackage{amsmath}&#10;\pagestyle{empty}&#10;\begin{document}&#10;&#10;$$&#10;I_e =  \iint_e \; dx \; dy \; Q_e(x,y) &#10;= \iint_{e_{ref}} \; du \; dv \; &#10;\text{detJ}(u,v) \; Q_e(u,v) &#10;$$&#10;en utilisant la notation simplifiée :&#10;$$&#10;\text{detJ}(u,v) \equiv \text{detJ}\Big(x(u,v), y(u,v)\Big)&#10;$$&#10;et&#10;$$Q_e(u,v) &#10;=Q_e\Big(x(u,v),y(u,v)\Big) &#10;$$&#10;&#10;\end{document}"/>
  <p:tag name="IGUANATEXSIZE" val="20"/>
  <p:tag name="IGUANATEXCURSOR" val="300"/>
  <p:tag name="TRANSPARENCY" val="Vrai"/>
  <p:tag name="FILENAME" val=""/>
  <p:tag name="LATEXENGINEID" val="0"/>
  <p:tag name="TEMPFOLDER" val="c:\temp\"/>
  <p:tag name="LATEXFORMHEIGHT" val="392.25"/>
  <p:tag name="LATEXFORMWIDTH" val="543.75"/>
  <p:tag name="LATEXFORMWRAP" val="Vrai"/>
  <p:tag name="BITMAPVECTOR" val="0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603.6746"/>
  <p:tag name="ORIGINALWIDTH" val="3374.578"/>
  <p:tag name="OUTPUTTYPE" val="PNG"/>
  <p:tag name="IGUANATEXVERSION" val="160"/>
  <p:tag name="LATEXADDIN" val="\documentclass{article}&#10;\usepackage{amsmath}&#10;\usepackage{xcolor}&#10;\pagestyle{empty}&#10;\begin{document}&#10;&#10;&#10;$${\color{red}&#10;dS} = \overline{e}_z \cdot \Big(\dfrac{\partial \overline{M}}{\partial u} \; du \times  \dfrac{\partial \overline{M}}{\partial v} \; dv\Big) = &#10;\left|&#10;\begin{array}{ccc}&#10;0 &amp;\frac{\partial x}{\partial u} &amp; \frac{\partial x}{\partial v} \\[0.5em]&#10;0 &amp;\frac{\partial y}{\partial u} &amp; \frac{\partial y}{\partial v} \\[0.5em]&#10;1 &amp; 0 &amp; 0&#10;\end{array}&#10;\right| =&#10;\left|&#10;\begin{array}{cc}&#10;\frac{\partial x}{\partial u} &amp; \frac{\partial x}{\partial v} \\[0.5em]&#10;\frac{\partial y}{\partial u} &amp; \frac{\partial y}{\partial v} &#10;\end{array}&#10;\right|&#10;$$&#10;\end{document}"/>
  <p:tag name="IGUANATEXSIZE" val="20"/>
  <p:tag name="IGUANATEXCURSOR" val="120"/>
  <p:tag name="TRANSPARENCY" val="Vrai"/>
  <p:tag name="FILENAME" val=""/>
  <p:tag name="LATEXENGINEID" val="0"/>
  <p:tag name="TEMPFOLDER" val="c:\temp\"/>
  <p:tag name="LATEXFORMHEIGHT" val="320"/>
  <p:tag name="LATEXFORMWIDTH" val="603.75"/>
  <p:tag name="LATEXFORMWRAP" val="Vrai"/>
  <p:tag name="BITMAPVECTOR" val="0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34.9832"/>
  <p:tag name="ORIGINALWIDTH" val="3632.546"/>
  <p:tag name="OUTPUTTYPE" val="PNG"/>
  <p:tag name="IGUANATEXVERSION" val="160"/>
  <p:tag name="LATEXADDIN" val="\documentclass{article}&#10;\usepackage{amsmath}&#10;\pagestyle{empty}&#10;\begin{document}&#10;&#10;\subsection*{Explication géométrique du déterminant jacobien}&#10;&#10;&#10;\end{document}"/>
  <p:tag name="IGUANATEXSIZE" val="20"/>
  <p:tag name="IGUANATEXCURSOR" val="142"/>
  <p:tag name="TRANSPARENCY" val="Vrai"/>
  <p:tag name="FILENAME" val=""/>
  <p:tag name="LATEXENGINEID" val="0"/>
  <p:tag name="TEMPFOLDER" val="c:\temp\"/>
  <p:tag name="LATEXFORMHEIGHT" val="320"/>
  <p:tag name="LATEXFORMWIDTH" val="385"/>
  <p:tag name="LATEXFORMWRAP" val="Vrai"/>
  <p:tag name="BITMAPVECTOR" val="0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24.222"/>
  <p:tag name="ORIGINALWIDTH" val="447.694"/>
  <p:tag name="OUTPUTTYPE" val="PNG"/>
  <p:tag name="IGUANATEXVERSION" val="160"/>
  <p:tag name="LATEXADDIN" val="\documentclass{article}&#10;\usepackage{amsmath}&#10;\pagestyle{empty}&#10;\begin{document}&#10;&#10;&#10;$M\Big(u,v\Big)$ &#10;&#10;&#10;\end{document}"/>
  <p:tag name="IGUANATEXSIZE" val="20"/>
  <p:tag name="IGUANATEXCURSOR" val="92"/>
  <p:tag name="TRANSPARENCY" val="Vrai"/>
  <p:tag name="FILENAME" val=""/>
  <p:tag name="LATEXENGINEID" val="0"/>
  <p:tag name="TEMPFOLDER" val="c:\temp\"/>
  <p:tag name="LATEXFORMHEIGHT" val="320"/>
  <p:tag name="LATEXFORMWIDTH" val="385"/>
  <p:tag name="LATEXFORMWRAP" val="Vrai"/>
  <p:tag name="BITMAPVECTOR" val="0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24.222"/>
  <p:tag name="ORIGINALWIDTH" val="735.658"/>
  <p:tag name="OUTPUTTYPE" val="PNG"/>
  <p:tag name="IGUANATEXVERSION" val="160"/>
  <p:tag name="LATEXADDIN" val="\documentclass{article}&#10;\usepackage{amsmath}&#10;\pagestyle{empty}&#10;\begin{document}&#10;&#10;&#10;$M\Big(u+du,v\Big)$ &#10;&#10;&#10;\end{document}"/>
  <p:tag name="IGUANATEXSIZE" val="20"/>
  <p:tag name="IGUANATEXCURSOR" val="93"/>
  <p:tag name="TRANSPARENCY" val="Vrai"/>
  <p:tag name="FILENAME" val=""/>
  <p:tag name="LATEXENGINEID" val="0"/>
  <p:tag name="TEMPFOLDER" val="c:\temp\"/>
  <p:tag name="LATEXFORMHEIGHT" val="320"/>
  <p:tag name="LATEXFORMWIDTH" val="385"/>
  <p:tag name="LATEXFORMWRAP" val="Vrai"/>
  <p:tag name="BITMAPVECTOR" val="0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24.222"/>
  <p:tag name="ORIGINALWIDTH" val="728.9089"/>
  <p:tag name="OUTPUTTYPE" val="PNG"/>
  <p:tag name="IGUANATEXVERSION" val="160"/>
  <p:tag name="LATEXADDIN" val="\documentclass{article}&#10;\usepackage{amsmath}&#10;\pagestyle{empty}&#10;\begin{document}&#10;&#10;&#10;$M\Big(u,v+dv\Big)$ &#10;&#10;&#10;\end{document}"/>
  <p:tag name="IGUANATEXSIZE" val="20"/>
  <p:tag name="IGUANATEXCURSOR" val="95"/>
  <p:tag name="TRANSPARENCY" val="Vrai"/>
  <p:tag name="FILENAME" val=""/>
  <p:tag name="LATEXENGINEID" val="0"/>
  <p:tag name="TEMPFOLDER" val="c:\temp\"/>
  <p:tag name="LATEXFORMHEIGHT" val="320"/>
  <p:tag name="LATEXFORMWIDTH" val="385"/>
  <p:tag name="LATEXFORMWRAP" val="Vrai"/>
  <p:tag name="BITMAPVECTOR" val="0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24.222"/>
  <p:tag name="ORIGINALWIDTH" val="1017.623"/>
  <p:tag name="OUTPUTTYPE" val="PNG"/>
  <p:tag name="IGUANATEXVERSION" val="160"/>
  <p:tag name="LATEXADDIN" val="\documentclass{article}&#10;\usepackage{amsmath}&#10;\pagestyle{empty}&#10;\begin{document}&#10;&#10;&#10;$M\Big(u+du,v+dv\Big)$ &#10;&#10;&#10;\end{document}"/>
  <p:tag name="IGUANATEXSIZE" val="20"/>
  <p:tag name="IGUANATEXCURSOR" val="93"/>
  <p:tag name="TRANSPARENCY" val="Faux"/>
  <p:tag name="FILENAME" val=""/>
  <p:tag name="LATEXENGINEID" val="0"/>
  <p:tag name="TEMPFOLDER" val="c:\temp\"/>
  <p:tag name="LATEXFORMHEIGHT" val="320"/>
  <p:tag name="LATEXFORMWIDTH" val="385"/>
  <p:tag name="LATEXFORMWRAP" val="Vrai"/>
  <p:tag name="BITMAPVECTOR" val="0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02.7372"/>
  <p:tag name="ORIGINALWIDTH" val="406.4492"/>
  <p:tag name="OUTPUTTYPE" val="PNG"/>
  <p:tag name="IGUANATEXVERSION" val="160"/>
  <p:tag name="LATEXADDIN" val="\documentclass{article}&#10;\usepackage{amsmath}&#10;\pagestyle{empty}&#10;\begin{document}&#10;&#10;&#10;$v = C^{te}$&#10;&#10;\end{document}"/>
  <p:tag name="IGUANATEXSIZE" val="20"/>
  <p:tag name="IGUANATEXCURSOR" val="94"/>
  <p:tag name="TRANSPARENCY" val="Vrai"/>
  <p:tag name="FILENAME" val=""/>
  <p:tag name="LATEXENGINEID" val="0"/>
  <p:tag name="TEMPFOLDER" val="c:\temp\"/>
  <p:tag name="LATEXFORMHEIGHT" val="320"/>
  <p:tag name="LATEXFORMWIDTH" val="385"/>
  <p:tag name="LATEXFORMWRAP" val="Vrai"/>
  <p:tag name="BITMAPVECTOR" val="0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02.7372"/>
  <p:tag name="ORIGINALWIDTH" val="413.1983"/>
  <p:tag name="OUTPUTTYPE" val="PNG"/>
  <p:tag name="IGUANATEXVERSION" val="160"/>
  <p:tag name="LATEXADDIN" val="\documentclass{article}&#10;\usepackage{amsmath}&#10;\pagestyle{empty}&#10;\begin{document}&#10;&#10;&#10;$u = C^{te}$&#10;&#10;\end{document}"/>
  <p:tag name="IGUANATEXSIZE" val="20"/>
  <p:tag name="IGUANATEXCURSOR" val="84"/>
  <p:tag name="TRANSPARENCY" val="Vrai"/>
  <p:tag name="FILENAME" val=""/>
  <p:tag name="LATEXENGINEID" val="0"/>
  <p:tag name="TEMPFOLDER" val="c:\temp\"/>
  <p:tag name="LATEXFORMHEIGHT" val="320"/>
  <p:tag name="LATEXFORMWIDTH" val="385"/>
  <p:tag name="LATEXFORMWRAP" val="Vrai"/>
  <p:tag name="BITMAPVECTOR" val="0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25.6468"/>
  <p:tag name="ORIGINALWIDTH" val="4287.214"/>
  <p:tag name="OUTPUTTYPE" val="PNG"/>
  <p:tag name="IGUANATEXVERSION" val="160"/>
  <p:tag name="LATEXADDIN" val="\documentclass{article}&#10;\usepackage{amsmath}&#10;\pagestyle{empty}&#10;\begin{document}&#10;&#10;\subsection*{Estimation numérique de l'intégrale élémentaire $I_e$}&#10;&#10;Il faut d'abord définir les coordonnées $(u_k, v_k)$ des points de Gauss &#10;dans l'élément de référence et de leur associer des poids.\\&#10;Tout intégrant de la forme $u^i \; v^j$ sera intégré exactement si $i+j \le m$. \\&#10;On remarque que $\sum_k w_k = \frac{1}{2}$ l'aire du triangle élémentaire.&#10;&#10;\end{document}"/>
  <p:tag name="IGUANATEXSIZE" val="20"/>
  <p:tag name="IGUANATEXCURSOR" val="442"/>
  <p:tag name="TRANSPARENCY" val="Vrai"/>
  <p:tag name="FILENAME" val=""/>
  <p:tag name="LATEXENGINEID" val="0"/>
  <p:tag name="TEMPFOLDER" val="c:\temp\"/>
  <p:tag name="LATEXFORMHEIGHT" val="392.25"/>
  <p:tag name="LATEXFORMWIDTH" val="543.75"/>
  <p:tag name="LATEXFORMWRAP" val="Vrai"/>
  <p:tag name="BITMAPVECTOR" val="0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220.847"/>
  <p:tag name="ORIGINALWIDTH" val="1121.86"/>
  <p:tag name="OUTPUTTYPE" val="PNG"/>
  <p:tag name="IGUANATEXVERSION" val="160"/>
  <p:tag name="LATEXADDIN" val="\documentclass{article}&#10;\usepackage{amsmath}&#10;\usepackage{array}&#10;\usepackage{booktabs}&#10;\usepackage{multirow}&#10;\usepackage[french]{babel}&#10;\usepackage[T1]{fontenc}&#10;\usepackage[utf8]{inputenc}&#10;&#10;\begin{document}&#10;&#10;\begin{table}[h]&#10;\centering&#10;\renewcommand{\arraystretch}{2}&#10;\begin{tabular}{c|cc|c}&#10;\toprule&#10;$m$ &amp; $u_k$ &amp; $v_k$ &amp; $w_k$ \\&#10;\midrule&#10;\multirow{1}{*}{1} &amp; $\frac{1}{3}$ &amp; $\frac{1}{3}$ &amp; $\frac{1}{2}$ \\&#10;\midrule&#10;\multirow{3}{*}{2} &amp; $\frac{1}{6}$ &amp; $\frac{1}{6}$ &amp; $\frac{1}{6}$ \\&#10;                   &amp; $\frac{2}{3}$ &amp; $\frac{1}{6}$ &amp; $\frac{1}{6}$ \\&#10;                   &amp; $\frac{1}{6}$ &amp; $\frac{2}{3}$ &amp; $\frac{1}{6}$ \\&#10;\bottomrule&#10;\end{tabular}&#10;%\caption{Points et poids de quadrature pour les éléments triangulaires}&#10;\end{table}&#10;&#10;\end{document}"/>
  <p:tag name="IGUANATEXSIZE" val="20"/>
  <p:tag name="IGUANATEXCURSOR" val="656"/>
  <p:tag name="TRANSPARENCY" val="Vrai"/>
  <p:tag name="FILENAME" val=""/>
  <p:tag name="LATEXENGINEID" val="0"/>
  <p:tag name="TEMPFOLDER" val="c:\temp\"/>
  <p:tag name="LATEXFORMHEIGHT" val="320"/>
  <p:tag name="LATEXFORMWIDTH" val="615"/>
  <p:tag name="LATEXFORMWRAP" val="Vrai"/>
  <p:tag name="BITMAPVECTOR" val="0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38.4702"/>
  <p:tag name="ORIGINALWIDTH" val="4287.964"/>
  <p:tag name="OUTPUTTYPE" val="PNG"/>
  <p:tag name="IGUANATEXVERSION" val="160"/>
  <p:tag name="LATEXADDIN" val="\documentclass{article}&#10;\usepackage{amsmath}&#10;\usepackage{xcolor}&#10;\pagestyle{empty}&#10;\begin{document}&#10;&#10;{\color{red}&#10;On notera que les points d'intégration de Gauss&#10;sont localisés à l'intérieur de l'élément.&#10;}&#10;&#10;\end{document}"/>
  <p:tag name="IGUANATEXSIZE" val="20"/>
  <p:tag name="IGUANATEXCURSOR" val="206"/>
  <p:tag name="TRANSPARENCY" val="Vrai"/>
  <p:tag name="FILENAME" val=""/>
  <p:tag name="LATEXENGINEID" val="0"/>
  <p:tag name="TEMPFOLDER" val="c:\temp\"/>
  <p:tag name="LATEXFORMHEIGHT" val="320"/>
  <p:tag name="LATEXFORMWIDTH" val="385"/>
  <p:tag name="LATEXFORMWRAP" val="Vrai"/>
  <p:tag name="BITMAPVECTOR" val="0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548.556"/>
  <p:tag name="ORIGINALWIDTH" val="4281.965"/>
  <p:tag name="OUTPUTTYPE" val="PNG"/>
  <p:tag name="IGUANATEXVERSION" val="160"/>
  <p:tag name="LATEXADDIN" val="\documentclass{article}&#10;\usepackage{amsmath}&#10;\usepackage{xcolor}&#10;\pagestyle{empty}&#10;\begin{document}&#10;&#10;\subsection*{Estimation numérique de l'intégrale élémentaire $I_e$}&#10;&#10;On rappelle :&#10;$$&#10;I_e = \iint_{e_{ref}} \; du \; dv \; &#10;\text{detJ}(u,v) \; Q_e(u,v) &#10;$$&#10;&#10;Connaissant les coordonnées $(u_k, v_k)$ des points de Gauss &#10;et leur poids $w_k$, une estimation de $I_e$ est donnée par&#10;la méthode de quadrature de Gauss :&#10;$$&#10;I_e \approx \sum_{k=1}^{\text{NPI}} &#10;\text{detJ}({\color{red} u_k},{\color{red} v_k})\; {\color{red} w_k} \; Q_e({\color{red} u_k},{\color{red} v_k}) &#10;$$&#10;&#10;\end{document}"/>
  <p:tag name="IGUANATEXSIZE" val="20"/>
  <p:tag name="IGUANATEXCURSOR" val="522"/>
  <p:tag name="TRANSPARENCY" val="Vrai"/>
  <p:tag name="FILENAME" val=""/>
  <p:tag name="LATEXENGINEID" val="0"/>
  <p:tag name="TEMPFOLDER" val="c:\temp\"/>
  <p:tag name="LATEXFORMHEIGHT" val="392.25"/>
  <p:tag name="LATEXFORMWIDTH" val="543.75"/>
  <p:tag name="LATEXFORMWRAP" val="Vrai"/>
  <p:tag name="BITMAPVECTOR" val="0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742.407"/>
  <p:tag name="ORIGINALWIDTH" val="4289.464"/>
  <p:tag name="OUTPUTTYPE" val="PNG"/>
  <p:tag name="IGUANATEXVERSION" val="160"/>
  <p:tag name="LATEXADDIN" val="\documentclass{article}&#10;\usepackage{amsmath}&#10;\pagestyle{empty}&#10;\begin{document}&#10;&#10;&#10;\subsection*{Interpolation dans l'élément de référence}&#10;&#10;La grandeur Q est connue aux NP nœuds du maillage.\\&#10;L’estimation de Q en tout point (u,v) de l’élément de référence se fait par interpolation.&#10;&#10;$$&#10;Q_e(u,v) = \sum_{ie=I}^{NBN=III} \; \alpha_{ie}(u,v) \; Q_{ie}&#10;$$&#10;où NBN=III est le nombre de noeuds d'interpolation (sommets) de l'élément triangulaire de référence.&#10;&#10;$\alpha_{ie}(u,v)$ sont les polynomes d'interpolation P1 de Lagrange dans l'élément de référence.&#10;&#10;\subsubsection*{Propriétés}&#10;$$\forall ie \in [1, \text{NBN}] \quad&#10;\alpha_{ie}(u_{je},v_{je}) = \delta_{ie, je}&#10;\quad \text{et} \quad&#10;\sum_{ie=I}^{\text{NBN}=III} \alpha_{ie}(u,v) =1$$.&#10;&#10;\end{document}"/>
  <p:tag name="IGUANATEXSIZE" val="18"/>
  <p:tag name="IGUANATEXCURSOR" val="620"/>
  <p:tag name="TRANSPARENCY" val="Vrai"/>
  <p:tag name="FILENAME" val=""/>
  <p:tag name="LATEXENGINEID" val="0"/>
  <p:tag name="TEMPFOLDER" val="c:\temp\"/>
  <p:tag name="LATEXFORMHEIGHT" val="320"/>
  <p:tag name="LATEXFORMWIDTH" val="385"/>
  <p:tag name="LATEXFORMWRAP" val="Vrai"/>
  <p:tag name="BITMAPVECTOR" val="0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10.9111"/>
  <p:tag name="ORIGINALWIDTH" val="4289.464"/>
  <p:tag name="OUTPUTTYPE" val="PNG"/>
  <p:tag name="IGUANATEXVERSION" val="160"/>
  <p:tag name="LATEXADDIN" val="\documentclass{article}&#10;\usepackage{amsmath}&#10;\pagestyle{empty}&#10;\begin{document}&#10;&#10;On remarque que, dans le cas de triangles P1, les dérivées des polynômes d'interpolation de Lagrange sont constants par élément et ne dépendent pas du point d'intégration $k$. Il en est de même pour la jacobienne et son déterminant. \\&#10;&#10;Attention, ce n'est plus le cas pour les éléments P2&#10;de Lagrange.&#10;&#10;&#10;\end{document}"/>
  <p:tag name="IGUANATEXSIZE" val="20"/>
  <p:tag name="IGUANATEXCURSOR" val="383"/>
  <p:tag name="TRANSPARENCY" val="Vrai"/>
  <p:tag name="FILENAME" val=""/>
  <p:tag name="LATEXENGINEID" val="0"/>
  <p:tag name="TEMPFOLDER" val="c:\temp\"/>
  <p:tag name="LATEXFORMHEIGHT" val="320"/>
  <p:tag name="LATEXFORMWIDTH" val="385"/>
  <p:tag name="LATEXFORMWRAP" val="Vrai"/>
  <p:tag name="BITMAPVECTOR" val="0"/>
</p:tagLst>
</file>

<file path=ppt/theme/theme1.xml><?xml version="1.0" encoding="utf-8"?>
<a:theme xmlns:a="http://schemas.openxmlformats.org/drawingml/2006/main" name="Nouvelle présentation">
  <a:themeElements>
    <a:clrScheme name="Nouvelle présenta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Nouvelle présentatio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Nouvelle pré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ouvelle présentatio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ouvelle présentatio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ouvelle présentatio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ouvelle présentatio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ouvelle présentatio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ouvelle présentatio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Office\Modèles\Nouvelle présentation.pot</Template>
  <TotalTime>3905</TotalTime>
  <Words>1644</Words>
  <Application>Microsoft Office PowerPoint</Application>
  <PresentationFormat>Affichage à l'écran (4:3)</PresentationFormat>
  <Paragraphs>373</Paragraphs>
  <Slides>32</Slides>
  <Notes>0</Notes>
  <HiddenSlides>0</HiddenSlides>
  <MMClips>0</MMClips>
  <ScaleCrop>false</ScaleCrop>
  <HeadingPairs>
    <vt:vector size="8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Serveurs OLE incorporés</vt:lpstr>
      </vt:variant>
      <vt:variant>
        <vt:i4>2</vt:i4>
      </vt:variant>
      <vt:variant>
        <vt:lpstr>Titres des diapositives</vt:lpstr>
      </vt:variant>
      <vt:variant>
        <vt:i4>32</vt:i4>
      </vt:variant>
    </vt:vector>
  </HeadingPairs>
  <TitlesOfParts>
    <vt:vector size="41" baseType="lpstr">
      <vt:lpstr>ＭＳ Ｐゴシック</vt:lpstr>
      <vt:lpstr>ＭＳ Ｐゴシック</vt:lpstr>
      <vt:lpstr>Arial</vt:lpstr>
      <vt:lpstr>Courier New</vt:lpstr>
      <vt:lpstr>Times New Roman</vt:lpstr>
      <vt:lpstr>Trebuchet MS</vt:lpstr>
      <vt:lpstr>Nouvelle présentation</vt:lpstr>
      <vt:lpstr>Equation</vt:lpstr>
      <vt:lpstr>Équation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CNRS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INTEGRATION NUMERIQUE</dc:title>
  <dc:creator>toussain</dc:creator>
  <cp:lastModifiedBy>toussaij</cp:lastModifiedBy>
  <cp:revision>426</cp:revision>
  <dcterms:created xsi:type="dcterms:W3CDTF">1999-12-04T15:19:11Z</dcterms:created>
  <dcterms:modified xsi:type="dcterms:W3CDTF">2026-09-29T05:45:25Z</dcterms:modified>
</cp:coreProperties>
</file>