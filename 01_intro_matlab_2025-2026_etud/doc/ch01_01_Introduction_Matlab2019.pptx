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291" r:id="rId2"/>
    <p:sldId id="292" r:id="rId3"/>
    <p:sldId id="293" r:id="rId4"/>
    <p:sldId id="294" r:id="rId5"/>
    <p:sldId id="295" r:id="rId6"/>
    <p:sldId id="296" r:id="rId7"/>
    <p:sldId id="281" r:id="rId8"/>
    <p:sldId id="256" r:id="rId9"/>
    <p:sldId id="297" r:id="rId10"/>
    <p:sldId id="258" r:id="rId11"/>
    <p:sldId id="259" r:id="rId12"/>
    <p:sldId id="260" r:id="rId13"/>
    <p:sldId id="264" r:id="rId14"/>
    <p:sldId id="265" r:id="rId15"/>
    <p:sldId id="289" r:id="rId16"/>
    <p:sldId id="266" r:id="rId17"/>
    <p:sldId id="267" r:id="rId18"/>
    <p:sldId id="268" r:id="rId19"/>
    <p:sldId id="269" r:id="rId20"/>
    <p:sldId id="270" r:id="rId21"/>
    <p:sldId id="272" r:id="rId22"/>
    <p:sldId id="271" r:id="rId23"/>
    <p:sldId id="273" r:id="rId24"/>
    <p:sldId id="274" r:id="rId25"/>
    <p:sldId id="261" r:id="rId26"/>
    <p:sldId id="262" r:id="rId27"/>
    <p:sldId id="286" r:id="rId28"/>
    <p:sldId id="278" r:id="rId29"/>
    <p:sldId id="299" r:id="rId30"/>
    <p:sldId id="300" r:id="rId31"/>
  </p:sldIdLst>
  <p:sldSz cx="9144000" cy="6858000" type="screen4x3"/>
  <p:notesSz cx="9601200" cy="7315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63" autoAdjust="0"/>
    <p:restoredTop sz="94660"/>
  </p:normalViewPr>
  <p:slideViewPr>
    <p:cSldViewPr>
      <p:cViewPr varScale="1">
        <p:scale>
          <a:sx n="88" d="100"/>
          <a:sy n="88" d="100"/>
        </p:scale>
        <p:origin x="1243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image" Target="../media/image33.wmf"/><Relationship Id="rId1" Type="http://schemas.openxmlformats.org/officeDocument/2006/relationships/image" Target="../media/image32.wmf"/><Relationship Id="rId6" Type="http://schemas.openxmlformats.org/officeDocument/2006/relationships/image" Target="../media/image37.wmf"/><Relationship Id="rId5" Type="http://schemas.openxmlformats.org/officeDocument/2006/relationships/image" Target="../media/image36.wmf"/><Relationship Id="rId4" Type="http://schemas.openxmlformats.org/officeDocument/2006/relationships/image" Target="../media/image3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1608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6" rIns="96653" bIns="48326" numCol="1" anchor="t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438775" y="0"/>
            <a:ext cx="41608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6" rIns="96653" bIns="48326" numCol="1" anchor="t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946900"/>
            <a:ext cx="41608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6" rIns="96653" bIns="48326" numCol="1" anchor="b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438775" y="6946900"/>
            <a:ext cx="41608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6" rIns="96653" bIns="48326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/>
            </a:lvl1pPr>
          </a:lstStyle>
          <a:p>
            <a:pPr>
              <a:defRPr/>
            </a:pPr>
            <a:fld id="{82B1B05B-F11C-4913-82A4-85FAE032F025}" type="slidenum">
              <a:rPr lang="en-US" altLang="fr-FR"/>
              <a:pPr>
                <a:defRPr/>
              </a:pPr>
              <a:t>‹N°›</a:t>
            </a:fld>
            <a:endParaRPr lang="en-US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160838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438775" y="0"/>
            <a:ext cx="4160838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971800" y="549275"/>
            <a:ext cx="3657600" cy="2743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60438" y="3475038"/>
            <a:ext cx="7680325" cy="329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noProof="0" smtClean="0"/>
              <a:t>Cliquez pour modifier les styles du texte du masque</a:t>
            </a:r>
          </a:p>
          <a:p>
            <a:pPr lvl="1"/>
            <a:r>
              <a:rPr lang="fr-FR" altLang="fr-FR" noProof="0" smtClean="0"/>
              <a:t>Deuxième niveau</a:t>
            </a:r>
          </a:p>
          <a:p>
            <a:pPr lvl="2"/>
            <a:r>
              <a:rPr lang="fr-FR" altLang="fr-FR" noProof="0" smtClean="0"/>
              <a:t>Troisième niveau</a:t>
            </a:r>
          </a:p>
          <a:p>
            <a:pPr lvl="3"/>
            <a:r>
              <a:rPr lang="fr-FR" altLang="fr-FR" noProof="0" smtClean="0"/>
              <a:t>Quatrième niveau</a:t>
            </a:r>
          </a:p>
          <a:p>
            <a:pPr lvl="4"/>
            <a:r>
              <a:rPr lang="fr-FR" altLang="fr-FR" noProof="0" smtClean="0"/>
              <a:t>Cinquième niveau</a:t>
            </a:r>
          </a:p>
        </p:txBody>
      </p:sp>
      <p:sp>
        <p:nvSpPr>
          <p:cNvPr id="645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948488"/>
            <a:ext cx="4160838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45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438775" y="6948488"/>
            <a:ext cx="4160838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493EDAA5-D253-4BC4-84E7-478603923460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C3E5BF-5FE7-4605-9606-21512759D17D}" type="slidenum">
              <a:rPr lang="en-US" altLang="fr-FR"/>
              <a:pPr>
                <a:defRPr/>
              </a:pPr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63938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ADC5D2-C299-42A7-966A-68B398EECA55}" type="slidenum">
              <a:rPr lang="en-US" altLang="fr-FR"/>
              <a:pPr>
                <a:defRPr/>
              </a:pPr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3207306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F03BE6-F500-483D-B24E-E8D7AAB270A0}" type="slidenum">
              <a:rPr lang="en-US" altLang="fr-FR"/>
              <a:pPr>
                <a:defRPr/>
              </a:pPr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2718605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3A688F-6A37-416E-B57F-4329ADCABF3D}" type="slidenum">
              <a:rPr lang="en-US" altLang="fr-FR"/>
              <a:pPr>
                <a:defRPr/>
              </a:pPr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3162154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D65F57-9C97-4EF8-A492-F7BAD34727E6}" type="slidenum">
              <a:rPr lang="en-US" altLang="fr-FR"/>
              <a:pPr>
                <a:defRPr/>
              </a:pPr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61638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7294C4-BC9C-4F48-A719-801C5CC02B1D}" type="slidenum">
              <a:rPr lang="en-US" altLang="fr-FR"/>
              <a:pPr>
                <a:defRPr/>
              </a:pPr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3672121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D523F8-E6B2-4381-A1A6-B56E3537C8A6}" type="slidenum">
              <a:rPr lang="en-US" altLang="fr-FR"/>
              <a:pPr>
                <a:defRPr/>
              </a:pPr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1289797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E6C9A3-69BB-495F-A8D0-D1234E18F823}" type="slidenum">
              <a:rPr lang="en-US" altLang="fr-FR"/>
              <a:pPr>
                <a:defRPr/>
              </a:pPr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4262537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C69527-4488-4562-AA63-0C9F85AA3452}" type="slidenum">
              <a:rPr lang="en-US" altLang="fr-FR"/>
              <a:pPr>
                <a:defRPr/>
              </a:pPr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3279921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9E25AB-1960-48AB-94A9-3C7420798D74}" type="slidenum">
              <a:rPr lang="en-US" altLang="fr-FR"/>
              <a:pPr>
                <a:defRPr/>
              </a:pPr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4181008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16FD23-CB23-4200-A222-28FB8F092C70}" type="slidenum">
              <a:rPr lang="en-US" altLang="fr-FR"/>
              <a:pPr>
                <a:defRPr/>
              </a:pPr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34365351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re et texte sur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8229600" cy="2185988"/>
          </a:xfr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3938588"/>
            <a:ext cx="8229600" cy="2187575"/>
          </a:xfr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619188-5933-4705-8A8C-5E817CDEC2F4}" type="slidenum">
              <a:rPr lang="en-US" altLang="fr-FR"/>
              <a:pPr>
                <a:defRPr/>
              </a:pPr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18619654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re. Text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8622AD-2085-42C7-A9E7-6EC6231DB91F}" type="slidenum">
              <a:rPr lang="en-US" altLang="fr-FR"/>
              <a:pPr>
                <a:defRPr/>
              </a:pPr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1129982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r-FR" smtClean="0"/>
              <a:t>Cliquez pour modifier le style du titre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r-FR" smtClean="0"/>
              <a:t>Cliquez pour modifier les styles du texte du masque</a:t>
            </a:r>
          </a:p>
          <a:p>
            <a:pPr lvl="1"/>
            <a:r>
              <a:rPr lang="en-US" altLang="fr-FR" smtClean="0"/>
              <a:t>Deuxième niveau</a:t>
            </a:r>
          </a:p>
          <a:p>
            <a:pPr lvl="2"/>
            <a:r>
              <a:rPr lang="en-US" altLang="fr-FR" smtClean="0"/>
              <a:t>Troisième niveau</a:t>
            </a:r>
          </a:p>
          <a:p>
            <a:pPr lvl="3"/>
            <a:r>
              <a:rPr lang="en-US" altLang="fr-FR" smtClean="0"/>
              <a:t>Quatrième niveau</a:t>
            </a:r>
          </a:p>
          <a:p>
            <a:pPr lvl="4"/>
            <a:r>
              <a:rPr lang="en-US" altLang="fr-FR" smtClean="0"/>
              <a:t>Cinquième niveau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61987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2FF8E1DB-D9EF-439B-B32A-6DD15CC7078D}" type="slidenum">
              <a:rPr lang="en-US" altLang="fr-FR"/>
              <a:pPr>
                <a:defRPr/>
              </a:pPr>
              <a:t>‹N°›</a:t>
            </a:fld>
            <a:endParaRPr lang="en-US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anose="020B0600070205080204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anose="020B0600070205080204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anose="020B0600070205080204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anose="020B0600070205080204" pitchFamily="34" charset="-128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7.w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9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3" Type="http://schemas.openxmlformats.org/officeDocument/2006/relationships/image" Target="../media/image26.png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13" Type="http://schemas.openxmlformats.org/officeDocument/2006/relationships/oleObject" Target="../embeddings/oleObject13.bin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36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33.wmf"/><Relationship Id="rId11" Type="http://schemas.openxmlformats.org/officeDocument/2006/relationships/oleObject" Target="../embeddings/oleObject12.bin"/><Relationship Id="rId5" Type="http://schemas.openxmlformats.org/officeDocument/2006/relationships/oleObject" Target="../embeddings/oleObject9.bin"/><Relationship Id="rId10" Type="http://schemas.openxmlformats.org/officeDocument/2006/relationships/image" Target="../media/image35.wmf"/><Relationship Id="rId4" Type="http://schemas.openxmlformats.org/officeDocument/2006/relationships/image" Target="../media/image32.wmf"/><Relationship Id="rId9" Type="http://schemas.openxmlformats.org/officeDocument/2006/relationships/oleObject" Target="../embeddings/oleObject11.bin"/><Relationship Id="rId14" Type="http://schemas.openxmlformats.org/officeDocument/2006/relationships/image" Target="../media/image37.wmf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B12607F-F694-4762-9FA4-887892ECCBB7}" type="slidenum">
              <a:rPr lang="en-US" altLang="fr-FR" sz="1400" smtClean="0"/>
              <a:pPr>
                <a:spcBef>
                  <a:spcPct val="0"/>
                </a:spcBef>
                <a:buFontTx/>
                <a:buNone/>
              </a:pPr>
              <a:t>1</a:t>
            </a:fld>
            <a:endParaRPr lang="en-US" altLang="fr-FR" sz="1400" smtClean="0"/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152400"/>
            <a:ext cx="7391400" cy="639763"/>
          </a:xfrm>
        </p:spPr>
        <p:txBody>
          <a:bodyPr/>
          <a:lstStyle/>
          <a:p>
            <a:pPr eaLnBrk="1" hangingPunct="1"/>
            <a:r>
              <a:rPr lang="fr-FR" altLang="fr-FR" sz="2400" smtClean="0"/>
              <a:t>Cours + TD + BE de méthodes numériques </a:t>
            </a:r>
          </a:p>
        </p:txBody>
      </p:sp>
      <p:sp>
        <p:nvSpPr>
          <p:cNvPr id="4100" name="Rectangle 3"/>
          <p:cNvSpPr>
            <a:spLocks noChangeArrowheads="1"/>
          </p:cNvSpPr>
          <p:nvPr/>
        </p:nvSpPr>
        <p:spPr bwMode="auto">
          <a:xfrm>
            <a:off x="228600" y="1460500"/>
            <a:ext cx="861060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2400" u="sng" dirty="0"/>
              <a:t>Intervenants pour la filière </a:t>
            </a:r>
            <a:r>
              <a:rPr lang="fr-FR" altLang="fr-FR" sz="2400" u="sng" dirty="0" smtClean="0"/>
              <a:t>IPHY</a:t>
            </a:r>
            <a:r>
              <a:rPr lang="fr-FR" altLang="fr-FR" sz="2400" u="sng" dirty="0"/>
              <a:t> :</a:t>
            </a:r>
            <a:endParaRPr lang="fr-FR" altLang="fr-FR" sz="2400" dirty="0"/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2400" i="1" dirty="0"/>
              <a:t>Jean-Christophe Toussaint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2400" i="1" dirty="0"/>
              <a:t>Quentin </a:t>
            </a:r>
            <a:r>
              <a:rPr lang="fr-FR" altLang="fr-FR" sz="2400" i="1" smtClean="0"/>
              <a:t>Rafhay</a:t>
            </a:r>
            <a:endParaRPr lang="fr-FR" altLang="fr-FR" sz="2400" i="1" dirty="0"/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fr-FR" altLang="fr-FR" sz="2400" dirty="0"/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2400" b="1" dirty="0"/>
              <a:t>60 Heures</a:t>
            </a:r>
            <a:r>
              <a:rPr lang="fr-FR" altLang="fr-FR" sz="2400" dirty="0"/>
              <a:t> (15 séances de 4 heures)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2400" dirty="0" err="1"/>
              <a:t>Minatec</a:t>
            </a:r>
            <a:r>
              <a:rPr lang="fr-FR" altLang="fr-FR" sz="2400" dirty="0"/>
              <a:t> sud salle info spécialisée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2400" b="1" dirty="0">
                <a:solidFill>
                  <a:srgbClr val="FF0000"/>
                </a:solidFill>
              </a:rPr>
              <a:t>Présence obligatoire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fr-FR" altLang="fr-FR" sz="2400" b="1" dirty="0">
              <a:solidFill>
                <a:srgbClr val="FF0000"/>
              </a:solidFill>
            </a:endParaRPr>
          </a:p>
        </p:txBody>
      </p:sp>
      <p:sp>
        <p:nvSpPr>
          <p:cNvPr id="4101" name="Rectangle 4"/>
          <p:cNvSpPr>
            <a:spLocks noChangeArrowheads="1"/>
          </p:cNvSpPr>
          <p:nvPr/>
        </p:nvSpPr>
        <p:spPr bwMode="auto">
          <a:xfrm>
            <a:off x="152400" y="4800600"/>
            <a:ext cx="8839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2400" b="1"/>
              <a:t>Pourquoi un cours de méthodes numériques ?</a:t>
            </a:r>
          </a:p>
        </p:txBody>
      </p:sp>
      <p:sp>
        <p:nvSpPr>
          <p:cNvPr id="4102" name="Rectangle 5"/>
          <p:cNvSpPr>
            <a:spLocks noChangeArrowheads="1"/>
          </p:cNvSpPr>
          <p:nvPr/>
        </p:nvSpPr>
        <p:spPr bwMode="auto">
          <a:xfrm>
            <a:off x="304800" y="5562600"/>
            <a:ext cx="8340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400" b="1">
                <a:solidFill>
                  <a:srgbClr val="A50021"/>
                </a:solidFill>
              </a:rPr>
              <a:t>Pour faire de la modélisation de phénomènes physiques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A2E0D2A-BB96-4BDD-AC31-F96B95C56DB9}" type="slidenum">
              <a:rPr lang="en-US" altLang="fr-FR" sz="1400" smtClean="0"/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fr-FR" sz="1400" smtClean="0"/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152400"/>
            <a:ext cx="7391400" cy="639763"/>
          </a:xfrm>
        </p:spPr>
        <p:txBody>
          <a:bodyPr/>
          <a:lstStyle/>
          <a:p>
            <a:pPr eaLnBrk="1" hangingPunct="1"/>
            <a:r>
              <a:rPr lang="fr-FR" altLang="fr-FR" sz="2400" smtClean="0"/>
              <a:t>Cours + TD + BE de méthodes numériques </a:t>
            </a:r>
          </a:p>
        </p:txBody>
      </p:sp>
      <p:sp>
        <p:nvSpPr>
          <p:cNvPr id="5124" name="Rectangle 3"/>
          <p:cNvSpPr>
            <a:spLocks noChangeArrowheads="1"/>
          </p:cNvSpPr>
          <p:nvPr/>
        </p:nvSpPr>
        <p:spPr bwMode="auto">
          <a:xfrm>
            <a:off x="228600" y="1276350"/>
            <a:ext cx="8610600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2400" u="sng"/>
              <a:t>Intervenants pour la filière GEN :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2400" i="1"/>
              <a:t>Jean-Christophe Toussaint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2400" i="1"/>
              <a:t>Marc Fivel – Adrien Bidaud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fr-FR" altLang="fr-FR" sz="2400" i="1"/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fr-FR" altLang="fr-FR" sz="2400"/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2400" b="1"/>
              <a:t>60 Heures</a:t>
            </a:r>
            <a:r>
              <a:rPr lang="fr-FR" altLang="fr-FR" sz="2400"/>
              <a:t> (15 séances de 4 heures)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2400"/>
              <a:t>Minatec sud salle info spécialisée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2400" b="1">
                <a:solidFill>
                  <a:srgbClr val="FF0000"/>
                </a:solidFill>
              </a:rPr>
              <a:t>Présence obligatoire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fr-FR" altLang="fr-FR" sz="2400" b="1">
              <a:solidFill>
                <a:srgbClr val="FF0000"/>
              </a:solidFill>
            </a:endParaRPr>
          </a:p>
        </p:txBody>
      </p:sp>
      <p:sp>
        <p:nvSpPr>
          <p:cNvPr id="5125" name="Rectangle 4"/>
          <p:cNvSpPr>
            <a:spLocks noChangeArrowheads="1"/>
          </p:cNvSpPr>
          <p:nvPr/>
        </p:nvSpPr>
        <p:spPr bwMode="auto">
          <a:xfrm>
            <a:off x="152400" y="4800600"/>
            <a:ext cx="8839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2400" b="1"/>
              <a:t>Pourquoi un cours de méthodes numériques ?</a:t>
            </a:r>
          </a:p>
        </p:txBody>
      </p:sp>
      <p:sp>
        <p:nvSpPr>
          <p:cNvPr id="5126" name="Rectangle 5"/>
          <p:cNvSpPr>
            <a:spLocks noChangeArrowheads="1"/>
          </p:cNvSpPr>
          <p:nvPr/>
        </p:nvSpPr>
        <p:spPr bwMode="auto">
          <a:xfrm>
            <a:off x="304800" y="5562600"/>
            <a:ext cx="8340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400" b="1">
                <a:solidFill>
                  <a:srgbClr val="A50021"/>
                </a:solidFill>
              </a:rPr>
              <a:t>Pour faire de la modélisation de phénomènes physiques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1F2A701-091C-4328-A7D0-7626177B7611}" type="slidenum">
              <a:rPr lang="en-US" altLang="fr-FR" sz="1400" smtClean="0"/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fr-FR" sz="1400" smtClean="0"/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-26988"/>
            <a:ext cx="7315200" cy="1143001"/>
          </a:xfrm>
        </p:spPr>
        <p:txBody>
          <a:bodyPr/>
          <a:lstStyle/>
          <a:p>
            <a:pPr eaLnBrk="1" hangingPunct="1"/>
            <a:r>
              <a:rPr lang="fr-FR" altLang="fr-FR" sz="2400" smtClean="0">
                <a:solidFill>
                  <a:schemeClr val="tx1"/>
                </a:solidFill>
              </a:rPr>
              <a:t>Cours + TD + BE de méthodes numériques</a:t>
            </a:r>
          </a:p>
        </p:txBody>
      </p:sp>
      <p:sp>
        <p:nvSpPr>
          <p:cNvPr id="6148" name="Rectangle 3"/>
          <p:cNvSpPr>
            <a:spLocks noChangeArrowheads="1"/>
          </p:cNvSpPr>
          <p:nvPr/>
        </p:nvSpPr>
        <p:spPr bwMode="auto">
          <a:xfrm>
            <a:off x="600075" y="1119188"/>
            <a:ext cx="8467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400" b="1" u="sng"/>
              <a:t>La modélisation</a:t>
            </a:r>
            <a:r>
              <a:rPr lang="fr-FR" altLang="fr-FR" sz="2400" b="1"/>
              <a:t> : Mais à quoi ça sert ?</a:t>
            </a:r>
          </a:p>
        </p:txBody>
      </p:sp>
      <p:sp>
        <p:nvSpPr>
          <p:cNvPr id="6149" name="Text Box 4"/>
          <p:cNvSpPr txBox="1">
            <a:spLocks noChangeArrowheads="1"/>
          </p:cNvSpPr>
          <p:nvPr/>
        </p:nvSpPr>
        <p:spPr bwMode="auto">
          <a:xfrm>
            <a:off x="627063" y="4268788"/>
            <a:ext cx="7475537" cy="173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solidFill>
                  <a:srgbClr val="FF0000"/>
                </a:solidFill>
              </a:rPr>
              <a:t>Evolutions</a:t>
            </a:r>
            <a:r>
              <a:rPr lang="fr-FR" altLang="fr-FR" sz="1800">
                <a:solidFill>
                  <a:schemeClr val="accent2"/>
                </a:solidFill>
              </a:rPr>
              <a:t> : </a:t>
            </a:r>
            <a:r>
              <a:rPr lang="fr-FR" altLang="fr-FR" sz="1800"/>
              <a:t>spatiales et temporelles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solidFill>
                  <a:srgbClr val="FF0000"/>
                </a:solidFill>
              </a:rPr>
              <a:t>Equations</a:t>
            </a:r>
            <a:r>
              <a:rPr lang="fr-FR" altLang="fr-FR" sz="1800">
                <a:solidFill>
                  <a:schemeClr val="accent2"/>
                </a:solidFill>
              </a:rPr>
              <a:t> : </a:t>
            </a:r>
            <a:r>
              <a:rPr lang="fr-FR" altLang="fr-FR" sz="1800"/>
              <a:t>lois de conservation (flux thermique, flux de matière,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	    équations de Maxwell …)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solidFill>
                  <a:srgbClr val="FF0000"/>
                </a:solidFill>
              </a:rPr>
              <a:t>Equations aux Dérivées Partielles (EDP)</a:t>
            </a:r>
            <a:r>
              <a:rPr lang="fr-FR" altLang="fr-FR" sz="1800">
                <a:solidFill>
                  <a:schemeClr val="accent2"/>
                </a:solidFill>
              </a:rPr>
              <a:t> :</a:t>
            </a:r>
            <a:r>
              <a:rPr lang="fr-FR" altLang="fr-FR" sz="1800">
                <a:solidFill>
                  <a:schemeClr val="accent2"/>
                </a:solidFill>
                <a:latin typeface="Trebuchet MS" panose="020B0603020202020204" pitchFamily="34" charset="0"/>
              </a:rPr>
              <a:t> </a:t>
            </a:r>
            <a:r>
              <a:rPr lang="fr-FR" altLang="fr-FR" sz="1800">
                <a:latin typeface="Symbol" panose="05050102010706020507" pitchFamily="18" charset="2"/>
                <a:sym typeface="Symbol" panose="05050102010706020507" pitchFamily="18" charset="2"/>
              </a:rPr>
              <a:t> </a:t>
            </a:r>
            <a:r>
              <a:rPr lang="fr-FR" altLang="fr-FR" sz="1800">
                <a:latin typeface="Trebuchet MS" panose="020B0603020202020204" pitchFamily="34" charset="0"/>
              </a:rPr>
              <a:t>/ </a:t>
            </a:r>
            <a:r>
              <a:rPr lang="fr-FR" altLang="fr-FR" sz="1800">
                <a:sym typeface="Symbol" panose="05050102010706020507" pitchFamily="18" charset="2"/>
              </a:rPr>
              <a:t></a:t>
            </a:r>
            <a:r>
              <a:rPr lang="fr-FR" altLang="fr-FR" sz="1800">
                <a:latin typeface="Trebuchet MS" panose="020B0603020202020204" pitchFamily="34" charset="0"/>
              </a:rPr>
              <a:t>x, </a:t>
            </a:r>
            <a:r>
              <a:rPr lang="fr-FR" altLang="fr-FR" sz="1800">
                <a:sym typeface="Symbol" panose="05050102010706020507" pitchFamily="18" charset="2"/>
              </a:rPr>
              <a:t></a:t>
            </a:r>
            <a:r>
              <a:rPr lang="fr-FR" altLang="fr-FR" sz="1800" baseline="30000">
                <a:sym typeface="UniversalMath1 BT" pitchFamily="18" charset="2"/>
              </a:rPr>
              <a:t>2 </a:t>
            </a:r>
            <a:r>
              <a:rPr lang="fr-FR" altLang="fr-FR" sz="1800">
                <a:latin typeface="Trebuchet MS" panose="020B0603020202020204" pitchFamily="34" charset="0"/>
              </a:rPr>
              <a:t>/ </a:t>
            </a:r>
            <a:r>
              <a:rPr lang="fr-FR" altLang="fr-FR" sz="1800">
                <a:sym typeface="Symbol" panose="05050102010706020507" pitchFamily="18" charset="2"/>
              </a:rPr>
              <a:t></a:t>
            </a:r>
            <a:r>
              <a:rPr lang="fr-FR" altLang="fr-FR" sz="1800">
                <a:latin typeface="Trebuchet MS" panose="020B0603020202020204" pitchFamily="34" charset="0"/>
              </a:rPr>
              <a:t>x</a:t>
            </a:r>
            <a:r>
              <a:rPr lang="fr-FR" altLang="fr-FR" sz="1800" baseline="30000">
                <a:sym typeface="UniversalMath1 BT" pitchFamily="18" charset="2"/>
              </a:rPr>
              <a:t>2</a:t>
            </a:r>
            <a:r>
              <a:rPr lang="fr-FR" altLang="fr-FR" sz="1800">
                <a:latin typeface="Trebuchet MS" panose="020B0603020202020204" pitchFamily="34" charset="0"/>
              </a:rPr>
              <a:t>, </a:t>
            </a:r>
            <a:r>
              <a:rPr lang="fr-FR" altLang="fr-FR" sz="1800">
                <a:sym typeface="Symbol" panose="05050102010706020507" pitchFamily="18" charset="2"/>
              </a:rPr>
              <a:t></a:t>
            </a:r>
            <a:r>
              <a:rPr lang="fr-FR" altLang="fr-FR" sz="1800">
                <a:sym typeface="UniversalMath1 BT" pitchFamily="18" charset="2"/>
              </a:rPr>
              <a:t> </a:t>
            </a:r>
            <a:r>
              <a:rPr lang="fr-FR" altLang="fr-FR" sz="1800">
                <a:latin typeface="Trebuchet MS" panose="020B0603020202020204" pitchFamily="34" charset="0"/>
              </a:rPr>
              <a:t>/ </a:t>
            </a:r>
            <a:r>
              <a:rPr lang="fr-FR" altLang="fr-FR" sz="1800">
                <a:sym typeface="Symbol" panose="05050102010706020507" pitchFamily="18" charset="2"/>
              </a:rPr>
              <a:t></a:t>
            </a:r>
            <a:r>
              <a:rPr lang="fr-FR" altLang="fr-FR" sz="1800">
                <a:sym typeface="UniversalMath1 BT" pitchFamily="18" charset="2"/>
              </a:rPr>
              <a:t>t</a:t>
            </a:r>
            <a:r>
              <a:rPr lang="fr-FR" altLang="fr-FR" sz="1800"/>
              <a:t>, </a:t>
            </a:r>
            <a:r>
              <a:rPr lang="fr-FR" altLang="fr-FR" sz="1800">
                <a:sym typeface="Symbol" panose="05050102010706020507" pitchFamily="18" charset="2"/>
              </a:rPr>
              <a:t></a:t>
            </a:r>
            <a:r>
              <a:rPr lang="fr-FR" altLang="fr-FR" sz="1800" baseline="30000">
                <a:sym typeface="UniversalMath1 BT" pitchFamily="18" charset="2"/>
              </a:rPr>
              <a:t>2 </a:t>
            </a:r>
            <a:r>
              <a:rPr lang="fr-FR" altLang="fr-FR" sz="1800"/>
              <a:t>/ </a:t>
            </a:r>
            <a:r>
              <a:rPr lang="fr-FR" altLang="fr-FR" sz="1800">
                <a:sym typeface="Symbol" panose="05050102010706020507" pitchFamily="18" charset="2"/>
              </a:rPr>
              <a:t></a:t>
            </a:r>
            <a:r>
              <a:rPr lang="fr-FR" altLang="fr-FR" sz="1800"/>
              <a:t>t</a:t>
            </a:r>
            <a:r>
              <a:rPr lang="fr-FR" altLang="fr-FR" sz="1800" baseline="30000"/>
              <a:t>2</a:t>
            </a:r>
            <a:r>
              <a:rPr lang="fr-FR" altLang="fr-FR" sz="1800">
                <a:solidFill>
                  <a:schemeClr val="accent2"/>
                </a:solidFill>
                <a:latin typeface="Trebuchet MS" panose="020B0603020202020204" pitchFamily="34" charset="0"/>
              </a:rPr>
              <a:t> </a:t>
            </a:r>
          </a:p>
        </p:txBody>
      </p:sp>
      <p:sp>
        <p:nvSpPr>
          <p:cNvPr id="6150" name="Rectangle 5"/>
          <p:cNvSpPr>
            <a:spLocks noChangeArrowheads="1"/>
          </p:cNvSpPr>
          <p:nvPr/>
        </p:nvSpPr>
        <p:spPr bwMode="auto">
          <a:xfrm>
            <a:off x="627063" y="1752600"/>
            <a:ext cx="8297862" cy="2289175"/>
          </a:xfrm>
          <a:prstGeom prst="rect">
            <a:avLst/>
          </a:pr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fr-FR" altLang="fr-FR" sz="2000" b="1" u="sng">
                <a:solidFill>
                  <a:srgbClr val="FF0000"/>
                </a:solidFill>
              </a:rPr>
              <a:t>Modélisation</a:t>
            </a:r>
            <a:r>
              <a:rPr lang="fr-FR" altLang="fr-FR" sz="2000" b="1">
                <a:solidFill>
                  <a:srgbClr val="FF0000"/>
                </a:solidFill>
              </a:rPr>
              <a:t> </a:t>
            </a:r>
            <a:r>
              <a:rPr lang="fr-FR" altLang="fr-FR" sz="1600" i="1">
                <a:solidFill>
                  <a:srgbClr val="FF0000"/>
                </a:solidFill>
              </a:rPr>
              <a:t>(dictionnaire Robert)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fr-FR" altLang="fr-FR" sz="1800"/>
              <a:t>Mise en équation d’un phénomène complexe permettant d’en prévoir les évolutions</a:t>
            </a: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fr-FR" altLang="fr-FR" sz="800" b="1" u="sng"/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fr-FR" altLang="fr-FR" sz="2000" b="1" u="sng">
                <a:solidFill>
                  <a:srgbClr val="FF0000"/>
                </a:solidFill>
              </a:rPr>
              <a:t>Simulation</a:t>
            </a:r>
            <a:r>
              <a:rPr lang="fr-FR" altLang="fr-FR" sz="2000" b="1">
                <a:solidFill>
                  <a:srgbClr val="FF0000"/>
                </a:solidFill>
              </a:rPr>
              <a:t> 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fr-FR" altLang="fr-FR" sz="1800"/>
              <a:t>Processus qui permet de reproduire numériquement sur ordinateur un phénomène décrit par un modèle mathématique.</a:t>
            </a:r>
          </a:p>
        </p:txBody>
      </p:sp>
      <p:pic>
        <p:nvPicPr>
          <p:cNvPr id="6151" name="Picture 6" descr="shalivr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0" y="990600"/>
            <a:ext cx="838200" cy="66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200C123-B821-4A73-A5DE-D1A8BE0A592F}" type="slidenum">
              <a:rPr lang="en-US" altLang="fr-FR" sz="1400" smtClean="0"/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fr-FR" sz="1400" smtClean="0"/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198438"/>
            <a:ext cx="7467600" cy="563562"/>
          </a:xfrm>
        </p:spPr>
        <p:txBody>
          <a:bodyPr/>
          <a:lstStyle/>
          <a:p>
            <a:pPr eaLnBrk="1" hangingPunct="1"/>
            <a:r>
              <a:rPr lang="fr-FR" altLang="fr-FR" sz="2400" smtClean="0">
                <a:solidFill>
                  <a:schemeClr val="tx1"/>
                </a:solidFill>
              </a:rPr>
              <a:t>La modélisation de phénomènes physiques</a:t>
            </a:r>
          </a:p>
        </p:txBody>
      </p:sp>
      <p:sp>
        <p:nvSpPr>
          <p:cNvPr id="7172" name="Rectangle 3"/>
          <p:cNvSpPr>
            <a:spLocks noChangeArrowheads="1"/>
          </p:cNvSpPr>
          <p:nvPr/>
        </p:nvSpPr>
        <p:spPr bwMode="auto">
          <a:xfrm>
            <a:off x="685800" y="1682750"/>
            <a:ext cx="7772400" cy="109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fr-FR" altLang="fr-FR" sz="2000"/>
              <a:t>Les intérêts de simuler le fonctionnement de dispositifs réels sont :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fr-FR" altLang="fr-FR" sz="2000"/>
              <a:t> pour </a:t>
            </a:r>
            <a:r>
              <a:rPr lang="fr-FR" altLang="fr-FR" sz="2000" b="1"/>
              <a:t>mieux les concevoir</a:t>
            </a:r>
            <a:endParaRPr lang="fr-FR" altLang="fr-FR" sz="2000"/>
          </a:p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fr-FR" altLang="fr-FR" sz="2000"/>
              <a:t> pour </a:t>
            </a:r>
            <a:r>
              <a:rPr lang="fr-FR" altLang="fr-FR" sz="2000" b="1"/>
              <a:t>optimiser le fonctionnement</a:t>
            </a:r>
            <a:r>
              <a:rPr lang="fr-FR" altLang="fr-FR" sz="2000"/>
              <a:t> </a:t>
            </a:r>
          </a:p>
        </p:txBody>
      </p:sp>
      <p:sp>
        <p:nvSpPr>
          <p:cNvPr id="7173" name="Rectangle 4"/>
          <p:cNvSpPr>
            <a:spLocks noChangeArrowheads="1"/>
          </p:cNvSpPr>
          <p:nvPr/>
        </p:nvSpPr>
        <p:spPr bwMode="auto">
          <a:xfrm>
            <a:off x="1295400" y="1066800"/>
            <a:ext cx="67151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2000"/>
              <a:t>La </a:t>
            </a:r>
            <a:r>
              <a:rPr lang="fr-FR" altLang="fr-FR" sz="2000" b="1"/>
              <a:t>Modélisation</a:t>
            </a:r>
            <a:r>
              <a:rPr lang="fr-FR" altLang="fr-FR" sz="2000"/>
              <a:t> : Mais à quoi ça sert ?</a:t>
            </a:r>
          </a:p>
        </p:txBody>
      </p:sp>
      <p:sp>
        <p:nvSpPr>
          <p:cNvPr id="7174" name="AutoShape 5"/>
          <p:cNvSpPr>
            <a:spLocks noChangeArrowheads="1"/>
          </p:cNvSpPr>
          <p:nvPr/>
        </p:nvSpPr>
        <p:spPr bwMode="auto">
          <a:xfrm>
            <a:off x="5562600" y="2292350"/>
            <a:ext cx="876300" cy="527050"/>
          </a:xfrm>
          <a:prstGeom prst="notchedRightArrow">
            <a:avLst>
              <a:gd name="adj1" fmla="val 50000"/>
              <a:gd name="adj2" fmla="val 41566"/>
            </a:avLst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</p:txBody>
      </p:sp>
      <p:sp>
        <p:nvSpPr>
          <p:cNvPr id="7175" name="Text Box 6"/>
          <p:cNvSpPr txBox="1">
            <a:spLocks noChangeArrowheads="1"/>
          </p:cNvSpPr>
          <p:nvPr/>
        </p:nvSpPr>
        <p:spPr bwMode="auto">
          <a:xfrm>
            <a:off x="1371600" y="3482975"/>
            <a:ext cx="1739900" cy="1244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ja-JP" sz="2400">
                <a:ea typeface="MS Mincho" pitchFamily="49" charset="-128"/>
              </a:rPr>
              <a:t>Modéliser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ja-JP" sz="2400">
                <a:ea typeface="MS Mincho" pitchFamily="49" charset="-128"/>
              </a:rPr>
              <a:t>les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2400" b="1">
                <a:ea typeface="MS Mincho" pitchFamily="49" charset="-128"/>
              </a:rPr>
              <a:t>OBJETS</a:t>
            </a:r>
            <a:endParaRPr lang="fr-FR" altLang="fr-FR" sz="1800">
              <a:ea typeface="MS Mincho" pitchFamily="49" charset="-128"/>
            </a:endParaRPr>
          </a:p>
        </p:txBody>
      </p:sp>
      <p:sp>
        <p:nvSpPr>
          <p:cNvPr id="7176" name="Text Box 7"/>
          <p:cNvSpPr txBox="1">
            <a:spLocks noChangeArrowheads="1"/>
          </p:cNvSpPr>
          <p:nvPr/>
        </p:nvSpPr>
        <p:spPr bwMode="auto">
          <a:xfrm>
            <a:off x="5181600" y="3505200"/>
            <a:ext cx="2378075" cy="1244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ja-JP" sz="2400">
                <a:ea typeface="MS Mincho" pitchFamily="49" charset="-128"/>
              </a:rPr>
              <a:t>Modéliser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ja-JP" sz="2400">
                <a:ea typeface="MS Mincho" pitchFamily="49" charset="-128"/>
              </a:rPr>
              <a:t>les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2400" b="1">
                <a:ea typeface="MS Mincho" pitchFamily="49" charset="-128"/>
              </a:rPr>
              <a:t>PHENOMENES</a:t>
            </a:r>
            <a:endParaRPr lang="fr-FR" altLang="fr-FR" sz="1800">
              <a:ea typeface="MS Mincho" pitchFamily="49" charset="-128"/>
            </a:endParaRPr>
          </a:p>
        </p:txBody>
      </p:sp>
      <p:sp>
        <p:nvSpPr>
          <p:cNvPr id="7177" name="Text Box 8"/>
          <p:cNvSpPr txBox="1">
            <a:spLocks noChangeArrowheads="1"/>
          </p:cNvSpPr>
          <p:nvPr/>
        </p:nvSpPr>
        <p:spPr bwMode="auto">
          <a:xfrm>
            <a:off x="1177925" y="5105400"/>
            <a:ext cx="23272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000"/>
              <a:t>Cadre de la D.A.O.</a:t>
            </a:r>
          </a:p>
        </p:txBody>
      </p:sp>
      <p:sp>
        <p:nvSpPr>
          <p:cNvPr id="7178" name="Text Box 9"/>
          <p:cNvSpPr txBox="1">
            <a:spLocks noChangeArrowheads="1"/>
          </p:cNvSpPr>
          <p:nvPr/>
        </p:nvSpPr>
        <p:spPr bwMode="auto">
          <a:xfrm>
            <a:off x="4713288" y="5105400"/>
            <a:ext cx="3516312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000"/>
              <a:t>Cadre des Math. Appliquées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000"/>
              <a:t>à la Physique, à la Biologie, à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000"/>
              <a:t>la Finance</a:t>
            </a:r>
          </a:p>
        </p:txBody>
      </p:sp>
      <p:sp>
        <p:nvSpPr>
          <p:cNvPr id="7179" name="AutoShape 10"/>
          <p:cNvSpPr>
            <a:spLocks noChangeArrowheads="1"/>
          </p:cNvSpPr>
          <p:nvPr/>
        </p:nvSpPr>
        <p:spPr bwMode="auto">
          <a:xfrm>
            <a:off x="990600" y="3276600"/>
            <a:ext cx="2667000" cy="1676400"/>
          </a:xfrm>
          <a:prstGeom prst="flowChartAlternateProcess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</p:txBody>
      </p:sp>
      <p:sp>
        <p:nvSpPr>
          <p:cNvPr id="7180" name="AutoShape 11"/>
          <p:cNvSpPr>
            <a:spLocks noChangeArrowheads="1"/>
          </p:cNvSpPr>
          <p:nvPr/>
        </p:nvSpPr>
        <p:spPr bwMode="auto">
          <a:xfrm>
            <a:off x="5029200" y="3276600"/>
            <a:ext cx="2667000" cy="1676400"/>
          </a:xfrm>
          <a:prstGeom prst="flowChartAlternateProcess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29D8129-F96B-43C5-9B1F-6284A6E4B7BB}" type="slidenum">
              <a:rPr lang="en-US" altLang="fr-FR" sz="1400" smtClean="0"/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fr-FR" sz="1400" smtClean="0"/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171450"/>
            <a:ext cx="8229600" cy="1143000"/>
          </a:xfrm>
          <a:noFill/>
        </p:spPr>
        <p:txBody>
          <a:bodyPr/>
          <a:lstStyle/>
          <a:p>
            <a:pPr eaLnBrk="1" hangingPunct="1"/>
            <a:r>
              <a:rPr lang="fr-FR" altLang="fr-FR" sz="2400" smtClean="0">
                <a:solidFill>
                  <a:schemeClr val="tx1"/>
                </a:solidFill>
              </a:rPr>
              <a:t>Etapes de la Simulation Numérique</a:t>
            </a:r>
          </a:p>
        </p:txBody>
      </p:sp>
      <p:sp>
        <p:nvSpPr>
          <p:cNvPr id="8196" name="Text Box 3"/>
          <p:cNvSpPr txBox="1">
            <a:spLocks noChangeArrowheads="1"/>
          </p:cNvSpPr>
          <p:nvPr/>
        </p:nvSpPr>
        <p:spPr bwMode="auto">
          <a:xfrm>
            <a:off x="381000" y="1833563"/>
            <a:ext cx="8499475" cy="7112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000"/>
              <a:t>Approximation : dépendance des propriétés physiques en fonction des variables d’état (par ex. k</a:t>
            </a:r>
            <a:r>
              <a:rPr lang="fr-FR" altLang="fr-FR" sz="2000" baseline="-25000"/>
              <a:t>th</a:t>
            </a:r>
            <a:r>
              <a:rPr lang="fr-FR" altLang="fr-FR" sz="2000"/>
              <a:t>=f(T))</a:t>
            </a:r>
          </a:p>
        </p:txBody>
      </p:sp>
      <p:sp>
        <p:nvSpPr>
          <p:cNvPr id="8197" name="Text Box 4"/>
          <p:cNvSpPr txBox="1">
            <a:spLocks noChangeArrowheads="1"/>
          </p:cNvSpPr>
          <p:nvPr/>
        </p:nvSpPr>
        <p:spPr bwMode="auto">
          <a:xfrm>
            <a:off x="381000" y="836613"/>
            <a:ext cx="3014663" cy="7112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000"/>
              <a:t>Phénomène Physique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000"/>
              <a:t>(Expériences – Mesures)</a:t>
            </a:r>
          </a:p>
        </p:txBody>
      </p:sp>
      <p:sp>
        <p:nvSpPr>
          <p:cNvPr id="8198" name="Text Box 5"/>
          <p:cNvSpPr txBox="1">
            <a:spLocks noChangeArrowheads="1"/>
          </p:cNvSpPr>
          <p:nvPr/>
        </p:nvSpPr>
        <p:spPr bwMode="auto">
          <a:xfrm>
            <a:off x="457200" y="3625850"/>
            <a:ext cx="7813675" cy="3116263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fr-FR" altLang="fr-FR" sz="2000"/>
              <a:t> Lois de conservation (par ex. du flux de chaleur)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fr-FR" altLang="fr-FR" sz="2000">
                <a:sym typeface="Symbol" panose="05050102010706020507" pitchFamily="18" charset="2"/>
              </a:rPr>
              <a:t> Modèle Physico-Mathématique :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fr-FR" altLang="fr-FR" sz="2000">
                <a:sym typeface="Symbol" panose="05050102010706020507" pitchFamily="18" charset="2"/>
              </a:rPr>
              <a:t>Équations différentielles EDO (temps) :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Symbol" panose="05050102010706020507" pitchFamily="18" charset="2"/>
              <a:buNone/>
            </a:pPr>
            <a:endParaRPr lang="fr-FR" altLang="fr-FR" sz="2000"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fr-FR" altLang="fr-FR" sz="2000">
                <a:sym typeface="Symbol" panose="05050102010706020507" pitchFamily="18" charset="2"/>
              </a:rPr>
              <a:t>ou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fr-FR" altLang="fr-FR" sz="2000">
                <a:sym typeface="Symbol" panose="05050102010706020507" pitchFamily="18" charset="2"/>
              </a:rPr>
              <a:t>Equations aux dérivées partielles EDP (temps et espace) :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Symbol" panose="05050102010706020507" pitchFamily="18" charset="2"/>
              <a:buNone/>
            </a:pPr>
            <a:endParaRPr lang="fr-FR" altLang="fr-FR" sz="2000"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Symbol" panose="05050102010706020507" pitchFamily="18" charset="2"/>
              <a:buNone/>
            </a:pPr>
            <a:endParaRPr lang="fr-FR" altLang="fr-FR" sz="2000"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Symbol" panose="05050102010706020507" pitchFamily="18" charset="2"/>
              <a:buNone/>
            </a:pPr>
            <a:endParaRPr lang="fr-FR" altLang="fr-FR" sz="2000">
              <a:sym typeface="Symbol" panose="05050102010706020507" pitchFamily="18" charset="2"/>
            </a:endParaRPr>
          </a:p>
        </p:txBody>
      </p:sp>
      <p:sp>
        <p:nvSpPr>
          <p:cNvPr id="8199" name="Text Box 6"/>
          <p:cNvSpPr txBox="1">
            <a:spLocks noChangeArrowheads="1"/>
          </p:cNvSpPr>
          <p:nvPr/>
        </p:nvSpPr>
        <p:spPr bwMode="auto">
          <a:xfrm>
            <a:off x="4114800" y="989013"/>
            <a:ext cx="4749800" cy="4064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000"/>
              <a:t>Définition des variables d’état (par ex. T)</a:t>
            </a:r>
          </a:p>
        </p:txBody>
      </p:sp>
      <p:sp>
        <p:nvSpPr>
          <p:cNvPr id="8200" name="AutoShape 7"/>
          <p:cNvSpPr>
            <a:spLocks noChangeArrowheads="1"/>
          </p:cNvSpPr>
          <p:nvPr/>
        </p:nvSpPr>
        <p:spPr bwMode="auto">
          <a:xfrm rot="-5400000">
            <a:off x="3611563" y="874713"/>
            <a:ext cx="304800" cy="6096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</p:txBody>
      </p:sp>
      <p:graphicFrame>
        <p:nvGraphicFramePr>
          <p:cNvPr id="8201" name="Object 8"/>
          <p:cNvGraphicFramePr>
            <a:graphicFrameLocks noChangeAspect="1"/>
          </p:cNvGraphicFramePr>
          <p:nvPr/>
        </p:nvGraphicFramePr>
        <p:xfrm>
          <a:off x="1979613" y="4495800"/>
          <a:ext cx="4791075" cy="798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4" name="Equation" r:id="rId3" imgW="2667000" imgH="444500" progId="Equation.DSMT4">
                  <p:embed/>
                </p:oleObj>
              </mc:Choice>
              <mc:Fallback>
                <p:oleObj name="Equation" r:id="rId3" imgW="2667000" imgH="4445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4495800"/>
                        <a:ext cx="4791075" cy="798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2" name="Object 9"/>
          <p:cNvGraphicFramePr>
            <a:graphicFrameLocks noChangeAspect="1"/>
          </p:cNvGraphicFramePr>
          <p:nvPr/>
        </p:nvGraphicFramePr>
        <p:xfrm>
          <a:off x="1676400" y="5778500"/>
          <a:ext cx="6410325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5" name="Equation" r:id="rId5" imgW="3568700" imgH="431800" progId="Equation.DSMT4">
                  <p:embed/>
                </p:oleObj>
              </mc:Choice>
              <mc:Fallback>
                <p:oleObj name="Equation" r:id="rId5" imgW="3568700" imgH="4318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5778500"/>
                        <a:ext cx="6410325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00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3" name="AutoShape 10"/>
          <p:cNvSpPr>
            <a:spLocks noChangeArrowheads="1"/>
          </p:cNvSpPr>
          <p:nvPr/>
        </p:nvSpPr>
        <p:spPr bwMode="auto">
          <a:xfrm>
            <a:off x="2590800" y="1522413"/>
            <a:ext cx="304800" cy="304800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</p:txBody>
      </p:sp>
      <p:sp>
        <p:nvSpPr>
          <p:cNvPr id="8204" name="AutoShape 11"/>
          <p:cNvSpPr>
            <a:spLocks noChangeArrowheads="1"/>
          </p:cNvSpPr>
          <p:nvPr/>
        </p:nvSpPr>
        <p:spPr bwMode="auto">
          <a:xfrm>
            <a:off x="6400800" y="1370013"/>
            <a:ext cx="304800" cy="457200"/>
          </a:xfrm>
          <a:prstGeom prst="downArrow">
            <a:avLst>
              <a:gd name="adj1" fmla="val 50000"/>
              <a:gd name="adj2" fmla="val 375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</p:txBody>
      </p:sp>
      <p:sp>
        <p:nvSpPr>
          <p:cNvPr id="8205" name="Text Box 12"/>
          <p:cNvSpPr txBox="1">
            <a:spLocks noChangeArrowheads="1"/>
          </p:cNvSpPr>
          <p:nvPr/>
        </p:nvSpPr>
        <p:spPr bwMode="auto">
          <a:xfrm>
            <a:off x="441325" y="2906713"/>
            <a:ext cx="6015038" cy="4064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000"/>
              <a:t>Approximation de la réponse du système : (par ex.) </a:t>
            </a:r>
          </a:p>
        </p:txBody>
      </p:sp>
      <p:graphicFrame>
        <p:nvGraphicFramePr>
          <p:cNvPr id="8206" name="Object 13"/>
          <p:cNvGraphicFramePr>
            <a:graphicFrameLocks noChangeAspect="1"/>
          </p:cNvGraphicFramePr>
          <p:nvPr/>
        </p:nvGraphicFramePr>
        <p:xfrm>
          <a:off x="6529388" y="2895600"/>
          <a:ext cx="1928812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6" name="Equation" r:id="rId7" imgW="965200" imgH="228600" progId="Equation.DSMT4">
                  <p:embed/>
                </p:oleObj>
              </mc:Choice>
              <mc:Fallback>
                <p:oleObj name="Equation" r:id="rId7" imgW="965200" imgH="2286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9388" y="2895600"/>
                        <a:ext cx="1928812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66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7" name="AutoShape 14"/>
          <p:cNvSpPr>
            <a:spLocks noChangeArrowheads="1"/>
          </p:cNvSpPr>
          <p:nvPr/>
        </p:nvSpPr>
        <p:spPr bwMode="auto">
          <a:xfrm>
            <a:off x="2590800" y="2519363"/>
            <a:ext cx="304800" cy="381000"/>
          </a:xfrm>
          <a:prstGeom prst="downArrow">
            <a:avLst>
              <a:gd name="adj1" fmla="val 50000"/>
              <a:gd name="adj2" fmla="val 3125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</p:txBody>
      </p:sp>
      <p:sp>
        <p:nvSpPr>
          <p:cNvPr id="8208" name="AutoShape 15"/>
          <p:cNvSpPr>
            <a:spLocks noChangeArrowheads="1"/>
          </p:cNvSpPr>
          <p:nvPr/>
        </p:nvSpPr>
        <p:spPr bwMode="auto">
          <a:xfrm>
            <a:off x="2590800" y="3276600"/>
            <a:ext cx="304800" cy="381000"/>
          </a:xfrm>
          <a:prstGeom prst="downArrow">
            <a:avLst>
              <a:gd name="adj1" fmla="val 50000"/>
              <a:gd name="adj2" fmla="val 3125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C2C83BE-ADD4-4FC8-952B-33299110B4DC}" type="slidenum">
              <a:rPr lang="en-US" altLang="fr-FR" sz="1400" smtClean="0"/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fr-FR" sz="1400" smtClean="0"/>
          </a:p>
        </p:txBody>
      </p:sp>
      <p:sp>
        <p:nvSpPr>
          <p:cNvPr id="9219" name="Text Box 2"/>
          <p:cNvSpPr txBox="1">
            <a:spLocks noChangeArrowheads="1"/>
          </p:cNvSpPr>
          <p:nvPr/>
        </p:nvSpPr>
        <p:spPr bwMode="auto">
          <a:xfrm>
            <a:off x="1600200" y="1295400"/>
            <a:ext cx="6626225" cy="741363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000"/>
              <a:t> A</a:t>
            </a:r>
            <a:r>
              <a:rPr lang="fr-FR" altLang="fr-FR" sz="2000">
                <a:sym typeface="Symbol" panose="05050102010706020507" pitchFamily="18" charset="2"/>
              </a:rPr>
              <a:t>nalyse mathématique des EDO et EDP :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fr-FR" altLang="fr-FR" sz="2000">
                <a:sym typeface="Symbol" panose="05050102010706020507" pitchFamily="18" charset="2"/>
              </a:rPr>
              <a:t> ? Une solution analytique sur des géométries simples ?</a:t>
            </a:r>
          </a:p>
        </p:txBody>
      </p:sp>
      <p:sp>
        <p:nvSpPr>
          <p:cNvPr id="9220" name="Text Box 3"/>
          <p:cNvSpPr txBox="1">
            <a:spLocks noChangeArrowheads="1"/>
          </p:cNvSpPr>
          <p:nvPr/>
        </p:nvSpPr>
        <p:spPr bwMode="auto">
          <a:xfrm>
            <a:off x="1143000" y="4089400"/>
            <a:ext cx="7302500" cy="2111375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fr-FR" altLang="fr-FR" sz="2000"/>
              <a:t>Programmation sur ordinateur avec un langage de haut niveau: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fr-FR" altLang="fr-FR" sz="2000"/>
              <a:t>Débogage, Validation avec des cas tests,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fr-FR" altLang="fr-FR" sz="2000"/>
              <a:t>Visualisation et Post-traitement des résultats.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fr-FR" altLang="fr-FR" sz="2000"/>
              <a:t>Confrontation avec des mesures sur systèmes réels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fr-FR" altLang="fr-FR" sz="2000"/>
              <a:t>Optimisation,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fr-FR" altLang="fr-FR" sz="2000"/>
              <a:t>Mise en exploitation, retour d’expériences.</a:t>
            </a:r>
          </a:p>
        </p:txBody>
      </p:sp>
      <p:sp>
        <p:nvSpPr>
          <p:cNvPr id="9221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-100013"/>
            <a:ext cx="8229600" cy="1143001"/>
          </a:xfrm>
          <a:noFill/>
        </p:spPr>
        <p:txBody>
          <a:bodyPr/>
          <a:lstStyle/>
          <a:p>
            <a:pPr eaLnBrk="1" hangingPunct="1"/>
            <a:r>
              <a:rPr lang="fr-FR" altLang="fr-FR" sz="2400" smtClean="0">
                <a:solidFill>
                  <a:schemeClr val="tx1"/>
                </a:solidFill>
              </a:rPr>
              <a:t>Etapes de la Simulation Numérique</a:t>
            </a:r>
          </a:p>
        </p:txBody>
      </p:sp>
      <p:sp>
        <p:nvSpPr>
          <p:cNvPr id="9222" name="Text Box 5"/>
          <p:cNvSpPr txBox="1">
            <a:spLocks noChangeArrowheads="1"/>
          </p:cNvSpPr>
          <p:nvPr/>
        </p:nvSpPr>
        <p:spPr bwMode="auto">
          <a:xfrm>
            <a:off x="914400" y="2540000"/>
            <a:ext cx="7764463" cy="1106488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fr-FR" altLang="fr-FR" sz="2000"/>
              <a:t>A</a:t>
            </a:r>
            <a:r>
              <a:rPr lang="fr-FR" altLang="fr-FR" sz="2000">
                <a:sym typeface="Symbol" panose="05050102010706020507" pitchFamily="18" charset="2"/>
              </a:rPr>
              <a:t>nalyse numérique des EDO et EDP :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fr-FR" altLang="fr-FR" sz="2000">
                <a:sym typeface="Symbol" panose="05050102010706020507" pitchFamily="18" charset="2"/>
              </a:rPr>
              <a:t>discrétisation en temps-espace  écriture de schémas numériques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fr-FR" altLang="fr-FR" sz="2000">
                <a:sym typeface="Symbol" panose="05050102010706020507" pitchFamily="18" charset="2"/>
              </a:rPr>
              <a:t>Estimation d’erreurs – Algorithme de résolution</a:t>
            </a:r>
          </a:p>
        </p:txBody>
      </p:sp>
      <p:sp>
        <p:nvSpPr>
          <p:cNvPr id="9223" name="AutoShape 6"/>
          <p:cNvSpPr>
            <a:spLocks noChangeArrowheads="1"/>
          </p:cNvSpPr>
          <p:nvPr/>
        </p:nvSpPr>
        <p:spPr bwMode="auto">
          <a:xfrm>
            <a:off x="4419600" y="838200"/>
            <a:ext cx="304800" cy="457200"/>
          </a:xfrm>
          <a:prstGeom prst="downArrow">
            <a:avLst>
              <a:gd name="adj1" fmla="val 50000"/>
              <a:gd name="adj2" fmla="val 375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</p:txBody>
      </p:sp>
      <p:sp>
        <p:nvSpPr>
          <p:cNvPr id="9224" name="AutoShape 7"/>
          <p:cNvSpPr>
            <a:spLocks noChangeArrowheads="1"/>
          </p:cNvSpPr>
          <p:nvPr/>
        </p:nvSpPr>
        <p:spPr bwMode="auto">
          <a:xfrm>
            <a:off x="4419600" y="2057400"/>
            <a:ext cx="304800" cy="457200"/>
          </a:xfrm>
          <a:prstGeom prst="downArrow">
            <a:avLst>
              <a:gd name="adj1" fmla="val 50000"/>
              <a:gd name="adj2" fmla="val 375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</p:txBody>
      </p:sp>
      <p:sp>
        <p:nvSpPr>
          <p:cNvPr id="9225" name="AutoShape 8"/>
          <p:cNvSpPr>
            <a:spLocks noChangeArrowheads="1"/>
          </p:cNvSpPr>
          <p:nvPr/>
        </p:nvSpPr>
        <p:spPr bwMode="auto">
          <a:xfrm>
            <a:off x="4419600" y="3619500"/>
            <a:ext cx="304800" cy="457200"/>
          </a:xfrm>
          <a:prstGeom prst="downArrow">
            <a:avLst>
              <a:gd name="adj1" fmla="val 50000"/>
              <a:gd name="adj2" fmla="val 375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3D92A4F-88D5-402D-951A-0C549F0250BD}" type="slidenum">
              <a:rPr lang="en-US" altLang="fr-FR" sz="1400" smtClean="0"/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fr-FR" sz="1400" smtClean="0"/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0350"/>
            <a:ext cx="7696200" cy="457200"/>
          </a:xfrm>
        </p:spPr>
        <p:txBody>
          <a:bodyPr/>
          <a:lstStyle/>
          <a:p>
            <a:pPr eaLnBrk="1" hangingPunct="1"/>
            <a:r>
              <a:rPr lang="fr-FR" altLang="fr-FR" sz="2400" smtClean="0"/>
              <a:t>Plan du cours de méthodes numériques</a:t>
            </a:r>
          </a:p>
        </p:txBody>
      </p:sp>
      <p:sp>
        <p:nvSpPr>
          <p:cNvPr id="10244" name="Rectangle 3"/>
          <p:cNvSpPr>
            <a:spLocks noChangeArrowheads="1"/>
          </p:cNvSpPr>
          <p:nvPr/>
        </p:nvSpPr>
        <p:spPr bwMode="auto">
          <a:xfrm>
            <a:off x="457200" y="914400"/>
            <a:ext cx="8686800" cy="5551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457200" algn="l"/>
                <a:tab pos="6858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457200" algn="l"/>
                <a:tab pos="6858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457200" algn="l"/>
                <a:tab pos="6858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457200" algn="l"/>
                <a:tab pos="685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457200" algn="l"/>
                <a:tab pos="685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  <a:tab pos="685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  <a:tab pos="685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  <a:tab pos="685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  <a:tab pos="685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000" b="1">
                <a:solidFill>
                  <a:srgbClr val="A50021"/>
                </a:solidFill>
              </a:rPr>
              <a:t>Généralités - Introduction à Matlab (2 séances)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2000" b="1">
              <a:solidFill>
                <a:srgbClr val="A50021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000"/>
              <a:t>Résolution numérique d'équations différentielles (2 séances)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20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000"/>
              <a:t>Résolution d'équations aux dérivées partielles - 1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	</a:t>
            </a:r>
            <a:r>
              <a:rPr lang="fr-FR" altLang="fr-FR" sz="1800" b="1"/>
              <a:t>Méthode des différences finies</a:t>
            </a:r>
            <a:r>
              <a:rPr lang="fr-FR" altLang="fr-FR" sz="1800"/>
              <a:t> (3 séances)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000"/>
              <a:t>		</a:t>
            </a:r>
            <a:r>
              <a:rPr lang="fr-FR" altLang="fr-FR" sz="1600"/>
              <a:t>Schéma explicite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/>
              <a:t>		Schéma explicite + implicite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/>
              <a:t>		Schéma implicite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000"/>
              <a:t>Résolution des systèmes linéaires et non linéaires (1 séance)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20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000"/>
              <a:t>Interpolation et intégration numérique (2 séances)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20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000"/>
              <a:t>Résolution d'équations aux dérivées partielles -2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	</a:t>
            </a:r>
            <a:r>
              <a:rPr lang="fr-FR" altLang="fr-FR" sz="1800" b="1"/>
              <a:t>Méthode des éléments finis</a:t>
            </a:r>
            <a:r>
              <a:rPr lang="fr-FR" altLang="fr-FR" sz="1800"/>
              <a:t> (5 séances)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000"/>
              <a:t>		</a:t>
            </a:r>
            <a:r>
              <a:rPr lang="fr-FR" altLang="fr-FR" sz="1600"/>
              <a:t>Approche de Galerkin sur EDP électrocinétique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/>
              <a:t>		Approche de Galerkin sur EDP électrostatique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/>
              <a:t>		Approche de Galerkin sur EDP Thermique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5440C89-EA59-4261-A9FD-21BE6BB13A68}" type="slidenum">
              <a:rPr lang="en-US" altLang="fr-FR" sz="1400" smtClean="0"/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fr-FR" sz="1400" smtClean="0"/>
          </a:p>
        </p:txBody>
      </p:sp>
      <p:sp>
        <p:nvSpPr>
          <p:cNvPr id="11267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fr-FR" smtClean="0"/>
              <a:t>Introduction à Matlab </a:t>
            </a:r>
          </a:p>
        </p:txBody>
      </p:sp>
      <p:sp>
        <p:nvSpPr>
          <p:cNvPr id="11268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fr-FR" sz="2800" smtClean="0"/>
              <a:t>Logiciel commercial développé par The MathWorks Inc.</a:t>
            </a:r>
          </a:p>
          <a:p>
            <a:pPr eaLnBrk="1" hangingPunct="1">
              <a:lnSpc>
                <a:spcPct val="90000"/>
              </a:lnSpc>
            </a:pPr>
            <a:endParaRPr lang="en-US" altLang="fr-FR" sz="2800" smtClean="0"/>
          </a:p>
          <a:p>
            <a:pPr eaLnBrk="1" hangingPunct="1">
              <a:lnSpc>
                <a:spcPct val="90000"/>
              </a:lnSpc>
            </a:pPr>
            <a:r>
              <a:rPr lang="en-US" altLang="fr-FR" sz="2800" smtClean="0"/>
              <a:t>Calcul numérique sur des grandeurs vectorielles et matricielles, réelles ou complexes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fr-FR" sz="2800" smtClean="0"/>
          </a:p>
          <a:p>
            <a:pPr eaLnBrk="1" hangingPunct="1">
              <a:lnSpc>
                <a:spcPct val="90000"/>
              </a:lnSpc>
            </a:pPr>
            <a:r>
              <a:rPr lang="en-US" altLang="fr-FR" sz="2800" smtClean="0"/>
              <a:t>Clône de Matlab = octave</a:t>
            </a:r>
          </a:p>
          <a:p>
            <a:pPr eaLnBrk="1" hangingPunct="1">
              <a:lnSpc>
                <a:spcPct val="90000"/>
              </a:lnSpc>
            </a:pPr>
            <a:endParaRPr lang="en-US" altLang="fr-FR" sz="2800" smtClean="0"/>
          </a:p>
          <a:p>
            <a:pPr eaLnBrk="1" hangingPunct="1">
              <a:lnSpc>
                <a:spcPct val="90000"/>
              </a:lnSpc>
            </a:pPr>
            <a:r>
              <a:rPr lang="en-US" altLang="fr-FR" sz="2800" smtClean="0"/>
              <a:t>Fonctionne sous Unix et Windows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800" y="1989138"/>
            <a:ext cx="7377113" cy="4608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1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fr-FR" sz="3200" smtClean="0"/>
              <a:t>Prise en main</a:t>
            </a:r>
          </a:p>
        </p:txBody>
      </p:sp>
      <p:sp>
        <p:nvSpPr>
          <p:cNvPr id="12292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68313" y="1341438"/>
            <a:ext cx="8229600" cy="4525962"/>
          </a:xfrm>
        </p:spPr>
        <p:txBody>
          <a:bodyPr/>
          <a:lstStyle/>
          <a:p>
            <a:pPr eaLnBrk="1" hangingPunct="1"/>
            <a:r>
              <a:rPr lang="en-US" altLang="fr-FR" sz="2800" smtClean="0"/>
              <a:t>Dans une fenêtre terminal, taper matlab &amp;</a:t>
            </a:r>
          </a:p>
          <a:p>
            <a:pPr eaLnBrk="1" hangingPunct="1">
              <a:buFontTx/>
              <a:buNone/>
            </a:pPr>
            <a:r>
              <a:rPr lang="en-US" altLang="fr-FR" smtClean="0"/>
              <a:t> </a:t>
            </a:r>
          </a:p>
        </p:txBody>
      </p:sp>
      <p:sp>
        <p:nvSpPr>
          <p:cNvPr id="12293" name="AutoShape 7"/>
          <p:cNvSpPr>
            <a:spLocks/>
          </p:cNvSpPr>
          <p:nvPr/>
        </p:nvSpPr>
        <p:spPr bwMode="auto">
          <a:xfrm>
            <a:off x="6429375" y="2636838"/>
            <a:ext cx="2520950" cy="609600"/>
          </a:xfrm>
          <a:prstGeom prst="borderCallout2">
            <a:avLst>
              <a:gd name="adj1" fmla="val 18750"/>
              <a:gd name="adj2" fmla="val -3023"/>
              <a:gd name="adj3" fmla="val 18750"/>
              <a:gd name="adj4" fmla="val -63162"/>
              <a:gd name="adj5" fmla="val 153454"/>
              <a:gd name="adj6" fmla="val -170565"/>
            </a:avLst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fr-FR" sz="1800"/>
              <a:t>Invite de commande</a:t>
            </a:r>
          </a:p>
        </p:txBody>
      </p:sp>
      <p:sp>
        <p:nvSpPr>
          <p:cNvPr id="12294" name="Text Box 10"/>
          <p:cNvSpPr txBox="1">
            <a:spLocks noChangeArrowheads="1"/>
          </p:cNvSpPr>
          <p:nvPr/>
        </p:nvSpPr>
        <p:spPr bwMode="auto">
          <a:xfrm>
            <a:off x="5254625" y="3395663"/>
            <a:ext cx="1174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Variables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déclarées</a:t>
            </a:r>
          </a:p>
        </p:txBody>
      </p:sp>
      <p:sp>
        <p:nvSpPr>
          <p:cNvPr id="12295" name="Text Box 11"/>
          <p:cNvSpPr txBox="1">
            <a:spLocks noChangeArrowheads="1"/>
          </p:cNvSpPr>
          <p:nvPr/>
        </p:nvSpPr>
        <p:spPr bwMode="auto">
          <a:xfrm>
            <a:off x="5940425" y="5249863"/>
            <a:ext cx="1428750" cy="915987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Historique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des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commandes</a:t>
            </a:r>
          </a:p>
        </p:txBody>
      </p:sp>
      <p:sp>
        <p:nvSpPr>
          <p:cNvPr id="12296" name="AutoShape 13"/>
          <p:cNvSpPr>
            <a:spLocks/>
          </p:cNvSpPr>
          <p:nvPr/>
        </p:nvSpPr>
        <p:spPr bwMode="auto">
          <a:xfrm>
            <a:off x="6516688" y="3675063"/>
            <a:ext cx="2447925" cy="1049337"/>
          </a:xfrm>
          <a:prstGeom prst="borderCallout2">
            <a:avLst>
              <a:gd name="adj1" fmla="val 10894"/>
              <a:gd name="adj2" fmla="val -3111"/>
              <a:gd name="adj3" fmla="val 10894"/>
              <a:gd name="adj4" fmla="val -28986"/>
              <a:gd name="adj5" fmla="val 69778"/>
              <a:gd name="adj6" fmla="val -93981"/>
            </a:avLst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Cliquer sur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i="1"/>
              <a:t>help/MATLAB help</a:t>
            </a:r>
            <a:r>
              <a:rPr lang="fr-FR" altLang="fr-FR" sz="1800"/>
              <a:t>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pour accéder à l'aide</a:t>
            </a:r>
            <a:endParaRPr lang="en-US" altLang="fr-FR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C1F5678-1195-4BD8-B00B-C884E3F260FF}" type="slidenum">
              <a:rPr lang="en-US" altLang="fr-FR" sz="1400" smtClean="0"/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fr-FR" sz="1400" smtClean="0"/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fr-FR" sz="3200" smtClean="0"/>
              <a:t>Introduction d</a:t>
            </a:r>
            <a:r>
              <a:rPr lang="ja-JP" altLang="en-US" sz="3200" smtClean="0"/>
              <a:t>’</a:t>
            </a:r>
            <a:r>
              <a:rPr lang="en-US" altLang="ja-JP" sz="3200" smtClean="0"/>
              <a:t>une matrice</a:t>
            </a:r>
            <a:endParaRPr lang="en-US" altLang="fr-FR" sz="3200" smtClean="0"/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68313" y="1628775"/>
            <a:ext cx="8229600" cy="2185988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fr-FR" sz="2400" smtClean="0">
                <a:sym typeface="Wingdings" panose="05000000000000000000" pitchFamily="2" charset="2"/>
              </a:rPr>
              <a:t>--&gt; </a:t>
            </a:r>
            <a:r>
              <a:rPr lang="en-US" altLang="fr-FR" sz="2400" smtClean="0"/>
              <a:t>A=[1  1  1; 2  4  8; 3  9  27]</a:t>
            </a:r>
          </a:p>
          <a:p>
            <a:pPr eaLnBrk="1" hangingPunct="1">
              <a:buFont typeface="Wingdings" panose="05000000000000000000" pitchFamily="2" charset="2"/>
              <a:buChar char="à"/>
            </a:pPr>
            <a:endParaRPr lang="en-US" altLang="fr-FR" sz="2400" smtClean="0"/>
          </a:p>
          <a:p>
            <a:pPr eaLnBrk="1" hangingPunct="1">
              <a:buFontTx/>
              <a:buNone/>
            </a:pPr>
            <a:r>
              <a:rPr lang="pt-BR" altLang="fr-FR" sz="2400" smtClean="0"/>
              <a:t> A  =</a:t>
            </a:r>
          </a:p>
          <a:p>
            <a:pPr eaLnBrk="1" hangingPunct="1">
              <a:buFontTx/>
              <a:buNone/>
            </a:pPr>
            <a:r>
              <a:rPr lang="pt-BR" altLang="fr-FR" sz="2400" smtClean="0"/>
              <a:t>    1.    1.    1.   </a:t>
            </a:r>
          </a:p>
          <a:p>
            <a:pPr eaLnBrk="1" hangingPunct="1">
              <a:buFontTx/>
              <a:buNone/>
            </a:pPr>
            <a:r>
              <a:rPr lang="pt-BR" altLang="fr-FR" sz="2400" smtClean="0"/>
              <a:t>    2.    4.    8.   </a:t>
            </a:r>
          </a:p>
          <a:p>
            <a:pPr eaLnBrk="1" hangingPunct="1">
              <a:buFontTx/>
              <a:buNone/>
            </a:pPr>
            <a:r>
              <a:rPr lang="pt-BR" altLang="fr-FR" sz="2400" smtClean="0"/>
              <a:t>    3.    9.    27.  </a:t>
            </a:r>
          </a:p>
          <a:p>
            <a:pPr eaLnBrk="1" hangingPunct="1">
              <a:buFontTx/>
              <a:buNone/>
            </a:pPr>
            <a:endParaRPr lang="pt-BR" altLang="fr-FR" sz="2400" smtClean="0"/>
          </a:p>
          <a:p>
            <a:pPr eaLnBrk="1" hangingPunct="1">
              <a:buFontTx/>
              <a:buNone/>
            </a:pPr>
            <a:endParaRPr lang="pt-BR" altLang="fr-FR" sz="2400" smtClean="0"/>
          </a:p>
          <a:p>
            <a:pPr eaLnBrk="1" hangingPunct="1">
              <a:buFontTx/>
              <a:buNone/>
            </a:pPr>
            <a:endParaRPr lang="pt-BR" altLang="fr-FR" sz="2400" smtClean="0"/>
          </a:p>
          <a:p>
            <a:pPr eaLnBrk="1" hangingPunct="1">
              <a:buFontTx/>
              <a:buNone/>
            </a:pPr>
            <a:endParaRPr lang="en-US" altLang="fr-FR" sz="2800" smtClean="0"/>
          </a:p>
          <a:p>
            <a:pPr eaLnBrk="1" hangingPunct="1"/>
            <a:endParaRPr lang="en-US" altLang="fr-FR" sz="2800" smtClean="0"/>
          </a:p>
        </p:txBody>
      </p:sp>
      <p:sp>
        <p:nvSpPr>
          <p:cNvPr id="13317" name="AutoShape 4"/>
          <p:cNvSpPr>
            <a:spLocks noChangeArrowheads="1"/>
          </p:cNvSpPr>
          <p:nvPr/>
        </p:nvSpPr>
        <p:spPr bwMode="auto">
          <a:xfrm rot="10800000" flipH="1">
            <a:off x="4716463" y="1773238"/>
            <a:ext cx="360362" cy="287337"/>
          </a:xfrm>
          <a:custGeom>
            <a:avLst/>
            <a:gdLst>
              <a:gd name="T0" fmla="*/ 2147483646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2147483646 w 21600"/>
              <a:gd name="T7" fmla="*/ 2147483646 h 21600"/>
              <a:gd name="T8" fmla="*/ 2147483646 w 21600"/>
              <a:gd name="T9" fmla="*/ 2147483646 h 21600"/>
              <a:gd name="T10" fmla="*/ 2147483646 w 21600"/>
              <a:gd name="T11" fmla="*/ 2147483646 h 21600"/>
              <a:gd name="T12" fmla="*/ 17694720 60000 65536"/>
              <a:gd name="T13" fmla="*/ 11796480 60000 65536"/>
              <a:gd name="T14" fmla="*/ 11796480 60000 65536"/>
              <a:gd name="T15" fmla="*/ 5898240 60000 65536"/>
              <a:gd name="T16" fmla="*/ 0 60000 65536"/>
              <a:gd name="T17" fmla="*/ 0 60000 65536"/>
              <a:gd name="T18" fmla="*/ 0 w 21600"/>
              <a:gd name="T19" fmla="*/ 14400 h 21600"/>
              <a:gd name="T20" fmla="*/ 18514 w 21600"/>
              <a:gd name="T21" fmla="*/ 21600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5429" y="0"/>
                </a:moveTo>
                <a:lnTo>
                  <a:pt x="9257" y="7200"/>
                </a:lnTo>
                <a:lnTo>
                  <a:pt x="12343" y="7200"/>
                </a:lnTo>
                <a:lnTo>
                  <a:pt x="12343" y="14400"/>
                </a:lnTo>
                <a:lnTo>
                  <a:pt x="0" y="14400"/>
                </a:lnTo>
                <a:lnTo>
                  <a:pt x="0" y="21600"/>
                </a:lnTo>
                <a:lnTo>
                  <a:pt x="18514" y="21600"/>
                </a:lnTo>
                <a:lnTo>
                  <a:pt x="18514" y="7200"/>
                </a:lnTo>
                <a:lnTo>
                  <a:pt x="21600" y="7200"/>
                </a:lnTo>
                <a:lnTo>
                  <a:pt x="15429" y="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3318" name="Text Box 6"/>
          <p:cNvSpPr txBox="1">
            <a:spLocks noChangeArrowheads="1"/>
          </p:cNvSpPr>
          <p:nvPr/>
        </p:nvSpPr>
        <p:spPr bwMode="auto">
          <a:xfrm>
            <a:off x="539750" y="4502150"/>
            <a:ext cx="2293938" cy="2405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fr-FR" sz="2400">
                <a:sym typeface="Wingdings" panose="05000000000000000000" pitchFamily="2" charset="2"/>
              </a:rPr>
              <a:t>--&gt;</a:t>
            </a:r>
            <a:r>
              <a:rPr lang="pt-BR" altLang="fr-FR" sz="2400">
                <a:sym typeface="Wingdings" panose="05000000000000000000" pitchFamily="2" charset="2"/>
              </a:rPr>
              <a:t>  A</a:t>
            </a:r>
            <a:r>
              <a:rPr lang="pt-BR" altLang="fr-FR">
                <a:sym typeface="Wingdings" panose="05000000000000000000" pitchFamily="2" charset="2"/>
              </a:rPr>
              <a:t>’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fr-FR" sz="2400">
              <a:sym typeface="Wingdings" panose="05000000000000000000" pitchFamily="2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2400">
                <a:sym typeface="Wingdings" panose="05000000000000000000" pitchFamily="2" charset="2"/>
              </a:rPr>
              <a:t>    1.    2.    3.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2400">
                <a:sym typeface="Wingdings" panose="05000000000000000000" pitchFamily="2" charset="2"/>
              </a:rPr>
              <a:t>    1.    4.    9.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2400">
                <a:sym typeface="Wingdings" panose="05000000000000000000" pitchFamily="2" charset="2"/>
              </a:rPr>
              <a:t>    1.    8.    27.  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fr-FR" sz="2400">
              <a:sym typeface="Wingdings" panose="05000000000000000000" pitchFamily="2" charset="2"/>
            </a:endParaRPr>
          </a:p>
        </p:txBody>
      </p:sp>
      <p:sp>
        <p:nvSpPr>
          <p:cNvPr id="13319" name="AutoShape 7"/>
          <p:cNvSpPr>
            <a:spLocks/>
          </p:cNvSpPr>
          <p:nvPr/>
        </p:nvSpPr>
        <p:spPr bwMode="auto">
          <a:xfrm>
            <a:off x="3640138" y="4394200"/>
            <a:ext cx="5180012" cy="1050925"/>
          </a:xfrm>
          <a:prstGeom prst="borderCallout2">
            <a:avLst>
              <a:gd name="adj1" fmla="val 10875"/>
              <a:gd name="adj2" fmla="val -1556"/>
              <a:gd name="adj3" fmla="val 10875"/>
              <a:gd name="adj4" fmla="val -21773"/>
              <a:gd name="adj5" fmla="val 45167"/>
              <a:gd name="adj6" fmla="val -42764"/>
            </a:avLst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2000"/>
              <a:t>L</a:t>
            </a:r>
            <a:r>
              <a:rPr lang="ja-JP" altLang="en-US" sz="2000"/>
              <a:t>’</a:t>
            </a:r>
            <a:r>
              <a:rPr lang="en-US" altLang="ja-JP" sz="2000"/>
              <a:t>opérateur </a:t>
            </a:r>
            <a:r>
              <a:rPr lang="ja-JP" altLang="en-US" sz="3600" b="1"/>
              <a:t>’</a:t>
            </a:r>
            <a:r>
              <a:rPr lang="en-US" altLang="ja-JP" sz="2000" b="1"/>
              <a:t> </a:t>
            </a:r>
            <a:r>
              <a:rPr lang="en-US" altLang="ja-JP" sz="2000"/>
              <a:t>calcule la Matrice transposée conjuguée complexe</a:t>
            </a:r>
            <a:endParaRPr lang="en-US" altLang="fr-FR" sz="2000"/>
          </a:p>
        </p:txBody>
      </p:sp>
      <p:sp>
        <p:nvSpPr>
          <p:cNvPr id="13320" name="AutoShape 8"/>
          <p:cNvSpPr>
            <a:spLocks/>
          </p:cNvSpPr>
          <p:nvPr/>
        </p:nvSpPr>
        <p:spPr bwMode="auto">
          <a:xfrm>
            <a:off x="3708400" y="2276475"/>
            <a:ext cx="5111750" cy="1873250"/>
          </a:xfrm>
          <a:prstGeom prst="borderCallout2">
            <a:avLst>
              <a:gd name="adj1" fmla="val 6102"/>
              <a:gd name="adj2" fmla="val -1579"/>
              <a:gd name="adj3" fmla="val 6102"/>
              <a:gd name="adj4" fmla="val -12144"/>
              <a:gd name="adj5" fmla="val -9745"/>
              <a:gd name="adj6" fmla="val -23065"/>
            </a:avLst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2000"/>
              <a:t>Définition de la Matrice 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fr-FR" sz="2000"/>
          </a:p>
          <a:p>
            <a:pPr eaLnBrk="1" hangingPunct="1">
              <a:spcBef>
                <a:spcPct val="0"/>
              </a:spcBef>
            </a:pPr>
            <a:r>
              <a:rPr lang="en-US" altLang="fr-FR" sz="2000"/>
              <a:t> chaque composante séparée par un blanc.</a:t>
            </a:r>
          </a:p>
          <a:p>
            <a:pPr eaLnBrk="1" hangingPunct="1">
              <a:spcBef>
                <a:spcPct val="0"/>
              </a:spcBef>
            </a:pPr>
            <a:r>
              <a:rPr lang="en-US" altLang="fr-FR" sz="2000"/>
              <a:t> chaque ligne par un point-virgule</a:t>
            </a:r>
          </a:p>
        </p:txBody>
      </p:sp>
      <p:sp>
        <p:nvSpPr>
          <p:cNvPr id="13321" name="Text Box 9"/>
          <p:cNvSpPr txBox="1">
            <a:spLocks noChangeArrowheads="1"/>
          </p:cNvSpPr>
          <p:nvPr/>
        </p:nvSpPr>
        <p:spPr bwMode="auto">
          <a:xfrm>
            <a:off x="3708400" y="5876925"/>
            <a:ext cx="292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2000"/>
              <a:t>Comment calculer 2*A ?</a:t>
            </a:r>
          </a:p>
        </p:txBody>
      </p:sp>
      <p:pic>
        <p:nvPicPr>
          <p:cNvPr id="1332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1288" y="4587875"/>
            <a:ext cx="631825" cy="66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12C625D-5578-41B7-9052-9C3EE635518C}" type="slidenum">
              <a:rPr lang="en-US" altLang="fr-FR" sz="1400" smtClean="0"/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fr-FR" sz="1400" smtClean="0"/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fr-FR" sz="3200" smtClean="0"/>
              <a:t>Produit matrice-vecteur</a:t>
            </a:r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fr-FR" sz="2400" smtClean="0">
                <a:sym typeface="Wingdings" panose="05000000000000000000" pitchFamily="2" charset="2"/>
              </a:rPr>
              <a:t>--&gt; b= [1 0 0]</a:t>
            </a:r>
            <a:r>
              <a:rPr lang="en-US" altLang="fr-FR" b="1" smtClean="0">
                <a:sym typeface="Wingdings" panose="05000000000000000000" pitchFamily="2" charset="2"/>
              </a:rPr>
              <a:t>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fr-FR" sz="2400" smtClean="0">
              <a:sym typeface="Wingdings" panose="05000000000000000000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fr-FR" sz="2400" smtClean="0">
                <a:sym typeface="Wingdings" panose="05000000000000000000" pitchFamily="2" charset="2"/>
              </a:rPr>
              <a:t>--&gt; A*b</a:t>
            </a:r>
          </a:p>
          <a:p>
            <a:pPr eaLnBrk="1" hangingPunct="1">
              <a:buFontTx/>
              <a:buNone/>
            </a:pPr>
            <a:r>
              <a:rPr lang="en-US" altLang="fr-FR" sz="2400" smtClean="0">
                <a:sym typeface="Wingdings" panose="05000000000000000000" pitchFamily="2" charset="2"/>
              </a:rPr>
              <a:t>        </a:t>
            </a:r>
            <a:r>
              <a:rPr lang="en-US" altLang="fr-FR" sz="1800" smtClean="0">
                <a:solidFill>
                  <a:srgbClr val="FF0000"/>
                </a:solidFill>
                <a:sym typeface="Wingdings" panose="05000000000000000000" pitchFamily="2" charset="2"/>
              </a:rPr>
              <a:t>??? Error using ==&gt; *</a:t>
            </a:r>
          </a:p>
          <a:p>
            <a:pPr eaLnBrk="1" hangingPunct="1">
              <a:buFontTx/>
              <a:buNone/>
            </a:pPr>
            <a:r>
              <a:rPr lang="en-US" altLang="fr-FR" sz="1800" smtClean="0">
                <a:solidFill>
                  <a:srgbClr val="FF0000"/>
                </a:solidFill>
                <a:sym typeface="Wingdings" panose="05000000000000000000" pitchFamily="2" charset="2"/>
              </a:rPr>
              <a:t>      Inner matrix dimensions must agree.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fr-FR" sz="1800" smtClean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fr-FR" sz="2400" smtClean="0">
                <a:sym typeface="Wingdings" panose="05000000000000000000" pitchFamily="2" charset="2"/>
              </a:rPr>
              <a:t>--&gt; A*b</a:t>
            </a:r>
            <a:r>
              <a:rPr lang="ja-JP" altLang="en-US" sz="2400" smtClean="0">
                <a:sym typeface="Wingdings" panose="05000000000000000000" pitchFamily="2" charset="2"/>
              </a:rPr>
              <a:t>’</a:t>
            </a:r>
            <a:endParaRPr lang="en-US" altLang="ja-JP" sz="2400" smtClean="0">
              <a:sym typeface="Wingdings" panose="05000000000000000000" pitchFamily="2" charset="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fr-FR" sz="2400" smtClean="0">
              <a:sym typeface="Wingdings" panose="05000000000000000000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fr-FR" sz="2400" smtClean="0">
                <a:sym typeface="Wingdings" panose="05000000000000000000" pitchFamily="2" charset="2"/>
              </a:rPr>
              <a:t>    1. 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fr-FR" sz="2400" smtClean="0">
                <a:sym typeface="Wingdings" panose="05000000000000000000" pitchFamily="2" charset="2"/>
              </a:rPr>
              <a:t>    2. 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fr-FR" sz="2400" smtClean="0">
                <a:sym typeface="Wingdings" panose="05000000000000000000" pitchFamily="2" charset="2"/>
              </a:rPr>
              <a:t>    3. 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fr-FR" sz="2400" smtClean="0">
              <a:sym typeface="Wingdings" panose="05000000000000000000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fr-FR" sz="2400" smtClean="0">
                <a:sym typeface="Wingdings" panose="05000000000000000000" pitchFamily="2" charset="2"/>
              </a:rPr>
              <a:t>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fr-FR" sz="2400" smtClean="0"/>
          </a:p>
        </p:txBody>
      </p:sp>
      <p:sp>
        <p:nvSpPr>
          <p:cNvPr id="14341" name="AutoShape 5"/>
          <p:cNvSpPr>
            <a:spLocks/>
          </p:cNvSpPr>
          <p:nvPr/>
        </p:nvSpPr>
        <p:spPr bwMode="auto">
          <a:xfrm>
            <a:off x="3492500" y="1484313"/>
            <a:ext cx="4968875" cy="431800"/>
          </a:xfrm>
          <a:prstGeom prst="borderCallout2">
            <a:avLst>
              <a:gd name="adj1" fmla="val 26472"/>
              <a:gd name="adj2" fmla="val -1532"/>
              <a:gd name="adj3" fmla="val 26472"/>
              <a:gd name="adj4" fmla="val -11310"/>
              <a:gd name="adj5" fmla="val 96324"/>
              <a:gd name="adj6" fmla="val -21440"/>
            </a:avLst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2000"/>
              <a:t>Pas d</a:t>
            </a:r>
            <a:r>
              <a:rPr lang="ja-JP" altLang="en-US" sz="2000"/>
              <a:t>’</a:t>
            </a:r>
            <a:r>
              <a:rPr lang="en-US" altLang="ja-JP" sz="2000"/>
              <a:t>affichage du résultat si point-virgule</a:t>
            </a:r>
            <a:r>
              <a:rPr lang="en-US" altLang="ja-JP" sz="1800"/>
              <a:t> </a:t>
            </a:r>
            <a:endParaRPr lang="en-US" altLang="fr-FR" sz="1800"/>
          </a:p>
        </p:txBody>
      </p:sp>
      <p:sp>
        <p:nvSpPr>
          <p:cNvPr id="14342" name="Text Box 6"/>
          <p:cNvSpPr txBox="1">
            <a:spLocks noChangeArrowheads="1"/>
          </p:cNvSpPr>
          <p:nvPr/>
        </p:nvSpPr>
        <p:spPr bwMode="auto">
          <a:xfrm>
            <a:off x="4932363" y="2997200"/>
            <a:ext cx="2738437" cy="164465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fr-FR" sz="2000"/>
              <a:t> 		|1 0 0|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fr-FR" sz="2000"/>
              <a:t>|   1.    1.    1.   |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fr-FR" sz="2000"/>
              <a:t>|   2.    4.    8.   |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fr-FR" sz="2000"/>
              <a:t>|   3.    9.    27. |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fr-FR" sz="2000"/>
          </a:p>
        </p:txBody>
      </p:sp>
      <p:sp>
        <p:nvSpPr>
          <p:cNvPr id="14343" name="Text Box 8"/>
          <p:cNvSpPr txBox="1">
            <a:spLocks noChangeArrowheads="1"/>
          </p:cNvSpPr>
          <p:nvPr/>
        </p:nvSpPr>
        <p:spPr bwMode="auto">
          <a:xfrm>
            <a:off x="3924300" y="5445125"/>
            <a:ext cx="3754438" cy="42545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2000"/>
              <a:t>Opérateurs arithmétiques + - * /</a:t>
            </a:r>
          </a:p>
        </p:txBody>
      </p:sp>
      <p:sp>
        <p:nvSpPr>
          <p:cNvPr id="14344" name="Text Box 9"/>
          <p:cNvSpPr txBox="1">
            <a:spLocks noChangeArrowheads="1"/>
          </p:cNvSpPr>
          <p:nvPr/>
        </p:nvSpPr>
        <p:spPr bwMode="auto">
          <a:xfrm>
            <a:off x="7019925" y="3573463"/>
            <a:ext cx="61436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2000"/>
              <a:t>=</a:t>
            </a:r>
            <a:r>
              <a:rPr lang="en-US" altLang="fr-FR" sz="4000"/>
              <a:t>?</a:t>
            </a:r>
          </a:p>
        </p:txBody>
      </p:sp>
      <p:sp>
        <p:nvSpPr>
          <p:cNvPr id="14345" name="Line 10"/>
          <p:cNvSpPr>
            <a:spLocks noChangeShapeType="1"/>
          </p:cNvSpPr>
          <p:nvPr/>
        </p:nvSpPr>
        <p:spPr bwMode="auto">
          <a:xfrm flipV="1">
            <a:off x="1258888" y="4797425"/>
            <a:ext cx="0" cy="10795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4346" name="Line 11"/>
          <p:cNvSpPr>
            <a:spLocks noChangeShapeType="1"/>
          </p:cNvSpPr>
          <p:nvPr/>
        </p:nvSpPr>
        <p:spPr bwMode="auto">
          <a:xfrm flipV="1">
            <a:off x="684213" y="4797425"/>
            <a:ext cx="0" cy="10795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72B31AB-8B92-4439-BB6D-36CB61EFF4C4}" type="slidenum">
              <a:rPr lang="en-US" altLang="fr-FR" sz="1400" smtClean="0"/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fr-FR" sz="1400" smtClean="0"/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fr-FR" sz="2800" smtClean="0"/>
              <a:t>Résolution de systèmes linéaires</a:t>
            </a:r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90550" y="1782763"/>
            <a:ext cx="8229600" cy="4525962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fr-FR" sz="2400" smtClean="0">
                <a:sym typeface="Wingdings" panose="05000000000000000000" pitchFamily="2" charset="2"/>
              </a:rPr>
              <a:t>--&gt; b= [1 0 0]</a:t>
            </a:r>
            <a:r>
              <a:rPr lang="ja-JP" altLang="en-US" sz="2400" b="1" smtClean="0">
                <a:sym typeface="Wingdings" panose="05000000000000000000" pitchFamily="2" charset="2"/>
              </a:rPr>
              <a:t>’</a:t>
            </a:r>
            <a:r>
              <a:rPr lang="en-US" altLang="ja-JP" sz="2400" smtClean="0">
                <a:sym typeface="Wingdings" panose="05000000000000000000" pitchFamily="2" charset="2"/>
              </a:rPr>
              <a:t>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fr-FR" sz="2400" smtClean="0">
              <a:sym typeface="Wingdings" panose="05000000000000000000" pitchFamily="2" charset="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fr-FR" sz="2400" smtClean="0">
                <a:sym typeface="Wingdings" panose="05000000000000000000" pitchFamily="2" charset="2"/>
              </a:rPr>
              <a:t>--&gt; x = A </a:t>
            </a:r>
            <a:r>
              <a:rPr lang="en-US" altLang="fr-FR" b="1" smtClean="0">
                <a:solidFill>
                  <a:srgbClr val="FF0000"/>
                </a:solidFill>
                <a:sym typeface="Wingdings" panose="05000000000000000000" pitchFamily="2" charset="2"/>
              </a:rPr>
              <a:t>\</a:t>
            </a:r>
            <a:r>
              <a:rPr lang="en-US" altLang="fr-FR" sz="2400" smtClean="0">
                <a:sym typeface="Wingdings" panose="05000000000000000000" pitchFamily="2" charset="2"/>
              </a:rPr>
              <a:t> b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à"/>
            </a:pPr>
            <a:endParaRPr lang="en-US" altLang="fr-FR" sz="2400" smtClean="0">
              <a:sym typeface="Wingdings" panose="05000000000000000000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fr-FR" sz="2400" smtClean="0">
                <a:sym typeface="Wingdings" panose="05000000000000000000" pitchFamily="2" charset="2"/>
              </a:rPr>
              <a:t>x  =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fr-FR" sz="2400" smtClean="0">
              <a:sym typeface="Wingdings" panose="05000000000000000000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fr-FR" sz="2400" smtClean="0">
                <a:sym typeface="Wingdings" panose="05000000000000000000" pitchFamily="2" charset="2"/>
              </a:rPr>
              <a:t>    3.0  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fr-FR" sz="2400" smtClean="0">
                <a:sym typeface="Wingdings" panose="05000000000000000000" pitchFamily="2" charset="2"/>
              </a:rPr>
              <a:t>  - 2.5 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fr-FR" sz="2400" smtClean="0">
                <a:sym typeface="Wingdings" panose="05000000000000000000" pitchFamily="2" charset="2"/>
              </a:rPr>
              <a:t>    0.5 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fr-FR" smtClean="0">
                <a:sym typeface="Wingdings" panose="05000000000000000000" pitchFamily="2" charset="2"/>
              </a:rPr>
              <a:t> </a:t>
            </a:r>
          </a:p>
        </p:txBody>
      </p:sp>
      <p:sp>
        <p:nvSpPr>
          <p:cNvPr id="15365" name="AutoShape 4"/>
          <p:cNvSpPr>
            <a:spLocks/>
          </p:cNvSpPr>
          <p:nvPr/>
        </p:nvSpPr>
        <p:spPr bwMode="auto">
          <a:xfrm>
            <a:off x="4140200" y="1412875"/>
            <a:ext cx="3087688" cy="609600"/>
          </a:xfrm>
          <a:prstGeom prst="borderCallout2">
            <a:avLst>
              <a:gd name="adj1" fmla="val 18750"/>
              <a:gd name="adj2" fmla="val -2648"/>
              <a:gd name="adj3" fmla="val 18750"/>
              <a:gd name="adj4" fmla="val -28477"/>
              <a:gd name="adj5" fmla="val 63637"/>
              <a:gd name="adj6" fmla="val -51188"/>
            </a:avLst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fr-FR" sz="2000" dirty="0" err="1" smtClean="0"/>
              <a:t>Transposée</a:t>
            </a:r>
            <a:r>
              <a:rPr lang="en-US" altLang="fr-FR" sz="2000" dirty="0" smtClean="0"/>
              <a:t> et </a:t>
            </a:r>
            <a:r>
              <a:rPr lang="en-US" altLang="fr-FR" sz="2000" dirty="0" err="1" smtClean="0"/>
              <a:t>conjuguée</a:t>
            </a:r>
            <a:endParaRPr lang="en-US" altLang="fr-FR" sz="2000" dirty="0"/>
          </a:p>
        </p:txBody>
      </p:sp>
      <p:sp>
        <p:nvSpPr>
          <p:cNvPr id="15366" name="Text Box 5"/>
          <p:cNvSpPr txBox="1">
            <a:spLocks noChangeArrowheads="1"/>
          </p:cNvSpPr>
          <p:nvPr/>
        </p:nvSpPr>
        <p:spPr bwMode="auto">
          <a:xfrm>
            <a:off x="4140200" y="3500438"/>
            <a:ext cx="30876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2000"/>
              <a:t>Vérifier que ça a marché !</a:t>
            </a:r>
          </a:p>
        </p:txBody>
      </p:sp>
      <p:sp>
        <p:nvSpPr>
          <p:cNvPr id="15367" name="AutoShape 6"/>
          <p:cNvSpPr>
            <a:spLocks/>
          </p:cNvSpPr>
          <p:nvPr/>
        </p:nvSpPr>
        <p:spPr bwMode="auto">
          <a:xfrm>
            <a:off x="4140200" y="2492375"/>
            <a:ext cx="2876550" cy="609600"/>
          </a:xfrm>
          <a:prstGeom prst="borderCallout2">
            <a:avLst>
              <a:gd name="adj1" fmla="val 18750"/>
              <a:gd name="adj2" fmla="val -2648"/>
              <a:gd name="adj3" fmla="val 18750"/>
              <a:gd name="adj4" fmla="val -37032"/>
              <a:gd name="adj5" fmla="val 32306"/>
              <a:gd name="adj6" fmla="val -72681"/>
            </a:avLst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fr-FR" sz="2000"/>
              <a:t>Résolution de A*x = b</a:t>
            </a:r>
          </a:p>
        </p:txBody>
      </p:sp>
      <p:sp>
        <p:nvSpPr>
          <p:cNvPr id="15368" name="Line 7"/>
          <p:cNvSpPr>
            <a:spLocks noChangeShapeType="1"/>
          </p:cNvSpPr>
          <p:nvPr/>
        </p:nvSpPr>
        <p:spPr bwMode="auto">
          <a:xfrm flipV="1">
            <a:off x="1547813" y="4365625"/>
            <a:ext cx="0" cy="10795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5369" name="Line 8"/>
          <p:cNvSpPr>
            <a:spLocks noChangeShapeType="1"/>
          </p:cNvSpPr>
          <p:nvPr/>
        </p:nvSpPr>
        <p:spPr bwMode="auto">
          <a:xfrm flipV="1">
            <a:off x="755650" y="4365625"/>
            <a:ext cx="0" cy="10795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5370" name="Text Box 10"/>
          <p:cNvSpPr txBox="1">
            <a:spLocks noChangeArrowheads="1"/>
          </p:cNvSpPr>
          <p:nvPr/>
        </p:nvSpPr>
        <p:spPr bwMode="auto">
          <a:xfrm>
            <a:off x="2411413" y="4292600"/>
            <a:ext cx="5994400" cy="1477963"/>
          </a:xfrm>
          <a:prstGeom prst="rect">
            <a:avLst/>
          </a:prstGeom>
          <a:solidFill>
            <a:srgbClr val="FF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latin typeface="Lucida Console" panose="020B0609040504020204" pitchFamily="49" charset="0"/>
              </a:rPr>
              <a:t>DANGER avec l’opérateur \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latin typeface="Lucida Console" panose="020B0609040504020204" pitchFamily="49" charset="0"/>
              </a:rPr>
              <a:t>2*A \ b est équivalent à (2*A) \ b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Lucida Console" panose="020B06090405040202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latin typeface="Lucida Console" panose="020B0609040504020204" pitchFamily="49" charset="0"/>
              </a:rPr>
              <a:t>CONSEIL : mettre des parenthèses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latin typeface="Lucida Console" panose="020B0609040504020204" pitchFamily="49" charset="0"/>
              </a:rPr>
              <a:t>en cas de doutes </a:t>
            </a:r>
          </a:p>
        </p:txBody>
      </p:sp>
      <p:pic>
        <p:nvPicPr>
          <p:cNvPr id="15371" name="Imag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0300" y="4700588"/>
            <a:ext cx="631825" cy="661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3438788-A225-488E-97DE-8EBC1D4FE6FE}" type="slidenum">
              <a:rPr lang="en-US" altLang="fr-FR" sz="1400" smtClean="0"/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fr-FR" sz="1400" smtClean="0"/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242888"/>
            <a:ext cx="8229600" cy="1143001"/>
          </a:xfrm>
        </p:spPr>
        <p:txBody>
          <a:bodyPr/>
          <a:lstStyle/>
          <a:p>
            <a:pPr eaLnBrk="1" hangingPunct="1"/>
            <a:r>
              <a:rPr lang="en-US" altLang="fr-FR" sz="3200" smtClean="0"/>
              <a:t>Exercices</a:t>
            </a:r>
          </a:p>
        </p:txBody>
      </p:sp>
      <p:sp>
        <p:nvSpPr>
          <p:cNvPr id="16388" name="Text Box 4"/>
          <p:cNvSpPr txBox="1">
            <a:spLocks noChangeArrowheads="1"/>
          </p:cNvSpPr>
          <p:nvPr/>
        </p:nvSpPr>
        <p:spPr bwMode="auto">
          <a:xfrm>
            <a:off x="755650" y="1411288"/>
            <a:ext cx="5035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Définir un vecteur 		une matrice</a:t>
            </a:r>
          </a:p>
        </p:txBody>
      </p:sp>
      <p:graphicFrame>
        <p:nvGraphicFramePr>
          <p:cNvPr id="16389" name="Object 5"/>
          <p:cNvGraphicFramePr>
            <a:graphicFrameLocks noChangeAspect="1"/>
          </p:cNvGraphicFramePr>
          <p:nvPr/>
        </p:nvGraphicFramePr>
        <p:xfrm>
          <a:off x="3059113" y="908050"/>
          <a:ext cx="1206500" cy="132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2" name="Equation" r:id="rId3" imgW="1206500" imgH="1320800" progId="Equation.3">
                  <p:embed/>
                </p:oleObj>
              </mc:Choice>
              <mc:Fallback>
                <p:oleObj name="Equation" r:id="rId3" imgW="1206500" imgH="13208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908050"/>
                        <a:ext cx="1206500" cy="1320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0" name="Object 6"/>
          <p:cNvGraphicFramePr>
            <a:graphicFrameLocks noChangeAspect="1"/>
          </p:cNvGraphicFramePr>
          <p:nvPr/>
        </p:nvGraphicFramePr>
        <p:xfrm>
          <a:off x="6011863" y="908050"/>
          <a:ext cx="2044700" cy="132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3" name="Equation" r:id="rId5" imgW="2044700" imgH="1320800" progId="Equation.3">
                  <p:embed/>
                </p:oleObj>
              </mc:Choice>
              <mc:Fallback>
                <p:oleObj name="Equation" r:id="rId5" imgW="2044700" imgH="13208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1863" y="908050"/>
                        <a:ext cx="2044700" cy="1320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1" name="Text Box 7"/>
          <p:cNvSpPr txBox="1">
            <a:spLocks noChangeArrowheads="1"/>
          </p:cNvSpPr>
          <p:nvPr/>
        </p:nvSpPr>
        <p:spPr bwMode="auto">
          <a:xfrm>
            <a:off x="735013" y="2654300"/>
            <a:ext cx="5573712" cy="3586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ts val="600"/>
              </a:spcBef>
            </a:pPr>
            <a:r>
              <a:rPr lang="fr-FR" altLang="fr-FR" sz="2400"/>
              <a:t>Afficher la 2ème composante de V</a:t>
            </a:r>
          </a:p>
          <a:p>
            <a:pPr eaLnBrk="1" hangingPunct="1">
              <a:spcBef>
                <a:spcPts val="600"/>
              </a:spcBef>
            </a:pPr>
            <a:r>
              <a:rPr lang="fr-FR" altLang="fr-FR" sz="2400"/>
              <a:t>Afficher l’élément de la matrice A situé </a:t>
            </a:r>
          </a:p>
          <a:p>
            <a:pPr eaLnBrk="1" hangingPunct="1">
              <a:spcBef>
                <a:spcPts val="600"/>
              </a:spcBef>
              <a:buFontTx/>
              <a:buNone/>
            </a:pPr>
            <a:r>
              <a:rPr lang="fr-FR" altLang="fr-FR" sz="2400"/>
              <a:t>	en 2</a:t>
            </a:r>
            <a:r>
              <a:rPr lang="fr-FR" altLang="fr-FR" sz="2400" baseline="30000"/>
              <a:t>ème</a:t>
            </a:r>
            <a:r>
              <a:rPr lang="fr-FR" altLang="fr-FR" sz="2400"/>
              <a:t> ligne et 3</a:t>
            </a:r>
            <a:r>
              <a:rPr lang="fr-FR" altLang="fr-FR" sz="2400" baseline="30000"/>
              <a:t>ème</a:t>
            </a:r>
            <a:r>
              <a:rPr lang="fr-FR" altLang="fr-FR" sz="2400"/>
              <a:t> colonne</a:t>
            </a:r>
          </a:p>
          <a:p>
            <a:pPr eaLnBrk="1" hangingPunct="1">
              <a:spcBef>
                <a:spcPts val="600"/>
              </a:spcBef>
            </a:pPr>
            <a:r>
              <a:rPr lang="fr-FR" altLang="fr-FR" sz="2400"/>
              <a:t>Afficher la 1</a:t>
            </a:r>
            <a:r>
              <a:rPr lang="fr-FR" altLang="fr-FR" sz="2400" baseline="30000"/>
              <a:t>ère</a:t>
            </a:r>
            <a:r>
              <a:rPr lang="fr-FR" altLang="fr-FR" sz="2400"/>
              <a:t> colonne de A</a:t>
            </a:r>
          </a:p>
          <a:p>
            <a:pPr eaLnBrk="1" hangingPunct="1">
              <a:spcBef>
                <a:spcPts val="600"/>
              </a:spcBef>
            </a:pPr>
            <a:r>
              <a:rPr lang="fr-FR" altLang="fr-FR" sz="2400"/>
              <a:t>Afficher la 2</a:t>
            </a:r>
            <a:r>
              <a:rPr lang="fr-FR" altLang="fr-FR" sz="2400" baseline="30000"/>
              <a:t>ème</a:t>
            </a:r>
            <a:r>
              <a:rPr lang="fr-FR" altLang="fr-FR" sz="2400"/>
              <a:t> ligne de A</a:t>
            </a:r>
          </a:p>
          <a:p>
            <a:pPr eaLnBrk="1" hangingPunct="1">
              <a:spcBef>
                <a:spcPts val="600"/>
              </a:spcBef>
            </a:pPr>
            <a:r>
              <a:rPr lang="fr-FR" altLang="fr-FR" sz="2400"/>
              <a:t>Calculer A*V</a:t>
            </a:r>
          </a:p>
          <a:p>
            <a:pPr eaLnBrk="1" hangingPunct="1">
              <a:spcBef>
                <a:spcPts val="600"/>
              </a:spcBef>
            </a:pPr>
            <a:r>
              <a:rPr lang="fr-FR" altLang="fr-FR" sz="2400"/>
              <a:t>Résoudre A X = V</a:t>
            </a:r>
          </a:p>
          <a:p>
            <a:pPr eaLnBrk="1" hangingPunct="1">
              <a:spcBef>
                <a:spcPts val="600"/>
              </a:spcBef>
            </a:pPr>
            <a:r>
              <a:rPr lang="fr-FR" altLang="fr-FR" sz="2400"/>
              <a:t>Afficher le résultat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9A930D7-FF78-4F52-9F37-CAC051418AB3}" type="slidenum">
              <a:rPr lang="en-US" altLang="fr-FR" sz="1400" smtClean="0"/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fr-FR" sz="1400" smtClean="0"/>
          </a:p>
        </p:txBody>
      </p:sp>
      <p:sp>
        <p:nvSpPr>
          <p:cNvPr id="17411" name="Rectangle 4"/>
          <p:cNvSpPr>
            <a:spLocks noChangeArrowheads="1"/>
          </p:cNvSpPr>
          <p:nvPr/>
        </p:nvSpPr>
        <p:spPr bwMode="auto">
          <a:xfrm>
            <a:off x="395288" y="333375"/>
            <a:ext cx="3887787" cy="585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solidFill>
                  <a:srgbClr val="FF0000"/>
                </a:solidFill>
              </a:rPr>
              <a:t>&gt;&gt; V=[1 -2 3]’ ou V=[1;-2;3]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V =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     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    -2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     3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solidFill>
                  <a:srgbClr val="FF0000"/>
                </a:solidFill>
              </a:rPr>
              <a:t>&gt;&gt; V(1)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solidFill>
                <a:srgbClr val="FF0000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ans =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     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solidFill>
                  <a:srgbClr val="FF0000"/>
                </a:solidFill>
              </a:rPr>
              <a:t>&gt;&gt; A=[1 2 3;2 -3 5;4 -3 1]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A =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     1     2     3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     2    -3     5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     4    -3     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solidFill>
                  <a:srgbClr val="FF0000"/>
                </a:solidFill>
              </a:rPr>
              <a:t>&gt;&gt; A(2,3)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ans =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     5</a:t>
            </a:r>
          </a:p>
        </p:txBody>
      </p:sp>
      <p:sp>
        <p:nvSpPr>
          <p:cNvPr id="17412" name="Rectangle 5"/>
          <p:cNvSpPr>
            <a:spLocks noChangeArrowheads="1"/>
          </p:cNvSpPr>
          <p:nvPr/>
        </p:nvSpPr>
        <p:spPr bwMode="auto">
          <a:xfrm>
            <a:off x="4284663" y="333375"/>
            <a:ext cx="3671887" cy="585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solidFill>
                  <a:srgbClr val="FF0000"/>
                </a:solidFill>
              </a:rPr>
              <a:t>&gt;&gt; A(:,1)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ans =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     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     2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     4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solidFill>
                  <a:srgbClr val="FF0000"/>
                </a:solidFill>
              </a:rPr>
              <a:t>&gt;&gt; A(2,:)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solidFill>
                <a:srgbClr val="FF0000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ans =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     2    -3     5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l-PL" altLang="fr-FR" sz="1800">
                <a:solidFill>
                  <a:srgbClr val="FF0000"/>
                </a:solidFill>
              </a:rPr>
              <a:t>&gt;&gt; W=A*V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l-PL" altLang="fr-FR" sz="1800">
              <a:solidFill>
                <a:srgbClr val="FF0000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l-PL" altLang="fr-FR" sz="1800"/>
              <a:t>W =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l-PL" altLang="fr-FR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l-PL" altLang="fr-FR" sz="1800"/>
              <a:t>     6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l-PL" altLang="fr-FR" sz="1800"/>
              <a:t>    23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l-PL" altLang="fr-FR" sz="1800"/>
              <a:t>    13</a:t>
            </a:r>
            <a:endParaRPr lang="fr-FR" altLang="fr-FR" sz="18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</p:txBody>
      </p:sp>
      <p:sp>
        <p:nvSpPr>
          <p:cNvPr id="17413" name="Rectangle 7"/>
          <p:cNvSpPr>
            <a:spLocks noChangeArrowheads="1"/>
          </p:cNvSpPr>
          <p:nvPr/>
        </p:nvSpPr>
        <p:spPr bwMode="auto">
          <a:xfrm>
            <a:off x="6732588" y="333375"/>
            <a:ext cx="2303462" cy="585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solidFill>
                  <a:srgbClr val="FF0000"/>
                </a:solidFill>
              </a:rPr>
              <a:t>&gt;&gt; d = det(A)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d =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    66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solidFill>
                  <a:srgbClr val="FF0000"/>
                </a:solidFill>
              </a:rPr>
              <a:t>&gt;&gt; x = A\V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solidFill>
                <a:srgbClr val="FF0000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x =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    1.3788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    0.6515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   -0.5606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solidFill>
                  <a:srgbClr val="FF0000"/>
                </a:solidFill>
              </a:rPr>
              <a:t>&gt;&gt; x = inv(A)*V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solidFill>
                <a:srgbClr val="FF0000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x =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    1.3788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    0.6515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   -0.5606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C67C4A3-0AA3-44E7-991E-24D103F2A10C}" type="slidenum">
              <a:rPr lang="en-US" altLang="fr-FR" sz="1400" smtClean="0"/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fr-FR" sz="1400" smtClean="0"/>
          </a:p>
        </p:txBody>
      </p:sp>
      <p:sp>
        <p:nvSpPr>
          <p:cNvPr id="18435" name="Text Box 4"/>
          <p:cNvSpPr txBox="1">
            <a:spLocks noChangeArrowheads="1"/>
          </p:cNvSpPr>
          <p:nvPr/>
        </p:nvSpPr>
        <p:spPr bwMode="auto">
          <a:xfrm>
            <a:off x="592138" y="28098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</p:txBody>
      </p:sp>
      <p:sp>
        <p:nvSpPr>
          <p:cNvPr id="18436" name="Text Box 6"/>
          <p:cNvSpPr txBox="1">
            <a:spLocks noChangeArrowheads="1"/>
          </p:cNvSpPr>
          <p:nvPr/>
        </p:nvSpPr>
        <p:spPr bwMode="auto">
          <a:xfrm>
            <a:off x="395288" y="1125538"/>
            <a:ext cx="7993062" cy="471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fr-FR" altLang="fr-FR" sz="1800"/>
              <a:t>Construire </a:t>
            </a: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buFontTx/>
              <a:buChar char="•"/>
            </a:pPr>
            <a:r>
              <a:rPr lang="fr-FR" altLang="fr-FR" sz="1800"/>
              <a:t>la matrice nulle de dimensions 5 x 10, </a:t>
            </a: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buFontTx/>
              <a:buChar char="•"/>
            </a:pPr>
            <a:r>
              <a:rPr lang="fr-FR" altLang="fr-FR" sz="1800"/>
              <a:t>la matrice unité de dimension 10, </a:t>
            </a: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buFontTx/>
              <a:buChar char="•"/>
            </a:pPr>
            <a:r>
              <a:rPr lang="fr-FR" altLang="fr-FR" sz="1800"/>
              <a:t>la matrice tri-diagonale T de taille 10 x 10,et le vecteur W suivants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fr-FR" altLang="fr-FR" sz="1800"/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fr-FR" altLang="fr-FR" sz="1800"/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fr-FR" altLang="fr-FR" sz="1800"/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fr-FR" altLang="fr-FR" sz="1800"/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fr-FR" altLang="fr-FR" sz="1800"/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fr-FR" altLang="fr-FR" sz="1800"/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fr-FR" altLang="fr-FR" sz="1800"/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fr-FR" altLang="fr-FR" sz="1800"/>
              <a:t>Calculer la dimension de la matrice T.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fr-FR" altLang="fr-FR" sz="1800"/>
              <a:t>Extraire la ligne 5 et la colonne 10 de la matrice T.</a:t>
            </a:r>
            <a:endParaRPr lang="fr-FR" altLang="fr-FR" sz="1800" i="1"/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fr-FR" altLang="fr-FR" sz="1800" i="1"/>
              <a:t>Liste des fonctions MATLAB à voir : zeros, ones, diag, eye, size</a:t>
            </a:r>
          </a:p>
        </p:txBody>
      </p:sp>
      <p:sp>
        <p:nvSpPr>
          <p:cNvPr id="18437" name="Rectangle 7"/>
          <p:cNvSpPr>
            <a:spLocks noChangeArrowheads="1"/>
          </p:cNvSpPr>
          <p:nvPr/>
        </p:nvSpPr>
        <p:spPr bwMode="auto">
          <a:xfrm>
            <a:off x="755650" y="-100013"/>
            <a:ext cx="7772400" cy="1143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2400">
                <a:solidFill>
                  <a:srgbClr val="A50021"/>
                </a:solidFill>
              </a:rPr>
              <a:t>Construction de matrices et de vecteurs</a:t>
            </a:r>
            <a:endParaRPr lang="fr-FR" altLang="fr-FR" sz="4400">
              <a:solidFill>
                <a:srgbClr val="A50021"/>
              </a:solidFill>
            </a:endParaRPr>
          </a:p>
        </p:txBody>
      </p:sp>
      <p:graphicFrame>
        <p:nvGraphicFramePr>
          <p:cNvPr id="18438" name="Object 8"/>
          <p:cNvGraphicFramePr>
            <a:graphicFrameLocks noChangeAspect="1"/>
          </p:cNvGraphicFramePr>
          <p:nvPr/>
        </p:nvGraphicFramePr>
        <p:xfrm>
          <a:off x="2339975" y="2767013"/>
          <a:ext cx="3671888" cy="172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4" name="Equation" r:id="rId3" imgW="2705040" imgH="1269720" progId="Equation.DSMT4">
                  <p:embed/>
                </p:oleObj>
              </mc:Choice>
              <mc:Fallback>
                <p:oleObj name="Equation" r:id="rId3" imgW="2705040" imgH="126972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2767013"/>
                        <a:ext cx="3671888" cy="1722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4635C29-0E85-48B3-AF7C-08FF5D45FA5C}" type="slidenum">
              <a:rPr lang="en-US" altLang="fr-FR" sz="1400" smtClean="0"/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fr-FR" sz="1400" smtClean="0"/>
          </a:p>
        </p:txBody>
      </p:sp>
      <p:sp>
        <p:nvSpPr>
          <p:cNvPr id="19459" name="Text Box 13"/>
          <p:cNvSpPr txBox="1">
            <a:spLocks noChangeArrowheads="1"/>
          </p:cNvSpPr>
          <p:nvPr/>
        </p:nvSpPr>
        <p:spPr bwMode="auto">
          <a:xfrm>
            <a:off x="179388" y="836613"/>
            <a:ext cx="4851400" cy="3808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fr-FR" sz="1800"/>
              <a:t> Edition du programme : File </a:t>
            </a:r>
            <a:r>
              <a:rPr lang="en-US" altLang="fr-FR" sz="1800">
                <a:sym typeface="Wingdings" panose="05000000000000000000" pitchFamily="2" charset="2"/>
              </a:rPr>
              <a:t> New  M-file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fr-FR" sz="1800">
                <a:sym typeface="Wingdings" panose="05000000000000000000" pitchFamily="2" charset="2"/>
              </a:rPr>
              <a:t> Sauvegarde :</a:t>
            </a:r>
            <a:r>
              <a:rPr lang="en-US" altLang="fr-FR" sz="1800"/>
              <a:t> File </a:t>
            </a:r>
            <a:r>
              <a:rPr lang="en-US" altLang="fr-FR" sz="1800">
                <a:sym typeface="Wingdings" panose="05000000000000000000" pitchFamily="2" charset="2"/>
              </a:rPr>
              <a:t> Save , taper hello.m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fr-FR" sz="1800">
                <a:sym typeface="Wingdings" panose="05000000000000000000" pitchFamily="2" charset="2"/>
              </a:rPr>
              <a:t> </a:t>
            </a:r>
            <a:r>
              <a:rPr lang="fr-FR" altLang="fr-FR" sz="1800"/>
              <a:t>Interprétation du code Matlab</a:t>
            </a:r>
          </a:p>
          <a:p>
            <a:pPr eaLnBrk="1" hangingPunct="1">
              <a:lnSpc>
                <a:spcPct val="150000"/>
              </a:lnSpc>
            </a:pPr>
            <a:endParaRPr lang="fr-FR" altLang="fr-FR" sz="1800"/>
          </a:p>
          <a:p>
            <a:pPr eaLnBrk="1" hangingPunct="1">
              <a:lnSpc>
                <a:spcPct val="150000"/>
              </a:lnSpc>
            </a:pPr>
            <a:endParaRPr lang="fr-FR" altLang="fr-FR" sz="1800"/>
          </a:p>
          <a:p>
            <a:pPr eaLnBrk="1" hangingPunct="1">
              <a:lnSpc>
                <a:spcPct val="150000"/>
              </a:lnSpc>
              <a:buFontTx/>
              <a:buNone/>
            </a:pPr>
            <a:endParaRPr lang="fr-FR" altLang="fr-FR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ou en tapant le nom du programme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dans la fenêtre de commande</a:t>
            </a:r>
            <a:endParaRPr lang="en-US" altLang="fr-FR" sz="180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fr-FR" altLang="fr-FR" sz="1800"/>
          </a:p>
        </p:txBody>
      </p:sp>
      <p:sp>
        <p:nvSpPr>
          <p:cNvPr id="19460" name="Text Box 4"/>
          <p:cNvSpPr txBox="1">
            <a:spLocks noChangeArrowheads="1"/>
          </p:cNvSpPr>
          <p:nvPr/>
        </p:nvSpPr>
        <p:spPr bwMode="auto">
          <a:xfrm>
            <a:off x="179388" y="188913"/>
            <a:ext cx="48688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400">
                <a:solidFill>
                  <a:srgbClr val="A50021"/>
                </a:solidFill>
                <a:latin typeface="Times New Roman" panose="02020603050405020304" pitchFamily="18" charset="0"/>
              </a:rPr>
              <a:t>Premier programme « Hello World ! »</a:t>
            </a:r>
          </a:p>
        </p:txBody>
      </p:sp>
      <p:pic>
        <p:nvPicPr>
          <p:cNvPr id="19461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145"/>
          <a:stretch>
            <a:fillRect/>
          </a:stretch>
        </p:blipFill>
        <p:spPr bwMode="auto">
          <a:xfrm>
            <a:off x="5076825" y="260350"/>
            <a:ext cx="4032250" cy="151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2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919"/>
          <a:stretch>
            <a:fillRect/>
          </a:stretch>
        </p:blipFill>
        <p:spPr bwMode="auto">
          <a:xfrm>
            <a:off x="250825" y="4868863"/>
            <a:ext cx="8667750" cy="172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3" name="Picture 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825" y="2060575"/>
            <a:ext cx="3543300" cy="217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4" name="Line 11"/>
          <p:cNvSpPr>
            <a:spLocks noChangeShapeType="1"/>
          </p:cNvSpPr>
          <p:nvPr/>
        </p:nvSpPr>
        <p:spPr bwMode="auto">
          <a:xfrm>
            <a:off x="5003800" y="2060575"/>
            <a:ext cx="0" cy="2159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9465" name="Line 12"/>
          <p:cNvSpPr>
            <a:spLocks noChangeShapeType="1"/>
          </p:cNvSpPr>
          <p:nvPr/>
        </p:nvSpPr>
        <p:spPr bwMode="auto">
          <a:xfrm flipH="1">
            <a:off x="2051050" y="2924175"/>
            <a:ext cx="29527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9466" name="Line 14"/>
          <p:cNvSpPr>
            <a:spLocks noChangeShapeType="1"/>
          </p:cNvSpPr>
          <p:nvPr/>
        </p:nvSpPr>
        <p:spPr bwMode="auto">
          <a:xfrm flipV="1">
            <a:off x="2051050" y="2349500"/>
            <a:ext cx="0" cy="5746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9467" name="Line 15"/>
          <p:cNvSpPr>
            <a:spLocks noChangeShapeType="1"/>
          </p:cNvSpPr>
          <p:nvPr/>
        </p:nvSpPr>
        <p:spPr bwMode="auto">
          <a:xfrm flipH="1">
            <a:off x="250825" y="4797425"/>
            <a:ext cx="86423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9468" name="Line 16"/>
          <p:cNvSpPr>
            <a:spLocks noChangeShapeType="1"/>
          </p:cNvSpPr>
          <p:nvPr/>
        </p:nvSpPr>
        <p:spPr bwMode="auto">
          <a:xfrm flipV="1">
            <a:off x="2051050" y="4222750"/>
            <a:ext cx="0" cy="5746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4155E94-C488-4C86-B5F3-4F4C6C39EA73}" type="slidenum">
              <a:rPr lang="en-US" altLang="fr-FR" sz="1400" smtClean="0"/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US" altLang="fr-FR" sz="1400" smtClean="0"/>
          </a:p>
        </p:txBody>
      </p:sp>
      <p:sp>
        <p:nvSpPr>
          <p:cNvPr id="20483" name="Rectangle 13"/>
          <p:cNvSpPr>
            <a:spLocks noChangeArrowheads="1"/>
          </p:cNvSpPr>
          <p:nvPr/>
        </p:nvSpPr>
        <p:spPr bwMode="auto">
          <a:xfrm>
            <a:off x="323850" y="692150"/>
            <a:ext cx="8255000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fr-FR" altLang="fr-FR" sz="2000"/>
              <a:t> Les variables en Matlab sont tous des tableaux, Matlab est sensible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000"/>
              <a:t>à la casse pour les noms de variables </a:t>
            </a:r>
            <a:r>
              <a:rPr lang="fr-FR" altLang="fr-FR" sz="2000">
                <a:sym typeface="Symbol" panose="05050102010706020507" pitchFamily="18" charset="2"/>
              </a:rPr>
              <a:t>: </a:t>
            </a:r>
            <a:r>
              <a:rPr lang="fr-FR" altLang="fr-FR" sz="2000">
                <a:latin typeface="Lucida Console" panose="020B0609040504020204" pitchFamily="49" charset="0"/>
                <a:sym typeface="Symbol" panose="05050102010706020507" pitchFamily="18" charset="2"/>
              </a:rPr>
              <a:t>I  i</a:t>
            </a:r>
            <a:endParaRPr lang="fr-FR" altLang="fr-FR" sz="2000"/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fr-FR" altLang="fr-FR" sz="2000"/>
              <a:t> Déclaration dynamique des variables lors de leur initialisation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000"/>
              <a:t>Exemple : 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000"/>
              <a:t>	t=0;			% variable de type NUMERIC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000"/>
              <a:t>	s=‘Hello World’; 	% variable de type tableau de caractères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fr-FR" altLang="fr-FR" sz="2000"/>
              <a:t> Redéclaration possible d’une variable en changeant son type</a:t>
            </a:r>
            <a:endParaRPr lang="fr-FR" altLang="fr-FR" sz="2000">
              <a:latin typeface="Lucida Console" panose="020B0609040504020204" pitchFamily="49" charset="0"/>
              <a:sym typeface="Symbol" panose="05050102010706020507" pitchFamily="18" charset="2"/>
            </a:endParaRPr>
          </a:p>
        </p:txBody>
      </p:sp>
      <p:sp>
        <p:nvSpPr>
          <p:cNvPr id="20484" name="Rectangle 14"/>
          <p:cNvSpPr>
            <a:spLocks noChangeArrowheads="1"/>
          </p:cNvSpPr>
          <p:nvPr/>
        </p:nvSpPr>
        <p:spPr bwMode="auto">
          <a:xfrm>
            <a:off x="755650" y="-100013"/>
            <a:ext cx="7772400" cy="1143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2400">
                <a:solidFill>
                  <a:srgbClr val="A50021"/>
                </a:solidFill>
              </a:rPr>
              <a:t>Variables en Matlab</a:t>
            </a:r>
            <a:endParaRPr lang="fr-FR" altLang="fr-FR" sz="4400">
              <a:solidFill>
                <a:srgbClr val="A50021"/>
              </a:solidFill>
            </a:endParaRPr>
          </a:p>
        </p:txBody>
      </p:sp>
      <p:pic>
        <p:nvPicPr>
          <p:cNvPr id="20485" name="Picture 1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1"/>
          <a:stretch>
            <a:fillRect/>
          </a:stretch>
        </p:blipFill>
        <p:spPr bwMode="auto">
          <a:xfrm>
            <a:off x="2124075" y="3917950"/>
            <a:ext cx="5976938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6" name="Text Box 16"/>
          <p:cNvSpPr txBox="1">
            <a:spLocks noChangeArrowheads="1"/>
          </p:cNvSpPr>
          <p:nvPr/>
        </p:nvSpPr>
        <p:spPr bwMode="auto">
          <a:xfrm>
            <a:off x="3924300" y="6381750"/>
            <a:ext cx="3473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Réels simple et double précision</a:t>
            </a:r>
          </a:p>
        </p:txBody>
      </p:sp>
      <p:sp>
        <p:nvSpPr>
          <p:cNvPr id="20487" name="Text Box 17"/>
          <p:cNvSpPr txBox="1">
            <a:spLocks noChangeArrowheads="1"/>
          </p:cNvSpPr>
          <p:nvPr/>
        </p:nvSpPr>
        <p:spPr bwMode="auto">
          <a:xfrm>
            <a:off x="1476375" y="6165850"/>
            <a:ext cx="895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Entiers</a:t>
            </a:r>
          </a:p>
        </p:txBody>
      </p:sp>
      <p:sp>
        <p:nvSpPr>
          <p:cNvPr id="20488" name="AutoShape 18"/>
          <p:cNvSpPr>
            <a:spLocks noChangeArrowheads="1"/>
          </p:cNvSpPr>
          <p:nvPr/>
        </p:nvSpPr>
        <p:spPr bwMode="auto">
          <a:xfrm>
            <a:off x="4067175" y="2060575"/>
            <a:ext cx="1944688" cy="503238"/>
          </a:xfrm>
          <a:prstGeom prst="wedgeRoundRectCallout">
            <a:avLst>
              <a:gd name="adj1" fmla="val -49264"/>
              <a:gd name="adj2" fmla="val 67981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commentaire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0943FB1-04E0-4D94-881B-A93D2D167E3C}" type="slidenum">
              <a:rPr lang="en-US" altLang="fr-FR" sz="1400" smtClean="0"/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altLang="fr-FR" sz="1400" smtClean="0"/>
          </a:p>
        </p:txBody>
      </p:sp>
      <p:pic>
        <p:nvPicPr>
          <p:cNvPr id="21507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333375"/>
            <a:ext cx="3695700" cy="179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8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7900" y="333375"/>
            <a:ext cx="3848100" cy="216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9" name="Text Box 10"/>
          <p:cNvSpPr txBox="1">
            <a:spLocks noChangeArrowheads="1"/>
          </p:cNvSpPr>
          <p:nvPr/>
        </p:nvSpPr>
        <p:spPr bwMode="auto">
          <a:xfrm>
            <a:off x="1692275" y="2060575"/>
            <a:ext cx="11572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000" b="1"/>
              <a:t>Erroné !</a:t>
            </a:r>
          </a:p>
        </p:txBody>
      </p:sp>
      <p:sp>
        <p:nvSpPr>
          <p:cNvPr id="21510" name="Text Box 11"/>
          <p:cNvSpPr txBox="1">
            <a:spLocks noChangeArrowheads="1"/>
          </p:cNvSpPr>
          <p:nvPr/>
        </p:nvSpPr>
        <p:spPr bwMode="auto">
          <a:xfrm>
            <a:off x="6011863" y="2133600"/>
            <a:ext cx="6762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000" b="1"/>
              <a:t>Ok !</a:t>
            </a:r>
          </a:p>
        </p:txBody>
      </p:sp>
      <p:pic>
        <p:nvPicPr>
          <p:cNvPr id="21511" name="Picture 1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2997200"/>
            <a:ext cx="3819525" cy="363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12" name="Picture 1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6447"/>
          <a:stretch>
            <a:fillRect/>
          </a:stretch>
        </p:blipFill>
        <p:spPr bwMode="auto">
          <a:xfrm>
            <a:off x="3398838" y="3789363"/>
            <a:ext cx="2181225" cy="26654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13" name="Picture 1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352" b="31116"/>
          <a:stretch>
            <a:fillRect/>
          </a:stretch>
        </p:blipFill>
        <p:spPr bwMode="auto">
          <a:xfrm>
            <a:off x="5435600" y="3789363"/>
            <a:ext cx="2181225" cy="26638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14" name="Picture 1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986" r="4948" b="-1518"/>
          <a:stretch>
            <a:fillRect/>
          </a:stretch>
        </p:blipFill>
        <p:spPr bwMode="auto">
          <a:xfrm>
            <a:off x="6962775" y="3789363"/>
            <a:ext cx="2073275" cy="26638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515" name="Text Box 16"/>
          <p:cNvSpPr txBox="1">
            <a:spLocks noChangeArrowheads="1"/>
          </p:cNvSpPr>
          <p:nvPr/>
        </p:nvSpPr>
        <p:spPr bwMode="auto">
          <a:xfrm>
            <a:off x="4192588" y="2944813"/>
            <a:ext cx="41719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Regarder l’aide sur zeros, ones et diag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974D082-6FB0-47D5-AE5E-3C971CEF3166}" type="slidenum">
              <a:rPr lang="en-US" altLang="fr-FR" sz="1400" smtClean="0"/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US" altLang="fr-FR" sz="1400" smtClean="0"/>
          </a:p>
        </p:txBody>
      </p:sp>
      <p:grpSp>
        <p:nvGrpSpPr>
          <p:cNvPr id="22531" name="Group 8"/>
          <p:cNvGrpSpPr>
            <a:grpSpLocks/>
          </p:cNvGrpSpPr>
          <p:nvPr/>
        </p:nvGrpSpPr>
        <p:grpSpPr bwMode="auto">
          <a:xfrm>
            <a:off x="468313" y="692150"/>
            <a:ext cx="3571875" cy="3124200"/>
            <a:chOff x="295" y="436"/>
            <a:chExt cx="2250" cy="1968"/>
          </a:xfrm>
        </p:grpSpPr>
        <p:pic>
          <p:nvPicPr>
            <p:cNvPr id="22539" name="Picture 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5" y="436"/>
              <a:ext cx="2250" cy="19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540" name="AutoShape 5"/>
            <p:cNvSpPr>
              <a:spLocks noChangeArrowheads="1"/>
            </p:cNvSpPr>
            <p:nvPr/>
          </p:nvSpPr>
          <p:spPr bwMode="auto">
            <a:xfrm>
              <a:off x="1565" y="1570"/>
              <a:ext cx="336" cy="681"/>
            </a:xfrm>
            <a:prstGeom prst="downArrow">
              <a:avLst>
                <a:gd name="adj1" fmla="val 50000"/>
                <a:gd name="adj2" fmla="val 50670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/>
            </a:p>
          </p:txBody>
        </p:sp>
        <p:sp>
          <p:nvSpPr>
            <p:cNvPr id="22541" name="Line 6"/>
            <p:cNvSpPr>
              <a:spLocks noChangeShapeType="1"/>
            </p:cNvSpPr>
            <p:nvPr/>
          </p:nvSpPr>
          <p:spPr bwMode="auto">
            <a:xfrm>
              <a:off x="1383" y="1570"/>
              <a:ext cx="4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2542" name="Line 7"/>
            <p:cNvSpPr>
              <a:spLocks noChangeShapeType="1"/>
            </p:cNvSpPr>
            <p:nvPr/>
          </p:nvSpPr>
          <p:spPr bwMode="auto">
            <a:xfrm>
              <a:off x="1383" y="2251"/>
              <a:ext cx="4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22532" name="Text Box 10"/>
          <p:cNvSpPr txBox="1">
            <a:spLocks noChangeArrowheads="1"/>
          </p:cNvSpPr>
          <p:nvPr/>
        </p:nvSpPr>
        <p:spPr bwMode="auto">
          <a:xfrm>
            <a:off x="4427538" y="1628775"/>
            <a:ext cx="4079875" cy="1768475"/>
          </a:xfrm>
          <a:prstGeom prst="rect">
            <a:avLst/>
          </a:prstGeom>
          <a:solidFill>
            <a:srgbClr val="FF9933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latin typeface="Lucida Console" panose="020B0609040504020204" pitchFamily="49" charset="0"/>
              </a:rPr>
              <a:t>Déclaration de la variable 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latin typeface="Lucida Console" panose="020B0609040504020204" pitchFamily="49" charset="0"/>
              </a:rPr>
              <a:t>Portée : de la déclaration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latin typeface="Lucida Console" panose="020B0609040504020204" pitchFamily="49" charset="0"/>
              </a:rPr>
              <a:t>Jusqu’à la fin du fichier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>
              <a:latin typeface="Lucida Console" panose="020B0609040504020204" pitchFamily="49" charset="0"/>
            </a:endParaRPr>
          </a:p>
          <a:p>
            <a:pPr eaLnBrk="1" hangingPunct="1">
              <a:spcBef>
                <a:spcPct val="0"/>
              </a:spcBef>
              <a:buFont typeface="Symbol" panose="05050102010706020507" pitchFamily="18" charset="2"/>
              <a:buChar char="Þ"/>
            </a:pPr>
            <a:r>
              <a:rPr lang="fr-FR" altLang="fr-FR" sz="1800">
                <a:latin typeface="Lucida Console" panose="020B0609040504020204" pitchFamily="49" charset="0"/>
                <a:sym typeface="Symbol" panose="05050102010706020507" pitchFamily="18" charset="2"/>
              </a:rPr>
              <a:t>Pas de déclaration locale</a:t>
            </a:r>
          </a:p>
          <a:p>
            <a:pPr eaLnBrk="1" hangingPunct="1"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fr-FR" altLang="fr-FR" sz="1800">
                <a:latin typeface="Lucida Console" panose="020B0609040504020204" pitchFamily="49" charset="0"/>
                <a:sym typeface="Symbol" panose="05050102010706020507" pitchFamily="18" charset="2"/>
              </a:rPr>
              <a:t>À un bloc !!!</a:t>
            </a:r>
          </a:p>
        </p:txBody>
      </p:sp>
      <p:grpSp>
        <p:nvGrpSpPr>
          <p:cNvPr id="22533" name="Group 12"/>
          <p:cNvGrpSpPr>
            <a:grpSpLocks/>
          </p:cNvGrpSpPr>
          <p:nvPr/>
        </p:nvGrpSpPr>
        <p:grpSpPr bwMode="auto">
          <a:xfrm>
            <a:off x="3132138" y="2708275"/>
            <a:ext cx="550862" cy="579438"/>
            <a:chOff x="2736" y="1440"/>
            <a:chExt cx="347" cy="365"/>
          </a:xfrm>
        </p:grpSpPr>
        <p:sp>
          <p:nvSpPr>
            <p:cNvPr id="22537" name="AutoShape 13"/>
            <p:cNvSpPr>
              <a:spLocks noChangeAspect="1" noChangeArrowheads="1"/>
            </p:cNvSpPr>
            <p:nvPr/>
          </p:nvSpPr>
          <p:spPr bwMode="auto">
            <a:xfrm>
              <a:off x="2736" y="1464"/>
              <a:ext cx="347" cy="309"/>
            </a:xfrm>
            <a:prstGeom prst="triangle">
              <a:avLst>
                <a:gd name="adj" fmla="val 50000"/>
              </a:avLst>
            </a:prstGeom>
            <a:noFill/>
            <a:ln w="57150">
              <a:solidFill>
                <a:srgbClr val="A5002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/>
            </a:p>
          </p:txBody>
        </p:sp>
        <p:sp>
          <p:nvSpPr>
            <p:cNvPr id="22538" name="Text Box 14"/>
            <p:cNvSpPr txBox="1">
              <a:spLocks noChangeAspect="1" noChangeArrowheads="1"/>
            </p:cNvSpPr>
            <p:nvPr/>
          </p:nvSpPr>
          <p:spPr bwMode="auto">
            <a:xfrm>
              <a:off x="2819" y="1440"/>
              <a:ext cx="201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fr-FR" altLang="fr-FR" b="1">
                  <a:solidFill>
                    <a:srgbClr val="A50021"/>
                  </a:solidFill>
                  <a:latin typeface="Times New Roman" panose="02020603050405020304" pitchFamily="18" charset="0"/>
                </a:rPr>
                <a:t>!</a:t>
              </a:r>
            </a:p>
          </p:txBody>
        </p:sp>
      </p:grpSp>
      <p:sp>
        <p:nvSpPr>
          <p:cNvPr id="22534" name="Rectangle 17"/>
          <p:cNvSpPr>
            <a:spLocks noChangeArrowheads="1"/>
          </p:cNvSpPr>
          <p:nvPr/>
        </p:nvSpPr>
        <p:spPr bwMode="auto">
          <a:xfrm>
            <a:off x="304800" y="-242888"/>
            <a:ext cx="7772400" cy="1143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2400">
                <a:solidFill>
                  <a:srgbClr val="A50021"/>
                </a:solidFill>
              </a:rPr>
              <a:t>Visibilité des variables</a:t>
            </a:r>
            <a:endParaRPr lang="fr-FR" altLang="fr-FR" sz="4400">
              <a:solidFill>
                <a:srgbClr val="A50021"/>
              </a:solidFill>
            </a:endParaRPr>
          </a:p>
        </p:txBody>
      </p:sp>
      <p:sp>
        <p:nvSpPr>
          <p:cNvPr id="22535" name="Text Box 24"/>
          <p:cNvSpPr txBox="1">
            <a:spLocks noChangeArrowheads="1"/>
          </p:cNvSpPr>
          <p:nvPr/>
        </p:nvSpPr>
        <p:spPr bwMode="auto">
          <a:xfrm>
            <a:off x="519113" y="4221163"/>
            <a:ext cx="84709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latin typeface="Lucida Console" panose="020B0609040504020204" pitchFamily="49" charset="0"/>
              </a:rPr>
              <a:t>Danger : le remplacement de ‘:’ par une virgule dans un for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latin typeface="Lucida Console" panose="020B0609040504020204" pitchFamily="49" charset="0"/>
              </a:rPr>
              <a:t>n’est pas signalé!</a:t>
            </a:r>
          </a:p>
        </p:txBody>
      </p:sp>
      <p:sp>
        <p:nvSpPr>
          <p:cNvPr id="22536" name="Text Box 25"/>
          <p:cNvSpPr txBox="1">
            <a:spLocks noChangeArrowheads="1"/>
          </p:cNvSpPr>
          <p:nvPr/>
        </p:nvSpPr>
        <p:spPr bwMode="auto">
          <a:xfrm>
            <a:off x="1116013" y="5157788"/>
            <a:ext cx="1685925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solidFill>
                  <a:srgbClr val="0000FF"/>
                </a:solidFill>
                <a:latin typeface="Courier New" panose="02070309020205020404" pitchFamily="49" charset="0"/>
              </a:rPr>
              <a:t>for</a:t>
            </a:r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 i=1, 10</a:t>
            </a:r>
            <a:endParaRPr lang="fr-FR" altLang="fr-FR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    i</a:t>
            </a:r>
            <a:endParaRPr lang="fr-FR" altLang="fr-FR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solidFill>
                  <a:srgbClr val="0000FF"/>
                </a:solidFill>
                <a:latin typeface="Courier New" panose="02070309020205020404" pitchFamily="49" charset="0"/>
              </a:rPr>
              <a:t>end</a:t>
            </a:r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  <a:endParaRPr lang="fr-FR" altLang="fr-FR" sz="18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C816CE1-B1AC-412A-9C98-07C0481185DB}" type="slidenum">
              <a:rPr lang="en-US" altLang="fr-FR" sz="1400" smtClean="0"/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US" altLang="fr-FR" sz="1400" smtClean="0"/>
          </a:p>
        </p:txBody>
      </p:sp>
      <p:pic>
        <p:nvPicPr>
          <p:cNvPr id="2355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1187450"/>
            <a:ext cx="3962400" cy="245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6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346" b="9076"/>
          <a:stretch>
            <a:fillRect/>
          </a:stretch>
        </p:blipFill>
        <p:spPr bwMode="auto">
          <a:xfrm>
            <a:off x="4500563" y="1223963"/>
            <a:ext cx="4319587" cy="184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7" name="Rectangle 6"/>
          <p:cNvSpPr>
            <a:spLocks noChangeArrowheads="1"/>
          </p:cNvSpPr>
          <p:nvPr/>
        </p:nvSpPr>
        <p:spPr bwMode="auto">
          <a:xfrm>
            <a:off x="684213" y="-242888"/>
            <a:ext cx="7772400" cy="1143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2400">
                <a:solidFill>
                  <a:srgbClr val="A50021"/>
                </a:solidFill>
              </a:rPr>
              <a:t>Opérateurs binaires</a:t>
            </a:r>
            <a:endParaRPr lang="fr-FR" altLang="fr-FR" sz="4400">
              <a:solidFill>
                <a:srgbClr val="A50021"/>
              </a:solidFill>
            </a:endParaRPr>
          </a:p>
        </p:txBody>
      </p:sp>
      <p:sp>
        <p:nvSpPr>
          <p:cNvPr id="23558" name="Rectangle 7"/>
          <p:cNvSpPr>
            <a:spLocks noChangeArrowheads="1"/>
          </p:cNvSpPr>
          <p:nvPr/>
        </p:nvSpPr>
        <p:spPr bwMode="auto">
          <a:xfrm>
            <a:off x="179388" y="620713"/>
            <a:ext cx="3402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fr-FR" altLang="fr-FR" sz="2000"/>
              <a:t> A découvrir par vous-mêmes</a:t>
            </a:r>
            <a:endParaRPr lang="fr-FR" altLang="fr-FR" sz="2000">
              <a:latin typeface="Lucida Console" panose="020B0609040504020204" pitchFamily="49" charset="0"/>
              <a:sym typeface="Symbol" panose="05050102010706020507" pitchFamily="18" charset="2"/>
            </a:endParaRPr>
          </a:p>
        </p:txBody>
      </p:sp>
      <p:sp>
        <p:nvSpPr>
          <p:cNvPr id="23559" name="Rectangle 8"/>
          <p:cNvSpPr>
            <a:spLocks noChangeArrowheads="1"/>
          </p:cNvSpPr>
          <p:nvPr/>
        </p:nvSpPr>
        <p:spPr bwMode="auto">
          <a:xfrm>
            <a:off x="5332413" y="2824163"/>
            <a:ext cx="1912937" cy="466725"/>
          </a:xfrm>
          <a:prstGeom prst="rect">
            <a:avLst/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fr-FR" altLang="fr-FR" sz="2000"/>
              <a:t> binary operators</a:t>
            </a:r>
            <a:endParaRPr lang="fr-FR" altLang="fr-FR" sz="2000">
              <a:latin typeface="Lucida Console" panose="020B0609040504020204" pitchFamily="49" charset="0"/>
              <a:sym typeface="Symbol" panose="05050102010706020507" pitchFamily="18" charset="2"/>
            </a:endParaRPr>
          </a:p>
        </p:txBody>
      </p:sp>
      <p:sp>
        <p:nvSpPr>
          <p:cNvPr id="23560" name="Rectangle 9"/>
          <p:cNvSpPr>
            <a:spLocks noChangeArrowheads="1"/>
          </p:cNvSpPr>
          <p:nvPr/>
        </p:nvSpPr>
        <p:spPr bwMode="auto">
          <a:xfrm>
            <a:off x="250825" y="3644900"/>
            <a:ext cx="459105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fr-FR" altLang="fr-FR" sz="2000"/>
              <a:t> Sélectionner ensuite séquentiellement :</a:t>
            </a:r>
          </a:p>
          <a:p>
            <a:pPr lvl="1">
              <a:lnSpc>
                <a:spcPct val="150000"/>
              </a:lnSpc>
              <a:spcBef>
                <a:spcPct val="0"/>
              </a:spcBef>
              <a:buFontTx/>
              <a:buChar char="•"/>
            </a:pPr>
            <a:r>
              <a:rPr lang="fr-FR" altLang="fr-FR" sz="2000">
                <a:sym typeface="Symbol" panose="05050102010706020507" pitchFamily="18" charset="2"/>
              </a:rPr>
              <a:t> arithmetic operators</a:t>
            </a:r>
          </a:p>
          <a:p>
            <a:pPr lvl="1">
              <a:lnSpc>
                <a:spcPct val="150000"/>
              </a:lnSpc>
              <a:spcBef>
                <a:spcPct val="0"/>
              </a:spcBef>
              <a:buFontTx/>
              <a:buChar char="•"/>
            </a:pPr>
            <a:r>
              <a:rPr lang="fr-FR" altLang="fr-FR" sz="2000">
                <a:sym typeface="Symbol" panose="05050102010706020507" pitchFamily="18" charset="2"/>
              </a:rPr>
              <a:t> logical operators</a:t>
            </a:r>
          </a:p>
          <a:p>
            <a:pPr lvl="1">
              <a:lnSpc>
                <a:spcPct val="150000"/>
              </a:lnSpc>
              <a:spcBef>
                <a:spcPct val="0"/>
              </a:spcBef>
              <a:buFontTx/>
              <a:buChar char="•"/>
            </a:pPr>
            <a:r>
              <a:rPr lang="fr-FR" altLang="fr-FR" sz="2000">
                <a:sym typeface="Symbol" panose="05050102010706020507" pitchFamily="18" charset="2"/>
              </a:rPr>
              <a:t> relational operators</a:t>
            </a:r>
          </a:p>
        </p:txBody>
      </p:sp>
      <p:sp>
        <p:nvSpPr>
          <p:cNvPr id="23561" name="Text Box 10"/>
          <p:cNvSpPr txBox="1">
            <a:spLocks noChangeArrowheads="1"/>
          </p:cNvSpPr>
          <p:nvPr/>
        </p:nvSpPr>
        <p:spPr bwMode="auto">
          <a:xfrm>
            <a:off x="5940425" y="3933825"/>
            <a:ext cx="911225" cy="1768475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fr-FR" sz="1800"/>
              <a:t>A &lt; B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fr-FR" sz="1800"/>
              <a:t>A &gt; B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fr-FR" sz="1800"/>
              <a:t>A &lt;= B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fr-FR" sz="1800"/>
              <a:t>A &gt;= B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fr-FR" sz="1800"/>
              <a:t>A == B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fr-FR" sz="1800"/>
              <a:t>A ~= B</a:t>
            </a:r>
            <a:endParaRPr lang="fr-FR" altLang="fr-FR" sz="1800"/>
          </a:p>
        </p:txBody>
      </p:sp>
      <p:sp>
        <p:nvSpPr>
          <p:cNvPr id="23562" name="Line 11"/>
          <p:cNvSpPr>
            <a:spLocks noChangeShapeType="1"/>
          </p:cNvSpPr>
          <p:nvPr/>
        </p:nvSpPr>
        <p:spPr bwMode="auto">
          <a:xfrm>
            <a:off x="3132138" y="5373688"/>
            <a:ext cx="280828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3563" name="AutoShape 12"/>
          <p:cNvSpPr>
            <a:spLocks noChangeArrowheads="1"/>
          </p:cNvSpPr>
          <p:nvPr/>
        </p:nvSpPr>
        <p:spPr bwMode="auto">
          <a:xfrm>
            <a:off x="7092950" y="6021388"/>
            <a:ext cx="1008063" cy="576262"/>
          </a:xfrm>
          <a:prstGeom prst="wedgeRoundRectCallout">
            <a:avLst>
              <a:gd name="adj1" fmla="val -117875"/>
              <a:gd name="adj2" fmla="val -113912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2400" b="1">
                <a:sym typeface="Symbol" panose="05050102010706020507" pitchFamily="18" charset="2"/>
              </a:rPr>
              <a:t></a:t>
            </a:r>
          </a:p>
        </p:txBody>
      </p:sp>
      <p:sp>
        <p:nvSpPr>
          <p:cNvPr id="23564" name="Text Box 13"/>
          <p:cNvSpPr txBox="1">
            <a:spLocks noChangeArrowheads="1"/>
          </p:cNvSpPr>
          <p:nvPr/>
        </p:nvSpPr>
        <p:spPr bwMode="auto">
          <a:xfrm>
            <a:off x="4716463" y="4365625"/>
            <a:ext cx="1012825" cy="669925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A &amp;&amp; B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A || B </a:t>
            </a:r>
          </a:p>
        </p:txBody>
      </p:sp>
      <p:sp>
        <p:nvSpPr>
          <p:cNvPr id="23565" name="Line 14"/>
          <p:cNvSpPr>
            <a:spLocks noChangeShapeType="1"/>
          </p:cNvSpPr>
          <p:nvPr/>
        </p:nvSpPr>
        <p:spPr bwMode="auto">
          <a:xfrm>
            <a:off x="2843213" y="4868863"/>
            <a:ext cx="18732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CF9E6DD-DE43-46C0-8E3B-E84C57D277A0}" type="slidenum">
              <a:rPr lang="en-US" altLang="fr-FR" sz="1400" smtClean="0"/>
              <a:pPr>
                <a:spcBef>
                  <a:spcPct val="0"/>
                </a:spcBef>
                <a:buFontTx/>
                <a:buNone/>
              </a:pPr>
              <a:t>21</a:t>
            </a:fld>
            <a:endParaRPr lang="en-US" altLang="fr-FR" sz="1400" smtClean="0"/>
          </a:p>
        </p:txBody>
      </p:sp>
      <p:pic>
        <p:nvPicPr>
          <p:cNvPr id="24579" name="Picture 2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3525" y="1492250"/>
            <a:ext cx="4000500" cy="445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0" name="Text Box 5"/>
          <p:cNvSpPr txBox="1">
            <a:spLocks noChangeArrowheads="1"/>
          </p:cNvSpPr>
          <p:nvPr/>
        </p:nvSpPr>
        <p:spPr bwMode="auto">
          <a:xfrm>
            <a:off x="323850" y="1052513"/>
            <a:ext cx="2128838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000" b="1">
                <a:cs typeface="Arial" panose="020B0604020202020204" pitchFamily="34" charset="0"/>
              </a:rPr>
              <a:t>La structure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000" b="1">
                <a:cs typeface="Arial" panose="020B0604020202020204" pitchFamily="34" charset="0"/>
              </a:rPr>
              <a:t>conditionnelle if</a:t>
            </a:r>
            <a:endParaRPr lang="fr-FR" altLang="fr-FR" sz="200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3657600" y="3925888"/>
            <a:ext cx="5257800" cy="1447800"/>
            <a:chOff x="2304" y="1920"/>
            <a:chExt cx="3312" cy="960"/>
          </a:xfrm>
        </p:grpSpPr>
        <p:sp>
          <p:nvSpPr>
            <p:cNvPr id="24592" name="AutoShape 7"/>
            <p:cNvSpPr>
              <a:spLocks/>
            </p:cNvSpPr>
            <p:nvPr/>
          </p:nvSpPr>
          <p:spPr bwMode="auto">
            <a:xfrm>
              <a:off x="3552" y="1920"/>
              <a:ext cx="2064" cy="384"/>
            </a:xfrm>
            <a:prstGeom prst="borderCallout1">
              <a:avLst>
                <a:gd name="adj1" fmla="val 18750"/>
                <a:gd name="adj2" fmla="val -2324"/>
                <a:gd name="adj3" fmla="val 123440"/>
                <a:gd name="adj4" fmla="val -18412"/>
              </a:avLst>
            </a:prstGeom>
            <a:solidFill>
              <a:srgbClr val="FF9900"/>
            </a:solidFill>
            <a:ln w="28575">
              <a:solidFill>
                <a:srgbClr val="A5002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1800">
                  <a:latin typeface="Lucida Console" panose="020B0609040504020204" pitchFamily="49" charset="0"/>
                </a:rPr>
                <a:t>bloc d’instruction</a:t>
              </a:r>
            </a:p>
          </p:txBody>
        </p:sp>
        <p:sp>
          <p:nvSpPr>
            <p:cNvPr id="24593" name="AutoShape 8"/>
            <p:cNvSpPr>
              <a:spLocks/>
            </p:cNvSpPr>
            <p:nvPr/>
          </p:nvSpPr>
          <p:spPr bwMode="auto">
            <a:xfrm>
              <a:off x="4464" y="2400"/>
              <a:ext cx="144" cy="480"/>
            </a:xfrm>
            <a:prstGeom prst="rightBrace">
              <a:avLst>
                <a:gd name="adj1" fmla="val 27778"/>
                <a:gd name="adj2" fmla="val 50000"/>
              </a:avLst>
            </a:prstGeom>
            <a:noFill/>
            <a:ln w="28575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1800"/>
            </a:p>
          </p:txBody>
        </p:sp>
        <p:sp>
          <p:nvSpPr>
            <p:cNvPr id="24594" name="Line 9"/>
            <p:cNvSpPr>
              <a:spLocks noChangeShapeType="1"/>
            </p:cNvSpPr>
            <p:nvPr/>
          </p:nvSpPr>
          <p:spPr bwMode="auto">
            <a:xfrm flipH="1">
              <a:off x="2304" y="2400"/>
              <a:ext cx="2160" cy="0"/>
            </a:xfrm>
            <a:prstGeom prst="line">
              <a:avLst/>
            </a:prstGeom>
            <a:noFill/>
            <a:ln w="28575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4595" name="Line 10"/>
            <p:cNvSpPr>
              <a:spLocks noChangeShapeType="1"/>
            </p:cNvSpPr>
            <p:nvPr/>
          </p:nvSpPr>
          <p:spPr bwMode="auto">
            <a:xfrm flipH="1">
              <a:off x="2352" y="2880"/>
              <a:ext cx="2112" cy="0"/>
            </a:xfrm>
            <a:prstGeom prst="line">
              <a:avLst/>
            </a:prstGeom>
            <a:noFill/>
            <a:ln w="28575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24582" name="Group 11"/>
          <p:cNvGrpSpPr>
            <a:grpSpLocks/>
          </p:cNvGrpSpPr>
          <p:nvPr/>
        </p:nvGrpSpPr>
        <p:grpSpPr bwMode="auto">
          <a:xfrm>
            <a:off x="304800" y="2484438"/>
            <a:ext cx="3124200" cy="2035175"/>
            <a:chOff x="192" y="1838"/>
            <a:chExt cx="1968" cy="1282"/>
          </a:xfrm>
        </p:grpSpPr>
        <p:sp>
          <p:nvSpPr>
            <p:cNvPr id="24585" name="AutoShape 12"/>
            <p:cNvSpPr>
              <a:spLocks noChangeArrowheads="1"/>
            </p:cNvSpPr>
            <p:nvPr/>
          </p:nvSpPr>
          <p:spPr bwMode="auto">
            <a:xfrm>
              <a:off x="192" y="2246"/>
              <a:ext cx="933" cy="466"/>
            </a:xfrm>
            <a:prstGeom prst="flowChartDecision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2400">
                  <a:latin typeface="Times New Roman" panose="02020603050405020304" pitchFamily="18" charset="0"/>
                </a:rPr>
                <a:t>i&lt;j ?</a:t>
              </a:r>
            </a:p>
          </p:txBody>
        </p:sp>
        <p:sp>
          <p:nvSpPr>
            <p:cNvPr id="24586" name="Line 13"/>
            <p:cNvSpPr>
              <a:spLocks noChangeShapeType="1"/>
            </p:cNvSpPr>
            <p:nvPr/>
          </p:nvSpPr>
          <p:spPr bwMode="auto">
            <a:xfrm flipV="1">
              <a:off x="658" y="1838"/>
              <a:ext cx="0" cy="4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4587" name="Line 14"/>
            <p:cNvSpPr>
              <a:spLocks noChangeShapeType="1"/>
            </p:cNvSpPr>
            <p:nvPr/>
          </p:nvSpPr>
          <p:spPr bwMode="auto">
            <a:xfrm>
              <a:off x="1125" y="2479"/>
              <a:ext cx="103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4588" name="Line 15"/>
            <p:cNvSpPr>
              <a:spLocks noChangeShapeType="1"/>
            </p:cNvSpPr>
            <p:nvPr/>
          </p:nvSpPr>
          <p:spPr bwMode="auto">
            <a:xfrm>
              <a:off x="658" y="2712"/>
              <a:ext cx="0" cy="4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4589" name="Text Box 16"/>
            <p:cNvSpPr txBox="1">
              <a:spLocks noChangeArrowheads="1"/>
            </p:cNvSpPr>
            <p:nvPr/>
          </p:nvSpPr>
          <p:spPr bwMode="auto">
            <a:xfrm>
              <a:off x="1094" y="2770"/>
              <a:ext cx="45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2400">
                  <a:latin typeface="Times New Roman" panose="02020603050405020304" pitchFamily="18" charset="0"/>
                </a:rPr>
                <a:t>faux</a:t>
              </a:r>
            </a:p>
          </p:txBody>
        </p:sp>
        <p:sp>
          <p:nvSpPr>
            <p:cNvPr id="24590" name="Text Box 17"/>
            <p:cNvSpPr txBox="1">
              <a:spLocks noChangeArrowheads="1"/>
            </p:cNvSpPr>
            <p:nvPr/>
          </p:nvSpPr>
          <p:spPr bwMode="auto">
            <a:xfrm>
              <a:off x="1125" y="2071"/>
              <a:ext cx="41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fr-FR" altLang="fr-FR" sz="2400">
                  <a:latin typeface="Times New Roman" panose="02020603050405020304" pitchFamily="18" charset="0"/>
                </a:rPr>
                <a:t>vrai</a:t>
              </a:r>
            </a:p>
          </p:txBody>
        </p:sp>
        <p:sp>
          <p:nvSpPr>
            <p:cNvPr id="24591" name="Line 18"/>
            <p:cNvSpPr>
              <a:spLocks noChangeShapeType="1"/>
            </p:cNvSpPr>
            <p:nvPr/>
          </p:nvSpPr>
          <p:spPr bwMode="auto">
            <a:xfrm>
              <a:off x="658" y="3120"/>
              <a:ext cx="150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24583" name="Rectangle 19"/>
          <p:cNvSpPr>
            <a:spLocks noChangeArrowheads="1"/>
          </p:cNvSpPr>
          <p:nvPr/>
        </p:nvSpPr>
        <p:spPr bwMode="auto">
          <a:xfrm>
            <a:off x="685800" y="-1524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2400">
                <a:solidFill>
                  <a:srgbClr val="A50021"/>
                </a:solidFill>
                <a:cs typeface="Times New Roman" panose="02020603050405020304" pitchFamily="18" charset="0"/>
              </a:rPr>
              <a:t>Les structures de contrôle</a:t>
            </a:r>
            <a:endParaRPr lang="fr-FR" altLang="fr-FR" sz="4400">
              <a:solidFill>
                <a:srgbClr val="A50021"/>
              </a:solidFill>
              <a:cs typeface="Times New Roman" panose="02020603050405020304" pitchFamily="18" charset="0"/>
            </a:endParaRPr>
          </a:p>
        </p:txBody>
      </p:sp>
      <p:sp>
        <p:nvSpPr>
          <p:cNvPr id="24584" name="Text Box 22"/>
          <p:cNvSpPr txBox="1">
            <a:spLocks noChangeArrowheads="1"/>
          </p:cNvSpPr>
          <p:nvPr/>
        </p:nvSpPr>
        <p:spPr bwMode="auto">
          <a:xfrm>
            <a:off x="6084888" y="2565400"/>
            <a:ext cx="2836862" cy="669925"/>
          </a:xfrm>
          <a:prstGeom prst="rect">
            <a:avLst/>
          </a:prstGeom>
          <a:solidFill>
            <a:srgbClr val="FF99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latin typeface="Lucida Console" panose="020B0609040504020204" pitchFamily="49" charset="0"/>
              </a:rPr>
              <a:t>Saisie des nombres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latin typeface="Lucida Console" panose="020B0609040504020204" pitchFamily="49" charset="0"/>
              </a:rPr>
              <a:t>i &amp; j</a:t>
            </a:r>
            <a:endParaRPr lang="fr-FR" altLang="fr-FR" sz="1800">
              <a:latin typeface="Lucida Console" panose="020B0609040504020204" pitchFamily="49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AB8C579-4E91-44B4-8886-09C18761B838}" type="slidenum">
              <a:rPr lang="en-US" altLang="fr-FR" sz="1400" smtClean="0"/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US" altLang="fr-FR" sz="1400" smtClean="0"/>
          </a:p>
        </p:txBody>
      </p:sp>
      <p:sp>
        <p:nvSpPr>
          <p:cNvPr id="25603" name="Text Box 6"/>
          <p:cNvSpPr txBox="1">
            <a:spLocks noChangeArrowheads="1"/>
          </p:cNvSpPr>
          <p:nvPr/>
        </p:nvSpPr>
        <p:spPr bwMode="auto">
          <a:xfrm>
            <a:off x="441325" y="700088"/>
            <a:ext cx="7596188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Cas où des instructions différentes doivent être exécutées selon la valeur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d'une variable, l'écriture de </a:t>
            </a:r>
            <a:r>
              <a:rPr lang="fr-FR" altLang="fr-FR" sz="2000">
                <a:solidFill>
                  <a:srgbClr val="A5002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if</a:t>
            </a:r>
            <a:r>
              <a:rPr lang="fr-FR" alt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 successifs est lourde.</a:t>
            </a:r>
            <a:r>
              <a:rPr lang="fr-FR" alt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5604" name="Text Box 8"/>
          <p:cNvSpPr txBox="1">
            <a:spLocks noChangeArrowheads="1"/>
          </p:cNvSpPr>
          <p:nvPr/>
        </p:nvSpPr>
        <p:spPr bwMode="auto">
          <a:xfrm>
            <a:off x="107950" y="5949950"/>
            <a:ext cx="3922713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000">
                <a:cs typeface="Arial" panose="020B0604020202020204" pitchFamily="34" charset="0"/>
              </a:rPr>
              <a:t>Pas d’instructions break dans un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000">
                <a:cs typeface="Courier New" panose="02070309020205020404" pitchFamily="49" charset="0"/>
              </a:rPr>
              <a:t>bloc</a:t>
            </a:r>
            <a:r>
              <a:rPr lang="fr-FR" altLang="fr-FR" sz="2000">
                <a:solidFill>
                  <a:srgbClr val="A50021"/>
                </a:solidFill>
                <a:cs typeface="Courier New" panose="02070309020205020404" pitchFamily="49" charset="0"/>
              </a:rPr>
              <a:t> case</a:t>
            </a:r>
            <a:r>
              <a:rPr lang="fr-FR" altLang="fr-FR" sz="2000">
                <a:cs typeface="Arial" panose="020B0604020202020204" pitchFamily="34" charset="0"/>
              </a:rPr>
              <a:t> comme en C++!</a:t>
            </a:r>
            <a:endParaRPr lang="fr-FR" altLang="fr-FR" sz="2000"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2000">
              <a:cs typeface="Times New Roman" panose="02020603050405020304" pitchFamily="18" charset="0"/>
            </a:endParaRPr>
          </a:p>
        </p:txBody>
      </p:sp>
      <p:sp>
        <p:nvSpPr>
          <p:cNvPr id="25605" name="Rectangle 9"/>
          <p:cNvSpPr>
            <a:spLocks noChangeArrowheads="1"/>
          </p:cNvSpPr>
          <p:nvPr/>
        </p:nvSpPr>
        <p:spPr bwMode="auto">
          <a:xfrm>
            <a:off x="684213" y="-242888"/>
            <a:ext cx="7772400" cy="1143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2400">
                <a:solidFill>
                  <a:srgbClr val="A50021"/>
                </a:solidFill>
              </a:rPr>
              <a:t>Le branchement conditionnel</a:t>
            </a:r>
          </a:p>
        </p:txBody>
      </p:sp>
      <p:pic>
        <p:nvPicPr>
          <p:cNvPr id="25606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708"/>
          <a:stretch>
            <a:fillRect/>
          </a:stretch>
        </p:blipFill>
        <p:spPr bwMode="auto">
          <a:xfrm>
            <a:off x="107950" y="1484313"/>
            <a:ext cx="424815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7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18"/>
          <a:stretch>
            <a:fillRect/>
          </a:stretch>
        </p:blipFill>
        <p:spPr bwMode="auto">
          <a:xfrm>
            <a:off x="4498975" y="1484313"/>
            <a:ext cx="4537075" cy="536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A41F237-E37E-4D6A-8D98-C09CF1C82DB9}" type="slidenum">
              <a:rPr lang="en-US" altLang="fr-FR" sz="1400" smtClean="0"/>
              <a:pPr>
                <a:spcBef>
                  <a:spcPct val="0"/>
                </a:spcBef>
                <a:buFontTx/>
                <a:buNone/>
              </a:pPr>
              <a:t>23</a:t>
            </a:fld>
            <a:endParaRPr lang="en-US" altLang="fr-FR" sz="1400" smtClean="0"/>
          </a:p>
        </p:txBody>
      </p:sp>
      <p:pic>
        <p:nvPicPr>
          <p:cNvPr id="26627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74" b="10573"/>
          <a:stretch>
            <a:fillRect/>
          </a:stretch>
        </p:blipFill>
        <p:spPr bwMode="auto">
          <a:xfrm>
            <a:off x="4716463" y="115888"/>
            <a:ext cx="3408362" cy="237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8" name="Rectangle 4"/>
          <p:cNvSpPr>
            <a:spLocks noChangeArrowheads="1"/>
          </p:cNvSpPr>
          <p:nvPr/>
        </p:nvSpPr>
        <p:spPr bwMode="auto">
          <a:xfrm>
            <a:off x="827088" y="-234950"/>
            <a:ext cx="7772400" cy="1143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2400">
                <a:solidFill>
                  <a:srgbClr val="A50021"/>
                </a:solidFill>
              </a:rPr>
              <a:t>Les boucles</a:t>
            </a:r>
          </a:p>
        </p:txBody>
      </p:sp>
      <p:pic>
        <p:nvPicPr>
          <p:cNvPr id="2662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620713"/>
            <a:ext cx="3419475" cy="207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0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2852738"/>
            <a:ext cx="3467100" cy="322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1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64"/>
          <a:stretch>
            <a:fillRect/>
          </a:stretch>
        </p:blipFill>
        <p:spPr bwMode="auto">
          <a:xfrm>
            <a:off x="4716463" y="2832100"/>
            <a:ext cx="3529012" cy="333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32" name="Text Box 10"/>
          <p:cNvSpPr txBox="1">
            <a:spLocks noChangeArrowheads="1"/>
          </p:cNvSpPr>
          <p:nvPr/>
        </p:nvSpPr>
        <p:spPr bwMode="auto">
          <a:xfrm>
            <a:off x="6394450" y="3860800"/>
            <a:ext cx="2749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latin typeface="Times New Roman" panose="02020603050405020304" pitchFamily="18" charset="0"/>
              </a:rPr>
              <a:t>Ce programme calcule-t-il</a:t>
            </a:r>
            <a:r>
              <a:rPr lang="fr-FR" altLang="fr-FR" sz="2400">
                <a:latin typeface="Times New Roman" panose="02020603050405020304" pitchFamily="18" charset="0"/>
              </a:rPr>
              <a:t>  </a:t>
            </a:r>
          </a:p>
        </p:txBody>
      </p:sp>
      <p:graphicFrame>
        <p:nvGraphicFramePr>
          <p:cNvPr id="26633" name="Object 11"/>
          <p:cNvGraphicFramePr>
            <a:graphicFrameLocks noChangeAspect="1"/>
          </p:cNvGraphicFramePr>
          <p:nvPr/>
        </p:nvGraphicFramePr>
        <p:xfrm>
          <a:off x="7235825" y="4365625"/>
          <a:ext cx="1676400" cy="779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1" name="Equation" r:id="rId7" imgW="927100" imgH="431800" progId="Equation.3">
                  <p:embed/>
                </p:oleObj>
              </mc:Choice>
              <mc:Fallback>
                <p:oleObj name="Equation" r:id="rId7" imgW="927100" imgH="4318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5825" y="4365625"/>
                        <a:ext cx="1676400" cy="779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66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4" name="Rectangle 12"/>
          <p:cNvSpPr>
            <a:spLocks noChangeArrowheads="1"/>
          </p:cNvSpPr>
          <p:nvPr/>
        </p:nvSpPr>
        <p:spPr bwMode="auto">
          <a:xfrm>
            <a:off x="4140200" y="2636838"/>
            <a:ext cx="5003800" cy="4221162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</p:txBody>
      </p:sp>
      <p:sp>
        <p:nvSpPr>
          <p:cNvPr id="26635" name="Text Box 13"/>
          <p:cNvSpPr txBox="1">
            <a:spLocks noChangeArrowheads="1"/>
          </p:cNvSpPr>
          <p:nvPr/>
        </p:nvSpPr>
        <p:spPr bwMode="auto">
          <a:xfrm>
            <a:off x="315913" y="6183313"/>
            <a:ext cx="30321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000">
                <a:cs typeface="Arial" panose="020B0604020202020204" pitchFamily="34" charset="0"/>
              </a:rPr>
              <a:t>Break : rupture de boucle</a:t>
            </a:r>
            <a:endParaRPr lang="fr-FR" altLang="fr-FR" sz="2000"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2000"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C706E87-D000-4FBF-862C-8AFD5F8C8029}" type="slidenum">
              <a:rPr lang="en-US" altLang="fr-FR" sz="1400" smtClean="0"/>
              <a:pPr>
                <a:spcBef>
                  <a:spcPct val="0"/>
                </a:spcBef>
                <a:buFontTx/>
                <a:buNone/>
              </a:pPr>
              <a:t>24</a:t>
            </a:fld>
            <a:endParaRPr lang="en-US" altLang="fr-FR" sz="1400" smtClean="0"/>
          </a:p>
        </p:txBody>
      </p:sp>
      <p:grpSp>
        <p:nvGrpSpPr>
          <p:cNvPr id="27651" name="Group 42"/>
          <p:cNvGrpSpPr>
            <a:grpSpLocks/>
          </p:cNvGrpSpPr>
          <p:nvPr/>
        </p:nvGrpSpPr>
        <p:grpSpPr bwMode="auto">
          <a:xfrm>
            <a:off x="684213" y="1511300"/>
            <a:ext cx="2847975" cy="365125"/>
            <a:chOff x="431" y="981"/>
            <a:chExt cx="1794" cy="230"/>
          </a:xfrm>
        </p:grpSpPr>
        <p:sp>
          <p:nvSpPr>
            <p:cNvPr id="27686" name="Rectangle 5"/>
            <p:cNvSpPr>
              <a:spLocks noChangeArrowheads="1"/>
            </p:cNvSpPr>
            <p:nvPr/>
          </p:nvSpPr>
          <p:spPr bwMode="auto">
            <a:xfrm>
              <a:off x="431" y="981"/>
              <a:ext cx="1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1044575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1044575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1044575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1044575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1044575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10445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10445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10445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10445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fr-FR" sz="2400">
                  <a:solidFill>
                    <a:srgbClr val="000000"/>
                  </a:solidFill>
                </a:rPr>
                <a:t>|x|</a:t>
              </a:r>
              <a:endParaRPr lang="fr-FR" altLang="fr-FR" sz="2400"/>
            </a:p>
          </p:txBody>
        </p:sp>
        <p:sp>
          <p:nvSpPr>
            <p:cNvPr id="27687" name="Rectangle 6"/>
            <p:cNvSpPr>
              <a:spLocks noChangeArrowheads="1"/>
            </p:cNvSpPr>
            <p:nvPr/>
          </p:nvSpPr>
          <p:spPr bwMode="auto">
            <a:xfrm>
              <a:off x="1691" y="981"/>
              <a:ext cx="534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1044575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1044575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1044575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1044575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1044575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10445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10445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10445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10445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fr-FR" sz="2400">
                  <a:solidFill>
                    <a:srgbClr val="FF0000"/>
                  </a:solidFill>
                </a:rPr>
                <a:t>abs(x)</a:t>
              </a:r>
              <a:endParaRPr lang="fr-FR" altLang="fr-FR" sz="2400"/>
            </a:p>
          </p:txBody>
        </p:sp>
      </p:grpSp>
      <p:grpSp>
        <p:nvGrpSpPr>
          <p:cNvPr id="27652" name="Group 43"/>
          <p:cNvGrpSpPr>
            <a:grpSpLocks/>
          </p:cNvGrpSpPr>
          <p:nvPr/>
        </p:nvGrpSpPr>
        <p:grpSpPr bwMode="auto">
          <a:xfrm>
            <a:off x="684213" y="2087563"/>
            <a:ext cx="2949575" cy="365125"/>
            <a:chOff x="431" y="1200"/>
            <a:chExt cx="1858" cy="230"/>
          </a:xfrm>
        </p:grpSpPr>
        <p:sp>
          <p:nvSpPr>
            <p:cNvPr id="27684" name="Rectangle 7"/>
            <p:cNvSpPr>
              <a:spLocks noChangeArrowheads="1"/>
            </p:cNvSpPr>
            <p:nvPr/>
          </p:nvSpPr>
          <p:spPr bwMode="auto">
            <a:xfrm>
              <a:off x="431" y="1200"/>
              <a:ext cx="57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1044575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1044575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1044575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1044575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1044575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10445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10445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10445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10445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fr-FR" sz="2400">
                  <a:solidFill>
                    <a:srgbClr val="000000"/>
                  </a:solidFill>
                </a:rPr>
                <a:t>arctg x</a:t>
              </a:r>
              <a:endParaRPr lang="fr-FR" altLang="fr-FR" sz="2400"/>
            </a:p>
          </p:txBody>
        </p:sp>
        <p:sp>
          <p:nvSpPr>
            <p:cNvPr id="27685" name="Rectangle 8"/>
            <p:cNvSpPr>
              <a:spLocks noChangeArrowheads="1"/>
            </p:cNvSpPr>
            <p:nvPr/>
          </p:nvSpPr>
          <p:spPr bwMode="auto">
            <a:xfrm>
              <a:off x="1691" y="1200"/>
              <a:ext cx="59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1044575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1044575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1044575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1044575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1044575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10445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10445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10445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10445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fr-FR" sz="2400">
                  <a:solidFill>
                    <a:srgbClr val="FF0000"/>
                  </a:solidFill>
                </a:rPr>
                <a:t>atan(x)</a:t>
              </a:r>
              <a:endParaRPr lang="fr-FR" altLang="fr-FR" sz="2400"/>
            </a:p>
          </p:txBody>
        </p:sp>
      </p:grpSp>
      <p:grpSp>
        <p:nvGrpSpPr>
          <p:cNvPr id="27653" name="Group 44"/>
          <p:cNvGrpSpPr>
            <a:grpSpLocks/>
          </p:cNvGrpSpPr>
          <p:nvPr/>
        </p:nvGrpSpPr>
        <p:grpSpPr bwMode="auto">
          <a:xfrm>
            <a:off x="684213" y="2565400"/>
            <a:ext cx="2830512" cy="365125"/>
            <a:chOff x="431" y="1418"/>
            <a:chExt cx="1783" cy="230"/>
          </a:xfrm>
        </p:grpSpPr>
        <p:sp>
          <p:nvSpPr>
            <p:cNvPr id="27682" name="Rectangle 9"/>
            <p:cNvSpPr>
              <a:spLocks noChangeArrowheads="1"/>
            </p:cNvSpPr>
            <p:nvPr/>
          </p:nvSpPr>
          <p:spPr bwMode="auto">
            <a:xfrm>
              <a:off x="431" y="1418"/>
              <a:ext cx="44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1044575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1044575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1044575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1044575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1044575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10445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10445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10445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10445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fr-FR" sz="2400">
                  <a:solidFill>
                    <a:srgbClr val="000000"/>
                  </a:solidFill>
                </a:rPr>
                <a:t>cos x</a:t>
              </a:r>
              <a:endParaRPr lang="fr-FR" altLang="fr-FR" sz="2400"/>
            </a:p>
          </p:txBody>
        </p:sp>
        <p:sp>
          <p:nvSpPr>
            <p:cNvPr id="27683" name="Rectangle 10"/>
            <p:cNvSpPr>
              <a:spLocks noChangeArrowheads="1"/>
            </p:cNvSpPr>
            <p:nvPr/>
          </p:nvSpPr>
          <p:spPr bwMode="auto">
            <a:xfrm>
              <a:off x="1691" y="1418"/>
              <a:ext cx="523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1044575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1044575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1044575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1044575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1044575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10445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10445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10445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10445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fr-FR" sz="2400">
                  <a:solidFill>
                    <a:srgbClr val="FF0000"/>
                  </a:solidFill>
                </a:rPr>
                <a:t>cos(x)</a:t>
              </a:r>
              <a:endParaRPr lang="fr-FR" altLang="fr-FR" sz="2400"/>
            </a:p>
          </p:txBody>
        </p:sp>
      </p:grpSp>
      <p:grpSp>
        <p:nvGrpSpPr>
          <p:cNvPr id="27654" name="Group 41"/>
          <p:cNvGrpSpPr>
            <a:grpSpLocks/>
          </p:cNvGrpSpPr>
          <p:nvPr/>
        </p:nvGrpSpPr>
        <p:grpSpPr bwMode="auto">
          <a:xfrm>
            <a:off x="684213" y="3017838"/>
            <a:ext cx="2847975" cy="365125"/>
            <a:chOff x="431" y="1636"/>
            <a:chExt cx="1794" cy="230"/>
          </a:xfrm>
        </p:grpSpPr>
        <p:sp>
          <p:nvSpPr>
            <p:cNvPr id="27680" name="Rectangle 11"/>
            <p:cNvSpPr>
              <a:spLocks noChangeArrowheads="1"/>
            </p:cNvSpPr>
            <p:nvPr/>
          </p:nvSpPr>
          <p:spPr bwMode="auto">
            <a:xfrm>
              <a:off x="431" y="1636"/>
              <a:ext cx="459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1044575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1044575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1044575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1044575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1044575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10445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10445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10445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10445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fr-FR" sz="2400">
                  <a:solidFill>
                    <a:srgbClr val="000000"/>
                  </a:solidFill>
                </a:rPr>
                <a:t>exp x</a:t>
              </a:r>
              <a:endParaRPr lang="fr-FR" altLang="fr-FR" sz="2400"/>
            </a:p>
          </p:txBody>
        </p:sp>
        <p:sp>
          <p:nvSpPr>
            <p:cNvPr id="27681" name="Rectangle 12"/>
            <p:cNvSpPr>
              <a:spLocks noChangeArrowheads="1"/>
            </p:cNvSpPr>
            <p:nvPr/>
          </p:nvSpPr>
          <p:spPr bwMode="auto">
            <a:xfrm>
              <a:off x="1691" y="1636"/>
              <a:ext cx="534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1044575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1044575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1044575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1044575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1044575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10445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10445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10445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10445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fr-FR" sz="2400">
                  <a:solidFill>
                    <a:srgbClr val="FF0000"/>
                  </a:solidFill>
                </a:rPr>
                <a:t>exp(x)</a:t>
              </a:r>
              <a:endParaRPr lang="fr-FR" altLang="fr-FR" sz="2400"/>
            </a:p>
          </p:txBody>
        </p:sp>
      </p:grpSp>
      <p:grpSp>
        <p:nvGrpSpPr>
          <p:cNvPr id="27655" name="Group 40"/>
          <p:cNvGrpSpPr>
            <a:grpSpLocks/>
          </p:cNvGrpSpPr>
          <p:nvPr/>
        </p:nvGrpSpPr>
        <p:grpSpPr bwMode="auto">
          <a:xfrm>
            <a:off x="684213" y="3594100"/>
            <a:ext cx="2763837" cy="365125"/>
            <a:chOff x="431" y="1854"/>
            <a:chExt cx="1741" cy="230"/>
          </a:xfrm>
        </p:grpSpPr>
        <p:sp>
          <p:nvSpPr>
            <p:cNvPr id="27678" name="Rectangle 13"/>
            <p:cNvSpPr>
              <a:spLocks noChangeArrowheads="1"/>
            </p:cNvSpPr>
            <p:nvPr/>
          </p:nvSpPr>
          <p:spPr bwMode="auto">
            <a:xfrm>
              <a:off x="431" y="1854"/>
              <a:ext cx="299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1044575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1044575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1044575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1044575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1044575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10445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10445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10445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10445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fr-FR" sz="2400">
                  <a:solidFill>
                    <a:srgbClr val="000000"/>
                  </a:solidFill>
                </a:rPr>
                <a:t>ln x</a:t>
              </a:r>
              <a:endParaRPr lang="fr-FR" altLang="fr-FR" sz="2400"/>
            </a:p>
          </p:txBody>
        </p:sp>
        <p:sp>
          <p:nvSpPr>
            <p:cNvPr id="27679" name="Rectangle 14"/>
            <p:cNvSpPr>
              <a:spLocks noChangeArrowheads="1"/>
            </p:cNvSpPr>
            <p:nvPr/>
          </p:nvSpPr>
          <p:spPr bwMode="auto">
            <a:xfrm>
              <a:off x="1691" y="1854"/>
              <a:ext cx="481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1044575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1044575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1044575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1044575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1044575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10445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10445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10445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10445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fr-FR" sz="2400">
                  <a:solidFill>
                    <a:srgbClr val="FF0000"/>
                  </a:solidFill>
                </a:rPr>
                <a:t>log(x)</a:t>
              </a:r>
              <a:endParaRPr lang="fr-FR" altLang="fr-FR" sz="2400"/>
            </a:p>
          </p:txBody>
        </p:sp>
      </p:grpSp>
      <p:grpSp>
        <p:nvGrpSpPr>
          <p:cNvPr id="27656" name="Group 39"/>
          <p:cNvGrpSpPr>
            <a:grpSpLocks/>
          </p:cNvGrpSpPr>
          <p:nvPr/>
        </p:nvGrpSpPr>
        <p:grpSpPr bwMode="auto">
          <a:xfrm>
            <a:off x="684213" y="4098925"/>
            <a:ext cx="3103562" cy="365125"/>
            <a:chOff x="431" y="2074"/>
            <a:chExt cx="1955" cy="230"/>
          </a:xfrm>
        </p:grpSpPr>
        <p:sp>
          <p:nvSpPr>
            <p:cNvPr id="27676" name="Rectangle 15"/>
            <p:cNvSpPr>
              <a:spLocks noChangeArrowheads="1"/>
            </p:cNvSpPr>
            <p:nvPr/>
          </p:nvSpPr>
          <p:spPr bwMode="auto">
            <a:xfrm>
              <a:off x="431" y="2074"/>
              <a:ext cx="40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1044575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1044575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1044575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1044575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1044575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10445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10445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10445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10445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fr-FR" sz="2400">
                  <a:solidFill>
                    <a:srgbClr val="000000"/>
                  </a:solidFill>
                </a:rPr>
                <a:t>log x</a:t>
              </a:r>
              <a:endParaRPr lang="fr-FR" altLang="fr-FR" sz="2400"/>
            </a:p>
          </p:txBody>
        </p:sp>
        <p:sp>
          <p:nvSpPr>
            <p:cNvPr id="27677" name="Rectangle 16"/>
            <p:cNvSpPr>
              <a:spLocks noChangeArrowheads="1"/>
            </p:cNvSpPr>
            <p:nvPr/>
          </p:nvSpPr>
          <p:spPr bwMode="auto">
            <a:xfrm>
              <a:off x="1691" y="2074"/>
              <a:ext cx="695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1044575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1044575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1044575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1044575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1044575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10445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10445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10445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10445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fr-FR" sz="2400">
                  <a:solidFill>
                    <a:srgbClr val="FF0000"/>
                  </a:solidFill>
                </a:rPr>
                <a:t>log10(x)</a:t>
              </a:r>
              <a:endParaRPr lang="fr-FR" altLang="fr-FR" sz="2400"/>
            </a:p>
          </p:txBody>
        </p:sp>
      </p:grpSp>
      <p:grpSp>
        <p:nvGrpSpPr>
          <p:cNvPr id="27657" name="Group 38"/>
          <p:cNvGrpSpPr>
            <a:grpSpLocks/>
          </p:cNvGrpSpPr>
          <p:nvPr/>
        </p:nvGrpSpPr>
        <p:grpSpPr bwMode="auto">
          <a:xfrm>
            <a:off x="684213" y="5229225"/>
            <a:ext cx="2447925" cy="404813"/>
            <a:chOff x="431" y="2267"/>
            <a:chExt cx="1542" cy="255"/>
          </a:xfrm>
        </p:grpSpPr>
        <p:sp>
          <p:nvSpPr>
            <p:cNvPr id="27673" name="Rectangle 17"/>
            <p:cNvSpPr>
              <a:spLocks noChangeArrowheads="1"/>
            </p:cNvSpPr>
            <p:nvPr/>
          </p:nvSpPr>
          <p:spPr bwMode="auto">
            <a:xfrm>
              <a:off x="431" y="2292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1044575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1044575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1044575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1044575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1044575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10445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10445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10445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10445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fr-FR" sz="2400">
                  <a:solidFill>
                    <a:srgbClr val="000000"/>
                  </a:solidFill>
                </a:rPr>
                <a:t>x</a:t>
              </a:r>
              <a:endParaRPr lang="fr-FR" altLang="fr-FR" sz="2400"/>
            </a:p>
          </p:txBody>
        </p:sp>
        <p:sp>
          <p:nvSpPr>
            <p:cNvPr id="27674" name="Rectangle 18"/>
            <p:cNvSpPr>
              <a:spLocks noChangeArrowheads="1"/>
            </p:cNvSpPr>
            <p:nvPr/>
          </p:nvSpPr>
          <p:spPr bwMode="auto">
            <a:xfrm>
              <a:off x="521" y="2267"/>
              <a:ext cx="56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1044575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1044575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1044575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1044575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1044575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10445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10445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10445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10445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fr-FR" sz="1400">
                  <a:solidFill>
                    <a:srgbClr val="000000"/>
                  </a:solidFill>
                </a:rPr>
                <a:t>y</a:t>
              </a:r>
              <a:endParaRPr lang="fr-FR" altLang="fr-FR" sz="1400"/>
            </a:p>
          </p:txBody>
        </p:sp>
        <p:sp>
          <p:nvSpPr>
            <p:cNvPr id="27675" name="Rectangle 19"/>
            <p:cNvSpPr>
              <a:spLocks noChangeArrowheads="1"/>
            </p:cNvSpPr>
            <p:nvPr/>
          </p:nvSpPr>
          <p:spPr bwMode="auto">
            <a:xfrm>
              <a:off x="1691" y="2292"/>
              <a:ext cx="28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1044575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1044575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1044575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1044575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1044575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10445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10445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10445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10445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fr-FR" sz="2400">
                  <a:solidFill>
                    <a:srgbClr val="FF0000"/>
                  </a:solidFill>
                </a:rPr>
                <a:t>x^y</a:t>
              </a:r>
              <a:endParaRPr lang="fr-FR" altLang="fr-FR" sz="2400"/>
            </a:p>
          </p:txBody>
        </p:sp>
      </p:grpSp>
      <p:grpSp>
        <p:nvGrpSpPr>
          <p:cNvPr id="27658" name="Group 20"/>
          <p:cNvGrpSpPr>
            <a:grpSpLocks noChangeAspect="1"/>
          </p:cNvGrpSpPr>
          <p:nvPr/>
        </p:nvGrpSpPr>
        <p:grpSpPr bwMode="auto">
          <a:xfrm>
            <a:off x="698500" y="4752975"/>
            <a:ext cx="338138" cy="377825"/>
            <a:chOff x="1194" y="3222"/>
            <a:chExt cx="115" cy="122"/>
          </a:xfrm>
        </p:grpSpPr>
        <p:sp>
          <p:nvSpPr>
            <p:cNvPr id="27668" name="Line 21"/>
            <p:cNvSpPr>
              <a:spLocks noChangeAspect="1" noChangeShapeType="1"/>
            </p:cNvSpPr>
            <p:nvPr/>
          </p:nvSpPr>
          <p:spPr bwMode="auto">
            <a:xfrm flipV="1">
              <a:off x="1194" y="3282"/>
              <a:ext cx="12" cy="7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fr-FR"/>
            </a:p>
          </p:txBody>
        </p:sp>
        <p:sp>
          <p:nvSpPr>
            <p:cNvPr id="27669" name="Line 22"/>
            <p:cNvSpPr>
              <a:spLocks noChangeAspect="1" noChangeShapeType="1"/>
            </p:cNvSpPr>
            <p:nvPr/>
          </p:nvSpPr>
          <p:spPr bwMode="auto">
            <a:xfrm>
              <a:off x="1206" y="3284"/>
              <a:ext cx="18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fr-FR"/>
            </a:p>
          </p:txBody>
        </p:sp>
        <p:sp>
          <p:nvSpPr>
            <p:cNvPr id="27670" name="Line 23"/>
            <p:cNvSpPr>
              <a:spLocks noChangeAspect="1" noChangeShapeType="1"/>
            </p:cNvSpPr>
            <p:nvPr/>
          </p:nvSpPr>
          <p:spPr bwMode="auto">
            <a:xfrm flipV="1">
              <a:off x="1226" y="3222"/>
              <a:ext cx="24" cy="94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fr-FR"/>
            </a:p>
          </p:txBody>
        </p:sp>
        <p:sp>
          <p:nvSpPr>
            <p:cNvPr id="27671" name="Line 24"/>
            <p:cNvSpPr>
              <a:spLocks noChangeAspect="1" noChangeShapeType="1"/>
            </p:cNvSpPr>
            <p:nvPr/>
          </p:nvSpPr>
          <p:spPr bwMode="auto">
            <a:xfrm>
              <a:off x="1250" y="3222"/>
              <a:ext cx="55" cy="1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>
              <a:spAutoFit/>
            </a:bodyPr>
            <a:lstStyle/>
            <a:p>
              <a:endParaRPr lang="fr-FR"/>
            </a:p>
          </p:txBody>
        </p:sp>
        <p:sp>
          <p:nvSpPr>
            <p:cNvPr id="27672" name="Rectangle 25"/>
            <p:cNvSpPr>
              <a:spLocks noChangeAspect="1" noChangeArrowheads="1"/>
            </p:cNvSpPr>
            <p:nvPr/>
          </p:nvSpPr>
          <p:spPr bwMode="auto">
            <a:xfrm>
              <a:off x="1257" y="3226"/>
              <a:ext cx="52" cy="1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defTabSz="1044575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1044575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1044575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1044575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defTabSz="1044575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defTabSz="10445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defTabSz="10445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defTabSz="10445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defTabSz="10445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fr-FR" altLang="fr-FR" sz="2400" i="1">
                  <a:solidFill>
                    <a:srgbClr val="000000"/>
                  </a:solidFill>
                </a:rPr>
                <a:t>x</a:t>
              </a:r>
              <a:endParaRPr lang="fr-FR" altLang="fr-FR" sz="2400"/>
            </a:p>
          </p:txBody>
        </p:sp>
      </p:grpSp>
      <p:sp>
        <p:nvSpPr>
          <p:cNvPr id="27659" name="Rectangle 26"/>
          <p:cNvSpPr>
            <a:spLocks noChangeArrowheads="1"/>
          </p:cNvSpPr>
          <p:nvPr/>
        </p:nvSpPr>
        <p:spPr bwMode="auto">
          <a:xfrm>
            <a:off x="2684463" y="4652963"/>
            <a:ext cx="86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1044575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104457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10445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104457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104457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10445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10445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10445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10445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2400">
                <a:solidFill>
                  <a:srgbClr val="FF0000"/>
                </a:solidFill>
              </a:rPr>
              <a:t>sqrt(x)</a:t>
            </a:r>
            <a:endParaRPr lang="fr-FR" altLang="fr-FR" sz="2400"/>
          </a:p>
        </p:txBody>
      </p:sp>
      <p:sp>
        <p:nvSpPr>
          <p:cNvPr id="27660" name="Rectangle 37"/>
          <p:cNvSpPr>
            <a:spLocks noChangeArrowheads="1"/>
          </p:cNvSpPr>
          <p:nvPr/>
        </p:nvSpPr>
        <p:spPr bwMode="auto">
          <a:xfrm>
            <a:off x="-169227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2400">
                <a:solidFill>
                  <a:srgbClr val="A50021"/>
                </a:solidFill>
              </a:rPr>
              <a:t>Fonctions mathématiques</a:t>
            </a:r>
            <a:endParaRPr lang="fr-FR" altLang="fr-FR" sz="4400">
              <a:solidFill>
                <a:srgbClr val="A50021"/>
              </a:solidFill>
            </a:endParaRPr>
          </a:p>
        </p:txBody>
      </p:sp>
      <p:pic>
        <p:nvPicPr>
          <p:cNvPr id="27661" name="Picture 4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6" b="8606"/>
          <a:stretch>
            <a:fillRect/>
          </a:stretch>
        </p:blipFill>
        <p:spPr bwMode="auto">
          <a:xfrm>
            <a:off x="4356100" y="71438"/>
            <a:ext cx="3905250" cy="2636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62" name="Text Box 46"/>
          <p:cNvSpPr txBox="1">
            <a:spLocks noChangeArrowheads="1"/>
          </p:cNvSpPr>
          <p:nvPr/>
        </p:nvSpPr>
        <p:spPr bwMode="auto">
          <a:xfrm>
            <a:off x="7164388" y="2311400"/>
            <a:ext cx="16954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000">
                <a:cs typeface="Arial" panose="020B0604020202020204" pitchFamily="34" charset="0"/>
              </a:rPr>
              <a:t>1i  ≡  sqrt(-1.)</a:t>
            </a:r>
          </a:p>
        </p:txBody>
      </p:sp>
      <p:pic>
        <p:nvPicPr>
          <p:cNvPr id="27663" name="Picture 4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83" b="31592"/>
          <a:stretch>
            <a:fillRect/>
          </a:stretch>
        </p:blipFill>
        <p:spPr bwMode="auto">
          <a:xfrm>
            <a:off x="4313238" y="3141663"/>
            <a:ext cx="4219575" cy="143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64" name="Text Box 49"/>
          <p:cNvSpPr txBox="1">
            <a:spLocks noChangeArrowheads="1"/>
          </p:cNvSpPr>
          <p:nvPr/>
        </p:nvSpPr>
        <p:spPr bwMode="auto">
          <a:xfrm>
            <a:off x="4930775" y="4741863"/>
            <a:ext cx="4178300" cy="703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 b="1">
                <a:sym typeface="Symbol" panose="05050102010706020507" pitchFamily="18" charset="2"/>
              </a:rPr>
              <a:t></a:t>
            </a:r>
            <a:r>
              <a:rPr lang="fr-FR" altLang="fr-FR" sz="1600"/>
              <a:t>	: continuation ligne suivante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/>
              <a:t>num2str 	:  conversion numerique </a:t>
            </a:r>
            <a:r>
              <a:rPr lang="fr-FR" altLang="fr-FR" sz="1600">
                <a:sym typeface="Symbol" panose="05050102010706020507" pitchFamily="18" charset="2"/>
              </a:rPr>
              <a:t> chaine</a:t>
            </a:r>
          </a:p>
        </p:txBody>
      </p:sp>
      <p:sp>
        <p:nvSpPr>
          <p:cNvPr id="27665" name="AutoShape 50"/>
          <p:cNvSpPr>
            <a:spLocks noChangeArrowheads="1"/>
          </p:cNvSpPr>
          <p:nvPr/>
        </p:nvSpPr>
        <p:spPr bwMode="auto">
          <a:xfrm>
            <a:off x="3203575" y="5876925"/>
            <a:ext cx="1008063" cy="792163"/>
          </a:xfrm>
          <a:prstGeom prst="wedgeRoundRectCallout">
            <a:avLst>
              <a:gd name="adj1" fmla="val -58347"/>
              <a:gd name="adj2" fmla="val -76255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sym typeface="Symbol" panose="05050102010706020507" pitchFamily="18" charset="2"/>
              </a:rPr>
              <a:t> C &amp; C++</a:t>
            </a:r>
          </a:p>
        </p:txBody>
      </p:sp>
      <p:pic>
        <p:nvPicPr>
          <p:cNvPr id="27666" name="Picture 5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408" b="9004"/>
          <a:stretch>
            <a:fillRect/>
          </a:stretch>
        </p:blipFill>
        <p:spPr bwMode="auto">
          <a:xfrm>
            <a:off x="4313238" y="5588000"/>
            <a:ext cx="4219575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67" name="Line 52"/>
          <p:cNvSpPr>
            <a:spLocks noChangeShapeType="1"/>
          </p:cNvSpPr>
          <p:nvPr/>
        </p:nvSpPr>
        <p:spPr bwMode="auto">
          <a:xfrm>
            <a:off x="4356100" y="2997200"/>
            <a:ext cx="4787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E65A291-2E87-4FBE-B80B-D0FBBCEE4D3E}" type="slidenum">
              <a:rPr lang="en-US" altLang="fr-FR" sz="1400" smtClean="0"/>
              <a:pPr>
                <a:spcBef>
                  <a:spcPct val="0"/>
                </a:spcBef>
                <a:buFontTx/>
                <a:buNone/>
              </a:pPr>
              <a:t>25</a:t>
            </a:fld>
            <a:endParaRPr lang="en-US" altLang="fr-FR" sz="1400" smtClean="0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908050"/>
            <a:ext cx="8229600" cy="4525963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fr-FR" sz="2000" smtClean="0"/>
              <a:t>Ouvrir l</a:t>
            </a:r>
            <a:r>
              <a:rPr lang="ja-JP" altLang="en-US" sz="2000" smtClean="0"/>
              <a:t>’</a:t>
            </a:r>
            <a:r>
              <a:rPr lang="en-US" altLang="ja-JP" sz="2000" smtClean="0"/>
              <a:t>éditeur de texte : File </a:t>
            </a:r>
            <a:r>
              <a:rPr lang="en-US" altLang="ja-JP" sz="2000" smtClean="0">
                <a:sym typeface="Wingdings" panose="05000000000000000000" pitchFamily="2" charset="2"/>
              </a:rPr>
              <a:t> New  M-file</a:t>
            </a:r>
            <a:r>
              <a:rPr lang="en-US" altLang="ja-JP" sz="2000" smtClean="0"/>
              <a:t>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fr-FR" sz="2000" smtClean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fr-FR" sz="2000" smtClean="0"/>
              <a:t>% resolution d'un systeme lineaire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fr-FR" sz="2000" smtClean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fr-FR" sz="2000" smtClean="0">
                <a:solidFill>
                  <a:srgbClr val="FF0000"/>
                </a:solidFill>
              </a:rPr>
              <a:t>function</a:t>
            </a:r>
            <a:r>
              <a:rPr lang="en-US" altLang="fr-FR" sz="2000" smtClean="0"/>
              <a:t> [x]=resolution(A, b)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fr-FR" sz="2000" smtClean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fr-FR" sz="2000" smtClean="0"/>
              <a:t>x = A\b;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fr-FR" sz="2000" smtClean="0">
                <a:solidFill>
                  <a:srgbClr val="FF0000"/>
                </a:solidFill>
              </a:rPr>
              <a:t>error(lastwarn);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fr-FR" sz="2000" smtClean="0"/>
              <a:t>end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fr-FR" sz="1000" smtClean="0"/>
          </a:p>
          <a:p>
            <a:pPr eaLnBrk="1" hangingPunct="1">
              <a:lnSpc>
                <a:spcPct val="150000"/>
              </a:lnSpc>
            </a:pPr>
            <a:r>
              <a:rPr lang="en-US" altLang="fr-FR" sz="2000" smtClean="0"/>
              <a:t>Sauver sous le nom </a:t>
            </a:r>
            <a:r>
              <a:rPr lang="ja-JP" altLang="en-US" sz="2000" smtClean="0"/>
              <a:t>“</a:t>
            </a:r>
            <a:r>
              <a:rPr lang="en-US" altLang="ja-JP" sz="2000" smtClean="0"/>
              <a:t>resolution.m</a:t>
            </a:r>
            <a:r>
              <a:rPr lang="ja-JP" altLang="en-US" sz="2000" smtClean="0"/>
              <a:t>”</a:t>
            </a:r>
            <a:r>
              <a:rPr lang="en-US" altLang="ja-JP" sz="2000" smtClean="0"/>
              <a:t> par exemple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fr-FR" sz="2000" smtClean="0"/>
              <a:t>Dans matlab, sélectionner </a:t>
            </a:r>
            <a:r>
              <a:rPr lang="ja-JP" altLang="en-US" sz="2000" smtClean="0"/>
              <a:t>“</a:t>
            </a:r>
            <a:r>
              <a:rPr lang="en-US" altLang="ja-JP" sz="2000" smtClean="0"/>
              <a:t>resolution.m</a:t>
            </a:r>
            <a:r>
              <a:rPr lang="ja-JP" altLang="en-US" sz="2000" smtClean="0"/>
              <a:t>”</a:t>
            </a:r>
            <a:r>
              <a:rPr lang="en-US" altLang="ja-JP" sz="2000" smtClean="0"/>
              <a:t>  avec le menu file </a:t>
            </a:r>
            <a:r>
              <a:rPr lang="en-US" altLang="ja-JP" sz="2000" smtClean="0">
                <a:sym typeface="Wingdings" panose="05000000000000000000" pitchFamily="2" charset="2"/>
              </a:rPr>
              <a:t> open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fr-FR" sz="2000" smtClean="0">
                <a:sym typeface="Wingdings" panose="05000000000000000000" pitchFamily="2" charset="2"/>
              </a:rPr>
              <a:t>Appeler la fonction de resolution depuis la fenêtre de commande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altLang="fr-FR" sz="2400" smtClean="0"/>
              <a:t>			x = resolution(A, b)</a:t>
            </a:r>
          </a:p>
          <a:p>
            <a:pPr eaLnBrk="1" hangingPunct="1">
              <a:lnSpc>
                <a:spcPct val="80000"/>
              </a:lnSpc>
            </a:pPr>
            <a:endParaRPr lang="en-US" altLang="fr-FR" sz="2000" smtClean="0"/>
          </a:p>
        </p:txBody>
      </p:sp>
      <p:sp>
        <p:nvSpPr>
          <p:cNvPr id="28676" name="AutoShape 5"/>
          <p:cNvSpPr>
            <a:spLocks/>
          </p:cNvSpPr>
          <p:nvPr/>
        </p:nvSpPr>
        <p:spPr bwMode="auto">
          <a:xfrm>
            <a:off x="3924300" y="2708275"/>
            <a:ext cx="4824413" cy="609600"/>
          </a:xfrm>
          <a:prstGeom prst="borderCallout2">
            <a:avLst>
              <a:gd name="adj1" fmla="val 18750"/>
              <a:gd name="adj2" fmla="val -1579"/>
              <a:gd name="adj3" fmla="val 18750"/>
              <a:gd name="adj4" fmla="val -22407"/>
              <a:gd name="adj5" fmla="val -35157"/>
              <a:gd name="adj6" fmla="val -43995"/>
            </a:avLst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fr-FR" sz="1800"/>
              <a:t>Sorties séparées par une virgule si nécessaire</a:t>
            </a:r>
          </a:p>
        </p:txBody>
      </p:sp>
      <p:sp>
        <p:nvSpPr>
          <p:cNvPr id="28677" name="AutoShape 6"/>
          <p:cNvSpPr>
            <a:spLocks/>
          </p:cNvSpPr>
          <p:nvPr/>
        </p:nvSpPr>
        <p:spPr bwMode="auto">
          <a:xfrm>
            <a:off x="4716463" y="1989138"/>
            <a:ext cx="4032250" cy="431800"/>
          </a:xfrm>
          <a:prstGeom prst="borderCallout2">
            <a:avLst>
              <a:gd name="adj1" fmla="val 18750"/>
              <a:gd name="adj2" fmla="val -1889"/>
              <a:gd name="adj3" fmla="val 18750"/>
              <a:gd name="adj4" fmla="val -16616"/>
              <a:gd name="adj5" fmla="val 47398"/>
              <a:gd name="adj6" fmla="val -32245"/>
            </a:avLst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fr-FR" sz="1800"/>
              <a:t>Entrées séparées par une virgule</a:t>
            </a:r>
          </a:p>
        </p:txBody>
      </p:sp>
      <p:sp>
        <p:nvSpPr>
          <p:cNvPr id="28678" name="Text Box 9"/>
          <p:cNvSpPr txBox="1">
            <a:spLocks noChangeArrowheads="1"/>
          </p:cNvSpPr>
          <p:nvPr/>
        </p:nvSpPr>
        <p:spPr bwMode="auto">
          <a:xfrm>
            <a:off x="4727575" y="1484313"/>
            <a:ext cx="1789113" cy="369887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1800"/>
              <a:t>% commentaire</a:t>
            </a:r>
          </a:p>
        </p:txBody>
      </p:sp>
      <p:sp>
        <p:nvSpPr>
          <p:cNvPr id="28679" name="Rectangle 11"/>
          <p:cNvSpPr>
            <a:spLocks noChangeArrowheads="1"/>
          </p:cNvSpPr>
          <p:nvPr/>
        </p:nvSpPr>
        <p:spPr bwMode="auto">
          <a:xfrm>
            <a:off x="2339975" y="-100013"/>
            <a:ext cx="4608513" cy="1143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fr-FR" sz="2400">
                <a:solidFill>
                  <a:srgbClr val="FF0000"/>
                </a:solidFill>
              </a:rPr>
              <a:t>Ecriture d</a:t>
            </a:r>
            <a:r>
              <a:rPr lang="ja-JP" altLang="en-US" sz="2400">
                <a:solidFill>
                  <a:srgbClr val="FF0000"/>
                </a:solidFill>
              </a:rPr>
              <a:t>’</a:t>
            </a:r>
            <a:r>
              <a:rPr lang="en-US" altLang="ja-JP" sz="2400">
                <a:solidFill>
                  <a:srgbClr val="FF0000"/>
                </a:solidFill>
              </a:rPr>
              <a:t>une fonction (1)</a:t>
            </a:r>
            <a:endParaRPr lang="en-US" altLang="fr-FR" sz="2400">
              <a:solidFill>
                <a:srgbClr val="FF0000"/>
              </a:solidFill>
              <a:sym typeface="MT Extra" panose="05050102010205020202" pitchFamily="18" charset="2"/>
            </a:endParaRPr>
          </a:p>
        </p:txBody>
      </p:sp>
      <p:sp>
        <p:nvSpPr>
          <p:cNvPr id="28680" name="AutoShape 5"/>
          <p:cNvSpPr>
            <a:spLocks/>
          </p:cNvSpPr>
          <p:nvPr/>
        </p:nvSpPr>
        <p:spPr bwMode="auto">
          <a:xfrm>
            <a:off x="3924300" y="3395663"/>
            <a:ext cx="4824413" cy="538162"/>
          </a:xfrm>
          <a:prstGeom prst="borderCallout2">
            <a:avLst>
              <a:gd name="adj1" fmla="val 18750"/>
              <a:gd name="adj2" fmla="val -1579"/>
              <a:gd name="adj3" fmla="val 375"/>
              <a:gd name="adj4" fmla="val -13926"/>
              <a:gd name="adj5" fmla="val -27282"/>
              <a:gd name="adj6" fmla="val -31125"/>
            </a:avLst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fr-FR" sz="1800"/>
              <a:t>Tout warning arrête le déroulement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9C60992-C035-4871-92DC-974B6D9B6A2F}" type="slidenum">
              <a:rPr lang="en-US" altLang="fr-FR" sz="1400" smtClean="0"/>
              <a:pPr>
                <a:spcBef>
                  <a:spcPct val="0"/>
                </a:spcBef>
                <a:buFontTx/>
                <a:buNone/>
              </a:pPr>
              <a:t>26</a:t>
            </a:fld>
            <a:endParaRPr lang="en-US" altLang="fr-FR" sz="1400" smtClean="0"/>
          </a:p>
        </p:txBody>
      </p:sp>
      <p:sp>
        <p:nvSpPr>
          <p:cNvPr id="29699" name="Text Box 9"/>
          <p:cNvSpPr txBox="1">
            <a:spLocks noChangeArrowheads="1"/>
          </p:cNvSpPr>
          <p:nvPr/>
        </p:nvSpPr>
        <p:spPr bwMode="auto">
          <a:xfrm>
            <a:off x="323850" y="836613"/>
            <a:ext cx="4894263" cy="618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solidFill>
                  <a:srgbClr val="0000FF"/>
                </a:solidFill>
                <a:latin typeface="Courier New" panose="02070309020205020404" pitchFamily="49" charset="0"/>
              </a:rPr>
              <a:t>function</a:t>
            </a:r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 linsolver</a:t>
            </a:r>
            <a:endParaRPr lang="fr-FR" altLang="fr-FR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A=[1 2 3;2 -3 5;4 -3 1]</a:t>
            </a:r>
            <a:endParaRPr lang="fr-FR" altLang="fr-FR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b=[1 -2 3]'</a:t>
            </a:r>
            <a:endParaRPr lang="fr-FR" altLang="fr-FR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altLang="fr-FR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[x, ier]=resolution(A, b)</a:t>
            </a:r>
            <a:endParaRPr lang="fr-FR" altLang="fr-FR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solidFill>
                  <a:srgbClr val="0000FF"/>
                </a:solidFill>
                <a:latin typeface="Courier New" panose="02070309020205020404" pitchFamily="49" charset="0"/>
              </a:rPr>
              <a:t>if</a:t>
            </a:r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 (ier) </a:t>
            </a:r>
            <a:endParaRPr lang="fr-FR" altLang="fr-FR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   error(</a:t>
            </a:r>
            <a:r>
              <a:rPr lang="fr-FR" altLang="fr-FR" sz="1800" b="1">
                <a:solidFill>
                  <a:srgbClr val="A020F0"/>
                </a:solidFill>
                <a:latin typeface="Courier New" panose="02070309020205020404" pitchFamily="49" charset="0"/>
              </a:rPr>
              <a:t>'Pb resolution'</a:t>
            </a:r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  <a:endParaRPr lang="fr-FR" altLang="fr-FR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solidFill>
                  <a:srgbClr val="0000FF"/>
                </a:solidFill>
                <a:latin typeface="Courier New" panose="02070309020205020404" pitchFamily="49" charset="0"/>
              </a:rPr>
              <a:t>end</a:t>
            </a:r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;   </a:t>
            </a:r>
            <a:endParaRPr lang="fr-FR" altLang="fr-FR" sz="18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1800" b="1">
                <a:solidFill>
                  <a:schemeClr val="hlink"/>
                </a:solidFill>
                <a:latin typeface="Courier New" panose="02070309020205020404" pitchFamily="49" charset="0"/>
              </a:rPr>
              <a:t>% resolution d'un systeme lineaire</a:t>
            </a:r>
            <a:r>
              <a:rPr lang="fr-FR" altLang="fr-FR" sz="1800" b="1">
                <a:solidFill>
                  <a:schemeClr val="hlink"/>
                </a:solidFill>
                <a:latin typeface="Courier New" panose="02070309020205020404" pitchFamily="49" charset="0"/>
              </a:rPr>
              <a:t>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>
                <a:solidFill>
                  <a:srgbClr val="0000FF"/>
                </a:solidFill>
                <a:latin typeface="Courier New" panose="02070309020205020404" pitchFamily="49" charset="0"/>
              </a:rPr>
              <a:t>function</a:t>
            </a:r>
            <a:r>
              <a:rPr lang="fr-FR" altLang="fr-FR" sz="1800" b="1">
                <a:solidFill>
                  <a:srgbClr val="000000"/>
                </a:solidFill>
                <a:latin typeface="Courier New" panose="02070309020205020404" pitchFamily="49" charset="0"/>
              </a:rPr>
              <a:t> [x, res]=resolution(A, b)</a:t>
            </a:r>
            <a:endParaRPr lang="fr-FR" altLang="fr-FR" sz="1800" b="1"/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800" b="1">
                <a:solidFill>
                  <a:srgbClr val="0000FF"/>
                </a:solidFill>
                <a:latin typeface="Courier" pitchFamily="-84" charset="0"/>
              </a:rPr>
              <a:t>try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de-DE" altLang="fr-FR" sz="1800" b="1">
                <a:solidFill>
                  <a:srgbClr val="000000"/>
                </a:solidFill>
                <a:latin typeface="Courier" pitchFamily="-84" charset="0"/>
              </a:rPr>
              <a:t>    res = 0;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de-DE" altLang="fr-FR" sz="1800" b="1">
                <a:solidFill>
                  <a:srgbClr val="000000"/>
                </a:solidFill>
                <a:latin typeface="Courier" pitchFamily="-84" charset="0"/>
              </a:rPr>
              <a:t>    x = A\b;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de-DE" altLang="fr-FR" sz="1800" b="1">
                <a:solidFill>
                  <a:srgbClr val="000000"/>
                </a:solidFill>
                <a:latin typeface="Courier" pitchFamily="-84" charset="0"/>
              </a:rPr>
              <a:t>    error(lastwarn);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de-DE" altLang="fr-FR" sz="1800" b="1">
                <a:solidFill>
                  <a:srgbClr val="0000FF"/>
                </a:solidFill>
                <a:latin typeface="Courier" pitchFamily="-84" charset="0"/>
              </a:rPr>
              <a:t>catch</a:t>
            </a:r>
            <a:r>
              <a:rPr lang="de-DE" altLang="fr-FR" sz="1800" b="1">
                <a:solidFill>
                  <a:srgbClr val="000000"/>
                </a:solidFill>
                <a:latin typeface="Courier" pitchFamily="-84" charset="0"/>
              </a:rPr>
              <a:t> ME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de-DE" altLang="fr-FR" sz="1800" b="1">
                <a:solidFill>
                  <a:srgbClr val="000000"/>
                </a:solidFill>
                <a:latin typeface="Courier" pitchFamily="-84" charset="0"/>
              </a:rPr>
              <a:t>    ME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de-DE" altLang="fr-FR" sz="1800" b="1">
                <a:solidFill>
                  <a:srgbClr val="000000"/>
                </a:solidFill>
                <a:latin typeface="Courier" pitchFamily="-84" charset="0"/>
              </a:rPr>
              <a:t>    res = 1;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de-DE" altLang="fr-FR" sz="1800" b="1">
                <a:solidFill>
                  <a:srgbClr val="000000"/>
                </a:solidFill>
                <a:latin typeface="Courier" pitchFamily="-84" charset="0"/>
              </a:rPr>
              <a:t>    x = 0;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de-DE" altLang="fr-FR" sz="1800" b="1">
                <a:solidFill>
                  <a:srgbClr val="0000FF"/>
                </a:solidFill>
                <a:latin typeface="Courier" pitchFamily="-84" charset="0"/>
              </a:rPr>
              <a:t>end</a:t>
            </a:r>
            <a:r>
              <a:rPr lang="de-DE" altLang="fr-FR" sz="1800" b="1">
                <a:solidFill>
                  <a:srgbClr val="000000"/>
                </a:solidFill>
                <a:latin typeface="Courier" pitchFamily="-84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de-DE" altLang="fr-FR" sz="1800" b="1">
                <a:solidFill>
                  <a:srgbClr val="0000FF"/>
                </a:solidFill>
                <a:latin typeface="Courier" pitchFamily="-84" charset="0"/>
              </a:rPr>
              <a:t>end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</p:txBody>
      </p:sp>
      <p:sp>
        <p:nvSpPr>
          <p:cNvPr id="29700" name="Text Box 6"/>
          <p:cNvSpPr txBox="1">
            <a:spLocks noChangeArrowheads="1"/>
          </p:cNvSpPr>
          <p:nvPr/>
        </p:nvSpPr>
        <p:spPr bwMode="auto">
          <a:xfrm>
            <a:off x="3708400" y="4149725"/>
            <a:ext cx="5316538" cy="132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2000"/>
              <a:t>det(A) nul provoque un warning uniquement !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2000"/>
              <a:t>Transformation du warning en erreur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fr-FR" sz="20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2000"/>
              <a:t>Récupération de l’erreur</a:t>
            </a:r>
          </a:p>
        </p:txBody>
      </p:sp>
      <p:sp>
        <p:nvSpPr>
          <p:cNvPr id="29701" name="Text Box 7"/>
          <p:cNvSpPr txBox="1">
            <a:spLocks noChangeArrowheads="1"/>
          </p:cNvSpPr>
          <p:nvPr/>
        </p:nvSpPr>
        <p:spPr bwMode="auto">
          <a:xfrm>
            <a:off x="5580063" y="1508125"/>
            <a:ext cx="3121025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2000"/>
              <a:t>Branchement conditionnel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2000"/>
              <a:t>if (condition)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2000"/>
              <a:t>	</a:t>
            </a:r>
            <a:r>
              <a:rPr lang="en-US" altLang="fr-FR" sz="2000" i="1"/>
              <a:t>bloc;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2000"/>
              <a:t>else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2000"/>
              <a:t>	</a:t>
            </a:r>
            <a:r>
              <a:rPr lang="en-US" altLang="fr-FR" sz="2000" i="1"/>
              <a:t>bloc;</a:t>
            </a:r>
            <a:endParaRPr lang="en-US" altLang="fr-FR" sz="20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2000"/>
              <a:t>end</a:t>
            </a:r>
          </a:p>
        </p:txBody>
      </p:sp>
      <p:sp>
        <p:nvSpPr>
          <p:cNvPr id="29702" name="Rectangle 12"/>
          <p:cNvSpPr>
            <a:spLocks noChangeArrowheads="1"/>
          </p:cNvSpPr>
          <p:nvPr/>
        </p:nvSpPr>
        <p:spPr bwMode="auto">
          <a:xfrm>
            <a:off x="4427538" y="-242888"/>
            <a:ext cx="4608512" cy="1143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fr-FR" sz="2400">
                <a:solidFill>
                  <a:srgbClr val="FF0000"/>
                </a:solidFill>
              </a:rPr>
              <a:t>Ecriture d</a:t>
            </a:r>
            <a:r>
              <a:rPr lang="ja-JP" altLang="en-US" sz="2400">
                <a:solidFill>
                  <a:srgbClr val="FF0000"/>
                </a:solidFill>
              </a:rPr>
              <a:t>’</a:t>
            </a:r>
            <a:r>
              <a:rPr lang="en-US" altLang="ja-JP" sz="2400">
                <a:solidFill>
                  <a:srgbClr val="FF0000"/>
                </a:solidFill>
              </a:rPr>
              <a:t>une fonction (2)</a:t>
            </a:r>
            <a:endParaRPr lang="en-US" altLang="fr-FR" sz="2400">
              <a:solidFill>
                <a:srgbClr val="FF0000"/>
              </a:solidFill>
              <a:sym typeface="MT Extra" panose="05050102010205020202" pitchFamily="18" charset="2"/>
            </a:endParaRPr>
          </a:p>
        </p:txBody>
      </p:sp>
      <p:sp>
        <p:nvSpPr>
          <p:cNvPr id="29703" name="Text Box 13"/>
          <p:cNvSpPr txBox="1">
            <a:spLocks noChangeArrowheads="1"/>
          </p:cNvSpPr>
          <p:nvPr/>
        </p:nvSpPr>
        <p:spPr bwMode="auto">
          <a:xfrm>
            <a:off x="4932363" y="620713"/>
            <a:ext cx="3536950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fr-FR" altLang="fr-FR" sz="1800"/>
              <a:t>linsolver est la fonction principale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fr-FR" altLang="fr-FR" sz="1800"/>
              <a:t>appelant la routine de résolution</a:t>
            </a:r>
          </a:p>
        </p:txBody>
      </p:sp>
      <p:sp>
        <p:nvSpPr>
          <p:cNvPr id="29704" name="Text Box 14"/>
          <p:cNvSpPr txBox="1">
            <a:spLocks noChangeArrowheads="1"/>
          </p:cNvSpPr>
          <p:nvPr/>
        </p:nvSpPr>
        <p:spPr bwMode="auto">
          <a:xfrm>
            <a:off x="376238" y="207963"/>
            <a:ext cx="1276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linsolver.m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0F2913A-A6E3-4A21-8596-72EE163C460B}" type="slidenum">
              <a:rPr lang="en-US" altLang="fr-FR" sz="1400" smtClean="0"/>
              <a:pPr>
                <a:spcBef>
                  <a:spcPct val="0"/>
                </a:spcBef>
                <a:buFontTx/>
                <a:buNone/>
              </a:pPr>
              <a:t>27</a:t>
            </a:fld>
            <a:endParaRPr lang="en-US" altLang="fr-FR" sz="1400" smtClean="0"/>
          </a:p>
        </p:txBody>
      </p:sp>
      <p:sp>
        <p:nvSpPr>
          <p:cNvPr id="30723" name="Text Box 17"/>
          <p:cNvSpPr txBox="1">
            <a:spLocks noChangeArrowheads="1"/>
          </p:cNvSpPr>
          <p:nvPr/>
        </p:nvSpPr>
        <p:spPr bwMode="auto">
          <a:xfrm>
            <a:off x="4500563" y="2465388"/>
            <a:ext cx="3729037" cy="449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 b="1">
                <a:solidFill>
                  <a:srgbClr val="228B22"/>
                </a:solidFill>
                <a:latin typeface="Courier New" panose="02070309020205020404" pitchFamily="49" charset="0"/>
              </a:rPr>
              <a:t>% programme struct1</a:t>
            </a:r>
            <a:endParaRPr lang="fr-FR" altLang="fr-FR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clear </a:t>
            </a:r>
            <a:r>
              <a:rPr lang="fr-FR" altLang="fr-FR" sz="1600" b="1">
                <a:solidFill>
                  <a:srgbClr val="A020F0"/>
                </a:solidFill>
                <a:latin typeface="Courier New" panose="02070309020205020404" pitchFamily="49" charset="0"/>
              </a:rPr>
              <a:t>all</a:t>
            </a:r>
            <a:endParaRPr lang="fr-FR" altLang="fr-FR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 b="1">
                <a:solidFill>
                  <a:srgbClr val="A020F0"/>
                </a:solidFill>
                <a:latin typeface="Courier New" panose="02070309020205020404" pitchFamily="49" charset="0"/>
              </a:rPr>
              <a:t> </a:t>
            </a:r>
            <a:endParaRPr lang="fr-FR" altLang="fr-FR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N=2;</a:t>
            </a:r>
            <a:endParaRPr lang="fr-FR" altLang="fr-FR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 b="1">
                <a:solidFill>
                  <a:srgbClr val="0000FF"/>
                </a:solidFill>
                <a:latin typeface="Courier New" panose="02070309020205020404" pitchFamily="49" charset="0"/>
              </a:rPr>
              <a:t>for</a:t>
            </a:r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i=1:N</a:t>
            </a:r>
            <a:endParaRPr lang="fr-FR" altLang="fr-FR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   s=[</a:t>
            </a:r>
            <a:r>
              <a:rPr lang="fr-FR" altLang="fr-FR" sz="1600" b="1">
                <a:solidFill>
                  <a:srgbClr val="A020F0"/>
                </a:solidFill>
                <a:latin typeface="Courier New" panose="02070309020205020404" pitchFamily="49" charset="0"/>
              </a:rPr>
              <a:t>'point '</a:t>
            </a:r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num2str(i) ];</a:t>
            </a:r>
            <a:endParaRPr lang="fr-FR" altLang="fr-FR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   disp(s);</a:t>
            </a:r>
            <a:endParaRPr lang="fr-FR" altLang="fr-FR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   x=input(</a:t>
            </a:r>
            <a:r>
              <a:rPr lang="fr-FR" altLang="fr-FR" sz="1600" b="1">
                <a:solidFill>
                  <a:srgbClr val="A020F0"/>
                </a:solidFill>
                <a:latin typeface="Courier New" panose="02070309020205020404" pitchFamily="49" charset="0"/>
              </a:rPr>
              <a:t>'x :'</a:t>
            </a:r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  <a:endParaRPr lang="fr-FR" altLang="fr-FR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   y=input(</a:t>
            </a:r>
            <a:r>
              <a:rPr lang="fr-FR" altLang="fr-FR" sz="1600" b="1">
                <a:solidFill>
                  <a:srgbClr val="A020F0"/>
                </a:solidFill>
                <a:latin typeface="Courier New" panose="02070309020205020404" pitchFamily="49" charset="0"/>
              </a:rPr>
              <a:t>'y :'</a:t>
            </a:r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  <a:endParaRPr lang="fr-FR" altLang="fr-FR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   M(i).x=x;</a:t>
            </a:r>
            <a:endParaRPr lang="fr-FR" altLang="fr-FR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   M(i).y=y;</a:t>
            </a:r>
            <a:endParaRPr lang="fr-FR" altLang="fr-FR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 b="1">
                <a:solidFill>
                  <a:srgbClr val="0000FF"/>
                </a:solidFill>
                <a:latin typeface="Courier New" panose="02070309020205020404" pitchFamily="49" charset="0"/>
              </a:rPr>
              <a:t>end</a:t>
            </a:r>
            <a:endParaRPr lang="fr-FR" altLang="fr-FR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 b="1">
                <a:solidFill>
                  <a:srgbClr val="0000FF"/>
                </a:solidFill>
                <a:latin typeface="Courier New" panose="02070309020205020404" pitchFamily="49" charset="0"/>
              </a:rPr>
              <a:t> </a:t>
            </a:r>
            <a:endParaRPr lang="fr-FR" altLang="fr-FR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 b="1">
                <a:solidFill>
                  <a:srgbClr val="0000FF"/>
                </a:solidFill>
                <a:latin typeface="Courier New" panose="02070309020205020404" pitchFamily="49" charset="0"/>
              </a:rPr>
              <a:t>for</a:t>
            </a:r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i=1:N</a:t>
            </a:r>
            <a:endParaRPr lang="fr-FR" altLang="fr-FR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   s=[</a:t>
            </a:r>
            <a:r>
              <a:rPr lang="fr-FR" altLang="fr-FR" sz="1600" b="1">
                <a:solidFill>
                  <a:srgbClr val="A020F0"/>
                </a:solidFill>
                <a:latin typeface="Courier New" panose="02070309020205020404" pitchFamily="49" charset="0"/>
              </a:rPr>
              <a:t>'point'</a:t>
            </a:r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num2str(i) ]</a:t>
            </a:r>
            <a:endParaRPr lang="fr-FR" altLang="fr-FR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   disp(M(i));</a:t>
            </a:r>
            <a:endParaRPr lang="fr-FR" altLang="fr-FR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 b="1">
                <a:solidFill>
                  <a:srgbClr val="0000FF"/>
                </a:solidFill>
                <a:latin typeface="Courier New" panose="02070309020205020404" pitchFamily="49" charset="0"/>
              </a:rPr>
              <a:t>end</a:t>
            </a:r>
            <a:endParaRPr lang="fr-FR" altLang="fr-FR" sz="16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600"/>
          </a:p>
        </p:txBody>
      </p:sp>
      <p:sp>
        <p:nvSpPr>
          <p:cNvPr id="30724" name="Rectangle 2"/>
          <p:cNvSpPr>
            <a:spLocks noChangeArrowheads="1"/>
          </p:cNvSpPr>
          <p:nvPr/>
        </p:nvSpPr>
        <p:spPr bwMode="auto">
          <a:xfrm>
            <a:off x="827088" y="0"/>
            <a:ext cx="7772400" cy="908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2400">
                <a:solidFill>
                  <a:srgbClr val="FF0000"/>
                </a:solidFill>
              </a:rPr>
              <a:t>Les structures</a:t>
            </a:r>
          </a:p>
        </p:txBody>
      </p:sp>
      <p:graphicFrame>
        <p:nvGraphicFramePr>
          <p:cNvPr id="52228" name="Group 4"/>
          <p:cNvGraphicFramePr>
            <a:graphicFrameLocks noGrp="1"/>
          </p:cNvGraphicFramePr>
          <p:nvPr/>
        </p:nvGraphicFramePr>
        <p:xfrm>
          <a:off x="1187450" y="1397000"/>
          <a:ext cx="671513" cy="1384300"/>
        </p:xfrm>
        <a:graphic>
          <a:graphicData uri="http://schemas.openxmlformats.org/drawingml/2006/table">
            <a:tbl>
              <a:tblPr/>
              <a:tblGrid>
                <a:gridCol w="6715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36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733" name="Text Box 12"/>
          <p:cNvSpPr txBox="1">
            <a:spLocks noChangeArrowheads="1"/>
          </p:cNvSpPr>
          <p:nvPr/>
        </p:nvSpPr>
        <p:spPr bwMode="auto">
          <a:xfrm>
            <a:off x="376238" y="903288"/>
            <a:ext cx="2611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000"/>
              <a:t>Point en cartésien 2D</a:t>
            </a:r>
          </a:p>
        </p:txBody>
      </p:sp>
      <p:sp>
        <p:nvSpPr>
          <p:cNvPr id="30734" name="Text Box 13"/>
          <p:cNvSpPr txBox="1">
            <a:spLocks noChangeArrowheads="1"/>
          </p:cNvSpPr>
          <p:nvPr/>
        </p:nvSpPr>
        <p:spPr bwMode="auto">
          <a:xfrm>
            <a:off x="395288" y="4149725"/>
            <a:ext cx="3063875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000"/>
              <a:t>Déclaration dynamique et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000"/>
              <a:t>allocation dynamique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000"/>
              <a:t>du tableau de structures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2000"/>
              <a:t>de points</a:t>
            </a:r>
          </a:p>
        </p:txBody>
      </p:sp>
      <p:sp>
        <p:nvSpPr>
          <p:cNvPr id="30735" name="Line 14"/>
          <p:cNvSpPr>
            <a:spLocks noChangeShapeType="1"/>
          </p:cNvSpPr>
          <p:nvPr/>
        </p:nvSpPr>
        <p:spPr bwMode="auto">
          <a:xfrm>
            <a:off x="5003800" y="4724400"/>
            <a:ext cx="0" cy="431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0736" name="Line 15"/>
          <p:cNvSpPr>
            <a:spLocks noChangeShapeType="1"/>
          </p:cNvSpPr>
          <p:nvPr/>
        </p:nvSpPr>
        <p:spPr bwMode="auto">
          <a:xfrm flipH="1" flipV="1">
            <a:off x="3492500" y="4652963"/>
            <a:ext cx="1511300" cy="1444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0737" name="Text Box 18"/>
          <p:cNvSpPr txBox="1">
            <a:spLocks noChangeArrowheads="1"/>
          </p:cNvSpPr>
          <p:nvPr/>
        </p:nvSpPr>
        <p:spPr bwMode="auto">
          <a:xfrm>
            <a:off x="4479925" y="919163"/>
            <a:ext cx="4340225" cy="106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M.x=input(</a:t>
            </a:r>
            <a:r>
              <a:rPr lang="fr-FR" altLang="fr-FR" sz="1600" b="1">
                <a:solidFill>
                  <a:srgbClr val="A020F0"/>
                </a:solidFill>
                <a:latin typeface="Courier New" panose="02070309020205020404" pitchFamily="49" charset="0"/>
              </a:rPr>
              <a:t>'abscisse du point : '</a:t>
            </a:r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  <a:endParaRPr lang="fr-FR" altLang="fr-FR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M.y=input(</a:t>
            </a:r>
            <a:r>
              <a:rPr lang="fr-FR" altLang="fr-FR" sz="1600" b="1">
                <a:solidFill>
                  <a:srgbClr val="A020F0"/>
                </a:solidFill>
                <a:latin typeface="Courier New" panose="02070309020205020404" pitchFamily="49" charset="0"/>
              </a:rPr>
              <a:t>'ordonnee du point : '</a:t>
            </a:r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  <a:endParaRPr lang="fr-FR" altLang="fr-FR" sz="16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disp(M);</a:t>
            </a:r>
          </a:p>
        </p:txBody>
      </p:sp>
      <p:sp>
        <p:nvSpPr>
          <p:cNvPr id="30738" name="Line 19"/>
          <p:cNvSpPr>
            <a:spLocks noChangeShapeType="1"/>
          </p:cNvSpPr>
          <p:nvPr/>
        </p:nvSpPr>
        <p:spPr bwMode="auto">
          <a:xfrm>
            <a:off x="3492500" y="2060575"/>
            <a:ext cx="54006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5D496A1-CF8A-449E-ADF8-C90921E4ECB4}" type="slidenum">
              <a:rPr lang="en-US" altLang="fr-FR" sz="1400" smtClean="0"/>
              <a:pPr>
                <a:spcBef>
                  <a:spcPct val="0"/>
                </a:spcBef>
                <a:buFontTx/>
                <a:buNone/>
              </a:pPr>
              <a:t>28</a:t>
            </a:fld>
            <a:endParaRPr lang="en-US" altLang="fr-FR" sz="1400" smtClean="0"/>
          </a:p>
        </p:txBody>
      </p:sp>
      <p:sp>
        <p:nvSpPr>
          <p:cNvPr id="31747" name="Text Box 17"/>
          <p:cNvSpPr txBox="1">
            <a:spLocks noChangeArrowheads="1"/>
          </p:cNvSpPr>
          <p:nvPr/>
        </p:nvSpPr>
        <p:spPr bwMode="auto">
          <a:xfrm>
            <a:off x="4500563" y="1989138"/>
            <a:ext cx="4254500" cy="4760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1800"/>
              <a:t>Boucle sur les itérations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1800"/>
              <a:t>	u </a:t>
            </a:r>
            <a:r>
              <a:rPr lang="en-US" altLang="fr-FR" sz="1800">
                <a:sym typeface="Symbol" panose="05050102010706020507" pitchFamily="18" charset="2"/>
              </a:rPr>
              <a:t></a:t>
            </a:r>
            <a:r>
              <a:rPr lang="en-US" altLang="fr-FR" sz="1800"/>
              <a:t> A * x0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1800"/>
              <a:t>	x </a:t>
            </a:r>
            <a:r>
              <a:rPr lang="en-US" altLang="fr-FR" sz="1800">
                <a:sym typeface="Symbol" panose="05050102010706020507" pitchFamily="18" charset="2"/>
              </a:rPr>
              <a:t></a:t>
            </a:r>
            <a:r>
              <a:rPr lang="en-US" altLang="fr-FR" sz="1800"/>
              <a:t> u / norme(u)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1800"/>
              <a:t>	si (norme(x-x0) &lt; epsilon) alors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1800"/>
              <a:t>		afficher norme(x-x0)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1800"/>
              <a:t>		stop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1800"/>
              <a:t>	sinon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1800"/>
              <a:t>		x0 </a:t>
            </a:r>
            <a:r>
              <a:rPr lang="en-US" altLang="fr-FR" sz="1800">
                <a:sym typeface="Symbol" panose="05050102010706020507" pitchFamily="18" charset="2"/>
              </a:rPr>
              <a:t></a:t>
            </a:r>
            <a:r>
              <a:rPr lang="en-US" altLang="fr-FR" sz="1800"/>
              <a:t> x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1800"/>
              <a:t>	finsi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1800"/>
              <a:t>Fin boucle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1800"/>
              <a:t> u </a:t>
            </a:r>
            <a:r>
              <a:rPr lang="en-US" altLang="fr-FR" sz="1800">
                <a:sym typeface="Symbol" panose="05050102010706020507" pitchFamily="18" charset="2"/>
              </a:rPr>
              <a:t></a:t>
            </a:r>
            <a:r>
              <a:rPr lang="en-US" altLang="fr-FR" sz="1800"/>
              <a:t> u / norme(u)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fr-FR" sz="18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fr-FR" sz="18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fr-FR" sz="18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fr-FR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1800"/>
              <a:t>lambda=u</a:t>
            </a:r>
            <a:r>
              <a:rPr lang="ja-JP" altLang="en-US" sz="1800"/>
              <a:t>’</a:t>
            </a:r>
            <a:r>
              <a:rPr lang="en-US" altLang="ja-JP" sz="1800"/>
              <a:t> * A *u;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</p:txBody>
      </p:sp>
      <p:sp>
        <p:nvSpPr>
          <p:cNvPr id="3174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17145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fr-FR" sz="2000" smtClean="0">
                <a:solidFill>
                  <a:srgbClr val="FF0000"/>
                </a:solidFill>
              </a:rPr>
              <a:t>Calcul de vecteurs propres par la méthode de la puissance itérée</a:t>
            </a:r>
          </a:p>
        </p:txBody>
      </p:sp>
      <p:sp>
        <p:nvSpPr>
          <p:cNvPr id="3174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23850" y="836613"/>
            <a:ext cx="6994525" cy="1079500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altLang="fr-FR" sz="1600" smtClean="0"/>
              <a:t>Soit A une matrice symétrique de dimensions n x n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fr-FR" sz="1600" smtClean="0"/>
              <a:t>x0 un vecteur quelconque de dimension n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fr-FR" sz="1600" smtClean="0"/>
              <a:t>On fixe un epsilon d</a:t>
            </a:r>
            <a:r>
              <a:rPr lang="ja-JP" altLang="en-US" sz="1600" smtClean="0"/>
              <a:t>’</a:t>
            </a:r>
            <a:r>
              <a:rPr lang="en-US" altLang="ja-JP" sz="1600" smtClean="0"/>
              <a:t>arrêt et un nombre maximal d</a:t>
            </a:r>
            <a:r>
              <a:rPr lang="ja-JP" altLang="en-US" sz="1600" smtClean="0"/>
              <a:t>’</a:t>
            </a:r>
            <a:r>
              <a:rPr lang="en-US" altLang="ja-JP" sz="1600" smtClean="0"/>
              <a:t>itérations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endParaRPr lang="en-US" altLang="fr-FR" sz="1600" smtClean="0"/>
          </a:p>
        </p:txBody>
      </p:sp>
      <p:graphicFrame>
        <p:nvGraphicFramePr>
          <p:cNvPr id="31750" name="Object 10"/>
          <p:cNvGraphicFramePr>
            <a:graphicFrameLocks noChangeAspect="1"/>
          </p:cNvGraphicFramePr>
          <p:nvPr/>
        </p:nvGraphicFramePr>
        <p:xfrm>
          <a:off x="268288" y="2205038"/>
          <a:ext cx="1957387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92" name="Equation" r:id="rId3" imgW="1091726" imgH="355446" progId="Equation.3">
                  <p:embed/>
                </p:oleObj>
              </mc:Choice>
              <mc:Fallback>
                <p:oleObj name="Equation" r:id="rId3" imgW="1091726" imgH="355446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288" y="2205038"/>
                        <a:ext cx="1957387" cy="638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1" name="Object 11"/>
          <p:cNvGraphicFramePr>
            <a:graphicFrameLocks noChangeAspect="1"/>
          </p:cNvGraphicFramePr>
          <p:nvPr/>
        </p:nvGraphicFramePr>
        <p:xfrm>
          <a:off x="1042988" y="2781300"/>
          <a:ext cx="1527175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93" name="Equation" r:id="rId5" imgW="761669" imgH="279279" progId="Equation.3">
                  <p:embed/>
                </p:oleObj>
              </mc:Choice>
              <mc:Fallback>
                <p:oleObj name="Equation" r:id="rId5" imgW="761669" imgH="279279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2781300"/>
                        <a:ext cx="1527175" cy="560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2" name="Object 12"/>
          <p:cNvGraphicFramePr>
            <a:graphicFrameLocks noChangeAspect="1"/>
          </p:cNvGraphicFramePr>
          <p:nvPr/>
        </p:nvGraphicFramePr>
        <p:xfrm>
          <a:off x="231775" y="3436938"/>
          <a:ext cx="3103563" cy="712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94" name="Equation" r:id="rId7" imgW="1548728" imgH="355446" progId="Equation.3">
                  <p:embed/>
                </p:oleObj>
              </mc:Choice>
              <mc:Fallback>
                <p:oleObj name="Equation" r:id="rId7" imgW="1548728" imgH="355446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775" y="3436938"/>
                        <a:ext cx="3103563" cy="712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3" name="Object 13"/>
          <p:cNvGraphicFramePr>
            <a:graphicFrameLocks noChangeAspect="1"/>
          </p:cNvGraphicFramePr>
          <p:nvPr/>
        </p:nvGraphicFramePr>
        <p:xfrm>
          <a:off x="198438" y="4229100"/>
          <a:ext cx="3281362" cy="712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95" name="Equation" r:id="rId9" imgW="1637589" imgH="355446" progId="Equation.3">
                  <p:embed/>
                </p:oleObj>
              </mc:Choice>
              <mc:Fallback>
                <p:oleObj name="Equation" r:id="rId9" imgW="1637589" imgH="355446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438" y="4229100"/>
                        <a:ext cx="3281362" cy="712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4" name="Object 14"/>
          <p:cNvGraphicFramePr>
            <a:graphicFrameLocks noChangeAspect="1"/>
          </p:cNvGraphicFramePr>
          <p:nvPr/>
        </p:nvGraphicFramePr>
        <p:xfrm>
          <a:off x="241300" y="5084763"/>
          <a:ext cx="4724400" cy="1263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96" name="Equation" r:id="rId11" imgW="2946400" imgH="787400" progId="Equation.3">
                  <p:embed/>
                </p:oleObj>
              </mc:Choice>
              <mc:Fallback>
                <p:oleObj name="Equation" r:id="rId11" imgW="2946400" imgH="7874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300" y="5084763"/>
                        <a:ext cx="4724400" cy="1263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5" name="Line 15"/>
          <p:cNvSpPr>
            <a:spLocks noChangeShapeType="1"/>
          </p:cNvSpPr>
          <p:nvPr/>
        </p:nvSpPr>
        <p:spPr bwMode="auto">
          <a:xfrm flipV="1">
            <a:off x="3924300" y="2060575"/>
            <a:ext cx="0" cy="2663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1756" name="Text Box 16"/>
          <p:cNvSpPr txBox="1">
            <a:spLocks noChangeArrowheads="1"/>
          </p:cNvSpPr>
          <p:nvPr/>
        </p:nvSpPr>
        <p:spPr bwMode="auto">
          <a:xfrm>
            <a:off x="2470150" y="2276475"/>
            <a:ext cx="666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avec</a:t>
            </a:r>
          </a:p>
        </p:txBody>
      </p:sp>
      <p:sp>
        <p:nvSpPr>
          <p:cNvPr id="31757" name="Line 18"/>
          <p:cNvSpPr>
            <a:spLocks noChangeShapeType="1"/>
          </p:cNvSpPr>
          <p:nvPr/>
        </p:nvSpPr>
        <p:spPr bwMode="auto">
          <a:xfrm flipH="1">
            <a:off x="4716463" y="5084763"/>
            <a:ext cx="0" cy="5032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1758" name="Rectangle 19"/>
          <p:cNvSpPr>
            <a:spLocks noChangeArrowheads="1"/>
          </p:cNvSpPr>
          <p:nvPr/>
        </p:nvSpPr>
        <p:spPr bwMode="auto">
          <a:xfrm>
            <a:off x="1584325" y="5508625"/>
            <a:ext cx="647700" cy="792163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</p:txBody>
      </p:sp>
      <p:sp>
        <p:nvSpPr>
          <p:cNvPr id="31759" name="Text Box 20"/>
          <p:cNvSpPr txBox="1">
            <a:spLocks noChangeArrowheads="1"/>
          </p:cNvSpPr>
          <p:nvPr/>
        </p:nvSpPr>
        <p:spPr bwMode="auto">
          <a:xfrm>
            <a:off x="1763713" y="6375400"/>
            <a:ext cx="194151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sym typeface="Symbol" panose="05050102010706020507" pitchFamily="18" charset="2"/>
              </a:rPr>
              <a:t>0 quand n  </a:t>
            </a:r>
          </a:p>
        </p:txBody>
      </p:sp>
      <p:sp>
        <p:nvSpPr>
          <p:cNvPr id="31760" name="Text Box 27"/>
          <p:cNvSpPr txBox="1">
            <a:spLocks noChangeArrowheads="1"/>
          </p:cNvSpPr>
          <p:nvPr/>
        </p:nvSpPr>
        <p:spPr bwMode="auto">
          <a:xfrm>
            <a:off x="4572000" y="6021388"/>
            <a:ext cx="7921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fr-FR" altLang="fr-FR" sz="1800"/>
          </a:p>
        </p:txBody>
      </p:sp>
      <p:graphicFrame>
        <p:nvGraphicFramePr>
          <p:cNvPr id="31761" name="Object 32"/>
          <p:cNvGraphicFramePr>
            <a:graphicFrameLocks noGrp="1" noChangeAspect="1"/>
          </p:cNvGraphicFramePr>
          <p:nvPr>
            <p:ph sz="half" idx="2"/>
          </p:nvPr>
        </p:nvGraphicFramePr>
        <p:xfrm>
          <a:off x="5292725" y="5464175"/>
          <a:ext cx="2087563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97" name="Equation" r:id="rId13" imgW="1143000" imgH="266700" progId="Equation.3">
                  <p:embed/>
                </p:oleObj>
              </mc:Choice>
              <mc:Fallback>
                <p:oleObj name="Equation" r:id="rId13" imgW="1143000" imgH="26670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725" y="5464175"/>
                        <a:ext cx="2087563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u numéro de diapositive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B0662E0-5EB2-4F41-B133-28602682BBEA}" type="slidenum">
              <a:rPr lang="en-US" altLang="fr-FR" sz="1400" smtClean="0"/>
              <a:pPr>
                <a:spcBef>
                  <a:spcPct val="0"/>
                </a:spcBef>
                <a:buFontTx/>
                <a:buNone/>
              </a:pPr>
              <a:t>29</a:t>
            </a:fld>
            <a:endParaRPr lang="en-US" altLang="fr-FR" sz="1400" smtClean="0"/>
          </a:p>
        </p:txBody>
      </p:sp>
      <p:sp>
        <p:nvSpPr>
          <p:cNvPr id="32771" name="Rectangle 2"/>
          <p:cNvSpPr>
            <a:spLocks noChangeArrowheads="1"/>
          </p:cNvSpPr>
          <p:nvPr/>
        </p:nvSpPr>
        <p:spPr bwMode="auto">
          <a:xfrm>
            <a:off x="971550" y="115888"/>
            <a:ext cx="7345363" cy="624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>
                <a:solidFill>
                  <a:srgbClr val="228B22"/>
                </a:solidFill>
                <a:latin typeface="Courier" pitchFamily="-84" charset="0"/>
                <a:ea typeface="MS Mincho" pitchFamily="49" charset="-128"/>
              </a:rPr>
              <a:t>% puissance iteree de mat A hermitique de dim nxn</a:t>
            </a:r>
            <a:endParaRPr lang="en-US" altLang="fr-FR" sz="1600">
              <a:latin typeface="Cambria" panose="02040503050406030204" pitchFamily="18" charset="0"/>
              <a:ea typeface="MS Mincho" pitchFamily="49" charset="-128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>
                <a:solidFill>
                  <a:srgbClr val="228B22"/>
                </a:solidFill>
                <a:latin typeface="Courier" pitchFamily="-84" charset="0"/>
                <a:ea typeface="MS Mincho" pitchFamily="49" charset="-128"/>
              </a:rPr>
              <a:t>% [lambda, u]=puissance(A, x0)</a:t>
            </a:r>
            <a:endParaRPr lang="en-US" altLang="fr-FR" sz="1600">
              <a:latin typeface="Cambria" panose="02040503050406030204" pitchFamily="18" charset="0"/>
              <a:ea typeface="MS Mincho" pitchFamily="49" charset="-128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>
                <a:solidFill>
                  <a:srgbClr val="228B22"/>
                </a:solidFill>
                <a:latin typeface="Courier" pitchFamily="-84" charset="0"/>
                <a:ea typeface="MS Mincho" pitchFamily="49" charset="-128"/>
              </a:rPr>
              <a:t>% x0 vecteur colonne de dim n</a:t>
            </a:r>
            <a:endParaRPr lang="en-US" altLang="fr-FR" sz="1600">
              <a:latin typeface="Cambria" panose="02040503050406030204" pitchFamily="18" charset="0"/>
              <a:ea typeface="MS Mincho" pitchFamily="49" charset="-128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>
                <a:solidFill>
                  <a:srgbClr val="228B22"/>
                </a:solidFill>
                <a:latin typeface="Courier" pitchFamily="-84" charset="0"/>
                <a:ea typeface="MS Mincho" pitchFamily="49" charset="-128"/>
              </a:rPr>
              <a:t> </a:t>
            </a:r>
            <a:endParaRPr lang="en-US" altLang="fr-FR" sz="1600">
              <a:latin typeface="Cambria" panose="02040503050406030204" pitchFamily="18" charset="0"/>
              <a:ea typeface="MS Mincho" pitchFamily="49" charset="-128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>
                <a:solidFill>
                  <a:srgbClr val="0000FF"/>
                </a:solidFill>
                <a:latin typeface="Courier" pitchFamily="-84" charset="0"/>
                <a:ea typeface="MS Mincho" pitchFamily="49" charset="-128"/>
              </a:rPr>
              <a:t>function</a:t>
            </a:r>
            <a:r>
              <a:rPr lang="fr-FR" altLang="fr-FR" sz="1600">
                <a:solidFill>
                  <a:srgbClr val="000000"/>
                </a:solidFill>
                <a:latin typeface="Courier" pitchFamily="-84" charset="0"/>
                <a:ea typeface="MS Mincho" pitchFamily="49" charset="-128"/>
              </a:rPr>
              <a:t> [lambda, u]=puissance(A, x0)</a:t>
            </a:r>
            <a:endParaRPr lang="en-US" altLang="fr-FR" sz="1600">
              <a:latin typeface="Cambria" panose="02040503050406030204" pitchFamily="18" charset="0"/>
              <a:ea typeface="MS Mincho" pitchFamily="49" charset="-128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>
                <a:solidFill>
                  <a:srgbClr val="000000"/>
                </a:solidFill>
                <a:latin typeface="Courier" pitchFamily="-84" charset="0"/>
                <a:ea typeface="MS Mincho" pitchFamily="49" charset="-128"/>
              </a:rPr>
              <a:t>n = size(A, 1); </a:t>
            </a:r>
            <a:r>
              <a:rPr lang="fr-FR" altLang="fr-FR" sz="1600">
                <a:solidFill>
                  <a:srgbClr val="228B22"/>
                </a:solidFill>
                <a:latin typeface="Courier" pitchFamily="-84" charset="0"/>
                <a:ea typeface="MS Mincho" pitchFamily="49" charset="-128"/>
              </a:rPr>
              <a:t>% nb de lignes</a:t>
            </a:r>
            <a:endParaRPr lang="en-US" altLang="fr-FR" sz="1600">
              <a:latin typeface="Cambria" panose="02040503050406030204" pitchFamily="18" charset="0"/>
              <a:ea typeface="MS Mincho" pitchFamily="49" charset="-128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>
                <a:solidFill>
                  <a:srgbClr val="000000"/>
                </a:solidFill>
                <a:latin typeface="Courier" pitchFamily="-84" charset="0"/>
                <a:ea typeface="MS Mincho" pitchFamily="49" charset="-128"/>
              </a:rPr>
              <a:t>iter=0; </a:t>
            </a:r>
            <a:endParaRPr lang="en-US" altLang="fr-FR" sz="1600">
              <a:latin typeface="Cambria" panose="02040503050406030204" pitchFamily="18" charset="0"/>
              <a:ea typeface="MS Mincho" pitchFamily="49" charset="-128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>
                <a:solidFill>
                  <a:srgbClr val="000000"/>
                </a:solidFill>
                <a:latin typeface="Courier" pitchFamily="-84" charset="0"/>
                <a:ea typeface="MS Mincho" pitchFamily="49" charset="-128"/>
              </a:rPr>
              <a:t>itermax=100;  </a:t>
            </a:r>
            <a:endParaRPr lang="en-US" altLang="fr-FR" sz="1600">
              <a:latin typeface="Cambria" panose="02040503050406030204" pitchFamily="18" charset="0"/>
              <a:ea typeface="MS Mincho" pitchFamily="49" charset="-128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>
                <a:solidFill>
                  <a:srgbClr val="000000"/>
                </a:solidFill>
                <a:latin typeface="Courier" pitchFamily="-84" charset="0"/>
                <a:ea typeface="MS Mincho" pitchFamily="49" charset="-128"/>
              </a:rPr>
              <a:t>epsilon=1e-6;</a:t>
            </a:r>
            <a:endParaRPr lang="en-US" altLang="fr-FR" sz="1600">
              <a:latin typeface="Cambria" panose="02040503050406030204" pitchFamily="18" charset="0"/>
              <a:ea typeface="MS Mincho" pitchFamily="49" charset="-128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>
                <a:solidFill>
                  <a:srgbClr val="000000"/>
                </a:solidFill>
                <a:latin typeface="Courier" pitchFamily="-84" charset="0"/>
                <a:ea typeface="MS Mincho" pitchFamily="49" charset="-128"/>
              </a:rPr>
              <a:t> </a:t>
            </a:r>
            <a:endParaRPr lang="en-US" altLang="fr-FR" sz="1600">
              <a:latin typeface="Cambria" panose="02040503050406030204" pitchFamily="18" charset="0"/>
              <a:ea typeface="MS Mincho" pitchFamily="49" charset="-128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>
                <a:solidFill>
                  <a:srgbClr val="0000FF"/>
                </a:solidFill>
                <a:latin typeface="Courier" pitchFamily="-84" charset="0"/>
                <a:ea typeface="MS Mincho" pitchFamily="49" charset="-128"/>
              </a:rPr>
              <a:t>while</a:t>
            </a:r>
            <a:r>
              <a:rPr lang="fr-FR" altLang="fr-FR" sz="1600">
                <a:solidFill>
                  <a:srgbClr val="000000"/>
                </a:solidFill>
                <a:latin typeface="Courier" pitchFamily="-84" charset="0"/>
                <a:ea typeface="MS Mincho" pitchFamily="49" charset="-128"/>
              </a:rPr>
              <a:t> (iter &lt; itermax)</a:t>
            </a:r>
            <a:endParaRPr lang="en-US" altLang="fr-FR" sz="1600">
              <a:latin typeface="Cambria" panose="02040503050406030204" pitchFamily="18" charset="0"/>
              <a:ea typeface="MS Mincho" pitchFamily="49" charset="-128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>
                <a:solidFill>
                  <a:srgbClr val="000000"/>
                </a:solidFill>
                <a:latin typeface="Courier" pitchFamily="-84" charset="0"/>
                <a:ea typeface="MS Mincho" pitchFamily="49" charset="-128"/>
              </a:rPr>
              <a:t>    u = A*x0;</a:t>
            </a:r>
            <a:endParaRPr lang="en-US" altLang="fr-FR" sz="1600">
              <a:latin typeface="Cambria" panose="02040503050406030204" pitchFamily="18" charset="0"/>
              <a:ea typeface="MS Mincho" pitchFamily="49" charset="-128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>
                <a:solidFill>
                  <a:srgbClr val="000000"/>
                </a:solidFill>
                <a:latin typeface="Courier" pitchFamily="-84" charset="0"/>
                <a:ea typeface="MS Mincho" pitchFamily="49" charset="-128"/>
              </a:rPr>
              <a:t>    x = u / norm(u);</a:t>
            </a:r>
            <a:endParaRPr lang="en-US" altLang="fr-FR" sz="1600">
              <a:latin typeface="Cambria" panose="02040503050406030204" pitchFamily="18" charset="0"/>
              <a:ea typeface="MS Mincho" pitchFamily="49" charset="-128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>
                <a:solidFill>
                  <a:srgbClr val="000000"/>
                </a:solidFill>
                <a:latin typeface="Courier" pitchFamily="-84" charset="0"/>
                <a:ea typeface="MS Mincho" pitchFamily="49" charset="-128"/>
              </a:rPr>
              <a:t>    </a:t>
            </a:r>
            <a:r>
              <a:rPr lang="fr-FR" altLang="fr-FR" sz="1600">
                <a:solidFill>
                  <a:srgbClr val="0000FF"/>
                </a:solidFill>
                <a:latin typeface="Courier" pitchFamily="-84" charset="0"/>
                <a:ea typeface="MS Mincho" pitchFamily="49" charset="-128"/>
              </a:rPr>
              <a:t>if</a:t>
            </a:r>
            <a:r>
              <a:rPr lang="fr-FR" altLang="fr-FR" sz="1600">
                <a:solidFill>
                  <a:srgbClr val="000000"/>
                </a:solidFill>
                <a:latin typeface="Courier" pitchFamily="-84" charset="0"/>
                <a:ea typeface="MS Mincho" pitchFamily="49" charset="-128"/>
              </a:rPr>
              <a:t> (norm(x-x0) &lt; epsilon)</a:t>
            </a:r>
            <a:endParaRPr lang="en-US" altLang="fr-FR" sz="1600">
              <a:latin typeface="Cambria" panose="02040503050406030204" pitchFamily="18" charset="0"/>
              <a:ea typeface="MS Mincho" pitchFamily="49" charset="-128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>
                <a:solidFill>
                  <a:srgbClr val="000000"/>
                </a:solidFill>
                <a:latin typeface="Courier" pitchFamily="-84" charset="0"/>
                <a:ea typeface="MS Mincho" pitchFamily="49" charset="-128"/>
              </a:rPr>
              <a:t>            disp(norm (x-x0));</a:t>
            </a:r>
            <a:endParaRPr lang="en-US" altLang="fr-FR" sz="1600">
              <a:latin typeface="Cambria" panose="02040503050406030204" pitchFamily="18" charset="0"/>
              <a:ea typeface="MS Mincho" pitchFamily="49" charset="-128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>
                <a:solidFill>
                  <a:srgbClr val="000000"/>
                </a:solidFill>
                <a:latin typeface="Courier" pitchFamily="-84" charset="0"/>
                <a:ea typeface="MS Mincho" pitchFamily="49" charset="-128"/>
              </a:rPr>
              <a:t>            </a:t>
            </a:r>
            <a:r>
              <a:rPr lang="fr-FR" altLang="fr-FR" sz="1600">
                <a:solidFill>
                  <a:srgbClr val="0000FF"/>
                </a:solidFill>
                <a:latin typeface="Courier" pitchFamily="-84" charset="0"/>
                <a:ea typeface="MS Mincho" pitchFamily="49" charset="-128"/>
              </a:rPr>
              <a:t>break</a:t>
            </a:r>
            <a:r>
              <a:rPr lang="fr-FR" altLang="fr-FR" sz="1600">
                <a:solidFill>
                  <a:srgbClr val="000000"/>
                </a:solidFill>
                <a:latin typeface="Courier" pitchFamily="-84" charset="0"/>
                <a:ea typeface="MS Mincho" pitchFamily="49" charset="-128"/>
              </a:rPr>
              <a:t>;</a:t>
            </a:r>
            <a:endParaRPr lang="en-US" altLang="fr-FR" sz="1600">
              <a:latin typeface="Cambria" panose="02040503050406030204" pitchFamily="18" charset="0"/>
              <a:ea typeface="MS Mincho" pitchFamily="49" charset="-128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>
                <a:solidFill>
                  <a:srgbClr val="000000"/>
                </a:solidFill>
                <a:latin typeface="Courier" pitchFamily="-84" charset="0"/>
                <a:ea typeface="MS Mincho" pitchFamily="49" charset="-128"/>
              </a:rPr>
              <a:t>    </a:t>
            </a:r>
            <a:r>
              <a:rPr lang="fr-FR" altLang="fr-FR" sz="1600">
                <a:solidFill>
                  <a:srgbClr val="0000FF"/>
                </a:solidFill>
                <a:latin typeface="Courier" pitchFamily="-84" charset="0"/>
                <a:ea typeface="MS Mincho" pitchFamily="49" charset="-128"/>
              </a:rPr>
              <a:t>end</a:t>
            </a:r>
            <a:endParaRPr lang="en-US" altLang="fr-FR" sz="1600">
              <a:latin typeface="Cambria" panose="02040503050406030204" pitchFamily="18" charset="0"/>
              <a:ea typeface="MS Mincho" pitchFamily="49" charset="-128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>
                <a:solidFill>
                  <a:srgbClr val="000000"/>
                </a:solidFill>
                <a:latin typeface="Courier" pitchFamily="-84" charset="0"/>
                <a:ea typeface="MS Mincho" pitchFamily="49" charset="-128"/>
              </a:rPr>
              <a:t>    x0=x;</a:t>
            </a:r>
            <a:endParaRPr lang="en-US" altLang="fr-FR" sz="1600">
              <a:latin typeface="Cambria" panose="02040503050406030204" pitchFamily="18" charset="0"/>
              <a:ea typeface="MS Mincho" pitchFamily="49" charset="-128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>
                <a:solidFill>
                  <a:srgbClr val="000000"/>
                </a:solidFill>
                <a:latin typeface="Courier" pitchFamily="-84" charset="0"/>
                <a:ea typeface="MS Mincho" pitchFamily="49" charset="-128"/>
              </a:rPr>
              <a:t>    iter=iter+1;</a:t>
            </a:r>
            <a:endParaRPr lang="en-US" altLang="fr-FR" sz="1600">
              <a:latin typeface="Cambria" panose="02040503050406030204" pitchFamily="18" charset="0"/>
              <a:ea typeface="MS Mincho" pitchFamily="49" charset="-128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>
                <a:solidFill>
                  <a:srgbClr val="0000FF"/>
                </a:solidFill>
                <a:latin typeface="Courier" pitchFamily="-84" charset="0"/>
                <a:ea typeface="MS Mincho" pitchFamily="49" charset="-128"/>
              </a:rPr>
              <a:t>end</a:t>
            </a:r>
            <a:endParaRPr lang="en-US" altLang="fr-FR" sz="1600">
              <a:latin typeface="Cambria" panose="02040503050406030204" pitchFamily="18" charset="0"/>
              <a:ea typeface="MS Mincho" pitchFamily="49" charset="-128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>
                <a:solidFill>
                  <a:srgbClr val="0000FF"/>
                </a:solidFill>
                <a:latin typeface="Courier" pitchFamily="-84" charset="0"/>
                <a:ea typeface="MS Mincho" pitchFamily="49" charset="-128"/>
              </a:rPr>
              <a:t> </a:t>
            </a:r>
            <a:endParaRPr lang="en-US" altLang="fr-FR" sz="1600">
              <a:latin typeface="Cambria" panose="02040503050406030204" pitchFamily="18" charset="0"/>
              <a:ea typeface="MS Mincho" pitchFamily="49" charset="-128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>
                <a:solidFill>
                  <a:srgbClr val="000000"/>
                </a:solidFill>
                <a:latin typeface="Courier" pitchFamily="-84" charset="0"/>
                <a:ea typeface="MS Mincho" pitchFamily="49" charset="-128"/>
              </a:rPr>
              <a:t>u = x; </a:t>
            </a:r>
            <a:r>
              <a:rPr lang="fr-FR" altLang="fr-FR" sz="1600">
                <a:solidFill>
                  <a:srgbClr val="228B22"/>
                </a:solidFill>
                <a:latin typeface="Courier" pitchFamily="-84" charset="0"/>
                <a:ea typeface="MS Mincho" pitchFamily="49" charset="-128"/>
              </a:rPr>
              <a:t>% x de norme 1</a:t>
            </a:r>
            <a:endParaRPr lang="en-US" altLang="fr-FR" sz="1600">
              <a:latin typeface="Cambria" panose="02040503050406030204" pitchFamily="18" charset="0"/>
              <a:ea typeface="MS Mincho" pitchFamily="49" charset="-128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>
                <a:solidFill>
                  <a:srgbClr val="000000"/>
                </a:solidFill>
                <a:latin typeface="Courier" pitchFamily="-84" charset="0"/>
                <a:ea typeface="MS Mincho" pitchFamily="49" charset="-128"/>
              </a:rPr>
              <a:t>lambda = u' * A *u;</a:t>
            </a:r>
            <a:endParaRPr lang="en-US" altLang="fr-FR" sz="1600">
              <a:latin typeface="Cambria" panose="02040503050406030204" pitchFamily="18" charset="0"/>
              <a:ea typeface="MS Mincho" pitchFamily="49" charset="-128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>
                <a:solidFill>
                  <a:srgbClr val="000000"/>
                </a:solidFill>
                <a:latin typeface="Courier" pitchFamily="-84" charset="0"/>
                <a:ea typeface="MS Mincho" pitchFamily="49" charset="-128"/>
              </a:rPr>
              <a:t>disp([</a:t>
            </a:r>
            <a:r>
              <a:rPr lang="fr-FR" altLang="fr-FR" sz="1600">
                <a:solidFill>
                  <a:srgbClr val="A020F0"/>
                </a:solidFill>
                <a:latin typeface="Courier" pitchFamily="-84" charset="0"/>
                <a:ea typeface="MS Mincho" pitchFamily="49" charset="-128"/>
              </a:rPr>
              <a:t>'nb iterations'</a:t>
            </a:r>
            <a:r>
              <a:rPr lang="fr-FR" altLang="fr-FR" sz="1600">
                <a:solidFill>
                  <a:srgbClr val="000000"/>
                </a:solidFill>
                <a:latin typeface="Courier" pitchFamily="-84" charset="0"/>
                <a:ea typeface="MS Mincho" pitchFamily="49" charset="-128"/>
              </a:rPr>
              <a:t> num2str(iter)]);</a:t>
            </a:r>
            <a:endParaRPr lang="en-US" altLang="fr-FR" sz="1600">
              <a:latin typeface="Cambria" panose="02040503050406030204" pitchFamily="18" charset="0"/>
              <a:ea typeface="MS Mincho" pitchFamily="49" charset="-128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>
                <a:solidFill>
                  <a:srgbClr val="0000FF"/>
                </a:solidFill>
                <a:latin typeface="Courier" pitchFamily="-84" charset="0"/>
                <a:ea typeface="MS Mincho" pitchFamily="49" charset="-128"/>
              </a:rPr>
              <a:t>end</a:t>
            </a:r>
            <a:endParaRPr lang="en-US" altLang="fr-FR" sz="1600">
              <a:latin typeface="Cambria" panose="02040503050406030204" pitchFamily="18" charset="0"/>
              <a:ea typeface="MS Mincho" pitchFamily="49" charset="-128"/>
            </a:endParaRPr>
          </a:p>
        </p:txBody>
      </p:sp>
      <p:sp>
        <p:nvSpPr>
          <p:cNvPr id="32772" name="AutoShape 5"/>
          <p:cNvSpPr>
            <a:spLocks/>
          </p:cNvSpPr>
          <p:nvPr/>
        </p:nvSpPr>
        <p:spPr bwMode="auto">
          <a:xfrm>
            <a:off x="6443663" y="2492375"/>
            <a:ext cx="2303462" cy="431800"/>
          </a:xfrm>
          <a:prstGeom prst="borderCallout2">
            <a:avLst>
              <a:gd name="adj1" fmla="val 26472"/>
              <a:gd name="adj2" fmla="val -3310"/>
              <a:gd name="adj3" fmla="val 26472"/>
              <a:gd name="adj4" fmla="val -61750"/>
              <a:gd name="adj5" fmla="val 141912"/>
              <a:gd name="adj6" fmla="val -122949"/>
            </a:avLst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fr-FR" sz="1600"/>
              <a:t>Norme euclidienne</a:t>
            </a:r>
          </a:p>
        </p:txBody>
      </p:sp>
      <p:grpSp>
        <p:nvGrpSpPr>
          <p:cNvPr id="32773" name="Group 14"/>
          <p:cNvGrpSpPr>
            <a:grpSpLocks/>
          </p:cNvGrpSpPr>
          <p:nvPr/>
        </p:nvGrpSpPr>
        <p:grpSpPr bwMode="auto">
          <a:xfrm>
            <a:off x="3346450" y="3211513"/>
            <a:ext cx="4535488" cy="782637"/>
            <a:chOff x="2064" y="2393"/>
            <a:chExt cx="2857" cy="493"/>
          </a:xfrm>
        </p:grpSpPr>
        <p:sp>
          <p:nvSpPr>
            <p:cNvPr id="32775" name="AutoShape 6"/>
            <p:cNvSpPr>
              <a:spLocks/>
            </p:cNvSpPr>
            <p:nvPr/>
          </p:nvSpPr>
          <p:spPr bwMode="auto">
            <a:xfrm>
              <a:off x="3469" y="2393"/>
              <a:ext cx="1452" cy="408"/>
            </a:xfrm>
            <a:prstGeom prst="borderCallout2">
              <a:avLst>
                <a:gd name="adj1" fmla="val 17648"/>
                <a:gd name="adj2" fmla="val -3306"/>
                <a:gd name="adj3" fmla="val 17648"/>
                <a:gd name="adj4" fmla="val -10606"/>
                <a:gd name="adj5" fmla="val 117403"/>
                <a:gd name="adj6" fmla="val -21005"/>
              </a:avLst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fr-FR" sz="1600"/>
                <a:t>Rupture de la boucle while</a:t>
              </a:r>
            </a:p>
          </p:txBody>
        </p:sp>
        <p:sp>
          <p:nvSpPr>
            <p:cNvPr id="32776" name="Line 10"/>
            <p:cNvSpPr>
              <a:spLocks noChangeShapeType="1"/>
            </p:cNvSpPr>
            <p:nvPr/>
          </p:nvSpPr>
          <p:spPr bwMode="auto">
            <a:xfrm flipH="1">
              <a:off x="2064" y="2886"/>
              <a:ext cx="109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32774" name="Text Box 8"/>
          <p:cNvSpPr txBox="1">
            <a:spLocks noChangeArrowheads="1"/>
          </p:cNvSpPr>
          <p:nvPr/>
        </p:nvSpPr>
        <p:spPr bwMode="auto">
          <a:xfrm>
            <a:off x="4572000" y="4292600"/>
            <a:ext cx="4321175" cy="12001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1800"/>
              <a:t>Execution et vérification dans scilab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1800"/>
              <a:t>[l, u]=puissance(A, x0)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fr-FR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1800"/>
              <a:t>Que donnent </a:t>
            </a:r>
            <a:r>
              <a:rPr lang="en-US" altLang="fr-FR" sz="1800">
                <a:solidFill>
                  <a:srgbClr val="FF0000"/>
                </a:solidFill>
              </a:rPr>
              <a:t>eig</a:t>
            </a:r>
            <a:r>
              <a:rPr lang="en-US" altLang="fr-FR" sz="1800"/>
              <a:t>(A) et [V, D]=</a:t>
            </a:r>
            <a:r>
              <a:rPr lang="en-US" altLang="fr-FR" sz="1800">
                <a:solidFill>
                  <a:srgbClr val="FF0000"/>
                </a:solidFill>
              </a:rPr>
              <a:t>eig</a:t>
            </a:r>
            <a:r>
              <a:rPr lang="en-US" altLang="fr-FR" sz="1800"/>
              <a:t>(A) 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6C8C234-6B5E-433A-A125-013F59351148}" type="slidenum">
              <a:rPr lang="en-US" altLang="fr-FR" sz="1400" smtClean="0"/>
              <a:pPr>
                <a:spcBef>
                  <a:spcPct val="0"/>
                </a:spcBef>
                <a:buFontTx/>
                <a:buNone/>
              </a:pPr>
              <a:t>30</a:t>
            </a:fld>
            <a:endParaRPr lang="en-US" altLang="fr-FR" sz="1400" smtClean="0"/>
          </a:p>
        </p:txBody>
      </p:sp>
      <p:sp>
        <p:nvSpPr>
          <p:cNvPr id="33795" name="Rectangle 4"/>
          <p:cNvSpPr>
            <a:spLocks noChangeArrowheads="1"/>
          </p:cNvSpPr>
          <p:nvPr/>
        </p:nvSpPr>
        <p:spPr bwMode="auto">
          <a:xfrm>
            <a:off x="755650" y="-100013"/>
            <a:ext cx="7772400" cy="1143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2400">
                <a:solidFill>
                  <a:srgbClr val="A50021"/>
                </a:solidFill>
              </a:rPr>
              <a:t>Annexe : fonctions graphiques évoluées</a:t>
            </a:r>
            <a:endParaRPr lang="fr-FR" altLang="fr-FR" sz="4400">
              <a:solidFill>
                <a:srgbClr val="A50021"/>
              </a:solidFill>
            </a:endParaRPr>
          </a:p>
        </p:txBody>
      </p:sp>
      <p:sp>
        <p:nvSpPr>
          <p:cNvPr id="33796" name="Text Box 5"/>
          <p:cNvSpPr txBox="1">
            <a:spLocks noChangeArrowheads="1"/>
          </p:cNvSpPr>
          <p:nvPr/>
        </p:nvSpPr>
        <p:spPr bwMode="auto">
          <a:xfrm>
            <a:off x="376238" y="854075"/>
            <a:ext cx="6991350" cy="763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/>
              <a:t>Pour x</a:t>
            </a:r>
            <a:r>
              <a:rPr lang="fr-FR" altLang="fr-FR" sz="1800">
                <a:sym typeface="Symbol" panose="05050102010706020507" pitchFamily="18" charset="2"/>
              </a:rPr>
              <a:t></a:t>
            </a:r>
            <a:r>
              <a:rPr lang="fr-FR" altLang="fr-FR" sz="1800"/>
              <a:t>[-50,50], calculer f=x*sin(x) puis tracer f(x)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i="1"/>
              <a:t>Liste des fonctions MATLAB à voir : plot, xlabel, ylabel, title, grid on</a:t>
            </a:r>
          </a:p>
        </p:txBody>
      </p:sp>
      <p:sp>
        <p:nvSpPr>
          <p:cNvPr id="33797" name="Text Box 6"/>
          <p:cNvSpPr txBox="1">
            <a:spLocks noChangeArrowheads="1"/>
          </p:cNvSpPr>
          <p:nvPr/>
        </p:nvSpPr>
        <p:spPr bwMode="auto">
          <a:xfrm>
            <a:off x="376238" y="1773238"/>
            <a:ext cx="7683500" cy="155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fr-FR" altLang="fr-FR" sz="1800"/>
              <a:t>Pour </a:t>
            </a:r>
            <a:r>
              <a:rPr lang="fr-FR" altLang="fr-FR" sz="1800">
                <a:sym typeface="Symbol" panose="05050102010706020507" pitchFamily="18" charset="2"/>
              </a:rPr>
              <a:t></a:t>
            </a:r>
            <a:r>
              <a:rPr lang="fr-FR" altLang="fr-FR" sz="1800"/>
              <a:t>[0,2</a:t>
            </a:r>
            <a:r>
              <a:rPr lang="fr-FR" altLang="fr-FR" sz="1800">
                <a:sym typeface="Symbol" panose="05050102010706020507" pitchFamily="18" charset="2"/>
              </a:rPr>
              <a:t></a:t>
            </a:r>
            <a:r>
              <a:rPr lang="fr-FR" altLang="fr-FR" sz="1800"/>
              <a:t>] et </a:t>
            </a:r>
            <a:r>
              <a:rPr lang="fr-FR" altLang="fr-FR" sz="1800">
                <a:sym typeface="Symbol" panose="05050102010706020507" pitchFamily="18" charset="2"/>
              </a:rPr>
              <a:t></a:t>
            </a:r>
            <a:r>
              <a:rPr lang="fr-FR" altLang="fr-FR" sz="1800"/>
              <a:t>[0, </a:t>
            </a:r>
            <a:r>
              <a:rPr lang="fr-FR" altLang="fr-FR" sz="1800">
                <a:sym typeface="Symbol" panose="05050102010706020507" pitchFamily="18" charset="2"/>
              </a:rPr>
              <a:t></a:t>
            </a:r>
            <a:r>
              <a:rPr lang="fr-FR" altLang="fr-FR" sz="1800"/>
              <a:t>] calculer e=sin(</a:t>
            </a:r>
            <a:r>
              <a:rPr lang="fr-FR" altLang="fr-FR" sz="1800">
                <a:sym typeface="Symbol" panose="05050102010706020507" pitchFamily="18" charset="2"/>
              </a:rPr>
              <a:t></a:t>
            </a:r>
            <a:r>
              <a:rPr lang="fr-FR" altLang="fr-FR" sz="1800"/>
              <a:t>)^4*cos(2*</a:t>
            </a:r>
            <a:r>
              <a:rPr lang="fr-FR" altLang="fr-FR" sz="1800">
                <a:sym typeface="Symbol" panose="05050102010706020507" pitchFamily="18" charset="2"/>
              </a:rPr>
              <a:t></a:t>
            </a:r>
            <a:r>
              <a:rPr lang="fr-FR" altLang="fr-FR" sz="1800"/>
              <a:t>)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fr-FR" altLang="fr-FR" sz="1800"/>
              <a:t>Représenter e(</a:t>
            </a:r>
            <a:r>
              <a:rPr lang="fr-FR" altLang="fr-FR" sz="1800">
                <a:sym typeface="Symbol" panose="05050102010706020507" pitchFamily="18" charset="2"/>
              </a:rPr>
              <a:t>, ) sur la forme d’une surface et les isovaleurs de </a:t>
            </a:r>
            <a:r>
              <a:rPr lang="fr-FR" altLang="fr-FR" sz="1800"/>
              <a:t>e(</a:t>
            </a:r>
            <a:r>
              <a:rPr lang="fr-FR" altLang="fr-FR" sz="1800">
                <a:sym typeface="Symbol" panose="05050102010706020507" pitchFamily="18" charset="2"/>
              </a:rPr>
              <a:t>, ) 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fr-FR" altLang="fr-FR" sz="1800">
                <a:sym typeface="Symbol" panose="05050102010706020507" pitchFamily="18" charset="2"/>
              </a:rPr>
              <a:t>sous la forme de lignes de contour</a:t>
            </a:r>
            <a:endParaRPr lang="fr-FR" altLang="fr-FR" sz="1800"/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fr-FR" altLang="fr-FR" sz="800"/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fr-FR" altLang="fr-FR" sz="1800" i="1"/>
              <a:t>Liste des fonctions MATLAB à voir : meshgrid, surf, contour</a:t>
            </a:r>
          </a:p>
        </p:txBody>
      </p:sp>
      <p:sp>
        <p:nvSpPr>
          <p:cNvPr id="33798" name="Text Box 7"/>
          <p:cNvSpPr txBox="1">
            <a:spLocks noChangeArrowheads="1"/>
          </p:cNvSpPr>
          <p:nvPr/>
        </p:nvSpPr>
        <p:spPr bwMode="auto">
          <a:xfrm>
            <a:off x="376238" y="3429000"/>
            <a:ext cx="4651375" cy="307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% Isovaleurs </a:t>
            </a:r>
            <a:endParaRPr lang="fr-FR" altLang="fr-FR" sz="14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clc</a:t>
            </a:r>
            <a:endParaRPr lang="fr-FR" altLang="fr-FR" sz="14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close </a:t>
            </a:r>
            <a:r>
              <a:rPr lang="fr-FR" altLang="fr-FR" sz="1400" b="1">
                <a:solidFill>
                  <a:srgbClr val="A020F0"/>
                </a:solidFill>
                <a:latin typeface="Courier New" panose="02070309020205020404" pitchFamily="49" charset="0"/>
              </a:rPr>
              <a:t>all</a:t>
            </a:r>
            <a:endParaRPr lang="fr-FR" altLang="fr-FR" sz="14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400" b="1">
                <a:solidFill>
                  <a:srgbClr val="A020F0"/>
                </a:solidFill>
                <a:latin typeface="Courier New" panose="02070309020205020404" pitchFamily="49" charset="0"/>
              </a:rPr>
              <a:t> </a:t>
            </a:r>
            <a:endParaRPr lang="fr-FR" altLang="fr-FR" sz="14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[phi,tet]=meshgrid(0:0.02:2*pi,0:0.01:pi);</a:t>
            </a:r>
            <a:endParaRPr lang="fr-FR" altLang="fr-FR" sz="14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e=sin(tet).^4.*cos(2*phi);</a:t>
            </a:r>
            <a:endParaRPr lang="fr-FR" altLang="fr-FR" sz="14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altLang="fr-FR" sz="14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% isovaleurs fixees</a:t>
            </a:r>
            <a:endParaRPr lang="fr-FR" altLang="fr-FR" sz="14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v=-1.:0.2:1;</a:t>
            </a:r>
            <a:endParaRPr lang="fr-FR" altLang="fr-FR" sz="14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altLang="fr-FR" sz="14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colormap([0 0 0])</a:t>
            </a:r>
            <a:endParaRPr lang="fr-FR" altLang="fr-FR" sz="14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[c,h]=contour(phi,tet,e,v);</a:t>
            </a:r>
            <a:endParaRPr lang="fr-FR" altLang="fr-FR" sz="14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set(h,</a:t>
            </a:r>
            <a:r>
              <a:rPr lang="fr-FR" altLang="fr-FR" sz="1400" b="1">
                <a:solidFill>
                  <a:srgbClr val="A020F0"/>
                </a:solidFill>
                <a:latin typeface="Courier New" panose="02070309020205020404" pitchFamily="49" charset="0"/>
              </a:rPr>
              <a:t>'ShowText'</a:t>
            </a:r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fr-FR" altLang="fr-FR" sz="1400" b="1">
                <a:solidFill>
                  <a:srgbClr val="A020F0"/>
                </a:solidFill>
                <a:latin typeface="Courier New" panose="02070309020205020404" pitchFamily="49" charset="0"/>
              </a:rPr>
              <a:t>'on'</a:t>
            </a:r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fr-FR" altLang="fr-FR" sz="1400" b="1">
                <a:solidFill>
                  <a:srgbClr val="A020F0"/>
                </a:solidFill>
                <a:latin typeface="Courier New" panose="02070309020205020404" pitchFamily="49" charset="0"/>
              </a:rPr>
              <a:t>'TextStep'</a:t>
            </a:r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,...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  get(h,</a:t>
            </a:r>
            <a:r>
              <a:rPr lang="fr-FR" altLang="fr-FR" sz="1400" b="1">
                <a:solidFill>
                  <a:srgbClr val="A020F0"/>
                </a:solidFill>
                <a:latin typeface="Courier New" panose="02070309020205020404" pitchFamily="49" charset="0"/>
              </a:rPr>
              <a:t>'LevelStep'</a:t>
            </a:r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)*2);</a:t>
            </a:r>
            <a:endParaRPr lang="fr-FR" altLang="fr-FR" sz="1400"/>
          </a:p>
        </p:txBody>
      </p:sp>
      <p:sp>
        <p:nvSpPr>
          <p:cNvPr id="33799" name="Text Box 8"/>
          <p:cNvSpPr txBox="1">
            <a:spLocks noChangeArrowheads="1"/>
          </p:cNvSpPr>
          <p:nvPr/>
        </p:nvSpPr>
        <p:spPr bwMode="auto">
          <a:xfrm>
            <a:off x="5076825" y="3644900"/>
            <a:ext cx="4013200" cy="243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figure</a:t>
            </a:r>
            <a:endParaRPr lang="fr-FR" altLang="fr-FR" sz="14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colormap(jet)</a:t>
            </a:r>
            <a:endParaRPr lang="fr-FR" altLang="fr-FR" sz="14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[c,h]=contour(phi,tet,e,v);</a:t>
            </a:r>
            <a:endParaRPr lang="fr-FR" altLang="fr-FR" sz="14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set(h,</a:t>
            </a:r>
            <a:r>
              <a:rPr lang="fr-FR" altLang="fr-FR" sz="1400" b="1">
                <a:solidFill>
                  <a:srgbClr val="A020F0"/>
                </a:solidFill>
                <a:latin typeface="Courier New" panose="02070309020205020404" pitchFamily="49" charset="0"/>
              </a:rPr>
              <a:t>'ShowText'</a:t>
            </a:r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fr-FR" altLang="fr-FR" sz="1400" b="1">
                <a:solidFill>
                  <a:srgbClr val="A020F0"/>
                </a:solidFill>
                <a:latin typeface="Courier New" panose="02070309020205020404" pitchFamily="49" charset="0"/>
              </a:rPr>
              <a:t>'on'</a:t>
            </a:r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fr-FR" altLang="fr-FR" sz="1400" b="1">
                <a:solidFill>
                  <a:srgbClr val="A020F0"/>
                </a:solidFill>
                <a:latin typeface="Courier New" panose="02070309020205020404" pitchFamily="49" charset="0"/>
              </a:rPr>
              <a:t>'TextStep'</a:t>
            </a:r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,...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  get(h,</a:t>
            </a:r>
            <a:r>
              <a:rPr lang="fr-FR" altLang="fr-FR" sz="1400" b="1">
                <a:solidFill>
                  <a:srgbClr val="A020F0"/>
                </a:solidFill>
                <a:latin typeface="Courier New" panose="02070309020205020404" pitchFamily="49" charset="0"/>
              </a:rPr>
              <a:t>'LevelStep'</a:t>
            </a:r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)*2);</a:t>
            </a:r>
            <a:endParaRPr lang="fr-FR" altLang="fr-FR" sz="14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altLang="fr-FR" sz="14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figure </a:t>
            </a:r>
            <a:endParaRPr lang="fr-FR" altLang="fr-FR" sz="14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colormap(jet)</a:t>
            </a:r>
            <a:endParaRPr lang="fr-FR" altLang="fr-FR" sz="14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h=surf(phi,tet,e);</a:t>
            </a:r>
            <a:endParaRPr lang="fr-FR" altLang="fr-FR" sz="14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shading </a:t>
            </a:r>
            <a:r>
              <a:rPr lang="fr-FR" altLang="fr-FR" sz="1400" b="1">
                <a:solidFill>
                  <a:srgbClr val="A020F0"/>
                </a:solidFill>
                <a:latin typeface="Courier New" panose="02070309020205020404" pitchFamily="49" charset="0"/>
              </a:rPr>
              <a:t>interp</a:t>
            </a:r>
            <a:endParaRPr lang="fr-FR" altLang="fr-FR" sz="14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400"/>
          </a:p>
        </p:txBody>
      </p:sp>
      <p:grpSp>
        <p:nvGrpSpPr>
          <p:cNvPr id="33800" name="Group 12"/>
          <p:cNvGrpSpPr>
            <a:grpSpLocks/>
          </p:cNvGrpSpPr>
          <p:nvPr/>
        </p:nvGrpSpPr>
        <p:grpSpPr bwMode="auto">
          <a:xfrm>
            <a:off x="2413000" y="3500438"/>
            <a:ext cx="5399088" cy="3095625"/>
            <a:chOff x="1429" y="2251"/>
            <a:chExt cx="3401" cy="1950"/>
          </a:xfrm>
        </p:grpSpPr>
        <p:sp>
          <p:nvSpPr>
            <p:cNvPr id="33801" name="Line 9"/>
            <p:cNvSpPr>
              <a:spLocks noChangeShapeType="1"/>
            </p:cNvSpPr>
            <p:nvPr/>
          </p:nvSpPr>
          <p:spPr bwMode="auto">
            <a:xfrm>
              <a:off x="3061" y="2251"/>
              <a:ext cx="176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3802" name="Line 10"/>
            <p:cNvSpPr>
              <a:spLocks noChangeShapeType="1"/>
            </p:cNvSpPr>
            <p:nvPr/>
          </p:nvSpPr>
          <p:spPr bwMode="auto">
            <a:xfrm>
              <a:off x="1429" y="4201"/>
              <a:ext cx="16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3803" name="Line 11"/>
            <p:cNvSpPr>
              <a:spLocks noChangeShapeType="1"/>
            </p:cNvSpPr>
            <p:nvPr/>
          </p:nvSpPr>
          <p:spPr bwMode="auto">
            <a:xfrm flipV="1">
              <a:off x="3061" y="2251"/>
              <a:ext cx="0" cy="19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dèle par défaut">
  <a:themeElements>
    <a:clrScheme name="Modèle par défau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Modèle par défau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2780</TotalTime>
  <Words>2297</Words>
  <Application>Microsoft Office PowerPoint</Application>
  <PresentationFormat>Affichage à l'écran (4:3)</PresentationFormat>
  <Paragraphs>550</Paragraphs>
  <Slides>30</Slides>
  <Notes>0</Notes>
  <HiddenSlides>2</HiddenSlides>
  <MMClips>0</MMClips>
  <ScaleCrop>false</ScaleCrop>
  <HeadingPairs>
    <vt:vector size="8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30</vt:i4>
      </vt:variant>
    </vt:vector>
  </HeadingPairs>
  <TitlesOfParts>
    <vt:vector size="46" baseType="lpstr">
      <vt:lpstr>ＭＳ Ｐゴシック</vt:lpstr>
      <vt:lpstr>ＭＳ Ｐゴシック</vt:lpstr>
      <vt:lpstr>Arial</vt:lpstr>
      <vt:lpstr>Cambria</vt:lpstr>
      <vt:lpstr>Courier</vt:lpstr>
      <vt:lpstr>Courier New</vt:lpstr>
      <vt:lpstr>Lucida Console</vt:lpstr>
      <vt:lpstr>MS Mincho</vt:lpstr>
      <vt:lpstr>MT Extra</vt:lpstr>
      <vt:lpstr>Symbol</vt:lpstr>
      <vt:lpstr>Times New Roman</vt:lpstr>
      <vt:lpstr>Trebuchet MS</vt:lpstr>
      <vt:lpstr>UniversalMath1 BT</vt:lpstr>
      <vt:lpstr>Wingdings</vt:lpstr>
      <vt:lpstr>Modèle par défaut</vt:lpstr>
      <vt:lpstr>Equation</vt:lpstr>
      <vt:lpstr>Cours + TD + BE de méthodes numériques </vt:lpstr>
      <vt:lpstr>Cours + TD + BE de méthodes numériques </vt:lpstr>
      <vt:lpstr>Cours + TD + BE de méthodes numériques</vt:lpstr>
      <vt:lpstr>La modélisation de phénomènes physiques</vt:lpstr>
      <vt:lpstr>Etapes de la Simulation Numérique</vt:lpstr>
      <vt:lpstr>Etapes de la Simulation Numérique</vt:lpstr>
      <vt:lpstr>Plan du cours de méthodes numériques</vt:lpstr>
      <vt:lpstr>Introduction à Matlab </vt:lpstr>
      <vt:lpstr>Prise en main</vt:lpstr>
      <vt:lpstr>Introduction d’une matrice</vt:lpstr>
      <vt:lpstr>Produit matrice-vecteur</vt:lpstr>
      <vt:lpstr>Résolution de systèmes linéaires</vt:lpstr>
      <vt:lpstr>Exercices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Calcul de vecteurs propres par la méthode de la puissance itérée</vt:lpstr>
      <vt:lpstr>Présentation PowerPoint</vt:lpstr>
      <vt:lpstr>Présentation PowerPoint</vt:lpstr>
    </vt:vector>
  </TitlesOfParts>
  <Company>CEA-CNRS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à Scilab</dc:title>
  <dc:creator>toussain</dc:creator>
  <cp:lastModifiedBy>jean-christophe toussaint</cp:lastModifiedBy>
  <cp:revision>222</cp:revision>
  <dcterms:created xsi:type="dcterms:W3CDTF">2003-05-29T10:51:10Z</dcterms:created>
  <dcterms:modified xsi:type="dcterms:W3CDTF">2021-09-10T11:21:39Z</dcterms:modified>
</cp:coreProperties>
</file>