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73771-9810-444B-9E6D-032BD43BD0CA}" type="datetimeFigureOut">
              <a:rPr lang="fr-FR" smtClean="0"/>
              <a:t>27/09/2019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A10FB-F2AC-48E0-9BE0-2098D3B1551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368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73771-9810-444B-9E6D-032BD43BD0CA}" type="datetimeFigureOut">
              <a:rPr lang="fr-FR" smtClean="0"/>
              <a:t>27/09/2019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A10FB-F2AC-48E0-9BE0-2098D3B1551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4860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73771-9810-444B-9E6D-032BD43BD0CA}" type="datetimeFigureOut">
              <a:rPr lang="fr-FR" smtClean="0"/>
              <a:t>27/09/2019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A10FB-F2AC-48E0-9BE0-2098D3B1551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754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73771-9810-444B-9E6D-032BD43BD0CA}" type="datetimeFigureOut">
              <a:rPr lang="fr-FR" smtClean="0"/>
              <a:t>27/09/2019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A10FB-F2AC-48E0-9BE0-2098D3B1551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3251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73771-9810-444B-9E6D-032BD43BD0CA}" type="datetimeFigureOut">
              <a:rPr lang="fr-FR" smtClean="0"/>
              <a:t>27/09/2019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A10FB-F2AC-48E0-9BE0-2098D3B1551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0753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73771-9810-444B-9E6D-032BD43BD0CA}" type="datetimeFigureOut">
              <a:rPr lang="fr-FR" smtClean="0"/>
              <a:t>27/09/2019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A10FB-F2AC-48E0-9BE0-2098D3B1551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1994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73771-9810-444B-9E6D-032BD43BD0CA}" type="datetimeFigureOut">
              <a:rPr lang="fr-FR" smtClean="0"/>
              <a:t>27/09/2019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A10FB-F2AC-48E0-9BE0-2098D3B1551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4314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73771-9810-444B-9E6D-032BD43BD0CA}" type="datetimeFigureOut">
              <a:rPr lang="fr-FR" smtClean="0"/>
              <a:t>27/09/2019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A10FB-F2AC-48E0-9BE0-2098D3B1551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6931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73771-9810-444B-9E6D-032BD43BD0CA}" type="datetimeFigureOut">
              <a:rPr lang="fr-FR" smtClean="0"/>
              <a:t>27/09/2019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A10FB-F2AC-48E0-9BE0-2098D3B1551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5409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73771-9810-444B-9E6D-032BD43BD0CA}" type="datetimeFigureOut">
              <a:rPr lang="fr-FR" smtClean="0"/>
              <a:t>27/09/2019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A10FB-F2AC-48E0-9BE0-2098D3B1551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2496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73771-9810-444B-9E6D-032BD43BD0CA}" type="datetimeFigureOut">
              <a:rPr lang="fr-FR" smtClean="0"/>
              <a:t>27/09/2019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A10FB-F2AC-48E0-9BE0-2098D3B1551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320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373771-9810-444B-9E6D-032BD43BD0CA}" type="datetimeFigureOut">
              <a:rPr lang="fr-FR" smtClean="0"/>
              <a:t>27/09/2019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6A10FB-F2AC-48E0-9BE0-2098D3B1551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9789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2549237" y="314036"/>
            <a:ext cx="80507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 smtClean="0"/>
              <a:t>Algorithme de tri rapide du type </a:t>
            </a:r>
            <a:r>
              <a:rPr lang="fr-FR" sz="3600" dirty="0" err="1" smtClean="0"/>
              <a:t>HeapSort</a:t>
            </a:r>
            <a:endParaRPr lang="fr-FR" sz="3600" dirty="0"/>
          </a:p>
        </p:txBody>
      </p:sp>
      <p:sp>
        <p:nvSpPr>
          <p:cNvPr id="5" name="ZoneTexte 4"/>
          <p:cNvSpPr txBox="1"/>
          <p:nvPr/>
        </p:nvSpPr>
        <p:spPr>
          <a:xfrm>
            <a:off x="369454" y="1246909"/>
            <a:ext cx="63986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/>
              <a:t>Ensemble de valeurs à trier de manière croissante</a:t>
            </a:r>
            <a:endParaRPr lang="fr-FR" sz="2400" dirty="0"/>
          </a:p>
        </p:txBody>
      </p:sp>
      <p:sp>
        <p:nvSpPr>
          <p:cNvPr id="6" name="ZoneTexte 5"/>
          <p:cNvSpPr txBox="1"/>
          <p:nvPr/>
        </p:nvSpPr>
        <p:spPr>
          <a:xfrm>
            <a:off x="3084946" y="1718117"/>
            <a:ext cx="58160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smtClean="0"/>
              <a:t>47 11 2 51 5 9 100 13 79 3 41 151 61 4</a:t>
            </a:r>
            <a:endParaRPr lang="fr-FR" sz="2800" dirty="0"/>
          </a:p>
        </p:txBody>
      </p:sp>
      <p:grpSp>
        <p:nvGrpSpPr>
          <p:cNvPr id="12" name="Groupe 11"/>
          <p:cNvGrpSpPr/>
          <p:nvPr/>
        </p:nvGrpSpPr>
        <p:grpSpPr>
          <a:xfrm>
            <a:off x="3004204" y="1718117"/>
            <a:ext cx="660245" cy="840540"/>
            <a:chOff x="3004204" y="1718117"/>
            <a:chExt cx="660245" cy="840540"/>
          </a:xfrm>
        </p:grpSpPr>
        <p:sp>
          <p:nvSpPr>
            <p:cNvPr id="7" name="Rectangle 6"/>
            <p:cNvSpPr/>
            <p:nvPr/>
          </p:nvSpPr>
          <p:spPr>
            <a:xfrm>
              <a:off x="3084946" y="1718117"/>
              <a:ext cx="498763" cy="5232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ZoneTexte 7"/>
            <p:cNvSpPr txBox="1"/>
            <p:nvPr/>
          </p:nvSpPr>
          <p:spPr>
            <a:xfrm>
              <a:off x="3004204" y="2189325"/>
              <a:ext cx="6602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 smtClean="0">
                  <a:solidFill>
                    <a:srgbClr val="FF0000"/>
                  </a:solidFill>
                </a:rPr>
                <a:t>pivot</a:t>
              </a:r>
              <a:endParaRPr lang="fr-FR" dirty="0">
                <a:solidFill>
                  <a:srgbClr val="FF0000"/>
                </a:solidFill>
              </a:endParaRPr>
            </a:p>
          </p:txBody>
        </p:sp>
      </p:grpSp>
      <p:sp>
        <p:nvSpPr>
          <p:cNvPr id="9" name="ZoneTexte 8"/>
          <p:cNvSpPr txBox="1"/>
          <p:nvPr/>
        </p:nvSpPr>
        <p:spPr>
          <a:xfrm>
            <a:off x="369454" y="2428826"/>
            <a:ext cx="113127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/>
              <a:t>De manière arbitraire, le pivot est la 1</a:t>
            </a:r>
            <a:r>
              <a:rPr lang="fr-FR" sz="2400" baseline="30000" dirty="0" smtClean="0"/>
              <a:t>ère</a:t>
            </a:r>
            <a:r>
              <a:rPr lang="fr-FR" sz="2400" dirty="0" smtClean="0"/>
              <a:t> valeur de la liste</a:t>
            </a:r>
          </a:p>
          <a:p>
            <a:r>
              <a:rPr lang="fr-FR" sz="2400" dirty="0" smtClean="0"/>
              <a:t>On place toutes les valeurs plus petites que le pivot, à gauche du pivot, les autres à droite</a:t>
            </a:r>
            <a:endParaRPr lang="fr-FR" sz="2400" dirty="0"/>
          </a:p>
        </p:txBody>
      </p:sp>
      <p:sp>
        <p:nvSpPr>
          <p:cNvPr id="17" name="ZoneTexte 16"/>
          <p:cNvSpPr txBox="1"/>
          <p:nvPr/>
        </p:nvSpPr>
        <p:spPr>
          <a:xfrm>
            <a:off x="489527" y="4899722"/>
            <a:ext cx="63657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/>
              <a:t>On recommence l’opération avec les 2 </a:t>
            </a:r>
            <a:r>
              <a:rPr lang="fr-FR" sz="2400" dirty="0" err="1" smtClean="0"/>
              <a:t>demi-listes</a:t>
            </a:r>
            <a:endParaRPr lang="fr-FR" sz="2400" dirty="0"/>
          </a:p>
        </p:txBody>
      </p:sp>
      <p:grpSp>
        <p:nvGrpSpPr>
          <p:cNvPr id="36" name="Groupe 35"/>
          <p:cNvGrpSpPr/>
          <p:nvPr/>
        </p:nvGrpSpPr>
        <p:grpSpPr>
          <a:xfrm>
            <a:off x="2605270" y="3341323"/>
            <a:ext cx="6506557" cy="1535599"/>
            <a:chOff x="2014922" y="3435651"/>
            <a:chExt cx="6506557" cy="1535599"/>
          </a:xfrm>
        </p:grpSpPr>
        <p:sp>
          <p:nvSpPr>
            <p:cNvPr id="10" name="ZoneTexte 9"/>
            <p:cNvSpPr txBox="1"/>
            <p:nvPr/>
          </p:nvSpPr>
          <p:spPr>
            <a:xfrm>
              <a:off x="2104195" y="4049225"/>
              <a:ext cx="276710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800" dirty="0" smtClean="0"/>
                <a:t>11 2 5 9 13 3 41 4</a:t>
              </a:r>
              <a:endParaRPr lang="fr-FR" sz="2800" dirty="0"/>
            </a:p>
          </p:txBody>
        </p:sp>
        <p:sp>
          <p:nvSpPr>
            <p:cNvPr id="11" name="ZoneTexte 10"/>
            <p:cNvSpPr txBox="1"/>
            <p:nvPr/>
          </p:nvSpPr>
          <p:spPr>
            <a:xfrm>
              <a:off x="5122422" y="3435651"/>
              <a:ext cx="55015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800" dirty="0" smtClean="0"/>
                <a:t>47</a:t>
              </a:r>
              <a:endParaRPr lang="fr-FR" sz="2800" dirty="0"/>
            </a:p>
          </p:txBody>
        </p:sp>
        <p:grpSp>
          <p:nvGrpSpPr>
            <p:cNvPr id="13" name="Groupe 12"/>
            <p:cNvGrpSpPr/>
            <p:nvPr/>
          </p:nvGrpSpPr>
          <p:grpSpPr>
            <a:xfrm>
              <a:off x="5067374" y="3435651"/>
              <a:ext cx="660245" cy="840540"/>
              <a:chOff x="3004204" y="1718117"/>
              <a:chExt cx="660245" cy="840540"/>
            </a:xfrm>
          </p:grpSpPr>
          <p:sp>
            <p:nvSpPr>
              <p:cNvPr id="14" name="Rectangle 13"/>
              <p:cNvSpPr/>
              <p:nvPr/>
            </p:nvSpPr>
            <p:spPr>
              <a:xfrm>
                <a:off x="3084946" y="1718117"/>
                <a:ext cx="498763" cy="523220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5" name="ZoneTexte 14"/>
              <p:cNvSpPr txBox="1"/>
              <p:nvPr/>
            </p:nvSpPr>
            <p:spPr>
              <a:xfrm>
                <a:off x="3004204" y="2189325"/>
                <a:ext cx="6602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 smtClean="0">
                    <a:solidFill>
                      <a:srgbClr val="FF0000"/>
                    </a:solidFill>
                  </a:rPr>
                  <a:t>pivot</a:t>
                </a:r>
                <a:endParaRPr lang="fr-FR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16" name="ZoneTexte 15"/>
            <p:cNvSpPr txBox="1"/>
            <p:nvPr/>
          </p:nvSpPr>
          <p:spPr>
            <a:xfrm>
              <a:off x="5816892" y="4049225"/>
              <a:ext cx="270458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800" dirty="0" smtClean="0"/>
                <a:t>51 100 79 151 61</a:t>
              </a:r>
              <a:endParaRPr lang="fr-FR" sz="2800" dirty="0"/>
            </a:p>
          </p:txBody>
        </p:sp>
        <p:grpSp>
          <p:nvGrpSpPr>
            <p:cNvPr id="18" name="Groupe 17"/>
            <p:cNvGrpSpPr/>
            <p:nvPr/>
          </p:nvGrpSpPr>
          <p:grpSpPr>
            <a:xfrm>
              <a:off x="5727619" y="4130710"/>
              <a:ext cx="660245" cy="840540"/>
              <a:chOff x="3004204" y="1718117"/>
              <a:chExt cx="660245" cy="840540"/>
            </a:xfrm>
          </p:grpSpPr>
          <p:sp>
            <p:nvSpPr>
              <p:cNvPr id="19" name="Rectangle 18"/>
              <p:cNvSpPr/>
              <p:nvPr/>
            </p:nvSpPr>
            <p:spPr>
              <a:xfrm>
                <a:off x="3084946" y="1718117"/>
                <a:ext cx="498763" cy="523220"/>
              </a:xfrm>
              <a:prstGeom prst="rect">
                <a:avLst/>
              </a:prstGeom>
              <a:noFill/>
              <a:ln w="381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0" name="ZoneTexte 19"/>
              <p:cNvSpPr txBox="1"/>
              <p:nvPr/>
            </p:nvSpPr>
            <p:spPr>
              <a:xfrm>
                <a:off x="3004204" y="2189325"/>
                <a:ext cx="660245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fr-FR" dirty="0" smtClean="0">
                    <a:solidFill>
                      <a:srgbClr val="0070C0"/>
                    </a:solidFill>
                  </a:rPr>
                  <a:t>pivot</a:t>
                </a:r>
                <a:endParaRPr lang="fr-FR" dirty="0">
                  <a:solidFill>
                    <a:srgbClr val="0070C0"/>
                  </a:solidFill>
                </a:endParaRPr>
              </a:p>
            </p:txBody>
          </p:sp>
        </p:grpSp>
        <p:grpSp>
          <p:nvGrpSpPr>
            <p:cNvPr id="21" name="Groupe 20"/>
            <p:cNvGrpSpPr/>
            <p:nvPr/>
          </p:nvGrpSpPr>
          <p:grpSpPr>
            <a:xfrm>
              <a:off x="2014922" y="4044438"/>
              <a:ext cx="660245" cy="840540"/>
              <a:chOff x="3004204" y="1718117"/>
              <a:chExt cx="660245" cy="840540"/>
            </a:xfrm>
          </p:grpSpPr>
          <p:sp>
            <p:nvSpPr>
              <p:cNvPr id="22" name="Rectangle 21"/>
              <p:cNvSpPr/>
              <p:nvPr/>
            </p:nvSpPr>
            <p:spPr>
              <a:xfrm>
                <a:off x="3084946" y="1718117"/>
                <a:ext cx="498763" cy="523220"/>
              </a:xfrm>
              <a:prstGeom prst="rect">
                <a:avLst/>
              </a:prstGeom>
              <a:noFill/>
              <a:ln w="381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3" name="ZoneTexte 22"/>
              <p:cNvSpPr txBox="1"/>
              <p:nvPr/>
            </p:nvSpPr>
            <p:spPr>
              <a:xfrm>
                <a:off x="3004204" y="2189325"/>
                <a:ext cx="660245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fr-FR" dirty="0" smtClean="0">
                    <a:solidFill>
                      <a:srgbClr val="0070C0"/>
                    </a:solidFill>
                  </a:rPr>
                  <a:t>pivot</a:t>
                </a:r>
                <a:endParaRPr lang="fr-FR" dirty="0">
                  <a:solidFill>
                    <a:srgbClr val="0070C0"/>
                  </a:solidFill>
                </a:endParaRPr>
              </a:p>
            </p:txBody>
          </p:sp>
        </p:grpSp>
      </p:grpSp>
      <p:grpSp>
        <p:nvGrpSpPr>
          <p:cNvPr id="37" name="Groupe 36"/>
          <p:cNvGrpSpPr/>
          <p:nvPr/>
        </p:nvGrpSpPr>
        <p:grpSpPr>
          <a:xfrm>
            <a:off x="1269153" y="5361387"/>
            <a:ext cx="2808942" cy="1220136"/>
            <a:chOff x="678805" y="5352488"/>
            <a:chExt cx="2808942" cy="1220136"/>
          </a:xfrm>
        </p:grpSpPr>
        <p:sp>
          <p:nvSpPr>
            <p:cNvPr id="24" name="ZoneTexte 23"/>
            <p:cNvSpPr txBox="1"/>
            <p:nvPr/>
          </p:nvSpPr>
          <p:spPr>
            <a:xfrm>
              <a:off x="678805" y="6049404"/>
              <a:ext cx="142539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800" dirty="0" smtClean="0"/>
                <a:t>2 5 9 3 4</a:t>
              </a:r>
              <a:endParaRPr lang="fr-FR" sz="2800" dirty="0"/>
            </a:p>
          </p:txBody>
        </p:sp>
        <p:grpSp>
          <p:nvGrpSpPr>
            <p:cNvPr id="26" name="Groupe 25"/>
            <p:cNvGrpSpPr/>
            <p:nvPr/>
          </p:nvGrpSpPr>
          <p:grpSpPr>
            <a:xfrm>
              <a:off x="2014922" y="5361387"/>
              <a:ext cx="660245" cy="840540"/>
              <a:chOff x="3004204" y="1718117"/>
              <a:chExt cx="660245" cy="840540"/>
            </a:xfrm>
          </p:grpSpPr>
          <p:sp>
            <p:nvSpPr>
              <p:cNvPr id="27" name="Rectangle 26"/>
              <p:cNvSpPr/>
              <p:nvPr/>
            </p:nvSpPr>
            <p:spPr>
              <a:xfrm>
                <a:off x="3084946" y="1718117"/>
                <a:ext cx="498763" cy="523220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8" name="ZoneTexte 27"/>
              <p:cNvSpPr txBox="1"/>
              <p:nvPr/>
            </p:nvSpPr>
            <p:spPr>
              <a:xfrm>
                <a:off x="3004204" y="2189325"/>
                <a:ext cx="6602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 smtClean="0">
                    <a:solidFill>
                      <a:srgbClr val="FF0000"/>
                    </a:solidFill>
                  </a:rPr>
                  <a:t>pivot</a:t>
                </a:r>
                <a:endParaRPr lang="fr-FR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32" name="ZoneTexte 31"/>
            <p:cNvSpPr txBox="1"/>
            <p:nvPr/>
          </p:nvSpPr>
          <p:spPr>
            <a:xfrm>
              <a:off x="2055119" y="5352488"/>
              <a:ext cx="55015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800" dirty="0" smtClean="0"/>
                <a:t>11</a:t>
              </a:r>
              <a:endParaRPr lang="fr-FR" sz="2800" dirty="0"/>
            </a:p>
          </p:txBody>
        </p:sp>
        <p:sp>
          <p:nvSpPr>
            <p:cNvPr id="33" name="ZoneTexte 32"/>
            <p:cNvSpPr txBox="1"/>
            <p:nvPr/>
          </p:nvSpPr>
          <p:spPr>
            <a:xfrm>
              <a:off x="2490358" y="6049404"/>
              <a:ext cx="99738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800" dirty="0" smtClean="0"/>
                <a:t>13 41</a:t>
              </a:r>
              <a:endParaRPr lang="fr-FR" sz="2800" dirty="0"/>
            </a:p>
          </p:txBody>
        </p:sp>
      </p:grpSp>
      <p:grpSp>
        <p:nvGrpSpPr>
          <p:cNvPr id="38" name="Groupe 37"/>
          <p:cNvGrpSpPr/>
          <p:nvPr/>
        </p:nvGrpSpPr>
        <p:grpSpPr>
          <a:xfrm>
            <a:off x="6317967" y="5384187"/>
            <a:ext cx="2751622" cy="1255010"/>
            <a:chOff x="5716366" y="5317614"/>
            <a:chExt cx="2751622" cy="1255010"/>
          </a:xfrm>
        </p:grpSpPr>
        <p:grpSp>
          <p:nvGrpSpPr>
            <p:cNvPr id="29" name="Groupe 28"/>
            <p:cNvGrpSpPr/>
            <p:nvPr/>
          </p:nvGrpSpPr>
          <p:grpSpPr>
            <a:xfrm>
              <a:off x="5716366" y="5352488"/>
              <a:ext cx="660245" cy="840540"/>
              <a:chOff x="3004204" y="1718117"/>
              <a:chExt cx="660245" cy="840540"/>
            </a:xfrm>
          </p:grpSpPr>
          <p:sp>
            <p:nvSpPr>
              <p:cNvPr id="30" name="Rectangle 29"/>
              <p:cNvSpPr/>
              <p:nvPr/>
            </p:nvSpPr>
            <p:spPr>
              <a:xfrm>
                <a:off x="3084946" y="1718117"/>
                <a:ext cx="498763" cy="523220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31" name="ZoneTexte 30"/>
              <p:cNvSpPr txBox="1"/>
              <p:nvPr/>
            </p:nvSpPr>
            <p:spPr>
              <a:xfrm>
                <a:off x="3004204" y="2189325"/>
                <a:ext cx="6602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 smtClean="0">
                    <a:solidFill>
                      <a:srgbClr val="FF0000"/>
                    </a:solidFill>
                  </a:rPr>
                  <a:t>pivot</a:t>
                </a:r>
                <a:endParaRPr lang="fr-FR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34" name="ZoneTexte 33"/>
            <p:cNvSpPr txBox="1"/>
            <p:nvPr/>
          </p:nvSpPr>
          <p:spPr>
            <a:xfrm>
              <a:off x="5808361" y="5317614"/>
              <a:ext cx="55015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800" dirty="0" smtClean="0"/>
                <a:t>51</a:t>
              </a:r>
              <a:endParaRPr lang="fr-FR" sz="2800" dirty="0"/>
            </a:p>
          </p:txBody>
        </p:sp>
        <p:sp>
          <p:nvSpPr>
            <p:cNvPr id="35" name="ZoneTexte 34"/>
            <p:cNvSpPr txBox="1"/>
            <p:nvPr/>
          </p:nvSpPr>
          <p:spPr>
            <a:xfrm>
              <a:off x="6210639" y="6049404"/>
              <a:ext cx="225734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800" dirty="0" smtClean="0"/>
                <a:t>100 79 151 61</a:t>
              </a:r>
              <a:endParaRPr lang="fr-FR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3718313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e 16"/>
          <p:cNvGrpSpPr/>
          <p:nvPr/>
        </p:nvGrpSpPr>
        <p:grpSpPr>
          <a:xfrm>
            <a:off x="5611540" y="339506"/>
            <a:ext cx="660245" cy="840540"/>
            <a:chOff x="5315977" y="1069178"/>
            <a:chExt cx="660245" cy="840540"/>
          </a:xfrm>
        </p:grpSpPr>
        <p:sp>
          <p:nvSpPr>
            <p:cNvPr id="6" name="ZoneTexte 5"/>
            <p:cNvSpPr txBox="1"/>
            <p:nvPr/>
          </p:nvSpPr>
          <p:spPr>
            <a:xfrm>
              <a:off x="5371025" y="1069178"/>
              <a:ext cx="55015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800" dirty="0" smtClean="0"/>
                <a:t>47</a:t>
              </a:r>
              <a:endParaRPr lang="fr-FR" sz="2800" dirty="0"/>
            </a:p>
          </p:txBody>
        </p:sp>
        <p:grpSp>
          <p:nvGrpSpPr>
            <p:cNvPr id="7" name="Groupe 6"/>
            <p:cNvGrpSpPr/>
            <p:nvPr/>
          </p:nvGrpSpPr>
          <p:grpSpPr>
            <a:xfrm>
              <a:off x="5315977" y="1069178"/>
              <a:ext cx="660245" cy="840540"/>
              <a:chOff x="3004204" y="1718117"/>
              <a:chExt cx="660245" cy="840540"/>
            </a:xfrm>
          </p:grpSpPr>
          <p:sp>
            <p:nvSpPr>
              <p:cNvPr id="15" name="Rectangle 14"/>
              <p:cNvSpPr/>
              <p:nvPr/>
            </p:nvSpPr>
            <p:spPr>
              <a:xfrm>
                <a:off x="3084946" y="1718117"/>
                <a:ext cx="498763" cy="523220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6" name="ZoneTexte 15"/>
              <p:cNvSpPr txBox="1"/>
              <p:nvPr/>
            </p:nvSpPr>
            <p:spPr>
              <a:xfrm>
                <a:off x="3004204" y="2189325"/>
                <a:ext cx="6602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 smtClean="0">
                    <a:solidFill>
                      <a:srgbClr val="FF0000"/>
                    </a:solidFill>
                  </a:rPr>
                  <a:t>pivot</a:t>
                </a:r>
                <a:endParaRPr lang="fr-FR" dirty="0">
                  <a:solidFill>
                    <a:srgbClr val="FF0000"/>
                  </a:solidFill>
                </a:endParaRPr>
              </a:p>
            </p:txBody>
          </p:sp>
        </p:grpSp>
      </p:grpSp>
      <p:grpSp>
        <p:nvGrpSpPr>
          <p:cNvPr id="18" name="Groupe 17"/>
          <p:cNvGrpSpPr/>
          <p:nvPr/>
        </p:nvGrpSpPr>
        <p:grpSpPr>
          <a:xfrm>
            <a:off x="2497589" y="995380"/>
            <a:ext cx="3102099" cy="1220136"/>
            <a:chOff x="678805" y="5352488"/>
            <a:chExt cx="3102099" cy="1220136"/>
          </a:xfrm>
        </p:grpSpPr>
        <p:sp>
          <p:nvSpPr>
            <p:cNvPr id="19" name="ZoneTexte 18"/>
            <p:cNvSpPr txBox="1"/>
            <p:nvPr/>
          </p:nvSpPr>
          <p:spPr>
            <a:xfrm>
              <a:off x="678805" y="6049404"/>
              <a:ext cx="142539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800" dirty="0" smtClean="0"/>
                <a:t>2 5 9 3 4</a:t>
              </a:r>
              <a:endParaRPr lang="fr-FR" sz="2800" dirty="0"/>
            </a:p>
          </p:txBody>
        </p:sp>
        <p:grpSp>
          <p:nvGrpSpPr>
            <p:cNvPr id="20" name="Groupe 19"/>
            <p:cNvGrpSpPr/>
            <p:nvPr/>
          </p:nvGrpSpPr>
          <p:grpSpPr>
            <a:xfrm>
              <a:off x="2014922" y="5361387"/>
              <a:ext cx="660245" cy="840540"/>
              <a:chOff x="3004204" y="1718117"/>
              <a:chExt cx="660245" cy="840540"/>
            </a:xfrm>
          </p:grpSpPr>
          <p:sp>
            <p:nvSpPr>
              <p:cNvPr id="23" name="Rectangle 22"/>
              <p:cNvSpPr/>
              <p:nvPr/>
            </p:nvSpPr>
            <p:spPr>
              <a:xfrm>
                <a:off x="3084946" y="1718117"/>
                <a:ext cx="498763" cy="523220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4" name="ZoneTexte 23"/>
              <p:cNvSpPr txBox="1"/>
              <p:nvPr/>
            </p:nvSpPr>
            <p:spPr>
              <a:xfrm>
                <a:off x="3004204" y="2189325"/>
                <a:ext cx="6602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 smtClean="0">
                    <a:solidFill>
                      <a:srgbClr val="FF0000"/>
                    </a:solidFill>
                  </a:rPr>
                  <a:t>pivot</a:t>
                </a:r>
                <a:endParaRPr lang="fr-FR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21" name="ZoneTexte 20"/>
            <p:cNvSpPr txBox="1"/>
            <p:nvPr/>
          </p:nvSpPr>
          <p:spPr>
            <a:xfrm>
              <a:off x="2055119" y="5352488"/>
              <a:ext cx="55015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800" dirty="0" smtClean="0"/>
                <a:t>11</a:t>
              </a:r>
              <a:endParaRPr lang="fr-FR" sz="2800" dirty="0"/>
            </a:p>
          </p:txBody>
        </p:sp>
        <p:sp>
          <p:nvSpPr>
            <p:cNvPr id="22" name="ZoneTexte 21"/>
            <p:cNvSpPr txBox="1"/>
            <p:nvPr/>
          </p:nvSpPr>
          <p:spPr>
            <a:xfrm>
              <a:off x="2783515" y="6040505"/>
              <a:ext cx="99738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800" dirty="0" smtClean="0"/>
                <a:t>13 41</a:t>
              </a:r>
              <a:endParaRPr lang="fr-FR" sz="2800" dirty="0"/>
            </a:p>
          </p:txBody>
        </p:sp>
      </p:grpSp>
      <p:grpSp>
        <p:nvGrpSpPr>
          <p:cNvPr id="25" name="Groupe 24"/>
          <p:cNvGrpSpPr/>
          <p:nvPr/>
        </p:nvGrpSpPr>
        <p:grpSpPr>
          <a:xfrm>
            <a:off x="6641239" y="1004279"/>
            <a:ext cx="3172019" cy="1236293"/>
            <a:chOff x="5716366" y="5317614"/>
            <a:chExt cx="3172019" cy="1236293"/>
          </a:xfrm>
        </p:grpSpPr>
        <p:grpSp>
          <p:nvGrpSpPr>
            <p:cNvPr id="26" name="Groupe 25"/>
            <p:cNvGrpSpPr/>
            <p:nvPr/>
          </p:nvGrpSpPr>
          <p:grpSpPr>
            <a:xfrm>
              <a:off x="5716366" y="5352488"/>
              <a:ext cx="660245" cy="840540"/>
              <a:chOff x="3004204" y="1718117"/>
              <a:chExt cx="660245" cy="840540"/>
            </a:xfrm>
          </p:grpSpPr>
          <p:sp>
            <p:nvSpPr>
              <p:cNvPr id="29" name="Rectangle 28"/>
              <p:cNvSpPr/>
              <p:nvPr/>
            </p:nvSpPr>
            <p:spPr>
              <a:xfrm>
                <a:off x="3084946" y="1718117"/>
                <a:ext cx="498763" cy="523220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30" name="ZoneTexte 29"/>
              <p:cNvSpPr txBox="1"/>
              <p:nvPr/>
            </p:nvSpPr>
            <p:spPr>
              <a:xfrm>
                <a:off x="3004204" y="2189325"/>
                <a:ext cx="6602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 smtClean="0">
                    <a:solidFill>
                      <a:srgbClr val="FF0000"/>
                    </a:solidFill>
                  </a:rPr>
                  <a:t>pivot</a:t>
                </a:r>
                <a:endParaRPr lang="fr-FR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27" name="ZoneTexte 26"/>
            <p:cNvSpPr txBox="1"/>
            <p:nvPr/>
          </p:nvSpPr>
          <p:spPr>
            <a:xfrm>
              <a:off x="5808361" y="5317614"/>
              <a:ext cx="55015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800" dirty="0" smtClean="0"/>
                <a:t>51</a:t>
              </a:r>
              <a:endParaRPr lang="fr-FR" sz="2800" dirty="0"/>
            </a:p>
          </p:txBody>
        </p:sp>
        <p:sp>
          <p:nvSpPr>
            <p:cNvPr id="28" name="ZoneTexte 27"/>
            <p:cNvSpPr txBox="1"/>
            <p:nvPr/>
          </p:nvSpPr>
          <p:spPr>
            <a:xfrm>
              <a:off x="6631036" y="6030687"/>
              <a:ext cx="225734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800" dirty="0" smtClean="0"/>
                <a:t>100 79 151 61</a:t>
              </a:r>
              <a:endParaRPr lang="fr-FR" sz="2800" dirty="0"/>
            </a:p>
          </p:txBody>
        </p:sp>
      </p:grpSp>
      <p:grpSp>
        <p:nvGrpSpPr>
          <p:cNvPr id="37" name="Groupe 36"/>
          <p:cNvGrpSpPr/>
          <p:nvPr/>
        </p:nvGrpSpPr>
        <p:grpSpPr>
          <a:xfrm>
            <a:off x="2245131" y="1692296"/>
            <a:ext cx="660245" cy="840540"/>
            <a:chOff x="3004204" y="1718117"/>
            <a:chExt cx="660245" cy="840540"/>
          </a:xfrm>
        </p:grpSpPr>
        <p:sp>
          <p:nvSpPr>
            <p:cNvPr id="38" name="Rectangle 37"/>
            <p:cNvSpPr/>
            <p:nvPr/>
          </p:nvSpPr>
          <p:spPr>
            <a:xfrm>
              <a:off x="3084946" y="1718117"/>
              <a:ext cx="498763" cy="523220"/>
            </a:xfrm>
            <a:prstGeom prst="rect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9" name="ZoneTexte 38"/>
            <p:cNvSpPr txBox="1"/>
            <p:nvPr/>
          </p:nvSpPr>
          <p:spPr>
            <a:xfrm>
              <a:off x="3004204" y="2189325"/>
              <a:ext cx="66024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fr-FR" dirty="0" smtClean="0">
                  <a:solidFill>
                    <a:srgbClr val="0070C0"/>
                  </a:solidFill>
                </a:rPr>
                <a:t>pivot</a:t>
              </a:r>
              <a:endParaRPr lang="fr-FR" dirty="0">
                <a:solidFill>
                  <a:srgbClr val="0070C0"/>
                </a:solidFill>
              </a:endParaRPr>
            </a:p>
          </p:txBody>
        </p:sp>
      </p:grpSp>
      <p:grpSp>
        <p:nvGrpSpPr>
          <p:cNvPr id="57" name="Groupe 56"/>
          <p:cNvGrpSpPr/>
          <p:nvPr/>
        </p:nvGrpSpPr>
        <p:grpSpPr>
          <a:xfrm>
            <a:off x="4533016" y="1716385"/>
            <a:ext cx="660245" cy="840540"/>
            <a:chOff x="3004204" y="1718117"/>
            <a:chExt cx="660245" cy="840540"/>
          </a:xfrm>
        </p:grpSpPr>
        <p:sp>
          <p:nvSpPr>
            <p:cNvPr id="58" name="Rectangle 57"/>
            <p:cNvSpPr/>
            <p:nvPr/>
          </p:nvSpPr>
          <p:spPr>
            <a:xfrm>
              <a:off x="3084946" y="1718117"/>
              <a:ext cx="498763" cy="523220"/>
            </a:xfrm>
            <a:prstGeom prst="rect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9" name="ZoneTexte 58"/>
            <p:cNvSpPr txBox="1"/>
            <p:nvPr/>
          </p:nvSpPr>
          <p:spPr>
            <a:xfrm>
              <a:off x="3004204" y="2189325"/>
              <a:ext cx="66024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fr-FR" dirty="0" smtClean="0">
                  <a:solidFill>
                    <a:srgbClr val="0070C0"/>
                  </a:solidFill>
                </a:rPr>
                <a:t>pivot</a:t>
              </a:r>
              <a:endParaRPr lang="fr-FR" dirty="0">
                <a:solidFill>
                  <a:srgbClr val="0070C0"/>
                </a:solidFill>
              </a:endParaRPr>
            </a:p>
          </p:txBody>
        </p:sp>
      </p:grpSp>
      <p:grpSp>
        <p:nvGrpSpPr>
          <p:cNvPr id="63" name="Groupe 62"/>
          <p:cNvGrpSpPr/>
          <p:nvPr/>
        </p:nvGrpSpPr>
        <p:grpSpPr>
          <a:xfrm>
            <a:off x="7555909" y="1692296"/>
            <a:ext cx="883343" cy="878699"/>
            <a:chOff x="7555909" y="1692296"/>
            <a:chExt cx="883343" cy="878699"/>
          </a:xfrm>
        </p:grpSpPr>
        <p:sp>
          <p:nvSpPr>
            <p:cNvPr id="61" name="Rectangle 60"/>
            <p:cNvSpPr/>
            <p:nvPr/>
          </p:nvSpPr>
          <p:spPr>
            <a:xfrm>
              <a:off x="7556597" y="1692296"/>
              <a:ext cx="667296" cy="523220"/>
            </a:xfrm>
            <a:prstGeom prst="rect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2" name="ZoneTexte 61"/>
            <p:cNvSpPr txBox="1"/>
            <p:nvPr/>
          </p:nvSpPr>
          <p:spPr>
            <a:xfrm>
              <a:off x="7555909" y="2201663"/>
              <a:ext cx="883343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fr-FR" dirty="0" smtClean="0">
                  <a:solidFill>
                    <a:srgbClr val="0070C0"/>
                  </a:solidFill>
                </a:rPr>
                <a:t>pivot</a:t>
              </a:r>
              <a:endParaRPr lang="fr-FR" dirty="0">
                <a:solidFill>
                  <a:srgbClr val="0070C0"/>
                </a:solidFill>
              </a:endParaRPr>
            </a:p>
          </p:txBody>
        </p:sp>
      </p:grpSp>
      <p:grpSp>
        <p:nvGrpSpPr>
          <p:cNvPr id="105" name="Groupe 104"/>
          <p:cNvGrpSpPr/>
          <p:nvPr/>
        </p:nvGrpSpPr>
        <p:grpSpPr>
          <a:xfrm>
            <a:off x="1565956" y="3315503"/>
            <a:ext cx="8561882" cy="3628165"/>
            <a:chOff x="1501301" y="2856415"/>
            <a:chExt cx="8561882" cy="3628165"/>
          </a:xfrm>
        </p:grpSpPr>
        <p:grpSp>
          <p:nvGrpSpPr>
            <p:cNvPr id="69" name="Groupe 68"/>
            <p:cNvGrpSpPr/>
            <p:nvPr/>
          </p:nvGrpSpPr>
          <p:grpSpPr>
            <a:xfrm>
              <a:off x="5485880" y="2856415"/>
              <a:ext cx="660245" cy="840540"/>
              <a:chOff x="5315977" y="1069178"/>
              <a:chExt cx="660245" cy="840540"/>
            </a:xfrm>
          </p:grpSpPr>
          <p:sp>
            <p:nvSpPr>
              <p:cNvPr id="70" name="ZoneTexte 69"/>
              <p:cNvSpPr txBox="1"/>
              <p:nvPr/>
            </p:nvSpPr>
            <p:spPr>
              <a:xfrm>
                <a:off x="5371025" y="1069178"/>
                <a:ext cx="55015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800" dirty="0" smtClean="0"/>
                  <a:t>47</a:t>
                </a:r>
                <a:endParaRPr lang="fr-FR" sz="2800" dirty="0"/>
              </a:p>
            </p:txBody>
          </p:sp>
          <p:grpSp>
            <p:nvGrpSpPr>
              <p:cNvPr id="71" name="Groupe 70"/>
              <p:cNvGrpSpPr/>
              <p:nvPr/>
            </p:nvGrpSpPr>
            <p:grpSpPr>
              <a:xfrm>
                <a:off x="5315977" y="1069178"/>
                <a:ext cx="660245" cy="840540"/>
                <a:chOff x="3004204" y="1718117"/>
                <a:chExt cx="660245" cy="840540"/>
              </a:xfrm>
            </p:grpSpPr>
            <p:sp>
              <p:nvSpPr>
                <p:cNvPr id="72" name="Rectangle 71"/>
                <p:cNvSpPr/>
                <p:nvPr/>
              </p:nvSpPr>
              <p:spPr>
                <a:xfrm>
                  <a:off x="3084946" y="1718117"/>
                  <a:ext cx="498763" cy="523220"/>
                </a:xfrm>
                <a:prstGeom prst="rect">
                  <a:avLst/>
                </a:prstGeom>
                <a:noFill/>
                <a:ln w="3810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3" name="ZoneTexte 72"/>
                <p:cNvSpPr txBox="1"/>
                <p:nvPr/>
              </p:nvSpPr>
              <p:spPr>
                <a:xfrm>
                  <a:off x="3004204" y="2189325"/>
                  <a:ext cx="6602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dirty="0" smtClean="0">
                      <a:solidFill>
                        <a:srgbClr val="FF0000"/>
                      </a:solidFill>
                    </a:rPr>
                    <a:t>pivot</a:t>
                  </a:r>
                  <a:endParaRPr lang="fr-FR" dirty="0">
                    <a:solidFill>
                      <a:srgbClr val="FF0000"/>
                    </a:solidFill>
                  </a:endParaRPr>
                </a:p>
              </p:txBody>
            </p:sp>
          </p:grpSp>
        </p:grpSp>
        <p:grpSp>
          <p:nvGrpSpPr>
            <p:cNvPr id="74" name="Groupe 73"/>
            <p:cNvGrpSpPr/>
            <p:nvPr/>
          </p:nvGrpSpPr>
          <p:grpSpPr>
            <a:xfrm>
              <a:off x="1677300" y="3512289"/>
              <a:ext cx="3796728" cy="1267624"/>
              <a:chOff x="-15824" y="5352488"/>
              <a:chExt cx="3796728" cy="1267624"/>
            </a:xfrm>
          </p:grpSpPr>
          <p:sp>
            <p:nvSpPr>
              <p:cNvPr id="75" name="ZoneTexte 74"/>
              <p:cNvSpPr txBox="1"/>
              <p:nvPr/>
            </p:nvSpPr>
            <p:spPr>
              <a:xfrm>
                <a:off x="-15824" y="6096892"/>
                <a:ext cx="36740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800" dirty="0" smtClean="0"/>
                  <a:t>2</a:t>
                </a:r>
                <a:endParaRPr lang="fr-FR" sz="2800" dirty="0"/>
              </a:p>
            </p:txBody>
          </p:sp>
          <p:grpSp>
            <p:nvGrpSpPr>
              <p:cNvPr id="76" name="Groupe 75"/>
              <p:cNvGrpSpPr/>
              <p:nvPr/>
            </p:nvGrpSpPr>
            <p:grpSpPr>
              <a:xfrm>
                <a:off x="2014922" y="5361387"/>
                <a:ext cx="660245" cy="840540"/>
                <a:chOff x="3004204" y="1718117"/>
                <a:chExt cx="660245" cy="840540"/>
              </a:xfrm>
            </p:grpSpPr>
            <p:sp>
              <p:nvSpPr>
                <p:cNvPr id="79" name="Rectangle 78"/>
                <p:cNvSpPr/>
                <p:nvPr/>
              </p:nvSpPr>
              <p:spPr>
                <a:xfrm>
                  <a:off x="3084946" y="1718117"/>
                  <a:ext cx="498763" cy="523220"/>
                </a:xfrm>
                <a:prstGeom prst="rect">
                  <a:avLst/>
                </a:prstGeom>
                <a:noFill/>
                <a:ln w="3810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80" name="ZoneTexte 79"/>
                <p:cNvSpPr txBox="1"/>
                <p:nvPr/>
              </p:nvSpPr>
              <p:spPr>
                <a:xfrm>
                  <a:off x="3004204" y="2189325"/>
                  <a:ext cx="6602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dirty="0" smtClean="0">
                      <a:solidFill>
                        <a:srgbClr val="FF0000"/>
                      </a:solidFill>
                    </a:rPr>
                    <a:t>pivot</a:t>
                  </a:r>
                  <a:endParaRPr lang="fr-FR" dirty="0">
                    <a:solidFill>
                      <a:srgbClr val="FF0000"/>
                    </a:solidFill>
                  </a:endParaRPr>
                </a:p>
              </p:txBody>
            </p:sp>
          </p:grpSp>
          <p:sp>
            <p:nvSpPr>
              <p:cNvPr id="77" name="ZoneTexte 76"/>
              <p:cNvSpPr txBox="1"/>
              <p:nvPr/>
            </p:nvSpPr>
            <p:spPr>
              <a:xfrm>
                <a:off x="2055119" y="5352488"/>
                <a:ext cx="55015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800" dirty="0" smtClean="0"/>
                  <a:t>11</a:t>
                </a:r>
                <a:endParaRPr lang="fr-FR" sz="2800" dirty="0"/>
              </a:p>
            </p:txBody>
          </p:sp>
          <p:sp>
            <p:nvSpPr>
              <p:cNvPr id="78" name="ZoneTexte 77"/>
              <p:cNvSpPr txBox="1"/>
              <p:nvPr/>
            </p:nvSpPr>
            <p:spPr>
              <a:xfrm>
                <a:off x="2783515" y="6040505"/>
                <a:ext cx="99738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800" dirty="0" smtClean="0"/>
                  <a:t>13 41</a:t>
                </a:r>
                <a:endParaRPr lang="fr-FR" sz="2800" dirty="0"/>
              </a:p>
            </p:txBody>
          </p:sp>
        </p:grpSp>
        <p:grpSp>
          <p:nvGrpSpPr>
            <p:cNvPr id="81" name="Groupe 80"/>
            <p:cNvGrpSpPr/>
            <p:nvPr/>
          </p:nvGrpSpPr>
          <p:grpSpPr>
            <a:xfrm>
              <a:off x="6515579" y="3521188"/>
              <a:ext cx="2632150" cy="1246912"/>
              <a:chOff x="5716366" y="5317614"/>
              <a:chExt cx="2632150" cy="1246912"/>
            </a:xfrm>
          </p:grpSpPr>
          <p:grpSp>
            <p:nvGrpSpPr>
              <p:cNvPr id="82" name="Groupe 81"/>
              <p:cNvGrpSpPr/>
              <p:nvPr/>
            </p:nvGrpSpPr>
            <p:grpSpPr>
              <a:xfrm>
                <a:off x="5716366" y="5352488"/>
                <a:ext cx="660245" cy="840540"/>
                <a:chOff x="3004204" y="1718117"/>
                <a:chExt cx="660245" cy="84054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3084946" y="1718117"/>
                  <a:ext cx="498763" cy="523220"/>
                </a:xfrm>
                <a:prstGeom prst="rect">
                  <a:avLst/>
                </a:prstGeom>
                <a:noFill/>
                <a:ln w="3810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86" name="ZoneTexte 85"/>
                <p:cNvSpPr txBox="1"/>
                <p:nvPr/>
              </p:nvSpPr>
              <p:spPr>
                <a:xfrm>
                  <a:off x="3004204" y="2189325"/>
                  <a:ext cx="6602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dirty="0" smtClean="0">
                      <a:solidFill>
                        <a:srgbClr val="FF0000"/>
                      </a:solidFill>
                    </a:rPr>
                    <a:t>pivot</a:t>
                  </a:r>
                  <a:endParaRPr lang="fr-FR" dirty="0">
                    <a:solidFill>
                      <a:srgbClr val="FF0000"/>
                    </a:solidFill>
                  </a:endParaRPr>
                </a:p>
              </p:txBody>
            </p:sp>
          </p:grpSp>
          <p:sp>
            <p:nvSpPr>
              <p:cNvPr id="83" name="ZoneTexte 82"/>
              <p:cNvSpPr txBox="1"/>
              <p:nvPr/>
            </p:nvSpPr>
            <p:spPr>
              <a:xfrm>
                <a:off x="5808361" y="5317614"/>
                <a:ext cx="55015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800" dirty="0" smtClean="0"/>
                  <a:t>51</a:t>
                </a:r>
                <a:endParaRPr lang="fr-FR" sz="2800" dirty="0"/>
              </a:p>
            </p:txBody>
          </p:sp>
          <p:sp>
            <p:nvSpPr>
              <p:cNvPr id="84" name="ZoneTexte 83"/>
              <p:cNvSpPr txBox="1"/>
              <p:nvPr/>
            </p:nvSpPr>
            <p:spPr>
              <a:xfrm>
                <a:off x="7615623" y="6041306"/>
                <a:ext cx="73289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800" dirty="0" smtClean="0"/>
                  <a:t>100</a:t>
                </a:r>
                <a:endParaRPr lang="fr-FR" sz="2800" dirty="0"/>
              </a:p>
            </p:txBody>
          </p:sp>
        </p:grpSp>
        <p:grpSp>
          <p:nvGrpSpPr>
            <p:cNvPr id="87" name="Groupe 86"/>
            <p:cNvGrpSpPr/>
            <p:nvPr/>
          </p:nvGrpSpPr>
          <p:grpSpPr>
            <a:xfrm>
              <a:off x="1501301" y="4247364"/>
              <a:ext cx="660245" cy="840540"/>
              <a:chOff x="3004204" y="1718117"/>
              <a:chExt cx="660245" cy="840540"/>
            </a:xfrm>
          </p:grpSpPr>
          <p:sp>
            <p:nvSpPr>
              <p:cNvPr id="88" name="Rectangle 87"/>
              <p:cNvSpPr/>
              <p:nvPr/>
            </p:nvSpPr>
            <p:spPr>
              <a:xfrm>
                <a:off x="3084946" y="1718117"/>
                <a:ext cx="498763" cy="523220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89" name="ZoneTexte 88"/>
              <p:cNvSpPr txBox="1"/>
              <p:nvPr/>
            </p:nvSpPr>
            <p:spPr>
              <a:xfrm>
                <a:off x="3004204" y="2189325"/>
                <a:ext cx="660245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fr-FR" dirty="0" smtClean="0">
                    <a:solidFill>
                      <a:srgbClr val="FF0000"/>
                    </a:solidFill>
                  </a:rPr>
                  <a:t>pivot</a:t>
                </a:r>
                <a:endParaRPr lang="fr-FR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90" name="Groupe 89"/>
            <p:cNvGrpSpPr/>
            <p:nvPr/>
          </p:nvGrpSpPr>
          <p:grpSpPr>
            <a:xfrm>
              <a:off x="4407356" y="4233294"/>
              <a:ext cx="660245" cy="840540"/>
              <a:chOff x="3004204" y="1718117"/>
              <a:chExt cx="660245" cy="840540"/>
            </a:xfrm>
          </p:grpSpPr>
          <p:sp>
            <p:nvSpPr>
              <p:cNvPr id="91" name="Rectangle 90"/>
              <p:cNvSpPr/>
              <p:nvPr/>
            </p:nvSpPr>
            <p:spPr>
              <a:xfrm>
                <a:off x="3084946" y="1718117"/>
                <a:ext cx="498763" cy="523220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92" name="ZoneTexte 91"/>
              <p:cNvSpPr txBox="1"/>
              <p:nvPr/>
            </p:nvSpPr>
            <p:spPr>
              <a:xfrm>
                <a:off x="3004204" y="2189325"/>
                <a:ext cx="660245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fr-FR" dirty="0" smtClean="0">
                    <a:solidFill>
                      <a:srgbClr val="FF0000"/>
                    </a:solidFill>
                  </a:rPr>
                  <a:t>pivot</a:t>
                </a:r>
                <a:endParaRPr lang="fr-FR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93" name="Groupe 92"/>
            <p:cNvGrpSpPr/>
            <p:nvPr/>
          </p:nvGrpSpPr>
          <p:grpSpPr>
            <a:xfrm>
              <a:off x="8446947" y="4200306"/>
              <a:ext cx="667984" cy="878699"/>
              <a:chOff x="7555909" y="1692296"/>
              <a:chExt cx="667984" cy="878699"/>
            </a:xfrm>
          </p:grpSpPr>
          <p:sp>
            <p:nvSpPr>
              <p:cNvPr id="94" name="Rectangle 93"/>
              <p:cNvSpPr/>
              <p:nvPr/>
            </p:nvSpPr>
            <p:spPr>
              <a:xfrm>
                <a:off x="7556597" y="1692296"/>
                <a:ext cx="667296" cy="523220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95" name="ZoneTexte 94"/>
              <p:cNvSpPr txBox="1"/>
              <p:nvPr/>
            </p:nvSpPr>
            <p:spPr>
              <a:xfrm>
                <a:off x="7555909" y="2201663"/>
                <a:ext cx="660245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fr-FR" dirty="0" smtClean="0">
                    <a:solidFill>
                      <a:srgbClr val="FF0000"/>
                    </a:solidFill>
                  </a:rPr>
                  <a:t>pivot</a:t>
                </a:r>
                <a:endParaRPr lang="fr-FR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99" name="Groupe 98"/>
            <p:cNvGrpSpPr/>
            <p:nvPr/>
          </p:nvGrpSpPr>
          <p:grpSpPr>
            <a:xfrm>
              <a:off x="2192732" y="5073834"/>
              <a:ext cx="1498656" cy="1410746"/>
              <a:chOff x="2192732" y="5073834"/>
              <a:chExt cx="1498656" cy="1410746"/>
            </a:xfrm>
          </p:grpSpPr>
          <p:sp>
            <p:nvSpPr>
              <p:cNvPr id="96" name="ZoneTexte 95"/>
              <p:cNvSpPr txBox="1"/>
              <p:nvPr/>
            </p:nvSpPr>
            <p:spPr>
              <a:xfrm>
                <a:off x="2192732" y="5684361"/>
                <a:ext cx="631904" cy="8002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/>
                <a:r>
                  <a:rPr lang="fr-FR" sz="2800" dirty="0" smtClean="0">
                    <a:solidFill>
                      <a:prstClr val="black"/>
                    </a:solidFill>
                  </a:rPr>
                  <a:t>3 </a:t>
                </a:r>
                <a:r>
                  <a:rPr lang="fr-FR" sz="2800" dirty="0">
                    <a:solidFill>
                      <a:prstClr val="black"/>
                    </a:solidFill>
                  </a:rPr>
                  <a:t>4</a:t>
                </a:r>
              </a:p>
              <a:p>
                <a:endParaRPr lang="fr-FR" dirty="0"/>
              </a:p>
            </p:txBody>
          </p:sp>
          <p:sp>
            <p:nvSpPr>
              <p:cNvPr id="97" name="ZoneTexte 96"/>
              <p:cNvSpPr txBox="1"/>
              <p:nvPr/>
            </p:nvSpPr>
            <p:spPr>
              <a:xfrm>
                <a:off x="2893708" y="5073834"/>
                <a:ext cx="44916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/>
                <a:r>
                  <a:rPr lang="fr-FR" sz="2800" dirty="0" smtClean="0">
                    <a:solidFill>
                      <a:prstClr val="black"/>
                    </a:solidFill>
                  </a:rPr>
                  <a:t>5 </a:t>
                </a:r>
                <a:endParaRPr lang="fr-FR" sz="280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98" name="ZoneTexte 97"/>
              <p:cNvSpPr txBox="1"/>
              <p:nvPr/>
            </p:nvSpPr>
            <p:spPr>
              <a:xfrm>
                <a:off x="3323980" y="5684361"/>
                <a:ext cx="36740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/>
                <a:r>
                  <a:rPr lang="fr-FR" sz="2800" dirty="0" smtClean="0">
                    <a:solidFill>
                      <a:prstClr val="black"/>
                    </a:solidFill>
                  </a:rPr>
                  <a:t>9</a:t>
                </a:r>
                <a:endParaRPr lang="fr-FR" sz="2800" dirty="0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100" name="ZoneTexte 99"/>
            <p:cNvSpPr txBox="1"/>
            <p:nvPr/>
          </p:nvSpPr>
          <p:spPr>
            <a:xfrm>
              <a:off x="9330290" y="5087904"/>
              <a:ext cx="73289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fr-FR" sz="2800" dirty="0" smtClean="0">
                  <a:solidFill>
                    <a:prstClr val="black"/>
                  </a:solidFill>
                </a:rPr>
                <a:t>151</a:t>
              </a:r>
              <a:endParaRPr lang="fr-FR" sz="2800" dirty="0">
                <a:solidFill>
                  <a:prstClr val="black"/>
                </a:solidFill>
              </a:endParaRPr>
            </a:p>
          </p:txBody>
        </p:sp>
        <p:sp>
          <p:nvSpPr>
            <p:cNvPr id="101" name="ZoneTexte 100"/>
            <p:cNvSpPr txBox="1"/>
            <p:nvPr/>
          </p:nvSpPr>
          <p:spPr>
            <a:xfrm>
              <a:off x="7415355" y="5073834"/>
              <a:ext cx="99738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fr-FR" sz="2800" dirty="0" smtClean="0">
                  <a:solidFill>
                    <a:prstClr val="black"/>
                  </a:solidFill>
                </a:rPr>
                <a:t>61 79</a:t>
              </a:r>
              <a:endParaRPr lang="fr-FR" sz="2800" dirty="0">
                <a:solidFill>
                  <a:prstClr val="black"/>
                </a:solidFill>
              </a:endParaRPr>
            </a:p>
          </p:txBody>
        </p:sp>
        <p:grpSp>
          <p:nvGrpSpPr>
            <p:cNvPr id="102" name="Groupe 101"/>
            <p:cNvGrpSpPr/>
            <p:nvPr/>
          </p:nvGrpSpPr>
          <p:grpSpPr>
            <a:xfrm>
              <a:off x="2744475" y="4993144"/>
              <a:ext cx="660245" cy="840540"/>
              <a:chOff x="3004204" y="1718117"/>
              <a:chExt cx="660245" cy="840540"/>
            </a:xfrm>
          </p:grpSpPr>
          <p:sp>
            <p:nvSpPr>
              <p:cNvPr id="103" name="Rectangle 102"/>
              <p:cNvSpPr/>
              <p:nvPr/>
            </p:nvSpPr>
            <p:spPr>
              <a:xfrm>
                <a:off x="3084946" y="1718117"/>
                <a:ext cx="498763" cy="523220"/>
              </a:xfrm>
              <a:prstGeom prst="rect">
                <a:avLst/>
              </a:prstGeom>
              <a:noFill/>
              <a:ln w="381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04" name="ZoneTexte 103"/>
              <p:cNvSpPr txBox="1"/>
              <p:nvPr/>
            </p:nvSpPr>
            <p:spPr>
              <a:xfrm>
                <a:off x="3004204" y="2189325"/>
                <a:ext cx="660245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fr-FR" dirty="0" smtClean="0">
                    <a:solidFill>
                      <a:srgbClr val="0070C0"/>
                    </a:solidFill>
                  </a:rPr>
                  <a:t>pivot</a:t>
                </a:r>
                <a:endParaRPr lang="fr-FR" dirty="0">
                  <a:solidFill>
                    <a:srgbClr val="0070C0"/>
                  </a:solidFill>
                </a:endParaRPr>
              </a:p>
            </p:txBody>
          </p:sp>
        </p:grpSp>
      </p:grpSp>
      <p:sp>
        <p:nvSpPr>
          <p:cNvPr id="106" name="ZoneTexte 105"/>
          <p:cNvSpPr txBox="1"/>
          <p:nvPr/>
        </p:nvSpPr>
        <p:spPr>
          <a:xfrm>
            <a:off x="314036" y="2856415"/>
            <a:ext cx="101111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/>
              <a:t>On a finalement construit un arbre binaire que l’on parcourt de manière infixe : </a:t>
            </a:r>
            <a:endParaRPr lang="fr-FR" sz="2400" dirty="0"/>
          </a:p>
        </p:txBody>
      </p:sp>
      <p:sp>
        <p:nvSpPr>
          <p:cNvPr id="107" name="ZoneTexte 106"/>
          <p:cNvSpPr txBox="1"/>
          <p:nvPr/>
        </p:nvSpPr>
        <p:spPr>
          <a:xfrm>
            <a:off x="8126728" y="3286775"/>
            <a:ext cx="394890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chaque nœud est </a:t>
            </a:r>
            <a:r>
              <a:rPr lang="fr-FR" sz="2400" dirty="0" smtClean="0"/>
              <a:t>visité </a:t>
            </a:r>
          </a:p>
          <a:p>
            <a:r>
              <a:rPr lang="fr-FR" sz="2400" dirty="0" smtClean="0"/>
              <a:t>après son enfant </a:t>
            </a:r>
            <a:r>
              <a:rPr lang="fr-FR" sz="2400" dirty="0"/>
              <a:t>gauche mais </a:t>
            </a:r>
            <a:endParaRPr lang="fr-FR" sz="2400" dirty="0" smtClean="0"/>
          </a:p>
          <a:p>
            <a:r>
              <a:rPr lang="fr-FR" sz="2400" dirty="0" smtClean="0"/>
              <a:t>avant </a:t>
            </a:r>
            <a:r>
              <a:rPr lang="fr-FR" sz="2400" dirty="0"/>
              <a:t>son enfant droit</a:t>
            </a:r>
          </a:p>
        </p:txBody>
      </p:sp>
    </p:spTree>
    <p:extLst>
      <p:ext uri="{BB962C8B-B14F-4D97-AF65-F5344CB8AC3E}">
        <p14:creationId xmlns:p14="http://schemas.microsoft.com/office/powerpoint/2010/main" val="366158177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170</Words>
  <Application>Microsoft Office PowerPoint</Application>
  <PresentationFormat>Grand écran</PresentationFormat>
  <Paragraphs>54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jean-christophe toussaint</dc:creator>
  <cp:lastModifiedBy>jean-christophe toussaint</cp:lastModifiedBy>
  <cp:revision>6</cp:revision>
  <dcterms:created xsi:type="dcterms:W3CDTF">2019-09-27T08:32:30Z</dcterms:created>
  <dcterms:modified xsi:type="dcterms:W3CDTF">2019-09-27T09:15:33Z</dcterms:modified>
</cp:coreProperties>
</file>