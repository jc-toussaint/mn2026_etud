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2" r:id="rId3"/>
    <p:sldId id="283" r:id="rId4"/>
    <p:sldId id="257" r:id="rId5"/>
    <p:sldId id="281" r:id="rId6"/>
    <p:sldId id="261" r:id="rId7"/>
    <p:sldId id="265" r:id="rId8"/>
    <p:sldId id="278" r:id="rId9"/>
    <p:sldId id="266" r:id="rId10"/>
    <p:sldId id="262" r:id="rId11"/>
    <p:sldId id="272" r:id="rId12"/>
    <p:sldId id="279" r:id="rId13"/>
    <p:sldId id="280" r:id="rId14"/>
    <p:sldId id="276" r:id="rId15"/>
    <p:sldId id="268" r:id="rId16"/>
    <p:sldId id="271" r:id="rId17"/>
    <p:sldId id="269" r:id="rId18"/>
    <p:sldId id="270" r:id="rId19"/>
    <p:sldId id="275" r:id="rId20"/>
    <p:sldId id="273" r:id="rId21"/>
    <p:sldId id="274" r:id="rId22"/>
  </p:sldIdLst>
  <p:sldSz cx="9144000" cy="6858000" type="screen4x3"/>
  <p:notesSz cx="7315200" cy="96012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e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2.wmf"/><Relationship Id="rId7" Type="http://schemas.openxmlformats.org/officeDocument/2006/relationships/image" Target="../media/image46.e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3FA7499-9F5B-4805-B5BD-7C686A86FCCC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0ACEF-C1F6-431E-8849-6ABE7EF28E71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38855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A81559-3326-42FC-BDE7-46086E4612D6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76530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CACCEA-DF41-42E3-9949-B5970D57FD6B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95451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5B4B51-D73C-4713-96CE-99097F11951F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34407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798DA-0F70-4952-8B79-DDFCCA7D1071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63510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89630C-DCA9-48AF-AD4E-B48AE9CB89CA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4549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FD4A6-AD2B-481F-BACC-E5E75A1110D3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44782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A3089E-5FAA-447D-A3DC-876AACB3F105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03712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E32F4-216B-40E3-A169-033F2360ACCA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3990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5040A5-C58C-4B58-B565-2AF75A4E814F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423397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9D5F09-C953-4B2B-AF9A-9CE50321B42A}" type="slidenum">
              <a:rPr lang="fr-FR" altLang="fr-FR"/>
              <a:pPr/>
              <a:t>‹N°›</a:t>
            </a:fld>
            <a:r>
              <a:rPr lang="fr-FR" altLang="fr-FR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92231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fld id="{CCB50169-F2DC-4DD3-92C7-919028864973}" type="slidenum">
              <a:rPr lang="fr-FR" altLang="fr-FR"/>
              <a:pPr/>
              <a:t>‹N°›</a:t>
            </a:fld>
            <a:r>
              <a:rPr lang="fr-FR" altLang="fr-FR"/>
              <a:t>/21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7.e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.emf"/><Relationship Id="rId20" Type="http://schemas.openxmlformats.org/officeDocument/2006/relationships/image" Target="../media/image4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6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F93DA9E-D29D-40A3-88D0-0F5C6C522DB4}" type="slidenum">
              <a:rPr lang="fr-FR" altLang="fr-FR" sz="1200"/>
              <a:pPr eaLnBrk="1" hangingPunct="1"/>
              <a:t>1</a:t>
            </a:fld>
            <a:r>
              <a:rPr lang="fr-FR" altLang="fr-FR" sz="1200" b="0"/>
              <a:t>/21</a:t>
            </a:r>
          </a:p>
        </p:txBody>
      </p:sp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1981200" y="152400"/>
            <a:ext cx="499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Résolution de systèmes linéaires</a:t>
            </a:r>
          </a:p>
        </p:txBody>
      </p:sp>
      <p:sp>
        <p:nvSpPr>
          <p:cNvPr id="14339" name="Rectangle 12"/>
          <p:cNvSpPr>
            <a:spLocks noChangeArrowheads="1"/>
          </p:cNvSpPr>
          <p:nvPr/>
        </p:nvSpPr>
        <p:spPr bwMode="auto">
          <a:xfrm>
            <a:off x="533400" y="487363"/>
            <a:ext cx="83058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Soit à résoudre le système A x=b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 b="1"/>
          </a:p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Calcul de l</a:t>
            </a:r>
            <a:r>
              <a:rPr lang="ja-JP" altLang="fr-FR" sz="1800" b="1"/>
              <a:t>’</a:t>
            </a:r>
            <a:r>
              <a:rPr lang="fr-FR" altLang="ja-JP" sz="1800" b="1"/>
              <a:t>inverse de A ?	</a:t>
            </a:r>
          </a:p>
          <a:p>
            <a:pPr>
              <a:lnSpc>
                <a:spcPct val="120000"/>
              </a:lnSpc>
            </a:pPr>
            <a:r>
              <a:rPr lang="fr-FR" altLang="fr-FR" sz="1800"/>
              <a:t>Une première idée est :	Calculer A</a:t>
            </a:r>
            <a:r>
              <a:rPr lang="fr-FR" altLang="fr-FR" sz="1800" baseline="30000"/>
              <a:t>-1</a:t>
            </a:r>
            <a:r>
              <a:rPr lang="fr-FR" altLang="fr-FR" sz="1800"/>
              <a:t> puis A</a:t>
            </a:r>
            <a:r>
              <a:rPr lang="fr-FR" altLang="fr-FR" sz="1800" baseline="30000"/>
              <a:t>-1</a:t>
            </a:r>
            <a:r>
              <a:rPr lang="fr-FR" altLang="fr-FR" sz="1800"/>
              <a:t>b</a:t>
            </a:r>
          </a:p>
          <a:p>
            <a:pPr>
              <a:lnSpc>
                <a:spcPct val="120000"/>
              </a:lnSpc>
            </a:pPr>
            <a:endParaRPr lang="fr-FR" altLang="fr-FR" sz="1800"/>
          </a:p>
          <a:p>
            <a:pPr>
              <a:lnSpc>
                <a:spcPct val="120000"/>
              </a:lnSpc>
            </a:pPr>
            <a:r>
              <a:rPr lang="fr-FR" altLang="fr-FR" sz="1800"/>
              <a:t>Ce n</a:t>
            </a:r>
            <a:r>
              <a:rPr lang="ja-JP" altLang="fr-FR" sz="1800"/>
              <a:t>’</a:t>
            </a:r>
            <a:r>
              <a:rPr lang="fr-FR" altLang="ja-JP" sz="1800"/>
              <a:t>est pas une bonne idée car :</a:t>
            </a:r>
          </a:p>
          <a:p>
            <a:pPr lvl="2">
              <a:lnSpc>
                <a:spcPct val="120000"/>
              </a:lnSpc>
              <a:buFontTx/>
              <a:buChar char="•"/>
            </a:pPr>
            <a:r>
              <a:rPr lang="fr-FR" altLang="fr-FR" sz="1800"/>
              <a:t> Temps de calcul : calculer A</a:t>
            </a:r>
            <a:r>
              <a:rPr lang="fr-FR" altLang="fr-FR" sz="1800" baseline="30000"/>
              <a:t>-1</a:t>
            </a:r>
            <a:r>
              <a:rPr lang="fr-FR" altLang="fr-FR" sz="1800"/>
              <a:t> c</a:t>
            </a:r>
            <a:r>
              <a:rPr lang="ja-JP" altLang="fr-FR" sz="1800"/>
              <a:t>’</a:t>
            </a:r>
            <a:r>
              <a:rPr lang="fr-FR" altLang="ja-JP" sz="1800"/>
              <a:t>est résoudre n systèmes linéaires</a:t>
            </a:r>
          </a:p>
          <a:p>
            <a:pPr lvl="2">
              <a:lnSpc>
                <a:spcPct val="120000"/>
              </a:lnSpc>
              <a:buFontTx/>
              <a:buChar char="•"/>
            </a:pPr>
            <a:r>
              <a:rPr lang="fr-FR" altLang="fr-FR" sz="1800"/>
              <a:t> Espace mémoire : A très creuse et A</a:t>
            </a:r>
            <a:r>
              <a:rPr lang="fr-FR" altLang="fr-FR" sz="1800" baseline="30000"/>
              <a:t>-1</a:t>
            </a:r>
            <a:r>
              <a:rPr lang="fr-FR" altLang="fr-FR" sz="1800"/>
              <a:t> pleine</a:t>
            </a:r>
          </a:p>
          <a:p>
            <a:pPr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Formule de Cramer ?</a:t>
            </a:r>
          </a:p>
          <a:p>
            <a:pPr>
              <a:lnSpc>
                <a:spcPct val="120000"/>
              </a:lnSpc>
            </a:pPr>
            <a:r>
              <a:rPr lang="fr-FR" altLang="fr-FR" sz="1800"/>
              <a:t>Cramer : calcul </a:t>
            </a:r>
            <a:r>
              <a:rPr lang="fr-FR" altLang="fr-FR" sz="1800" i="1"/>
              <a:t>n</a:t>
            </a:r>
            <a:r>
              <a:rPr lang="fr-FR" altLang="fr-FR" sz="1800"/>
              <a:t>+1 déterminants  	Coût en (n+1)!</a:t>
            </a:r>
          </a:p>
          <a:p>
            <a:pPr>
              <a:lnSpc>
                <a:spcPct val="120000"/>
              </a:lnSpc>
            </a:pPr>
            <a:endParaRPr lang="fr-FR" altLang="fr-FR" sz="1800"/>
          </a:p>
          <a:p>
            <a:pPr>
              <a:lnSpc>
                <a:spcPct val="120000"/>
              </a:lnSpc>
            </a:pPr>
            <a:r>
              <a:rPr lang="fr-FR" altLang="fr-FR" sz="1800"/>
              <a:t>Bonnes méthodes 		Coût en </a:t>
            </a:r>
          </a:p>
          <a:p>
            <a:pPr>
              <a:lnSpc>
                <a:spcPct val="120000"/>
              </a:lnSpc>
            </a:pPr>
            <a:endParaRPr lang="fr-FR" altLang="fr-FR" sz="1800"/>
          </a:p>
          <a:p>
            <a:pPr>
              <a:lnSpc>
                <a:spcPct val="120000"/>
              </a:lnSpc>
            </a:pPr>
            <a:endParaRPr lang="fr-FR" altLang="fr-FR" sz="1800"/>
          </a:p>
          <a:p>
            <a:pPr>
              <a:lnSpc>
                <a:spcPct val="120000"/>
              </a:lnSpc>
            </a:pPr>
            <a:r>
              <a:rPr lang="fr-FR" altLang="fr-FR" sz="1800"/>
              <a:t>Pour n=10, on a 40 millions d</a:t>
            </a:r>
            <a:r>
              <a:rPr lang="ja-JP" altLang="fr-FR" sz="1800"/>
              <a:t>’</a:t>
            </a:r>
            <a:r>
              <a:rPr lang="fr-FR" altLang="ja-JP" sz="1800"/>
              <a:t>opérations pour Cramer contre 333 opérations !!</a:t>
            </a:r>
            <a:endParaRPr lang="fr-FR" altLang="fr-FR" sz="1800"/>
          </a:p>
        </p:txBody>
      </p:sp>
      <p:graphicFrame>
        <p:nvGraphicFramePr>
          <p:cNvPr id="14340" name="Object 20"/>
          <p:cNvGraphicFramePr>
            <a:graphicFrameLocks noChangeAspect="1"/>
          </p:cNvGraphicFramePr>
          <p:nvPr/>
        </p:nvGraphicFramePr>
        <p:xfrm>
          <a:off x="5105400" y="4648200"/>
          <a:ext cx="419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3" imgW="418918" imgH="571252" progId="Equation.3">
                  <p:embed/>
                </p:oleObj>
              </mc:Choice>
              <mc:Fallback>
                <p:oleObj name="Equation" r:id="rId3" imgW="418918" imgH="57125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648200"/>
                        <a:ext cx="419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4C199F8-E284-41D9-80E3-1BC4DF42288E}" type="slidenum">
              <a:rPr lang="fr-FR" altLang="fr-FR" sz="1200"/>
              <a:pPr eaLnBrk="1" hangingPunct="1"/>
              <a:t>2</a:t>
            </a:fld>
            <a:r>
              <a:rPr lang="fr-FR" altLang="fr-FR" sz="1200" b="0"/>
              <a:t>/21</a:t>
            </a:r>
          </a:p>
        </p:txBody>
      </p:sp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2667000" y="152400"/>
            <a:ext cx="6297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Deux familles de méthodes 		(1/2)</a:t>
            </a:r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381000" y="728663"/>
            <a:ext cx="8534400" cy="642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1800" b="1" dirty="0"/>
              <a:t>Méthodes directes les plus connues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800" b="1" dirty="0"/>
          </a:p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 dirty="0"/>
              <a:t> Méthode de Gauss (matrice quelconque)</a:t>
            </a:r>
          </a:p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 dirty="0"/>
              <a:t> Méthode de </a:t>
            </a:r>
            <a:r>
              <a:rPr lang="fr-FR" altLang="fr-FR" sz="1800" dirty="0" err="1"/>
              <a:t>Cholesky-Crout</a:t>
            </a:r>
            <a:r>
              <a:rPr lang="fr-FR" altLang="fr-FR" sz="1800" dirty="0"/>
              <a:t> (matrice symétrique définie positive </a:t>
            </a:r>
            <a:r>
              <a:rPr lang="fr-FR" altLang="fr-FR" sz="1800" dirty="0">
                <a:sym typeface="Symbol" panose="05050102010706020507" pitchFamily="18" charset="2"/>
              </a:rPr>
              <a:t> valeurs propres strictement positives</a:t>
            </a:r>
            <a:r>
              <a:rPr lang="fr-FR" altLang="fr-FR" sz="1800" dirty="0"/>
              <a:t>) </a:t>
            </a:r>
            <a:endParaRPr lang="fr-FR" altLang="fr-FR" sz="1800" dirty="0" smtClean="0"/>
          </a:p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 dirty="0"/>
              <a:t> Méthode de </a:t>
            </a:r>
            <a:r>
              <a:rPr lang="fr-FR" altLang="fr-FR" sz="1800" dirty="0" smtClean="0"/>
              <a:t>factorisation LU </a:t>
            </a:r>
            <a:r>
              <a:rPr lang="fr-FR" altLang="fr-FR" sz="1800" dirty="0"/>
              <a:t>(</a:t>
            </a:r>
            <a:r>
              <a:rPr lang="fr-FR" altLang="fr-FR" sz="1800"/>
              <a:t>matrice </a:t>
            </a:r>
            <a:r>
              <a:rPr lang="fr-FR" altLang="fr-FR" sz="1800" smtClean="0"/>
              <a:t>quelconque) </a:t>
            </a:r>
            <a:endParaRPr lang="fr-FR" altLang="fr-FR" sz="1800" dirty="0"/>
          </a:p>
          <a:p>
            <a:pPr algn="just" eaLnBrk="1" hangingPunct="1">
              <a:lnSpc>
                <a:spcPct val="120000"/>
              </a:lnSpc>
            </a:pPr>
            <a:endParaRPr lang="fr-FR" altLang="fr-FR" sz="1800" dirty="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 dirty="0"/>
              <a:t>La matrice est d</a:t>
            </a:r>
            <a:r>
              <a:rPr lang="ja-JP" altLang="fr-FR" sz="1800" dirty="0"/>
              <a:t>’</a:t>
            </a:r>
            <a:r>
              <a:rPr lang="fr-FR" altLang="ja-JP" sz="1800" dirty="0"/>
              <a:t>abord factorisée en un produit de matrices triangulaires, avant de procéder à la résolution du système linéaire. 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1800" dirty="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 dirty="0"/>
              <a:t>Lors de la factorisation, certains termes sont modifiés n fois (matrice </a:t>
            </a:r>
            <a:r>
              <a:rPr lang="fr-FR" altLang="fr-FR" sz="1800" dirty="0" err="1"/>
              <a:t>dim</a:t>
            </a:r>
            <a:r>
              <a:rPr lang="fr-FR" altLang="fr-FR" sz="1800" dirty="0"/>
              <a:t> </a:t>
            </a:r>
            <a:r>
              <a:rPr lang="fr-FR" altLang="fr-FR" sz="1800" dirty="0" err="1"/>
              <a:t>nxn</a:t>
            </a:r>
            <a:r>
              <a:rPr lang="fr-FR" altLang="fr-FR" sz="1800" dirty="0"/>
              <a:t>) </a:t>
            </a:r>
            <a:r>
              <a:rPr lang="fr-FR" altLang="fr-FR" sz="1800" dirty="0">
                <a:sym typeface="Symbol" panose="05050102010706020507" pitchFamily="18" charset="2"/>
              </a:rPr>
              <a:t></a:t>
            </a:r>
            <a:r>
              <a:rPr lang="fr-FR" altLang="fr-FR" sz="1800" dirty="0">
                <a:sym typeface="Wingdings" panose="05000000000000000000" pitchFamily="2" charset="2"/>
              </a:rPr>
              <a:t> accumulation des erreurs de calculs.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1800" dirty="0"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 dirty="0">
                <a:sym typeface="Wingdings" panose="05000000000000000000" pitchFamily="2" charset="2"/>
              </a:rPr>
              <a:t>L</a:t>
            </a:r>
            <a:r>
              <a:rPr lang="ja-JP" altLang="fr-FR" sz="1800" dirty="0">
                <a:sym typeface="Wingdings" panose="05000000000000000000" pitchFamily="2" charset="2"/>
              </a:rPr>
              <a:t>’</a:t>
            </a:r>
            <a:r>
              <a:rPr lang="fr-FR" altLang="ja-JP" sz="1800" dirty="0">
                <a:sym typeface="Wingdings" panose="05000000000000000000" pitchFamily="2" charset="2"/>
              </a:rPr>
              <a:t>algorithme effectue les mêmes opérations indépendamment des valeurs numériques manipulées </a:t>
            </a:r>
            <a:r>
              <a:rPr lang="fr-FR" altLang="ja-JP" sz="1800" dirty="0">
                <a:sym typeface="Symbol" panose="05050102010706020507" pitchFamily="18" charset="2"/>
              </a:rPr>
              <a:t> 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 dirty="0">
                <a:sym typeface="Symbol" panose="05050102010706020507" pitchFamily="18" charset="2"/>
              </a:rPr>
              <a:t>	</a:t>
            </a:r>
            <a:r>
              <a:rPr lang="fr-FR" altLang="fr-FR" sz="1800" dirty="0">
                <a:sym typeface="Wingdings" panose="05000000000000000000" pitchFamily="2" charset="2"/>
              </a:rPr>
              <a:t>un résultat est toujours obtenu.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 dirty="0">
                <a:sym typeface="Wingdings" panose="05000000000000000000" pitchFamily="2" charset="2"/>
              </a:rPr>
              <a:t>	La durée de calcul est en n</a:t>
            </a:r>
            <a:r>
              <a:rPr lang="fr-FR" altLang="fr-FR" sz="1800" baseline="30000" dirty="0">
                <a:sym typeface="Wingdings" panose="05000000000000000000" pitchFamily="2" charset="2"/>
              </a:rPr>
              <a:t>3</a:t>
            </a:r>
            <a:r>
              <a:rPr lang="fr-FR" altLang="fr-FR" sz="1800" baseline="-25000" dirty="0">
                <a:sym typeface="Wingdings" panose="05000000000000000000" pitchFamily="2" charset="2"/>
              </a:rPr>
              <a:t> </a:t>
            </a:r>
            <a:r>
              <a:rPr lang="fr-FR" altLang="fr-FR" sz="1800" dirty="0">
                <a:sym typeface="Wingdings" panose="05000000000000000000" pitchFamily="2" charset="2"/>
              </a:rPr>
              <a:t>et ne dépend que de n.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8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fr-FR" altLang="fr-FR" sz="1800" dirty="0"/>
              <a:t>Dans le cas de matrices mal conditionnées, la solution risque d</a:t>
            </a:r>
            <a:r>
              <a:rPr lang="ja-JP" altLang="fr-FR" sz="1800" dirty="0"/>
              <a:t>’</a:t>
            </a:r>
            <a:r>
              <a:rPr lang="fr-FR" altLang="ja-JP" sz="1800" dirty="0"/>
              <a:t>être erronée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1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870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CC19932-F8DD-4630-B642-470E07C9B65A}" type="slidenum">
              <a:rPr lang="fr-FR" altLang="fr-FR" sz="1200"/>
              <a:pPr eaLnBrk="1" hangingPunct="1"/>
              <a:t>3</a:t>
            </a:fld>
            <a:r>
              <a:rPr lang="fr-FR" altLang="fr-FR" sz="1200" b="0"/>
              <a:t>/21</a:t>
            </a:r>
          </a:p>
        </p:txBody>
      </p:sp>
      <p:sp>
        <p:nvSpPr>
          <p:cNvPr id="18434" name="Text Box 5"/>
          <p:cNvSpPr txBox="1">
            <a:spLocks noChangeArrowheads="1"/>
          </p:cNvSpPr>
          <p:nvPr/>
        </p:nvSpPr>
        <p:spPr bwMode="auto">
          <a:xfrm>
            <a:off x="2667000" y="152400"/>
            <a:ext cx="6297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Deux familles de méthodes		(2/2)</a:t>
            </a:r>
          </a:p>
        </p:txBody>
      </p:sp>
      <p:sp>
        <p:nvSpPr>
          <p:cNvPr id="18435" name="Rectangle 6"/>
          <p:cNvSpPr>
            <a:spLocks noChangeArrowheads="1"/>
          </p:cNvSpPr>
          <p:nvPr/>
        </p:nvSpPr>
        <p:spPr bwMode="auto">
          <a:xfrm>
            <a:off x="381000" y="619125"/>
            <a:ext cx="853440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1800" b="1"/>
              <a:t>Méthodes itératives les plus connues: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1800" b="1"/>
          </a:p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Méthode du gradient (matrice symétrique définie positive)</a:t>
            </a:r>
            <a:endParaRPr lang="fr-FR" altLang="fr-FR" sz="1800" b="1"/>
          </a:p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Méthode du gradient conjugué (matrice symétrique définie positive)</a:t>
            </a:r>
          </a:p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Méthode du bi-gradient conjugué (matrice quelconque)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1800" b="1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Partant qu</a:t>
            </a:r>
            <a:r>
              <a:rPr lang="ja-JP" altLang="fr-FR" sz="1800"/>
              <a:t>’</a:t>
            </a:r>
            <a:r>
              <a:rPr lang="fr-FR" altLang="ja-JP" sz="1800"/>
              <a:t>un vecteur </a:t>
            </a:r>
            <a:r>
              <a:rPr lang="fr-FR" altLang="ja-JP" sz="1800" b="1"/>
              <a:t>x</a:t>
            </a:r>
            <a:r>
              <a:rPr lang="fr-FR" altLang="ja-JP" sz="1800" baseline="-25000"/>
              <a:t>0</a:t>
            </a:r>
            <a:r>
              <a:rPr lang="fr-FR" altLang="ja-JP" sz="1800"/>
              <a:t> , Il s</a:t>
            </a:r>
            <a:r>
              <a:rPr lang="ja-JP" altLang="fr-FR" sz="1800"/>
              <a:t>’</a:t>
            </a:r>
            <a:r>
              <a:rPr lang="fr-FR" altLang="ja-JP" sz="1800"/>
              <a:t>agit de construire une suite de vecteurs </a:t>
            </a:r>
            <a:r>
              <a:rPr lang="fr-FR" altLang="ja-JP" sz="1800" b="1"/>
              <a:t>x</a:t>
            </a:r>
            <a:r>
              <a:rPr lang="fr-FR" altLang="ja-JP" sz="1800" baseline="-25000"/>
              <a:t>p </a:t>
            </a:r>
            <a:r>
              <a:rPr lang="fr-FR" altLang="ja-JP" sz="1800"/>
              <a:t>de manière récurrente permettant de s</a:t>
            </a:r>
            <a:r>
              <a:rPr lang="ja-JP" altLang="fr-FR" sz="1800"/>
              <a:t>’</a:t>
            </a:r>
            <a:r>
              <a:rPr lang="fr-FR" altLang="ja-JP" sz="1800"/>
              <a:t>approcher à chaque itération de la solution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La procédure s</a:t>
            </a:r>
            <a:r>
              <a:rPr lang="ja-JP" altLang="fr-FR" sz="1800"/>
              <a:t>’</a:t>
            </a:r>
            <a:r>
              <a:rPr lang="fr-FR" altLang="ja-JP" sz="1800"/>
              <a:t>arrête d</a:t>
            </a:r>
            <a:r>
              <a:rPr lang="ja-JP" altLang="fr-FR" sz="1800"/>
              <a:t>’</a:t>
            </a:r>
            <a:r>
              <a:rPr lang="fr-FR" altLang="ja-JP" sz="1800"/>
              <a:t>après le critère :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algorithme peut ne pas converger s</a:t>
            </a:r>
            <a:r>
              <a:rPr lang="ja-JP" altLang="fr-FR" sz="1800"/>
              <a:t>’</a:t>
            </a:r>
            <a:r>
              <a:rPr lang="fr-FR" altLang="ja-JP" sz="1800"/>
              <a:t>il n</a:t>
            </a:r>
            <a:r>
              <a:rPr lang="ja-JP" altLang="fr-FR" sz="1800"/>
              <a:t>’</a:t>
            </a:r>
            <a:r>
              <a:rPr lang="fr-FR" altLang="ja-JP" sz="1800"/>
              <a:t>est pas adapté à la structure de la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matrice ou si elle est mal conditionnée.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	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Mais si une solution est trouvée elle est nécessairement valide compte tenu de la précision relative demandée</a:t>
            </a:r>
          </a:p>
        </p:txBody>
      </p:sp>
      <p:graphicFrame>
        <p:nvGraphicFramePr>
          <p:cNvPr id="18436" name="Object 9"/>
          <p:cNvGraphicFramePr>
            <a:graphicFrameLocks noChangeAspect="1"/>
          </p:cNvGraphicFramePr>
          <p:nvPr/>
        </p:nvGraphicFramePr>
        <p:xfrm>
          <a:off x="4927600" y="3362325"/>
          <a:ext cx="251301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1396394" imgH="545863" progId="Equation.DSMT4">
                  <p:embed/>
                </p:oleObj>
              </mc:Choice>
              <mc:Fallback>
                <p:oleObj name="Equation" r:id="rId3" imgW="1396394" imgH="545863" progId="Equation.DSMT4">
                  <p:embed/>
                  <p:pic>
                    <p:nvPicPr>
                      <p:cNvPr id="1843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3362325"/>
                        <a:ext cx="2513013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679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3B85C0A-8CF4-4171-B3D5-CA0334BBFFC6}" type="slidenum">
              <a:rPr lang="fr-FR" altLang="fr-FR" sz="1200"/>
              <a:pPr eaLnBrk="1" hangingPunct="1"/>
              <a:t>4</a:t>
            </a:fld>
            <a:r>
              <a:rPr lang="fr-FR" altLang="fr-FR" sz="1200" b="0"/>
              <a:t>/21</a:t>
            </a:r>
          </a:p>
        </p:txBody>
      </p:sp>
      <p:sp>
        <p:nvSpPr>
          <p:cNvPr id="15362" name="Text Box 21"/>
          <p:cNvSpPr txBox="1">
            <a:spLocks noChangeArrowheads="1"/>
          </p:cNvSpPr>
          <p:nvPr/>
        </p:nvSpPr>
        <p:spPr bwMode="auto">
          <a:xfrm>
            <a:off x="762000" y="2819400"/>
            <a:ext cx="5248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 dirty="0"/>
              <a:t>Matrice triangulaire supérieure U</a:t>
            </a:r>
            <a:r>
              <a:rPr lang="fr-FR" altLang="fr-FR" sz="1800" dirty="0"/>
              <a:t> : A=(</a:t>
            </a:r>
            <a:r>
              <a:rPr lang="fr-FR" altLang="fr-FR" sz="1800" dirty="0" err="1"/>
              <a:t>a</a:t>
            </a:r>
            <a:r>
              <a:rPr lang="fr-FR" altLang="fr-FR" sz="1800" baseline="-25000" dirty="0" err="1"/>
              <a:t>ij</a:t>
            </a:r>
            <a:r>
              <a:rPr lang="fr-FR" altLang="fr-FR" sz="1800" dirty="0"/>
              <a:t>) avec  </a:t>
            </a:r>
          </a:p>
          <a:p>
            <a:pPr eaLnBrk="1" hangingPunct="1"/>
            <a:r>
              <a:rPr lang="fr-FR" altLang="fr-FR" sz="1800" dirty="0" smtClean="0"/>
              <a:t>Méthode </a:t>
            </a:r>
            <a:r>
              <a:rPr lang="fr-FR" altLang="fr-FR" sz="1800" dirty="0"/>
              <a:t>de remontée :</a:t>
            </a:r>
          </a:p>
        </p:txBody>
      </p:sp>
      <p:graphicFrame>
        <p:nvGraphicFramePr>
          <p:cNvPr id="15363" name="Object 9"/>
          <p:cNvGraphicFramePr>
            <a:graphicFrameLocks noChangeAspect="1"/>
          </p:cNvGraphicFramePr>
          <p:nvPr/>
        </p:nvGraphicFramePr>
        <p:xfrm>
          <a:off x="4343400" y="676275"/>
          <a:ext cx="18827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3" imgW="1879600" imgH="647700" progId="Equation.3">
                  <p:embed/>
                </p:oleObj>
              </mc:Choice>
              <mc:Fallback>
                <p:oleObj name="Equation" r:id="rId3" imgW="1879600" imgH="647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676275"/>
                        <a:ext cx="188277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8"/>
          <p:cNvGraphicFramePr>
            <a:graphicFrameLocks noChangeAspect="1"/>
          </p:cNvGraphicFramePr>
          <p:nvPr/>
        </p:nvGraphicFramePr>
        <p:xfrm>
          <a:off x="3962400" y="2428875"/>
          <a:ext cx="116522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Equation" r:id="rId5" imgW="1167893" imgH="304668" progId="Equation.3">
                  <p:embed/>
                </p:oleObj>
              </mc:Choice>
              <mc:Fallback>
                <p:oleObj name="Equation" r:id="rId5" imgW="1167893" imgH="30466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428875"/>
                        <a:ext cx="116522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149117"/>
              </p:ext>
            </p:extLst>
          </p:nvPr>
        </p:nvGraphicFramePr>
        <p:xfrm>
          <a:off x="5889625" y="2852738"/>
          <a:ext cx="15779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Equation" r:id="rId7" imgW="1574800" imgH="342900" progId="Equation.DSMT4">
                  <p:embed/>
                </p:oleObj>
              </mc:Choice>
              <mc:Fallback>
                <p:oleObj name="Equation" r:id="rId7" imgW="1574800" imgH="342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5" y="2852738"/>
                        <a:ext cx="157797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344772"/>
              </p:ext>
            </p:extLst>
          </p:nvPr>
        </p:nvGraphicFramePr>
        <p:xfrm>
          <a:off x="7607300" y="2892425"/>
          <a:ext cx="10033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Equation" r:id="rId9" imgW="1002865" imgH="304668" progId="Equation.3">
                  <p:embed/>
                </p:oleObj>
              </mc:Choice>
              <mc:Fallback>
                <p:oleObj name="Equation" r:id="rId9" imgW="1002865" imgH="30466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2892425"/>
                        <a:ext cx="1003300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13"/>
          <p:cNvSpPr>
            <a:spLocks noChangeArrowheads="1"/>
          </p:cNvSpPr>
          <p:nvPr/>
        </p:nvSpPr>
        <p:spPr bwMode="auto">
          <a:xfrm>
            <a:off x="1828800" y="1287463"/>
            <a:ext cx="54737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Code Matlab de résolution :</a:t>
            </a:r>
          </a:p>
          <a:p>
            <a:pPr eaLnBrk="1" hangingPunct="1"/>
            <a:endParaRPr lang="fr-FR" altLang="fr-FR" sz="1800"/>
          </a:p>
          <a:p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x = b./D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%vec D = diag(A)</a:t>
            </a:r>
            <a:endParaRPr lang="fr-FR" altLang="fr-FR" sz="1800"/>
          </a:p>
          <a:p>
            <a:endParaRPr lang="fr-FR" altLang="fr-FR" sz="1800" i="1"/>
          </a:p>
          <a:p>
            <a:r>
              <a:rPr lang="fr-FR" altLang="fr-FR" sz="1800"/>
              <a:t>Algébriquement :  		pour </a:t>
            </a:r>
            <a:r>
              <a:rPr lang="fr-FR" altLang="fr-FR" sz="1800" i="1"/>
              <a:t>k</a:t>
            </a:r>
            <a:r>
              <a:rPr lang="fr-FR" altLang="fr-FR" sz="1800"/>
              <a:t> = 1,2,…</a:t>
            </a:r>
            <a:r>
              <a:rPr lang="fr-FR" altLang="fr-FR" sz="1800" i="1"/>
              <a:t>n</a:t>
            </a:r>
            <a:endParaRPr lang="fr-FR" altLang="fr-FR" sz="1800"/>
          </a:p>
          <a:p>
            <a:endParaRPr lang="fr-FR" altLang="fr-FR" sz="1800"/>
          </a:p>
        </p:txBody>
      </p:sp>
      <p:sp>
        <p:nvSpPr>
          <p:cNvPr id="15368" name="Text Box 19"/>
          <p:cNvSpPr txBox="1">
            <a:spLocks noChangeArrowheads="1"/>
          </p:cNvSpPr>
          <p:nvPr/>
        </p:nvSpPr>
        <p:spPr bwMode="auto">
          <a:xfrm>
            <a:off x="1828800" y="152400"/>
            <a:ext cx="5468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Deux cas simples (et fondamentaux)</a:t>
            </a:r>
          </a:p>
        </p:txBody>
      </p:sp>
      <p:sp>
        <p:nvSpPr>
          <p:cNvPr id="15369" name="Text Box 20"/>
          <p:cNvSpPr txBox="1">
            <a:spLocks noChangeArrowheads="1"/>
          </p:cNvSpPr>
          <p:nvPr/>
        </p:nvSpPr>
        <p:spPr bwMode="auto">
          <a:xfrm>
            <a:off x="847725" y="788988"/>
            <a:ext cx="3546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Matrice diagonale</a:t>
            </a:r>
            <a:r>
              <a:rPr lang="fr-FR" altLang="fr-FR" sz="1800"/>
              <a:t> : A=(a</a:t>
            </a:r>
            <a:r>
              <a:rPr lang="fr-FR" altLang="fr-FR" sz="1800" baseline="-25000"/>
              <a:t>ij</a:t>
            </a:r>
            <a:r>
              <a:rPr lang="fr-FR" altLang="fr-FR" sz="1800"/>
              <a:t>) avec </a:t>
            </a:r>
          </a:p>
        </p:txBody>
      </p:sp>
      <p:graphicFrame>
        <p:nvGraphicFramePr>
          <p:cNvPr id="153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047883"/>
              </p:ext>
            </p:extLst>
          </p:nvPr>
        </p:nvGraphicFramePr>
        <p:xfrm>
          <a:off x="1865313" y="3425825"/>
          <a:ext cx="5602287" cy="232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Equation" r:id="rId11" imgW="3111480" imgH="1295280" progId="Equation.DSMT4">
                  <p:embed/>
                </p:oleObj>
              </mc:Choice>
              <mc:Fallback>
                <p:oleObj name="Equation" r:id="rId11" imgW="3111480" imgH="1295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313" y="3425825"/>
                        <a:ext cx="5602287" cy="232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Rectangle 26"/>
          <p:cNvSpPr>
            <a:spLocks noChangeArrowheads="1"/>
          </p:cNvSpPr>
          <p:nvPr/>
        </p:nvSpPr>
        <p:spPr bwMode="auto">
          <a:xfrm>
            <a:off x="457200" y="5637213"/>
            <a:ext cx="12255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800"/>
              <a:t>Pour n :</a:t>
            </a:r>
          </a:p>
          <a:p>
            <a:pPr eaLnBrk="1" hangingPunct="1"/>
            <a:endParaRPr lang="fr-FR" altLang="ja-JP" sz="1800"/>
          </a:p>
          <a:p>
            <a:pPr eaLnBrk="1" hangingPunct="1"/>
            <a:r>
              <a:rPr lang="fr-FR" altLang="ja-JP" sz="1800"/>
              <a:t>pour n-1 : </a:t>
            </a:r>
          </a:p>
        </p:txBody>
      </p:sp>
      <p:sp>
        <p:nvSpPr>
          <p:cNvPr id="15374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15375" name="Object 27"/>
          <p:cNvGraphicFramePr>
            <a:graphicFrameLocks noChangeAspect="1"/>
          </p:cNvGraphicFramePr>
          <p:nvPr/>
        </p:nvGraphicFramePr>
        <p:xfrm>
          <a:off x="1600200" y="6172200"/>
          <a:ext cx="242887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Equation" r:id="rId13" imgW="1612900" imgH="241300" progId="Equation.DSMT4">
                  <p:embed/>
                </p:oleObj>
              </mc:Choice>
              <mc:Fallback>
                <p:oleObj name="Equation" r:id="rId13" imgW="1612900" imgH="2413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6172200"/>
                        <a:ext cx="242887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6" name="Object 29"/>
          <p:cNvGraphicFramePr>
            <a:graphicFrameLocks noChangeAspect="1"/>
          </p:cNvGraphicFramePr>
          <p:nvPr/>
        </p:nvGraphicFramePr>
        <p:xfrm>
          <a:off x="4876800" y="6040438"/>
          <a:ext cx="265271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Equation" r:id="rId15" imgW="1764534" imgH="444307" progId="Equation.DSMT4">
                  <p:embed/>
                </p:oleObj>
              </mc:Choice>
              <mc:Fallback>
                <p:oleObj name="Equation" r:id="rId15" imgW="1764534" imgH="444307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040438"/>
                        <a:ext cx="265271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32"/>
          <p:cNvGraphicFramePr>
            <a:graphicFrameLocks noChangeAspect="1"/>
          </p:cNvGraphicFramePr>
          <p:nvPr/>
        </p:nvGraphicFramePr>
        <p:xfrm>
          <a:off x="1447800" y="5657850"/>
          <a:ext cx="11445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Equation" r:id="rId17" imgW="761669" imgH="241195" progId="Equation.DSMT4">
                  <p:embed/>
                </p:oleObj>
              </mc:Choice>
              <mc:Fallback>
                <p:oleObj name="Equation" r:id="rId17" imgW="761669" imgH="24119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657850"/>
                        <a:ext cx="1144588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AutoShape 33"/>
          <p:cNvSpPr>
            <a:spLocks noChangeArrowheads="1"/>
          </p:cNvSpPr>
          <p:nvPr/>
        </p:nvSpPr>
        <p:spPr bwMode="auto">
          <a:xfrm>
            <a:off x="4343400" y="6324600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D770CB2-57FD-47C8-B0E6-B02F1BE81B1D}" type="slidenum">
              <a:rPr lang="fr-FR" altLang="fr-FR" sz="1200"/>
              <a:pPr eaLnBrk="1" hangingPunct="1"/>
              <a:t>5</a:t>
            </a:fld>
            <a:r>
              <a:rPr lang="fr-FR" altLang="fr-FR" sz="1200" b="0"/>
              <a:t>/21</a:t>
            </a: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226973"/>
              </p:ext>
            </p:extLst>
          </p:nvPr>
        </p:nvGraphicFramePr>
        <p:xfrm>
          <a:off x="457200" y="1409700"/>
          <a:ext cx="4413250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3" imgW="2450880" imgH="1295280" progId="Equation.DSMT4">
                  <p:embed/>
                </p:oleObj>
              </mc:Choice>
              <mc:Fallback>
                <p:oleObj name="Equation" r:id="rId3" imgW="2450880" imgH="12952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09700"/>
                        <a:ext cx="4413250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533400" y="3886200"/>
            <a:ext cx="297815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sz="1800"/>
              <a:t>Code Matlab de résolution :</a:t>
            </a:r>
          </a:p>
          <a:p>
            <a:pPr eaLnBrk="1" hangingPunct="1"/>
            <a:endParaRPr lang="fr-FR" altLang="fr-FR" sz="1800"/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A =[1 2 3;</a:t>
            </a:r>
            <a:endParaRPr lang="en-GB" altLang="fr-FR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0 1 1; </a:t>
            </a:r>
            <a:endParaRPr lang="en-GB" altLang="fr-FR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0 0 2];</a:t>
            </a:r>
            <a:endParaRPr lang="en-GB" altLang="fr-FR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GB" altLang="fr-FR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b =[1 2 3]';</a:t>
            </a:r>
          </a:p>
        </p:txBody>
      </p:sp>
      <p:graphicFrame>
        <p:nvGraphicFramePr>
          <p:cNvPr id="16388" name="Object 3"/>
          <p:cNvGraphicFramePr>
            <a:graphicFrameLocks noChangeAspect="1"/>
          </p:cNvGraphicFramePr>
          <p:nvPr/>
        </p:nvGraphicFramePr>
        <p:xfrm>
          <a:off x="5791200" y="2057400"/>
          <a:ext cx="27463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Equation" r:id="rId5" imgW="1524000" imgH="457200" progId="Equation.DSMT4">
                  <p:embed/>
                </p:oleObj>
              </mc:Choice>
              <mc:Fallback>
                <p:oleObj name="Equation" r:id="rId5" imgW="15240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057400"/>
                        <a:ext cx="27463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1828800" y="152400"/>
            <a:ext cx="5468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Deux cas simples (et fondamentaux)</a:t>
            </a:r>
          </a:p>
        </p:txBody>
      </p:sp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914400" y="838200"/>
            <a:ext cx="6242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Matrice triangulaire supérieure U</a:t>
            </a:r>
            <a:r>
              <a:rPr lang="fr-FR" altLang="fr-FR" sz="1800"/>
              <a:t> : Méthode de remontée 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6392" name="Text Box 14"/>
          <p:cNvSpPr txBox="1">
            <a:spLocks noChangeArrowheads="1"/>
          </p:cNvSpPr>
          <p:nvPr/>
        </p:nvSpPr>
        <p:spPr bwMode="auto">
          <a:xfrm>
            <a:off x="5410200" y="1636713"/>
            <a:ext cx="2563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k=n-1 à 1 (pas -1)</a:t>
            </a:r>
          </a:p>
        </p:txBody>
      </p:sp>
      <p:sp>
        <p:nvSpPr>
          <p:cNvPr id="16393" name="Text Box 15"/>
          <p:cNvSpPr txBox="1">
            <a:spLocks noChangeArrowheads="1"/>
          </p:cNvSpPr>
          <p:nvPr/>
        </p:nvSpPr>
        <p:spPr bwMode="auto">
          <a:xfrm>
            <a:off x="5410200" y="2895600"/>
            <a:ext cx="120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Fin pour k</a:t>
            </a:r>
          </a:p>
        </p:txBody>
      </p:sp>
      <p:sp>
        <p:nvSpPr>
          <p:cNvPr id="16394" name="Rectangle 16"/>
          <p:cNvSpPr>
            <a:spLocks noChangeArrowheads="1"/>
          </p:cNvSpPr>
          <p:nvPr/>
        </p:nvSpPr>
        <p:spPr bwMode="auto">
          <a:xfrm>
            <a:off x="4343400" y="4019550"/>
            <a:ext cx="3597275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n = size(A,1);</a:t>
            </a:r>
            <a:endParaRPr lang="en-GB" altLang="fr-FR" sz="1800"/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x = zeros(n,1);</a:t>
            </a:r>
            <a:endParaRPr lang="en-GB" altLang="fr-FR" sz="1800"/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GB" altLang="fr-FR" sz="1800"/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x(n)=b(n)/A(n,n);</a:t>
            </a:r>
            <a:endParaRPr lang="en-GB" altLang="fr-FR" sz="1800"/>
          </a:p>
          <a:p>
            <a:r>
              <a:rPr lang="en-GB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k = n-1:-1:1</a:t>
            </a:r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l=k+1:n;</a:t>
            </a:r>
            <a:endParaRPr lang="en-GB" altLang="fr-FR" sz="1800"/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v=A(k,l)*x(l);</a:t>
            </a:r>
            <a:endParaRPr lang="en-GB" altLang="fr-FR" sz="1800"/>
          </a:p>
          <a:p>
            <a:r>
              <a:rPr lang="en-GB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x(k)=(b(k)-v)/A(k,k);</a:t>
            </a:r>
            <a:endParaRPr lang="en-GB" altLang="fr-FR" sz="1800"/>
          </a:p>
          <a:p>
            <a:r>
              <a:rPr lang="en-GB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  <p:grpSp>
        <p:nvGrpSpPr>
          <p:cNvPr id="16395" name="Group 20"/>
          <p:cNvGrpSpPr>
            <a:grpSpLocks/>
          </p:cNvGrpSpPr>
          <p:nvPr/>
        </p:nvGrpSpPr>
        <p:grpSpPr bwMode="auto">
          <a:xfrm>
            <a:off x="7315200" y="2895600"/>
            <a:ext cx="609600" cy="2971800"/>
            <a:chOff x="4800" y="1824"/>
            <a:chExt cx="384" cy="1872"/>
          </a:xfrm>
        </p:grpSpPr>
        <p:sp>
          <p:nvSpPr>
            <p:cNvPr id="16397" name="Line 18"/>
            <p:cNvSpPr>
              <a:spLocks noChangeShapeType="1"/>
            </p:cNvSpPr>
            <p:nvPr/>
          </p:nvSpPr>
          <p:spPr bwMode="auto">
            <a:xfrm>
              <a:off x="4800" y="3696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398" name="Line 19"/>
            <p:cNvSpPr>
              <a:spLocks noChangeShapeType="1"/>
            </p:cNvSpPr>
            <p:nvPr/>
          </p:nvSpPr>
          <p:spPr bwMode="auto">
            <a:xfrm flipV="1">
              <a:off x="5184" y="1824"/>
              <a:ext cx="0" cy="18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16396" name="Object 4"/>
          <p:cNvGraphicFramePr>
            <a:graphicFrameLocks noChangeAspect="1"/>
          </p:cNvGraphicFramePr>
          <p:nvPr/>
        </p:nvGraphicFramePr>
        <p:xfrm>
          <a:off x="5430838" y="1284288"/>
          <a:ext cx="13747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quation" r:id="rId7" imgW="761669" imgH="241195" progId="Equation.DSMT4">
                  <p:embed/>
                </p:oleObj>
              </mc:Choice>
              <mc:Fallback>
                <p:oleObj name="Equation" r:id="rId7" imgW="761669" imgH="24119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838" y="1284288"/>
                        <a:ext cx="137477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8A29F80-9FE6-4A07-8937-E24994D3DC01}" type="slidenum">
              <a:rPr lang="fr-FR" altLang="fr-FR" sz="1200"/>
              <a:pPr eaLnBrk="1" hangingPunct="1"/>
              <a:t>6</a:t>
            </a:fld>
            <a:r>
              <a:rPr lang="fr-FR" altLang="fr-FR" sz="1200" b="0"/>
              <a:t>/21</a:t>
            </a:r>
          </a:p>
        </p:txBody>
      </p:sp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457200" y="1042988"/>
            <a:ext cx="8305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fr-FR" altLang="fr-FR" sz="1800"/>
              <a:t>Etape 1 :</a:t>
            </a:r>
            <a:r>
              <a:rPr lang="fr-FR" altLang="fr-FR" sz="1800" b="1"/>
              <a:t> factorisation de la matrice A</a:t>
            </a:r>
            <a:endParaRPr lang="fr-FR" altLang="fr-FR" sz="1800"/>
          </a:p>
          <a:p>
            <a:pPr>
              <a:lnSpc>
                <a:spcPct val="150000"/>
              </a:lnSpc>
            </a:pPr>
            <a:r>
              <a:rPr lang="fr-FR" altLang="fr-FR" sz="1800"/>
              <a:t>La matrice A est décomposée en un produit de matrices simples à inverser.</a:t>
            </a:r>
          </a:p>
          <a:p>
            <a:pPr>
              <a:lnSpc>
                <a:spcPct val="120000"/>
              </a:lnSpc>
            </a:pPr>
            <a:r>
              <a:rPr lang="fr-FR" altLang="fr-FR" sz="1800"/>
              <a:t>	Par exemple A=LU avec L et U triangulaires respectivement </a:t>
            </a:r>
          </a:p>
          <a:p>
            <a:pPr>
              <a:lnSpc>
                <a:spcPct val="120000"/>
              </a:lnSpc>
            </a:pPr>
            <a:r>
              <a:rPr lang="fr-FR" altLang="fr-FR" sz="1800"/>
              <a:t>	inférieure et supérieure.</a:t>
            </a:r>
          </a:p>
          <a:p>
            <a:pPr>
              <a:lnSpc>
                <a:spcPct val="120000"/>
              </a:lnSpc>
            </a:pPr>
            <a:endParaRPr lang="fr-FR" altLang="fr-FR" sz="1800"/>
          </a:p>
          <a:p>
            <a:pPr>
              <a:lnSpc>
                <a:spcPct val="150000"/>
              </a:lnSpc>
            </a:pPr>
            <a:r>
              <a:rPr lang="fr-FR" altLang="fr-FR" sz="1800"/>
              <a:t>Etape 2 : </a:t>
            </a:r>
            <a:r>
              <a:rPr lang="fr-FR" altLang="fr-FR" sz="1800" b="1"/>
              <a:t>résolution</a:t>
            </a:r>
            <a:r>
              <a:rPr lang="fr-FR" altLang="fr-FR" sz="1800"/>
              <a:t>	</a:t>
            </a:r>
          </a:p>
          <a:p>
            <a:pPr>
              <a:lnSpc>
                <a:spcPct val="150000"/>
              </a:lnSpc>
            </a:pPr>
            <a:r>
              <a:rPr lang="fr-FR" altLang="fr-FR" sz="1800"/>
              <a:t>A partir de la factorisation (puisque c</a:t>
            </a:r>
            <a:r>
              <a:rPr lang="ja-JP" altLang="fr-FR" sz="1800"/>
              <a:t>’</a:t>
            </a:r>
            <a:r>
              <a:rPr lang="fr-FR" altLang="ja-JP" sz="1800"/>
              <a:t>est simple !).</a:t>
            </a:r>
            <a:endParaRPr lang="fr-FR" altLang="fr-FR" sz="1800">
              <a:sym typeface="Wingdings 3" panose="05040102010807070707" pitchFamily="18" charset="2"/>
            </a:endParaRPr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2667000" y="152400"/>
            <a:ext cx="477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Principe des méthodes directes</a:t>
            </a:r>
          </a:p>
        </p:txBody>
      </p:sp>
      <p:sp>
        <p:nvSpPr>
          <p:cNvPr id="19460" name="Rectangle 11"/>
          <p:cNvSpPr>
            <a:spLocks noChangeArrowheads="1"/>
          </p:cNvSpPr>
          <p:nvPr/>
        </p:nvSpPr>
        <p:spPr bwMode="auto">
          <a:xfrm>
            <a:off x="225425" y="4959350"/>
            <a:ext cx="2047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600"/>
              <a:t> </a:t>
            </a:r>
            <a:endParaRPr lang="fr-FR" altLang="fr-FR" sz="1800"/>
          </a:p>
        </p:txBody>
      </p:sp>
      <p:sp>
        <p:nvSpPr>
          <p:cNvPr id="19461" name="Rectangle 14"/>
          <p:cNvSpPr>
            <a:spLocks noChangeArrowheads="1"/>
          </p:cNvSpPr>
          <p:nvPr/>
        </p:nvSpPr>
        <p:spPr bwMode="auto"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19462" name="Object 15"/>
          <p:cNvGraphicFramePr>
            <a:graphicFrameLocks noChangeAspect="1"/>
          </p:cNvGraphicFramePr>
          <p:nvPr/>
        </p:nvGraphicFramePr>
        <p:xfrm>
          <a:off x="1981200" y="3810000"/>
          <a:ext cx="26098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Equation" r:id="rId3" imgW="1447172" imgH="203112" progId="Equation.DSMT4">
                  <p:embed/>
                </p:oleObj>
              </mc:Choice>
              <mc:Fallback>
                <p:oleObj name="Equation" r:id="rId3" imgW="1447172" imgH="20311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810000"/>
                        <a:ext cx="260985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16"/>
          <p:cNvSpPr txBox="1">
            <a:spLocks noChangeArrowheads="1"/>
          </p:cNvSpPr>
          <p:nvPr/>
        </p:nvSpPr>
        <p:spPr bwMode="auto">
          <a:xfrm>
            <a:off x="974725" y="437991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posant</a:t>
            </a:r>
          </a:p>
        </p:txBody>
      </p:sp>
      <p:graphicFrame>
        <p:nvGraphicFramePr>
          <p:cNvPr id="19464" name="Object 17"/>
          <p:cNvGraphicFramePr>
            <a:graphicFrameLocks noChangeAspect="1"/>
          </p:cNvGraphicFramePr>
          <p:nvPr/>
        </p:nvGraphicFramePr>
        <p:xfrm>
          <a:off x="2209800" y="4419600"/>
          <a:ext cx="48561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Equation" r:id="rId5" imgW="2692400" imgH="457200" progId="Equation.DSMT4">
                  <p:embed/>
                </p:oleObj>
              </mc:Choice>
              <mc:Fallback>
                <p:oleObj name="Equation" r:id="rId5" imgW="2692400" imgH="45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19600"/>
                        <a:ext cx="48561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19"/>
          <p:cNvGraphicFramePr>
            <a:graphicFrameLocks noChangeAspect="1"/>
          </p:cNvGraphicFramePr>
          <p:nvPr/>
        </p:nvGraphicFramePr>
        <p:xfrm>
          <a:off x="2743200" y="5334000"/>
          <a:ext cx="42132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Equation" r:id="rId7" imgW="2336800" imgH="254000" progId="Equation.DSMT4">
                  <p:embed/>
                </p:oleObj>
              </mc:Choice>
              <mc:Fallback>
                <p:oleObj name="Equation" r:id="rId7" imgW="23368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334000"/>
                        <a:ext cx="42132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55728B8-845F-4955-8115-3CEF9A6E7804}" type="slidenum">
              <a:rPr lang="fr-FR" altLang="fr-FR" sz="1200"/>
              <a:pPr eaLnBrk="1" hangingPunct="1"/>
              <a:t>7</a:t>
            </a:fld>
            <a:r>
              <a:rPr lang="fr-FR" altLang="fr-FR" sz="1200" b="0"/>
              <a:t>/21</a:t>
            </a:r>
          </a:p>
        </p:txBody>
      </p:sp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2667000" y="152400"/>
            <a:ext cx="477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Principe des méthodes directes</a:t>
            </a:r>
          </a:p>
        </p:txBody>
      </p:sp>
      <p:graphicFrame>
        <p:nvGraphicFramePr>
          <p:cNvPr id="2048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494093"/>
              </p:ext>
            </p:extLst>
          </p:nvPr>
        </p:nvGraphicFramePr>
        <p:xfrm>
          <a:off x="1066800" y="1058863"/>
          <a:ext cx="4243388" cy="233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3" imgW="2361960" imgH="1295280" progId="Equation.DSMT4">
                  <p:embed/>
                </p:oleObj>
              </mc:Choice>
              <mc:Fallback>
                <p:oleObj name="Equation" r:id="rId3" imgW="2361960" imgH="12952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058863"/>
                        <a:ext cx="4243388" cy="233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6"/>
          <p:cNvSpPr>
            <a:spLocks noChangeArrowheads="1"/>
          </p:cNvSpPr>
          <p:nvPr/>
        </p:nvSpPr>
        <p:spPr bwMode="auto">
          <a:xfrm>
            <a:off x="990600" y="609600"/>
            <a:ext cx="598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Matrice triangulaire inférieure L</a:t>
            </a:r>
            <a:r>
              <a:rPr lang="fr-FR" altLang="fr-FR" sz="1800"/>
              <a:t> : méthode de descente</a:t>
            </a:r>
          </a:p>
        </p:txBody>
      </p:sp>
      <p:graphicFrame>
        <p:nvGraphicFramePr>
          <p:cNvPr id="2048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05215"/>
              </p:ext>
            </p:extLst>
          </p:nvPr>
        </p:nvGraphicFramePr>
        <p:xfrm>
          <a:off x="6096000" y="1676400"/>
          <a:ext cx="29019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Equation" r:id="rId5" imgW="1612800" imgH="469800" progId="Equation.DSMT4">
                  <p:embed/>
                </p:oleObj>
              </mc:Choice>
              <mc:Fallback>
                <p:oleObj name="Equation" r:id="rId5" imgW="1612800" imgH="469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76400"/>
                        <a:ext cx="29019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14"/>
          <p:cNvSpPr txBox="1">
            <a:spLocks noChangeArrowheads="1"/>
          </p:cNvSpPr>
          <p:nvPr/>
        </p:nvSpPr>
        <p:spPr bwMode="auto">
          <a:xfrm>
            <a:off x="5829300" y="1371600"/>
            <a:ext cx="1500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k=2 à n</a:t>
            </a:r>
          </a:p>
        </p:txBody>
      </p:sp>
      <p:sp>
        <p:nvSpPr>
          <p:cNvPr id="20487" name="Text Box 15"/>
          <p:cNvSpPr txBox="1">
            <a:spLocks noChangeArrowheads="1"/>
          </p:cNvSpPr>
          <p:nvPr/>
        </p:nvSpPr>
        <p:spPr bwMode="auto">
          <a:xfrm>
            <a:off x="5867400" y="2528888"/>
            <a:ext cx="1200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Fin pour k</a:t>
            </a:r>
          </a:p>
        </p:txBody>
      </p:sp>
      <p:sp>
        <p:nvSpPr>
          <p:cNvPr id="20488" name="Rectangle 16"/>
          <p:cNvSpPr>
            <a:spLocks noChangeArrowheads="1"/>
          </p:cNvSpPr>
          <p:nvPr/>
        </p:nvSpPr>
        <p:spPr bwMode="auto">
          <a:xfrm>
            <a:off x="1066800" y="3671888"/>
            <a:ext cx="297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sz="1800"/>
              <a:t>Code Matlab de résolution :</a:t>
            </a:r>
          </a:p>
        </p:txBody>
      </p:sp>
      <p:sp>
        <p:nvSpPr>
          <p:cNvPr id="20489" name="Text Box 17"/>
          <p:cNvSpPr txBox="1">
            <a:spLocks noChangeArrowheads="1"/>
          </p:cNvSpPr>
          <p:nvPr/>
        </p:nvSpPr>
        <p:spPr bwMode="auto">
          <a:xfrm>
            <a:off x="1682750" y="4214813"/>
            <a:ext cx="18224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A =[2 0 0;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1 1 0; 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1 2 3];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b =[1 2 3]';</a:t>
            </a:r>
            <a:endParaRPr lang="fr-FR" altLang="fr-FR" sz="1800"/>
          </a:p>
          <a:p>
            <a:pPr eaLnBrk="1" hangingPunct="1"/>
            <a:endParaRPr lang="fr-FR" altLang="fr-FR" sz="1800"/>
          </a:p>
        </p:txBody>
      </p:sp>
      <p:sp>
        <p:nvSpPr>
          <p:cNvPr id="20490" name="Text Box 18"/>
          <p:cNvSpPr txBox="1">
            <a:spLocks noChangeArrowheads="1"/>
          </p:cNvSpPr>
          <p:nvPr/>
        </p:nvSpPr>
        <p:spPr bwMode="auto">
          <a:xfrm>
            <a:off x="4251325" y="3657600"/>
            <a:ext cx="45720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n = size(A,1);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y = zeros(n,1);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y(1)=b(1)/A(1,1); </a:t>
            </a:r>
            <a:r>
              <a:rPr lang="en-GB" altLang="fr-FR" sz="1800" b="1">
                <a:solidFill>
                  <a:srgbClr val="33CC33"/>
                </a:solidFill>
              </a:rPr>
              <a:t>% A COMPLETER</a:t>
            </a:r>
            <a:endParaRPr lang="fr-FR" altLang="fr-FR" sz="1800"/>
          </a:p>
          <a:p>
            <a:pPr eaLnBrk="1" hangingPunct="1"/>
            <a:endParaRPr lang="fr-FR" altLang="fr-FR" sz="1800"/>
          </a:p>
        </p:txBody>
      </p:sp>
      <p:graphicFrame>
        <p:nvGraphicFramePr>
          <p:cNvPr id="20491" name="Object 19"/>
          <p:cNvGraphicFramePr>
            <a:graphicFrameLocks noChangeAspect="1"/>
          </p:cNvGraphicFramePr>
          <p:nvPr/>
        </p:nvGraphicFramePr>
        <p:xfrm>
          <a:off x="5867400" y="990600"/>
          <a:ext cx="12573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7" imgW="698500" imgH="241300" progId="Equation.DSMT4">
                  <p:embed/>
                </p:oleObj>
              </mc:Choice>
              <mc:Fallback>
                <p:oleObj name="Equation" r:id="rId7" imgW="698500" imgH="2413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990600"/>
                        <a:ext cx="12573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3B72C92-B37D-4A73-91D0-81D1F29FDFB2}" type="slidenum">
              <a:rPr lang="fr-FR" altLang="fr-FR" sz="1200"/>
              <a:pPr eaLnBrk="1" hangingPunct="1"/>
              <a:t>8</a:t>
            </a:fld>
            <a:r>
              <a:rPr lang="fr-FR" altLang="fr-FR" sz="1200" b="0"/>
              <a:t>/21</a:t>
            </a: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838200" y="514350"/>
            <a:ext cx="80772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40000"/>
              </a:lnSpc>
              <a:buFontTx/>
              <a:buChar char="•"/>
            </a:pPr>
            <a:r>
              <a:rPr lang="fr-FR" altLang="fr-FR" sz="1800"/>
              <a:t> Domaine de validité : </a:t>
            </a:r>
            <a:r>
              <a:rPr lang="fr-FR" altLang="fr-FR" sz="1800" b="1" i="1">
                <a:solidFill>
                  <a:srgbClr val="A50021"/>
                </a:solidFill>
              </a:rPr>
              <a:t>toutes matrices</a:t>
            </a:r>
            <a:endParaRPr lang="fr-FR" altLang="fr-FR" sz="1800" b="1">
              <a:solidFill>
                <a:srgbClr val="A50021"/>
              </a:solidFill>
            </a:endParaRPr>
          </a:p>
          <a:p>
            <a:pPr>
              <a:lnSpc>
                <a:spcPct val="140000"/>
              </a:lnSpc>
              <a:buFont typeface="Symbol" panose="05050102010706020507" pitchFamily="18" charset="2"/>
              <a:buChar char=""/>
            </a:pPr>
            <a:r>
              <a:rPr lang="fr-FR" altLang="fr-FR" sz="1800"/>
              <a:t> Décomposition de A=LU où</a:t>
            </a:r>
          </a:p>
          <a:p>
            <a:pPr lvl="1">
              <a:lnSpc>
                <a:spcPct val="140000"/>
              </a:lnSpc>
              <a:buFont typeface="Symbol" panose="05050102010706020507" pitchFamily="18" charset="2"/>
              <a:buChar char=""/>
            </a:pPr>
            <a:r>
              <a:rPr lang="fr-FR" altLang="fr-FR" sz="1800"/>
              <a:t> U matrice triangulaire supérieure,</a:t>
            </a:r>
          </a:p>
          <a:p>
            <a:pPr lvl="1">
              <a:lnSpc>
                <a:spcPct val="140000"/>
              </a:lnSpc>
              <a:buFont typeface="Symbol" panose="05050102010706020507" pitchFamily="18" charset="2"/>
              <a:buChar char=""/>
            </a:pPr>
            <a:r>
              <a:rPr lang="fr-FR" altLang="fr-FR" sz="1800"/>
              <a:t> L matrice triangulaire inférieure</a:t>
            </a:r>
          </a:p>
        </p:txBody>
      </p:sp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2743200" y="76200"/>
            <a:ext cx="40433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Factorisation de Gauss LU</a:t>
            </a:r>
          </a:p>
          <a:p>
            <a:pPr eaLnBrk="1" hangingPunct="1"/>
            <a:endParaRPr lang="fr-FR" altLang="fr-FR" b="1">
              <a:solidFill>
                <a:schemeClr val="accent2"/>
              </a:solidFill>
            </a:endParaRPr>
          </a:p>
        </p:txBody>
      </p:sp>
      <p:graphicFrame>
        <p:nvGraphicFramePr>
          <p:cNvPr id="2150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716814"/>
              </p:ext>
            </p:extLst>
          </p:nvPr>
        </p:nvGraphicFramePr>
        <p:xfrm>
          <a:off x="1279525" y="2816225"/>
          <a:ext cx="5899150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3" imgW="3276360" imgH="1295280" progId="Equation.DSMT4">
                  <p:embed/>
                </p:oleObj>
              </mc:Choice>
              <mc:Fallback>
                <p:oleObj name="Equation" r:id="rId3" imgW="3276360" imgH="12952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2816225"/>
                        <a:ext cx="5899150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01E4146-2DF6-404C-AD6E-37860A39DDB1}" type="slidenum">
              <a:rPr lang="fr-FR" altLang="fr-FR" sz="1200"/>
              <a:pPr eaLnBrk="1" hangingPunct="1"/>
              <a:t>9</a:t>
            </a:fld>
            <a:r>
              <a:rPr lang="fr-FR" altLang="fr-FR" sz="1200" b="0"/>
              <a:t>/21</a:t>
            </a:r>
          </a:p>
        </p:txBody>
      </p:sp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06375" y="76200"/>
            <a:ext cx="5737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Exemple de factorisation de Gauss LU</a:t>
            </a:r>
          </a:p>
        </p:txBody>
      </p:sp>
      <p:sp>
        <p:nvSpPr>
          <p:cNvPr id="225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32" name="Object 6"/>
          <p:cNvGraphicFramePr>
            <a:graphicFrameLocks noChangeAspect="1"/>
          </p:cNvGraphicFramePr>
          <p:nvPr/>
        </p:nvGraphicFramePr>
        <p:xfrm>
          <a:off x="5776913" y="250825"/>
          <a:ext cx="2224087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" name="Equation" r:id="rId3" imgW="1231366" imgH="710891" progId="Equation.DSMT4">
                  <p:embed/>
                </p:oleObj>
              </mc:Choice>
              <mc:Fallback>
                <p:oleObj name="Equation" r:id="rId3" imgW="1231366" imgH="71089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250825"/>
                        <a:ext cx="2224087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10"/>
          <p:cNvSpPr>
            <a:spLocks noChangeArrowheads="1"/>
          </p:cNvSpPr>
          <p:nvPr/>
        </p:nvSpPr>
        <p:spPr bwMode="auto">
          <a:xfrm>
            <a:off x="609600" y="990600"/>
            <a:ext cx="2192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Initialisation : A</a:t>
            </a:r>
            <a:r>
              <a:rPr lang="fr-FR" altLang="fr-FR" sz="1800" baseline="30000"/>
              <a:t>(1)</a:t>
            </a:r>
            <a:r>
              <a:rPr lang="fr-FR" altLang="fr-FR" sz="1800"/>
              <a:t>=A</a:t>
            </a:r>
          </a:p>
        </p:txBody>
      </p:sp>
      <p:sp>
        <p:nvSpPr>
          <p:cNvPr id="22534" name="Rectangle 11"/>
          <p:cNvSpPr>
            <a:spLocks noChangeArrowheads="1"/>
          </p:cNvSpPr>
          <p:nvPr/>
        </p:nvSpPr>
        <p:spPr bwMode="auto">
          <a:xfrm>
            <a:off x="609600" y="1600200"/>
            <a:ext cx="6796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Première étape : mettre des zéros dans la première colonne A</a:t>
            </a:r>
            <a:r>
              <a:rPr lang="fr-FR" altLang="fr-FR" sz="1800" baseline="30000"/>
              <a:t>(1)</a:t>
            </a:r>
            <a:r>
              <a:rPr lang="fr-FR" altLang="fr-FR" sz="1800"/>
              <a:t>  </a:t>
            </a:r>
          </a:p>
        </p:txBody>
      </p:sp>
      <p:sp>
        <p:nvSpPr>
          <p:cNvPr id="22535" name="Rectangle 14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36" name="Object 13"/>
          <p:cNvGraphicFramePr>
            <a:graphicFrameLocks noChangeAspect="1"/>
          </p:cNvGraphicFramePr>
          <p:nvPr/>
        </p:nvGraphicFramePr>
        <p:xfrm>
          <a:off x="533400" y="2182813"/>
          <a:ext cx="2008188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Equation" r:id="rId5" imgW="1257300" imgH="1066800" progId="Equation.DSMT4">
                  <p:embed/>
                </p:oleObj>
              </mc:Choice>
              <mc:Fallback>
                <p:oleObj name="Equation" r:id="rId5" imgW="1257300" imgH="1066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182813"/>
                        <a:ext cx="2008188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16"/>
          <p:cNvSpPr>
            <a:spLocks noChangeArrowheads="1"/>
          </p:cNvSpPr>
          <p:nvPr/>
        </p:nvSpPr>
        <p:spPr bwMode="auto">
          <a:xfrm>
            <a:off x="0" y="3352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3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997618"/>
              </p:ext>
            </p:extLst>
          </p:nvPr>
        </p:nvGraphicFramePr>
        <p:xfrm>
          <a:off x="2778125" y="2817813"/>
          <a:ext cx="20732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name="Equation" r:id="rId7" imgW="1409400" imgH="672840" progId="Equation.DSMT4">
                  <p:embed/>
                </p:oleObj>
              </mc:Choice>
              <mc:Fallback>
                <p:oleObj name="Equation" r:id="rId7" imgW="1409400" imgH="6728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2817813"/>
                        <a:ext cx="20732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Rectangle 18"/>
          <p:cNvSpPr>
            <a:spLocks noChangeArrowheads="1"/>
          </p:cNvSpPr>
          <p:nvPr/>
        </p:nvSpPr>
        <p:spPr bwMode="auto">
          <a:xfrm>
            <a:off x="0" y="3211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40" name="Object 17"/>
          <p:cNvGraphicFramePr>
            <a:graphicFrameLocks noChangeAspect="1"/>
          </p:cNvGraphicFramePr>
          <p:nvPr/>
        </p:nvGraphicFramePr>
        <p:xfrm>
          <a:off x="5715000" y="2057400"/>
          <a:ext cx="2166938" cy="176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" name="Equation" r:id="rId9" imgW="1206500" imgH="1066800" progId="Equation.DSMT4">
                  <p:embed/>
                </p:oleObj>
              </mc:Choice>
              <mc:Fallback>
                <p:oleObj name="Equation" r:id="rId9" imgW="1206500" imgH="1066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7953"/>
                      <a:stretch>
                        <a:fillRect/>
                      </a:stretch>
                    </p:blipFill>
                    <p:spPr bwMode="auto">
                      <a:xfrm>
                        <a:off x="5715000" y="2057400"/>
                        <a:ext cx="2166938" cy="176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19"/>
          <p:cNvGraphicFramePr>
            <a:graphicFrameLocks noChangeAspect="1"/>
          </p:cNvGraphicFramePr>
          <p:nvPr/>
        </p:nvGraphicFramePr>
        <p:xfrm>
          <a:off x="5140325" y="2782888"/>
          <a:ext cx="269875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" name="Equation" r:id="rId11" imgW="266469" imgH="190335" progId="Equation.3">
                  <p:embed/>
                </p:oleObj>
              </mc:Choice>
              <mc:Fallback>
                <p:oleObj name="Equation" r:id="rId11" imgW="266469" imgH="19033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325" y="2782888"/>
                        <a:ext cx="269875" cy="1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Rectangle 22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43" name="Object 21"/>
          <p:cNvGraphicFramePr>
            <a:graphicFrameLocks noChangeAspect="1"/>
          </p:cNvGraphicFramePr>
          <p:nvPr/>
        </p:nvGraphicFramePr>
        <p:xfrm>
          <a:off x="563563" y="4572000"/>
          <a:ext cx="2027237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Equation" r:id="rId13" imgW="1270000" imgH="1066800" progId="Equation.DSMT4">
                  <p:embed/>
                </p:oleObj>
              </mc:Choice>
              <mc:Fallback>
                <p:oleObj name="Equation" r:id="rId13" imgW="1270000" imgH="1066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572000"/>
                        <a:ext cx="2027237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697719"/>
              </p:ext>
            </p:extLst>
          </p:nvPr>
        </p:nvGraphicFramePr>
        <p:xfrm>
          <a:off x="2805472" y="5334000"/>
          <a:ext cx="1918928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name="Equation" r:id="rId15" imgW="1409400" imgH="660240" progId="Equation.DSMT4">
                  <p:embed/>
                </p:oleObj>
              </mc:Choice>
              <mc:Fallback>
                <p:oleObj name="Equation" r:id="rId15" imgW="1409400" imgH="6602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472" y="5334000"/>
                        <a:ext cx="1918928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Rectangle 26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46" name="Object 25"/>
          <p:cNvGraphicFramePr>
            <a:graphicFrameLocks noChangeAspect="1"/>
          </p:cNvGraphicFramePr>
          <p:nvPr/>
        </p:nvGraphicFramePr>
        <p:xfrm>
          <a:off x="5257800" y="4648200"/>
          <a:ext cx="2771775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Equation" r:id="rId17" imgW="1536700" imgH="1041400" progId="Equation.DSMT4">
                  <p:embed/>
                </p:oleObj>
              </mc:Choice>
              <mc:Fallback>
                <p:oleObj name="Equation" r:id="rId17" imgW="1536700" imgH="1041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8156"/>
                      <a:stretch>
                        <a:fillRect/>
                      </a:stretch>
                    </p:blipFill>
                    <p:spPr bwMode="auto">
                      <a:xfrm>
                        <a:off x="5257800" y="4648200"/>
                        <a:ext cx="2771775" cy="171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27"/>
          <p:cNvGraphicFramePr>
            <a:graphicFrameLocks noChangeAspect="1"/>
          </p:cNvGraphicFramePr>
          <p:nvPr/>
        </p:nvGraphicFramePr>
        <p:xfrm>
          <a:off x="4876800" y="5351463"/>
          <a:ext cx="269875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" name="Equation" r:id="rId19" imgW="266469" imgH="190335" progId="Equation.3">
                  <p:embed/>
                </p:oleObj>
              </mc:Choice>
              <mc:Fallback>
                <p:oleObj name="Equation" r:id="rId19" imgW="266469" imgH="19033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351463"/>
                        <a:ext cx="269875" cy="1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Rectangle 29"/>
          <p:cNvSpPr>
            <a:spLocks noChangeArrowheads="1"/>
          </p:cNvSpPr>
          <p:nvPr/>
        </p:nvSpPr>
        <p:spPr bwMode="auto">
          <a:xfrm>
            <a:off x="609600" y="4191000"/>
            <a:ext cx="7240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800"/>
              <a:t>Deuxième étape : mettre des zéros dans la deuxième colonne de A</a:t>
            </a:r>
            <a:r>
              <a:rPr lang="fr-FR" altLang="ja-JP" sz="1800" baseline="30000"/>
              <a:t>(2)</a:t>
            </a:r>
            <a:r>
              <a:rPr lang="fr-FR" altLang="ja-JP" sz="1800"/>
              <a:t> </a:t>
            </a:r>
          </a:p>
        </p:txBody>
      </p:sp>
      <p:sp>
        <p:nvSpPr>
          <p:cNvPr id="22549" name="Rectangle 30"/>
          <p:cNvSpPr>
            <a:spLocks noChangeArrowheads="1"/>
          </p:cNvSpPr>
          <p:nvPr/>
        </p:nvSpPr>
        <p:spPr bwMode="auto">
          <a:xfrm>
            <a:off x="2574925" y="2773363"/>
            <a:ext cx="239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000"/>
              <a:t> </a:t>
            </a:r>
            <a:r>
              <a:rPr lang="fr-FR" altLang="ja-JP" sz="600"/>
              <a:t> </a:t>
            </a:r>
            <a:endParaRPr lang="fr-FR" altLang="ja-JP" sz="1800"/>
          </a:p>
        </p:txBody>
      </p:sp>
      <p:sp>
        <p:nvSpPr>
          <p:cNvPr id="22550" name="Text Box 31"/>
          <p:cNvSpPr txBox="1">
            <a:spLocks noChangeArrowheads="1"/>
          </p:cNvSpPr>
          <p:nvPr/>
        </p:nvSpPr>
        <p:spPr bwMode="auto">
          <a:xfrm>
            <a:off x="5046663" y="68580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Soit</a:t>
            </a:r>
          </a:p>
        </p:txBody>
      </p:sp>
      <p:sp>
        <p:nvSpPr>
          <p:cNvPr id="22551" name="Line 32"/>
          <p:cNvSpPr>
            <a:spLocks noChangeShapeType="1"/>
          </p:cNvSpPr>
          <p:nvPr/>
        </p:nvSpPr>
        <p:spPr bwMode="auto">
          <a:xfrm flipH="1">
            <a:off x="685800" y="914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9D93AF0-76D9-4557-98EE-AF8F8E29D1A3}" type="slidenum">
              <a:rPr lang="fr-FR" altLang="fr-FR" sz="1200"/>
              <a:pPr eaLnBrk="1" hangingPunct="1"/>
              <a:t>10</a:t>
            </a:fld>
            <a:r>
              <a:rPr lang="fr-FR" altLang="fr-FR" sz="1200" b="0"/>
              <a:t>/21</a:t>
            </a:r>
          </a:p>
        </p:txBody>
      </p:sp>
      <p:sp>
        <p:nvSpPr>
          <p:cNvPr id="23554" name="Rectangle 9"/>
          <p:cNvSpPr>
            <a:spLocks noChangeArrowheads="1"/>
          </p:cNvSpPr>
          <p:nvPr/>
        </p:nvSpPr>
        <p:spPr bwMode="auto">
          <a:xfrm>
            <a:off x="533400" y="304800"/>
            <a:ext cx="807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 Domaine de validité : </a:t>
            </a:r>
            <a:r>
              <a:rPr lang="fr-FR" altLang="fr-FR" sz="1800" b="1" i="1" dirty="0">
                <a:solidFill>
                  <a:srgbClr val="A50021"/>
                </a:solidFill>
              </a:rPr>
              <a:t>toutes matrices</a:t>
            </a:r>
            <a:endParaRPr lang="fr-FR" altLang="fr-FR" sz="1800" b="1" dirty="0">
              <a:solidFill>
                <a:srgbClr val="A50021"/>
              </a:solidFill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fr-FR" altLang="fr-FR" sz="1800" dirty="0"/>
              <a:t> Algèbre : L</a:t>
            </a:r>
            <a:r>
              <a:rPr lang="fr-FR" altLang="fr-FR" sz="1800" baseline="30000" dirty="0"/>
              <a:t>-1</a:t>
            </a:r>
            <a:r>
              <a:rPr lang="fr-FR" altLang="fr-FR" sz="1800" dirty="0"/>
              <a:t>A=U</a:t>
            </a:r>
          </a:p>
          <a:p>
            <a:pPr lvl="1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fr-FR" altLang="fr-FR" sz="1800" dirty="0"/>
              <a:t> U matrice triangulaire supérieure,</a:t>
            </a:r>
          </a:p>
          <a:p>
            <a:pPr lvl="1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fr-FR" altLang="fr-FR" sz="1800" dirty="0"/>
              <a:t> L</a:t>
            </a:r>
            <a:r>
              <a:rPr lang="fr-FR" altLang="fr-FR" sz="1800" baseline="30000" dirty="0"/>
              <a:t>-1</a:t>
            </a:r>
            <a:r>
              <a:rPr lang="fr-FR" altLang="fr-FR" sz="1800" dirty="0"/>
              <a:t> matrice triangulaire inférieure, s</a:t>
            </a:r>
            <a:r>
              <a:rPr lang="ja-JP" altLang="fr-FR" sz="1800" dirty="0"/>
              <a:t>’</a:t>
            </a:r>
            <a:r>
              <a:rPr lang="fr-FR" altLang="ja-JP" sz="1800" dirty="0"/>
              <a:t>écrit comme le produit de</a:t>
            </a:r>
            <a:endParaRPr lang="fr-FR" altLang="fr-FR" sz="1800" dirty="0"/>
          </a:p>
        </p:txBody>
      </p:sp>
      <p:graphicFrame>
        <p:nvGraphicFramePr>
          <p:cNvPr id="2355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555628"/>
              </p:ext>
            </p:extLst>
          </p:nvPr>
        </p:nvGraphicFramePr>
        <p:xfrm>
          <a:off x="1449388" y="2057400"/>
          <a:ext cx="60198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Equation" r:id="rId3" imgW="3340080" imgH="241200" progId="Equation.DSMT4">
                  <p:embed/>
                </p:oleObj>
              </mc:Choice>
              <mc:Fallback>
                <p:oleObj name="Equation" r:id="rId3" imgW="334008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2057400"/>
                        <a:ext cx="60198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617601"/>
              </p:ext>
            </p:extLst>
          </p:nvPr>
        </p:nvGraphicFramePr>
        <p:xfrm>
          <a:off x="4545013" y="2351088"/>
          <a:ext cx="3997325" cy="257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Equation" r:id="rId5" imgW="2489200" imgH="1600200" progId="Equation.DSMT4">
                  <p:embed/>
                </p:oleObj>
              </mc:Choice>
              <mc:Fallback>
                <p:oleObj name="Equation" r:id="rId5" imgW="2489200" imgH="160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013" y="2351088"/>
                        <a:ext cx="3997325" cy="257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14"/>
          <p:cNvSpPr>
            <a:spLocks noChangeArrowheads="1"/>
          </p:cNvSpPr>
          <p:nvPr/>
        </p:nvSpPr>
        <p:spPr bwMode="auto">
          <a:xfrm>
            <a:off x="768350" y="5791200"/>
            <a:ext cx="7613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solidFill>
                  <a:srgbClr val="A50021"/>
                </a:solidFill>
              </a:rPr>
              <a:t>Des problèmes de stabilité peut apparaître que si le pivot a</a:t>
            </a:r>
            <a:r>
              <a:rPr lang="fr-FR" altLang="fr-FR" sz="1800" baseline="-25000">
                <a:solidFill>
                  <a:srgbClr val="A50021"/>
                </a:solidFill>
              </a:rPr>
              <a:t>kk</a:t>
            </a:r>
            <a:r>
              <a:rPr lang="fr-FR" altLang="fr-FR" sz="1800">
                <a:solidFill>
                  <a:srgbClr val="A50021"/>
                </a:solidFill>
              </a:rPr>
              <a:t> est trop petit</a:t>
            </a:r>
          </a:p>
          <a:p>
            <a:pPr eaLnBrk="1" hangingPunct="1"/>
            <a:r>
              <a:rPr lang="fr-FR" altLang="fr-FR" sz="1800">
                <a:solidFill>
                  <a:srgbClr val="A50021"/>
                </a:solidFill>
              </a:rPr>
              <a:t>en module. </a:t>
            </a:r>
          </a:p>
        </p:txBody>
      </p:sp>
      <p:sp>
        <p:nvSpPr>
          <p:cNvPr id="23558" name="Text Box 15"/>
          <p:cNvSpPr txBox="1">
            <a:spLocks noChangeArrowheads="1"/>
          </p:cNvSpPr>
          <p:nvPr/>
        </p:nvSpPr>
        <p:spPr bwMode="auto">
          <a:xfrm>
            <a:off x="3694113" y="76200"/>
            <a:ext cx="209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Factorisation</a:t>
            </a:r>
          </a:p>
        </p:txBody>
      </p:sp>
      <p:sp>
        <p:nvSpPr>
          <p:cNvPr id="23559" name="Rectangle 17"/>
          <p:cNvSpPr>
            <a:spLocks noChangeArrowheads="1"/>
          </p:cNvSpPr>
          <p:nvPr/>
        </p:nvSpPr>
        <p:spPr bwMode="auto">
          <a:xfrm>
            <a:off x="533400" y="2743200"/>
            <a:ext cx="3968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Où L</a:t>
            </a:r>
            <a:r>
              <a:rPr lang="fr-FR" altLang="fr-FR" sz="1800" baseline="-25000" dirty="0"/>
              <a:t>k</a:t>
            </a:r>
            <a:r>
              <a:rPr lang="fr-FR" altLang="fr-FR" sz="1800" baseline="30000" dirty="0"/>
              <a:t>-1 </a:t>
            </a:r>
            <a:r>
              <a:rPr lang="fr-FR" altLang="fr-FR" sz="1800" dirty="0"/>
              <a:t>est la matrice </a:t>
            </a:r>
          </a:p>
          <a:p>
            <a:pPr eaLnBrk="1" hangingPunct="1"/>
            <a:r>
              <a:rPr lang="fr-FR" altLang="fr-FR" sz="1800" dirty="0"/>
              <a:t>d</a:t>
            </a:r>
            <a:r>
              <a:rPr lang="ja-JP" altLang="fr-FR" sz="1800" dirty="0"/>
              <a:t>’</a:t>
            </a:r>
            <a:r>
              <a:rPr lang="fr-FR" altLang="ja-JP" sz="1800" dirty="0"/>
              <a:t>élimination élémentaire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Elle permet d</a:t>
            </a:r>
            <a:r>
              <a:rPr lang="ja-JP" altLang="fr-FR" sz="1800" dirty="0"/>
              <a:t>’</a:t>
            </a:r>
            <a:r>
              <a:rPr lang="fr-FR" altLang="ja-JP" sz="1800" dirty="0"/>
              <a:t>annuler les coefficients </a:t>
            </a:r>
          </a:p>
          <a:p>
            <a:pPr eaLnBrk="1" hangingPunct="1"/>
            <a:r>
              <a:rPr lang="fr-FR" altLang="fr-FR" sz="1800" dirty="0"/>
              <a:t>de la sous-colonne k :</a:t>
            </a:r>
          </a:p>
        </p:txBody>
      </p:sp>
      <p:sp>
        <p:nvSpPr>
          <p:cNvPr id="23560" name="Rectangle 19"/>
          <p:cNvSpPr>
            <a:spLocks noChangeArrowheads="1"/>
          </p:cNvSpPr>
          <p:nvPr/>
        </p:nvSpPr>
        <p:spPr bwMode="auto">
          <a:xfrm>
            <a:off x="-228600" y="3614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3561" name="Object 18"/>
          <p:cNvGraphicFramePr>
            <a:graphicFrameLocks noChangeAspect="1"/>
          </p:cNvGraphicFramePr>
          <p:nvPr/>
        </p:nvGraphicFramePr>
        <p:xfrm>
          <a:off x="1001713" y="4238625"/>
          <a:ext cx="17478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Equation" r:id="rId7" imgW="977900" imgH="228600" progId="Equation.DSMT4">
                  <p:embed/>
                </p:oleObj>
              </mc:Choice>
              <mc:Fallback>
                <p:oleObj name="Equation" r:id="rId7" imgW="9779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4238625"/>
                        <a:ext cx="17478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Oval 20"/>
          <p:cNvSpPr>
            <a:spLocks noChangeArrowheads="1"/>
          </p:cNvSpPr>
          <p:nvPr/>
        </p:nvSpPr>
        <p:spPr bwMode="auto">
          <a:xfrm>
            <a:off x="7239000" y="26670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3563" name="Oval 21"/>
          <p:cNvSpPr>
            <a:spLocks noChangeArrowheads="1"/>
          </p:cNvSpPr>
          <p:nvPr/>
        </p:nvSpPr>
        <p:spPr bwMode="auto">
          <a:xfrm>
            <a:off x="7086600" y="426720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3564" name="Oval 22"/>
          <p:cNvSpPr>
            <a:spLocks noChangeArrowheads="1"/>
          </p:cNvSpPr>
          <p:nvPr/>
        </p:nvSpPr>
        <p:spPr bwMode="auto">
          <a:xfrm>
            <a:off x="5715000" y="426720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3565" name="Text Box 23"/>
          <p:cNvSpPr txBox="1">
            <a:spLocks noChangeArrowheads="1"/>
          </p:cNvSpPr>
          <p:nvPr/>
        </p:nvSpPr>
        <p:spPr bwMode="auto">
          <a:xfrm>
            <a:off x="533400" y="5105400"/>
            <a:ext cx="31591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Calcul de L</a:t>
            </a:r>
            <a:r>
              <a:rPr lang="fr-FR" altLang="fr-FR" sz="1800" baseline="-25000"/>
              <a:t>k</a:t>
            </a:r>
            <a:r>
              <a:rPr lang="fr-FR" altLang="fr-FR" sz="1800"/>
              <a:t> est immédiate :</a:t>
            </a:r>
            <a:endParaRPr lang="fr-FR" altLang="fr-FR" sz="1800" baseline="30000"/>
          </a:p>
        </p:txBody>
      </p:sp>
      <p:graphicFrame>
        <p:nvGraphicFramePr>
          <p:cNvPr id="23566" name="Object 24"/>
          <p:cNvGraphicFramePr>
            <a:graphicFrameLocks noChangeAspect="1"/>
          </p:cNvGraphicFramePr>
          <p:nvPr/>
        </p:nvGraphicFramePr>
        <p:xfrm>
          <a:off x="3886200" y="5105400"/>
          <a:ext cx="1809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Equation" r:id="rId9" imgW="1002865" imgH="241195" progId="Equation.DSMT4">
                  <p:embed/>
                </p:oleObj>
              </mc:Choice>
              <mc:Fallback>
                <p:oleObj name="Equation" r:id="rId9" imgW="1002865" imgH="241195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105400"/>
                        <a:ext cx="18097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67784B8-4557-4F43-8844-F6D0A772BA8C}" type="slidenum">
              <a:rPr lang="fr-FR" altLang="fr-FR" sz="1200"/>
              <a:pPr eaLnBrk="1" hangingPunct="1"/>
              <a:t>11</a:t>
            </a:fld>
            <a:r>
              <a:rPr lang="fr-FR" altLang="fr-FR" sz="1200" b="0"/>
              <a:t>/21</a:t>
            </a:r>
          </a:p>
        </p:txBody>
      </p:sp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3694113" y="76200"/>
            <a:ext cx="209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Factorisation</a:t>
            </a:r>
          </a:p>
        </p:txBody>
      </p:sp>
      <p:graphicFrame>
        <p:nvGraphicFramePr>
          <p:cNvPr id="24579" name="Object 6"/>
          <p:cNvGraphicFramePr>
            <a:graphicFrameLocks noChangeAspect="1"/>
          </p:cNvGraphicFramePr>
          <p:nvPr/>
        </p:nvGraphicFramePr>
        <p:xfrm>
          <a:off x="2743200" y="3306763"/>
          <a:ext cx="15684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3" imgW="876300" imgH="228600" progId="Equation.DSMT4">
                  <p:embed/>
                </p:oleObj>
              </mc:Choice>
              <mc:Fallback>
                <p:oleObj name="Equation" r:id="rId3" imgW="8763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306763"/>
                        <a:ext cx="15684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8"/>
          <p:cNvSpPr>
            <a:spLocks noChangeArrowheads="1"/>
          </p:cNvSpPr>
          <p:nvPr/>
        </p:nvSpPr>
        <p:spPr bwMode="auto">
          <a:xfrm>
            <a:off x="685800" y="712788"/>
            <a:ext cx="6391275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04704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Factorisation de Crout (LDL</a:t>
            </a:r>
            <a:r>
              <a:rPr lang="fr-FR" altLang="fr-FR" sz="1800" b="1" baseline="30000"/>
              <a:t>T</a:t>
            </a:r>
            <a:r>
              <a:rPr lang="fr-FR" altLang="fr-FR" sz="1800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	</a:t>
            </a:r>
          </a:p>
          <a:p>
            <a:pPr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fr-FR" altLang="fr-FR" sz="1800"/>
              <a:t> Domaine de validité : </a:t>
            </a:r>
            <a:r>
              <a:rPr lang="fr-FR" altLang="fr-FR" sz="1800" i="1"/>
              <a:t>matrices symétriques définies positives</a:t>
            </a:r>
            <a:r>
              <a:rPr lang="fr-FR" altLang="fr-FR" sz="1800"/>
              <a:t>.</a:t>
            </a:r>
          </a:p>
          <a:p>
            <a:pPr>
              <a:lnSpc>
                <a:spcPct val="120000"/>
              </a:lnSpc>
            </a:pPr>
            <a:r>
              <a:rPr lang="fr-FR" altLang="fr-FR" sz="1800"/>
              <a:t>	Symétrique </a:t>
            </a:r>
            <a:r>
              <a:rPr lang="fr-FR" altLang="fr-FR" sz="1800">
                <a:sym typeface="Wingdings" panose="05000000000000000000" pitchFamily="2" charset="2"/>
              </a:rPr>
              <a:t> </a:t>
            </a:r>
            <a:r>
              <a:rPr lang="fr-FR" altLang="fr-FR" sz="1800"/>
              <a:t>économie de place mémoire</a:t>
            </a:r>
          </a:p>
        </p:txBody>
      </p:sp>
      <p:sp>
        <p:nvSpPr>
          <p:cNvPr id="24581" name="Rectangle 9"/>
          <p:cNvSpPr>
            <a:spLocks noChangeArrowheads="1"/>
          </p:cNvSpPr>
          <p:nvPr/>
        </p:nvSpPr>
        <p:spPr bwMode="auto">
          <a:xfrm>
            <a:off x="609600" y="2595563"/>
            <a:ext cx="8175625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/>
              <a:t> </a:t>
            </a:r>
            <a:endParaRPr lang="fr-FR" altLang="fr-FR" sz="600"/>
          </a:p>
          <a:p>
            <a:pPr>
              <a:buFont typeface="Symbol" panose="05050102010706020507" pitchFamily="18" charset="2"/>
              <a:buChar char=""/>
            </a:pPr>
            <a:r>
              <a:rPr lang="fr-FR" altLang="fr-FR" sz="1800"/>
              <a:t> Algèbre : c</a:t>
            </a:r>
            <a:r>
              <a:rPr lang="ja-JP" altLang="fr-FR" sz="1800"/>
              <a:t>’</a:t>
            </a:r>
            <a:r>
              <a:rPr lang="fr-FR" altLang="ja-JP" sz="1800"/>
              <a:t>est la factorisation de Gauss qui maintient la structure symétrique </a:t>
            </a:r>
            <a:endParaRPr lang="fr-FR" altLang="fr-FR" sz="1800"/>
          </a:p>
        </p:txBody>
      </p:sp>
      <p:sp>
        <p:nvSpPr>
          <p:cNvPr id="24582" name="Rectangle 10"/>
          <p:cNvSpPr>
            <a:spLocks noChangeArrowheads="1"/>
          </p:cNvSpPr>
          <p:nvPr/>
        </p:nvSpPr>
        <p:spPr bwMode="auto">
          <a:xfrm>
            <a:off x="2590800" y="3806825"/>
            <a:ext cx="22161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fr-FR" altLang="fr-FR" sz="1800"/>
              <a:t>D matrice diagonale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</a:t>
            </a:r>
            <a:r>
              <a:rPr lang="fr-FR" altLang="fr-FR" sz="1800" baseline="30000"/>
              <a:t>-1</a:t>
            </a:r>
            <a:r>
              <a:rPr lang="fr-FR" altLang="fr-FR" sz="1800"/>
              <a:t> comme dans LU</a:t>
            </a:r>
          </a:p>
        </p:txBody>
      </p:sp>
      <p:sp>
        <p:nvSpPr>
          <p:cNvPr id="24583" name="Rectangle 11"/>
          <p:cNvSpPr>
            <a:spLocks noChangeArrowheads="1"/>
          </p:cNvSpPr>
          <p:nvPr/>
        </p:nvSpPr>
        <p:spPr bwMode="auto">
          <a:xfrm>
            <a:off x="688975" y="4662488"/>
            <a:ext cx="6702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Symbol" panose="05050102010706020507" pitchFamily="18" charset="2"/>
              <a:buChar char=""/>
            </a:pPr>
            <a:r>
              <a:rPr lang="fr-FR" altLang="fr-FR" sz="1800"/>
              <a:t> Intérêt : moins cher en espace, plus rapide en temps de calcul.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59DC5D3-659D-45C3-9814-333BF8884C1F}" type="slidenum">
              <a:rPr lang="fr-FR" altLang="fr-FR" sz="1200"/>
              <a:pPr eaLnBrk="1" hangingPunct="1"/>
              <a:t>12</a:t>
            </a:fld>
            <a:r>
              <a:rPr lang="fr-FR" altLang="fr-FR" sz="1200" b="0"/>
              <a:t>/21</a:t>
            </a:r>
          </a:p>
        </p:txBody>
      </p:sp>
      <p:sp>
        <p:nvSpPr>
          <p:cNvPr id="25602" name="Text Box 17"/>
          <p:cNvSpPr txBox="1">
            <a:spLocks noChangeArrowheads="1"/>
          </p:cNvSpPr>
          <p:nvPr/>
        </p:nvSpPr>
        <p:spPr bwMode="auto">
          <a:xfrm>
            <a:off x="2257425" y="76200"/>
            <a:ext cx="4973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Algorithme de la factorisation LU</a:t>
            </a:r>
          </a:p>
        </p:txBody>
      </p:sp>
      <p:sp>
        <p:nvSpPr>
          <p:cNvPr id="25603" name="Text Box 19"/>
          <p:cNvSpPr txBox="1">
            <a:spLocks noChangeArrowheads="1"/>
          </p:cNvSpPr>
          <p:nvPr/>
        </p:nvSpPr>
        <p:spPr bwMode="auto">
          <a:xfrm>
            <a:off x="533400" y="685800"/>
            <a:ext cx="8375650" cy="64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A : matrice a factoriser de dim nxn</a:t>
            </a:r>
            <a:endParaRPr lang="fr-FR" altLang="fr-FR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Id=eye(n);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Identite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L=Id;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k = 1:n-1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Construction de la matrice d</a:t>
            </a:r>
            <a:r>
              <a:rPr lang="ja-JP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’</a:t>
            </a:r>
            <a:r>
              <a:rPr lang="fr-FR" altLang="ja-JP" sz="1800" b="1">
                <a:solidFill>
                  <a:srgbClr val="228B22"/>
                </a:solidFill>
                <a:latin typeface="Courier New" panose="02070309020205020404" pitchFamily="49" charset="0"/>
              </a:rPr>
              <a:t>elimination</a:t>
            </a:r>
            <a:endParaRPr lang="fr-FR" altLang="ja-JP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inv_Lk=Id;</a:t>
            </a:r>
          </a:p>
          <a:p>
            <a:pPr eaLnBrk="1" hangingPunct="1"/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      for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i = k+1:n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	   inv_Lk(i,k)=-A(i,k)/A(k,k);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      end</a:t>
            </a:r>
            <a:endParaRPr lang="fr-FR" altLang="fr-FR" sz="1800"/>
          </a:p>
          <a:p>
            <a:pPr eaLnBrk="1" hangingPunct="1"/>
            <a:endParaRPr lang="fr-FR" altLang="fr-FR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Construction de la matrice A(k+1) a partir de A(k)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A=inv_Lk*A;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Lk=-inv_Lk+2*Id;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Inverse de la matrice d</a:t>
            </a:r>
            <a:r>
              <a:rPr lang="ja-JP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’</a:t>
            </a:r>
            <a:r>
              <a:rPr lang="fr-FR" altLang="ja-JP" sz="1800" b="1">
                <a:solidFill>
                  <a:srgbClr val="228B22"/>
                </a:solidFill>
                <a:latin typeface="Courier New" panose="02070309020205020404" pitchFamily="49" charset="0"/>
              </a:rPr>
              <a:t>elimination</a:t>
            </a:r>
            <a:endParaRPr lang="fr-FR" altLang="ja-JP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L=L*Lk;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pPr eaLnBrk="1" hangingPunct="1"/>
            <a:endParaRPr lang="fr-FR" altLang="fr-FR" sz="1800" b="1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A(k+1) est la matrice triangulaire superieure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U=A;</a:t>
            </a:r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AD0A3BE-C355-43E2-AE67-244BF2DD23C1}" type="slidenum">
              <a:rPr lang="fr-FR" altLang="fr-FR" sz="1200"/>
              <a:pPr eaLnBrk="1" hangingPunct="1"/>
              <a:t>13</a:t>
            </a:fld>
            <a:r>
              <a:rPr lang="fr-FR" altLang="fr-FR" sz="1200" b="0"/>
              <a:t>/21</a:t>
            </a:r>
          </a:p>
        </p:txBody>
      </p:sp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614488" y="76200"/>
            <a:ext cx="631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Algorithme de la factorisation LU optimisé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04800" y="685800"/>
            <a:ext cx="8785225" cy="585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A : matrice a factoriser de dim nxn</a:t>
            </a:r>
            <a:endParaRPr lang="fr-FR" altLang="fr-FR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Id=eye(n);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Identite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L=Id;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k = 1:n-1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Construction de la matrice A(k+1) a partir de A(k) </a:t>
            </a:r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et de la matrice</a:t>
            </a:r>
            <a:r>
              <a:rPr lang="fr-FR" altLang="fr-FR" sz="1800"/>
              <a:t>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d elimination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i = k+1:n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A(i,k+1:n) = A(i,k+1:n) - (A(i,k)/A(k,k))*A(k,k+1:n);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Stockage par colonne dans la matrice L 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L(k+1:n,k) = A(k+1:n,k)/A(k,k) ;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les coefficients sous la diagonale </a:t>
            </a:r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de la colonne k sont nuls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A(k+1:n,k)=0;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A(k+1) est la matrice triangulaire superieure</a:t>
            </a:r>
            <a:endParaRPr lang="fr-FR" altLang="fr-FR" sz="1800"/>
          </a:p>
          <a:p>
            <a:pPr eaLnBrk="1" hangingPunct="1"/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U=A;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213" y="3276600"/>
            <a:ext cx="2871787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1A694F8-C1F3-4DBD-88B8-FE8B7D608D73}" type="slidenum">
              <a:rPr lang="fr-FR" altLang="fr-FR" sz="1200"/>
              <a:pPr eaLnBrk="1" hangingPunct="1"/>
              <a:t>14</a:t>
            </a:fld>
            <a:r>
              <a:rPr lang="fr-FR" altLang="fr-FR" sz="1200" b="0"/>
              <a:t>/21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graphicFrame>
        <p:nvGraphicFramePr>
          <p:cNvPr id="27651" name="Object 6"/>
          <p:cNvGraphicFramePr>
            <a:graphicFrameLocks noChangeAspect="1"/>
          </p:cNvGraphicFramePr>
          <p:nvPr/>
        </p:nvGraphicFramePr>
        <p:xfrm>
          <a:off x="3810000" y="990600"/>
          <a:ext cx="1808163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3" imgW="1803400" imgH="1028700" progId="Equation.3">
                  <p:embed/>
                </p:oleObj>
              </mc:Choice>
              <mc:Fallback>
                <p:oleObj name="Equation" r:id="rId3" imgW="1803400" imgH="1028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990600"/>
                        <a:ext cx="1808163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7"/>
          <p:cNvSpPr txBox="1">
            <a:spLocks noChangeArrowheads="1"/>
          </p:cNvSpPr>
          <p:nvPr/>
        </p:nvSpPr>
        <p:spPr bwMode="auto">
          <a:xfrm>
            <a:off x="3694113" y="76200"/>
            <a:ext cx="2436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Programmation</a:t>
            </a:r>
          </a:p>
        </p:txBody>
      </p:sp>
      <p:sp>
        <p:nvSpPr>
          <p:cNvPr id="27653" name="Text Box 8"/>
          <p:cNvSpPr txBox="1">
            <a:spLocks noChangeArrowheads="1"/>
          </p:cNvSpPr>
          <p:nvPr/>
        </p:nvSpPr>
        <p:spPr bwMode="auto">
          <a:xfrm>
            <a:off x="1066800" y="1295400"/>
            <a:ext cx="771207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Pour la matrice suivante : 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On veut obtenir 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Calculer b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Programmer la méthode de factorisation de Gauss (falusp.m) puis la méthode de descente remontée (drlusp.m) sans pivot.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Comparer la solution numérique à la solution de référence </a:t>
            </a:r>
          </a:p>
        </p:txBody>
      </p:sp>
      <p:graphicFrame>
        <p:nvGraphicFramePr>
          <p:cNvPr id="27654" name="Object 9"/>
          <p:cNvGraphicFramePr>
            <a:graphicFrameLocks noChangeAspect="1"/>
          </p:cNvGraphicFramePr>
          <p:nvPr/>
        </p:nvGraphicFramePr>
        <p:xfrm>
          <a:off x="2895600" y="2362200"/>
          <a:ext cx="685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5" imgW="685800" imgH="1028700" progId="Equation.3">
                  <p:embed/>
                </p:oleObj>
              </mc:Choice>
              <mc:Fallback>
                <p:oleObj name="Equation" r:id="rId5" imgW="685800" imgH="1028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362200"/>
                        <a:ext cx="685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92015B6-5F15-4A2B-ADF0-B1A5A51E8C06}" type="slidenum">
              <a:rPr lang="fr-FR" altLang="fr-FR" sz="1200"/>
              <a:pPr eaLnBrk="1" hangingPunct="1"/>
              <a:t>15</a:t>
            </a:fld>
            <a:r>
              <a:rPr lang="fr-FR" altLang="fr-FR" sz="1200" b="0"/>
              <a:t>/21</a:t>
            </a:r>
          </a:p>
        </p:txBody>
      </p:sp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3694113" y="762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Stabilité</a:t>
            </a:r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381000" y="747713"/>
            <a:ext cx="82296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Le problème	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Les erreurs d</a:t>
            </a:r>
            <a:r>
              <a:rPr lang="ja-JP" altLang="fr-FR" sz="1800"/>
              <a:t>’</a:t>
            </a:r>
            <a:r>
              <a:rPr lang="fr-FR" altLang="ja-JP" sz="1800"/>
              <a:t>arrondi font que la factorisation numérique diffère de la factorisation théorique. Au lieu de A=LU on a A=LU+E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La factorisation est dite instable quand E devient comparable à L et/ou U. Dans ce cas, la solution numérique peut s</a:t>
            </a:r>
            <a:r>
              <a:rPr lang="ja-JP" altLang="fr-FR" sz="1800"/>
              <a:t>’</a:t>
            </a:r>
            <a:r>
              <a:rPr lang="fr-FR" altLang="ja-JP" sz="1800"/>
              <a:t>éloigner énormément de la solution exacte.</a:t>
            </a:r>
            <a:endParaRPr lang="fr-FR" altLang="fr-FR" sz="1800"/>
          </a:p>
        </p:txBody>
      </p:sp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381000" y="2870200"/>
            <a:ext cx="66992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04704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Le remède	</a:t>
            </a:r>
          </a:p>
          <a:p>
            <a:pPr eaLnBrk="1" hangingPunct="1">
              <a:lnSpc>
                <a:spcPct val="120000"/>
              </a:lnSpc>
              <a:buSzPct val="150000"/>
              <a:buFontTx/>
              <a:buChar char="•"/>
            </a:pPr>
            <a:r>
              <a:rPr lang="fr-FR" altLang="fr-FR" sz="1800"/>
              <a:t> Cette instabilité est due aux divisions par des pivots </a:t>
            </a:r>
            <a:r>
              <a:rPr lang="ja-JP" altLang="fr-FR" sz="1800"/>
              <a:t>“</a:t>
            </a:r>
            <a:r>
              <a:rPr lang="fr-FR" altLang="ja-JP" sz="1800"/>
              <a:t>trop petits</a:t>
            </a:r>
            <a:r>
              <a:rPr lang="ja-JP" altLang="fr-FR" sz="1800"/>
              <a:t>”</a:t>
            </a:r>
            <a:r>
              <a:rPr lang="fr-FR" altLang="ja-JP" sz="1800"/>
              <a:t>.</a:t>
            </a:r>
          </a:p>
          <a:p>
            <a:pPr eaLnBrk="1" hangingPunct="1">
              <a:lnSpc>
                <a:spcPct val="120000"/>
              </a:lnSpc>
              <a:buSzPct val="150000"/>
            </a:pPr>
            <a:r>
              <a:rPr lang="fr-FR" altLang="fr-FR" sz="1800"/>
              <a:t>	Le remède consiste à changer de pivot.</a:t>
            </a:r>
          </a:p>
          <a:p>
            <a:pPr eaLnBrk="1" hangingPunct="1">
              <a:lnSpc>
                <a:spcPct val="120000"/>
              </a:lnSpc>
              <a:buSzPct val="150000"/>
              <a:buFontTx/>
              <a:buChar char="•"/>
            </a:pPr>
            <a:r>
              <a:rPr lang="fr-FR" altLang="fr-FR" sz="1800"/>
              <a:t> En pratique on utilise la </a:t>
            </a:r>
            <a:r>
              <a:rPr lang="fr-FR" altLang="fr-FR" sz="1800" b="1"/>
              <a:t>stratégie du pivot partiel</a:t>
            </a:r>
            <a:r>
              <a:rPr lang="fr-FR" altLang="fr-FR" sz="1800"/>
              <a:t> :</a:t>
            </a:r>
          </a:p>
        </p:txBody>
      </p:sp>
      <p:sp>
        <p:nvSpPr>
          <p:cNvPr id="28677" name="Rectangle 8"/>
          <p:cNvSpPr>
            <a:spLocks noChangeArrowheads="1"/>
          </p:cNvSpPr>
          <p:nvPr/>
        </p:nvSpPr>
        <p:spPr bwMode="auto">
          <a:xfrm>
            <a:off x="0" y="3265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8678" name="Object 7"/>
          <p:cNvGraphicFramePr>
            <a:graphicFrameLocks noChangeAspect="1"/>
          </p:cNvGraphicFramePr>
          <p:nvPr/>
        </p:nvGraphicFramePr>
        <p:xfrm>
          <a:off x="3168650" y="4667250"/>
          <a:ext cx="8509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Equation" r:id="rId3" imgW="850531" imgH="330057" progId="Equation.3">
                  <p:embed/>
                </p:oleObj>
              </mc:Choice>
              <mc:Fallback>
                <p:oleObj name="Equation" r:id="rId3" imgW="850531" imgH="33005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4667250"/>
                        <a:ext cx="8509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10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8680" name="Object 9"/>
          <p:cNvGraphicFramePr>
            <a:graphicFrameLocks noChangeAspect="1"/>
          </p:cNvGraphicFramePr>
          <p:nvPr/>
        </p:nvGraphicFramePr>
        <p:xfrm>
          <a:off x="5226050" y="4659313"/>
          <a:ext cx="873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5" imgW="876300" imgH="342900" progId="Equation.3">
                  <p:embed/>
                </p:oleObj>
              </mc:Choice>
              <mc:Fallback>
                <p:oleObj name="Equation" r:id="rId5" imgW="876300" imgH="342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4659313"/>
                        <a:ext cx="8731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Rectangle 11"/>
          <p:cNvSpPr>
            <a:spLocks noChangeArrowheads="1"/>
          </p:cNvSpPr>
          <p:nvPr/>
        </p:nvSpPr>
        <p:spPr bwMode="auto">
          <a:xfrm>
            <a:off x="304800" y="5791200"/>
            <a:ext cx="670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Symbol" panose="05050102010706020507" pitchFamily="18" charset="2"/>
              <a:buChar char=""/>
            </a:pPr>
            <a:r>
              <a:rPr lang="fr-FR" altLang="fr-FR" sz="1800"/>
              <a:t> Inconvénient : cette stratégie détruit la structure symétrique</a:t>
            </a:r>
          </a:p>
        </p:txBody>
      </p:sp>
      <p:sp>
        <p:nvSpPr>
          <p:cNvPr id="2868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868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571847"/>
              </p:ext>
            </p:extLst>
          </p:nvPr>
        </p:nvGraphicFramePr>
        <p:xfrm>
          <a:off x="2135188" y="5164138"/>
          <a:ext cx="531018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Equation" r:id="rId7" imgW="2958840" imgH="304560" progId="Equation.DSMT4">
                  <p:embed/>
                </p:oleObj>
              </mc:Choice>
              <mc:Fallback>
                <p:oleObj name="Equation" r:id="rId7" imgW="2958840" imgH="3045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5164138"/>
                        <a:ext cx="5310187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Rectangle 16"/>
          <p:cNvSpPr>
            <a:spLocks noChangeArrowheads="1"/>
          </p:cNvSpPr>
          <p:nvPr/>
        </p:nvSpPr>
        <p:spPr bwMode="auto">
          <a:xfrm>
            <a:off x="1111250" y="4648200"/>
            <a:ext cx="211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À la place du pivot </a:t>
            </a:r>
          </a:p>
        </p:txBody>
      </p:sp>
      <p:sp>
        <p:nvSpPr>
          <p:cNvPr id="28685" name="Rectangle 17"/>
          <p:cNvSpPr>
            <a:spLocks noChangeArrowheads="1"/>
          </p:cNvSpPr>
          <p:nvPr/>
        </p:nvSpPr>
        <p:spPr bwMode="auto">
          <a:xfrm>
            <a:off x="4083050" y="4648200"/>
            <a:ext cx="1149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prend </a:t>
            </a:r>
          </a:p>
        </p:txBody>
      </p:sp>
      <p:sp>
        <p:nvSpPr>
          <p:cNvPr id="28686" name="Rectangle 18"/>
          <p:cNvSpPr>
            <a:spLocks noChangeArrowheads="1"/>
          </p:cNvSpPr>
          <p:nvPr/>
        </p:nvSpPr>
        <p:spPr bwMode="auto">
          <a:xfrm>
            <a:off x="6140450" y="4648200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tel 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046F2FF-3B54-4ECF-B77C-2DEC7C479BF8}" type="slidenum">
              <a:rPr lang="fr-FR" altLang="fr-FR" sz="1200"/>
              <a:pPr eaLnBrk="1" hangingPunct="1"/>
              <a:t>16</a:t>
            </a:fld>
            <a:r>
              <a:rPr lang="fr-FR" altLang="fr-FR" sz="1200" b="0"/>
              <a:t>/21</a:t>
            </a:r>
          </a:p>
        </p:txBody>
      </p:sp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3694113" y="762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Stabilité</a:t>
            </a: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517525" y="6858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Exemple</a:t>
            </a:r>
            <a:endParaRPr lang="fr-FR" altLang="fr-FR" sz="1800"/>
          </a:p>
        </p:txBody>
      </p:sp>
      <p:graphicFrame>
        <p:nvGraphicFramePr>
          <p:cNvPr id="29700" name="Object 6"/>
          <p:cNvGraphicFramePr>
            <a:graphicFrameLocks noChangeAspect="1"/>
          </p:cNvGraphicFramePr>
          <p:nvPr/>
        </p:nvGraphicFramePr>
        <p:xfrm>
          <a:off x="1752600" y="576263"/>
          <a:ext cx="10461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Equation" r:id="rId3" imgW="1041400" imgH="647700" progId="Equation.3">
                  <p:embed/>
                </p:oleObj>
              </mc:Choice>
              <mc:Fallback>
                <p:oleObj name="Equation" r:id="rId3" imgW="1041400" imgH="647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76263"/>
                        <a:ext cx="104616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Rectangle 8"/>
          <p:cNvSpPr>
            <a:spLocks noChangeArrowheads="1"/>
          </p:cNvSpPr>
          <p:nvPr/>
        </p:nvSpPr>
        <p:spPr bwMode="auto">
          <a:xfrm>
            <a:off x="3048000" y="652463"/>
            <a:ext cx="3535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 : précision de votre calcul avec </a:t>
            </a:r>
          </a:p>
        </p:txBody>
      </p:sp>
      <p:graphicFrame>
        <p:nvGraphicFramePr>
          <p:cNvPr id="29702" name="Object 9"/>
          <p:cNvGraphicFramePr>
            <a:graphicFrameLocks noChangeAspect="1"/>
          </p:cNvGraphicFramePr>
          <p:nvPr/>
        </p:nvGraphicFramePr>
        <p:xfrm>
          <a:off x="6511925" y="542925"/>
          <a:ext cx="7270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5" name="Equation" r:id="rId5" imgW="723586" imgH="647419" progId="Equation.3">
                  <p:embed/>
                </p:oleObj>
              </mc:Choice>
              <mc:Fallback>
                <p:oleObj name="Equation" r:id="rId5" imgW="723586" imgH="64741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925" y="542925"/>
                        <a:ext cx="72707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Rectangle 11"/>
          <p:cNvSpPr>
            <a:spLocks noChangeArrowheads="1"/>
          </p:cNvSpPr>
          <p:nvPr/>
        </p:nvSpPr>
        <p:spPr bwMode="auto">
          <a:xfrm>
            <a:off x="685800" y="1371600"/>
            <a:ext cx="7364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Solution analytique : 	x</a:t>
            </a:r>
            <a:r>
              <a:rPr lang="fr-FR" altLang="fr-FR" sz="1800" baseline="-25000"/>
              <a:t>1</a:t>
            </a:r>
            <a:r>
              <a:rPr lang="fr-FR" altLang="fr-FR" sz="1800"/>
              <a:t>=1/(1-</a:t>
            </a:r>
            <a:r>
              <a:rPr lang="fr-FR" altLang="fr-FR" sz="1800">
                <a:latin typeface="Symbol" panose="05050102010706020507" pitchFamily="18" charset="2"/>
              </a:rPr>
              <a:t>e</a:t>
            </a:r>
            <a:r>
              <a:rPr lang="fr-FR" altLang="fr-FR" sz="1800"/>
              <a:t>)=1 	 	x</a:t>
            </a:r>
            <a:r>
              <a:rPr lang="fr-FR" altLang="fr-FR" sz="1800" baseline="-25000"/>
              <a:t>2</a:t>
            </a:r>
            <a:r>
              <a:rPr lang="fr-FR" altLang="fr-FR" sz="1800"/>
              <a:t>=(1-2</a:t>
            </a:r>
            <a:r>
              <a:rPr lang="fr-FR" altLang="fr-FR" sz="1800">
                <a:latin typeface="Symbol" panose="05050102010706020507" pitchFamily="18" charset="2"/>
              </a:rPr>
              <a:t>e</a:t>
            </a:r>
            <a:r>
              <a:rPr lang="fr-FR" altLang="fr-FR" sz="1800"/>
              <a:t>)/(1-</a:t>
            </a:r>
            <a:r>
              <a:rPr lang="fr-FR" altLang="fr-FR" sz="1800">
                <a:latin typeface="Symbol" panose="05050102010706020507" pitchFamily="18" charset="2"/>
              </a:rPr>
              <a:t>e</a:t>
            </a:r>
            <a:r>
              <a:rPr lang="fr-FR" altLang="fr-FR" sz="1800"/>
              <a:t>)=1</a:t>
            </a:r>
          </a:p>
        </p:txBody>
      </p:sp>
      <p:sp>
        <p:nvSpPr>
          <p:cNvPr id="29704" name="Rectangle 12"/>
          <p:cNvSpPr>
            <a:spLocks noChangeArrowheads="1"/>
          </p:cNvSpPr>
          <p:nvPr/>
        </p:nvSpPr>
        <p:spPr bwMode="auto">
          <a:xfrm>
            <a:off x="685800" y="2101850"/>
            <a:ext cx="578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800"/>
              <a:t>On applique </a:t>
            </a:r>
            <a:r>
              <a:rPr lang="fr-FR" altLang="ja-JP" sz="1800" b="1"/>
              <a:t>Gauss sans pivot</a:t>
            </a:r>
            <a:r>
              <a:rPr lang="fr-FR" altLang="ja-JP" sz="1800"/>
              <a:t> - matrice d’élimination  </a:t>
            </a:r>
          </a:p>
        </p:txBody>
      </p:sp>
      <p:graphicFrame>
        <p:nvGraphicFramePr>
          <p:cNvPr id="29705" name="Object 13"/>
          <p:cNvGraphicFramePr>
            <a:graphicFrameLocks noChangeAspect="1"/>
          </p:cNvGraphicFramePr>
          <p:nvPr/>
        </p:nvGraphicFramePr>
        <p:xfrm>
          <a:off x="6400800" y="1911350"/>
          <a:ext cx="1379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6" name="Equation" r:id="rId7" imgW="1384300" imgH="800100" progId="Equation.3">
                  <p:embed/>
                </p:oleObj>
              </mc:Choice>
              <mc:Fallback>
                <p:oleObj name="Equation" r:id="rId7" imgW="1384300" imgH="800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911350"/>
                        <a:ext cx="1379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5"/>
          <p:cNvGraphicFramePr>
            <a:graphicFrameLocks noChangeAspect="1"/>
          </p:cNvGraphicFramePr>
          <p:nvPr/>
        </p:nvGraphicFramePr>
        <p:xfrm>
          <a:off x="1371600" y="2711450"/>
          <a:ext cx="23193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7" name="Equation" r:id="rId9" imgW="2324100" imgH="800100" progId="Equation.3">
                  <p:embed/>
                </p:oleObj>
              </mc:Choice>
              <mc:Fallback>
                <p:oleObj name="Equation" r:id="rId9" imgW="2324100" imgH="800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711450"/>
                        <a:ext cx="23193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7"/>
          <p:cNvGraphicFramePr>
            <a:graphicFrameLocks noChangeAspect="1"/>
          </p:cNvGraphicFramePr>
          <p:nvPr/>
        </p:nvGraphicFramePr>
        <p:xfrm>
          <a:off x="4876800" y="2825750"/>
          <a:ext cx="30257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8" name="Equation" r:id="rId11" imgW="3022600" imgH="698500" progId="Equation.3">
                  <p:embed/>
                </p:oleObj>
              </mc:Choice>
              <mc:Fallback>
                <p:oleObj name="Equation" r:id="rId11" imgW="3022600" imgH="6985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825750"/>
                        <a:ext cx="30257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Rectangle 19"/>
          <p:cNvSpPr>
            <a:spLocks noChangeArrowheads="1"/>
          </p:cNvSpPr>
          <p:nvPr/>
        </p:nvSpPr>
        <p:spPr bwMode="auto">
          <a:xfrm>
            <a:off x="228600" y="3733800"/>
            <a:ext cx="891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si la précision de la machine n</a:t>
            </a:r>
            <a:r>
              <a:rPr lang="ja-JP" altLang="fr-FR" sz="1800"/>
              <a:t>’</a:t>
            </a:r>
            <a:r>
              <a:rPr lang="fr-FR" altLang="ja-JP" sz="1800"/>
              <a:t>est pas suffisante (1-1/</a:t>
            </a:r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)=-1/</a:t>
            </a:r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 , on obtient x</a:t>
            </a:r>
            <a:r>
              <a:rPr lang="fr-FR" altLang="ja-JP" sz="1800" baseline="-25000"/>
              <a:t>2</a:t>
            </a:r>
            <a:r>
              <a:rPr lang="fr-FR" altLang="ja-JP" sz="1800"/>
              <a:t>=1 et x</a:t>
            </a:r>
            <a:r>
              <a:rPr lang="fr-FR" altLang="ja-JP" sz="1800" baseline="-25000"/>
              <a:t>1</a:t>
            </a:r>
            <a:r>
              <a:rPr lang="fr-FR" altLang="ja-JP" sz="1800"/>
              <a:t>=0</a:t>
            </a:r>
            <a:endParaRPr lang="fr-FR" altLang="fr-FR" sz="1800"/>
          </a:p>
        </p:txBody>
      </p:sp>
      <p:sp>
        <p:nvSpPr>
          <p:cNvPr id="29709" name="Rectangle 20"/>
          <p:cNvSpPr>
            <a:spLocks noChangeArrowheads="1"/>
          </p:cNvSpPr>
          <p:nvPr/>
        </p:nvSpPr>
        <p:spPr bwMode="auto">
          <a:xfrm>
            <a:off x="685800" y="4419600"/>
            <a:ext cx="691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800"/>
              <a:t>On applique </a:t>
            </a:r>
            <a:r>
              <a:rPr lang="fr-FR" altLang="ja-JP" sz="1800" b="1"/>
              <a:t>Gauss avec pivot</a:t>
            </a:r>
            <a:r>
              <a:rPr lang="fr-FR" altLang="ja-JP" sz="1800"/>
              <a:t> -                  matrice d’élimination : </a:t>
            </a:r>
          </a:p>
        </p:txBody>
      </p:sp>
      <p:graphicFrame>
        <p:nvGraphicFramePr>
          <p:cNvPr id="29710" name="Object 21"/>
          <p:cNvGraphicFramePr>
            <a:graphicFrameLocks noChangeAspect="1"/>
          </p:cNvGraphicFramePr>
          <p:nvPr/>
        </p:nvGraphicFramePr>
        <p:xfrm>
          <a:off x="7548563" y="4310063"/>
          <a:ext cx="13668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9" name="Equation" r:id="rId13" imgW="1358900" imgH="647700" progId="Equation.3">
                  <p:embed/>
                </p:oleObj>
              </mc:Choice>
              <mc:Fallback>
                <p:oleObj name="Equation" r:id="rId13" imgW="1358900" imgH="6477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3" y="4310063"/>
                        <a:ext cx="136683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23"/>
          <p:cNvGraphicFramePr>
            <a:graphicFrameLocks noChangeAspect="1"/>
          </p:cNvGraphicFramePr>
          <p:nvPr/>
        </p:nvGraphicFramePr>
        <p:xfrm>
          <a:off x="1504950" y="4953000"/>
          <a:ext cx="25431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0" name="Equation" r:id="rId15" imgW="2082800" imgH="571500" progId="Equation.DSMT4">
                  <p:embed/>
                </p:oleObj>
              </mc:Choice>
              <mc:Fallback>
                <p:oleObj name="Equation" r:id="rId15" imgW="2082800" imgH="5715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4953000"/>
                        <a:ext cx="25431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25"/>
          <p:cNvGraphicFramePr>
            <a:graphicFrameLocks noChangeAspect="1"/>
          </p:cNvGraphicFramePr>
          <p:nvPr/>
        </p:nvGraphicFramePr>
        <p:xfrm>
          <a:off x="4857750" y="4953000"/>
          <a:ext cx="19907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1" name="Equation" r:id="rId17" imgW="1600200" imgH="571500" progId="Equation.DSMT4">
                  <p:embed/>
                </p:oleObj>
              </mc:Choice>
              <mc:Fallback>
                <p:oleObj name="Equation" r:id="rId17" imgW="1600200" imgH="5715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4953000"/>
                        <a:ext cx="199072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3" name="Rectangle 27"/>
          <p:cNvSpPr>
            <a:spLocks noChangeArrowheads="1"/>
          </p:cNvSpPr>
          <p:nvPr/>
        </p:nvSpPr>
        <p:spPr bwMode="auto">
          <a:xfrm>
            <a:off x="153988" y="5791200"/>
            <a:ext cx="8828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si la précision de la machine n</a:t>
            </a:r>
            <a:r>
              <a:rPr lang="ja-JP" altLang="fr-FR" sz="1800"/>
              <a:t>’</a:t>
            </a:r>
            <a:r>
              <a:rPr lang="fr-FR" altLang="ja-JP" sz="1800"/>
              <a:t>est pas suffisante (1-</a:t>
            </a:r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)=1, mais on obtient x</a:t>
            </a:r>
            <a:r>
              <a:rPr lang="fr-FR" altLang="ja-JP" sz="1800" baseline="-25000"/>
              <a:t>1</a:t>
            </a:r>
            <a:r>
              <a:rPr lang="fr-FR" altLang="ja-JP" sz="1800"/>
              <a:t>=1 et x</a:t>
            </a:r>
            <a:r>
              <a:rPr lang="fr-FR" altLang="ja-JP" sz="1800" baseline="-25000"/>
              <a:t>2</a:t>
            </a:r>
            <a:r>
              <a:rPr lang="fr-FR" altLang="ja-JP" sz="1800"/>
              <a:t>=1</a:t>
            </a:r>
            <a:endParaRPr lang="fr-FR" altLang="fr-FR" sz="1800"/>
          </a:p>
        </p:txBody>
      </p:sp>
      <p:graphicFrame>
        <p:nvGraphicFramePr>
          <p:cNvPr id="29714" name="Object 28"/>
          <p:cNvGraphicFramePr>
            <a:graphicFrameLocks noChangeAspect="1"/>
          </p:cNvGraphicFramePr>
          <p:nvPr/>
        </p:nvGraphicFramePr>
        <p:xfrm>
          <a:off x="4135438" y="4310063"/>
          <a:ext cx="10461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2" name="Equation" r:id="rId19" imgW="1041400" imgH="647700" progId="Equation.3">
                  <p:embed/>
                </p:oleObj>
              </mc:Choice>
              <mc:Fallback>
                <p:oleObj name="Equation" r:id="rId19" imgW="1041400" imgH="6477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4310063"/>
                        <a:ext cx="104616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5" name="Text Box 29"/>
          <p:cNvSpPr txBox="1">
            <a:spLocks noChangeArrowheads="1"/>
          </p:cNvSpPr>
          <p:nvPr/>
        </p:nvSpPr>
        <p:spPr bwMode="auto">
          <a:xfrm>
            <a:off x="609600" y="6248400"/>
            <a:ext cx="442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A50021"/>
                </a:solidFill>
              </a:rPr>
              <a:t>Démonstration matlab : stablu(epsilon)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CA8814C-7F63-4551-87D1-092BFC0E2C64}" type="slidenum">
              <a:rPr lang="fr-FR" altLang="fr-FR" sz="1200"/>
              <a:pPr eaLnBrk="1" hangingPunct="1"/>
              <a:t>17</a:t>
            </a:fld>
            <a:r>
              <a:rPr lang="fr-FR" altLang="fr-FR" sz="1200" b="0"/>
              <a:t>/21</a:t>
            </a:r>
          </a:p>
        </p:txBody>
      </p:sp>
      <p:sp>
        <p:nvSpPr>
          <p:cNvPr id="30722" name="Rectangle 12"/>
          <p:cNvSpPr>
            <a:spLocks noChangeArrowheads="1"/>
          </p:cNvSpPr>
          <p:nvPr/>
        </p:nvSpPr>
        <p:spPr bwMode="auto">
          <a:xfrm>
            <a:off x="457200" y="304800"/>
            <a:ext cx="1885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Le problème	</a:t>
            </a:r>
            <a:r>
              <a:rPr lang="fr-FR" altLang="fr-FR" sz="1600"/>
              <a:t> </a:t>
            </a:r>
            <a:endParaRPr lang="fr-FR" altLang="fr-FR" sz="1800"/>
          </a:p>
        </p:txBody>
      </p:sp>
      <p:sp>
        <p:nvSpPr>
          <p:cNvPr id="30723" name="Rectangle 13"/>
          <p:cNvSpPr>
            <a:spLocks noChangeArrowheads="1"/>
          </p:cNvSpPr>
          <p:nvPr/>
        </p:nvSpPr>
        <p:spPr bwMode="auto">
          <a:xfrm>
            <a:off x="533400" y="914400"/>
            <a:ext cx="86106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Soit </a:t>
            </a:r>
            <a:r>
              <a:rPr lang="fr-FR" altLang="fr-FR" sz="1800" dirty="0" err="1">
                <a:latin typeface="Symbol" panose="05050102010706020507" pitchFamily="18" charset="2"/>
              </a:rPr>
              <a:t>d</a:t>
            </a:r>
            <a:r>
              <a:rPr lang="fr-FR" altLang="fr-FR" sz="1800" dirty="0" err="1"/>
              <a:t>b</a:t>
            </a:r>
            <a:r>
              <a:rPr lang="fr-FR" altLang="fr-FR" sz="1800" dirty="0"/>
              <a:t> une perturbation de </a:t>
            </a:r>
            <a:r>
              <a:rPr lang="fr-FR" altLang="fr-FR" sz="1800" i="1" dirty="0"/>
              <a:t>b </a:t>
            </a:r>
            <a:r>
              <a:rPr lang="fr-FR" altLang="fr-FR" sz="1800" dirty="0"/>
              <a:t>(par exemple, une erreur de mesure), et </a:t>
            </a:r>
            <a:r>
              <a:rPr lang="fr-FR" altLang="fr-FR" sz="1800" dirty="0">
                <a:latin typeface="Symbol" panose="05050102010706020507" pitchFamily="18" charset="2"/>
              </a:rPr>
              <a:t>d</a:t>
            </a:r>
            <a:r>
              <a:rPr lang="fr-FR" altLang="fr-FR" sz="1800" dirty="0"/>
              <a:t>x la perturbation résultante de la solution </a:t>
            </a:r>
            <a:r>
              <a:rPr lang="fr-FR" altLang="fr-FR" sz="1800" i="1" dirty="0"/>
              <a:t>x</a:t>
            </a:r>
            <a:r>
              <a:rPr lang="fr-FR" altLang="fr-FR" sz="1800" dirty="0"/>
              <a:t> de </a:t>
            </a:r>
            <a:r>
              <a:rPr lang="fr-FR" altLang="fr-FR" sz="1800" dirty="0" smtClean="0"/>
              <a:t>A x=b et </a:t>
            </a:r>
            <a:endParaRPr lang="fr-FR" altLang="fr-FR" sz="1800" dirty="0"/>
          </a:p>
          <a:p>
            <a:pPr eaLnBrk="1" hangingPunct="1"/>
            <a:r>
              <a:rPr lang="fr-FR" altLang="fr-FR" sz="1600" dirty="0"/>
              <a:t> </a:t>
            </a:r>
          </a:p>
        </p:txBody>
      </p:sp>
      <p:sp>
        <p:nvSpPr>
          <p:cNvPr id="30724" name="Rectangle 15"/>
          <p:cNvSpPr>
            <a:spLocks noChangeArrowheads="1"/>
          </p:cNvSpPr>
          <p:nvPr/>
        </p:nvSpPr>
        <p:spPr bwMode="auto">
          <a:xfrm>
            <a:off x="533400" y="1524000"/>
            <a:ext cx="24828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sz="1800"/>
              <a:t>La question est alors : </a:t>
            </a:r>
          </a:p>
          <a:p>
            <a:pPr algn="ctr"/>
            <a:endParaRPr lang="fr-FR" altLang="fr-FR" sz="1800" i="1"/>
          </a:p>
          <a:p>
            <a:pPr algn="ctr"/>
            <a:r>
              <a:rPr lang="fr-FR" altLang="fr-FR" sz="1800"/>
              <a:t>est-ce que </a:t>
            </a:r>
          </a:p>
        </p:txBody>
      </p:sp>
      <p:sp>
        <p:nvSpPr>
          <p:cNvPr id="30725" name="Rectangle 16"/>
          <p:cNvSpPr>
            <a:spLocks noChangeArrowheads="1"/>
          </p:cNvSpPr>
          <p:nvPr/>
        </p:nvSpPr>
        <p:spPr bwMode="auto">
          <a:xfrm>
            <a:off x="2667000" y="2057400"/>
            <a:ext cx="473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sz="1800"/>
              <a:t> est du même ordre de grandeur que          ? </a:t>
            </a:r>
          </a:p>
        </p:txBody>
      </p:sp>
      <p:sp>
        <p:nvSpPr>
          <p:cNvPr id="30726" name="Rectangle 17"/>
          <p:cNvSpPr>
            <a:spLocks noChangeArrowheads="1"/>
          </p:cNvSpPr>
          <p:nvPr/>
        </p:nvSpPr>
        <p:spPr bwMode="auto">
          <a:xfrm>
            <a:off x="381000" y="2606675"/>
            <a:ext cx="66040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04704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	Pour une matrice bien conditionnée, la réponse est OUI.</a:t>
            </a:r>
            <a:endParaRPr lang="fr-FR" altLang="fr-FR" sz="1800" b="1"/>
          </a:p>
          <a:p>
            <a:endParaRPr lang="fr-FR" altLang="fr-FR" sz="1800" b="1"/>
          </a:p>
          <a:p>
            <a:r>
              <a:rPr lang="fr-FR" altLang="fr-FR" sz="1800" b="1"/>
              <a:t>Le remède	</a:t>
            </a:r>
          </a:p>
          <a:p>
            <a:r>
              <a:rPr lang="fr-FR" altLang="fr-FR" sz="1800"/>
              <a:t>	PAS DE REMÈDE !</a:t>
            </a:r>
          </a:p>
          <a:p>
            <a:endParaRPr lang="fr-FR" altLang="fr-FR" sz="1800" b="1"/>
          </a:p>
          <a:p>
            <a:r>
              <a:rPr lang="fr-FR" altLang="fr-FR" sz="1800" b="1"/>
              <a:t>Mesure du conditionnement	</a:t>
            </a:r>
          </a:p>
          <a:p>
            <a:endParaRPr lang="fr-FR" altLang="fr-FR" sz="1800"/>
          </a:p>
        </p:txBody>
      </p:sp>
      <p:sp>
        <p:nvSpPr>
          <p:cNvPr id="30727" name="Rectangle 18"/>
          <p:cNvSpPr>
            <a:spLocks noChangeArrowheads="1"/>
          </p:cNvSpPr>
          <p:nvPr/>
        </p:nvSpPr>
        <p:spPr bwMode="auto">
          <a:xfrm>
            <a:off x="609600" y="5029200"/>
            <a:ext cx="81534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/>
            <a:r>
              <a:rPr lang="fr-FR" altLang="fr-FR" sz="1800"/>
              <a:t>Le conditionnement cond(A) dépend de la norme. Dans le cas de la norme euclidienne il n</a:t>
            </a:r>
            <a:r>
              <a:rPr lang="ja-JP" altLang="fr-FR" sz="1800"/>
              <a:t>’</a:t>
            </a:r>
            <a:r>
              <a:rPr lang="fr-FR" altLang="ja-JP" sz="1800"/>
              <a:t>est rien d</a:t>
            </a:r>
            <a:r>
              <a:rPr lang="ja-JP" altLang="fr-FR" sz="1800"/>
              <a:t>’</a:t>
            </a:r>
            <a:r>
              <a:rPr lang="fr-FR" altLang="ja-JP" sz="1800"/>
              <a:t>autre que le rapport des valeurs singulières extrêmes (la plus grande sur la plus petite).</a:t>
            </a:r>
          </a:p>
          <a:p>
            <a:pPr eaLnBrk="1" hangingPunct="1"/>
            <a:endParaRPr lang="fr-FR" altLang="fr-FR" sz="1800"/>
          </a:p>
        </p:txBody>
      </p:sp>
      <p:sp>
        <p:nvSpPr>
          <p:cNvPr id="30728" name="Text Box 4"/>
          <p:cNvSpPr txBox="1">
            <a:spLocks noChangeArrowheads="1"/>
          </p:cNvSpPr>
          <p:nvPr/>
        </p:nvSpPr>
        <p:spPr bwMode="auto">
          <a:xfrm>
            <a:off x="3276600" y="76200"/>
            <a:ext cx="2687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Conditionnement</a:t>
            </a:r>
          </a:p>
        </p:txBody>
      </p:sp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90311"/>
              </p:ext>
            </p:extLst>
          </p:nvPr>
        </p:nvGraphicFramePr>
        <p:xfrm>
          <a:off x="5800725" y="1231900"/>
          <a:ext cx="17430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Equation" r:id="rId3" imgW="1739900" imgH="292100" progId="Equation.3">
                  <p:embed/>
                </p:oleObj>
              </mc:Choice>
              <mc:Fallback>
                <p:oleObj name="Equation" r:id="rId3" imgW="1739900" imgH="292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1231900"/>
                        <a:ext cx="17430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8"/>
          <p:cNvGraphicFramePr>
            <a:graphicFrameLocks noChangeAspect="1"/>
          </p:cNvGraphicFramePr>
          <p:nvPr/>
        </p:nvGraphicFramePr>
        <p:xfrm>
          <a:off x="2336800" y="1949450"/>
          <a:ext cx="4095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5" name="Equation" r:id="rId5" imgW="406224" imgH="660113" progId="Equation.3">
                  <p:embed/>
                </p:oleObj>
              </mc:Choice>
              <mc:Fallback>
                <p:oleObj name="Equation" r:id="rId5" imgW="406224" imgH="6601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949450"/>
                        <a:ext cx="4095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7"/>
          <p:cNvGraphicFramePr>
            <a:graphicFrameLocks noChangeAspect="1"/>
          </p:cNvGraphicFramePr>
          <p:nvPr/>
        </p:nvGraphicFramePr>
        <p:xfrm>
          <a:off x="6604000" y="1949450"/>
          <a:ext cx="4095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6" name="Equation" r:id="rId7" imgW="406224" imgH="660113" progId="Equation.3">
                  <p:embed/>
                </p:oleObj>
              </mc:Choice>
              <mc:Fallback>
                <p:oleObj name="Equation" r:id="rId7" imgW="406224" imgH="66011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1949450"/>
                        <a:ext cx="4095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20"/>
          <p:cNvGraphicFramePr>
            <a:graphicFrameLocks noChangeAspect="1"/>
          </p:cNvGraphicFramePr>
          <p:nvPr/>
        </p:nvGraphicFramePr>
        <p:xfrm>
          <a:off x="3657600" y="4114800"/>
          <a:ext cx="18542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9" imgW="1854200" imgH="660400" progId="Equation.3">
                  <p:embed/>
                </p:oleObj>
              </mc:Choice>
              <mc:Fallback>
                <p:oleObj name="Equation" r:id="rId9" imgW="1854200" imgH="660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14800"/>
                        <a:ext cx="18542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22"/>
          <p:cNvGraphicFramePr>
            <a:graphicFrameLocks noChangeAspect="1"/>
          </p:cNvGraphicFramePr>
          <p:nvPr/>
        </p:nvGraphicFramePr>
        <p:xfrm>
          <a:off x="2971800" y="5943600"/>
          <a:ext cx="21336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Equation" r:id="rId11" imgW="2082800" imgH="622300" progId="Equation.3">
                  <p:embed/>
                </p:oleObj>
              </mc:Choice>
              <mc:Fallback>
                <p:oleObj name="Equation" r:id="rId11" imgW="2082800" imgH="6223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943600"/>
                        <a:ext cx="21336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08B2801-C850-44DC-9A69-BBBD3D79FD01}" type="slidenum">
              <a:rPr lang="fr-FR" altLang="fr-FR" sz="1200"/>
              <a:pPr eaLnBrk="1" hangingPunct="1"/>
              <a:t>18</a:t>
            </a:fld>
            <a:r>
              <a:rPr lang="fr-FR" altLang="fr-FR" sz="1200" b="0"/>
              <a:t>/21</a:t>
            </a:r>
          </a:p>
        </p:txBody>
      </p:sp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3276600" y="76200"/>
            <a:ext cx="2687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Conditionnement</a:t>
            </a:r>
          </a:p>
        </p:txBody>
      </p:sp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517525" y="6858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Exemple</a:t>
            </a:r>
            <a:endParaRPr lang="fr-FR" altLang="fr-FR" sz="1800"/>
          </a:p>
        </p:txBody>
      </p:sp>
      <p:sp>
        <p:nvSpPr>
          <p:cNvPr id="3174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174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735164"/>
              </p:ext>
            </p:extLst>
          </p:nvPr>
        </p:nvGraphicFramePr>
        <p:xfrm>
          <a:off x="2559050" y="1090613"/>
          <a:ext cx="5254625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Equation" r:id="rId3" imgW="3288960" imgH="939600" progId="Equation.DSMT4">
                  <p:embed/>
                </p:oleObj>
              </mc:Choice>
              <mc:Fallback>
                <p:oleObj name="Equation" r:id="rId3" imgW="3288960" imgH="939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1090613"/>
                        <a:ext cx="5254625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457200" y="2895600"/>
            <a:ext cx="789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un second membre légèrement modifié on obtient la solution suivante :</a:t>
            </a:r>
          </a:p>
        </p:txBody>
      </p:sp>
      <p:sp>
        <p:nvSpPr>
          <p:cNvPr id="31751" name="Rectangle 10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1752" name="Object 9"/>
          <p:cNvGraphicFramePr>
            <a:graphicFrameLocks noChangeAspect="1"/>
          </p:cNvGraphicFramePr>
          <p:nvPr/>
        </p:nvGraphicFramePr>
        <p:xfrm>
          <a:off x="2889250" y="3429000"/>
          <a:ext cx="2535238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" name="Equation" r:id="rId5" imgW="2540000" imgH="1333500" progId="Equation.3">
                  <p:embed/>
                </p:oleObj>
              </mc:Choice>
              <mc:Fallback>
                <p:oleObj name="Equation" r:id="rId5" imgW="2540000" imgH="1333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29000"/>
                        <a:ext cx="2535238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 Box 11"/>
          <p:cNvSpPr txBox="1">
            <a:spLocks noChangeArrowheads="1"/>
          </p:cNvSpPr>
          <p:nvPr/>
        </p:nvSpPr>
        <p:spPr bwMode="auto">
          <a:xfrm>
            <a:off x="381000" y="5029200"/>
            <a:ext cx="85280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Erreur relative de 1/200 sur le 2</a:t>
            </a:r>
            <a:r>
              <a:rPr lang="fr-FR" altLang="fr-FR" sz="1800" baseline="30000"/>
              <a:t>nd</a:t>
            </a:r>
            <a:r>
              <a:rPr lang="fr-FR" altLang="fr-FR" sz="1800"/>
              <a:t> membre </a:t>
            </a:r>
            <a:r>
              <a:rPr lang="fr-FR" altLang="fr-FR" sz="1800">
                <a:sym typeface="Wingdings" panose="05000000000000000000" pitchFamily="2" charset="2"/>
              </a:rPr>
              <a:t> erreur relative de 10/1 sur le résultat</a:t>
            </a:r>
          </a:p>
          <a:p>
            <a:pPr eaLnBrk="1" hangingPunct="1"/>
            <a:r>
              <a:rPr lang="fr-FR" altLang="fr-FR" sz="1800">
                <a:sym typeface="Wingdings" panose="05000000000000000000" pitchFamily="2" charset="2"/>
              </a:rPr>
              <a:t>Soit une amplification de l</a:t>
            </a:r>
            <a:r>
              <a:rPr lang="ja-JP" altLang="fr-FR" sz="1800">
                <a:sym typeface="Wingdings" panose="05000000000000000000" pitchFamily="2" charset="2"/>
              </a:rPr>
              <a:t>’</a:t>
            </a:r>
            <a:r>
              <a:rPr lang="fr-FR" altLang="ja-JP" sz="1800">
                <a:sym typeface="Wingdings" panose="05000000000000000000" pitchFamily="2" charset="2"/>
              </a:rPr>
              <a:t>ordre de 2000 !</a:t>
            </a:r>
          </a:p>
          <a:p>
            <a:pPr eaLnBrk="1" hangingPunct="1"/>
            <a:endParaRPr lang="fr-FR" altLang="fr-FR" sz="1800">
              <a:sym typeface="Wingdings" panose="05000000000000000000" pitchFamily="2" charset="2"/>
            </a:endParaRPr>
          </a:p>
          <a:p>
            <a:pPr eaLnBrk="1" hangingPunct="1"/>
            <a:r>
              <a:rPr lang="fr-FR" altLang="fr-FR" sz="1800">
                <a:sym typeface="Wingdings" panose="05000000000000000000" pitchFamily="2" charset="2"/>
              </a:rPr>
              <a:t>Exemple troublant car erreurs sur les données d</a:t>
            </a:r>
            <a:r>
              <a:rPr lang="ja-JP" altLang="fr-FR" sz="1800">
                <a:sym typeface="Wingdings" panose="05000000000000000000" pitchFamily="2" charset="2"/>
              </a:rPr>
              <a:t>’</a:t>
            </a:r>
            <a:r>
              <a:rPr lang="fr-FR" altLang="ja-JP" sz="1800">
                <a:sym typeface="Wingdings" panose="05000000000000000000" pitchFamily="2" charset="2"/>
              </a:rPr>
              <a:t>un ordre de grandeur satisfaisant </a:t>
            </a:r>
          </a:p>
          <a:p>
            <a:pPr eaLnBrk="1" hangingPunct="1"/>
            <a:r>
              <a:rPr lang="fr-FR" altLang="fr-FR" sz="1800">
                <a:sym typeface="Wingdings" panose="05000000000000000000" pitchFamily="2" charset="2"/>
              </a:rPr>
              <a:t>en sciences expérimentales</a:t>
            </a: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C617B55-B9EA-4112-B942-5DA7592AE655}" type="slidenum">
              <a:rPr lang="fr-FR" altLang="fr-FR" sz="1200"/>
              <a:pPr eaLnBrk="1" hangingPunct="1"/>
              <a:t>19</a:t>
            </a:fld>
            <a:r>
              <a:rPr lang="fr-FR" altLang="fr-FR" sz="1200" b="0"/>
              <a:t>/21</a:t>
            </a:r>
          </a:p>
        </p:txBody>
      </p:sp>
      <p:sp>
        <p:nvSpPr>
          <p:cNvPr id="32771" name="Text Box 7"/>
          <p:cNvSpPr txBox="1">
            <a:spLocks noChangeArrowheads="1"/>
          </p:cNvSpPr>
          <p:nvPr/>
        </p:nvSpPr>
        <p:spPr bwMode="auto">
          <a:xfrm>
            <a:off x="762000" y="1385888"/>
            <a:ext cx="52514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Soit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Appliquer une perturbation au 2</a:t>
            </a:r>
            <a:r>
              <a:rPr lang="fr-FR" altLang="fr-FR" sz="1800" baseline="30000" dirty="0"/>
              <a:t>nd</a:t>
            </a:r>
            <a:r>
              <a:rPr lang="fr-FR" altLang="fr-FR" sz="1800" dirty="0"/>
              <a:t> membre : 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Calculer </a:t>
            </a:r>
            <a:r>
              <a:rPr lang="fr-FR" altLang="fr-FR" sz="1800" dirty="0" smtClean="0"/>
              <a:t>l’</a:t>
            </a:r>
            <a:r>
              <a:rPr lang="fr-FR" altLang="ja-JP" sz="1800" dirty="0" smtClean="0"/>
              <a:t>erreur </a:t>
            </a:r>
            <a:r>
              <a:rPr lang="fr-FR" altLang="ja-JP" sz="1800" dirty="0"/>
              <a:t>relative sur b, puis sur la solution.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Faite le rapport des erreurs relatives.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Calculer les valeurs propres de la matrice A.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Calculer le conditionnement de A. 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32774" name="Text Box 9"/>
          <p:cNvSpPr txBox="1">
            <a:spLocks noChangeArrowheads="1"/>
          </p:cNvSpPr>
          <p:nvPr/>
        </p:nvSpPr>
        <p:spPr bwMode="auto">
          <a:xfrm>
            <a:off x="2743200" y="76200"/>
            <a:ext cx="416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Exercice : conditionnement</a:t>
            </a:r>
          </a:p>
        </p:txBody>
      </p:sp>
      <p:graphicFrame>
        <p:nvGraphicFramePr>
          <p:cNvPr id="32775" name="Object 11"/>
          <p:cNvGraphicFramePr>
            <a:graphicFrameLocks noChangeAspect="1"/>
          </p:cNvGraphicFramePr>
          <p:nvPr/>
        </p:nvGraphicFramePr>
        <p:xfrm>
          <a:off x="5334000" y="2286000"/>
          <a:ext cx="1052513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3" imgW="1054100" imgH="1333500" progId="Equation.3">
                  <p:embed/>
                </p:oleObj>
              </mc:Choice>
              <mc:Fallback>
                <p:oleObj name="Equation" r:id="rId3" imgW="1054100" imgH="1333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86000"/>
                        <a:ext cx="1052513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129789"/>
              </p:ext>
            </p:extLst>
          </p:nvPr>
        </p:nvGraphicFramePr>
        <p:xfrm>
          <a:off x="1944687" y="915410"/>
          <a:ext cx="5254625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5" imgW="3288960" imgH="939600" progId="Equation.DSMT4">
                  <p:embed/>
                </p:oleObj>
              </mc:Choice>
              <mc:Fallback>
                <p:oleObj name="Equation" r:id="rId5" imgW="3288960" imgH="939600" progId="Equation.DSMT4">
                  <p:embed/>
                  <p:pic>
                    <p:nvPicPr>
                      <p:cNvPr id="3174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7" y="915410"/>
                        <a:ext cx="5254625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D385BDF-8084-461A-8B7D-466E0B452BF8}" type="slidenum">
              <a:rPr lang="fr-FR" altLang="fr-FR" sz="1200"/>
              <a:pPr eaLnBrk="1" hangingPunct="1"/>
              <a:t>20</a:t>
            </a:fld>
            <a:r>
              <a:rPr lang="fr-FR" altLang="fr-FR" sz="1200" b="0"/>
              <a:t>/21</a:t>
            </a:r>
          </a:p>
        </p:txBody>
      </p:sp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533400" y="457200"/>
            <a:ext cx="8305800" cy="59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1800" b="1"/>
              <a:t>Mode de stockage des matrices	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1800" b="1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Des variantes des algorithmes précédents existent pour traiter des matrices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creuses (contenant beaucoup de zéros) ou bandes. 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Seuls les coefficients non nuls sont stockés. 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180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Ainsi, on aura :</a:t>
            </a:r>
          </a:p>
          <a:p>
            <a:pPr lvl="1"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une variante de LDL</a:t>
            </a:r>
            <a:r>
              <a:rPr lang="fr-FR" altLang="fr-FR" sz="1800" baseline="30000"/>
              <a:t>T</a:t>
            </a:r>
            <a:r>
              <a:rPr lang="fr-FR" altLang="fr-FR" sz="1800"/>
              <a:t> pour les matrices tridiagonales symétriques (cas particulier de matrice bande) utilisant trois vecteurs pour stocker la matrice,</a:t>
            </a:r>
          </a:p>
          <a:p>
            <a:pPr lvl="1"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une variante de LU pour les matrices bandes utilisant autant de vecteurs pour stocker la matrice que le nombre de bandes (plus un espace additionnel pour pivoter),</a:t>
            </a:r>
          </a:p>
          <a:p>
            <a:pPr lvl="1" algn="just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une variante de LU pour les matrices creuses</a:t>
            </a:r>
          </a:p>
          <a:p>
            <a:pPr lvl="1" algn="just" eaLnBrk="1" hangingPunct="1">
              <a:lnSpc>
                <a:spcPct val="120000"/>
              </a:lnSpc>
              <a:buFontTx/>
              <a:buChar char="•"/>
            </a:pPr>
            <a:endParaRPr lang="fr-FR" altLang="fr-FR" sz="180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La contre-partie du gain en stockage est un temps d</a:t>
            </a:r>
            <a:r>
              <a:rPr lang="ja-JP" altLang="fr-FR" sz="1800"/>
              <a:t>’</a:t>
            </a:r>
            <a:r>
              <a:rPr lang="fr-FR" altLang="ja-JP" sz="1800"/>
              <a:t>accès aux éléments de matrice plus élevé que l</a:t>
            </a:r>
            <a:r>
              <a:rPr lang="ja-JP" altLang="fr-FR" sz="1800"/>
              <a:t>’</a:t>
            </a:r>
            <a:r>
              <a:rPr lang="fr-FR" altLang="ja-JP" sz="1800"/>
              <a:t>accès direct A(i,j).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accès aux éléments dans une matrice creuse nécessite un double adressage.</a:t>
            </a:r>
            <a:endParaRPr lang="fr-FR" altLang="fr-FR" sz="1800"/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3276600" y="7620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Mise en œuvre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52B7EB1-BBF4-402C-870B-F0F163E9DD0E}" type="slidenum">
              <a:rPr lang="fr-FR" altLang="fr-FR" sz="1200"/>
              <a:pPr eaLnBrk="1" hangingPunct="1"/>
              <a:t>21</a:t>
            </a:fld>
            <a:r>
              <a:rPr lang="fr-FR" altLang="fr-FR" sz="1200" b="0"/>
              <a:t>/21</a:t>
            </a:r>
          </a:p>
        </p:txBody>
      </p:sp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609600" y="701675"/>
            <a:ext cx="8229600" cy="547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40000"/>
              </a:lnSpc>
            </a:pPr>
            <a:r>
              <a:rPr lang="fr-FR" altLang="fr-FR" sz="1800"/>
              <a:t>Les matrices réelles symétriques définies positives ne posent pas de problèmes. Utiliser la méthode LDL</a:t>
            </a:r>
            <a:r>
              <a:rPr lang="fr-FR" altLang="fr-FR" sz="1800" baseline="30000"/>
              <a:t>T</a:t>
            </a:r>
            <a:r>
              <a:rPr lang="fr-FR" altLang="fr-FR" sz="1800"/>
              <a:t> sans pivot</a:t>
            </a:r>
          </a:p>
          <a:p>
            <a:pPr algn="just" eaLnBrk="1" hangingPunct="1">
              <a:lnSpc>
                <a:spcPct val="140000"/>
              </a:lnSpc>
            </a:pPr>
            <a:r>
              <a:rPr lang="fr-FR" altLang="fr-FR" sz="1800"/>
              <a:t>Sous Matlab :  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[L, D]=ldl(A);	 A = L*D*L</a:t>
            </a:r>
            <a:r>
              <a:rPr lang="ja-JP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  <a:r>
              <a:rPr lang="fr-FR" altLang="ja-JP" sz="1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just" eaLnBrk="1" hangingPunct="1">
              <a:lnSpc>
                <a:spcPct val="140000"/>
              </a:lnSpc>
            </a:pPr>
            <a:endParaRPr lang="fr-FR" altLang="fr-FR" sz="1800"/>
          </a:p>
          <a:p>
            <a:pPr algn="just" eaLnBrk="1" hangingPunct="1">
              <a:lnSpc>
                <a:spcPct val="140000"/>
              </a:lnSpc>
            </a:pPr>
            <a:r>
              <a:rPr lang="fr-FR" altLang="fr-FR" sz="1800"/>
              <a:t>Dans les autres cas, utiliser LU avec pivot. Ne pas prendre le risque d</a:t>
            </a:r>
            <a:r>
              <a:rPr lang="ja-JP" altLang="fr-FR" sz="1800"/>
              <a:t>’</a:t>
            </a:r>
            <a:r>
              <a:rPr lang="fr-FR" altLang="ja-JP" sz="1800"/>
              <a:t>utiliser un LU sans pivot.	 </a:t>
            </a:r>
          </a:p>
          <a:p>
            <a:pPr algn="just" eaLnBrk="1" hangingPunct="1">
              <a:lnSpc>
                <a:spcPct val="140000"/>
              </a:lnSpc>
            </a:pPr>
            <a:r>
              <a:rPr lang="fr-FR" altLang="fr-FR" sz="1800"/>
              <a:t>Sous Matlab : 	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[L, U, P]=lu(A);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P matrice de permutation</a:t>
            </a:r>
            <a:endParaRPr lang="fr-FR" altLang="fr-FR" sz="1800"/>
          </a:p>
          <a:p>
            <a:pPr algn="just" eaLnBrk="1" hangingPunct="1">
              <a:lnSpc>
                <a:spcPct val="140000"/>
              </a:lnSpc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		A = P'*L*U;</a:t>
            </a:r>
            <a:endParaRPr lang="fr-FR" altLang="fr-FR" sz="1800"/>
          </a:p>
          <a:p>
            <a:pPr algn="just" eaLnBrk="1" hangingPunct="1">
              <a:lnSpc>
                <a:spcPct val="140000"/>
              </a:lnSpc>
            </a:pPr>
            <a:endParaRPr lang="fr-FR" altLang="fr-FR" sz="1800"/>
          </a:p>
          <a:p>
            <a:pPr algn="just" eaLnBrk="1" hangingPunct="1">
              <a:lnSpc>
                <a:spcPct val="140000"/>
              </a:lnSpc>
            </a:pPr>
            <a:r>
              <a:rPr lang="fr-FR" altLang="fr-FR" sz="1800"/>
              <a:t>Choisir toujours la variante de mise en œuvre adaptée aux propriétés structurelles (stockage spécialisé pour matrices bandes). De la sorte, on peut </a:t>
            </a:r>
            <a:r>
              <a:rPr lang="ja-JP" altLang="fr-FR" sz="1800"/>
              <a:t>“</a:t>
            </a:r>
            <a:r>
              <a:rPr lang="fr-FR" altLang="ja-JP" sz="1800"/>
              <a:t>faire passer</a:t>
            </a:r>
            <a:r>
              <a:rPr lang="ja-JP" altLang="fr-FR" sz="1800"/>
              <a:t>”</a:t>
            </a:r>
            <a:r>
              <a:rPr lang="fr-FR" altLang="ja-JP" sz="1800"/>
              <a:t> des problèmes plus gros et ce plus vite</a:t>
            </a:r>
          </a:p>
          <a:p>
            <a:pPr algn="just" eaLnBrk="1" hangingPunct="1">
              <a:lnSpc>
                <a:spcPct val="140000"/>
              </a:lnSpc>
            </a:pPr>
            <a:endParaRPr lang="fr-FR" altLang="fr-FR" sz="1800"/>
          </a:p>
          <a:p>
            <a:pPr algn="just" eaLnBrk="1" hangingPunct="1">
              <a:lnSpc>
                <a:spcPct val="140000"/>
              </a:lnSpc>
            </a:pPr>
            <a:r>
              <a:rPr lang="fr-FR" altLang="fr-FR" sz="1800"/>
              <a:t>Vérifier le conditionnement</a:t>
            </a: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3810000" y="76200"/>
            <a:ext cx="104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Guide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2292</TotalTime>
  <Words>1015</Words>
  <Application>Microsoft Office PowerPoint</Application>
  <PresentationFormat>Affichage à l'écran (4:3)</PresentationFormat>
  <Paragraphs>305</Paragraphs>
  <Slides>21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1" baseType="lpstr">
      <vt:lpstr>ＭＳ Ｐゴシック</vt:lpstr>
      <vt:lpstr>ＭＳ Ｐゴシック</vt:lpstr>
      <vt:lpstr>Arial</vt:lpstr>
      <vt:lpstr>Comic Sans MS</vt:lpstr>
      <vt:lpstr>Courier New</vt:lpstr>
      <vt:lpstr>Symbol</vt:lpstr>
      <vt:lpstr>Wingdings</vt:lpstr>
      <vt:lpstr>Wingdings 3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toussaij</dc:creator>
  <cp:lastModifiedBy>toussaij</cp:lastModifiedBy>
  <cp:revision>148</cp:revision>
  <cp:lastPrinted>1601-01-01T00:00:00Z</cp:lastPrinted>
  <dcterms:created xsi:type="dcterms:W3CDTF">1601-01-01T00:00:00Z</dcterms:created>
  <dcterms:modified xsi:type="dcterms:W3CDTF">2024-11-13T06:52:02Z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