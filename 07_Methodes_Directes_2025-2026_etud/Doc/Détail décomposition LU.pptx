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1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3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3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8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5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8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2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1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ED114-9CA0-4EF7-AA83-5E53FD8275FE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47B4-CC43-48DC-B791-DD8BC2A2194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2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163490"/>
              </p:ext>
            </p:extLst>
          </p:nvPr>
        </p:nvGraphicFramePr>
        <p:xfrm>
          <a:off x="1320789" y="260648"/>
          <a:ext cx="2527020" cy="19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3" imgW="1218960" imgH="939600" progId="Equation.DSMT4">
                  <p:embed/>
                </p:oleObj>
              </mc:Choice>
              <mc:Fallback>
                <p:oleObj name="Equation" r:id="rId3" imgW="12189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0789" y="260648"/>
                        <a:ext cx="2527020" cy="1947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4063833" y="980728"/>
            <a:ext cx="335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 </a:t>
            </a:r>
            <a:r>
              <a:rPr lang="en-US" dirty="0" err="1" smtClean="0"/>
              <a:t>cherche</a:t>
            </a:r>
            <a:r>
              <a:rPr lang="en-US" dirty="0" smtClean="0"/>
              <a:t> L et U </a:t>
            </a:r>
            <a:r>
              <a:rPr lang="en-US" dirty="0" err="1" smtClean="0"/>
              <a:t>tels</a:t>
            </a:r>
            <a:r>
              <a:rPr lang="en-US" dirty="0" smtClean="0"/>
              <a:t> que A = L∙U</a:t>
            </a:r>
            <a:endParaRPr lang="en-US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576948"/>
              </p:ext>
            </p:extLst>
          </p:nvPr>
        </p:nvGraphicFramePr>
        <p:xfrm>
          <a:off x="1836198" y="2492375"/>
          <a:ext cx="6188075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5" imgW="2984400" imgH="939600" progId="Equation.DSMT4">
                  <p:embed/>
                </p:oleObj>
              </mc:Choice>
              <mc:Fallback>
                <p:oleObj name="Equation" r:id="rId5" imgW="29844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6198" y="2492375"/>
                        <a:ext cx="6188075" cy="194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llipse 7"/>
          <p:cNvSpPr/>
          <p:nvPr/>
        </p:nvSpPr>
        <p:spPr>
          <a:xfrm>
            <a:off x="4063833" y="2924944"/>
            <a:ext cx="576064" cy="576064"/>
          </a:xfrm>
          <a:prstGeom prst="ellipse">
            <a:avLst/>
          </a:prstGeom>
          <a:solidFill>
            <a:srgbClr val="4F81BD">
              <a:alpha val="4313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/>
          <p:cNvSpPr/>
          <p:nvPr/>
        </p:nvSpPr>
        <p:spPr>
          <a:xfrm>
            <a:off x="1831585" y="2924944"/>
            <a:ext cx="576064" cy="576064"/>
          </a:xfrm>
          <a:prstGeom prst="ellipse">
            <a:avLst/>
          </a:prstGeom>
          <a:solidFill>
            <a:srgbClr val="4F81BD">
              <a:alpha val="4313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/>
          <p:cNvSpPr txBox="1"/>
          <p:nvPr/>
        </p:nvSpPr>
        <p:spPr>
          <a:xfrm>
            <a:off x="159117" y="2852936"/>
            <a:ext cx="14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…pour </a:t>
            </a:r>
          </a:p>
          <a:p>
            <a:pPr algn="r"/>
            <a:r>
              <a:rPr lang="en-US" dirty="0" err="1" smtClean="0"/>
              <a:t>mettre</a:t>
            </a:r>
            <a:r>
              <a:rPr lang="en-US" dirty="0" smtClean="0"/>
              <a:t> 0 </a:t>
            </a:r>
            <a:r>
              <a:rPr lang="en-US" dirty="0" err="1" smtClean="0"/>
              <a:t>ici</a:t>
            </a:r>
            <a:r>
              <a:rPr lang="en-US" dirty="0" smtClean="0"/>
              <a:t> ?</a:t>
            </a:r>
            <a:endParaRPr lang="en-US" dirty="0"/>
          </a:p>
        </p:txBody>
      </p:sp>
      <p:sp>
        <p:nvSpPr>
          <p:cNvPr id="11" name="ZoneTexte 10"/>
          <p:cNvSpPr txBox="1"/>
          <p:nvPr/>
        </p:nvSpPr>
        <p:spPr>
          <a:xfrm>
            <a:off x="4351865" y="2060848"/>
            <a:ext cx="3748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Est </a:t>
            </a:r>
            <a:r>
              <a:rPr lang="en-US" dirty="0" err="1" smtClean="0"/>
              <a:t>ce</a:t>
            </a:r>
            <a:r>
              <a:rPr lang="en-US" dirty="0" smtClean="0"/>
              <a:t> que je </a:t>
            </a:r>
            <a:r>
              <a:rPr lang="en-US" dirty="0" err="1" smtClean="0"/>
              <a:t>peux</a:t>
            </a:r>
            <a:r>
              <a:rPr lang="en-US" dirty="0" smtClean="0"/>
              <a:t> </a:t>
            </a:r>
            <a:r>
              <a:rPr lang="en-US" dirty="0" err="1" smtClean="0"/>
              <a:t>mettre</a:t>
            </a:r>
            <a:r>
              <a:rPr lang="en-US" dirty="0" smtClean="0"/>
              <a:t> un </a:t>
            </a:r>
            <a:r>
              <a:rPr lang="en-US" dirty="0" err="1" smtClean="0"/>
              <a:t>coef</a:t>
            </a:r>
            <a:r>
              <a:rPr lang="en-US" dirty="0" smtClean="0"/>
              <a:t> </a:t>
            </a:r>
            <a:r>
              <a:rPr lang="en-US" dirty="0" err="1" smtClean="0"/>
              <a:t>ici</a:t>
            </a:r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13" name="Connecteur droit avec flèche 12"/>
          <p:cNvCxnSpPr>
            <a:stCxn id="11" idx="1"/>
            <a:endCxn id="8" idx="0"/>
          </p:cNvCxnSpPr>
          <p:nvPr/>
        </p:nvCxnSpPr>
        <p:spPr>
          <a:xfrm>
            <a:off x="4351865" y="2245514"/>
            <a:ext cx="0" cy="6794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10" idx="3"/>
            <a:endCxn id="9" idx="2"/>
          </p:cNvCxnSpPr>
          <p:nvPr/>
        </p:nvCxnSpPr>
        <p:spPr>
          <a:xfrm>
            <a:off x="1572196" y="3176102"/>
            <a:ext cx="259389" cy="368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20596"/>
              </p:ext>
            </p:extLst>
          </p:nvPr>
        </p:nvGraphicFramePr>
        <p:xfrm>
          <a:off x="323528" y="4652963"/>
          <a:ext cx="8478838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7" imgW="4089240" imgH="939600" progId="Equation.DSMT4">
                  <p:embed/>
                </p:oleObj>
              </mc:Choice>
              <mc:Fallback>
                <p:oleObj name="Equation" r:id="rId7" imgW="40892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528" y="4652963"/>
                        <a:ext cx="8478838" cy="194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Ellipse 17"/>
          <p:cNvSpPr/>
          <p:nvPr/>
        </p:nvSpPr>
        <p:spPr>
          <a:xfrm>
            <a:off x="323528" y="5085184"/>
            <a:ext cx="576064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358032" y="5193196"/>
            <a:ext cx="2374208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876256" y="4704234"/>
            <a:ext cx="506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2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8" grpId="0" animBg="1"/>
      <p:bldP spid="25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89079"/>
              </p:ext>
            </p:extLst>
          </p:nvPr>
        </p:nvGraphicFramePr>
        <p:xfrm>
          <a:off x="323528" y="44624"/>
          <a:ext cx="8478838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3" imgW="4089240" imgH="939600" progId="Equation.DSMT4">
                  <p:embed/>
                </p:oleObj>
              </mc:Choice>
              <mc:Fallback>
                <p:oleObj name="Equation" r:id="rId3" imgW="40892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528" y="44624"/>
                        <a:ext cx="8478838" cy="194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llipse 4"/>
          <p:cNvSpPr/>
          <p:nvPr/>
        </p:nvSpPr>
        <p:spPr>
          <a:xfrm>
            <a:off x="323528" y="476845"/>
            <a:ext cx="576064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58032" y="584857"/>
            <a:ext cx="2374208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76256" y="95895"/>
            <a:ext cx="506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654010"/>
              </p:ext>
            </p:extLst>
          </p:nvPr>
        </p:nvGraphicFramePr>
        <p:xfrm>
          <a:off x="127000" y="2060848"/>
          <a:ext cx="88725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5" imgW="4279680" imgH="939600" progId="Equation.DSMT4">
                  <p:embed/>
                </p:oleObj>
              </mc:Choice>
              <mc:Fallback>
                <p:oleObj name="Equation" r:id="rId5" imgW="4279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7000" y="2060848"/>
                        <a:ext cx="8872538" cy="194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Ellipse 8"/>
          <p:cNvSpPr/>
          <p:nvPr/>
        </p:nvSpPr>
        <p:spPr>
          <a:xfrm>
            <a:off x="179512" y="2960501"/>
            <a:ext cx="576064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2048" y="3068340"/>
            <a:ext cx="2374208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948264" y="2111499"/>
            <a:ext cx="506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450348"/>
              </p:ext>
            </p:extLst>
          </p:nvPr>
        </p:nvGraphicFramePr>
        <p:xfrm>
          <a:off x="127000" y="4149080"/>
          <a:ext cx="88725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7" imgW="4279680" imgH="939600" progId="Equation.DSMT4">
                  <p:embed/>
                </p:oleObj>
              </mc:Choice>
              <mc:Fallback>
                <p:oleObj name="Equation" r:id="rId7" imgW="4279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000" y="4149080"/>
                        <a:ext cx="8872538" cy="194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Ellipse 12"/>
          <p:cNvSpPr/>
          <p:nvPr/>
        </p:nvSpPr>
        <p:spPr>
          <a:xfrm>
            <a:off x="107504" y="5517232"/>
            <a:ext cx="576064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02048" y="5589240"/>
            <a:ext cx="2374208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948264" y="4199731"/>
            <a:ext cx="506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/>
          <p:cNvSpPr txBox="1"/>
          <p:nvPr/>
        </p:nvSpPr>
        <p:spPr>
          <a:xfrm>
            <a:off x="7956376" y="6095037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436096" y="6095037"/>
            <a:ext cx="784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L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1</a:t>
            </a:r>
            <a:r>
              <a:rPr lang="en-US" sz="3600" baseline="30000" dirty="0" smtClean="0">
                <a:solidFill>
                  <a:schemeClr val="accent1"/>
                </a:solidFill>
              </a:rPr>
              <a:t>-1</a:t>
            </a:r>
            <a:endParaRPr lang="en-US" sz="3600" baseline="30000" dirty="0">
              <a:solidFill>
                <a:schemeClr val="accent1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619672" y="6095037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1</a:t>
            </a:r>
            <a:endParaRPr lang="en-US" sz="3600" baseline="-2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74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989333"/>
              </p:ext>
            </p:extLst>
          </p:nvPr>
        </p:nvGraphicFramePr>
        <p:xfrm>
          <a:off x="90042" y="471987"/>
          <a:ext cx="8946454" cy="1631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3" imgW="5155920" imgH="939600" progId="Equation.DSMT4">
                  <p:embed/>
                </p:oleObj>
              </mc:Choice>
              <mc:Fallback>
                <p:oleObj name="Equation" r:id="rId3" imgW="5155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42" y="471987"/>
                        <a:ext cx="8946454" cy="1631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Ellipse 12"/>
          <p:cNvSpPr/>
          <p:nvPr/>
        </p:nvSpPr>
        <p:spPr>
          <a:xfrm>
            <a:off x="611560" y="1181001"/>
            <a:ext cx="792088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35896" y="1253009"/>
            <a:ext cx="1944216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876256" y="404664"/>
            <a:ext cx="1008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/>
          <p:cNvSpPr txBox="1"/>
          <p:nvPr/>
        </p:nvSpPr>
        <p:spPr>
          <a:xfrm>
            <a:off x="7956376" y="-99392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1</a:t>
            </a:r>
            <a:endParaRPr lang="en-US" sz="3600" baseline="-25000" dirty="0">
              <a:solidFill>
                <a:schemeClr val="accent1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211960" y="-99392"/>
            <a:ext cx="1630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L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2</a:t>
            </a:r>
            <a:r>
              <a:rPr lang="en-US" sz="3600" baseline="30000" dirty="0" smtClean="0">
                <a:solidFill>
                  <a:schemeClr val="accent1"/>
                </a:solidFill>
              </a:rPr>
              <a:t>-1</a:t>
            </a:r>
            <a:r>
              <a:rPr lang="en-US" sz="3600" i="1" baseline="30000" dirty="0" smtClean="0">
                <a:solidFill>
                  <a:schemeClr val="accent1"/>
                </a:solidFill>
              </a:rPr>
              <a:t>(temp)</a:t>
            </a:r>
            <a:endParaRPr lang="en-US" sz="3600" i="1" baseline="30000" dirty="0">
              <a:solidFill>
                <a:schemeClr val="accent1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619672" y="-99392"/>
            <a:ext cx="1454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2</a:t>
            </a:r>
            <a:r>
              <a:rPr lang="en-US" sz="3600" i="1" baseline="30000" dirty="0" smtClean="0">
                <a:solidFill>
                  <a:schemeClr val="accent1"/>
                </a:solidFill>
              </a:rPr>
              <a:t>(temp)</a:t>
            </a:r>
            <a:endParaRPr lang="en-US" sz="3600" i="1" baseline="30000" dirty="0">
              <a:solidFill>
                <a:schemeClr val="accent1"/>
              </a:solidFill>
            </a:endParaRPr>
          </a:p>
        </p:txBody>
      </p:sp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656101"/>
              </p:ext>
            </p:extLst>
          </p:nvPr>
        </p:nvGraphicFramePr>
        <p:xfrm>
          <a:off x="90042" y="2369789"/>
          <a:ext cx="8946454" cy="1631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5" imgW="5155920" imgH="939600" progId="Equation.DSMT4">
                  <p:embed/>
                </p:oleObj>
              </mc:Choice>
              <mc:Fallback>
                <p:oleObj name="Equation" r:id="rId5" imgW="5155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42" y="2369789"/>
                        <a:ext cx="8946454" cy="1631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Ellipse 22"/>
          <p:cNvSpPr/>
          <p:nvPr/>
        </p:nvSpPr>
        <p:spPr>
          <a:xfrm>
            <a:off x="611560" y="3449909"/>
            <a:ext cx="792088" cy="576064"/>
          </a:xfrm>
          <a:prstGeom prst="ellipse">
            <a:avLst/>
          </a:prstGeom>
          <a:solidFill>
            <a:srgbClr val="FF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635896" y="3573016"/>
            <a:ext cx="1944216" cy="36004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76256" y="2302466"/>
            <a:ext cx="1008112" cy="182110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/>
          <p:cNvSpPr txBox="1"/>
          <p:nvPr/>
        </p:nvSpPr>
        <p:spPr>
          <a:xfrm>
            <a:off x="7956376" y="3789040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1</a:t>
            </a:r>
            <a:endParaRPr lang="en-US" sz="3600" baseline="-25000" dirty="0">
              <a:solidFill>
                <a:schemeClr val="accent1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211960" y="3789040"/>
            <a:ext cx="784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L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2</a:t>
            </a:r>
            <a:r>
              <a:rPr lang="en-US" sz="3600" baseline="30000" dirty="0" smtClean="0">
                <a:solidFill>
                  <a:schemeClr val="accent1"/>
                </a:solidFill>
              </a:rPr>
              <a:t>-1</a:t>
            </a:r>
            <a:endParaRPr lang="en-US" sz="3600" baseline="30000" dirty="0">
              <a:solidFill>
                <a:schemeClr val="accent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1619672" y="3789040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2</a:t>
            </a:r>
            <a:endParaRPr lang="en-US" sz="3600" baseline="-25000" dirty="0">
              <a:solidFill>
                <a:schemeClr val="accent1"/>
              </a:solidFill>
            </a:endParaRPr>
          </a:p>
        </p:txBody>
      </p:sp>
      <p:graphicFrame>
        <p:nvGraphicFramePr>
          <p:cNvPr id="29" name="Obje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618748"/>
              </p:ext>
            </p:extLst>
          </p:nvPr>
        </p:nvGraphicFramePr>
        <p:xfrm>
          <a:off x="431800" y="4653136"/>
          <a:ext cx="8261350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7" imgW="4762440" imgH="939600" progId="Equation.DSMT4">
                  <p:embed/>
                </p:oleObj>
              </mc:Choice>
              <mc:Fallback>
                <p:oleObj name="Equation" r:id="rId7" imgW="47624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1800" y="4653136"/>
                        <a:ext cx="8261350" cy="163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ZoneTexte 29"/>
          <p:cNvSpPr txBox="1"/>
          <p:nvPr/>
        </p:nvSpPr>
        <p:spPr>
          <a:xfrm>
            <a:off x="7956376" y="6195113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4211960" y="6195113"/>
            <a:ext cx="784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L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3</a:t>
            </a:r>
            <a:r>
              <a:rPr lang="en-US" sz="3600" baseline="30000" dirty="0" smtClean="0">
                <a:solidFill>
                  <a:schemeClr val="accent1"/>
                </a:solidFill>
              </a:rPr>
              <a:t>-1</a:t>
            </a:r>
            <a:endParaRPr lang="en-US" sz="3600" baseline="30000" dirty="0">
              <a:solidFill>
                <a:schemeClr val="accent1"/>
              </a:solidFill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1619672" y="6195113"/>
            <a:ext cx="607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A</a:t>
            </a:r>
            <a:r>
              <a:rPr lang="en-US" sz="3600" baseline="-25000" dirty="0" smtClean="0">
                <a:solidFill>
                  <a:schemeClr val="accent1"/>
                </a:solidFill>
              </a:rPr>
              <a:t>3</a:t>
            </a:r>
            <a:endParaRPr lang="en-US" sz="3600" baseline="-2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9" grpId="0"/>
      <p:bldP spid="20" grpId="0"/>
      <p:bldP spid="21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30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693559" y="260648"/>
            <a:ext cx="20124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 smtClean="0"/>
              <a:t>Donc</a:t>
            </a:r>
            <a:r>
              <a:rPr lang="en-US" sz="2500" dirty="0" smtClean="0"/>
              <a:t> on a :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1</a:t>
            </a:r>
            <a:r>
              <a:rPr lang="en-US" sz="2500" baseline="30000" dirty="0" smtClean="0"/>
              <a:t>-1</a:t>
            </a:r>
            <a:r>
              <a:rPr lang="en-US" sz="2500" dirty="0"/>
              <a:t> </a:t>
            </a:r>
            <a:r>
              <a:rPr lang="en-US" sz="2500" dirty="0" smtClean="0"/>
              <a:t>A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2</a:t>
            </a:r>
            <a:r>
              <a:rPr lang="en-US" sz="2500" baseline="30000" dirty="0" smtClean="0"/>
              <a:t>-1</a:t>
            </a:r>
            <a:r>
              <a:rPr lang="en-US" sz="2500" dirty="0"/>
              <a:t> </a:t>
            </a:r>
            <a:r>
              <a:rPr lang="en-US" sz="2500" dirty="0" smtClean="0"/>
              <a:t>A</a:t>
            </a:r>
            <a:r>
              <a:rPr lang="en-US" sz="2500" baseline="-25000" dirty="0" smtClean="0"/>
              <a:t>1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3</a:t>
            </a:r>
            <a:r>
              <a:rPr lang="en-US" sz="2500" baseline="30000" dirty="0" smtClean="0"/>
              <a:t>-1</a:t>
            </a:r>
            <a:r>
              <a:rPr lang="en-US" sz="2500" dirty="0"/>
              <a:t> </a:t>
            </a:r>
            <a:r>
              <a:rPr lang="en-US" sz="2500" dirty="0" smtClean="0"/>
              <a:t>A</a:t>
            </a:r>
            <a:r>
              <a:rPr lang="en-US" sz="2500" baseline="-25000" dirty="0" smtClean="0"/>
              <a:t>2</a:t>
            </a:r>
            <a:endParaRPr lang="en-US" sz="2500" baseline="-25000" dirty="0" smtClean="0"/>
          </a:p>
        </p:txBody>
      </p:sp>
      <p:sp>
        <p:nvSpPr>
          <p:cNvPr id="5" name="ZoneTexte 4"/>
          <p:cNvSpPr txBox="1"/>
          <p:nvPr/>
        </p:nvSpPr>
        <p:spPr>
          <a:xfrm>
            <a:off x="4752020" y="260648"/>
            <a:ext cx="25922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 smtClean="0"/>
              <a:t>Ainsi</a:t>
            </a:r>
            <a:endParaRPr lang="en-US" sz="2500" dirty="0" smtClean="0"/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1</a:t>
            </a:r>
            <a:r>
              <a:rPr lang="en-US" sz="2500" baseline="30000" dirty="0" smtClean="0"/>
              <a:t>-1</a:t>
            </a:r>
            <a:r>
              <a:rPr lang="en-US" sz="2500" dirty="0" smtClean="0"/>
              <a:t>A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2</a:t>
            </a:r>
            <a:r>
              <a:rPr lang="en-US" sz="2500" baseline="30000" dirty="0" smtClean="0"/>
              <a:t>-1 </a:t>
            </a:r>
            <a:r>
              <a:rPr lang="en-US" sz="2500" dirty="0" smtClean="0"/>
              <a:t>L</a:t>
            </a:r>
            <a:r>
              <a:rPr lang="en-US" sz="2500" baseline="-25000" dirty="0" smtClean="0"/>
              <a:t>1</a:t>
            </a:r>
            <a:r>
              <a:rPr lang="en-US" sz="2500" baseline="30000" dirty="0" smtClean="0"/>
              <a:t>-1 </a:t>
            </a:r>
            <a:r>
              <a:rPr lang="en-US" sz="2500" dirty="0" smtClean="0"/>
              <a:t>A</a:t>
            </a:r>
            <a:endParaRPr lang="en-US" sz="2500" baseline="-25000" dirty="0" smtClean="0"/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3</a:t>
            </a:r>
            <a:r>
              <a:rPr lang="en-US" sz="2500" baseline="30000" dirty="0" smtClean="0"/>
              <a:t>-1 </a:t>
            </a:r>
            <a:r>
              <a:rPr lang="en-US" sz="2500" dirty="0" smtClean="0"/>
              <a:t> L</a:t>
            </a:r>
            <a:r>
              <a:rPr lang="en-US" sz="2500" baseline="-25000" dirty="0" smtClean="0"/>
              <a:t>2</a:t>
            </a:r>
            <a:r>
              <a:rPr lang="en-US" sz="2500" baseline="30000" dirty="0" smtClean="0"/>
              <a:t>-1</a:t>
            </a:r>
            <a:r>
              <a:rPr lang="en-US" sz="2500" dirty="0" smtClean="0"/>
              <a:t> L</a:t>
            </a:r>
            <a:r>
              <a:rPr lang="en-US" sz="2500" baseline="-25000" dirty="0" smtClean="0"/>
              <a:t>1</a:t>
            </a:r>
            <a:r>
              <a:rPr lang="en-US" sz="2500" baseline="30000" dirty="0" smtClean="0"/>
              <a:t>-1 </a:t>
            </a:r>
            <a:r>
              <a:rPr lang="en-US" sz="2500" dirty="0" smtClean="0"/>
              <a:t>A </a:t>
            </a:r>
            <a:endParaRPr lang="en-US" sz="2500" baseline="-25000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1825289" y="2852936"/>
            <a:ext cx="1749006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smtClean="0"/>
              <a:t>De plus 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3</a:t>
            </a:r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2</a:t>
            </a:r>
            <a:endParaRPr lang="en-US" sz="2500" dirty="0" smtClean="0"/>
          </a:p>
          <a:p>
            <a:pPr algn="ctr"/>
            <a:r>
              <a:rPr lang="en-US" sz="2500" dirty="0" smtClean="0"/>
              <a:t>A=L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1</a:t>
            </a:r>
          </a:p>
          <a:p>
            <a:pPr algn="ctr"/>
            <a:endParaRPr lang="en-US" sz="2500" baseline="-25000" dirty="0" smtClean="0"/>
          </a:p>
        </p:txBody>
      </p:sp>
      <p:sp>
        <p:nvSpPr>
          <p:cNvPr id="9" name="ZoneTexte 8"/>
          <p:cNvSpPr txBox="1"/>
          <p:nvPr/>
        </p:nvSpPr>
        <p:spPr>
          <a:xfrm>
            <a:off x="4860032" y="2915577"/>
            <a:ext cx="2376264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 smtClean="0"/>
              <a:t>Donc</a:t>
            </a:r>
            <a:endParaRPr lang="en-US" sz="2500" dirty="0" smtClean="0"/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3</a:t>
            </a:r>
            <a:endParaRPr lang="en-US" sz="2500" dirty="0" smtClean="0"/>
          </a:p>
          <a:p>
            <a:pPr algn="ctr"/>
            <a:r>
              <a:rPr lang="en-US" sz="2500" dirty="0" smtClean="0"/>
              <a:t>A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=L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 L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3</a:t>
            </a:r>
          </a:p>
          <a:p>
            <a:pPr algn="ctr"/>
            <a:r>
              <a:rPr lang="en-US" sz="2500" dirty="0" smtClean="0"/>
              <a:t>A=L</a:t>
            </a:r>
            <a:r>
              <a:rPr lang="en-US" sz="2500" baseline="-25000" dirty="0" smtClean="0"/>
              <a:t>1</a:t>
            </a:r>
            <a:r>
              <a:rPr lang="en-US" sz="2500" dirty="0" smtClean="0"/>
              <a:t> L</a:t>
            </a:r>
            <a:r>
              <a:rPr lang="en-US" sz="2500" baseline="-25000" dirty="0" smtClean="0"/>
              <a:t>2</a:t>
            </a:r>
            <a:r>
              <a:rPr lang="en-US" sz="2500" dirty="0" smtClean="0"/>
              <a:t> L</a:t>
            </a:r>
            <a:r>
              <a:rPr lang="en-US" sz="2500" baseline="-25000" dirty="0" smtClean="0"/>
              <a:t>3</a:t>
            </a:r>
            <a:r>
              <a:rPr lang="en-US" sz="2500" dirty="0" smtClean="0"/>
              <a:t> A</a:t>
            </a:r>
            <a:r>
              <a:rPr lang="en-US" sz="2500" baseline="-25000" dirty="0" smtClean="0"/>
              <a:t>3</a:t>
            </a:r>
          </a:p>
          <a:p>
            <a:pPr algn="ctr"/>
            <a:endParaRPr lang="en-US" sz="2500" baseline="-25000" dirty="0" smtClean="0"/>
          </a:p>
        </p:txBody>
      </p:sp>
      <p:sp>
        <p:nvSpPr>
          <p:cNvPr id="10" name="Flèche droite 9"/>
          <p:cNvSpPr/>
          <p:nvPr/>
        </p:nvSpPr>
        <p:spPr>
          <a:xfrm>
            <a:off x="3881624" y="97136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èche vers le bas 10"/>
          <p:cNvSpPr/>
          <p:nvPr/>
        </p:nvSpPr>
        <p:spPr>
          <a:xfrm>
            <a:off x="2278151" y="2052966"/>
            <a:ext cx="484632" cy="6559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èche droite 13"/>
          <p:cNvSpPr/>
          <p:nvPr/>
        </p:nvSpPr>
        <p:spPr>
          <a:xfrm>
            <a:off x="3773612" y="35544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/>
          <p:cNvSpPr txBox="1"/>
          <p:nvPr/>
        </p:nvSpPr>
        <p:spPr>
          <a:xfrm>
            <a:off x="1866943" y="5016078"/>
            <a:ext cx="53147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3200" dirty="0" err="1" smtClean="0"/>
              <a:t>En</a:t>
            </a:r>
            <a:r>
              <a:rPr lang="en-US" sz="3200" dirty="0" smtClean="0"/>
              <a:t> </a:t>
            </a:r>
            <a:r>
              <a:rPr lang="en-US" sz="3200" dirty="0" err="1" smtClean="0"/>
              <a:t>posant</a:t>
            </a:r>
            <a:r>
              <a:rPr lang="en-US" sz="3200" dirty="0" smtClean="0"/>
              <a:t> A</a:t>
            </a:r>
            <a:r>
              <a:rPr lang="en-US" sz="3200" baseline="-25000" dirty="0" smtClean="0"/>
              <a:t>3 </a:t>
            </a:r>
            <a:r>
              <a:rPr lang="en-US" sz="3200" dirty="0" smtClean="0"/>
              <a:t>= U et L = L</a:t>
            </a:r>
            <a:r>
              <a:rPr lang="en-US" sz="3200" baseline="-25000" dirty="0" smtClean="0"/>
              <a:t>1</a:t>
            </a:r>
            <a:r>
              <a:rPr lang="en-US" sz="3200" dirty="0" smtClean="0"/>
              <a:t> L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L</a:t>
            </a:r>
            <a:r>
              <a:rPr lang="en-US" sz="3200" baseline="-25000" dirty="0" smtClean="0"/>
              <a:t>3 </a:t>
            </a:r>
            <a:r>
              <a:rPr lang="en-US" sz="3200" dirty="0" smtClean="0"/>
              <a:t>:</a:t>
            </a:r>
          </a:p>
          <a:p>
            <a:pPr algn="ctr"/>
            <a:r>
              <a:rPr lang="en-US" sz="3200" dirty="0" smtClean="0"/>
              <a:t>A = L U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78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236279" y="260648"/>
            <a:ext cx="6924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Comment </a:t>
            </a:r>
            <a:r>
              <a:rPr lang="en-US" sz="3200" dirty="0" err="1" smtClean="0"/>
              <a:t>trouver</a:t>
            </a:r>
            <a:r>
              <a:rPr lang="en-US" sz="3200" dirty="0" smtClean="0"/>
              <a:t> L</a:t>
            </a:r>
            <a:r>
              <a:rPr lang="en-US" sz="3200" baseline="-25000" dirty="0" smtClean="0"/>
              <a:t>k</a:t>
            </a:r>
            <a:r>
              <a:rPr lang="en-US" sz="3200" dirty="0" smtClean="0"/>
              <a:t> </a:t>
            </a:r>
            <a:r>
              <a:rPr lang="en-US" sz="3200" dirty="0" err="1" smtClean="0"/>
              <a:t>en</a:t>
            </a:r>
            <a:r>
              <a:rPr lang="en-US" sz="3200" dirty="0" smtClean="0"/>
              <a:t> </a:t>
            </a:r>
            <a:r>
              <a:rPr lang="en-US" sz="3200" dirty="0" err="1" smtClean="0"/>
              <a:t>fonction</a:t>
            </a:r>
            <a:r>
              <a:rPr lang="en-US" sz="3200" dirty="0" smtClean="0"/>
              <a:t> de L</a:t>
            </a:r>
            <a:r>
              <a:rPr lang="en-US" sz="3200" baseline="-25000" dirty="0" smtClean="0"/>
              <a:t>k</a:t>
            </a:r>
            <a:r>
              <a:rPr lang="en-US" sz="3200" baseline="30000" dirty="0" smtClean="0"/>
              <a:t>-1 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89668"/>
              </p:ext>
            </p:extLst>
          </p:nvPr>
        </p:nvGraphicFramePr>
        <p:xfrm>
          <a:off x="401214" y="1052736"/>
          <a:ext cx="3954762" cy="115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3" imgW="3213000" imgH="939600" progId="Equation.DSMT4">
                  <p:embed/>
                </p:oleObj>
              </mc:Choice>
              <mc:Fallback>
                <p:oleObj name="Equation" r:id="rId3" imgW="3213000" imgH="939600" progId="Equation.DSMT4">
                  <p:embed/>
                  <p:pic>
                    <p:nvPicPr>
                      <p:cNvPr id="0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4" y="1052736"/>
                        <a:ext cx="3954762" cy="115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26897"/>
              </p:ext>
            </p:extLst>
          </p:nvPr>
        </p:nvGraphicFramePr>
        <p:xfrm>
          <a:off x="4788024" y="1052736"/>
          <a:ext cx="3954762" cy="115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5" imgW="3213000" imgH="939600" progId="Equation.DSMT4">
                  <p:embed/>
                </p:oleObj>
              </mc:Choice>
              <mc:Fallback>
                <p:oleObj name="Equation" r:id="rId5" imgW="32130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1052736"/>
                        <a:ext cx="3954762" cy="115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772807" y="1067232"/>
            <a:ext cx="1095337" cy="273536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68145" y="1067232"/>
            <a:ext cx="288032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476629"/>
              </p:ext>
            </p:extLst>
          </p:nvPr>
        </p:nvGraphicFramePr>
        <p:xfrm>
          <a:off x="251520" y="2564904"/>
          <a:ext cx="3954762" cy="115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7" imgW="3213000" imgH="939600" progId="Equation.DSMT4">
                  <p:embed/>
                </p:oleObj>
              </mc:Choice>
              <mc:Fallback>
                <p:oleObj name="Equation" r:id="rId7" imgW="32130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564904"/>
                        <a:ext cx="3954762" cy="1156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36303" y="2852936"/>
            <a:ext cx="1095337" cy="29527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31641" y="2579400"/>
            <a:ext cx="288032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047686"/>
              </p:ext>
            </p:extLst>
          </p:nvPr>
        </p:nvGraphicFramePr>
        <p:xfrm>
          <a:off x="4683125" y="2565400"/>
          <a:ext cx="39862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9" imgW="3238200" imgH="939600" progId="Equation.DSMT4">
                  <p:embed/>
                </p:oleObj>
              </mc:Choice>
              <mc:Fallback>
                <p:oleObj name="Equation" r:id="rId9" imgW="32382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2565400"/>
                        <a:ext cx="39862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105305"/>
              </p:ext>
            </p:extLst>
          </p:nvPr>
        </p:nvGraphicFramePr>
        <p:xfrm>
          <a:off x="257175" y="3933825"/>
          <a:ext cx="40020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11" imgW="3251160" imgH="939600" progId="Equation.DSMT4">
                  <p:embed/>
                </p:oleObj>
              </mc:Choice>
              <mc:Fallback>
                <p:oleObj name="Equation" r:id="rId11" imgW="3251160" imgH="939600" progId="Equation.DSMT4">
                  <p:embed/>
                  <p:pic>
                    <p:nvPicPr>
                      <p:cNvPr id="0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3933825"/>
                        <a:ext cx="40020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245439" y="3933056"/>
            <a:ext cx="1095337" cy="29527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3688" y="3890887"/>
            <a:ext cx="576064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404754"/>
              </p:ext>
            </p:extLst>
          </p:nvPr>
        </p:nvGraphicFramePr>
        <p:xfrm>
          <a:off x="4698084" y="3933825"/>
          <a:ext cx="40020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13" imgW="3251160" imgH="939600" progId="Equation.DSMT4">
                  <p:embed/>
                </p:oleObj>
              </mc:Choice>
              <mc:Fallback>
                <p:oleObj name="Equation" r:id="rId13" imgW="32511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084" y="3933825"/>
                        <a:ext cx="40020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4686348" y="4213841"/>
            <a:ext cx="1095337" cy="29527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204597" y="3890887"/>
            <a:ext cx="576064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981673"/>
              </p:ext>
            </p:extLst>
          </p:nvPr>
        </p:nvGraphicFramePr>
        <p:xfrm>
          <a:off x="101600" y="5300663"/>
          <a:ext cx="42529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15" imgW="3454200" imgH="939600" progId="Equation.DSMT4">
                  <p:embed/>
                </p:oleObj>
              </mc:Choice>
              <mc:Fallback>
                <p:oleObj name="Equation" r:id="rId15" imgW="34542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5300663"/>
                        <a:ext cx="42529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179512" y="5805264"/>
            <a:ext cx="1296145" cy="29527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32976" y="5258270"/>
            <a:ext cx="678783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926966"/>
              </p:ext>
            </p:extLst>
          </p:nvPr>
        </p:nvGraphicFramePr>
        <p:xfrm>
          <a:off x="4651998" y="5300663"/>
          <a:ext cx="42529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17" imgW="3454200" imgH="939600" progId="Equation.DSMT4">
                  <p:embed/>
                </p:oleObj>
              </mc:Choice>
              <mc:Fallback>
                <p:oleObj name="Equation" r:id="rId17" imgW="34542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998" y="5300663"/>
                        <a:ext cx="42529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4729910" y="6086049"/>
            <a:ext cx="1282251" cy="29527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72200" y="5258270"/>
            <a:ext cx="576064" cy="1137631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103</Words>
  <Application>Microsoft Office PowerPoint</Application>
  <PresentationFormat>Affichage à l'écran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7" baseType="lpstr">
      <vt:lpstr>Thème Office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Quentin Rafhay</dc:creator>
  <cp:lastModifiedBy>Quentin Rafhay</cp:lastModifiedBy>
  <cp:revision>11</cp:revision>
  <dcterms:created xsi:type="dcterms:W3CDTF">2019-11-14T13:43:17Z</dcterms:created>
  <dcterms:modified xsi:type="dcterms:W3CDTF">2019-11-14T15:55:18Z</dcterms:modified>
</cp:coreProperties>
</file>