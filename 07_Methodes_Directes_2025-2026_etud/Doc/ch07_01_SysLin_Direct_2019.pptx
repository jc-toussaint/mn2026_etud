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3" r:id="rId4"/>
    <p:sldId id="258" r:id="rId5"/>
    <p:sldId id="259" r:id="rId6"/>
    <p:sldId id="261" r:id="rId7"/>
    <p:sldId id="265" r:id="rId8"/>
    <p:sldId id="278" r:id="rId9"/>
    <p:sldId id="266" r:id="rId10"/>
    <p:sldId id="262" r:id="rId11"/>
    <p:sldId id="272" r:id="rId12"/>
    <p:sldId id="279" r:id="rId13"/>
    <p:sldId id="280" r:id="rId14"/>
    <p:sldId id="276" r:id="rId15"/>
    <p:sldId id="268" r:id="rId16"/>
    <p:sldId id="271" r:id="rId17"/>
    <p:sldId id="269" r:id="rId18"/>
    <p:sldId id="270" r:id="rId19"/>
    <p:sldId id="275" r:id="rId20"/>
    <p:sldId id="273" r:id="rId21"/>
    <p:sldId id="274" r:id="rId22"/>
    <p:sldId id="282" r:id="rId23"/>
    <p:sldId id="267" r:id="rId24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9"/>
    <p:restoredTop sz="78049"/>
  </p:normalViewPr>
  <p:slideViewPr>
    <p:cSldViewPr>
      <p:cViewPr varScale="1">
        <p:scale>
          <a:sx n="68" d="100"/>
          <a:sy n="68" d="100"/>
        </p:scale>
        <p:origin x="157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4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noProof="0"/>
              <a:t>Cliquez pour modifier les styles du texte du masque</a:t>
            </a:r>
          </a:p>
          <a:p>
            <a:pPr lvl="1"/>
            <a:r>
              <a:rPr lang="fr-FR" altLang="en-US" noProof="0"/>
              <a:t>Deuxième niveau</a:t>
            </a:r>
          </a:p>
          <a:p>
            <a:pPr lvl="2"/>
            <a:r>
              <a:rPr lang="fr-FR" altLang="en-US" noProof="0"/>
              <a:t>Troisième niveau</a:t>
            </a:r>
          </a:p>
          <a:p>
            <a:pPr lvl="3"/>
            <a:r>
              <a:rPr lang="fr-FR" altLang="en-US" noProof="0"/>
              <a:t>Quatrième niveau</a:t>
            </a:r>
          </a:p>
          <a:p>
            <a:pPr lvl="4"/>
            <a:r>
              <a:rPr lang="fr-FR" altLang="en-US" noProof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4BCAEC4E-0303-491C-A4BA-4F1240C01E8B}" type="slidenum">
              <a:rPr lang="fr-FR" altLang="en-US"/>
              <a:pPr>
                <a:defRPr/>
              </a:pPr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71847-95C6-4DEB-B4E4-B32AA78861D2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70291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8B342-DA95-43A4-B8DF-C313E1F3AA1F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74029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A2C5-9839-4E94-830F-982E221E78D3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49058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9A41F-AE44-486A-A8B5-C6904CAC64D6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73112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22B6E-9064-40AC-92E6-B79173CF4115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0063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B4D4A-18FB-484C-BA2E-EB1F6AA6AC8D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96122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A7839-A0B5-4452-A159-C4D29311D60B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31254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DCAD9-54E3-49C5-B295-E8E472AECADA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85461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3719C-179D-4628-9FD9-063AD6DAA398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407275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C62AE-21A5-4EA6-9155-DE5799A6830A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03019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F17B4-6452-4C7A-8DA4-CA461A7D1A94}" type="slidenum">
              <a:rPr lang="fr-FR" altLang="en-US"/>
              <a:pPr>
                <a:defRPr/>
              </a:pPr>
              <a:t>‹N°›</a:t>
            </a:fld>
            <a:r>
              <a:rPr lang="fr-FR" altLang="en-US" b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67637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les styles du texte du masque</a:t>
            </a:r>
          </a:p>
          <a:p>
            <a:pPr lvl="1"/>
            <a:r>
              <a:rPr lang="fr-FR" altLang="en-US" smtClean="0"/>
              <a:t>Deuxième niveau</a:t>
            </a:r>
          </a:p>
          <a:p>
            <a:pPr lvl="2"/>
            <a:r>
              <a:rPr lang="fr-FR" altLang="en-US" smtClean="0"/>
              <a:t>Troisième niveau</a:t>
            </a:r>
          </a:p>
          <a:p>
            <a:pPr lvl="3"/>
            <a:r>
              <a:rPr lang="fr-FR" altLang="en-US" smtClean="0"/>
              <a:t>Quatrième niveau</a:t>
            </a:r>
          </a:p>
          <a:p>
            <a:pPr lvl="4"/>
            <a:r>
              <a:rPr lang="fr-FR" altLang="en-US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372637E-D791-4D7A-BFA5-18CF7D97E793}" type="slidenum">
              <a:rPr lang="fr-FR" altLang="en-US"/>
              <a:pPr>
                <a:defRPr/>
              </a:pPr>
              <a:t>‹N°›</a:t>
            </a:fld>
            <a:r>
              <a:rPr lang="fr-FR" altLang="en-US"/>
              <a:t>/21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2.w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4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DE6C85-4353-4A5F-95B6-06E0056B255B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1981200" y="152400"/>
            <a:ext cx="499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Résolution de systèmes linéaires</a:t>
            </a:r>
          </a:p>
        </p:txBody>
      </p:sp>
      <p:sp>
        <p:nvSpPr>
          <p:cNvPr id="14340" name="Rectangle 12"/>
          <p:cNvSpPr>
            <a:spLocks noChangeArrowheads="1"/>
          </p:cNvSpPr>
          <p:nvPr/>
        </p:nvSpPr>
        <p:spPr bwMode="auto">
          <a:xfrm>
            <a:off x="533400" y="487363"/>
            <a:ext cx="83058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Soit à résoudre le système A x=b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Calcul de l</a:t>
            </a:r>
            <a:r>
              <a:rPr lang="ja-JP" altLang="fr-FR" sz="1800" b="1"/>
              <a:t>’</a:t>
            </a:r>
            <a:r>
              <a:rPr lang="fr-FR" altLang="ja-JP" sz="1800" b="1"/>
              <a:t>inverse de A ?	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Une première idée est :	Calculer A</a:t>
            </a:r>
            <a:r>
              <a:rPr lang="fr-FR" altLang="en-US" sz="1800" baseline="30000"/>
              <a:t>-1</a:t>
            </a:r>
            <a:r>
              <a:rPr lang="fr-FR" altLang="en-US" sz="1800"/>
              <a:t> puis A</a:t>
            </a:r>
            <a:r>
              <a:rPr lang="fr-FR" altLang="en-US" sz="1800" baseline="30000"/>
              <a:t>-1</a:t>
            </a:r>
            <a:r>
              <a:rPr lang="fr-FR" altLang="en-US" sz="1800"/>
              <a:t>b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Ce n</a:t>
            </a:r>
            <a:r>
              <a:rPr lang="ja-JP" altLang="fr-FR" sz="1800"/>
              <a:t>’</a:t>
            </a:r>
            <a:r>
              <a:rPr lang="fr-FR" altLang="ja-JP" sz="1800"/>
              <a:t>est pas une bonne idée car :</a:t>
            </a:r>
          </a:p>
          <a:p>
            <a:pPr lvl="2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Temps de calcul : calculer A</a:t>
            </a:r>
            <a:r>
              <a:rPr lang="fr-FR" altLang="en-US" sz="1800" baseline="30000"/>
              <a:t>-1</a:t>
            </a:r>
            <a:r>
              <a:rPr lang="fr-FR" altLang="en-US" sz="1800"/>
              <a:t> c</a:t>
            </a:r>
            <a:r>
              <a:rPr lang="ja-JP" altLang="fr-FR" sz="1800"/>
              <a:t>’</a:t>
            </a:r>
            <a:r>
              <a:rPr lang="fr-FR" altLang="ja-JP" sz="1800"/>
              <a:t>est résoudre n systèmes linéaires</a:t>
            </a:r>
          </a:p>
          <a:p>
            <a:pPr lvl="2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Espace mémoire : A très creuse et A</a:t>
            </a:r>
            <a:r>
              <a:rPr lang="fr-FR" altLang="en-US" sz="1800" baseline="30000"/>
              <a:t>-1</a:t>
            </a:r>
            <a:r>
              <a:rPr lang="fr-FR" altLang="en-US" sz="1800"/>
              <a:t> pleine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Formule de Cramer ?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Cramer : calcul </a:t>
            </a:r>
            <a:r>
              <a:rPr lang="fr-FR" altLang="en-US" sz="1800" i="1"/>
              <a:t>n</a:t>
            </a:r>
            <a:r>
              <a:rPr lang="fr-FR" altLang="en-US" sz="1800"/>
              <a:t>+1 déterminants  	Coût en (n+1)!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Bonnes méthodes 		Coût en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Pour n=10, on a 40 millions d</a:t>
            </a:r>
            <a:r>
              <a:rPr lang="ja-JP" altLang="fr-FR" sz="1800"/>
              <a:t>’</a:t>
            </a:r>
            <a:r>
              <a:rPr lang="fr-FR" altLang="ja-JP" sz="1800"/>
              <a:t>opérations pour Cramer contre 333 opérations !!</a:t>
            </a:r>
            <a:endParaRPr lang="fr-FR" altLang="en-US" sz="1800"/>
          </a:p>
        </p:txBody>
      </p:sp>
      <p:graphicFrame>
        <p:nvGraphicFramePr>
          <p:cNvPr id="14341" name="Object 20"/>
          <p:cNvGraphicFramePr>
            <a:graphicFrameLocks noChangeAspect="1"/>
          </p:cNvGraphicFramePr>
          <p:nvPr/>
        </p:nvGraphicFramePr>
        <p:xfrm>
          <a:off x="5105400" y="4648200"/>
          <a:ext cx="419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3" imgW="418918" imgH="571252" progId="Equation.3">
                  <p:embed/>
                </p:oleObj>
              </mc:Choice>
              <mc:Fallback>
                <p:oleObj name="Equation" r:id="rId3" imgW="418918" imgH="57125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648200"/>
                        <a:ext cx="419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D323A-E515-4724-8123-D5E1372FFDB0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2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15363" name="Text Box 21"/>
          <p:cNvSpPr txBox="1">
            <a:spLocks noChangeArrowheads="1"/>
          </p:cNvSpPr>
          <p:nvPr/>
        </p:nvSpPr>
        <p:spPr bwMode="auto">
          <a:xfrm>
            <a:off x="914400" y="2962275"/>
            <a:ext cx="5248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Matrice triangulaire supérieure U</a:t>
            </a:r>
            <a:r>
              <a:rPr lang="fr-FR" altLang="en-US" sz="1800"/>
              <a:t> : A=(a</a:t>
            </a:r>
            <a:r>
              <a:rPr lang="fr-FR" altLang="en-US" sz="1800" baseline="-25000"/>
              <a:t>ij</a:t>
            </a:r>
            <a:r>
              <a:rPr lang="fr-FR" altLang="en-US" sz="1800"/>
              <a:t>) avec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	Méthode de remontée :</a:t>
            </a:r>
          </a:p>
        </p:txBody>
      </p:sp>
      <p:graphicFrame>
        <p:nvGraphicFramePr>
          <p:cNvPr id="15364" name="Object 9"/>
          <p:cNvGraphicFramePr>
            <a:graphicFrameLocks noChangeAspect="1"/>
          </p:cNvGraphicFramePr>
          <p:nvPr/>
        </p:nvGraphicFramePr>
        <p:xfrm>
          <a:off x="4343400" y="676275"/>
          <a:ext cx="18827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Equation" r:id="rId3" imgW="1879600" imgH="647700" progId="Equation.3">
                  <p:embed/>
                </p:oleObj>
              </mc:Choice>
              <mc:Fallback>
                <p:oleObj name="Equation" r:id="rId3" imgW="1879600" imgH="647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76275"/>
                        <a:ext cx="188277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8"/>
          <p:cNvGraphicFramePr>
            <a:graphicFrameLocks noChangeAspect="1"/>
          </p:cNvGraphicFramePr>
          <p:nvPr/>
        </p:nvGraphicFramePr>
        <p:xfrm>
          <a:off x="3962400" y="2428875"/>
          <a:ext cx="11652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5" imgW="1167893" imgH="304668" progId="Equation.3">
                  <p:embed/>
                </p:oleObj>
              </mc:Choice>
              <mc:Fallback>
                <p:oleObj name="Equation" r:id="rId5" imgW="1167893" imgH="30466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428875"/>
                        <a:ext cx="116522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6042025" y="2995613"/>
          <a:ext cx="15779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7" imgW="1574800" imgH="342900" progId="Equation.DSMT4">
                  <p:embed/>
                </p:oleObj>
              </mc:Choice>
              <mc:Fallback>
                <p:oleObj name="Equation" r:id="rId7" imgW="1574800" imgH="342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2995613"/>
                        <a:ext cx="15779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5"/>
          <p:cNvGraphicFramePr>
            <a:graphicFrameLocks noChangeAspect="1"/>
          </p:cNvGraphicFramePr>
          <p:nvPr/>
        </p:nvGraphicFramePr>
        <p:xfrm>
          <a:off x="7759700" y="3035300"/>
          <a:ext cx="10033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9" imgW="1002865" imgH="304668" progId="Equation.3">
                  <p:embed/>
                </p:oleObj>
              </mc:Choice>
              <mc:Fallback>
                <p:oleObj name="Equation" r:id="rId9" imgW="1002865" imgH="3046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700" y="3035300"/>
                        <a:ext cx="100330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13"/>
          <p:cNvSpPr>
            <a:spLocks noChangeArrowheads="1"/>
          </p:cNvSpPr>
          <p:nvPr/>
        </p:nvSpPr>
        <p:spPr bwMode="auto">
          <a:xfrm>
            <a:off x="1828800" y="1287463"/>
            <a:ext cx="54737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Code Matlab de résolution 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x = b./D   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%vec D = diag(A)</a:t>
            </a:r>
            <a:endParaRPr lang="fr-FR" altLang="en-US" sz="1800"/>
          </a:p>
          <a:p>
            <a:pPr>
              <a:spcBef>
                <a:spcPct val="0"/>
              </a:spcBef>
              <a:buFontTx/>
              <a:buNone/>
            </a:pPr>
            <a:endParaRPr lang="fr-FR" altLang="en-US" sz="1800" i="1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en-US" sz="1800"/>
              <a:t>Algébriquement :  		pour </a:t>
            </a:r>
            <a:r>
              <a:rPr lang="fr-FR" altLang="en-US" sz="1800" i="1"/>
              <a:t>k</a:t>
            </a:r>
            <a:r>
              <a:rPr lang="fr-FR" altLang="en-US" sz="1800"/>
              <a:t> = 1,2,…</a:t>
            </a:r>
            <a:r>
              <a:rPr lang="fr-FR" altLang="en-US" sz="1800" i="1"/>
              <a:t>n</a:t>
            </a:r>
            <a:endParaRPr lang="fr-FR" altLang="en-US" sz="1800"/>
          </a:p>
          <a:p>
            <a:pPr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15369" name="Text Box 19"/>
          <p:cNvSpPr txBox="1">
            <a:spLocks noChangeArrowheads="1"/>
          </p:cNvSpPr>
          <p:nvPr/>
        </p:nvSpPr>
        <p:spPr bwMode="auto">
          <a:xfrm>
            <a:off x="1828800" y="152400"/>
            <a:ext cx="546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Deux cas simples (et fondamentaux)</a:t>
            </a:r>
          </a:p>
        </p:txBody>
      </p:sp>
      <p:sp>
        <p:nvSpPr>
          <p:cNvPr id="15370" name="Text Box 20"/>
          <p:cNvSpPr txBox="1">
            <a:spLocks noChangeArrowheads="1"/>
          </p:cNvSpPr>
          <p:nvPr/>
        </p:nvSpPr>
        <p:spPr bwMode="auto">
          <a:xfrm>
            <a:off x="847725" y="788988"/>
            <a:ext cx="3546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Matrice diagonale</a:t>
            </a:r>
            <a:r>
              <a:rPr lang="fr-FR" altLang="en-US" sz="1800"/>
              <a:t> : A=(a</a:t>
            </a:r>
            <a:r>
              <a:rPr lang="fr-FR" altLang="en-US" sz="1800" baseline="-25000"/>
              <a:t>ij</a:t>
            </a:r>
            <a:r>
              <a:rPr lang="fr-FR" altLang="en-US" sz="1800"/>
              <a:t>) avec </a:t>
            </a:r>
          </a:p>
        </p:txBody>
      </p:sp>
      <p:sp>
        <p:nvSpPr>
          <p:cNvPr id="15371" name="Rectangle 23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2" name="Rectangle 25"/>
          <p:cNvSpPr>
            <a:spLocks noChangeArrowheads="1"/>
          </p:cNvSpPr>
          <p:nvPr/>
        </p:nvSpPr>
        <p:spPr bwMode="auto">
          <a:xfrm>
            <a:off x="0" y="2846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5373" name="Object 24"/>
          <p:cNvGraphicFramePr>
            <a:graphicFrameLocks noChangeAspect="1"/>
          </p:cNvGraphicFramePr>
          <p:nvPr/>
        </p:nvGraphicFramePr>
        <p:xfrm>
          <a:off x="1476375" y="3289300"/>
          <a:ext cx="6380163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11" imgW="3543300" imgH="1447800" progId="Equation.DSMT4">
                  <p:embed/>
                </p:oleObj>
              </mc:Choice>
              <mc:Fallback>
                <p:oleObj name="Equation" r:id="rId11" imgW="3543300" imgH="1447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89300"/>
                        <a:ext cx="6380163" cy="260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26"/>
          <p:cNvSpPr>
            <a:spLocks noChangeArrowheads="1"/>
          </p:cNvSpPr>
          <p:nvPr/>
        </p:nvSpPr>
        <p:spPr bwMode="auto">
          <a:xfrm>
            <a:off x="457200" y="5783263"/>
            <a:ext cx="1236663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/>
              <a:t>Pour n 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ja-JP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/>
              <a:t>pour n-1 : </a:t>
            </a:r>
          </a:p>
        </p:txBody>
      </p:sp>
      <p:sp>
        <p:nvSpPr>
          <p:cNvPr id="15375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5376" name="Object 27"/>
          <p:cNvGraphicFramePr>
            <a:graphicFrameLocks noChangeAspect="1"/>
          </p:cNvGraphicFramePr>
          <p:nvPr/>
        </p:nvGraphicFramePr>
        <p:xfrm>
          <a:off x="1600200" y="6172200"/>
          <a:ext cx="24288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13" imgW="1612900" imgH="241300" progId="Equation.DSMT4">
                  <p:embed/>
                </p:oleObj>
              </mc:Choice>
              <mc:Fallback>
                <p:oleObj name="Equation" r:id="rId13" imgW="16129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6172200"/>
                        <a:ext cx="242887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29"/>
          <p:cNvGraphicFramePr>
            <a:graphicFrameLocks noChangeAspect="1"/>
          </p:cNvGraphicFramePr>
          <p:nvPr/>
        </p:nvGraphicFramePr>
        <p:xfrm>
          <a:off x="4876800" y="6040438"/>
          <a:ext cx="265271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15" imgW="1764534" imgH="444307" progId="Equation.DSMT4">
                  <p:embed/>
                </p:oleObj>
              </mc:Choice>
              <mc:Fallback>
                <p:oleObj name="Equation" r:id="rId15" imgW="1764534" imgH="444307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040438"/>
                        <a:ext cx="265271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32"/>
          <p:cNvGraphicFramePr>
            <a:graphicFrameLocks noChangeAspect="1"/>
          </p:cNvGraphicFramePr>
          <p:nvPr/>
        </p:nvGraphicFramePr>
        <p:xfrm>
          <a:off x="1447800" y="5810250"/>
          <a:ext cx="11445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Equation" r:id="rId17" imgW="761669" imgH="241195" progId="Equation.DSMT4">
                  <p:embed/>
                </p:oleObj>
              </mc:Choice>
              <mc:Fallback>
                <p:oleObj name="Equation" r:id="rId17" imgW="761669" imgH="24119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810250"/>
                        <a:ext cx="1144588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AutoShape 33"/>
          <p:cNvSpPr>
            <a:spLocks noChangeArrowheads="1"/>
          </p:cNvSpPr>
          <p:nvPr/>
        </p:nvSpPr>
        <p:spPr bwMode="auto">
          <a:xfrm>
            <a:off x="4343400" y="6324600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BA44E-4C89-4E52-8E86-D5651B9C8439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3</a:t>
            </a:fld>
            <a:r>
              <a:rPr lang="fr-FR" altLang="en-US" sz="1200" b="0" smtClean="0"/>
              <a:t>/21</a:t>
            </a:r>
          </a:p>
        </p:txBody>
      </p:sp>
      <p:graphicFrame>
        <p:nvGraphicFramePr>
          <p:cNvPr id="16387" name="Object 13"/>
          <p:cNvGraphicFramePr>
            <a:graphicFrameLocks noChangeAspect="1"/>
          </p:cNvGraphicFramePr>
          <p:nvPr/>
        </p:nvGraphicFramePr>
        <p:xfrm>
          <a:off x="57150" y="1387475"/>
          <a:ext cx="5213350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" imgW="2895600" imgH="1320800" progId="Equation.DSMT4">
                  <p:embed/>
                </p:oleObj>
              </mc:Choice>
              <mc:Fallback>
                <p:oleObj name="Equation" r:id="rId3" imgW="2895600" imgH="1320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1387475"/>
                        <a:ext cx="5213350" cy="237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533400" y="3886200"/>
            <a:ext cx="297815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en-US" sz="1800"/>
              <a:t>Code Matlab de résolution 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A =[1 2 3;</a:t>
            </a:r>
            <a:endParaRPr lang="en-GB" altLang="en-US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0 1 1; </a:t>
            </a:r>
            <a:endParaRPr lang="en-GB" altLang="en-US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0 0 2];</a:t>
            </a:r>
            <a:endParaRPr lang="en-GB" altLang="en-US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GB" altLang="en-US" sz="18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b =[1 2 3]';</a:t>
            </a: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5791200" y="2057400"/>
          <a:ext cx="27463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5" imgW="1524000" imgH="457200" progId="Equation.DSMT4">
                  <p:embed/>
                </p:oleObj>
              </mc:Choice>
              <mc:Fallback>
                <p:oleObj name="Equation" r:id="rId5" imgW="15240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057400"/>
                        <a:ext cx="27463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828800" y="152400"/>
            <a:ext cx="546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Deux cas simples (et fondamentaux)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914400" y="838200"/>
            <a:ext cx="624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Matrice triangulaire supérieure U</a:t>
            </a:r>
            <a:r>
              <a:rPr lang="fr-FR" altLang="en-US" sz="1800"/>
              <a:t> : Méthode de remontée 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Text Box 14"/>
          <p:cNvSpPr txBox="1">
            <a:spLocks noChangeArrowheads="1"/>
          </p:cNvSpPr>
          <p:nvPr/>
        </p:nvSpPr>
        <p:spPr bwMode="auto">
          <a:xfrm>
            <a:off x="5410200" y="1636713"/>
            <a:ext cx="2563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Pour k=n-1 à 1 (pas -1)</a:t>
            </a:r>
          </a:p>
        </p:txBody>
      </p:sp>
      <p:sp>
        <p:nvSpPr>
          <p:cNvPr id="16394" name="Text Box 15"/>
          <p:cNvSpPr txBox="1">
            <a:spLocks noChangeArrowheads="1"/>
          </p:cNvSpPr>
          <p:nvPr/>
        </p:nvSpPr>
        <p:spPr bwMode="auto">
          <a:xfrm>
            <a:off x="5410200" y="2895600"/>
            <a:ext cx="120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Fin pour k</a:t>
            </a:r>
          </a:p>
        </p:txBody>
      </p:sp>
      <p:sp>
        <p:nvSpPr>
          <p:cNvPr id="16395" name="Rectangle 16"/>
          <p:cNvSpPr>
            <a:spLocks noChangeArrowheads="1"/>
          </p:cNvSpPr>
          <p:nvPr/>
        </p:nvSpPr>
        <p:spPr bwMode="auto">
          <a:xfrm>
            <a:off x="4343400" y="4019550"/>
            <a:ext cx="3597275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n = size(A,1);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x = zeros(n,1);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x(n)=b(n)/A(n,n);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n-1:-1:1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l=k+1:n;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v=A(k,l)*x(l);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x(k)=(b(k)-v)/A(k,k);</a:t>
            </a:r>
            <a:endParaRPr lang="en-GB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grpSp>
        <p:nvGrpSpPr>
          <p:cNvPr id="16396" name="Group 20"/>
          <p:cNvGrpSpPr>
            <a:grpSpLocks/>
          </p:cNvGrpSpPr>
          <p:nvPr/>
        </p:nvGrpSpPr>
        <p:grpSpPr bwMode="auto">
          <a:xfrm>
            <a:off x="7315200" y="2895600"/>
            <a:ext cx="609600" cy="2971800"/>
            <a:chOff x="4800" y="1824"/>
            <a:chExt cx="384" cy="1872"/>
          </a:xfrm>
        </p:grpSpPr>
        <p:sp>
          <p:nvSpPr>
            <p:cNvPr id="16398" name="Line 18"/>
            <p:cNvSpPr>
              <a:spLocks noChangeShapeType="1"/>
            </p:cNvSpPr>
            <p:nvPr/>
          </p:nvSpPr>
          <p:spPr bwMode="auto">
            <a:xfrm>
              <a:off x="4800" y="3696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399" name="Line 19"/>
            <p:cNvSpPr>
              <a:spLocks noChangeShapeType="1"/>
            </p:cNvSpPr>
            <p:nvPr/>
          </p:nvSpPr>
          <p:spPr bwMode="auto">
            <a:xfrm flipV="1">
              <a:off x="5184" y="1824"/>
              <a:ext cx="0" cy="18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6397" name="Object 21"/>
          <p:cNvGraphicFramePr>
            <a:graphicFrameLocks noChangeAspect="1"/>
          </p:cNvGraphicFramePr>
          <p:nvPr/>
        </p:nvGraphicFramePr>
        <p:xfrm>
          <a:off x="5430838" y="1284288"/>
          <a:ext cx="13747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7" imgW="761669" imgH="241195" progId="Equation.DSMT4">
                  <p:embed/>
                </p:oleObj>
              </mc:Choice>
              <mc:Fallback>
                <p:oleObj name="Equation" r:id="rId7" imgW="761669" imgH="24119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838" y="1284288"/>
                        <a:ext cx="137477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32F12A-2C00-49D6-A396-32CA5BC3324E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4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629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Deux familles de méthodes 		(1/2)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381000" y="728663"/>
            <a:ext cx="8534400" cy="605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Méthodes directes les plus connues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800" b="1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Méthode de Gauss (matrice quelconque)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Méthode de Cholesky-Crout (matrice symétrique définie positive </a:t>
            </a:r>
            <a:r>
              <a:rPr lang="fr-FR" altLang="en-US" sz="1800">
                <a:sym typeface="Symbol" panose="05050102010706020507" pitchFamily="18" charset="2"/>
              </a:rPr>
              <a:t> valeurs propres strictement positives</a:t>
            </a:r>
            <a:r>
              <a:rPr lang="fr-FR" altLang="en-US" sz="1800"/>
              <a:t>)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matrice est d</a:t>
            </a:r>
            <a:r>
              <a:rPr lang="ja-JP" altLang="fr-FR" sz="1800"/>
              <a:t>’</a:t>
            </a:r>
            <a:r>
              <a:rPr lang="fr-FR" altLang="ja-JP" sz="1800"/>
              <a:t>abord factorisée en un produit de matrices triangulaires, avant de procéder à la résolution du système linéaire.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Lors de la factorisation, certains termes sont modifiés n fois (matrice dim nxn) </a:t>
            </a:r>
            <a:r>
              <a:rPr lang="fr-FR" altLang="en-US" sz="1800">
                <a:sym typeface="Symbol" panose="05050102010706020507" pitchFamily="18" charset="2"/>
              </a:rPr>
              <a:t></a:t>
            </a:r>
            <a:r>
              <a:rPr lang="fr-FR" altLang="en-US" sz="1800">
                <a:sym typeface="Wingdings" panose="05000000000000000000" pitchFamily="2" charset="2"/>
              </a:rPr>
              <a:t> accumulation des erreurs de calculs.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ym typeface="Wingdings" panose="05000000000000000000" pitchFamily="2" charset="2"/>
              </a:rPr>
              <a:t>L</a:t>
            </a:r>
            <a:r>
              <a:rPr lang="ja-JP" altLang="fr-FR" sz="1800">
                <a:sym typeface="Wingdings" panose="05000000000000000000" pitchFamily="2" charset="2"/>
              </a:rPr>
              <a:t>’</a:t>
            </a:r>
            <a:r>
              <a:rPr lang="fr-FR" altLang="ja-JP" sz="1800">
                <a:sym typeface="Wingdings" panose="05000000000000000000" pitchFamily="2" charset="2"/>
              </a:rPr>
              <a:t>algorithme effectue les mêmes opérations indépendamment des valeurs numériques manipulées </a:t>
            </a:r>
            <a:r>
              <a:rPr lang="fr-FR" altLang="ja-JP" sz="1800">
                <a:sym typeface="Symbol" panose="05050102010706020507" pitchFamily="18" charset="2"/>
              </a:rPr>
              <a:t>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	</a:t>
            </a:r>
            <a:r>
              <a:rPr lang="fr-FR" altLang="en-US" sz="1800">
                <a:sym typeface="Wingdings" panose="05000000000000000000" pitchFamily="2" charset="2"/>
              </a:rPr>
              <a:t>un résultat est toujours obtenu.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ym typeface="Wingdings" panose="05000000000000000000" pitchFamily="2" charset="2"/>
              </a:rPr>
              <a:t>	La durée de calcul est en n</a:t>
            </a:r>
            <a:r>
              <a:rPr lang="fr-FR" altLang="en-US" sz="1800" baseline="30000">
                <a:sym typeface="Wingdings" panose="05000000000000000000" pitchFamily="2" charset="2"/>
              </a:rPr>
              <a:t>3</a:t>
            </a:r>
            <a:r>
              <a:rPr lang="fr-FR" altLang="en-US" sz="1800" baseline="-25000">
                <a:sym typeface="Wingdings" panose="05000000000000000000" pitchFamily="2" charset="2"/>
              </a:rPr>
              <a:t> </a:t>
            </a:r>
            <a:r>
              <a:rPr lang="fr-FR" altLang="en-US" sz="1800">
                <a:sym typeface="Wingdings" panose="05000000000000000000" pitchFamily="2" charset="2"/>
              </a:rPr>
              <a:t>et ne dépend que de n.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800">
              <a:sym typeface="Wingdings" panose="05000000000000000000" pitchFamily="2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fr-FR" altLang="en-US" sz="1800"/>
              <a:t>Dans le cas de matrices mal conditionnées, la solution risque d</a:t>
            </a:r>
            <a:r>
              <a:rPr lang="ja-JP" altLang="fr-FR" sz="1800"/>
              <a:t>’</a:t>
            </a:r>
            <a:r>
              <a:rPr lang="fr-FR" altLang="ja-JP" sz="1800"/>
              <a:t>être erronée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2D9C28-ABC5-4EB2-A195-A4E8E1BBEF5B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5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2667000" y="152400"/>
            <a:ext cx="629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Deux familles de méthodes		(2/2)</a:t>
            </a:r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381000" y="619125"/>
            <a:ext cx="853440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Méthodes itératives les plus connues: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Méthode du gradient (matrice symétrique définie positive)</a:t>
            </a:r>
            <a:endParaRPr lang="fr-FR" altLang="en-US" sz="1800" b="1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Méthode du gradient conjugué (matrice symétrique définie positive)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Méthode du bi-gradient conjugué (matrice quelconque)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Partant qu</a:t>
            </a:r>
            <a:r>
              <a:rPr lang="ja-JP" altLang="fr-FR" sz="1800"/>
              <a:t>’</a:t>
            </a:r>
            <a:r>
              <a:rPr lang="fr-FR" altLang="ja-JP" sz="1800"/>
              <a:t>un vecteur </a:t>
            </a:r>
            <a:r>
              <a:rPr lang="fr-FR" altLang="ja-JP" sz="1800" b="1"/>
              <a:t>x</a:t>
            </a:r>
            <a:r>
              <a:rPr lang="fr-FR" altLang="ja-JP" sz="1800" baseline="-25000"/>
              <a:t>0</a:t>
            </a:r>
            <a:r>
              <a:rPr lang="fr-FR" altLang="ja-JP" sz="1800"/>
              <a:t> , Il s</a:t>
            </a:r>
            <a:r>
              <a:rPr lang="ja-JP" altLang="fr-FR" sz="1800"/>
              <a:t>’</a:t>
            </a:r>
            <a:r>
              <a:rPr lang="fr-FR" altLang="ja-JP" sz="1800"/>
              <a:t>agit de construire une suite de vecteurs </a:t>
            </a:r>
            <a:r>
              <a:rPr lang="fr-FR" altLang="ja-JP" sz="1800" b="1"/>
              <a:t>x</a:t>
            </a:r>
            <a:r>
              <a:rPr lang="fr-FR" altLang="ja-JP" sz="1800" baseline="-25000"/>
              <a:t>p </a:t>
            </a:r>
            <a:r>
              <a:rPr lang="fr-FR" altLang="ja-JP" sz="1800"/>
              <a:t>de manière récurrente permettant de s</a:t>
            </a:r>
            <a:r>
              <a:rPr lang="ja-JP" altLang="fr-FR" sz="1800"/>
              <a:t>’</a:t>
            </a:r>
            <a:r>
              <a:rPr lang="fr-FR" altLang="ja-JP" sz="1800"/>
              <a:t>approcher à chaque itération de la solution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procédure s</a:t>
            </a:r>
            <a:r>
              <a:rPr lang="ja-JP" altLang="fr-FR" sz="1800"/>
              <a:t>’</a:t>
            </a:r>
            <a:r>
              <a:rPr lang="fr-FR" altLang="ja-JP" sz="1800"/>
              <a:t>arrête d</a:t>
            </a:r>
            <a:r>
              <a:rPr lang="ja-JP" altLang="fr-FR" sz="1800"/>
              <a:t>’</a:t>
            </a:r>
            <a:r>
              <a:rPr lang="fr-FR" altLang="ja-JP" sz="1800"/>
              <a:t>après le critère :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algorithme peut ne pas converger s</a:t>
            </a:r>
            <a:r>
              <a:rPr lang="ja-JP" altLang="fr-FR" sz="1800"/>
              <a:t>’</a:t>
            </a:r>
            <a:r>
              <a:rPr lang="fr-FR" altLang="ja-JP" sz="1800"/>
              <a:t>il n</a:t>
            </a:r>
            <a:r>
              <a:rPr lang="ja-JP" altLang="fr-FR" sz="1800"/>
              <a:t>’</a:t>
            </a:r>
            <a:r>
              <a:rPr lang="fr-FR" altLang="ja-JP" sz="1800"/>
              <a:t>est pas adapté à la structure de la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matrice ou si elle est mal conditionnée.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Mais si une solution est trouvée elle est nécessairement valide compte tenu de la précision relative demandée</a:t>
            </a:r>
          </a:p>
        </p:txBody>
      </p:sp>
      <p:graphicFrame>
        <p:nvGraphicFramePr>
          <p:cNvPr id="18437" name="Object 9"/>
          <p:cNvGraphicFramePr>
            <a:graphicFrameLocks noChangeAspect="1"/>
          </p:cNvGraphicFramePr>
          <p:nvPr/>
        </p:nvGraphicFramePr>
        <p:xfrm>
          <a:off x="4927600" y="3362325"/>
          <a:ext cx="251301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3" imgW="1396394" imgH="545863" progId="Equation.DSMT4">
                  <p:embed/>
                </p:oleObj>
              </mc:Choice>
              <mc:Fallback>
                <p:oleObj name="Equation" r:id="rId3" imgW="1396394" imgH="54586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3362325"/>
                        <a:ext cx="251301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B9E5AD-7C09-4C41-907F-1964ABF43890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6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457200" y="1042988"/>
            <a:ext cx="8305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Etape 1 :</a:t>
            </a:r>
            <a:r>
              <a:rPr lang="fr-FR" altLang="en-US" sz="1800" b="1"/>
              <a:t> factorisation de la matrice A</a:t>
            </a:r>
            <a:endParaRPr lang="fr-FR" altLang="en-US" sz="18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matrice A est décomposée en un produit de matrices simples à inverser.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	Par exemple A=LU avec L et U triangulaires respectivement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	inférieure et supérieure.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Etape 2 : </a:t>
            </a:r>
            <a:r>
              <a:rPr lang="fr-FR" altLang="en-US" sz="1800" b="1"/>
              <a:t>résolution</a:t>
            </a:r>
            <a:r>
              <a:rPr lang="fr-FR" altLang="en-US" sz="1800"/>
              <a:t>	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A partir de la factorisation (puisque c</a:t>
            </a:r>
            <a:r>
              <a:rPr lang="ja-JP" altLang="fr-FR" sz="1800"/>
              <a:t>’</a:t>
            </a:r>
            <a:r>
              <a:rPr lang="fr-FR" altLang="ja-JP" sz="1800"/>
              <a:t>est simple !).</a:t>
            </a:r>
            <a:endParaRPr lang="fr-FR" altLang="en-US" sz="1800">
              <a:sym typeface="Wingdings 3" panose="05040102010807070707" pitchFamily="18" charset="2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477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Principe des méthodes directes</a:t>
            </a:r>
          </a:p>
        </p:txBody>
      </p:sp>
      <p:sp>
        <p:nvSpPr>
          <p:cNvPr id="19461" name="Rectangle 11"/>
          <p:cNvSpPr>
            <a:spLocks noChangeArrowheads="1"/>
          </p:cNvSpPr>
          <p:nvPr/>
        </p:nvSpPr>
        <p:spPr bwMode="auto">
          <a:xfrm>
            <a:off x="225425" y="4959350"/>
            <a:ext cx="2047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600"/>
              <a:t> </a:t>
            </a:r>
            <a:endParaRPr lang="fr-FR" altLang="en-US" sz="1800"/>
          </a:p>
        </p:txBody>
      </p:sp>
      <p:sp>
        <p:nvSpPr>
          <p:cNvPr id="19462" name="Rectangle 14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9463" name="Object 15"/>
          <p:cNvGraphicFramePr>
            <a:graphicFrameLocks noChangeAspect="1"/>
          </p:cNvGraphicFramePr>
          <p:nvPr/>
        </p:nvGraphicFramePr>
        <p:xfrm>
          <a:off x="1981200" y="3810000"/>
          <a:ext cx="26098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3" imgW="1447172" imgH="203112" progId="Equation.DSMT4">
                  <p:embed/>
                </p:oleObj>
              </mc:Choice>
              <mc:Fallback>
                <p:oleObj name="Equation" r:id="rId3" imgW="1447172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10000"/>
                        <a:ext cx="26098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16"/>
          <p:cNvSpPr txBox="1">
            <a:spLocks noChangeArrowheads="1"/>
          </p:cNvSpPr>
          <p:nvPr/>
        </p:nvSpPr>
        <p:spPr bwMode="auto">
          <a:xfrm>
            <a:off x="974725" y="437991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posant</a:t>
            </a:r>
          </a:p>
        </p:txBody>
      </p:sp>
      <p:graphicFrame>
        <p:nvGraphicFramePr>
          <p:cNvPr id="19465" name="Object 17"/>
          <p:cNvGraphicFramePr>
            <a:graphicFrameLocks noChangeAspect="1"/>
          </p:cNvGraphicFramePr>
          <p:nvPr/>
        </p:nvGraphicFramePr>
        <p:xfrm>
          <a:off x="2209800" y="4419600"/>
          <a:ext cx="48561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5" imgW="2692400" imgH="457200" progId="Equation.DSMT4">
                  <p:embed/>
                </p:oleObj>
              </mc:Choice>
              <mc:Fallback>
                <p:oleObj name="Equation" r:id="rId5" imgW="26924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9600"/>
                        <a:ext cx="48561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9"/>
          <p:cNvGraphicFramePr>
            <a:graphicFrameLocks noChangeAspect="1"/>
          </p:cNvGraphicFramePr>
          <p:nvPr/>
        </p:nvGraphicFramePr>
        <p:xfrm>
          <a:off x="2743200" y="5334000"/>
          <a:ext cx="4213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7" imgW="2336800" imgH="254000" progId="Equation.DSMT4">
                  <p:embed/>
                </p:oleObj>
              </mc:Choice>
              <mc:Fallback>
                <p:oleObj name="Equation" r:id="rId7" imgW="23368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34000"/>
                        <a:ext cx="42132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40D78E-760E-41C5-ABD5-C144F695FC0A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7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2667000" y="152400"/>
            <a:ext cx="477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Principe des méthodes directes</a:t>
            </a:r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657225" y="1003300"/>
          <a:ext cx="5064125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3" imgW="2819400" imgH="1358900" progId="Equation.DSMT4">
                  <p:embed/>
                </p:oleObj>
              </mc:Choice>
              <mc:Fallback>
                <p:oleObj name="Equation" r:id="rId3" imgW="2819400" imgH="1358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1003300"/>
                        <a:ext cx="5064125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990600" y="609600"/>
            <a:ext cx="598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Matrice triangulaire inférieure L</a:t>
            </a:r>
            <a:r>
              <a:rPr lang="fr-FR" altLang="en-US" sz="1800"/>
              <a:t> : méthode de descente</a:t>
            </a:r>
          </a:p>
        </p:txBody>
      </p:sp>
      <p:graphicFrame>
        <p:nvGraphicFramePr>
          <p:cNvPr id="20486" name="Object 7"/>
          <p:cNvGraphicFramePr>
            <a:graphicFrameLocks noChangeAspect="1"/>
          </p:cNvGraphicFramePr>
          <p:nvPr/>
        </p:nvGraphicFramePr>
        <p:xfrm>
          <a:off x="6096000" y="1676400"/>
          <a:ext cx="29035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5" imgW="1612900" imgH="469900" progId="Equation.DSMT4">
                  <p:embed/>
                </p:oleObj>
              </mc:Choice>
              <mc:Fallback>
                <p:oleObj name="Equation" r:id="rId5" imgW="1612900" imgH="469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76400"/>
                        <a:ext cx="29035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14"/>
          <p:cNvSpPr txBox="1">
            <a:spLocks noChangeArrowheads="1"/>
          </p:cNvSpPr>
          <p:nvPr/>
        </p:nvSpPr>
        <p:spPr bwMode="auto">
          <a:xfrm>
            <a:off x="5829300" y="1371600"/>
            <a:ext cx="149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Pour k=2 à n</a:t>
            </a:r>
          </a:p>
        </p:txBody>
      </p:sp>
      <p:sp>
        <p:nvSpPr>
          <p:cNvPr id="20488" name="Text Box 15"/>
          <p:cNvSpPr txBox="1">
            <a:spLocks noChangeArrowheads="1"/>
          </p:cNvSpPr>
          <p:nvPr/>
        </p:nvSpPr>
        <p:spPr bwMode="auto">
          <a:xfrm>
            <a:off x="5867400" y="2528888"/>
            <a:ext cx="120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Fin pour k</a:t>
            </a:r>
          </a:p>
        </p:txBody>
      </p:sp>
      <p:sp>
        <p:nvSpPr>
          <p:cNvPr id="20489" name="Rectangle 16"/>
          <p:cNvSpPr>
            <a:spLocks noChangeArrowheads="1"/>
          </p:cNvSpPr>
          <p:nvPr/>
        </p:nvSpPr>
        <p:spPr bwMode="auto">
          <a:xfrm>
            <a:off x="1066800" y="3443288"/>
            <a:ext cx="297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en-US" sz="1800"/>
              <a:t>Code Matlab de résolution :</a:t>
            </a:r>
          </a:p>
        </p:txBody>
      </p:sp>
      <p:sp>
        <p:nvSpPr>
          <p:cNvPr id="20490" name="Text Box 17"/>
          <p:cNvSpPr txBox="1">
            <a:spLocks noChangeArrowheads="1"/>
          </p:cNvSpPr>
          <p:nvPr/>
        </p:nvSpPr>
        <p:spPr bwMode="auto">
          <a:xfrm>
            <a:off x="1682750" y="3986213"/>
            <a:ext cx="1822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A =[2 0 0;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1 1 0;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1 2 3];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b =[1 2 3]';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20491" name="Text Box 18"/>
          <p:cNvSpPr txBox="1">
            <a:spLocks noChangeArrowheads="1"/>
          </p:cNvSpPr>
          <p:nvPr/>
        </p:nvSpPr>
        <p:spPr bwMode="auto">
          <a:xfrm>
            <a:off x="4251325" y="3886200"/>
            <a:ext cx="35972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n = size(A,1);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y = zeros(n,1);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y(1)=b(1)/A(1,1);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2:n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l=1:k-1;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v=A(k,l)*y(l);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y(k)=(b(k)-v)/A(k,k);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graphicFrame>
        <p:nvGraphicFramePr>
          <p:cNvPr id="20492" name="Object 19"/>
          <p:cNvGraphicFramePr>
            <a:graphicFrameLocks noChangeAspect="1"/>
          </p:cNvGraphicFramePr>
          <p:nvPr/>
        </p:nvGraphicFramePr>
        <p:xfrm>
          <a:off x="5867400" y="990600"/>
          <a:ext cx="12573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7" imgW="698500" imgH="241300" progId="Equation.DSMT4">
                  <p:embed/>
                </p:oleObj>
              </mc:Choice>
              <mc:Fallback>
                <p:oleObj name="Equation" r:id="rId7" imgW="698500" imgH="241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990600"/>
                        <a:ext cx="12573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3DD956-65BE-4D99-97F3-FA2B6EFED332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8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838200" y="514350"/>
            <a:ext cx="80772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fr-FR" altLang="en-US" sz="1800"/>
              <a:t> Domaine de validité : </a:t>
            </a:r>
            <a:r>
              <a:rPr lang="fr-FR" altLang="en-US" sz="1800" b="1" i="1">
                <a:solidFill>
                  <a:srgbClr val="A50021"/>
                </a:solidFill>
              </a:rPr>
              <a:t>toutes matrices</a:t>
            </a:r>
            <a:endParaRPr lang="fr-FR" altLang="en-US" sz="1800" b="1">
              <a:solidFill>
                <a:srgbClr val="A5002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Décomposition de A=LU où</a:t>
            </a:r>
          </a:p>
          <a:p>
            <a:pPr lvl="1">
              <a:lnSpc>
                <a:spcPct val="14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U matrice triangulaire supérieure,</a:t>
            </a:r>
          </a:p>
          <a:p>
            <a:pPr lvl="1">
              <a:lnSpc>
                <a:spcPct val="14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L matrice triangulaire inférieure</a:t>
            </a: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2743200" y="76200"/>
            <a:ext cx="40433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Factorisation de Gauss LU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 b="1">
              <a:solidFill>
                <a:schemeClr val="accent2"/>
              </a:solidFill>
            </a:endParaRPr>
          </a:p>
        </p:txBody>
      </p:sp>
      <p:graphicFrame>
        <p:nvGraphicFramePr>
          <p:cNvPr id="21509" name="Object 11"/>
          <p:cNvGraphicFramePr>
            <a:graphicFrameLocks noChangeAspect="1"/>
          </p:cNvGraphicFramePr>
          <p:nvPr/>
        </p:nvGraphicFramePr>
        <p:xfrm>
          <a:off x="1028700" y="2759075"/>
          <a:ext cx="6402388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3" imgW="3556000" imgH="1358900" progId="Equation.DSMT4">
                  <p:embed/>
                </p:oleObj>
              </mc:Choice>
              <mc:Fallback>
                <p:oleObj name="Equation" r:id="rId3" imgW="3556000" imgH="1358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759075"/>
                        <a:ext cx="6402388" cy="244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E9458-8B9D-45F2-87C0-958915A8D387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9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06375" y="76200"/>
            <a:ext cx="573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Exemple de factorisation de Gauss LU</a:t>
            </a:r>
          </a:p>
        </p:txBody>
      </p:sp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5776913" y="250825"/>
          <a:ext cx="22240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3" imgW="1231366" imgH="710891" progId="Equation.DSMT4">
                  <p:embed/>
                </p:oleObj>
              </mc:Choice>
              <mc:Fallback>
                <p:oleObj name="Equation" r:id="rId3" imgW="1231366" imgH="7108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250825"/>
                        <a:ext cx="2224087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10"/>
          <p:cNvSpPr>
            <a:spLocks noChangeArrowheads="1"/>
          </p:cNvSpPr>
          <p:nvPr/>
        </p:nvSpPr>
        <p:spPr bwMode="auto">
          <a:xfrm>
            <a:off x="609600" y="990600"/>
            <a:ext cx="2192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Initialisation : A</a:t>
            </a:r>
            <a:r>
              <a:rPr lang="fr-FR" altLang="en-US" sz="1800" baseline="30000"/>
              <a:t>(1)</a:t>
            </a:r>
            <a:r>
              <a:rPr lang="fr-FR" altLang="en-US" sz="1800"/>
              <a:t>=A</a:t>
            </a:r>
          </a:p>
        </p:txBody>
      </p:sp>
      <p:sp>
        <p:nvSpPr>
          <p:cNvPr id="22535" name="Rectangle 11"/>
          <p:cNvSpPr>
            <a:spLocks noChangeArrowheads="1"/>
          </p:cNvSpPr>
          <p:nvPr/>
        </p:nvSpPr>
        <p:spPr bwMode="auto">
          <a:xfrm>
            <a:off x="609600" y="1600200"/>
            <a:ext cx="6796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Première étape : mettre des zéros dans la première colonne A</a:t>
            </a:r>
            <a:r>
              <a:rPr lang="fr-FR" altLang="en-US" sz="1800" baseline="30000"/>
              <a:t>(1)</a:t>
            </a:r>
            <a:r>
              <a:rPr lang="fr-FR" altLang="en-US" sz="1800"/>
              <a:t>  </a:t>
            </a:r>
          </a:p>
        </p:txBody>
      </p:sp>
      <p:sp>
        <p:nvSpPr>
          <p:cNvPr id="22536" name="Rectangle 14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37" name="Object 13"/>
          <p:cNvGraphicFramePr>
            <a:graphicFrameLocks noChangeAspect="1"/>
          </p:cNvGraphicFramePr>
          <p:nvPr/>
        </p:nvGraphicFramePr>
        <p:xfrm>
          <a:off x="533400" y="2182813"/>
          <a:ext cx="2008188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5" imgW="1257300" imgH="1066800" progId="Equation.DSMT4">
                  <p:embed/>
                </p:oleObj>
              </mc:Choice>
              <mc:Fallback>
                <p:oleObj name="Equation" r:id="rId5" imgW="1257300" imgH="1066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182813"/>
                        <a:ext cx="2008188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6"/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39" name="Object 15"/>
          <p:cNvGraphicFramePr>
            <a:graphicFrameLocks noChangeAspect="1"/>
          </p:cNvGraphicFramePr>
          <p:nvPr/>
        </p:nvGraphicFramePr>
        <p:xfrm>
          <a:off x="2646363" y="3009900"/>
          <a:ext cx="20780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7" imgW="2082800" imgH="876300" progId="Equation.3">
                  <p:embed/>
                </p:oleObj>
              </mc:Choice>
              <mc:Fallback>
                <p:oleObj name="Equation" r:id="rId7" imgW="2082800" imgH="876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3009900"/>
                        <a:ext cx="20780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8"/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41" name="Object 17"/>
          <p:cNvGraphicFramePr>
            <a:graphicFrameLocks noChangeAspect="1"/>
          </p:cNvGraphicFramePr>
          <p:nvPr/>
        </p:nvGraphicFramePr>
        <p:xfrm>
          <a:off x="5715000" y="2057400"/>
          <a:ext cx="2166938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9" imgW="1206500" imgH="1066800" progId="Equation.DSMT4">
                  <p:embed/>
                </p:oleObj>
              </mc:Choice>
              <mc:Fallback>
                <p:oleObj name="Equation" r:id="rId9" imgW="1206500" imgH="1066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7953"/>
                      <a:stretch>
                        <a:fillRect/>
                      </a:stretch>
                    </p:blipFill>
                    <p:spPr bwMode="auto">
                      <a:xfrm>
                        <a:off x="5715000" y="2057400"/>
                        <a:ext cx="2166938" cy="176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9"/>
          <p:cNvGraphicFramePr>
            <a:graphicFrameLocks noChangeAspect="1"/>
          </p:cNvGraphicFramePr>
          <p:nvPr/>
        </p:nvGraphicFramePr>
        <p:xfrm>
          <a:off x="5140325" y="2782888"/>
          <a:ext cx="269875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11" imgW="266469" imgH="190335" progId="Equation.3">
                  <p:embed/>
                </p:oleObj>
              </mc:Choice>
              <mc:Fallback>
                <p:oleObj name="Equation" r:id="rId11" imgW="266469" imgH="19033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2782888"/>
                        <a:ext cx="269875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Rectangle 22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44" name="Object 21"/>
          <p:cNvGraphicFramePr>
            <a:graphicFrameLocks noChangeAspect="1"/>
          </p:cNvGraphicFramePr>
          <p:nvPr/>
        </p:nvGraphicFramePr>
        <p:xfrm>
          <a:off x="563563" y="4572000"/>
          <a:ext cx="2027237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13" imgW="1270000" imgH="1066800" progId="Equation.DSMT4">
                  <p:embed/>
                </p:oleObj>
              </mc:Choice>
              <mc:Fallback>
                <p:oleObj name="Equation" r:id="rId13" imgW="1270000" imgH="1066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572000"/>
                        <a:ext cx="2027237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23"/>
          <p:cNvGraphicFramePr>
            <a:graphicFrameLocks noChangeAspect="1"/>
          </p:cNvGraphicFramePr>
          <p:nvPr/>
        </p:nvGraphicFramePr>
        <p:xfrm>
          <a:off x="2713038" y="5372100"/>
          <a:ext cx="20875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15" imgW="2082800" imgH="876300" progId="Equation.3">
                  <p:embed/>
                </p:oleObj>
              </mc:Choice>
              <mc:Fallback>
                <p:oleObj name="Equation" r:id="rId15" imgW="2082800" imgH="8763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5372100"/>
                        <a:ext cx="208756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6" name="Rectangle 26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2547" name="Object 25"/>
          <p:cNvGraphicFramePr>
            <a:graphicFrameLocks noChangeAspect="1"/>
          </p:cNvGraphicFramePr>
          <p:nvPr/>
        </p:nvGraphicFramePr>
        <p:xfrm>
          <a:off x="5257800" y="4648200"/>
          <a:ext cx="2771775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17" imgW="1536700" imgH="1041400" progId="Equation.DSMT4">
                  <p:embed/>
                </p:oleObj>
              </mc:Choice>
              <mc:Fallback>
                <p:oleObj name="Equation" r:id="rId17" imgW="1536700" imgH="1041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8156"/>
                      <a:stretch>
                        <a:fillRect/>
                      </a:stretch>
                    </p:blipFill>
                    <p:spPr bwMode="auto">
                      <a:xfrm>
                        <a:off x="5257800" y="4648200"/>
                        <a:ext cx="2771775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27"/>
          <p:cNvGraphicFramePr>
            <a:graphicFrameLocks noChangeAspect="1"/>
          </p:cNvGraphicFramePr>
          <p:nvPr/>
        </p:nvGraphicFramePr>
        <p:xfrm>
          <a:off x="4876800" y="5351463"/>
          <a:ext cx="269875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19" imgW="266469" imgH="190335" progId="Equation.3">
                  <p:embed/>
                </p:oleObj>
              </mc:Choice>
              <mc:Fallback>
                <p:oleObj name="Equation" r:id="rId19" imgW="266469" imgH="19033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51463"/>
                        <a:ext cx="269875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9" name="Rectangle 29"/>
          <p:cNvSpPr>
            <a:spLocks noChangeArrowheads="1"/>
          </p:cNvSpPr>
          <p:nvPr/>
        </p:nvSpPr>
        <p:spPr bwMode="auto">
          <a:xfrm>
            <a:off x="609600" y="4191000"/>
            <a:ext cx="7240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/>
              <a:t>Deuxième étape : mettre des zéros dans la deuxième colonne de A</a:t>
            </a:r>
            <a:r>
              <a:rPr lang="fr-FR" altLang="ja-JP" sz="1800" baseline="30000"/>
              <a:t>(2)</a:t>
            </a:r>
            <a:r>
              <a:rPr lang="fr-FR" altLang="ja-JP" sz="1800"/>
              <a:t> </a:t>
            </a:r>
          </a:p>
        </p:txBody>
      </p:sp>
      <p:sp>
        <p:nvSpPr>
          <p:cNvPr id="22550" name="Rectangle 30"/>
          <p:cNvSpPr>
            <a:spLocks noChangeArrowheads="1"/>
          </p:cNvSpPr>
          <p:nvPr/>
        </p:nvSpPr>
        <p:spPr bwMode="auto">
          <a:xfrm>
            <a:off x="2574925" y="2773363"/>
            <a:ext cx="239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000"/>
              <a:t> </a:t>
            </a:r>
            <a:r>
              <a:rPr lang="fr-FR" altLang="ja-JP" sz="600"/>
              <a:t> </a:t>
            </a:r>
            <a:endParaRPr lang="fr-FR" altLang="ja-JP" sz="1800"/>
          </a:p>
        </p:txBody>
      </p:sp>
      <p:sp>
        <p:nvSpPr>
          <p:cNvPr id="22551" name="Text Box 31"/>
          <p:cNvSpPr txBox="1">
            <a:spLocks noChangeArrowheads="1"/>
          </p:cNvSpPr>
          <p:nvPr/>
        </p:nvSpPr>
        <p:spPr bwMode="auto">
          <a:xfrm>
            <a:off x="5046663" y="68580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Soit</a:t>
            </a:r>
          </a:p>
        </p:txBody>
      </p:sp>
      <p:sp>
        <p:nvSpPr>
          <p:cNvPr id="22552" name="Line 32"/>
          <p:cNvSpPr>
            <a:spLocks noChangeShapeType="1"/>
          </p:cNvSpPr>
          <p:nvPr/>
        </p:nvSpPr>
        <p:spPr bwMode="auto">
          <a:xfrm flipH="1">
            <a:off x="685800" y="914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044833-7F09-4B52-87A4-E75010428E1D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10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3555" name="Rectangle 9"/>
          <p:cNvSpPr>
            <a:spLocks noChangeArrowheads="1"/>
          </p:cNvSpPr>
          <p:nvPr/>
        </p:nvSpPr>
        <p:spPr bwMode="auto">
          <a:xfrm>
            <a:off x="838200" y="304800"/>
            <a:ext cx="807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 Domaine de validité : </a:t>
            </a:r>
            <a:r>
              <a:rPr lang="fr-FR" altLang="en-US" sz="1800" b="1" i="1">
                <a:solidFill>
                  <a:srgbClr val="A50021"/>
                </a:solidFill>
              </a:rPr>
              <a:t>toutes matrices</a:t>
            </a:r>
            <a:endParaRPr lang="fr-FR" altLang="en-US" sz="1800" b="1">
              <a:solidFill>
                <a:srgbClr val="A5002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Algèbre : L</a:t>
            </a:r>
            <a:r>
              <a:rPr lang="fr-FR" altLang="en-US" sz="1800" baseline="30000"/>
              <a:t>-1</a:t>
            </a:r>
            <a:r>
              <a:rPr lang="fr-FR" altLang="en-US" sz="1800"/>
              <a:t>A=U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U matrice triangulaire supérieure,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L</a:t>
            </a:r>
            <a:r>
              <a:rPr lang="fr-FR" altLang="en-US" sz="1800" baseline="30000"/>
              <a:t>-1</a:t>
            </a:r>
            <a:r>
              <a:rPr lang="fr-FR" altLang="en-US" sz="1800"/>
              <a:t> matrice triangulaire inférieure, s</a:t>
            </a:r>
            <a:r>
              <a:rPr lang="ja-JP" altLang="fr-FR" sz="1800"/>
              <a:t>’</a:t>
            </a:r>
            <a:r>
              <a:rPr lang="fr-FR" altLang="ja-JP" sz="1800"/>
              <a:t>écrit comme le produit de</a:t>
            </a:r>
            <a:endParaRPr lang="fr-FR" altLang="en-US" sz="1800"/>
          </a:p>
        </p:txBody>
      </p:sp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1493838" y="2046288"/>
          <a:ext cx="59293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3" imgW="3289300" imgH="254000" progId="Equation.DSMT4">
                  <p:embed/>
                </p:oleObj>
              </mc:Choice>
              <mc:Fallback>
                <p:oleObj name="Equation" r:id="rId3" imgW="32893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2046288"/>
                        <a:ext cx="59293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4545013" y="2351088"/>
          <a:ext cx="3997325" cy="257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5" imgW="2489200" imgH="1600200" progId="Equation.DSMT4">
                  <p:embed/>
                </p:oleObj>
              </mc:Choice>
              <mc:Fallback>
                <p:oleObj name="Equation" r:id="rId5" imgW="2489200" imgH="160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2351088"/>
                        <a:ext cx="3997325" cy="257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14"/>
          <p:cNvSpPr>
            <a:spLocks noChangeArrowheads="1"/>
          </p:cNvSpPr>
          <p:nvPr/>
        </p:nvSpPr>
        <p:spPr bwMode="auto">
          <a:xfrm>
            <a:off x="768350" y="5791200"/>
            <a:ext cx="761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A50021"/>
                </a:solidFill>
              </a:rPr>
              <a:t>Des problèmes de stabilité peut apparaître que si le pivot a</a:t>
            </a:r>
            <a:r>
              <a:rPr lang="fr-FR" altLang="en-US" sz="1800" baseline="-25000">
                <a:solidFill>
                  <a:srgbClr val="A50021"/>
                </a:solidFill>
              </a:rPr>
              <a:t>kk</a:t>
            </a:r>
            <a:r>
              <a:rPr lang="fr-FR" altLang="en-US" sz="1800">
                <a:solidFill>
                  <a:srgbClr val="A50021"/>
                </a:solidFill>
              </a:rPr>
              <a:t> est trop petit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A50021"/>
                </a:solidFill>
              </a:rPr>
              <a:t>en module. </a:t>
            </a:r>
          </a:p>
        </p:txBody>
      </p:sp>
      <p:sp>
        <p:nvSpPr>
          <p:cNvPr id="23559" name="Text Box 15"/>
          <p:cNvSpPr txBox="1">
            <a:spLocks noChangeArrowheads="1"/>
          </p:cNvSpPr>
          <p:nvPr/>
        </p:nvSpPr>
        <p:spPr bwMode="auto">
          <a:xfrm>
            <a:off x="3694113" y="76200"/>
            <a:ext cx="209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Factorisation</a:t>
            </a:r>
          </a:p>
        </p:txBody>
      </p:sp>
      <p:sp>
        <p:nvSpPr>
          <p:cNvPr id="23560" name="Rectangle 17"/>
          <p:cNvSpPr>
            <a:spLocks noChangeArrowheads="1"/>
          </p:cNvSpPr>
          <p:nvPr/>
        </p:nvSpPr>
        <p:spPr bwMode="auto">
          <a:xfrm>
            <a:off x="838200" y="2743200"/>
            <a:ext cx="3968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Où L</a:t>
            </a:r>
            <a:r>
              <a:rPr lang="fr-FR" altLang="en-US" sz="1800" baseline="-25000"/>
              <a:t>k</a:t>
            </a:r>
            <a:r>
              <a:rPr lang="fr-FR" altLang="en-US" sz="1800" baseline="30000"/>
              <a:t>-1 </a:t>
            </a:r>
            <a:r>
              <a:rPr lang="fr-FR" altLang="en-US" sz="1800"/>
              <a:t>est la matrice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élimination élémentaire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Elle permet d</a:t>
            </a:r>
            <a:r>
              <a:rPr lang="ja-JP" altLang="fr-FR" sz="1800"/>
              <a:t>’</a:t>
            </a:r>
            <a:r>
              <a:rPr lang="fr-FR" altLang="ja-JP" sz="1800"/>
              <a:t>annuler les coefficients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 la sous-colonne k :</a:t>
            </a:r>
          </a:p>
        </p:txBody>
      </p:sp>
      <p:sp>
        <p:nvSpPr>
          <p:cNvPr id="23561" name="Rectangle 19"/>
          <p:cNvSpPr>
            <a:spLocks noChangeArrowheads="1"/>
          </p:cNvSpPr>
          <p:nvPr/>
        </p:nvSpPr>
        <p:spPr bwMode="auto">
          <a:xfrm>
            <a:off x="-228600" y="3614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3562" name="Object 18"/>
          <p:cNvGraphicFramePr>
            <a:graphicFrameLocks noChangeAspect="1"/>
          </p:cNvGraphicFramePr>
          <p:nvPr/>
        </p:nvGraphicFramePr>
        <p:xfrm>
          <a:off x="1001713" y="4238625"/>
          <a:ext cx="17478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7" imgW="977900" imgH="228600" progId="Equation.DSMT4">
                  <p:embed/>
                </p:oleObj>
              </mc:Choice>
              <mc:Fallback>
                <p:oleObj name="Equation" r:id="rId7" imgW="9779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238625"/>
                        <a:ext cx="17478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Oval 20"/>
          <p:cNvSpPr>
            <a:spLocks noChangeArrowheads="1"/>
          </p:cNvSpPr>
          <p:nvPr/>
        </p:nvSpPr>
        <p:spPr bwMode="auto">
          <a:xfrm>
            <a:off x="7239000" y="26670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4" name="Oval 21"/>
          <p:cNvSpPr>
            <a:spLocks noChangeArrowheads="1"/>
          </p:cNvSpPr>
          <p:nvPr/>
        </p:nvSpPr>
        <p:spPr bwMode="auto">
          <a:xfrm>
            <a:off x="7086600" y="426720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5" name="Oval 22"/>
          <p:cNvSpPr>
            <a:spLocks noChangeArrowheads="1"/>
          </p:cNvSpPr>
          <p:nvPr/>
        </p:nvSpPr>
        <p:spPr bwMode="auto">
          <a:xfrm>
            <a:off x="5715000" y="426720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6" name="Text Box 23"/>
          <p:cNvSpPr txBox="1">
            <a:spLocks noChangeArrowheads="1"/>
          </p:cNvSpPr>
          <p:nvPr/>
        </p:nvSpPr>
        <p:spPr bwMode="auto">
          <a:xfrm>
            <a:off x="533400" y="5105400"/>
            <a:ext cx="31591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Calcul de L</a:t>
            </a:r>
            <a:r>
              <a:rPr lang="fr-FR" altLang="en-US" sz="1800" baseline="-25000"/>
              <a:t>k</a:t>
            </a:r>
            <a:r>
              <a:rPr lang="fr-FR" altLang="en-US" sz="1800"/>
              <a:t> est immédiate :</a:t>
            </a:r>
            <a:endParaRPr lang="fr-FR" altLang="en-US" sz="1800" baseline="30000"/>
          </a:p>
        </p:txBody>
      </p:sp>
      <p:graphicFrame>
        <p:nvGraphicFramePr>
          <p:cNvPr id="23567" name="Object 24"/>
          <p:cNvGraphicFramePr>
            <a:graphicFrameLocks noChangeAspect="1"/>
          </p:cNvGraphicFramePr>
          <p:nvPr/>
        </p:nvGraphicFramePr>
        <p:xfrm>
          <a:off x="3886200" y="5105400"/>
          <a:ext cx="1809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9" imgW="1002865" imgH="241195" progId="Equation.DSMT4">
                  <p:embed/>
                </p:oleObj>
              </mc:Choice>
              <mc:Fallback>
                <p:oleObj name="Equation" r:id="rId9" imgW="1002865" imgH="24119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105400"/>
                        <a:ext cx="18097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6CAAFF-5FAB-4D34-B429-8CED1B6F87AA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11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209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Factorisation</a:t>
            </a:r>
          </a:p>
        </p:txBody>
      </p:sp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2743200" y="3306763"/>
          <a:ext cx="15684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3" imgW="876300" imgH="228600" progId="Equation.DSMT4">
                  <p:embed/>
                </p:oleObj>
              </mc:Choice>
              <mc:Fallback>
                <p:oleObj name="Equation" r:id="rId3" imgW="876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06763"/>
                        <a:ext cx="15684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8"/>
          <p:cNvSpPr>
            <a:spLocks noChangeArrowheads="1"/>
          </p:cNvSpPr>
          <p:nvPr/>
        </p:nvSpPr>
        <p:spPr bwMode="auto">
          <a:xfrm>
            <a:off x="685800" y="712788"/>
            <a:ext cx="63912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Factorisation de Crout (LDL</a:t>
            </a:r>
            <a:r>
              <a:rPr lang="fr-FR" altLang="en-US" sz="1800" b="1" baseline="30000"/>
              <a:t>T</a:t>
            </a:r>
            <a:r>
              <a:rPr lang="fr-FR" altLang="en-US" sz="1800" b="1"/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	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Domaine de validité : </a:t>
            </a:r>
            <a:r>
              <a:rPr lang="fr-FR" altLang="en-US" sz="1800" i="1"/>
              <a:t>matrices symétriques définies positives</a:t>
            </a:r>
            <a:r>
              <a:rPr lang="fr-FR" altLang="en-US" sz="1800"/>
              <a:t>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	Symétrique </a:t>
            </a:r>
            <a:r>
              <a:rPr lang="fr-FR" altLang="en-US" sz="1800">
                <a:sym typeface="Wingdings" panose="05000000000000000000" pitchFamily="2" charset="2"/>
              </a:rPr>
              <a:t> </a:t>
            </a:r>
            <a:r>
              <a:rPr lang="fr-FR" altLang="en-US" sz="1800"/>
              <a:t>économie de place mémoire</a:t>
            </a:r>
          </a:p>
        </p:txBody>
      </p:sp>
      <p:sp>
        <p:nvSpPr>
          <p:cNvPr id="24582" name="Rectangle 9"/>
          <p:cNvSpPr>
            <a:spLocks noChangeArrowheads="1"/>
          </p:cNvSpPr>
          <p:nvPr/>
        </p:nvSpPr>
        <p:spPr bwMode="auto">
          <a:xfrm>
            <a:off x="609600" y="2595563"/>
            <a:ext cx="8175625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 </a:t>
            </a:r>
            <a:endParaRPr lang="fr-FR" altLang="en-US" sz="600"/>
          </a:p>
          <a:p>
            <a:pPr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Algèbre : c</a:t>
            </a:r>
            <a:r>
              <a:rPr lang="ja-JP" altLang="fr-FR" sz="1800"/>
              <a:t>’</a:t>
            </a:r>
            <a:r>
              <a:rPr lang="fr-FR" altLang="ja-JP" sz="1800"/>
              <a:t>est la factorisation de Gauss qui maintient la structure symétrique </a:t>
            </a:r>
            <a:endParaRPr lang="fr-FR" altLang="en-US" sz="1800"/>
          </a:p>
        </p:txBody>
      </p:sp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2590800" y="3806825"/>
            <a:ext cx="22161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fr-FR" altLang="en-US" sz="1800"/>
              <a:t>D matrice diagonale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fr-FR" altLang="en-US" sz="1800" baseline="30000"/>
              <a:t>-1</a:t>
            </a:r>
            <a:r>
              <a:rPr lang="fr-FR" altLang="en-US" sz="1800"/>
              <a:t> comme dans LU</a:t>
            </a:r>
          </a:p>
        </p:txBody>
      </p:sp>
      <p:sp>
        <p:nvSpPr>
          <p:cNvPr id="24584" name="Rectangle 11"/>
          <p:cNvSpPr>
            <a:spLocks noChangeArrowheads="1"/>
          </p:cNvSpPr>
          <p:nvPr/>
        </p:nvSpPr>
        <p:spPr bwMode="auto">
          <a:xfrm>
            <a:off x="688975" y="4662488"/>
            <a:ext cx="6702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Intérêt : moins cher en espace, plus rapide en temps de calcul.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CE4825-512C-4F87-B111-1AE1BD2E9D82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12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5603" name="Text Box 17"/>
          <p:cNvSpPr txBox="1">
            <a:spLocks noChangeArrowheads="1"/>
          </p:cNvSpPr>
          <p:nvPr/>
        </p:nvSpPr>
        <p:spPr bwMode="auto">
          <a:xfrm>
            <a:off x="2257425" y="76200"/>
            <a:ext cx="4973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Algorithme de la factorisation LU</a:t>
            </a:r>
          </a:p>
        </p:txBody>
      </p:sp>
      <p:sp>
        <p:nvSpPr>
          <p:cNvPr id="25604" name="Text Box 19"/>
          <p:cNvSpPr txBox="1">
            <a:spLocks noChangeArrowheads="1"/>
          </p:cNvSpPr>
          <p:nvPr/>
        </p:nvSpPr>
        <p:spPr bwMode="auto">
          <a:xfrm>
            <a:off x="533400" y="685800"/>
            <a:ext cx="8375650" cy="64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A : matrice a factoriser de dim nxn</a:t>
            </a:r>
            <a:endParaRPr lang="fr-FR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Id=eye(n);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Identite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L=Id;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1:n-1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d</a:t>
            </a:r>
            <a:r>
              <a:rPr lang="ja-JP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228B22"/>
                </a:solidFill>
                <a:latin typeface="Courier New" panose="02070309020205020404" pitchFamily="49" charset="0"/>
              </a:rPr>
              <a:t>elimination</a:t>
            </a:r>
            <a:endParaRPr lang="fr-FR" altLang="ja-JP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inv_Lk=Id;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      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i = k+1:n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	   inv_Lk(i,k)=-A(i,k)/A(k,k);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      end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A(k+1) a partir de A(k)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A=inv_Lk*A;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Lk=-inv_Lk+2*Id;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Inverse de la matrice d</a:t>
            </a:r>
            <a:r>
              <a:rPr lang="ja-JP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228B22"/>
                </a:solidFill>
                <a:latin typeface="Courier New" panose="02070309020205020404" pitchFamily="49" charset="0"/>
              </a:rPr>
              <a:t>elimination</a:t>
            </a:r>
            <a:endParaRPr lang="fr-FR" altLang="ja-JP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L=L*Lk;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A(k+1) est la matrice triangulaire superieure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U=A;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9F170E-E466-47EF-BA76-A7AE3E106B68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13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614488" y="76200"/>
            <a:ext cx="631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Algorithme de la factorisation LU optimisé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304800" y="685800"/>
            <a:ext cx="8785225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A : matrice a factoriser de dim nxn</a:t>
            </a:r>
            <a:endParaRPr lang="fr-FR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Id=eye(n);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Identite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L=Id;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k = 1:n-1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Construction de la matrice A(k+1) a partir de A(k)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et de la matrice</a:t>
            </a:r>
            <a:r>
              <a:rPr lang="fr-FR" altLang="en-US" sz="1800"/>
              <a:t>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d elimination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i = k+1:n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A(i,k+1:n) = A(i,k+1:n) - (A(i,k)/A(k,k))*A(k,k+1:n);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Stockage par colonne dans la matrice L 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L(k+1:n,k) = A(k+1:n,k)/A(k,k) 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les coefficients sous la diagonale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de la colonne k sont nuls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A(k+1:n,k)=0;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matrice A(k+1) est la matrice triangulaire superieure</a:t>
            </a: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U=A;</a:t>
            </a: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213" y="3276600"/>
            <a:ext cx="2871787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25EF86-5E6D-40FC-A1DC-E91EE9BA1C98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14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3810000" y="990600"/>
          <a:ext cx="1808163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3" imgW="1803400" imgH="1028700" progId="Equation.3">
                  <p:embed/>
                </p:oleObj>
              </mc:Choice>
              <mc:Fallback>
                <p:oleObj name="Equation" r:id="rId3" imgW="1803400" imgH="1028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990600"/>
                        <a:ext cx="1808163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3694113" y="76200"/>
            <a:ext cx="2436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Programmation</a:t>
            </a:r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1066800" y="1295400"/>
            <a:ext cx="771207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Pour la matrice suivante :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On veut obtenir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Calculer b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Programmer la méthode de factorisation de Gauss (falusp.m) puis la méthode de descente remontée (drlusp.m) sans pivot.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Comparer la solution numérique à la solution de référence </a:t>
            </a:r>
          </a:p>
        </p:txBody>
      </p:sp>
      <p:graphicFrame>
        <p:nvGraphicFramePr>
          <p:cNvPr id="27655" name="Object 9"/>
          <p:cNvGraphicFramePr>
            <a:graphicFrameLocks noChangeAspect="1"/>
          </p:cNvGraphicFramePr>
          <p:nvPr/>
        </p:nvGraphicFramePr>
        <p:xfrm>
          <a:off x="2895600" y="2362200"/>
          <a:ext cx="685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5" imgW="685800" imgH="1028700" progId="Equation.3">
                  <p:embed/>
                </p:oleObj>
              </mc:Choice>
              <mc:Fallback>
                <p:oleObj name="Equation" r:id="rId5" imgW="685800" imgH="1028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685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9DD54-476D-4D20-BC8B-8F340A49A866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15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Stabilité</a:t>
            </a: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381000" y="747713"/>
            <a:ext cx="82296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Le problème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Les erreurs d</a:t>
            </a:r>
            <a:r>
              <a:rPr lang="ja-JP" altLang="fr-FR" sz="1800"/>
              <a:t>’</a:t>
            </a:r>
            <a:r>
              <a:rPr lang="fr-FR" altLang="ja-JP" sz="1800"/>
              <a:t>arrondi font que la factorisation numérique diffère de la factorisation théorique. Au lieu de A=LU on a A=LU+E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factorisation est dite instable quand E devient comparable à L et/ou U. Dans ce cas, la solution numérique peut s</a:t>
            </a:r>
            <a:r>
              <a:rPr lang="ja-JP" altLang="fr-FR" sz="1800"/>
              <a:t>’</a:t>
            </a:r>
            <a:r>
              <a:rPr lang="fr-FR" altLang="ja-JP" sz="1800"/>
              <a:t>éloigner énormément de la solution exacte.</a:t>
            </a:r>
            <a:endParaRPr lang="fr-FR" altLang="en-US" sz="1800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381000" y="2870200"/>
            <a:ext cx="66992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Le remède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SzPct val="150000"/>
            </a:pPr>
            <a:r>
              <a:rPr lang="fr-FR" altLang="en-US" sz="1800"/>
              <a:t> Cette instabilité est due aux divisions par des pivots </a:t>
            </a:r>
            <a:r>
              <a:rPr lang="ja-JP" altLang="fr-FR" sz="1800"/>
              <a:t>“</a:t>
            </a:r>
            <a:r>
              <a:rPr lang="fr-FR" altLang="ja-JP" sz="1800"/>
              <a:t>trop petits</a:t>
            </a:r>
            <a:r>
              <a:rPr lang="ja-JP" altLang="fr-FR" sz="1800"/>
              <a:t>”</a:t>
            </a:r>
            <a:r>
              <a:rPr lang="fr-FR" altLang="ja-JP" sz="1800"/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SzPct val="150000"/>
              <a:buFontTx/>
              <a:buNone/>
            </a:pPr>
            <a:r>
              <a:rPr lang="fr-FR" altLang="en-US" sz="1800"/>
              <a:t>	Le remède consiste à changer de pivot.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SzPct val="150000"/>
            </a:pPr>
            <a:r>
              <a:rPr lang="fr-FR" altLang="en-US" sz="1800"/>
              <a:t> En pratique on utilise la </a:t>
            </a:r>
            <a:r>
              <a:rPr lang="fr-FR" altLang="en-US" sz="1800" b="1"/>
              <a:t>stratégie du pivot partiel</a:t>
            </a:r>
            <a:r>
              <a:rPr lang="fr-FR" altLang="en-US" sz="1800"/>
              <a:t> :</a:t>
            </a:r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0" y="3265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3168650" y="4667250"/>
          <a:ext cx="850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3" imgW="850531" imgH="330057" progId="Equation.3">
                  <p:embed/>
                </p:oleObj>
              </mc:Choice>
              <mc:Fallback>
                <p:oleObj name="Equation" r:id="rId3" imgW="850531" imgH="33005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4667250"/>
                        <a:ext cx="8509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1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5226050" y="4659313"/>
          <a:ext cx="873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5" imgW="876300" imgH="342900" progId="Equation.3">
                  <p:embed/>
                </p:oleObj>
              </mc:Choice>
              <mc:Fallback>
                <p:oleObj name="Equation" r:id="rId5" imgW="876300" imgH="342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4659313"/>
                        <a:ext cx="873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11"/>
          <p:cNvSpPr>
            <a:spLocks noChangeArrowheads="1"/>
          </p:cNvSpPr>
          <p:nvPr/>
        </p:nvSpPr>
        <p:spPr bwMode="auto">
          <a:xfrm>
            <a:off x="304800" y="5791200"/>
            <a:ext cx="670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"/>
            </a:pPr>
            <a:r>
              <a:rPr lang="fr-FR" altLang="en-US" sz="1800"/>
              <a:t> Inconvénient : cette stratégie détruit la structure symétrique</a:t>
            </a:r>
          </a:p>
        </p:txBody>
      </p:sp>
      <p:sp>
        <p:nvSpPr>
          <p:cNvPr id="2868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2133600" y="5164138"/>
          <a:ext cx="53117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7" imgW="2959100" imgH="304800" progId="Equation.DSMT4">
                  <p:embed/>
                </p:oleObj>
              </mc:Choice>
              <mc:Fallback>
                <p:oleObj name="Equation" r:id="rId7" imgW="2959100" imgH="304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64138"/>
                        <a:ext cx="531177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Rectangle 16"/>
          <p:cNvSpPr>
            <a:spLocks noChangeArrowheads="1"/>
          </p:cNvSpPr>
          <p:nvPr/>
        </p:nvSpPr>
        <p:spPr bwMode="auto">
          <a:xfrm>
            <a:off x="1111250" y="4648200"/>
            <a:ext cx="211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À la place du pivot </a:t>
            </a:r>
          </a:p>
        </p:txBody>
      </p:sp>
      <p:sp>
        <p:nvSpPr>
          <p:cNvPr id="28686" name="Rectangle 17"/>
          <p:cNvSpPr>
            <a:spLocks noChangeArrowheads="1"/>
          </p:cNvSpPr>
          <p:nvPr/>
        </p:nvSpPr>
        <p:spPr bwMode="auto">
          <a:xfrm>
            <a:off x="4083050" y="4648200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on prend </a:t>
            </a:r>
          </a:p>
        </p:txBody>
      </p:sp>
      <p:sp>
        <p:nvSpPr>
          <p:cNvPr id="28687" name="Rectangle 18"/>
          <p:cNvSpPr>
            <a:spLocks noChangeArrowheads="1"/>
          </p:cNvSpPr>
          <p:nvPr/>
        </p:nvSpPr>
        <p:spPr bwMode="auto">
          <a:xfrm>
            <a:off x="6140450" y="4648200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tel 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DB0B89-BEDE-4636-A220-64FB6DAE4943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16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3694113" y="762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Stabilité</a:t>
            </a: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517525" y="6858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Exemple</a:t>
            </a:r>
            <a:endParaRPr lang="fr-FR" altLang="en-US" sz="1800"/>
          </a:p>
        </p:txBody>
      </p:sp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1752600" y="576263"/>
          <a:ext cx="10461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3" imgW="1041400" imgH="647700" progId="Equation.3">
                  <p:embed/>
                </p:oleObj>
              </mc:Choice>
              <mc:Fallback>
                <p:oleObj name="Equation" r:id="rId3" imgW="1041400" imgH="647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76263"/>
                        <a:ext cx="10461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8"/>
          <p:cNvSpPr>
            <a:spLocks noChangeArrowheads="1"/>
          </p:cNvSpPr>
          <p:nvPr/>
        </p:nvSpPr>
        <p:spPr bwMode="auto">
          <a:xfrm>
            <a:off x="3048000" y="652463"/>
            <a:ext cx="3535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 : précision de votre calcul avec </a:t>
            </a:r>
          </a:p>
        </p:txBody>
      </p:sp>
      <p:graphicFrame>
        <p:nvGraphicFramePr>
          <p:cNvPr id="29703" name="Object 9"/>
          <p:cNvGraphicFramePr>
            <a:graphicFrameLocks noChangeAspect="1"/>
          </p:cNvGraphicFramePr>
          <p:nvPr/>
        </p:nvGraphicFramePr>
        <p:xfrm>
          <a:off x="6511925" y="542925"/>
          <a:ext cx="7270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Equation" r:id="rId5" imgW="723586" imgH="647419" progId="Equation.3">
                  <p:embed/>
                </p:oleObj>
              </mc:Choice>
              <mc:Fallback>
                <p:oleObj name="Equation" r:id="rId5" imgW="723586" imgH="64741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542925"/>
                        <a:ext cx="72707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11"/>
          <p:cNvSpPr>
            <a:spLocks noChangeArrowheads="1"/>
          </p:cNvSpPr>
          <p:nvPr/>
        </p:nvSpPr>
        <p:spPr bwMode="auto">
          <a:xfrm>
            <a:off x="685800" y="1371600"/>
            <a:ext cx="7364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Solution analytique : 	x</a:t>
            </a:r>
            <a:r>
              <a:rPr lang="fr-FR" altLang="en-US" sz="1800" baseline="-25000"/>
              <a:t>1</a:t>
            </a:r>
            <a:r>
              <a:rPr lang="fr-FR" altLang="en-US" sz="1800"/>
              <a:t>=1/(1-</a:t>
            </a:r>
            <a:r>
              <a:rPr lang="fr-FR" altLang="en-US" sz="1800">
                <a:latin typeface="Symbol" panose="05050102010706020507" pitchFamily="18" charset="2"/>
              </a:rPr>
              <a:t>e</a:t>
            </a:r>
            <a:r>
              <a:rPr lang="fr-FR" altLang="en-US" sz="1800"/>
              <a:t>)=1 	 	x</a:t>
            </a:r>
            <a:r>
              <a:rPr lang="fr-FR" altLang="en-US" sz="1800" baseline="-25000"/>
              <a:t>2</a:t>
            </a:r>
            <a:r>
              <a:rPr lang="fr-FR" altLang="en-US" sz="1800"/>
              <a:t>=(1-2</a:t>
            </a:r>
            <a:r>
              <a:rPr lang="fr-FR" altLang="en-US" sz="1800">
                <a:latin typeface="Symbol" panose="05050102010706020507" pitchFamily="18" charset="2"/>
              </a:rPr>
              <a:t>e</a:t>
            </a:r>
            <a:r>
              <a:rPr lang="fr-FR" altLang="en-US" sz="1800"/>
              <a:t>)/(1-</a:t>
            </a:r>
            <a:r>
              <a:rPr lang="fr-FR" altLang="en-US" sz="1800">
                <a:latin typeface="Symbol" panose="05050102010706020507" pitchFamily="18" charset="2"/>
              </a:rPr>
              <a:t>e</a:t>
            </a:r>
            <a:r>
              <a:rPr lang="fr-FR" altLang="en-US" sz="1800"/>
              <a:t>)=1</a:t>
            </a:r>
          </a:p>
        </p:txBody>
      </p:sp>
      <p:sp>
        <p:nvSpPr>
          <p:cNvPr id="29705" name="Rectangle 12"/>
          <p:cNvSpPr>
            <a:spLocks noChangeArrowheads="1"/>
          </p:cNvSpPr>
          <p:nvPr/>
        </p:nvSpPr>
        <p:spPr bwMode="auto">
          <a:xfrm>
            <a:off x="685800" y="2101850"/>
            <a:ext cx="578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/>
              <a:t>On applique </a:t>
            </a:r>
            <a:r>
              <a:rPr lang="fr-FR" altLang="ja-JP" sz="1800" b="1"/>
              <a:t>Gauss sans pivot</a:t>
            </a:r>
            <a:r>
              <a:rPr lang="fr-FR" altLang="ja-JP" sz="1800"/>
              <a:t> - matrice d’élimination  </a:t>
            </a:r>
          </a:p>
        </p:txBody>
      </p:sp>
      <p:graphicFrame>
        <p:nvGraphicFramePr>
          <p:cNvPr id="29706" name="Object 13"/>
          <p:cNvGraphicFramePr>
            <a:graphicFrameLocks noChangeAspect="1"/>
          </p:cNvGraphicFramePr>
          <p:nvPr/>
        </p:nvGraphicFramePr>
        <p:xfrm>
          <a:off x="6400800" y="1911350"/>
          <a:ext cx="1379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7" imgW="1384300" imgH="800100" progId="Equation.3">
                  <p:embed/>
                </p:oleObj>
              </mc:Choice>
              <mc:Fallback>
                <p:oleObj name="Equation" r:id="rId7" imgW="1384300" imgH="800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11350"/>
                        <a:ext cx="1379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5"/>
          <p:cNvGraphicFramePr>
            <a:graphicFrameLocks noChangeAspect="1"/>
          </p:cNvGraphicFramePr>
          <p:nvPr/>
        </p:nvGraphicFramePr>
        <p:xfrm>
          <a:off x="1371600" y="2711450"/>
          <a:ext cx="23193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9" imgW="2324100" imgH="800100" progId="Equation.3">
                  <p:embed/>
                </p:oleObj>
              </mc:Choice>
              <mc:Fallback>
                <p:oleObj name="Equation" r:id="rId9" imgW="2324100" imgH="800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11450"/>
                        <a:ext cx="23193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7"/>
          <p:cNvGraphicFramePr>
            <a:graphicFrameLocks noChangeAspect="1"/>
          </p:cNvGraphicFramePr>
          <p:nvPr/>
        </p:nvGraphicFramePr>
        <p:xfrm>
          <a:off x="4876800" y="2825750"/>
          <a:ext cx="30257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11" imgW="3022600" imgH="698500" progId="Equation.3">
                  <p:embed/>
                </p:oleObj>
              </mc:Choice>
              <mc:Fallback>
                <p:oleObj name="Equation" r:id="rId11" imgW="3022600" imgH="6985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825750"/>
                        <a:ext cx="30257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Rectangle 19"/>
          <p:cNvSpPr>
            <a:spLocks noChangeArrowheads="1"/>
          </p:cNvSpPr>
          <p:nvPr/>
        </p:nvSpPr>
        <p:spPr bwMode="auto">
          <a:xfrm>
            <a:off x="228600" y="3733800"/>
            <a:ext cx="891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si la précision de la machine n</a:t>
            </a:r>
            <a:r>
              <a:rPr lang="ja-JP" altLang="fr-FR" sz="1800"/>
              <a:t>’</a:t>
            </a:r>
            <a:r>
              <a:rPr lang="fr-FR" altLang="ja-JP" sz="1800"/>
              <a:t>est pas suffisante (1-1/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)=-1/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 , on obtient x</a:t>
            </a:r>
            <a:r>
              <a:rPr lang="fr-FR" altLang="ja-JP" sz="1800" baseline="-25000"/>
              <a:t>2</a:t>
            </a:r>
            <a:r>
              <a:rPr lang="fr-FR" altLang="ja-JP" sz="1800"/>
              <a:t>=1 et x</a:t>
            </a:r>
            <a:r>
              <a:rPr lang="fr-FR" altLang="ja-JP" sz="1800" baseline="-25000"/>
              <a:t>1</a:t>
            </a:r>
            <a:r>
              <a:rPr lang="fr-FR" altLang="ja-JP" sz="1800"/>
              <a:t>=0</a:t>
            </a:r>
            <a:endParaRPr lang="fr-FR" altLang="en-US" sz="1800"/>
          </a:p>
        </p:txBody>
      </p:sp>
      <p:sp>
        <p:nvSpPr>
          <p:cNvPr id="29710" name="Rectangle 20"/>
          <p:cNvSpPr>
            <a:spLocks noChangeArrowheads="1"/>
          </p:cNvSpPr>
          <p:nvPr/>
        </p:nvSpPr>
        <p:spPr bwMode="auto">
          <a:xfrm>
            <a:off x="685800" y="4419600"/>
            <a:ext cx="691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800"/>
              <a:t>On applique </a:t>
            </a:r>
            <a:r>
              <a:rPr lang="fr-FR" altLang="ja-JP" sz="1800" b="1"/>
              <a:t>Gauss avec pivot</a:t>
            </a:r>
            <a:r>
              <a:rPr lang="fr-FR" altLang="ja-JP" sz="1800"/>
              <a:t> -                  matrice d’élimination : </a:t>
            </a:r>
          </a:p>
        </p:txBody>
      </p:sp>
      <p:graphicFrame>
        <p:nvGraphicFramePr>
          <p:cNvPr id="29711" name="Object 21"/>
          <p:cNvGraphicFramePr>
            <a:graphicFrameLocks noChangeAspect="1"/>
          </p:cNvGraphicFramePr>
          <p:nvPr/>
        </p:nvGraphicFramePr>
        <p:xfrm>
          <a:off x="7548563" y="4310063"/>
          <a:ext cx="13668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Equation" r:id="rId13" imgW="1358900" imgH="647700" progId="Equation.3">
                  <p:embed/>
                </p:oleObj>
              </mc:Choice>
              <mc:Fallback>
                <p:oleObj name="Equation" r:id="rId13" imgW="1358900" imgH="647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3" y="4310063"/>
                        <a:ext cx="13668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23"/>
          <p:cNvGraphicFramePr>
            <a:graphicFrameLocks noChangeAspect="1"/>
          </p:cNvGraphicFramePr>
          <p:nvPr/>
        </p:nvGraphicFramePr>
        <p:xfrm>
          <a:off x="1371600" y="5029200"/>
          <a:ext cx="23495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15" imgW="2349500" imgH="673100" progId="Equation.3">
                  <p:embed/>
                </p:oleObj>
              </mc:Choice>
              <mc:Fallback>
                <p:oleObj name="Equation" r:id="rId15" imgW="2349500" imgH="6731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029200"/>
                        <a:ext cx="23495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25"/>
          <p:cNvGraphicFramePr>
            <a:graphicFrameLocks noChangeAspect="1"/>
          </p:cNvGraphicFramePr>
          <p:nvPr/>
        </p:nvGraphicFramePr>
        <p:xfrm>
          <a:off x="4838700" y="5041900"/>
          <a:ext cx="16383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Equation" r:id="rId17" imgW="1637589" imgH="672808" progId="Equation.3">
                  <p:embed/>
                </p:oleObj>
              </mc:Choice>
              <mc:Fallback>
                <p:oleObj name="Equation" r:id="rId17" imgW="1637589" imgH="67280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5041900"/>
                        <a:ext cx="16383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Rectangle 27"/>
          <p:cNvSpPr>
            <a:spLocks noChangeArrowheads="1"/>
          </p:cNvSpPr>
          <p:nvPr/>
        </p:nvSpPr>
        <p:spPr bwMode="auto">
          <a:xfrm>
            <a:off x="153988" y="5791200"/>
            <a:ext cx="8828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si la précision de la machine n</a:t>
            </a:r>
            <a:r>
              <a:rPr lang="ja-JP" altLang="fr-FR" sz="1800"/>
              <a:t>’</a:t>
            </a:r>
            <a:r>
              <a:rPr lang="fr-FR" altLang="ja-JP" sz="1800"/>
              <a:t>est pas suffisante (1-</a:t>
            </a:r>
            <a:r>
              <a:rPr lang="fr-FR" altLang="ja-JP" sz="1800">
                <a:latin typeface="Symbol" panose="05050102010706020507" pitchFamily="18" charset="2"/>
              </a:rPr>
              <a:t>e</a:t>
            </a:r>
            <a:r>
              <a:rPr lang="fr-FR" altLang="ja-JP" sz="1800"/>
              <a:t>)=1, mais on obtient x</a:t>
            </a:r>
            <a:r>
              <a:rPr lang="fr-FR" altLang="ja-JP" sz="1800" baseline="-25000"/>
              <a:t>1</a:t>
            </a:r>
            <a:r>
              <a:rPr lang="fr-FR" altLang="ja-JP" sz="1800"/>
              <a:t>=1 et x</a:t>
            </a:r>
            <a:r>
              <a:rPr lang="fr-FR" altLang="ja-JP" sz="1800" baseline="-25000"/>
              <a:t>2</a:t>
            </a:r>
            <a:r>
              <a:rPr lang="fr-FR" altLang="ja-JP" sz="1800"/>
              <a:t>=1</a:t>
            </a:r>
            <a:endParaRPr lang="fr-FR" altLang="en-US" sz="1800"/>
          </a:p>
        </p:txBody>
      </p:sp>
      <p:graphicFrame>
        <p:nvGraphicFramePr>
          <p:cNvPr id="29715" name="Object 28"/>
          <p:cNvGraphicFramePr>
            <a:graphicFrameLocks noChangeAspect="1"/>
          </p:cNvGraphicFramePr>
          <p:nvPr/>
        </p:nvGraphicFramePr>
        <p:xfrm>
          <a:off x="4135438" y="4310063"/>
          <a:ext cx="10461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Equation" r:id="rId19" imgW="1041400" imgH="647700" progId="Equation.3">
                  <p:embed/>
                </p:oleObj>
              </mc:Choice>
              <mc:Fallback>
                <p:oleObj name="Equation" r:id="rId19" imgW="1041400" imgH="6477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4310063"/>
                        <a:ext cx="10461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Text Box 29"/>
          <p:cNvSpPr txBox="1">
            <a:spLocks noChangeArrowheads="1"/>
          </p:cNvSpPr>
          <p:nvPr/>
        </p:nvSpPr>
        <p:spPr bwMode="auto">
          <a:xfrm>
            <a:off x="609600" y="6248400"/>
            <a:ext cx="442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A50021"/>
                </a:solidFill>
              </a:rPr>
              <a:t>Démonstration matlab : stablu(epsilon)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5D1185-1D6A-4188-B502-DFD474637DC2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17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30723" name="Rectangle 12"/>
          <p:cNvSpPr>
            <a:spLocks noChangeArrowheads="1"/>
          </p:cNvSpPr>
          <p:nvPr/>
        </p:nvSpPr>
        <p:spPr bwMode="auto">
          <a:xfrm>
            <a:off x="457200" y="304800"/>
            <a:ext cx="1885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Le problème	</a:t>
            </a:r>
            <a:r>
              <a:rPr lang="fr-FR" altLang="en-US" sz="1600"/>
              <a:t> </a:t>
            </a:r>
            <a:endParaRPr lang="fr-FR" altLang="en-US" sz="1800"/>
          </a:p>
        </p:txBody>
      </p:sp>
      <p:sp>
        <p:nvSpPr>
          <p:cNvPr id="30724" name="Rectangle 13"/>
          <p:cNvSpPr>
            <a:spLocks noChangeArrowheads="1"/>
          </p:cNvSpPr>
          <p:nvPr/>
        </p:nvSpPr>
        <p:spPr bwMode="auto">
          <a:xfrm>
            <a:off x="533400" y="914400"/>
            <a:ext cx="86106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Soit </a:t>
            </a:r>
            <a:r>
              <a:rPr lang="fr-FR" altLang="en-US" sz="1800">
                <a:latin typeface="Symbol" panose="05050102010706020507" pitchFamily="18" charset="2"/>
              </a:rPr>
              <a:t>d</a:t>
            </a:r>
            <a:r>
              <a:rPr lang="fr-FR" altLang="en-US" sz="1800"/>
              <a:t>b une perturbation de </a:t>
            </a:r>
            <a:r>
              <a:rPr lang="fr-FR" altLang="en-US" sz="1800" i="1"/>
              <a:t>b </a:t>
            </a:r>
            <a:r>
              <a:rPr lang="fr-FR" altLang="en-US" sz="1800"/>
              <a:t>(par exemple, une erreur de mesure), et </a:t>
            </a:r>
            <a:r>
              <a:rPr lang="fr-FR" altLang="en-US" sz="1800">
                <a:latin typeface="Symbol" panose="05050102010706020507" pitchFamily="18" charset="2"/>
              </a:rPr>
              <a:t>d</a:t>
            </a:r>
            <a:r>
              <a:rPr lang="fr-FR" altLang="en-US" sz="1800"/>
              <a:t>x la perturbation résultante de la solution </a:t>
            </a:r>
            <a:r>
              <a:rPr lang="fr-FR" altLang="en-US" sz="1800" i="1"/>
              <a:t>x</a:t>
            </a:r>
            <a:r>
              <a:rPr lang="fr-FR" altLang="en-US" sz="1800"/>
              <a:t> de Ax=b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 </a:t>
            </a:r>
          </a:p>
        </p:txBody>
      </p:sp>
      <p:sp>
        <p:nvSpPr>
          <p:cNvPr id="30725" name="Rectangle 15"/>
          <p:cNvSpPr>
            <a:spLocks noChangeArrowheads="1"/>
          </p:cNvSpPr>
          <p:nvPr/>
        </p:nvSpPr>
        <p:spPr bwMode="auto">
          <a:xfrm>
            <a:off x="533400" y="1524000"/>
            <a:ext cx="24828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question est alors : 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fr-FR" altLang="en-US" sz="1800" i="1"/>
          </a:p>
          <a:p>
            <a:pPr algn="ctr">
              <a:spcBef>
                <a:spcPct val="0"/>
              </a:spcBef>
              <a:buFontTx/>
              <a:buNone/>
            </a:pPr>
            <a:r>
              <a:rPr lang="fr-FR" altLang="en-US" sz="1800"/>
              <a:t>est-ce que </a:t>
            </a:r>
          </a:p>
        </p:txBody>
      </p:sp>
      <p:sp>
        <p:nvSpPr>
          <p:cNvPr id="30726" name="Rectangle 16"/>
          <p:cNvSpPr>
            <a:spLocks noChangeArrowheads="1"/>
          </p:cNvSpPr>
          <p:nvPr/>
        </p:nvSpPr>
        <p:spPr bwMode="auto">
          <a:xfrm>
            <a:off x="2667000" y="2057400"/>
            <a:ext cx="473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 est du même ordre de grandeur que          ? </a:t>
            </a:r>
          </a:p>
        </p:txBody>
      </p:sp>
      <p:sp>
        <p:nvSpPr>
          <p:cNvPr id="30727" name="Rectangle 17"/>
          <p:cNvSpPr>
            <a:spLocks noChangeArrowheads="1"/>
          </p:cNvSpPr>
          <p:nvPr/>
        </p:nvSpPr>
        <p:spPr bwMode="auto">
          <a:xfrm>
            <a:off x="381000" y="2606675"/>
            <a:ext cx="66040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04704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	Pour une matrice bien conditionnée, la réponse est OUI.</a:t>
            </a:r>
            <a:endParaRPr lang="fr-FR" altLang="en-US" sz="1800" b="1"/>
          </a:p>
          <a:p>
            <a:pPr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en-US" sz="1800" b="1"/>
              <a:t>Le remède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en-US" sz="1800"/>
              <a:t>	PAS DE REMÈDE !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en-US" sz="1800" b="1"/>
              <a:t>Mesure du conditionnement	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30728" name="Rectangle 18"/>
          <p:cNvSpPr>
            <a:spLocks noChangeArrowheads="1"/>
          </p:cNvSpPr>
          <p:nvPr/>
        </p:nvSpPr>
        <p:spPr bwMode="auto">
          <a:xfrm>
            <a:off x="609600" y="5029200"/>
            <a:ext cx="81534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Le conditionnement cond(A) dépend de la norme. Dans le cas de la norme euclidienne il n</a:t>
            </a:r>
            <a:r>
              <a:rPr lang="ja-JP" altLang="fr-FR" sz="1800"/>
              <a:t>’</a:t>
            </a:r>
            <a:r>
              <a:rPr lang="fr-FR" altLang="ja-JP" sz="1800"/>
              <a:t>est rien d</a:t>
            </a:r>
            <a:r>
              <a:rPr lang="ja-JP" altLang="fr-FR" sz="1800"/>
              <a:t>’</a:t>
            </a:r>
            <a:r>
              <a:rPr lang="fr-FR" altLang="ja-JP" sz="1800"/>
              <a:t>autre que le rapport des valeurs singulières extrêmes (la plus grande sur la plus petite).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30729" name="Text Box 4"/>
          <p:cNvSpPr txBox="1">
            <a:spLocks noChangeArrowheads="1"/>
          </p:cNvSpPr>
          <p:nvPr/>
        </p:nvSpPr>
        <p:spPr bwMode="auto">
          <a:xfrm>
            <a:off x="3276600" y="76200"/>
            <a:ext cx="268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Conditionnement</a:t>
            </a:r>
          </a:p>
        </p:txBody>
      </p:sp>
      <p:graphicFrame>
        <p:nvGraphicFramePr>
          <p:cNvPr id="30730" name="Object 9"/>
          <p:cNvGraphicFramePr>
            <a:graphicFrameLocks noChangeAspect="1"/>
          </p:cNvGraphicFramePr>
          <p:nvPr/>
        </p:nvGraphicFramePr>
        <p:xfrm>
          <a:off x="5572125" y="1231900"/>
          <a:ext cx="17430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3" imgW="1739900" imgH="292100" progId="Equation.3">
                  <p:embed/>
                </p:oleObj>
              </mc:Choice>
              <mc:Fallback>
                <p:oleObj name="Equation" r:id="rId3" imgW="1739900" imgH="292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1231900"/>
                        <a:ext cx="17430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8"/>
          <p:cNvGraphicFramePr>
            <a:graphicFrameLocks noChangeAspect="1"/>
          </p:cNvGraphicFramePr>
          <p:nvPr/>
        </p:nvGraphicFramePr>
        <p:xfrm>
          <a:off x="2336800" y="1949450"/>
          <a:ext cx="4095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5" imgW="406224" imgH="660113" progId="Equation.3">
                  <p:embed/>
                </p:oleObj>
              </mc:Choice>
              <mc:Fallback>
                <p:oleObj name="Equation" r:id="rId5" imgW="406224" imgH="6601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949450"/>
                        <a:ext cx="4095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7"/>
          <p:cNvGraphicFramePr>
            <a:graphicFrameLocks noChangeAspect="1"/>
          </p:cNvGraphicFramePr>
          <p:nvPr/>
        </p:nvGraphicFramePr>
        <p:xfrm>
          <a:off x="6604000" y="1949450"/>
          <a:ext cx="4095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7" imgW="406224" imgH="660113" progId="Equation.3">
                  <p:embed/>
                </p:oleObj>
              </mc:Choice>
              <mc:Fallback>
                <p:oleObj name="Equation" r:id="rId7" imgW="406224" imgH="6601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1949450"/>
                        <a:ext cx="4095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20"/>
          <p:cNvGraphicFramePr>
            <a:graphicFrameLocks noChangeAspect="1"/>
          </p:cNvGraphicFramePr>
          <p:nvPr/>
        </p:nvGraphicFramePr>
        <p:xfrm>
          <a:off x="3657600" y="4114800"/>
          <a:ext cx="18542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9" imgW="1854200" imgH="660400" progId="Equation.3">
                  <p:embed/>
                </p:oleObj>
              </mc:Choice>
              <mc:Fallback>
                <p:oleObj name="Equation" r:id="rId9" imgW="1854200" imgH="660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14800"/>
                        <a:ext cx="18542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22"/>
          <p:cNvGraphicFramePr>
            <a:graphicFrameLocks noChangeAspect="1"/>
          </p:cNvGraphicFramePr>
          <p:nvPr/>
        </p:nvGraphicFramePr>
        <p:xfrm>
          <a:off x="2971800" y="5943600"/>
          <a:ext cx="21336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Equation" r:id="rId11" imgW="2082800" imgH="622300" progId="Equation.3">
                  <p:embed/>
                </p:oleObj>
              </mc:Choice>
              <mc:Fallback>
                <p:oleObj name="Equation" r:id="rId11" imgW="2082800" imgH="6223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943600"/>
                        <a:ext cx="21336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1AB847-A431-4C6E-ADDB-3FDAD65754F4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18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3276600" y="76200"/>
            <a:ext cx="268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Conditionnement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17525" y="6858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Exemple</a:t>
            </a:r>
            <a:endParaRPr lang="fr-FR" altLang="en-US" sz="1800"/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1676400" y="1143000"/>
          <a:ext cx="5024438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Equation" r:id="rId3" imgW="5029200" imgH="1358900" progId="Equation.3">
                  <p:embed/>
                </p:oleObj>
              </mc:Choice>
              <mc:Fallback>
                <p:oleObj name="Equation" r:id="rId3" imgW="5029200" imgH="1358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143000"/>
                        <a:ext cx="5024438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457200" y="2895600"/>
            <a:ext cx="789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Pour un second membre légèrement modifié on obtient la solution suivante :</a:t>
            </a: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2889250" y="3429000"/>
          <a:ext cx="253523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5" imgW="2540000" imgH="1333500" progId="Equation.3">
                  <p:embed/>
                </p:oleObj>
              </mc:Choice>
              <mc:Fallback>
                <p:oleObj name="Equation" r:id="rId5" imgW="2540000" imgH="1333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29000"/>
                        <a:ext cx="2535238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Text Box 11"/>
          <p:cNvSpPr txBox="1">
            <a:spLocks noChangeArrowheads="1"/>
          </p:cNvSpPr>
          <p:nvPr/>
        </p:nvSpPr>
        <p:spPr bwMode="auto">
          <a:xfrm>
            <a:off x="381000" y="5029200"/>
            <a:ext cx="85280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Erreur relative de 1/200 sur le 2</a:t>
            </a:r>
            <a:r>
              <a:rPr lang="fr-FR" altLang="en-US" sz="1800" baseline="30000"/>
              <a:t>nd</a:t>
            </a:r>
            <a:r>
              <a:rPr lang="fr-FR" altLang="en-US" sz="1800"/>
              <a:t> membre </a:t>
            </a:r>
            <a:r>
              <a:rPr lang="fr-FR" altLang="en-US" sz="1800">
                <a:sym typeface="Wingdings" panose="05000000000000000000" pitchFamily="2" charset="2"/>
              </a:rPr>
              <a:t> erreur relative de 10/1 sur le résultat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Wingdings" panose="05000000000000000000" pitchFamily="2" charset="2"/>
              </a:rPr>
              <a:t>Soit une amplification de l</a:t>
            </a:r>
            <a:r>
              <a:rPr lang="ja-JP" altLang="fr-FR" sz="1800">
                <a:sym typeface="Wingdings" panose="05000000000000000000" pitchFamily="2" charset="2"/>
              </a:rPr>
              <a:t>’</a:t>
            </a:r>
            <a:r>
              <a:rPr lang="fr-FR" altLang="ja-JP" sz="1800">
                <a:sym typeface="Wingdings" panose="05000000000000000000" pitchFamily="2" charset="2"/>
              </a:rPr>
              <a:t>ordre de 2000 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Wingdings" panose="05000000000000000000" pitchFamily="2" charset="2"/>
              </a:rPr>
              <a:t>Exemple troublant car erreurs sur les données d</a:t>
            </a:r>
            <a:r>
              <a:rPr lang="ja-JP" altLang="fr-FR" sz="1800">
                <a:sym typeface="Wingdings" panose="05000000000000000000" pitchFamily="2" charset="2"/>
              </a:rPr>
              <a:t>’</a:t>
            </a:r>
            <a:r>
              <a:rPr lang="fr-FR" altLang="ja-JP" sz="1800">
                <a:sym typeface="Wingdings" panose="05000000000000000000" pitchFamily="2" charset="2"/>
              </a:rPr>
              <a:t>un ordre de grandeur satisfaisant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Wingdings" panose="05000000000000000000" pitchFamily="2" charset="2"/>
              </a:rPr>
              <a:t>en sciences expérimentales</a:t>
            </a:r>
            <a:endParaRPr lang="fr-FR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6B7AA7-5EFA-4D59-89F1-239CE0C56E9A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19</a:t>
            </a:fld>
            <a:r>
              <a:rPr lang="fr-FR" altLang="en-US" sz="1200" b="0" smtClean="0"/>
              <a:t>/21</a:t>
            </a:r>
          </a:p>
        </p:txBody>
      </p:sp>
      <p:graphicFrame>
        <p:nvGraphicFramePr>
          <p:cNvPr id="32771" name="Object 10"/>
          <p:cNvGraphicFramePr>
            <a:graphicFrameLocks noChangeAspect="1"/>
          </p:cNvGraphicFramePr>
          <p:nvPr/>
        </p:nvGraphicFramePr>
        <p:xfrm>
          <a:off x="1447800" y="914400"/>
          <a:ext cx="5024438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3" imgW="5029200" imgH="1358900" progId="Equation.3">
                  <p:embed/>
                </p:oleObj>
              </mc:Choice>
              <mc:Fallback>
                <p:oleObj name="Equation" r:id="rId3" imgW="5029200" imgH="1358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14400"/>
                        <a:ext cx="5024438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7"/>
          <p:cNvSpPr txBox="1">
            <a:spLocks noChangeArrowheads="1"/>
          </p:cNvSpPr>
          <p:nvPr/>
        </p:nvSpPr>
        <p:spPr bwMode="auto">
          <a:xfrm>
            <a:off x="762000" y="1385888"/>
            <a:ext cx="52514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Soit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Appliquer une perturbation au 2</a:t>
            </a:r>
            <a:r>
              <a:rPr lang="fr-FR" altLang="en-US" sz="1800" baseline="30000"/>
              <a:t>nd</a:t>
            </a:r>
            <a:r>
              <a:rPr lang="fr-FR" altLang="en-US" sz="1800"/>
              <a:t> membre 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Calculer l</a:t>
            </a:r>
            <a:r>
              <a:rPr lang="ja-JP" altLang="fr-FR" sz="1800"/>
              <a:t>’</a:t>
            </a:r>
            <a:r>
              <a:rPr lang="fr-FR" altLang="ja-JP" sz="1800"/>
              <a:t>erreur relative sur b, puis sur la solution.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Faite le rapport des erreurs relatives.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Calculer les valeurs propres de la matrice 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Calculer le conditionnement de A. 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32775" name="Text Box 9"/>
          <p:cNvSpPr txBox="1">
            <a:spLocks noChangeArrowheads="1"/>
          </p:cNvSpPr>
          <p:nvPr/>
        </p:nvSpPr>
        <p:spPr bwMode="auto">
          <a:xfrm>
            <a:off x="2743200" y="76200"/>
            <a:ext cx="416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Exercice : conditionnement</a:t>
            </a:r>
          </a:p>
        </p:txBody>
      </p:sp>
      <p:graphicFrame>
        <p:nvGraphicFramePr>
          <p:cNvPr id="32776" name="Object 11"/>
          <p:cNvGraphicFramePr>
            <a:graphicFrameLocks noChangeAspect="1"/>
          </p:cNvGraphicFramePr>
          <p:nvPr/>
        </p:nvGraphicFramePr>
        <p:xfrm>
          <a:off x="5334000" y="2286000"/>
          <a:ext cx="105251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5" imgW="1054100" imgH="1333500" progId="Equation.3">
                  <p:embed/>
                </p:oleObj>
              </mc:Choice>
              <mc:Fallback>
                <p:oleObj name="Equation" r:id="rId5" imgW="1054100" imgH="1333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86000"/>
                        <a:ext cx="1052513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6EBC8E-1BED-4C61-9702-2B5AD414C392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20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533400" y="457200"/>
            <a:ext cx="8305800" cy="5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04704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/>
              <a:t>Mode de stockage des matrices	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 b="1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Des variantes des algorithmes précédents existent pour traiter des matrices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creuses (contenant beaucoup de zéros) ou bandes.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Seuls les coefficients non nuls sont stockés.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Ainsi, on aura :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en-US" sz="1800"/>
              <a:t> une variante de LDL</a:t>
            </a:r>
            <a:r>
              <a:rPr lang="fr-FR" altLang="en-US" sz="1800" baseline="30000"/>
              <a:t>T</a:t>
            </a:r>
            <a:r>
              <a:rPr lang="fr-FR" altLang="en-US" sz="1800"/>
              <a:t> pour les matrices tridiagonales symétriques (cas particulier de matrice bande) utilisant trois vecteurs pour stocker la matrice,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en-US" sz="1800"/>
              <a:t> une variante de LU pour les matrices bandes utilisant autant de vecteurs pour stocker la matrice que le nombre de bandes (plus un espace additionnel pour pivoter),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en-US" sz="1800"/>
              <a:t> une variante de LU pour les matrices creuses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endParaRPr lang="fr-FR" altLang="en-US" sz="180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La contre-partie du gain en stockage est un temps d</a:t>
            </a:r>
            <a:r>
              <a:rPr lang="ja-JP" altLang="fr-FR" sz="1800"/>
              <a:t>’</a:t>
            </a:r>
            <a:r>
              <a:rPr lang="fr-FR" altLang="ja-JP" sz="1800"/>
              <a:t>accès aux éléments de matrice plus élevé que l</a:t>
            </a:r>
            <a:r>
              <a:rPr lang="ja-JP" altLang="fr-FR" sz="1800"/>
              <a:t>’</a:t>
            </a:r>
            <a:r>
              <a:rPr lang="fr-FR" altLang="ja-JP" sz="1800"/>
              <a:t>accès direct A(i,j).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accès aux éléments dans une matrice creuse nécessite un double adressage.</a:t>
            </a:r>
            <a:endParaRPr lang="fr-FR" altLang="en-US" sz="1800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276600" y="762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Mise en œuvre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A9B387-6BA8-4564-9BF8-EC9F15F6F591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21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609600" y="701675"/>
            <a:ext cx="8229600" cy="547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Les matrices réelles symétriques définies positives ne posent pas de problèmes. Utiliser la méthode LDL</a:t>
            </a:r>
            <a:r>
              <a:rPr lang="fr-FR" altLang="en-US" sz="1800" baseline="30000"/>
              <a:t>T</a:t>
            </a:r>
            <a:r>
              <a:rPr lang="fr-FR" altLang="en-US" sz="1800"/>
              <a:t> sans pivot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Sous Matlab :  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[L, D]=ldl(A);	 A = L*D*L</a:t>
            </a:r>
            <a:r>
              <a:rPr lang="ja-JP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fr-FR" altLang="ja-JP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Dans les autres cas, utiliser LU avec pivot. Ne pas prendre le risque d</a:t>
            </a:r>
            <a:r>
              <a:rPr lang="ja-JP" altLang="fr-FR" sz="1800"/>
              <a:t>’</a:t>
            </a:r>
            <a:r>
              <a:rPr lang="fr-FR" altLang="ja-JP" sz="1800"/>
              <a:t>utiliser un LU sans pivot.	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Sous Matlab : 	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[L, U, P]=lu(A); </a:t>
            </a:r>
            <a:r>
              <a:rPr lang="fr-FR" altLang="en-US" sz="1800" b="1">
                <a:solidFill>
                  <a:srgbClr val="228B22"/>
                </a:solidFill>
                <a:latin typeface="Courier New" panose="02070309020205020404" pitchFamily="49" charset="0"/>
              </a:rPr>
              <a:t>% P matrice de permutation</a:t>
            </a:r>
            <a:endParaRPr lang="fr-FR" altLang="en-US" sz="180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		A = P'*L*U;</a:t>
            </a:r>
            <a:endParaRPr lang="fr-FR" altLang="en-US" sz="180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Choisir toujours la variante de mise en œuvre adaptée aux propriétés structurelles (stockage spécialisé pour matrices bandes). De la sorte, on peut </a:t>
            </a:r>
            <a:r>
              <a:rPr lang="ja-JP" altLang="fr-FR" sz="1800"/>
              <a:t>“</a:t>
            </a:r>
            <a:r>
              <a:rPr lang="fr-FR" altLang="ja-JP" sz="1800"/>
              <a:t>faire passer</a:t>
            </a:r>
            <a:r>
              <a:rPr lang="ja-JP" altLang="fr-FR" sz="1800"/>
              <a:t>”</a:t>
            </a:r>
            <a:r>
              <a:rPr lang="fr-FR" altLang="ja-JP" sz="1800"/>
              <a:t> des problèmes plus gros et ce plus vite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Vérifier le conditionnement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3810000" y="76200"/>
            <a:ext cx="104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Guide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DC7562-7F42-4FB0-895E-3656C64E5E65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22</a:t>
            </a:fld>
            <a:r>
              <a:rPr lang="fr-FR" altLang="en-US" sz="1200" b="0" smtClean="0"/>
              <a:t>/21</a:t>
            </a:r>
          </a:p>
        </p:txBody>
      </p:sp>
      <p:graphicFrame>
        <p:nvGraphicFramePr>
          <p:cNvPr id="33794" name="Group 2"/>
          <p:cNvGraphicFramePr>
            <a:graphicFrameLocks noGrp="1"/>
          </p:cNvGraphicFramePr>
          <p:nvPr/>
        </p:nvGraphicFramePr>
        <p:xfrm>
          <a:off x="1524000" y="3048000"/>
          <a:ext cx="2667000" cy="2590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3832" name="Group 40"/>
          <p:cNvGraphicFramePr>
            <a:graphicFrameLocks noGrp="1"/>
          </p:cNvGraphicFramePr>
          <p:nvPr/>
        </p:nvGraphicFramePr>
        <p:xfrm>
          <a:off x="5105400" y="228600"/>
          <a:ext cx="2667000" cy="2590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3870" name="Group 78"/>
          <p:cNvGraphicFramePr>
            <a:graphicFrameLocks noGrp="1"/>
          </p:cNvGraphicFramePr>
          <p:nvPr/>
        </p:nvGraphicFramePr>
        <p:xfrm>
          <a:off x="5105400" y="3048000"/>
          <a:ext cx="2667000" cy="2590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957" name="Text Box 116"/>
          <p:cNvSpPr txBox="1">
            <a:spLocks noChangeArrowheads="1"/>
          </p:cNvSpPr>
          <p:nvPr/>
        </p:nvSpPr>
        <p:spPr bwMode="auto">
          <a:xfrm>
            <a:off x="3276600" y="1295400"/>
            <a:ext cx="93027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8800"/>
              <a:t>X</a:t>
            </a:r>
          </a:p>
        </p:txBody>
      </p:sp>
      <p:sp>
        <p:nvSpPr>
          <p:cNvPr id="35958" name="Text Box 117"/>
          <p:cNvSpPr txBox="1">
            <a:spLocks noChangeArrowheads="1"/>
          </p:cNvSpPr>
          <p:nvPr/>
        </p:nvSpPr>
        <p:spPr bwMode="auto">
          <a:xfrm>
            <a:off x="4267200" y="3657600"/>
            <a:ext cx="836613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8800"/>
              <a:t>=</a:t>
            </a:r>
          </a:p>
        </p:txBody>
      </p:sp>
      <p:sp>
        <p:nvSpPr>
          <p:cNvPr id="35959" name="Text Box 118"/>
          <p:cNvSpPr txBox="1">
            <a:spLocks noChangeArrowheads="1"/>
          </p:cNvSpPr>
          <p:nvPr/>
        </p:nvSpPr>
        <p:spPr bwMode="auto">
          <a:xfrm>
            <a:off x="288925" y="188913"/>
            <a:ext cx="1616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D050A7-6717-48FE-B43B-6336AF22453F}" type="slidenum">
              <a:rPr lang="fr-FR" altLang="en-US" sz="1200" smtClean="0"/>
              <a:pPr>
                <a:spcBef>
                  <a:spcPct val="0"/>
                </a:spcBef>
                <a:buFontTx/>
                <a:buNone/>
              </a:pPr>
              <a:t>23</a:t>
            </a:fld>
            <a:r>
              <a:rPr lang="fr-FR" altLang="en-US" sz="1200" b="0" smtClean="0"/>
              <a:t>/21</a:t>
            </a:r>
          </a:p>
        </p:txBody>
      </p:sp>
      <p:sp>
        <p:nvSpPr>
          <p:cNvPr id="36867" name="Rectangle 17"/>
          <p:cNvSpPr>
            <a:spLocks noChangeArrowheads="1"/>
          </p:cNvSpPr>
          <p:nvPr/>
        </p:nvSpPr>
        <p:spPr bwMode="auto">
          <a:xfrm>
            <a:off x="1679575" y="4706938"/>
            <a:ext cx="587533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Apparition du </a:t>
            </a:r>
            <a:r>
              <a:rPr lang="fr-FR" altLang="en-US" sz="1800" b="1"/>
              <a:t>pivot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matrice triangulaire supérieure correspond à : U=A</a:t>
            </a:r>
            <a:r>
              <a:rPr lang="fr-FR" altLang="en-US" sz="1800" baseline="30000"/>
              <a:t>(n)</a:t>
            </a:r>
            <a:r>
              <a:rPr lang="fr-FR" altLang="en-US" sz="18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matrice triangulaire inférieure correspond à </a:t>
            </a:r>
          </a:p>
        </p:txBody>
      </p:sp>
      <p:graphicFrame>
        <p:nvGraphicFramePr>
          <p:cNvPr id="36868" name="Object 10"/>
          <p:cNvGraphicFramePr>
            <a:graphicFrameLocks noChangeAspect="1"/>
          </p:cNvGraphicFramePr>
          <p:nvPr/>
        </p:nvGraphicFramePr>
        <p:xfrm>
          <a:off x="3429000" y="1233488"/>
          <a:ext cx="14351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Equation" r:id="rId3" imgW="1435100" imgH="342900" progId="Equation.3">
                  <p:embed/>
                </p:oleObj>
              </mc:Choice>
              <mc:Fallback>
                <p:oleObj name="Equation" r:id="rId3" imgW="1435100" imgH="342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233488"/>
                        <a:ext cx="14351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9"/>
          <p:cNvGraphicFramePr>
            <a:graphicFrameLocks noChangeAspect="1"/>
          </p:cNvGraphicFramePr>
          <p:nvPr/>
        </p:nvGraphicFramePr>
        <p:xfrm>
          <a:off x="3581400" y="1828800"/>
          <a:ext cx="236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Equation" r:id="rId5" imgW="2362200" imgH="330200" progId="Equation.3">
                  <p:embed/>
                </p:oleObj>
              </mc:Choice>
              <mc:Fallback>
                <p:oleObj name="Equation" r:id="rId5" imgW="23622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8800"/>
                        <a:ext cx="2362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8"/>
          <p:cNvGraphicFramePr>
            <a:graphicFrameLocks noChangeAspect="1"/>
          </p:cNvGraphicFramePr>
          <p:nvPr/>
        </p:nvGraphicFramePr>
        <p:xfrm>
          <a:off x="2286000" y="3352800"/>
          <a:ext cx="538003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Equation" r:id="rId7" imgW="5384800" imgH="342900" progId="Equation.3">
                  <p:embed/>
                </p:oleObj>
              </mc:Choice>
              <mc:Fallback>
                <p:oleObj name="Equation" r:id="rId7" imgW="5384800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52800"/>
                        <a:ext cx="5380038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6"/>
          <p:cNvGraphicFramePr>
            <a:graphicFrameLocks noChangeAspect="1"/>
          </p:cNvGraphicFramePr>
          <p:nvPr/>
        </p:nvGraphicFramePr>
        <p:xfrm>
          <a:off x="1270000" y="4191000"/>
          <a:ext cx="8128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9" imgW="812447" imgH="342751" progId="Equation.3">
                  <p:embed/>
                </p:oleObj>
              </mc:Choice>
              <mc:Fallback>
                <p:oleObj name="Equation" r:id="rId9" imgW="812447" imgH="3427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4191000"/>
                        <a:ext cx="8128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5"/>
          <p:cNvGraphicFramePr>
            <a:graphicFrameLocks noChangeAspect="1"/>
          </p:cNvGraphicFramePr>
          <p:nvPr/>
        </p:nvGraphicFramePr>
        <p:xfrm>
          <a:off x="5715000" y="4067175"/>
          <a:ext cx="19018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Equation" r:id="rId11" imgW="1905000" imgH="660400" progId="Equation.3">
                  <p:embed/>
                </p:oleObj>
              </mc:Choice>
              <mc:Fallback>
                <p:oleObj name="Equation" r:id="rId11" imgW="1905000" imgH="660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67175"/>
                        <a:ext cx="19018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4"/>
          <p:cNvGraphicFramePr>
            <a:graphicFrameLocks noChangeAspect="1"/>
          </p:cNvGraphicFramePr>
          <p:nvPr/>
        </p:nvGraphicFramePr>
        <p:xfrm>
          <a:off x="3813175" y="4706938"/>
          <a:ext cx="854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name="Equation" r:id="rId13" imgW="850531" imgH="330057" progId="Equation.3">
                  <p:embed/>
                </p:oleObj>
              </mc:Choice>
              <mc:Fallback>
                <p:oleObj name="Equation" r:id="rId13" imgW="850531" imgH="33005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4706938"/>
                        <a:ext cx="8540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1219200" y="1219200"/>
            <a:ext cx="2257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1800"/>
              <a:t> La construction de 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>
            <a:off x="4876800" y="1233488"/>
            <a:ext cx="1828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 </a:t>
            </a:r>
            <a:r>
              <a:rPr lang="fr-FR" altLang="en-US" sz="1800"/>
              <a:t>s</a:t>
            </a:r>
            <a:r>
              <a:rPr lang="ja-JP" altLang="fr-FR" sz="1800"/>
              <a:t>’</a:t>
            </a:r>
            <a:r>
              <a:rPr lang="fr-FR" altLang="ja-JP" sz="1800"/>
              <a:t>obtient par :</a:t>
            </a:r>
            <a:endParaRPr lang="fr-FR" altLang="en-US" sz="1800"/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1447800" y="2909888"/>
            <a:ext cx="384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(iii) Pour k=1 à n-1 et i=k+1:n  	</a:t>
            </a:r>
          </a:p>
        </p:txBody>
      </p:sp>
      <p:sp>
        <p:nvSpPr>
          <p:cNvPr id="36877" name="Rectangle 16"/>
          <p:cNvSpPr>
            <a:spLocks noChangeArrowheads="1"/>
          </p:cNvSpPr>
          <p:nvPr/>
        </p:nvSpPr>
        <p:spPr bwMode="auto">
          <a:xfrm>
            <a:off x="2057400" y="4191000"/>
            <a:ext cx="3765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 est choisi pour que (ii) soit vérifié : </a:t>
            </a:r>
          </a:p>
        </p:txBody>
      </p:sp>
      <p:sp>
        <p:nvSpPr>
          <p:cNvPr id="36878" name="Rectangle 19"/>
          <p:cNvSpPr>
            <a:spLocks noChangeArrowheads="1"/>
          </p:cNvSpPr>
          <p:nvPr/>
        </p:nvSpPr>
        <p:spPr bwMode="auto">
          <a:xfrm>
            <a:off x="1447800" y="1828800"/>
            <a:ext cx="292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en-US" sz="1800"/>
              <a:t>(i) Pour k=1 à n-1 :	</a:t>
            </a:r>
          </a:p>
        </p:txBody>
      </p:sp>
      <p:sp>
        <p:nvSpPr>
          <p:cNvPr id="36879" name="Rectangle 21"/>
          <p:cNvSpPr>
            <a:spLocks noChangeArrowheads="1"/>
          </p:cNvSpPr>
          <p:nvPr/>
        </p:nvSpPr>
        <p:spPr bwMode="auto">
          <a:xfrm>
            <a:off x="1447800" y="2362200"/>
            <a:ext cx="292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(ii) Pour k=1 à n-1  :	</a:t>
            </a:r>
          </a:p>
        </p:txBody>
      </p:sp>
      <p:graphicFrame>
        <p:nvGraphicFramePr>
          <p:cNvPr id="36880" name="Object 20"/>
          <p:cNvGraphicFramePr>
            <a:graphicFrameLocks noChangeAspect="1"/>
          </p:cNvGraphicFramePr>
          <p:nvPr/>
        </p:nvGraphicFramePr>
        <p:xfrm>
          <a:off x="3590925" y="2411413"/>
          <a:ext cx="21240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0" name="Equation" r:id="rId15" imgW="2120900" imgH="330200" progId="Equation.3">
                  <p:embed/>
                </p:oleObj>
              </mc:Choice>
              <mc:Fallback>
                <p:oleObj name="Equation" r:id="rId15" imgW="2120900" imgH="330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2411413"/>
                        <a:ext cx="212407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1" name="Rectangle 22"/>
          <p:cNvSpPr>
            <a:spLocks noChangeArrowheads="1"/>
          </p:cNvSpPr>
          <p:nvPr/>
        </p:nvSpPr>
        <p:spPr bwMode="auto">
          <a:xfrm>
            <a:off x="3230563" y="4294188"/>
            <a:ext cx="2047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600"/>
              <a:t> </a:t>
            </a:r>
            <a:endParaRPr lang="fr-FR" altLang="en-US" sz="1800"/>
          </a:p>
        </p:txBody>
      </p:sp>
      <p:sp>
        <p:nvSpPr>
          <p:cNvPr id="36882" name="Text Box 23"/>
          <p:cNvSpPr txBox="1">
            <a:spLocks noChangeArrowheads="1"/>
          </p:cNvSpPr>
          <p:nvPr/>
        </p:nvSpPr>
        <p:spPr bwMode="auto">
          <a:xfrm>
            <a:off x="1538288" y="76200"/>
            <a:ext cx="631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solidFill>
                  <a:schemeClr val="accent2"/>
                </a:solidFill>
              </a:rPr>
              <a:t>Algorithme de la factorisation LU optimisé</a:t>
            </a:r>
          </a:p>
        </p:txBody>
      </p:sp>
      <p:graphicFrame>
        <p:nvGraphicFramePr>
          <p:cNvPr id="36883" name="Object 26"/>
          <p:cNvGraphicFramePr>
            <a:graphicFrameLocks noChangeAspect="1"/>
          </p:cNvGraphicFramePr>
          <p:nvPr/>
        </p:nvGraphicFramePr>
        <p:xfrm>
          <a:off x="6556375" y="5791200"/>
          <a:ext cx="19780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1" name="Equation" r:id="rId17" imgW="1981200" imgH="342900" progId="Equation.3">
                  <p:embed/>
                </p:oleObj>
              </mc:Choice>
              <mc:Fallback>
                <p:oleObj name="Equation" r:id="rId17" imgW="1981200" imgH="3429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75" y="5791200"/>
                        <a:ext cx="19780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1110</Words>
  <Application>Microsoft Office PowerPoint</Application>
  <PresentationFormat>Affichage à l'écran (4:3)</PresentationFormat>
  <Paragraphs>342</Paragraphs>
  <Slides>23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33" baseType="lpstr">
      <vt:lpstr>Arial</vt:lpstr>
      <vt:lpstr>MS PGothic</vt:lpstr>
      <vt:lpstr>Courier New</vt:lpstr>
      <vt:lpstr>Symbol</vt:lpstr>
      <vt:lpstr>Wingdings</vt:lpstr>
      <vt:lpstr>Wingdings 3</vt:lpstr>
      <vt:lpstr>Comic Sans MS</vt:lpstr>
      <vt:lpstr>Modèle par défaut</vt:lpstr>
      <vt:lpstr>Microsoft Equation 3.0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2</cp:revision>
  <cp:lastPrinted>1601-01-01T00:00:00Z</cp:lastPrinted>
  <dcterms:created xsi:type="dcterms:W3CDTF">2015-11-15T10:35:02Z</dcterms:created>
  <dcterms:modified xsi:type="dcterms:W3CDTF">2019-07-07T14:30:46Z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