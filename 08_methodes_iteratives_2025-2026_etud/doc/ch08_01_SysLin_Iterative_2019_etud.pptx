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9" r:id="rId2"/>
    <p:sldId id="281" r:id="rId3"/>
    <p:sldId id="285" r:id="rId4"/>
    <p:sldId id="282" r:id="rId5"/>
    <p:sldId id="283" r:id="rId6"/>
    <p:sldId id="262" r:id="rId7"/>
    <p:sldId id="263" r:id="rId8"/>
    <p:sldId id="290" r:id="rId9"/>
    <p:sldId id="286" r:id="rId10"/>
    <p:sldId id="264" r:id="rId11"/>
    <p:sldId id="287" r:id="rId12"/>
    <p:sldId id="288" r:id="rId13"/>
    <p:sldId id="289" r:id="rId14"/>
    <p:sldId id="276" r:id="rId15"/>
    <p:sldId id="269" r:id="rId16"/>
    <p:sldId id="296" r:id="rId17"/>
    <p:sldId id="271" r:id="rId18"/>
    <p:sldId id="272" r:id="rId19"/>
    <p:sldId id="291" r:id="rId20"/>
    <p:sldId id="292" r:id="rId21"/>
    <p:sldId id="293" r:id="rId22"/>
    <p:sldId id="294" r:id="rId23"/>
    <p:sldId id="295" r:id="rId24"/>
  </p:sldIdLst>
  <p:sldSz cx="9144000" cy="6858000" type="screen4x3"/>
  <p:notesSz cx="7315200" cy="96012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0000FF"/>
    <a:srgbClr val="008000"/>
    <a:srgbClr val="33CC3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e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28.wmf"/><Relationship Id="rId1" Type="http://schemas.openxmlformats.org/officeDocument/2006/relationships/image" Target="../media/image31.wmf"/><Relationship Id="rId4" Type="http://schemas.openxmlformats.org/officeDocument/2006/relationships/image" Target="../media/image3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42.wmf"/><Relationship Id="rId7" Type="http://schemas.openxmlformats.org/officeDocument/2006/relationships/image" Target="../media/image47.wmf"/><Relationship Id="rId2" Type="http://schemas.openxmlformats.org/officeDocument/2006/relationships/image" Target="../media/image22.wmf"/><Relationship Id="rId1" Type="http://schemas.openxmlformats.org/officeDocument/2006/relationships/image" Target="../media/image44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image" Target="../media/image63.wmf"/><Relationship Id="rId7" Type="http://schemas.openxmlformats.org/officeDocument/2006/relationships/image" Target="../media/image66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5.wmf"/><Relationship Id="rId5" Type="http://schemas.openxmlformats.org/officeDocument/2006/relationships/image" Target="../media/image45.wmf"/><Relationship Id="rId4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686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8600"/>
            <a:ext cx="31686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18600"/>
            <a:ext cx="3168650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0EFB408-BAA9-4FDE-9987-0DAC2EE86DB6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018F6-0EA8-48E0-B1B1-8F5A5A5EA079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89198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6DF8B8-8566-4E0A-80AF-AABFD3F7ACE6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64652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662ED3-BBCC-4EBD-AB9F-5378BD5FB012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64644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721177-F6EF-4B00-8200-4891ECC3E11E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89843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4D406F-7454-4D90-A950-1ACC430F80DD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627171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39AC3-4E31-45B5-B7C9-9B4248808690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14001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8BD8A-A8A6-4700-A27D-0FB9B67ACBC4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170196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F0C58A-9BA1-4182-B2B3-772BCFEAB48B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06629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8993D-7038-4B3D-B506-38710F63D618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383026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59D6AB-F6CF-46E5-8B01-2076250168B0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230705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46B51A-21C9-48F5-A973-683CA5BF5D25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  <p:extLst>
      <p:ext uri="{BB962C8B-B14F-4D97-AF65-F5344CB8AC3E}">
        <p14:creationId xmlns:p14="http://schemas.microsoft.com/office/powerpoint/2010/main" val="47317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97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fld id="{08BEE5E9-7928-45C5-8F52-EB8E1EBB7B8F}" type="slidenum">
              <a:rPr lang="fr-FR" altLang="fr-FR"/>
              <a:pPr/>
              <a:t>‹N°›</a:t>
            </a:fld>
            <a:endParaRPr lang="fr-FR" altLang="fr-FR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5.w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5.png"/><Relationship Id="rId4" Type="http://schemas.openxmlformats.org/officeDocument/2006/relationships/image" Target="../media/image2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34.png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2.wmf"/><Relationship Id="rId4" Type="http://schemas.openxmlformats.org/officeDocument/2006/relationships/image" Target="../media/image25.png"/><Relationship Id="rId9" Type="http://schemas.openxmlformats.org/officeDocument/2006/relationships/oleObject" Target="../embeddings/oleObject3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wmf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0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4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48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45.w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5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5A4B0F2-FD1B-4C94-A0ED-791016EFCBAD}" type="slidenum">
              <a:rPr lang="fr-FR" altLang="fr-FR" sz="1200"/>
              <a:pPr eaLnBrk="1" hangingPunct="1"/>
              <a:t>1</a:t>
            </a:fld>
            <a:endParaRPr lang="fr-FR" altLang="fr-FR" sz="1200" b="0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81000" y="990600"/>
            <a:ext cx="8534400" cy="531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/>
            <a:r>
              <a:rPr lang="fr-FR" altLang="fr-FR" sz="1800" b="1"/>
              <a:t>Méthodes directes</a:t>
            </a:r>
          </a:p>
          <a:p>
            <a:pPr eaLnBrk="1" hangingPunct="1"/>
            <a:r>
              <a:rPr lang="fr-FR" altLang="fr-FR" sz="1800"/>
              <a:t>Les méthodes directes peuvent être hors de portée des ordinateurs pour les </a:t>
            </a:r>
            <a:r>
              <a:rPr lang="ja-JP" altLang="fr-FR" sz="1800"/>
              <a:t>“</a:t>
            </a:r>
            <a:r>
              <a:rPr lang="fr-FR" altLang="ja-JP" sz="1800"/>
              <a:t>très grands</a:t>
            </a:r>
            <a:r>
              <a:rPr lang="ja-JP" altLang="fr-FR" sz="1800"/>
              <a:t>”</a:t>
            </a:r>
            <a:r>
              <a:rPr lang="fr-FR" altLang="ja-JP" sz="1800"/>
              <a:t> problèmes :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	Phénomène de remplissage	la matrice devient trop grosse</a:t>
            </a:r>
          </a:p>
          <a:p>
            <a:pPr eaLnBrk="1" hangingPunct="1"/>
            <a:r>
              <a:rPr lang="fr-FR" altLang="fr-FR" sz="1800"/>
              <a:t>	</a:t>
            </a:r>
          </a:p>
          <a:p>
            <a:pPr eaLnBrk="1" hangingPunct="1"/>
            <a:r>
              <a:rPr lang="fr-FR" altLang="fr-FR" sz="1800"/>
              <a:t>	Coût des calculs en 		temps de calcul trop long</a:t>
            </a:r>
          </a:p>
          <a:p>
            <a:pPr algn="just" eaLnBrk="1" hangingPunct="1"/>
            <a:endParaRPr lang="fr-FR" altLang="fr-FR" sz="1800"/>
          </a:p>
          <a:p>
            <a:pPr algn="just" eaLnBrk="1" hangingPunct="1"/>
            <a:r>
              <a:rPr lang="fr-FR" altLang="fr-FR" sz="1800" b="1"/>
              <a:t>Méthodes itératives</a:t>
            </a:r>
          </a:p>
          <a:p>
            <a:pPr eaLnBrk="1" hangingPunct="1"/>
            <a:r>
              <a:rPr lang="fr-FR" altLang="fr-FR" sz="1800"/>
              <a:t>Partant qu</a:t>
            </a:r>
            <a:r>
              <a:rPr lang="ja-JP" altLang="fr-FR" sz="1800"/>
              <a:t>’</a:t>
            </a:r>
            <a:r>
              <a:rPr lang="fr-FR" altLang="ja-JP" sz="1800"/>
              <a:t>un vecteur </a:t>
            </a:r>
            <a:r>
              <a:rPr lang="fr-FR" altLang="ja-JP" sz="1800" b="1"/>
              <a:t>x</a:t>
            </a:r>
            <a:r>
              <a:rPr lang="fr-FR" altLang="ja-JP" sz="1800" baseline="-25000"/>
              <a:t>0</a:t>
            </a:r>
            <a:r>
              <a:rPr lang="fr-FR" altLang="ja-JP" sz="1800"/>
              <a:t> , Il s</a:t>
            </a:r>
            <a:r>
              <a:rPr lang="ja-JP" altLang="fr-FR" sz="1800"/>
              <a:t>’</a:t>
            </a:r>
            <a:r>
              <a:rPr lang="fr-FR" altLang="ja-JP" sz="1800"/>
              <a:t>agit de construire une suite de vecteurs </a:t>
            </a:r>
            <a:r>
              <a:rPr lang="fr-FR" altLang="ja-JP" sz="1800" b="1"/>
              <a:t>x</a:t>
            </a:r>
            <a:r>
              <a:rPr lang="fr-FR" altLang="ja-JP" sz="1800" baseline="-25000"/>
              <a:t>p</a:t>
            </a:r>
            <a:r>
              <a:rPr lang="fr-FR" altLang="ja-JP" sz="1800"/>
              <a:t> de manière récurrente permettant de s</a:t>
            </a:r>
            <a:r>
              <a:rPr lang="ja-JP" altLang="fr-FR" sz="1800"/>
              <a:t>’</a:t>
            </a:r>
            <a:r>
              <a:rPr lang="fr-FR" altLang="ja-JP" sz="1800"/>
              <a:t>approcher à chaque itération de la solution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La procédure s</a:t>
            </a:r>
            <a:r>
              <a:rPr lang="ja-JP" altLang="fr-FR" sz="1800"/>
              <a:t>’</a:t>
            </a:r>
            <a:r>
              <a:rPr lang="fr-FR" altLang="ja-JP" sz="1800"/>
              <a:t>arrête d</a:t>
            </a:r>
            <a:r>
              <a:rPr lang="ja-JP" altLang="fr-FR" sz="1800"/>
              <a:t>’</a:t>
            </a:r>
            <a:r>
              <a:rPr lang="fr-FR" altLang="ja-JP" sz="1800"/>
              <a:t>après le critère :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algorithme peut ne pas converger s</a:t>
            </a:r>
            <a:r>
              <a:rPr lang="ja-JP" altLang="fr-FR" sz="1800"/>
              <a:t>’</a:t>
            </a:r>
            <a:r>
              <a:rPr lang="fr-FR" altLang="ja-JP" sz="1800"/>
              <a:t>il n</a:t>
            </a:r>
            <a:r>
              <a:rPr lang="ja-JP" altLang="fr-FR" sz="1800"/>
              <a:t>’</a:t>
            </a:r>
            <a:r>
              <a:rPr lang="fr-FR" altLang="ja-JP" sz="1800"/>
              <a:t>est pas adapté à la structure de la </a:t>
            </a:r>
          </a:p>
          <a:p>
            <a:pPr eaLnBrk="1" hangingPunct="1"/>
            <a:r>
              <a:rPr lang="fr-FR" altLang="fr-FR" sz="1800"/>
              <a:t>matrice ou si elle est mal conditionnée.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Mais si une solution est trouvée elle est nécessairement valide compte tenu de la précision relative demandée</a:t>
            </a:r>
          </a:p>
        </p:txBody>
      </p:sp>
      <p:graphicFrame>
        <p:nvGraphicFramePr>
          <p:cNvPr id="3075" name="Object 9"/>
          <p:cNvGraphicFramePr>
            <a:graphicFrameLocks noChangeAspect="1"/>
          </p:cNvGraphicFramePr>
          <p:nvPr/>
        </p:nvGraphicFramePr>
        <p:xfrm>
          <a:off x="4624388" y="4041775"/>
          <a:ext cx="14605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3" imgW="812447" imgH="507780" progId="Equation.DSMT4">
                  <p:embed/>
                </p:oleObj>
              </mc:Choice>
              <mc:Fallback>
                <p:oleObj name="Equation" r:id="rId3" imgW="812447" imgH="5077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4388" y="4041775"/>
                        <a:ext cx="14605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304800" y="152400"/>
            <a:ext cx="861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b="1">
                <a:solidFill>
                  <a:schemeClr val="accent2"/>
                </a:solidFill>
              </a:rPr>
              <a:t>Résolution de systèmes linéaires - 2 familles de méthodes</a:t>
            </a:r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2590800" y="609600"/>
            <a:ext cx="3708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Soit à résoudre le système Ax=b</a:t>
            </a:r>
          </a:p>
        </p:txBody>
      </p:sp>
      <p:graphicFrame>
        <p:nvGraphicFramePr>
          <p:cNvPr id="3078" name="Object 12"/>
          <p:cNvGraphicFramePr>
            <a:graphicFrameLocks noChangeAspect="1"/>
          </p:cNvGraphicFramePr>
          <p:nvPr/>
        </p:nvGraphicFramePr>
        <p:xfrm>
          <a:off x="3543300" y="2549525"/>
          <a:ext cx="4191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Equation" r:id="rId5" imgW="418918" imgH="571252" progId="Equation.3">
                  <p:embed/>
                </p:oleObj>
              </mc:Choice>
              <mc:Fallback>
                <p:oleObj name="Equation" r:id="rId5" imgW="418918" imgH="57125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2549525"/>
                        <a:ext cx="4191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4419600" y="22098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7183" name="AutoShape 15"/>
          <p:cNvSpPr>
            <a:spLocks noChangeArrowheads="1"/>
          </p:cNvSpPr>
          <p:nvPr/>
        </p:nvSpPr>
        <p:spPr bwMode="auto">
          <a:xfrm>
            <a:off x="4419600" y="27432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B501855-DA47-418F-AD09-BE6BE96F6176}" type="slidenum">
              <a:rPr lang="fr-FR" altLang="fr-FR" sz="1200"/>
              <a:pPr eaLnBrk="1" hangingPunct="1"/>
              <a:t>2</a:t>
            </a:fld>
            <a:endParaRPr lang="fr-FR" altLang="fr-FR" sz="1200" b="0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123825" y="63500"/>
            <a:ext cx="8037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cs typeface="Times New Roman" panose="02020603050405020304" pitchFamily="18" charset="0"/>
              </a:rPr>
              <a:t>Minimisation d</a:t>
            </a:r>
            <a:r>
              <a:rPr lang="ja-JP" altLang="fr-FR">
                <a:solidFill>
                  <a:srgbClr val="000000"/>
                </a:solidFill>
                <a:cs typeface="Times New Roman" panose="02020603050405020304" pitchFamily="18" charset="0"/>
              </a:rPr>
              <a:t>’</a:t>
            </a:r>
            <a:r>
              <a:rPr lang="fr-FR" altLang="ja-JP">
                <a:solidFill>
                  <a:srgbClr val="000000"/>
                </a:solidFill>
                <a:cs typeface="Times New Roman" panose="02020603050405020304" pitchFamily="18" charset="0"/>
              </a:rPr>
              <a:t>une énergie discrète de forme quadratique</a:t>
            </a:r>
            <a:r>
              <a:rPr lang="en-US" altLang="ja-JP"/>
              <a:t> </a:t>
            </a:r>
            <a:endParaRPr lang="fr-FR" altLang="fr-FR"/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195263" y="687388"/>
            <a:ext cx="84884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On veut résoudre le système d</a:t>
            </a:r>
            <a:r>
              <a:rPr lang="ja-JP" altLang="fr-FR" sz="1800" dirty="0"/>
              <a:t>’</a:t>
            </a:r>
            <a:r>
              <a:rPr lang="fr-FR" altLang="ja-JP" sz="1800" dirty="0"/>
              <a:t>équations A x=b où A est une matrice symétrique </a:t>
            </a:r>
          </a:p>
          <a:p>
            <a:pPr eaLnBrk="1" hangingPunct="1"/>
            <a:r>
              <a:rPr lang="fr-FR" altLang="fr-FR" sz="1800" dirty="0"/>
              <a:t>(A</a:t>
            </a:r>
            <a:r>
              <a:rPr lang="fr-FR" altLang="fr-FR" sz="1800" baseline="30000" dirty="0"/>
              <a:t>t </a:t>
            </a:r>
            <a:r>
              <a:rPr lang="fr-FR" altLang="fr-FR" sz="1800" dirty="0"/>
              <a:t>= A) définie positive (valeurs propres positives). </a:t>
            </a:r>
          </a:p>
          <a:p>
            <a:pPr eaLnBrk="1" hangingPunct="1"/>
            <a:r>
              <a:rPr lang="fr-FR" altLang="fr-FR" sz="1800" dirty="0"/>
              <a:t>Dans la suite, on se place dans </a:t>
            </a:r>
            <a:r>
              <a:rPr lang="fr-FR" altLang="fr-FR" sz="1800" dirty="0"/>
              <a:t>I</a:t>
            </a:r>
            <a:r>
              <a:rPr lang="fr-FR" altLang="fr-FR" sz="1800" dirty="0" smtClean="0">
                <a:sym typeface="MT Extra" panose="05050102010205020202" pitchFamily="18" charset="2"/>
              </a:rPr>
              <a:t>R</a:t>
            </a:r>
            <a:r>
              <a:rPr lang="fr-FR" altLang="fr-FR" sz="1800" dirty="0" smtClean="0"/>
              <a:t>.</a:t>
            </a:r>
            <a:endParaRPr lang="fr-FR" altLang="fr-FR" sz="1800" dirty="0"/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190500" y="1663700"/>
            <a:ext cx="7334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associe au système d</a:t>
            </a:r>
            <a:r>
              <a:rPr lang="ja-JP" altLang="fr-FR" sz="1800"/>
              <a:t>’</a:t>
            </a:r>
            <a:r>
              <a:rPr lang="fr-FR" altLang="ja-JP" sz="1800"/>
              <a:t>équations une énergie discrète E définie par </a:t>
            </a:r>
            <a:endParaRPr lang="fr-FR" altLang="fr-FR" sz="1800"/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0" y="2682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02" name="Object 8"/>
          <p:cNvGraphicFramePr>
            <a:graphicFrameLocks noChangeAspect="1"/>
          </p:cNvGraphicFramePr>
          <p:nvPr/>
        </p:nvGraphicFramePr>
        <p:xfrm>
          <a:off x="2700338" y="2076450"/>
          <a:ext cx="2438400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3" imgW="1345616" imgH="393529" progId="Equation.DSMT4">
                  <p:embed/>
                </p:oleObj>
              </mc:Choice>
              <mc:Fallback>
                <p:oleObj name="Equation" r:id="rId3" imgW="1345616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076450"/>
                        <a:ext cx="2438400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211138" y="2913063"/>
            <a:ext cx="7205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Appliquons une petite variation </a:t>
            </a:r>
            <a:r>
              <a:rPr lang="fr-FR" altLang="fr-FR" sz="1800">
                <a:sym typeface="Symbol" panose="05050102010706020507" pitchFamily="18" charset="2"/>
              </a:rPr>
              <a:t></a:t>
            </a:r>
            <a:r>
              <a:rPr lang="fr-FR" altLang="fr-FR" sz="1800"/>
              <a:t>x sur le vecteur x, l</a:t>
            </a:r>
            <a:r>
              <a:rPr lang="ja-JP" altLang="fr-FR" sz="1800"/>
              <a:t>’</a:t>
            </a:r>
            <a:r>
              <a:rPr lang="fr-FR" altLang="ja-JP" sz="1800"/>
              <a:t>énergie varie de :</a:t>
            </a:r>
            <a:endParaRPr lang="fr-FR" altLang="fr-FR" sz="18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0" y="2687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05" name="Object 11"/>
          <p:cNvGraphicFramePr>
            <a:graphicFrameLocks noChangeAspect="1"/>
          </p:cNvGraphicFramePr>
          <p:nvPr/>
        </p:nvGraphicFramePr>
        <p:xfrm>
          <a:off x="287338" y="3327400"/>
          <a:ext cx="64484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5" imgW="3556000" imgH="393700" progId="Equation.DSMT4">
                  <p:embed/>
                </p:oleObj>
              </mc:Choice>
              <mc:Fallback>
                <p:oleObj name="Equation" r:id="rId5" imgW="3556000" imgH="393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3327400"/>
                        <a:ext cx="64484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Text Box 13"/>
          <p:cNvSpPr txBox="1">
            <a:spLocks noChangeArrowheads="1"/>
          </p:cNvSpPr>
          <p:nvPr/>
        </p:nvSpPr>
        <p:spPr bwMode="auto">
          <a:xfrm>
            <a:off x="303213" y="4192588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Or</a:t>
            </a:r>
          </a:p>
        </p:txBody>
      </p:sp>
      <p:sp>
        <p:nvSpPr>
          <p:cNvPr id="50191" name="Rectangle 15"/>
          <p:cNvSpPr>
            <a:spLocks noChangeArrowheads="1"/>
          </p:cNvSpPr>
          <p:nvPr/>
        </p:nvSpPr>
        <p:spPr bwMode="auto">
          <a:xfrm>
            <a:off x="0" y="2735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08" name="Object 14"/>
          <p:cNvGraphicFramePr>
            <a:graphicFrameLocks noChangeAspect="1"/>
          </p:cNvGraphicFramePr>
          <p:nvPr/>
        </p:nvGraphicFramePr>
        <p:xfrm>
          <a:off x="755650" y="4087813"/>
          <a:ext cx="2808288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Equation" r:id="rId7" imgW="1714500" imgH="342900" progId="Equation.DSMT4">
                  <p:embed/>
                </p:oleObj>
              </mc:Choice>
              <mc:Fallback>
                <p:oleObj name="Equation" r:id="rId7" imgW="1714500" imgH="342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087813"/>
                        <a:ext cx="2808288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Rectangle 18"/>
          <p:cNvSpPr>
            <a:spLocks noChangeArrowheads="1"/>
          </p:cNvSpPr>
          <p:nvPr/>
        </p:nvSpPr>
        <p:spPr bwMode="auto">
          <a:xfrm>
            <a:off x="0" y="2687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10" name="Object 17"/>
          <p:cNvGraphicFramePr>
            <a:graphicFrameLocks noChangeAspect="1"/>
          </p:cNvGraphicFramePr>
          <p:nvPr/>
        </p:nvGraphicFramePr>
        <p:xfrm>
          <a:off x="4319588" y="4051300"/>
          <a:ext cx="45720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Equation" r:id="rId9" imgW="2705100" imgH="393700" progId="Equation.DSMT4">
                  <p:embed/>
                </p:oleObj>
              </mc:Choice>
              <mc:Fallback>
                <p:oleObj name="Equation" r:id="rId9" imgW="27051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8" y="4051300"/>
                        <a:ext cx="45720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6" name="Rectangle 20"/>
          <p:cNvSpPr>
            <a:spLocks noChangeArrowheads="1"/>
          </p:cNvSpPr>
          <p:nvPr/>
        </p:nvSpPr>
        <p:spPr bwMode="auto">
          <a:xfrm>
            <a:off x="287338" y="4832350"/>
            <a:ext cx="433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  <a:cs typeface="Times New Roman" charset="0"/>
              </a:rPr>
              <a:t>Le point x=x</a:t>
            </a:r>
            <a:r>
              <a:rPr lang="fr-FR" baseline="-25000">
                <a:latin typeface="Arial" charset="0"/>
                <a:ea typeface="ＭＳ Ｐゴシック" charset="0"/>
                <a:cs typeface="Times New Roman" charset="0"/>
                <a:sym typeface="Symbol" charset="0"/>
              </a:rPr>
              <a:t></a:t>
            </a:r>
            <a:r>
              <a:rPr lang="fr-FR">
                <a:latin typeface="Arial" charset="0"/>
                <a:ea typeface="ＭＳ Ｐゴシック" charset="0"/>
                <a:cs typeface="Times New Roman" charset="0"/>
              </a:rPr>
              <a:t> </a:t>
            </a:r>
            <a:r>
              <a:rPr lang="fr-FR">
                <a:latin typeface="Arial" charset="0"/>
                <a:ea typeface="ＭＳ Ｐゴシック" charset="0"/>
              </a:rPr>
              <a:t>correspond au minimum si </a:t>
            </a:r>
          </a:p>
        </p:txBody>
      </p:sp>
      <p:sp>
        <p:nvSpPr>
          <p:cNvPr id="50199" name="Rectangle 23"/>
          <p:cNvSpPr>
            <a:spLocks noChangeArrowheads="1"/>
          </p:cNvSpPr>
          <p:nvPr/>
        </p:nvSpPr>
        <p:spPr bwMode="auto">
          <a:xfrm>
            <a:off x="0" y="2811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13" name="Object 22"/>
          <p:cNvGraphicFramePr>
            <a:graphicFrameLocks noChangeAspect="1"/>
          </p:cNvGraphicFramePr>
          <p:nvPr/>
        </p:nvGraphicFramePr>
        <p:xfrm>
          <a:off x="4575175" y="4806950"/>
          <a:ext cx="2381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Equation" r:id="rId11" imgW="1345616" imgH="253890" progId="Equation.DSMT4">
                  <p:embed/>
                </p:oleObj>
              </mc:Choice>
              <mc:Fallback>
                <p:oleObj name="Equation" r:id="rId11" imgW="1345616" imgH="25389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5175" y="4806950"/>
                        <a:ext cx="2381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2" name="Rectangle 26"/>
          <p:cNvSpPr>
            <a:spLocks noChangeArrowheads="1"/>
          </p:cNvSpPr>
          <p:nvPr/>
        </p:nvSpPr>
        <p:spPr bwMode="auto">
          <a:xfrm>
            <a:off x="0" y="2825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4115" name="Object 25"/>
          <p:cNvGraphicFramePr>
            <a:graphicFrameLocks noChangeAspect="1"/>
          </p:cNvGraphicFramePr>
          <p:nvPr/>
        </p:nvGraphicFramePr>
        <p:xfrm>
          <a:off x="4643438" y="5264150"/>
          <a:ext cx="1333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Equation" r:id="rId13" imgW="736600" imgH="241300" progId="Equation.DSMT4">
                  <p:embed/>
                </p:oleObj>
              </mc:Choice>
              <mc:Fallback>
                <p:oleObj name="Equation" r:id="rId13" imgW="736600" imgH="241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264150"/>
                        <a:ext cx="13335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3" name="Text Box 27"/>
          <p:cNvSpPr txBox="1">
            <a:spLocks noChangeArrowheads="1"/>
          </p:cNvSpPr>
          <p:nvPr/>
        </p:nvSpPr>
        <p:spPr bwMode="auto">
          <a:xfrm>
            <a:off x="6208713" y="5284788"/>
            <a:ext cx="2292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car A définie positive</a:t>
            </a:r>
          </a:p>
        </p:txBody>
      </p:sp>
      <p:sp>
        <p:nvSpPr>
          <p:cNvPr id="50204" name="Text Box 28"/>
          <p:cNvSpPr txBox="1">
            <a:spLocks noChangeArrowheads="1"/>
          </p:cNvSpPr>
          <p:nvPr/>
        </p:nvSpPr>
        <p:spPr bwMode="auto">
          <a:xfrm>
            <a:off x="287338" y="5768975"/>
            <a:ext cx="6342062" cy="3857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Conclusion : minimiser E(x) par rapport à x </a:t>
            </a:r>
            <a:r>
              <a:rPr lang="fr-FR" altLang="fr-FR" sz="1800">
                <a:sym typeface="Symbol" panose="05050102010706020507" pitchFamily="18" charset="2"/>
              </a:rPr>
              <a:t> résoudre A x=b</a:t>
            </a:r>
          </a:p>
        </p:txBody>
      </p:sp>
      <p:sp>
        <p:nvSpPr>
          <p:cNvPr id="50205" name="AutoShape 29"/>
          <p:cNvSpPr>
            <a:spLocks noChangeArrowheads="1"/>
          </p:cNvSpPr>
          <p:nvPr/>
        </p:nvSpPr>
        <p:spPr bwMode="auto">
          <a:xfrm>
            <a:off x="3708400" y="4303713"/>
            <a:ext cx="539750" cy="179387"/>
          </a:xfrm>
          <a:prstGeom prst="rightArrow">
            <a:avLst>
              <a:gd name="adj1" fmla="val 50000"/>
              <a:gd name="adj2" fmla="val 752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DC5C6CB-02BC-43C4-A176-4502E65CBF87}" type="slidenum">
              <a:rPr lang="fr-FR" altLang="fr-FR" sz="1200"/>
              <a:pPr eaLnBrk="1" hangingPunct="1"/>
              <a:t>3</a:t>
            </a:fld>
            <a:endParaRPr lang="fr-FR" altLang="fr-FR" sz="1200" b="0"/>
          </a:p>
        </p:txBody>
      </p:sp>
      <p:pic>
        <p:nvPicPr>
          <p:cNvPr id="5122" name="Picture 4" descr="ellip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401763"/>
            <a:ext cx="6024563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3563938" y="5889625"/>
            <a:ext cx="5060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représente l</a:t>
            </a:r>
            <a:r>
              <a:rPr lang="ja-JP" altLang="fr-FR" sz="1800"/>
              <a:t>’</a:t>
            </a:r>
            <a:r>
              <a:rPr lang="fr-FR" altLang="ja-JP" sz="1800"/>
              <a:t>ensemble des points d</a:t>
            </a:r>
            <a:r>
              <a:rPr lang="ja-JP" altLang="fr-FR" sz="1800"/>
              <a:t>’</a:t>
            </a:r>
            <a:r>
              <a:rPr lang="fr-FR" altLang="ja-JP" sz="1800"/>
              <a:t>un ellipsoïde</a:t>
            </a:r>
            <a:endParaRPr lang="fr-FR" altLang="fr-FR" sz="1800"/>
          </a:p>
        </p:txBody>
      </p:sp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287338" y="5824538"/>
          <a:ext cx="337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4" imgW="1866900" imgH="292100" progId="Equation.DSMT4">
                  <p:embed/>
                </p:oleObj>
              </mc:Choice>
              <mc:Fallback>
                <p:oleObj name="Equation" r:id="rId4" imgW="1866900" imgH="292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5824538"/>
                        <a:ext cx="3378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123825" y="63500"/>
            <a:ext cx="476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cs typeface="Times New Roman" panose="02020603050405020304" pitchFamily="18" charset="0"/>
              </a:rPr>
              <a:t>Représentation graphique de E(x)</a:t>
            </a:r>
            <a:endParaRPr lang="fr-FR" altLang="fr-FR"/>
          </a:p>
        </p:txBody>
      </p:sp>
      <p:sp>
        <p:nvSpPr>
          <p:cNvPr id="55306" name="Rectangle 10"/>
          <p:cNvSpPr>
            <a:spLocks noChangeArrowheads="1"/>
          </p:cNvSpPr>
          <p:nvPr/>
        </p:nvSpPr>
        <p:spPr bwMode="auto">
          <a:xfrm rot="-543813">
            <a:off x="2955925" y="2876550"/>
            <a:ext cx="107950" cy="1095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5305" name="Line 9"/>
          <p:cNvSpPr>
            <a:spLocks noChangeShapeType="1"/>
          </p:cNvSpPr>
          <p:nvPr/>
        </p:nvSpPr>
        <p:spPr bwMode="auto">
          <a:xfrm flipV="1">
            <a:off x="2987675" y="2908300"/>
            <a:ext cx="431800" cy="71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 flipH="1" flipV="1">
            <a:off x="2916238" y="2692400"/>
            <a:ext cx="10795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3024188" y="254793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r</a:t>
            </a:r>
            <a:r>
              <a:rPr lang="fr-FR" baseline="-25000">
                <a:latin typeface="Arial" charset="0"/>
                <a:ea typeface="ＭＳ Ｐゴシック" charset="0"/>
              </a:rPr>
              <a:t>k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4356100" y="3802063"/>
            <a:ext cx="406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x</a:t>
            </a:r>
            <a:r>
              <a:rPr lang="fr-FR" altLang="fr-FR" sz="1800" baseline="-25000">
                <a:sym typeface="Symbol" panose="05050102010706020507" pitchFamily="18" charset="2"/>
              </a:rPr>
              <a:t></a:t>
            </a:r>
            <a:endParaRPr lang="fr-FR" altLang="fr-FR" sz="1800">
              <a:sym typeface="Symbol" panose="05050102010706020507" pitchFamily="18" charset="2"/>
            </a:endParaRPr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 flipV="1">
            <a:off x="2987675" y="2763838"/>
            <a:ext cx="1079500" cy="21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5132" name="Object 15"/>
          <p:cNvGraphicFramePr>
            <a:graphicFrameLocks noChangeAspect="1"/>
          </p:cNvGraphicFramePr>
          <p:nvPr/>
        </p:nvGraphicFramePr>
        <p:xfrm>
          <a:off x="250825" y="620713"/>
          <a:ext cx="641191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6" imgW="3543300" imgH="558800" progId="Equation.DSMT4">
                  <p:embed/>
                </p:oleObj>
              </mc:Choice>
              <mc:Fallback>
                <p:oleObj name="Equation" r:id="rId6" imgW="35433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20713"/>
                        <a:ext cx="641191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1833ACC-B0AE-492A-ADAA-5B76B95A3D0D}" type="slidenum">
              <a:rPr lang="fr-FR" altLang="fr-FR" sz="1200"/>
              <a:pPr eaLnBrk="1" hangingPunct="1"/>
              <a:t>4</a:t>
            </a:fld>
            <a:endParaRPr lang="fr-FR" altLang="fr-FR" sz="1200" b="0"/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323850" y="225425"/>
            <a:ext cx="7699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cs typeface="Arial" panose="020B0604020202020204" pitchFamily="34" charset="0"/>
              </a:rPr>
              <a:t>Minimisation de l</a:t>
            </a:r>
            <a:r>
              <a:rPr lang="ja-JP" altLang="fr-FR">
                <a:solidFill>
                  <a:srgbClr val="000000"/>
                </a:solidFill>
                <a:cs typeface="Arial" panose="020B0604020202020204" pitchFamily="34" charset="0"/>
              </a:rPr>
              <a:t>’</a:t>
            </a:r>
            <a:r>
              <a:rPr lang="fr-FR" altLang="ja-JP">
                <a:solidFill>
                  <a:srgbClr val="000000"/>
                </a:solidFill>
                <a:cs typeface="Arial" panose="020B0604020202020204" pitchFamily="34" charset="0"/>
              </a:rPr>
              <a:t>énergie discrète selon une direction</a:t>
            </a:r>
            <a:r>
              <a:rPr lang="en-US" altLang="ja-JP">
                <a:solidFill>
                  <a:srgbClr val="000000"/>
                </a:solidFill>
                <a:cs typeface="Arial" panose="020B0604020202020204" pitchFamily="34" charset="0"/>
              </a:rPr>
              <a:t> p</a:t>
            </a:r>
            <a:r>
              <a:rPr lang="en-US" altLang="ja-JP" baseline="-2500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endParaRPr lang="fr-FR" altLang="fr-FR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266700" y="762000"/>
            <a:ext cx="82296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On part d</a:t>
            </a:r>
            <a:r>
              <a:rPr lang="ja-JP" altLang="fr-FR" sz="1800"/>
              <a:t>’</a:t>
            </a:r>
            <a:r>
              <a:rPr lang="fr-FR" altLang="ja-JP" sz="1800"/>
              <a:t>un point x</a:t>
            </a:r>
            <a:r>
              <a:rPr lang="fr-FR" altLang="ja-JP" sz="1800" baseline="-25000"/>
              <a:t>k</a:t>
            </a:r>
            <a:r>
              <a:rPr lang="fr-FR" altLang="ja-JP" sz="1800"/>
              <a:t> et on veut minimiser l</a:t>
            </a:r>
            <a:r>
              <a:rPr lang="ja-JP" altLang="fr-FR" sz="1800"/>
              <a:t>’</a:t>
            </a:r>
            <a:r>
              <a:rPr lang="fr-FR" altLang="ja-JP" sz="1800"/>
              <a:t>énergie E(x)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selon une direction p</a:t>
            </a:r>
            <a:r>
              <a:rPr lang="fr-FR" altLang="fr-FR" sz="1800" baseline="-25000"/>
              <a:t>k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Autrement dit trouver :</a:t>
            </a:r>
          </a:p>
        </p:txBody>
      </p:sp>
      <p:graphicFrame>
        <p:nvGraphicFramePr>
          <p:cNvPr id="6148" name="Object 6"/>
          <p:cNvGraphicFramePr>
            <a:graphicFrameLocks noChangeAspect="1"/>
          </p:cNvGraphicFramePr>
          <p:nvPr/>
        </p:nvGraphicFramePr>
        <p:xfrm>
          <a:off x="2919413" y="1401763"/>
          <a:ext cx="3214687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" name="Equation" r:id="rId3" imgW="1790700" imgH="241300" progId="Equation.DSMT4">
                  <p:embed/>
                </p:oleObj>
              </mc:Choice>
              <mc:Fallback>
                <p:oleObj name="Equation" r:id="rId3" imgW="17907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1401763"/>
                        <a:ext cx="3214687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9" name="Group 14"/>
          <p:cNvGrpSpPr>
            <a:grpSpLocks/>
          </p:cNvGrpSpPr>
          <p:nvPr/>
        </p:nvGrpSpPr>
        <p:grpSpPr bwMode="auto">
          <a:xfrm>
            <a:off x="6300788" y="800100"/>
            <a:ext cx="2151062" cy="1079500"/>
            <a:chOff x="3560" y="913"/>
            <a:chExt cx="1355" cy="680"/>
          </a:xfrm>
        </p:grpSpPr>
        <p:sp>
          <p:nvSpPr>
            <p:cNvPr id="52232" name="Freeform 8"/>
            <p:cNvSpPr>
              <a:spLocks/>
            </p:cNvSpPr>
            <p:nvPr/>
          </p:nvSpPr>
          <p:spPr bwMode="auto">
            <a:xfrm>
              <a:off x="3605" y="913"/>
              <a:ext cx="1247" cy="628"/>
            </a:xfrm>
            <a:custGeom>
              <a:avLst/>
              <a:gdLst>
                <a:gd name="T0" fmla="*/ 0 w 1247"/>
                <a:gd name="T1" fmla="*/ 49 h 628"/>
                <a:gd name="T2" fmla="*/ 181 w 1247"/>
                <a:gd name="T3" fmla="*/ 503 h 628"/>
                <a:gd name="T4" fmla="*/ 567 w 1247"/>
                <a:gd name="T5" fmla="*/ 594 h 628"/>
                <a:gd name="T6" fmla="*/ 884 w 1247"/>
                <a:gd name="T7" fmla="*/ 299 h 628"/>
                <a:gd name="T8" fmla="*/ 1156 w 1247"/>
                <a:gd name="T9" fmla="*/ 49 h 628"/>
                <a:gd name="T10" fmla="*/ 1247 w 1247"/>
                <a:gd name="T11" fmla="*/ 4 h 6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7" h="628">
                  <a:moveTo>
                    <a:pt x="0" y="49"/>
                  </a:moveTo>
                  <a:cubicBezTo>
                    <a:pt x="43" y="230"/>
                    <a:pt x="87" y="412"/>
                    <a:pt x="181" y="503"/>
                  </a:cubicBezTo>
                  <a:cubicBezTo>
                    <a:pt x="275" y="594"/>
                    <a:pt x="450" y="628"/>
                    <a:pt x="567" y="594"/>
                  </a:cubicBezTo>
                  <a:cubicBezTo>
                    <a:pt x="684" y="560"/>
                    <a:pt x="786" y="390"/>
                    <a:pt x="884" y="299"/>
                  </a:cubicBezTo>
                  <a:cubicBezTo>
                    <a:pt x="982" y="208"/>
                    <a:pt x="1096" y="98"/>
                    <a:pt x="1156" y="49"/>
                  </a:cubicBezTo>
                  <a:cubicBezTo>
                    <a:pt x="1216" y="0"/>
                    <a:pt x="1231" y="2"/>
                    <a:pt x="1247" y="4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233" name="Oval 9"/>
            <p:cNvSpPr>
              <a:spLocks noChangeArrowheads="1"/>
            </p:cNvSpPr>
            <p:nvPr/>
          </p:nvSpPr>
          <p:spPr bwMode="auto">
            <a:xfrm>
              <a:off x="3560" y="913"/>
              <a:ext cx="136" cy="1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>
              <a:off x="3628" y="1526"/>
              <a:ext cx="117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2234" name="Oval 10"/>
            <p:cNvSpPr>
              <a:spLocks noChangeArrowheads="1"/>
            </p:cNvSpPr>
            <p:nvPr/>
          </p:nvSpPr>
          <p:spPr bwMode="auto">
            <a:xfrm>
              <a:off x="3991" y="1434"/>
              <a:ext cx="159" cy="159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fr-FR">
                <a:latin typeface="Arial" charset="0"/>
                <a:ea typeface="ＭＳ Ｐゴシック" charset="0"/>
              </a:endParaRPr>
            </a:p>
          </p:txBody>
        </p:sp>
        <p:sp>
          <p:nvSpPr>
            <p:cNvPr id="52236" name="Text Box 12"/>
            <p:cNvSpPr txBox="1">
              <a:spLocks noChangeArrowheads="1"/>
            </p:cNvSpPr>
            <p:nvPr/>
          </p:nvSpPr>
          <p:spPr bwMode="auto">
            <a:xfrm>
              <a:off x="4671" y="1276"/>
              <a:ext cx="2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p</a:t>
              </a:r>
              <a:r>
                <a:rPr lang="fr-FR" baseline="-25000">
                  <a:latin typeface="Arial" charset="0"/>
                  <a:ea typeface="ＭＳ Ｐゴシック" charset="0"/>
                </a:rPr>
                <a:t>k</a:t>
              </a:r>
              <a:endParaRPr lang="fr-FR"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2240" name="Rectangle 16"/>
          <p:cNvSpPr>
            <a:spLocks noChangeArrowheads="1"/>
          </p:cNvSpPr>
          <p:nvPr/>
        </p:nvSpPr>
        <p:spPr bwMode="auto">
          <a:xfrm>
            <a:off x="0" y="3517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151" name="Object 15"/>
          <p:cNvGraphicFramePr>
            <a:graphicFrameLocks noChangeAspect="1"/>
          </p:cNvGraphicFramePr>
          <p:nvPr/>
        </p:nvGraphicFramePr>
        <p:xfrm>
          <a:off x="287338" y="4362450"/>
          <a:ext cx="4324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4" name="Equation" r:id="rId5" imgW="2400300" imgH="457200" progId="Equation.DSMT4">
                  <p:embed/>
                </p:oleObj>
              </mc:Choice>
              <mc:Fallback>
                <p:oleObj name="Equation" r:id="rId5" imgW="240030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8" y="4362450"/>
                        <a:ext cx="43243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Rectangle 18"/>
          <p:cNvSpPr>
            <a:spLocks noChangeArrowheads="1"/>
          </p:cNvSpPr>
          <p:nvPr/>
        </p:nvSpPr>
        <p:spPr bwMode="auto">
          <a:xfrm>
            <a:off x="0" y="34845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153" name="Object 17"/>
          <p:cNvGraphicFramePr>
            <a:graphicFrameLocks noChangeAspect="1"/>
          </p:cNvGraphicFramePr>
          <p:nvPr/>
        </p:nvGraphicFramePr>
        <p:xfrm>
          <a:off x="6192838" y="4291013"/>
          <a:ext cx="1943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5" name="Equation" r:id="rId7" imgW="1079032" imgH="495085" progId="Equation.DSMT4">
                  <p:embed/>
                </p:oleObj>
              </mc:Choice>
              <mc:Fallback>
                <p:oleObj name="Equation" r:id="rId7" imgW="1079032" imgH="49508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291013"/>
                        <a:ext cx="19431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3" name="AutoShape 19"/>
          <p:cNvSpPr>
            <a:spLocks noChangeArrowheads="1"/>
          </p:cNvSpPr>
          <p:nvPr/>
        </p:nvSpPr>
        <p:spPr bwMode="auto">
          <a:xfrm>
            <a:off x="5183188" y="4651375"/>
            <a:ext cx="539750" cy="179388"/>
          </a:xfrm>
          <a:prstGeom prst="rightArrow">
            <a:avLst>
              <a:gd name="adj1" fmla="val 50000"/>
              <a:gd name="adj2" fmla="val 752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2245" name="Rectangle 21"/>
          <p:cNvSpPr>
            <a:spLocks noChangeArrowheads="1"/>
          </p:cNvSpPr>
          <p:nvPr/>
        </p:nvSpPr>
        <p:spPr bwMode="auto">
          <a:xfrm>
            <a:off x="0" y="35798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156" name="Object 20"/>
          <p:cNvGraphicFramePr>
            <a:graphicFrameLocks noChangeAspect="1"/>
          </p:cNvGraphicFramePr>
          <p:nvPr/>
        </p:nvGraphicFramePr>
        <p:xfrm>
          <a:off x="322263" y="3081338"/>
          <a:ext cx="71151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6" name="Equation" r:id="rId9" imgW="3911600" imgH="393700" progId="Equation.DSMT4">
                  <p:embed/>
                </p:oleObj>
              </mc:Choice>
              <mc:Fallback>
                <p:oleObj name="Equation" r:id="rId9" imgW="3911600" imgH="3937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3081338"/>
                        <a:ext cx="71151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22"/>
          <p:cNvGraphicFramePr>
            <a:graphicFrameLocks noChangeAspect="1"/>
          </p:cNvGraphicFramePr>
          <p:nvPr/>
        </p:nvGraphicFramePr>
        <p:xfrm>
          <a:off x="2484438" y="1944688"/>
          <a:ext cx="454977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7" name="Equation" r:id="rId11" imgW="2692400" imgH="393700" progId="Equation.DSMT4">
                  <p:embed/>
                </p:oleObj>
              </mc:Choice>
              <mc:Fallback>
                <p:oleObj name="Equation" r:id="rId11" imgW="2692400" imgH="3937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944688"/>
                        <a:ext cx="454977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/>
          <p:cNvSpPr txBox="1">
            <a:spLocks noChangeArrowheads="1"/>
          </p:cNvSpPr>
          <p:nvPr/>
        </p:nvSpPr>
        <p:spPr bwMode="auto">
          <a:xfrm>
            <a:off x="287338" y="2624138"/>
            <a:ext cx="1212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En posant</a:t>
            </a:r>
          </a:p>
        </p:txBody>
      </p:sp>
      <p:graphicFrame>
        <p:nvGraphicFramePr>
          <p:cNvPr id="6159" name="Object 24"/>
          <p:cNvGraphicFramePr>
            <a:graphicFrameLocks noChangeAspect="1"/>
          </p:cNvGraphicFramePr>
          <p:nvPr/>
        </p:nvGraphicFramePr>
        <p:xfrm>
          <a:off x="1547813" y="2624138"/>
          <a:ext cx="12319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8" name="Equation" r:id="rId13" imgW="685800" imgH="228600" progId="Equation.DSMT4">
                  <p:embed/>
                </p:oleObj>
              </mc:Choice>
              <mc:Fallback>
                <p:oleObj name="Equation" r:id="rId13" imgW="68580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624138"/>
                        <a:ext cx="12319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9" name="Text Box 25"/>
          <p:cNvSpPr txBox="1">
            <a:spLocks noChangeArrowheads="1"/>
          </p:cNvSpPr>
          <p:nvPr/>
        </p:nvSpPr>
        <p:spPr bwMode="auto">
          <a:xfrm>
            <a:off x="323850" y="5551488"/>
            <a:ext cx="3365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En notant </a:t>
            </a:r>
            <a:r>
              <a:rPr lang="fr-FR" i="1">
                <a:latin typeface="Times New Roman" charset="0"/>
                <a:ea typeface="ＭＳ Ｐゴシック" charset="0"/>
              </a:rPr>
              <a:t>r</a:t>
            </a:r>
            <a:r>
              <a:rPr lang="fr-FR" i="1" baseline="-25000">
                <a:latin typeface="Times New Roman" charset="0"/>
                <a:ea typeface="ＭＳ Ｐゴシック" charset="0"/>
              </a:rPr>
              <a:t>k</a:t>
            </a:r>
            <a:r>
              <a:rPr lang="fr-FR" i="1">
                <a:latin typeface="Times New Roman" charset="0"/>
                <a:ea typeface="ＭＳ Ｐゴシック" charset="0"/>
              </a:rPr>
              <a:t>= -G</a:t>
            </a:r>
            <a:r>
              <a:rPr lang="fr-FR">
                <a:latin typeface="Times New Roman" charset="0"/>
                <a:ea typeface="ＭＳ Ｐゴシック" charset="0"/>
              </a:rPr>
              <a:t>(</a:t>
            </a:r>
            <a:r>
              <a:rPr lang="fr-FR" i="1">
                <a:latin typeface="Times New Roman" charset="0"/>
                <a:ea typeface="ＭＳ Ｐゴシック" charset="0"/>
              </a:rPr>
              <a:t>x</a:t>
            </a:r>
            <a:r>
              <a:rPr lang="fr-FR" i="1" baseline="-25000">
                <a:latin typeface="Times New Roman" charset="0"/>
                <a:ea typeface="ＭＳ Ｐゴシック" charset="0"/>
              </a:rPr>
              <a:t>k</a:t>
            </a:r>
            <a:r>
              <a:rPr lang="fr-FR">
                <a:latin typeface="Times New Roman" charset="0"/>
                <a:ea typeface="ＭＳ Ｐゴシック" charset="0"/>
              </a:rPr>
              <a:t>)</a:t>
            </a:r>
            <a:r>
              <a:rPr lang="fr-FR">
                <a:latin typeface="Arial" charset="0"/>
                <a:ea typeface="ＭＳ Ｐゴシック" charset="0"/>
              </a:rPr>
              <a:t> , on obtient </a:t>
            </a:r>
          </a:p>
        </p:txBody>
      </p:sp>
      <p:sp>
        <p:nvSpPr>
          <p:cNvPr id="52251" name="Rectangle 27"/>
          <p:cNvSpPr>
            <a:spLocks noChangeArrowheads="1"/>
          </p:cNvSpPr>
          <p:nvPr/>
        </p:nvSpPr>
        <p:spPr bwMode="auto">
          <a:xfrm>
            <a:off x="0" y="3173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162" name="Object 26"/>
          <p:cNvGraphicFramePr>
            <a:graphicFrameLocks noChangeAspect="1"/>
          </p:cNvGraphicFramePr>
          <p:nvPr/>
        </p:nvGraphicFramePr>
        <p:xfrm>
          <a:off x="3779838" y="5299075"/>
          <a:ext cx="15621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9" name="Equation" r:id="rId15" imgW="876300" imgH="482600" progId="Equation.DSMT4">
                  <p:embed/>
                </p:oleObj>
              </mc:Choice>
              <mc:Fallback>
                <p:oleObj name="Equation" r:id="rId15" imgW="876300" imgH="482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299075"/>
                        <a:ext cx="15621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3" name="Text Box 29"/>
          <p:cNvSpPr txBox="1">
            <a:spLocks noChangeArrowheads="1"/>
          </p:cNvSpPr>
          <p:nvPr/>
        </p:nvSpPr>
        <p:spPr bwMode="auto">
          <a:xfrm>
            <a:off x="287338" y="2060575"/>
            <a:ext cx="2101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Précédemment vu,</a:t>
            </a:r>
          </a:p>
        </p:txBody>
      </p:sp>
      <p:sp>
        <p:nvSpPr>
          <p:cNvPr id="52254" name="Text Box 30"/>
          <p:cNvSpPr txBox="1">
            <a:spLocks noChangeArrowheads="1"/>
          </p:cNvSpPr>
          <p:nvPr/>
        </p:nvSpPr>
        <p:spPr bwMode="auto">
          <a:xfrm>
            <a:off x="287338" y="3824288"/>
            <a:ext cx="4540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Cela revient à trouver </a:t>
            </a:r>
            <a:r>
              <a:rPr lang="fr-FR" altLang="fr-FR" sz="1800">
                <a:latin typeface="Symbol" panose="05050102010706020507" pitchFamily="18" charset="2"/>
              </a:rPr>
              <a:t>a</a:t>
            </a:r>
            <a:r>
              <a:rPr lang="fr-FR" altLang="fr-FR" sz="1800" i="1" baseline="-25000"/>
              <a:t>k</a:t>
            </a:r>
            <a:r>
              <a:rPr lang="fr-FR" altLang="fr-FR" sz="1800"/>
              <a:t> minimisant E(</a:t>
            </a:r>
            <a:r>
              <a:rPr lang="fr-FR" altLang="fr-FR" sz="1800" i="1"/>
              <a:t>x</a:t>
            </a:r>
            <a:r>
              <a:rPr lang="fr-FR" altLang="fr-FR" sz="1800" i="1" baseline="-25000"/>
              <a:t>k+1</a:t>
            </a:r>
            <a:r>
              <a:rPr lang="fr-FR" altLang="fr-FR" sz="180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3931FF0-3018-4FEF-98B4-7AEE0A162321}" type="slidenum">
              <a:rPr lang="fr-FR" altLang="fr-FR" sz="1200"/>
              <a:pPr eaLnBrk="1" hangingPunct="1"/>
              <a:t>5</a:t>
            </a:fld>
            <a:endParaRPr lang="fr-FR" altLang="fr-FR" sz="1200" b="0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23850" y="225425"/>
            <a:ext cx="5272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cs typeface="Arial" panose="020B0604020202020204" pitchFamily="34" charset="0"/>
              </a:rPr>
              <a:t>Algorithme de la méthode du gradient</a:t>
            </a:r>
            <a:endParaRPr lang="fr-FR" altLang="fr-FR"/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1503363" y="1341438"/>
            <a:ext cx="5670550" cy="457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part d</a:t>
            </a:r>
            <a:r>
              <a:rPr lang="ja-JP" altLang="fr-FR" sz="1800"/>
              <a:t>’</a:t>
            </a:r>
            <a:r>
              <a:rPr lang="fr-FR" altLang="ja-JP" sz="1800"/>
              <a:t>un point x</a:t>
            </a:r>
            <a:r>
              <a:rPr lang="fr-FR" altLang="ja-JP" sz="1800" baseline="-25000"/>
              <a:t>0 </a:t>
            </a:r>
            <a:endParaRPr lang="fr-FR" altLang="ja-JP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Initialisation pour k=0 :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Tant que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	A chaque itération k,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	on choisit </a:t>
            </a:r>
            <a:r>
              <a:rPr lang="fr-FR" altLang="fr-FR" sz="1800" i="1"/>
              <a:t>p</a:t>
            </a:r>
            <a:r>
              <a:rPr lang="fr-FR" altLang="fr-FR" sz="1800" i="1" baseline="-25000"/>
              <a:t>k</a:t>
            </a:r>
            <a:r>
              <a:rPr lang="fr-FR" altLang="fr-FR" sz="1800" i="1"/>
              <a:t>=r</a:t>
            </a:r>
            <a:r>
              <a:rPr lang="fr-FR" altLang="fr-FR" sz="1800" i="1" baseline="-25000"/>
              <a:t>k  </a:t>
            </a:r>
            <a:r>
              <a:rPr lang="fr-FR" altLang="fr-FR" sz="1800"/>
              <a:t>: direction de plus forte pente</a:t>
            </a:r>
            <a:r>
              <a:rPr lang="fr-FR" altLang="fr-FR" sz="1800" i="1" baseline="-25000"/>
              <a:t>	</a:t>
            </a:r>
          </a:p>
          <a:p>
            <a:pPr eaLnBrk="1" hangingPunct="1"/>
            <a:endParaRPr lang="fr-FR" altLang="fr-FR" sz="1800" i="1" baseline="-25000"/>
          </a:p>
          <a:p>
            <a:pPr eaLnBrk="1" hangingPunct="1"/>
            <a:r>
              <a:rPr lang="fr-FR" altLang="fr-FR" sz="1800" i="1" baseline="-25000"/>
              <a:t>	</a:t>
            </a:r>
          </a:p>
          <a:p>
            <a:pPr eaLnBrk="1" hangingPunct="1"/>
            <a:r>
              <a:rPr lang="fr-FR" altLang="fr-FR" sz="1800" i="1" baseline="-25000"/>
              <a:t>	</a:t>
            </a:r>
            <a:r>
              <a:rPr lang="fr-FR" altLang="fr-FR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où</a:t>
            </a:r>
            <a:endParaRPr lang="fr-FR" altLang="ja-JP" sz="1800" i="1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	</a:t>
            </a:r>
          </a:p>
          <a:p>
            <a:pPr eaLnBrk="1" hangingPunct="1"/>
            <a:r>
              <a:rPr lang="fr-FR" altLang="fr-FR" sz="1800"/>
              <a:t>	Mise à jour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Fin Tant que</a:t>
            </a: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7173" name="Object 6"/>
          <p:cNvGraphicFramePr>
            <a:graphicFrameLocks noChangeAspect="1"/>
          </p:cNvGraphicFramePr>
          <p:nvPr/>
        </p:nvGraphicFramePr>
        <p:xfrm>
          <a:off x="4008438" y="1868488"/>
          <a:ext cx="19573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Equation" r:id="rId3" imgW="1091726" imgH="228501" progId="Equation.DSMT4">
                  <p:embed/>
                </p:oleObj>
              </mc:Choice>
              <mc:Fallback>
                <p:oleObj name="Equation" r:id="rId3" imgW="1091726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1868488"/>
                        <a:ext cx="19573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7175" name="Object 12"/>
          <p:cNvGraphicFramePr>
            <a:graphicFrameLocks noChangeAspect="1"/>
          </p:cNvGraphicFramePr>
          <p:nvPr/>
        </p:nvGraphicFramePr>
        <p:xfrm>
          <a:off x="3179763" y="3967163"/>
          <a:ext cx="26479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Equation" r:id="rId5" imgW="1485900" imgH="482600" progId="Equation.DSMT4">
                  <p:embed/>
                </p:oleObj>
              </mc:Choice>
              <mc:Fallback>
                <p:oleObj name="Equation" r:id="rId5" imgW="1485900" imgH="482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3967163"/>
                        <a:ext cx="26479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3"/>
          <p:cNvGraphicFramePr>
            <a:graphicFrameLocks noChangeAspect="1"/>
          </p:cNvGraphicFramePr>
          <p:nvPr/>
        </p:nvGraphicFramePr>
        <p:xfrm>
          <a:off x="3900488" y="4724400"/>
          <a:ext cx="36591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7" name="Equation" r:id="rId7" imgW="2044700" imgH="482600" progId="Equation.DSMT4">
                  <p:embed/>
                </p:oleObj>
              </mc:Choice>
              <mc:Fallback>
                <p:oleObj name="Equation" r:id="rId7" imgW="2044700" imgH="482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4724400"/>
                        <a:ext cx="36591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7178" name="Object 15"/>
          <p:cNvGraphicFramePr>
            <a:graphicFrameLocks noChangeAspect="1"/>
          </p:cNvGraphicFramePr>
          <p:nvPr/>
        </p:nvGraphicFramePr>
        <p:xfrm>
          <a:off x="2678113" y="2349500"/>
          <a:ext cx="1762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Equation" r:id="rId9" imgW="977476" imgH="317362" progId="Equation.DSMT4">
                  <p:embed/>
                </p:oleObj>
              </mc:Choice>
              <mc:Fallback>
                <p:oleObj name="Equation" r:id="rId9" imgW="977476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2349500"/>
                        <a:ext cx="17621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0DFD347-CF6A-4F8B-BE7E-B406B0141008}" type="slidenum">
              <a:rPr lang="fr-FR" altLang="fr-FR" sz="1200"/>
              <a:pPr eaLnBrk="1" hangingPunct="1"/>
              <a:t>6</a:t>
            </a:fld>
            <a:endParaRPr lang="fr-FR" altLang="fr-FR" sz="1200" b="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824163" y="152400"/>
            <a:ext cx="157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Propriétés</a:t>
            </a:r>
          </a:p>
        </p:txBody>
      </p:sp>
      <p:graphicFrame>
        <p:nvGraphicFramePr>
          <p:cNvPr id="8195" name="Object 9"/>
          <p:cNvGraphicFramePr>
            <a:graphicFrameLocks noChangeAspect="1"/>
          </p:cNvGraphicFramePr>
          <p:nvPr/>
        </p:nvGraphicFramePr>
        <p:xfrm>
          <a:off x="719138" y="2205038"/>
          <a:ext cx="367823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7" name="Equation" r:id="rId3" imgW="2057400" imgH="800100" progId="Equation.DSMT4">
                  <p:embed/>
                </p:oleObj>
              </mc:Choice>
              <mc:Fallback>
                <p:oleObj name="Equation" r:id="rId3" imgW="2057400" imgH="800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2205038"/>
                        <a:ext cx="3678237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611188" y="808038"/>
            <a:ext cx="64531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cs typeface="Times New Roman" panose="02020603050405020304" pitchFamily="18" charset="0"/>
              </a:rPr>
              <a:t>Le vecteur résidu r</a:t>
            </a:r>
            <a:r>
              <a:rPr lang="fr-FR" altLang="fr-FR" sz="1800" baseline="-25000">
                <a:cs typeface="Times New Roman" panose="02020603050405020304" pitchFamily="18" charset="0"/>
              </a:rPr>
              <a:t>k+1</a:t>
            </a:r>
            <a:r>
              <a:rPr lang="fr-FR" altLang="fr-FR" sz="1800">
                <a:cs typeface="Times New Roman" panose="02020603050405020304" pitchFamily="18" charset="0"/>
              </a:rPr>
              <a:t> est normal à la direction de descente p</a:t>
            </a:r>
            <a:r>
              <a:rPr lang="fr-FR" altLang="fr-FR" sz="1800" baseline="-25000">
                <a:cs typeface="Times New Roman" panose="02020603050405020304" pitchFamily="18" charset="0"/>
              </a:rPr>
              <a:t>k</a:t>
            </a:r>
            <a:r>
              <a:rPr lang="fr-FR" altLang="fr-FR" sz="1800">
                <a:cs typeface="Times New Roman" panose="02020603050405020304" pitchFamily="18" charset="0"/>
              </a:rPr>
              <a:t>.</a:t>
            </a:r>
            <a:endParaRPr lang="fr-FR" altLang="fr-FR" sz="1800"/>
          </a:p>
          <a:p>
            <a:endParaRPr lang="fr-FR" altLang="fr-FR" sz="1800">
              <a:cs typeface="Times New Roman" panose="02020603050405020304" pitchFamily="18" charset="0"/>
            </a:endParaRPr>
          </a:p>
          <a:p>
            <a:endParaRPr lang="fr-FR" altLang="fr-FR" sz="1800">
              <a:cs typeface="Times New Roman" panose="02020603050405020304" pitchFamily="18" charset="0"/>
            </a:endParaRPr>
          </a:p>
          <a:p>
            <a:r>
              <a:rPr lang="fr-FR" altLang="fr-FR" sz="1800">
                <a:cs typeface="Times New Roman" panose="02020603050405020304" pitchFamily="18" charset="0"/>
              </a:rPr>
              <a:t>Démonstration : </a:t>
            </a:r>
            <a:endParaRPr lang="fr-FR" altLang="fr-FR" sz="1800"/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323850" y="4794250"/>
            <a:ext cx="8131175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eaLnBrk="0" hangingPunct="0"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06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Les intersections avec les surfaces E=C</a:t>
            </a:r>
            <a:r>
              <a:rPr lang="fr-FR" altLang="fr-FR" sz="1800" baseline="30000"/>
              <a:t>te</a:t>
            </a:r>
            <a:r>
              <a:rPr lang="fr-FR" altLang="fr-FR" sz="1800"/>
              <a:t> forment une famille d'ellipses concentriques :</a:t>
            </a:r>
          </a:p>
          <a:p>
            <a:pPr lvl="1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r</a:t>
            </a:r>
            <a:r>
              <a:rPr lang="fr-FR" altLang="fr-FR" sz="1800" baseline="-25000"/>
              <a:t>k</a:t>
            </a:r>
            <a:r>
              <a:rPr lang="fr-FR" altLang="fr-FR" sz="1800"/>
              <a:t> est normal en x</a:t>
            </a:r>
            <a:r>
              <a:rPr lang="fr-FR" altLang="fr-FR" sz="1800" baseline="-25000"/>
              <a:t>k</a:t>
            </a:r>
            <a:r>
              <a:rPr lang="fr-FR" altLang="fr-FR" sz="1800"/>
              <a:t> à l'ellipse qui passe en ce point</a:t>
            </a:r>
          </a:p>
          <a:p>
            <a:pPr lvl="1" eaLnBrk="1" hangingPunct="1">
              <a:lnSpc>
                <a:spcPct val="120000"/>
              </a:lnSpc>
              <a:buFontTx/>
              <a:buChar char="•"/>
            </a:pPr>
            <a:r>
              <a:rPr lang="fr-FR" altLang="fr-FR" sz="1800"/>
              <a:t> p</a:t>
            </a:r>
            <a:r>
              <a:rPr lang="fr-FR" altLang="fr-FR" sz="1800" baseline="-25000"/>
              <a:t>k</a:t>
            </a:r>
            <a:r>
              <a:rPr lang="fr-FR" altLang="fr-FR" sz="1800"/>
              <a:t> est tangent à l'ellipse qui passe en x</a:t>
            </a:r>
            <a:r>
              <a:rPr lang="fr-FR" altLang="fr-FR" sz="1800" baseline="-25000"/>
              <a:t>k</a:t>
            </a:r>
            <a:r>
              <a:rPr lang="fr-FR" altLang="fr-FR" sz="1800"/>
              <a:t> </a:t>
            </a:r>
          </a:p>
        </p:txBody>
      </p:sp>
      <p:pic>
        <p:nvPicPr>
          <p:cNvPr id="8199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613" y="1700213"/>
            <a:ext cx="3197225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0" name="Text Box 18"/>
          <p:cNvSpPr txBox="1">
            <a:spLocks noChangeArrowheads="1"/>
          </p:cNvSpPr>
          <p:nvPr/>
        </p:nvSpPr>
        <p:spPr bwMode="auto">
          <a:xfrm>
            <a:off x="7704138" y="2205038"/>
            <a:ext cx="536575" cy="31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600">
                <a:latin typeface="Times New Roman" panose="02020603050405020304" pitchFamily="18" charset="0"/>
                <a:ea typeface="MS Mincho" pitchFamily="49" charset="-128"/>
              </a:rPr>
              <a:t>p</a:t>
            </a:r>
            <a:r>
              <a:rPr lang="fr-FR" altLang="ja-JP" sz="1600" baseline="30000">
                <a:latin typeface="Times New Roman" panose="02020603050405020304" pitchFamily="18" charset="0"/>
                <a:ea typeface="MS Mincho" pitchFamily="49" charset="-128"/>
              </a:rPr>
              <a:t>(k)</a:t>
            </a:r>
            <a:endParaRPr lang="fr-FR" altLang="fr-FR" sz="1800"/>
          </a:p>
        </p:txBody>
      </p:sp>
      <p:sp>
        <p:nvSpPr>
          <p:cNvPr id="8201" name="Text Box 19"/>
          <p:cNvSpPr txBox="1">
            <a:spLocks noChangeArrowheads="1"/>
          </p:cNvSpPr>
          <p:nvPr/>
        </p:nvSpPr>
        <p:spPr bwMode="auto">
          <a:xfrm>
            <a:off x="7848600" y="1520825"/>
            <a:ext cx="534988" cy="28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600">
                <a:latin typeface="Times New Roman" panose="02020603050405020304" pitchFamily="18" charset="0"/>
                <a:ea typeface="MS Mincho" pitchFamily="49" charset="-128"/>
              </a:rPr>
              <a:t>x</a:t>
            </a:r>
            <a:r>
              <a:rPr lang="fr-FR" altLang="ja-JP" sz="1600" baseline="30000">
                <a:latin typeface="Times New Roman" panose="02020603050405020304" pitchFamily="18" charset="0"/>
                <a:ea typeface="MS Mincho" pitchFamily="49" charset="-128"/>
              </a:rPr>
              <a:t>(k)</a:t>
            </a:r>
            <a:endParaRPr lang="fr-FR" altLang="fr-FR" sz="1800"/>
          </a:p>
        </p:txBody>
      </p:sp>
      <p:sp>
        <p:nvSpPr>
          <p:cNvPr id="8202" name="Text Box 20"/>
          <p:cNvSpPr txBox="1">
            <a:spLocks noChangeArrowheads="1"/>
          </p:cNvSpPr>
          <p:nvPr/>
        </p:nvSpPr>
        <p:spPr bwMode="auto">
          <a:xfrm>
            <a:off x="7272338" y="1989138"/>
            <a:ext cx="534987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600">
                <a:latin typeface="Times New Roman" panose="02020603050405020304" pitchFamily="18" charset="0"/>
                <a:ea typeface="MS Mincho" pitchFamily="49" charset="-128"/>
              </a:rPr>
              <a:t>r</a:t>
            </a:r>
            <a:r>
              <a:rPr lang="fr-FR" altLang="ja-JP" sz="1600" baseline="30000">
                <a:latin typeface="Times New Roman" panose="02020603050405020304" pitchFamily="18" charset="0"/>
                <a:ea typeface="MS Mincho" pitchFamily="49" charset="-128"/>
              </a:rPr>
              <a:t>(k)</a:t>
            </a:r>
            <a:endParaRPr lang="fr-FR" altLang="fr-FR" sz="1800"/>
          </a:p>
        </p:txBody>
      </p:sp>
      <p:sp>
        <p:nvSpPr>
          <p:cNvPr id="8203" name="Text Box 21"/>
          <p:cNvSpPr txBox="1">
            <a:spLocks noChangeArrowheads="1"/>
          </p:cNvSpPr>
          <p:nvPr/>
        </p:nvSpPr>
        <p:spPr bwMode="auto">
          <a:xfrm>
            <a:off x="6264275" y="2852738"/>
            <a:ext cx="65087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600">
                <a:latin typeface="Times New Roman" panose="02020603050405020304" pitchFamily="18" charset="0"/>
                <a:ea typeface="MS Mincho" pitchFamily="49" charset="-128"/>
              </a:rPr>
              <a:t>x</a:t>
            </a:r>
            <a:r>
              <a:rPr lang="fr-FR" altLang="ja-JP" sz="1600" baseline="30000">
                <a:latin typeface="Times New Roman" panose="02020603050405020304" pitchFamily="18" charset="0"/>
                <a:ea typeface="MS Mincho" pitchFamily="49" charset="-128"/>
              </a:rPr>
              <a:t>(k+1)</a:t>
            </a:r>
            <a:endParaRPr lang="fr-FR" altLang="fr-FR" sz="1800"/>
          </a:p>
        </p:txBody>
      </p:sp>
      <p:sp>
        <p:nvSpPr>
          <p:cNvPr id="8204" name="Text Box 22"/>
          <p:cNvSpPr txBox="1">
            <a:spLocks noChangeArrowheads="1"/>
          </p:cNvSpPr>
          <p:nvPr/>
        </p:nvSpPr>
        <p:spPr bwMode="auto">
          <a:xfrm>
            <a:off x="7092950" y="2997200"/>
            <a:ext cx="601663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ja-JP" sz="1600">
                <a:latin typeface="Times New Roman" panose="02020603050405020304" pitchFamily="18" charset="0"/>
                <a:ea typeface="MS Mincho" pitchFamily="49" charset="-128"/>
              </a:rPr>
              <a:t>r</a:t>
            </a:r>
            <a:r>
              <a:rPr lang="fr-FR" altLang="ja-JP" sz="1600" baseline="30000">
                <a:latin typeface="Times New Roman" panose="02020603050405020304" pitchFamily="18" charset="0"/>
                <a:ea typeface="MS Mincho" pitchFamily="49" charset="-128"/>
              </a:rPr>
              <a:t>(k+1)</a:t>
            </a:r>
            <a:endParaRPr lang="fr-FR" altLang="fr-FR" sz="1800"/>
          </a:p>
        </p:txBody>
      </p:sp>
      <p:sp>
        <p:nvSpPr>
          <p:cNvPr id="28695" name="Line 23"/>
          <p:cNvSpPr>
            <a:spLocks noChangeShapeType="1"/>
          </p:cNvSpPr>
          <p:nvPr/>
        </p:nvSpPr>
        <p:spPr bwMode="auto">
          <a:xfrm flipH="1">
            <a:off x="7704138" y="1952625"/>
            <a:ext cx="360362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28696" name="Line 24"/>
          <p:cNvSpPr>
            <a:spLocks noChangeShapeType="1"/>
          </p:cNvSpPr>
          <p:nvPr/>
        </p:nvSpPr>
        <p:spPr bwMode="auto">
          <a:xfrm>
            <a:off x="6948488" y="3068638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8207" name="Object 25"/>
          <p:cNvGraphicFramePr>
            <a:graphicFrameLocks noChangeAspect="1"/>
          </p:cNvGraphicFramePr>
          <p:nvPr/>
        </p:nvGraphicFramePr>
        <p:xfrm>
          <a:off x="1258888" y="3716338"/>
          <a:ext cx="156051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Equation" r:id="rId6" imgW="876300" imgH="482600" progId="Equation.DSMT4">
                  <p:embed/>
                </p:oleObj>
              </mc:Choice>
              <mc:Fallback>
                <p:oleObj name="Equation" r:id="rId6" imgW="876300" imgH="482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16338"/>
                        <a:ext cx="1560512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685800" y="39624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car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119B6A7-53B5-4EB3-BE1E-2BEE364D083E}" type="slidenum">
              <a:rPr lang="fr-FR" altLang="fr-FR" sz="1200"/>
              <a:pPr eaLnBrk="1" hangingPunct="1"/>
              <a:t>7</a:t>
            </a:fld>
            <a:endParaRPr lang="fr-FR" altLang="fr-FR" sz="1200" b="0"/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684213" y="2200275"/>
            <a:ext cx="8243887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fr-FR" altLang="fr-FR" sz="1800">
                <a:cs typeface="Times New Roman" panose="02020603050405020304" pitchFamily="18" charset="0"/>
              </a:rPr>
              <a:t>Afin de s</a:t>
            </a:r>
            <a:r>
              <a:rPr lang="ja-JP" altLang="fr-FR" sz="1800">
                <a:cs typeface="Times New Roman" panose="02020603050405020304" pitchFamily="18" charset="0"/>
              </a:rPr>
              <a:t>’</a:t>
            </a:r>
            <a:r>
              <a:rPr lang="fr-FR" altLang="ja-JP" sz="1800">
                <a:cs typeface="Times New Roman" panose="02020603050405020304" pitchFamily="18" charset="0"/>
              </a:rPr>
              <a:t>assurer de la possibilité d</a:t>
            </a:r>
            <a:r>
              <a:rPr lang="ja-JP" altLang="fr-FR" sz="1800">
                <a:cs typeface="Times New Roman" panose="02020603050405020304" pitchFamily="18" charset="0"/>
              </a:rPr>
              <a:t>’</a:t>
            </a:r>
            <a:r>
              <a:rPr lang="fr-FR" altLang="ja-JP" sz="1800">
                <a:cs typeface="Times New Roman" panose="02020603050405020304" pitchFamily="18" charset="0"/>
              </a:rPr>
              <a:t>utiliser la méthode de la plus forte pente  	et du gradient conjugué, vérifier que A est symétrique définie positive.</a:t>
            </a:r>
          </a:p>
          <a:p>
            <a:pPr eaLnBrk="1" hangingPunct="1"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 eaLnBrk="1" hangingPunct="1">
              <a:buFontTx/>
              <a:buAutoNum type="arabicPeriod"/>
            </a:pPr>
            <a:endParaRPr lang="fr-FR" altLang="fr-FR" sz="1800"/>
          </a:p>
          <a:p>
            <a:pPr>
              <a:buFontTx/>
              <a:buAutoNum type="arabicPeriod"/>
            </a:pPr>
            <a:r>
              <a:rPr lang="fr-FR" altLang="fr-FR" sz="1800">
                <a:cs typeface="Times New Roman" panose="02020603050405020304" pitchFamily="18" charset="0"/>
              </a:rPr>
              <a:t> Soit E la grandeur telle que </a:t>
            </a:r>
          </a:p>
          <a:p>
            <a:pPr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r>
              <a:rPr lang="fr-FR" altLang="fr-FR" sz="1800">
                <a:cs typeface="Times New Roman" panose="02020603050405020304" pitchFamily="18" charset="0"/>
              </a:rPr>
              <a:t>Ecrire l</a:t>
            </a:r>
            <a:r>
              <a:rPr lang="ja-JP" altLang="fr-FR" sz="1800">
                <a:cs typeface="Times New Roman" panose="02020603050405020304" pitchFamily="18" charset="0"/>
              </a:rPr>
              <a:t>’</a:t>
            </a:r>
            <a:r>
              <a:rPr lang="fr-FR" altLang="ja-JP" sz="1800">
                <a:cs typeface="Times New Roman" panose="02020603050405020304" pitchFamily="18" charset="0"/>
              </a:rPr>
              <a:t>algorithme de la méthode du gradient</a:t>
            </a:r>
          </a:p>
          <a:p>
            <a:pPr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r>
              <a:rPr lang="fr-FR" altLang="fr-FR" sz="1800">
                <a:cs typeface="Times New Roman" panose="02020603050405020304" pitchFamily="18" charset="0"/>
              </a:rPr>
              <a:t>Programmer-le puis tester-le </a:t>
            </a:r>
          </a:p>
          <a:p>
            <a:pPr>
              <a:buFontTx/>
              <a:buAutoNum type="arabicPeriod"/>
            </a:pPr>
            <a:endParaRPr lang="fr-FR" altLang="fr-FR" sz="1800">
              <a:cs typeface="Times New Roman" panose="02020603050405020304" pitchFamily="18" charset="0"/>
            </a:endParaRPr>
          </a:p>
          <a:p>
            <a:pPr>
              <a:buFontTx/>
              <a:buAutoNum type="arabicPeriod"/>
            </a:pPr>
            <a:r>
              <a:rPr lang="fr-FR" altLang="fr-FR" sz="1600">
                <a:cs typeface="Times New Roman" panose="02020603050405020304" pitchFamily="18" charset="0"/>
              </a:rPr>
              <a:t> </a:t>
            </a:r>
            <a:r>
              <a:rPr lang="fr-FR" altLang="fr-FR" sz="1800"/>
              <a:t>montrer en écrivant un petit programme matlab que </a:t>
            </a:r>
          </a:p>
          <a:p>
            <a:r>
              <a:rPr lang="fr-FR" altLang="fr-FR" sz="1800"/>
              <a:t>		 pour deux itérations successives </a:t>
            </a:r>
            <a:endParaRPr lang="fr-FR" altLang="fr-FR" sz="1600">
              <a:cs typeface="Times New Roman" panose="02020603050405020304" pitchFamily="18" charset="0"/>
            </a:endParaRPr>
          </a:p>
          <a:p>
            <a:endParaRPr lang="fr-FR" altLang="fr-FR" sz="1600"/>
          </a:p>
        </p:txBody>
      </p:sp>
      <p:graphicFrame>
        <p:nvGraphicFramePr>
          <p:cNvPr id="9219" name="Object 7"/>
          <p:cNvGraphicFramePr>
            <a:graphicFrameLocks noChangeAspect="1"/>
          </p:cNvGraphicFramePr>
          <p:nvPr/>
        </p:nvGraphicFramePr>
        <p:xfrm>
          <a:off x="4498975" y="831850"/>
          <a:ext cx="8572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3" name="Equation" r:id="rId3" imgW="482391" imgH="203112" progId="Equation.DSMT4">
                  <p:embed/>
                </p:oleObj>
              </mc:Choice>
              <mc:Fallback>
                <p:oleObj name="Equation" r:id="rId3" imgW="482391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831850"/>
                        <a:ext cx="8572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5"/>
          <p:cNvGraphicFramePr>
            <a:graphicFrameLocks noChangeAspect="1"/>
          </p:cNvGraphicFramePr>
          <p:nvPr/>
        </p:nvGraphicFramePr>
        <p:xfrm>
          <a:off x="3211513" y="1263650"/>
          <a:ext cx="3403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Equation" r:id="rId5" imgW="1892300" imgH="457200" progId="Equation.DSMT4">
                  <p:embed/>
                </p:oleObj>
              </mc:Choice>
              <mc:Fallback>
                <p:oleObj name="Equation" r:id="rId5" imgW="18923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513" y="1263650"/>
                        <a:ext cx="3403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4"/>
          <p:cNvGraphicFramePr>
            <a:graphicFrameLocks noChangeAspect="1"/>
          </p:cNvGraphicFramePr>
          <p:nvPr/>
        </p:nvGraphicFramePr>
        <p:xfrm>
          <a:off x="4176713" y="3135313"/>
          <a:ext cx="24034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name="Equation" r:id="rId7" imgW="1333500" imgH="393700" progId="Equation.DSMT4">
                  <p:embed/>
                </p:oleObj>
              </mc:Choice>
              <mc:Fallback>
                <p:oleObj name="Equation" r:id="rId7" imgW="13335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3135313"/>
                        <a:ext cx="24034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611188" y="817563"/>
            <a:ext cx="3746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cs typeface="Times New Roman" panose="02020603050405020304" pitchFamily="18" charset="0"/>
              </a:rPr>
              <a:t>Soit le système linéaire à résoudre</a:t>
            </a:r>
            <a:r>
              <a:rPr lang="fr-FR" altLang="fr-FR" sz="1600">
                <a:cs typeface="Times New Roman" panose="02020603050405020304" pitchFamily="18" charset="0"/>
              </a:rPr>
              <a:t> </a:t>
            </a:r>
            <a:endParaRPr lang="fr-FR" altLang="fr-FR" sz="1600"/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1079500" y="3856038"/>
            <a:ext cx="54911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>
                <a:cs typeface="Times New Roman" panose="02020603050405020304" pitchFamily="18" charset="0"/>
              </a:rPr>
              <a:t>Que représente graphiquement les lignes de niveau de E ?</a:t>
            </a:r>
            <a:endParaRPr lang="fr-FR" altLang="fr-FR" sz="1600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2700338" y="152400"/>
            <a:ext cx="3944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>
                <a:solidFill>
                  <a:schemeClr val="accent2"/>
                </a:solidFill>
                <a:latin typeface="Arial" charset="0"/>
                <a:ea typeface="ＭＳ Ｐゴシック" charset="0"/>
              </a:rPr>
              <a:t>Exercice / Programmation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aphicFrame>
        <p:nvGraphicFramePr>
          <p:cNvPr id="9226" name="Object 15"/>
          <p:cNvGraphicFramePr>
            <a:graphicFrameLocks noChangeAspect="1"/>
          </p:cNvGraphicFramePr>
          <p:nvPr/>
        </p:nvGraphicFramePr>
        <p:xfrm>
          <a:off x="6545263" y="5413375"/>
          <a:ext cx="10509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6" name="Equation" r:id="rId9" imgW="634725" imgH="253890" progId="Equation.DSMT4">
                  <p:embed/>
                </p:oleObj>
              </mc:Choice>
              <mc:Fallback>
                <p:oleObj name="Equation" r:id="rId9" imgW="634725" imgH="25389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5263" y="5413375"/>
                        <a:ext cx="10509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F5B6A4A-4325-4BE9-9A63-166D00B41FF3}" type="slidenum">
              <a:rPr lang="fr-FR" altLang="fr-FR" sz="1200"/>
              <a:pPr eaLnBrk="1" hangingPunct="1"/>
              <a:t>8</a:t>
            </a:fld>
            <a:endParaRPr lang="fr-FR" altLang="fr-FR" sz="1200" b="0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287338" y="598488"/>
            <a:ext cx="8863012" cy="534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solidFill>
                  <a:srgbClr val="000000"/>
                </a:solidFill>
                <a:ea typeface="Times New Roman" panose="02020603050405020304" pitchFamily="18" charset="0"/>
              </a:rPr>
              <a:t>La représentation graphique est réalisée avec le code suivant :</a:t>
            </a:r>
            <a:endParaRPr lang="fr-FR" altLang="fr-FR" sz="20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en-GB" altLang="fr-FR" sz="20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/>
            </a:r>
            <a:br>
              <a:rPr lang="en-GB" altLang="fr-FR" sz="20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</a:b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hold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off</a:t>
            </a:r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[x,y] = meshgrid([-0.5:.05:1], [-0.5:.05:1]);</a:t>
            </a:r>
            <a:endParaRPr lang="fr-FR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Z =0.5*(A(1,1)*x.*x+A(1,2)*x.*y+A(2,1)*y.*x+A(2,2)*y.*y)-b(1)*x-b(2)*y;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surf(x,y,Z,Z, 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'FaceColor'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fr-FR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'interp'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</a:t>
            </a:r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hold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on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plot3(xn, yn, en,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'w-'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'LineWidth'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,2)</a:t>
            </a:r>
            <a:endParaRPr lang="fr-FR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colorbar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figure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[x,y] = meshgrid([-0.5:.01:1], [-0.5:.01:1]);</a:t>
            </a: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Z =0.5*(A(1,1)*x.*x+A(1,2)*x.*y+A(2,1)*y.*x+A(2,2)*y.*y)-b(1)*x-b(2)*y;</a:t>
            </a:r>
          </a:p>
          <a:p>
            <a:pPr eaLnBrk="1" hangingPunct="1"/>
            <a:endParaRPr lang="fr-FR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[C,h] =contour(x, y, Z, en)</a:t>
            </a:r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set(h,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'ShowText'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'on'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'TextStep'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,get(h,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'LevelStep'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)*2)</a:t>
            </a: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colormap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jet</a:t>
            </a:r>
            <a:endParaRPr lang="en-GB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hold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on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eaLnBrk="1" hangingPunct="1"/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plot(xn, yn,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'b-'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 </a:t>
            </a:r>
            <a:r>
              <a:rPr lang="en-GB" altLang="fr-FR" sz="1600" b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'LineWidth'</a:t>
            </a:r>
            <a:r>
              <a:rPr lang="en-GB" altLang="fr-FR" sz="1600" b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,2)</a:t>
            </a:r>
            <a:endParaRPr lang="fr-FR" altLang="fr-FR" sz="1600" b="1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D0C1E96-D573-4E5D-A425-750527DC927C}" type="slidenum">
              <a:rPr lang="fr-FR" altLang="fr-FR" sz="1200"/>
              <a:pPr eaLnBrk="1" hangingPunct="1"/>
              <a:t>9</a:t>
            </a:fld>
            <a:endParaRPr lang="fr-FR" altLang="fr-FR" sz="1200" b="0"/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231775" y="134938"/>
            <a:ext cx="6507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Programme 1 : méthode du gradient en matlab</a:t>
            </a:r>
          </a:p>
        </p:txBody>
      </p:sp>
      <p:sp>
        <p:nvSpPr>
          <p:cNvPr id="56325" name="Text Box 5"/>
          <p:cNvSpPr txBox="1">
            <a:spLocks noChangeArrowheads="1"/>
          </p:cNvSpPr>
          <p:nvPr/>
        </p:nvSpPr>
        <p:spPr bwMode="auto">
          <a:xfrm>
            <a:off x="395288" y="981075"/>
            <a:ext cx="3460750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systeme a resoudre</a:t>
            </a:r>
            <a:endParaRPr lang="fr-FR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A=[2 -1; -1 2];</a:t>
            </a: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b=[1 0]';</a:t>
            </a: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point de depart x0</a:t>
            </a:r>
            <a:endParaRPr lang="fr-FR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x=[1 1]';</a:t>
            </a: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on efface les tableaux</a:t>
            </a:r>
            <a:endParaRPr lang="fr-FR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clear </a:t>
            </a:r>
            <a:r>
              <a:rPr lang="fr-FR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xn</a:t>
            </a: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r>
              <a:rPr lang="fr-FR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yn</a:t>
            </a: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r>
              <a:rPr lang="fr-FR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en</a:t>
            </a: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</a:t>
            </a:r>
          </a:p>
          <a:p>
            <a:pPr>
              <a:defRPr/>
            </a:pPr>
            <a:r>
              <a:rPr lang="fr-FR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pt-BR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</p:txBody>
      </p:sp>
      <p:sp>
        <p:nvSpPr>
          <p:cNvPr id="56326" name="Text Box 6"/>
          <p:cNvSpPr txBox="1">
            <a:spLocks noChangeArrowheads="1"/>
          </p:cNvSpPr>
          <p:nvPr/>
        </p:nvSpPr>
        <p:spPr bwMode="auto">
          <a:xfrm>
            <a:off x="4392613" y="1052513"/>
            <a:ext cx="459613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pt-BR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processus de minimisation</a:t>
            </a:r>
            <a:endParaRPr lang="pt-BR" b="1" dirty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tol=1e-6;</a:t>
            </a: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k</a:t>
            </a:r>
            <a:r>
              <a:rPr lang="pt-BR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=1</a:t>
            </a: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</a:t>
            </a: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r=b-A*x;</a:t>
            </a:r>
          </a:p>
          <a:p>
            <a:pPr>
              <a:defRPr/>
            </a:pPr>
            <a:endParaRPr lang="nl-NL" b="1" dirty="0">
              <a:solidFill>
                <a:srgbClr val="0000FF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nl-NL" b="1" dirty="0" err="1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while</a:t>
            </a:r>
            <a:r>
              <a:rPr lang="nl-NL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(norm(r)/norm(b) &gt; tol)</a:t>
            </a:r>
          </a:p>
          <a:p>
            <a:pPr>
              <a:defRPr/>
            </a:pPr>
            <a:r>
              <a:rPr lang="nl-NL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  </a:t>
            </a:r>
            <a:r>
              <a:rPr lang="nl-NL" b="1" dirty="0" err="1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xn</a:t>
            </a:r>
            <a:r>
              <a:rPr lang="nl-NL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(k)=</a:t>
            </a:r>
            <a:r>
              <a:rPr lang="nl-NL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x(1</a:t>
            </a:r>
            <a:r>
              <a:rPr lang="nl-NL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); </a:t>
            </a:r>
            <a:r>
              <a:rPr lang="nl-NL" b="1" dirty="0" smtClean="0">
                <a:solidFill>
                  <a:srgbClr val="00B050"/>
                </a:solidFill>
                <a:latin typeface="Courier New" charset="0"/>
                <a:ea typeface="Times New Roman" charset="0"/>
                <a:cs typeface="Courier New" charset="0"/>
              </a:rPr>
              <a:t>% pour </a:t>
            </a:r>
            <a:r>
              <a:rPr lang="nl-NL" b="1" dirty="0" err="1" smtClean="0">
                <a:solidFill>
                  <a:srgbClr val="00B050"/>
                </a:solidFill>
                <a:latin typeface="Courier New" charset="0"/>
                <a:ea typeface="Times New Roman" charset="0"/>
                <a:cs typeface="Courier New" charset="0"/>
              </a:rPr>
              <a:t>graphique</a:t>
            </a:r>
            <a:endParaRPr lang="nl-NL" b="1" dirty="0">
              <a:solidFill>
                <a:srgbClr val="00B05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nl-NL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  </a:t>
            </a:r>
            <a:r>
              <a:rPr lang="pt-BR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yn(k)=</a:t>
            </a: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x(2);</a:t>
            </a: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  </a:t>
            </a:r>
            <a:r>
              <a:rPr lang="pt-BR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en(k)=</a:t>
            </a: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0.5*x'*A*x-x'*b;</a:t>
            </a:r>
          </a:p>
          <a:p>
            <a:pPr>
              <a:defRPr/>
            </a:pPr>
            <a:r>
              <a:rPr lang="pt-B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</a:p>
          <a:p>
            <a:pPr>
              <a:defRPr/>
            </a:pPr>
            <a:endParaRPr lang="fr-FR" b="1" dirty="0" smtClean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endParaRPr lang="fr-FR" b="1" dirty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endParaRPr lang="fr-FR" b="1" dirty="0" smtClean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 k=k+1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</a:t>
            </a:r>
            <a:endParaRPr lang="fr-FR" b="1" dirty="0">
              <a:solidFill>
                <a:srgbClr val="0000FF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b="1" dirty="0" smtClean="0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end</a:t>
            </a:r>
            <a:r>
              <a:rPr lang="fr-FR" dirty="0" smtClean="0">
                <a:latin typeface="Arial" charset="0"/>
                <a:ea typeface="Times New Roman" charset="0"/>
                <a:cs typeface="Courier New" charset="0"/>
              </a:rPr>
              <a:t> </a:t>
            </a:r>
            <a:endParaRPr lang="fr-FR" dirty="0">
              <a:latin typeface="Arial" charset="0"/>
              <a:ea typeface="Times New Roman" charset="0"/>
              <a:cs typeface="Courier New" charset="0"/>
            </a:endParaRPr>
          </a:p>
          <a:p>
            <a:pPr>
              <a:defRPr/>
            </a:pPr>
            <a:endParaRPr lang="fr-FR" dirty="0">
              <a:latin typeface="Arial" charset="0"/>
              <a:ea typeface="Times New Roman" charset="0"/>
              <a:cs typeface="Courier New" charset="0"/>
            </a:endParaRPr>
          </a:p>
        </p:txBody>
      </p: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87313" y="5370513"/>
            <a:ext cx="65214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Remarque : la fonction </a:t>
            </a:r>
            <a:r>
              <a:rPr lang="fr-FR" altLang="fr-FR" sz="1800" i="1"/>
              <a:t>norm</a:t>
            </a:r>
            <a:r>
              <a:rPr lang="fr-FR" altLang="fr-FR" sz="1800"/>
              <a:t> calcule la norme euclidienne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Exercice : montrer en écrivant un petit programme matlab que </a:t>
            </a:r>
          </a:p>
          <a:p>
            <a:pPr eaLnBrk="1" hangingPunct="1"/>
            <a:r>
              <a:rPr lang="fr-FR" altLang="fr-FR" sz="1800"/>
              <a:t>pour deux itérations successives.</a:t>
            </a:r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1271" name="Object 8"/>
          <p:cNvGraphicFramePr>
            <a:graphicFrameLocks noChangeAspect="1"/>
          </p:cNvGraphicFramePr>
          <p:nvPr/>
        </p:nvGraphicFramePr>
        <p:xfrm>
          <a:off x="6543675" y="5842000"/>
          <a:ext cx="1223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Equation" r:id="rId3" imgW="685800" imgH="254000" progId="Equation.DSMT4">
                  <p:embed/>
                </p:oleObj>
              </mc:Choice>
              <mc:Fallback>
                <p:oleObj name="Equation" r:id="rId3" imgW="685800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675" y="5842000"/>
                        <a:ext cx="12239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F035BD3-4B68-4727-8893-6470831AD186}" type="slidenum">
              <a:rPr lang="fr-FR" altLang="fr-FR" sz="1200"/>
              <a:pPr eaLnBrk="1" hangingPunct="1"/>
              <a:t>10</a:t>
            </a:fld>
            <a:endParaRPr lang="fr-FR" altLang="fr-FR" sz="1200" b="0"/>
          </a:p>
        </p:txBody>
      </p:sp>
      <p:pic>
        <p:nvPicPr>
          <p:cNvPr id="12290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3824288"/>
            <a:ext cx="3781425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3783013"/>
            <a:ext cx="3132137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611188" y="368300"/>
            <a:ext cx="4927600" cy="128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152352" rIns="0" bIns="38088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 i="1">
                <a:cs typeface="Times New Roman" panose="02020603050405020304" pitchFamily="18" charset="0"/>
              </a:rPr>
              <a:t>Question 1</a:t>
            </a:r>
          </a:p>
          <a:p>
            <a:r>
              <a:rPr lang="fr-FR" altLang="fr-FR" sz="1800">
                <a:cs typeface="Times New Roman" panose="02020603050405020304" pitchFamily="18" charset="0"/>
              </a:rPr>
              <a:t>La matrice [A] est clairement symétrique (A</a:t>
            </a:r>
            <a:r>
              <a:rPr lang="fr-FR" altLang="fr-FR" sz="1800" baseline="-30000">
                <a:cs typeface="Times New Roman" panose="02020603050405020304" pitchFamily="18" charset="0"/>
              </a:rPr>
              <a:t>ij</a:t>
            </a:r>
            <a:r>
              <a:rPr lang="fr-FR" altLang="fr-FR" sz="1800">
                <a:cs typeface="Times New Roman" panose="02020603050405020304" pitchFamily="18" charset="0"/>
              </a:rPr>
              <a:t>=A</a:t>
            </a:r>
            <a:r>
              <a:rPr lang="fr-FR" altLang="fr-FR" sz="1800" baseline="-30000">
                <a:cs typeface="Times New Roman" panose="02020603050405020304" pitchFamily="18" charset="0"/>
              </a:rPr>
              <a:t>ji</a:t>
            </a:r>
            <a:r>
              <a:rPr lang="fr-FR" altLang="fr-FR" sz="1800">
                <a:cs typeface="Times New Roman" panose="02020603050405020304" pitchFamily="18" charset="0"/>
              </a:rPr>
              <a:t>).</a:t>
            </a:r>
          </a:p>
          <a:p>
            <a:endParaRPr lang="fr-FR" altLang="fr-FR" sz="1800"/>
          </a:p>
          <a:p>
            <a:r>
              <a:rPr lang="fr-FR" altLang="fr-FR" sz="1800">
                <a:cs typeface="Times New Roman" panose="02020603050405020304" pitchFamily="18" charset="0"/>
              </a:rPr>
              <a:t>Recherche des valeurs propres</a:t>
            </a:r>
            <a:r>
              <a:rPr lang="fr-FR" altLang="fr-FR" sz="1800"/>
              <a:t> </a:t>
            </a:r>
            <a:r>
              <a:rPr lang="fr-FR" altLang="fr-FR" sz="1800">
                <a:cs typeface="Times New Roman" panose="02020603050405020304" pitchFamily="18" charset="0"/>
              </a:rPr>
              <a:t>det(A-</a:t>
            </a:r>
            <a:r>
              <a:rPr lang="en-GB" altLang="fr-FR" sz="1800">
                <a:latin typeface="Symbol" panose="05050102010706020507" pitchFamily="18" charset="2"/>
                <a:cs typeface="Times New Roman" panose="02020603050405020304" pitchFamily="18" charset="0"/>
              </a:rPr>
              <a:t>l</a:t>
            </a:r>
            <a:r>
              <a:rPr lang="fr-FR" altLang="fr-FR" sz="1800">
                <a:cs typeface="Times New Roman" panose="02020603050405020304" pitchFamily="18" charset="0"/>
              </a:rPr>
              <a:t>I)=0</a:t>
            </a:r>
            <a:endParaRPr lang="fr-FR" altLang="fr-FR" sz="1800"/>
          </a:p>
        </p:txBody>
      </p:sp>
      <p:graphicFrame>
        <p:nvGraphicFramePr>
          <p:cNvPr id="12293" name="Object 4"/>
          <p:cNvGraphicFramePr>
            <a:graphicFrameLocks noChangeAspect="1"/>
          </p:cNvGraphicFramePr>
          <p:nvPr/>
        </p:nvGraphicFramePr>
        <p:xfrm>
          <a:off x="5364163" y="1228725"/>
          <a:ext cx="28829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7" name="Equation" r:id="rId5" imgW="2171700" imgH="457200" progId="Equation.DSMT4">
                  <p:embed/>
                </p:oleObj>
              </mc:Choice>
              <mc:Fallback>
                <p:oleObj name="Equation" r:id="rId5" imgW="21717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228725"/>
                        <a:ext cx="28829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611188" y="1941513"/>
            <a:ext cx="82819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1800">
                <a:cs typeface="Times New Roman" panose="02020603050405020304" pitchFamily="18" charset="0"/>
              </a:rPr>
              <a:t>Les valeurs propres de A, </a:t>
            </a:r>
            <a:r>
              <a:rPr lang="fr-FR" altLang="fr-FR" sz="1800">
                <a:latin typeface="Symbol" panose="05050102010706020507" pitchFamily="18" charset="2"/>
                <a:cs typeface="Times New Roman" panose="02020603050405020304" pitchFamily="18" charset="0"/>
              </a:rPr>
              <a:t>l</a:t>
            </a:r>
            <a:r>
              <a:rPr lang="fr-FR" altLang="fr-FR" sz="1800">
                <a:cs typeface="Times New Roman" panose="02020603050405020304" pitchFamily="18" charset="0"/>
              </a:rPr>
              <a:t>=1 et </a:t>
            </a:r>
            <a:r>
              <a:rPr lang="fr-FR" altLang="fr-FR" sz="1800">
                <a:latin typeface="Symbol" panose="05050102010706020507" pitchFamily="18" charset="2"/>
                <a:cs typeface="Times New Roman" panose="02020603050405020304" pitchFamily="18" charset="0"/>
              </a:rPr>
              <a:t>l</a:t>
            </a:r>
            <a:r>
              <a:rPr lang="fr-FR" altLang="fr-FR" sz="1800">
                <a:cs typeface="Times New Roman" panose="02020603050405020304" pitchFamily="18" charset="0"/>
              </a:rPr>
              <a:t>=3, sont réelles, strictement positives. La matrice A est donc symétrique définie positive.</a:t>
            </a: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611188" y="2781300"/>
            <a:ext cx="1181100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152352" rIns="0" bIns="38088" anchor="ctr">
            <a:spAutoFit/>
          </a:bodyPr>
          <a:lstStyle/>
          <a:p>
            <a:pPr>
              <a:defRPr/>
            </a:pPr>
            <a:r>
              <a:rPr lang="fr-FR" b="1" i="1">
                <a:latin typeface="Arial" charset="0"/>
                <a:ea typeface="ＭＳ Ｐゴシック" charset="0"/>
                <a:cs typeface="Times New Roman" charset="0"/>
              </a:rPr>
              <a:t>Question 2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2700338" y="152400"/>
            <a:ext cx="3944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2400" b="1">
                <a:solidFill>
                  <a:schemeClr val="accent2"/>
                </a:solidFill>
                <a:latin typeface="Arial" charset="0"/>
                <a:ea typeface="ＭＳ Ｐゴシック" charset="0"/>
              </a:rPr>
              <a:t>Exercice / Programmation</a:t>
            </a:r>
          </a:p>
        </p:txBody>
      </p:sp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graphicFrame>
        <p:nvGraphicFramePr>
          <p:cNvPr id="12298" name="Object 25"/>
          <p:cNvGraphicFramePr>
            <a:graphicFrameLocks noChangeAspect="1"/>
          </p:cNvGraphicFramePr>
          <p:nvPr/>
        </p:nvGraphicFramePr>
        <p:xfrm>
          <a:off x="1989138" y="2708275"/>
          <a:ext cx="24034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Equation" r:id="rId7" imgW="1333500" imgH="393700" progId="Equation.DSMT4">
                  <p:embed/>
                </p:oleObj>
              </mc:Choice>
              <mc:Fallback>
                <p:oleObj name="Equation" r:id="rId7" imgW="1333500" imgH="3937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2708275"/>
                        <a:ext cx="24034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26"/>
          <p:cNvGraphicFramePr>
            <a:graphicFrameLocks noChangeAspect="1"/>
          </p:cNvGraphicFramePr>
          <p:nvPr/>
        </p:nvGraphicFramePr>
        <p:xfrm>
          <a:off x="684213" y="3284538"/>
          <a:ext cx="73787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9" name="Equation" r:id="rId9" imgW="4953000" imgH="393700" progId="Equation.DSMT4">
                  <p:embed/>
                </p:oleObj>
              </mc:Choice>
              <mc:Fallback>
                <p:oleObj name="Equation" r:id="rId9" imgW="4953000" imgH="393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284538"/>
                        <a:ext cx="73787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29"/>
          <p:cNvGraphicFramePr>
            <a:graphicFrameLocks noChangeAspect="1"/>
          </p:cNvGraphicFramePr>
          <p:nvPr/>
        </p:nvGraphicFramePr>
        <p:xfrm>
          <a:off x="7388225" y="3968750"/>
          <a:ext cx="1323975" cy="256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11" imgW="736600" imgH="1422400" progId="Equation.DSMT4">
                  <p:embed/>
                </p:oleObj>
              </mc:Choice>
              <mc:Fallback>
                <p:oleObj name="Equation" r:id="rId11" imgW="736600" imgH="14224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5" y="3968750"/>
                        <a:ext cx="1323975" cy="256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A1D5098-FDBA-49E8-80FE-E4401AAC075C}" type="slidenum">
              <a:rPr lang="fr-FR" altLang="fr-FR" sz="1200"/>
              <a:pPr eaLnBrk="1" hangingPunct="1"/>
              <a:t>11</a:t>
            </a:fld>
            <a:endParaRPr lang="fr-FR" altLang="fr-FR" sz="1200" b="0"/>
          </a:p>
        </p:txBody>
      </p:sp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447675" y="207963"/>
            <a:ext cx="6323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ea typeface="Times New Roman" panose="02020603050405020304" pitchFamily="18" charset="0"/>
              </a:rPr>
              <a:t>Accélération : méthode du gradient conjugué</a:t>
            </a:r>
            <a:r>
              <a:rPr lang="en-US" altLang="fr-FR">
                <a:ea typeface="Times New Roman" panose="02020603050405020304" pitchFamily="18" charset="0"/>
              </a:rPr>
              <a:t> </a:t>
            </a:r>
            <a:endParaRPr lang="fr-FR" altLang="fr-FR">
              <a:ea typeface="Times New Roman" panose="02020603050405020304" pitchFamily="18" charset="0"/>
            </a:endParaRP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231775" y="965200"/>
            <a:ext cx="81089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Dans cette approche, la direction de descente à l</a:t>
            </a:r>
            <a:r>
              <a:rPr lang="ja-JP" altLang="fr-FR" sz="1800"/>
              <a:t>’</a:t>
            </a:r>
            <a:r>
              <a:rPr lang="fr-FR" altLang="ja-JP" sz="1800"/>
              <a:t>itération k tient compte de la </a:t>
            </a:r>
          </a:p>
          <a:p>
            <a:pPr eaLnBrk="1" hangingPunct="1"/>
            <a:r>
              <a:rPr lang="fr-FR" altLang="fr-FR" sz="1800"/>
              <a:t>direction de descente à l</a:t>
            </a:r>
            <a:r>
              <a:rPr lang="ja-JP" altLang="fr-FR" sz="1800"/>
              <a:t>’</a:t>
            </a:r>
            <a:r>
              <a:rPr lang="fr-FR" altLang="ja-JP" sz="1800"/>
              <a:t>itération précédente k-1.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On l</a:t>
            </a:r>
            <a:r>
              <a:rPr lang="ja-JP" altLang="fr-FR" sz="1800"/>
              <a:t>’</a:t>
            </a:r>
            <a:r>
              <a:rPr lang="fr-FR" altLang="ja-JP" sz="1800"/>
              <a:t>écrit comme une combinaison linéaire :  </a:t>
            </a:r>
            <a:endParaRPr lang="fr-FR" altLang="fr-FR" sz="1800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17" name="Object 6"/>
          <p:cNvGraphicFramePr>
            <a:graphicFrameLocks noChangeAspect="1"/>
          </p:cNvGraphicFramePr>
          <p:nvPr/>
        </p:nvGraphicFramePr>
        <p:xfrm>
          <a:off x="4824413" y="1758950"/>
          <a:ext cx="20288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2" name="Equation" r:id="rId3" imgW="1130300" imgH="228600" progId="Equation.DSMT4">
                  <p:embed/>
                </p:oleObj>
              </mc:Choice>
              <mc:Fallback>
                <p:oleObj name="Equation" r:id="rId3" imgW="1130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4413" y="1758950"/>
                        <a:ext cx="20288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339725" y="2476500"/>
            <a:ext cx="7329488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On impose que les directions de descente p</a:t>
            </a:r>
            <a:r>
              <a:rPr lang="fr-FR" altLang="fr-FR" sz="1800" baseline="-25000"/>
              <a:t>k-1</a:t>
            </a:r>
            <a:r>
              <a:rPr lang="fr-FR" altLang="fr-FR" sz="1800"/>
              <a:t> et p</a:t>
            </a:r>
            <a:r>
              <a:rPr lang="fr-FR" altLang="fr-FR" sz="1800" baseline="-25000"/>
              <a:t>k</a:t>
            </a:r>
            <a:r>
              <a:rPr lang="fr-FR" altLang="fr-FR" sz="1800"/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soient conjuguées :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Détermination du paramètre </a:t>
            </a: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20" name="Object 9"/>
          <p:cNvGraphicFramePr>
            <a:graphicFrameLocks noChangeAspect="1"/>
          </p:cNvGraphicFramePr>
          <p:nvPr/>
        </p:nvGraphicFramePr>
        <p:xfrm>
          <a:off x="2697163" y="2889250"/>
          <a:ext cx="15144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3" name="Equation" r:id="rId5" imgW="837836" imgH="253890" progId="Equation.DSMT4">
                  <p:embed/>
                </p:oleObj>
              </mc:Choice>
              <mc:Fallback>
                <p:oleObj name="Equation" r:id="rId5" imgW="837836" imgH="2538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2889250"/>
                        <a:ext cx="15144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1" name="Group 22"/>
          <p:cNvGrpSpPr>
            <a:grpSpLocks/>
          </p:cNvGrpSpPr>
          <p:nvPr/>
        </p:nvGrpSpPr>
        <p:grpSpPr bwMode="auto">
          <a:xfrm>
            <a:off x="5957888" y="2378075"/>
            <a:ext cx="2430462" cy="1266825"/>
            <a:chOff x="3753" y="1498"/>
            <a:chExt cx="1531" cy="798"/>
          </a:xfrm>
        </p:grpSpPr>
        <p:grpSp>
          <p:nvGrpSpPr>
            <p:cNvPr id="13340" name="Group 20"/>
            <p:cNvGrpSpPr>
              <a:grpSpLocks/>
            </p:cNvGrpSpPr>
            <p:nvPr/>
          </p:nvGrpSpPr>
          <p:grpSpPr bwMode="auto">
            <a:xfrm>
              <a:off x="3753" y="1498"/>
              <a:ext cx="1531" cy="798"/>
              <a:chOff x="3753" y="1498"/>
              <a:chExt cx="1531" cy="798"/>
            </a:xfrm>
          </p:grpSpPr>
          <p:grpSp>
            <p:nvGrpSpPr>
              <p:cNvPr id="13342" name="Group 17"/>
              <p:cNvGrpSpPr>
                <a:grpSpLocks/>
              </p:cNvGrpSpPr>
              <p:nvPr/>
            </p:nvGrpSpPr>
            <p:grpSpPr bwMode="auto">
              <a:xfrm>
                <a:off x="3753" y="1498"/>
                <a:ext cx="1531" cy="798"/>
                <a:chOff x="2381" y="1933"/>
                <a:chExt cx="1531" cy="798"/>
              </a:xfrm>
            </p:grpSpPr>
            <p:sp>
              <p:nvSpPr>
                <p:cNvPr id="58379" name="Oval 11"/>
                <p:cNvSpPr>
                  <a:spLocks noChangeArrowheads="1"/>
                </p:cNvSpPr>
                <p:nvPr/>
              </p:nvSpPr>
              <p:spPr bwMode="auto">
                <a:xfrm>
                  <a:off x="2562" y="2183"/>
                  <a:ext cx="953" cy="453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38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2381" y="2039"/>
                  <a:ext cx="680" cy="39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381" name="Line 13"/>
                <p:cNvSpPr>
                  <a:spLocks noChangeShapeType="1"/>
                </p:cNvSpPr>
                <p:nvPr/>
              </p:nvSpPr>
              <p:spPr bwMode="auto">
                <a:xfrm>
                  <a:off x="2676" y="2251"/>
                  <a:ext cx="862" cy="3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382" name="Oval 14"/>
                <p:cNvSpPr>
                  <a:spLocks noChangeArrowheads="1"/>
                </p:cNvSpPr>
                <p:nvPr/>
              </p:nvSpPr>
              <p:spPr bwMode="auto">
                <a:xfrm>
                  <a:off x="2993" y="2365"/>
                  <a:ext cx="46" cy="44"/>
                </a:xfrm>
                <a:prstGeom prst="ellipse">
                  <a:avLst/>
                </a:prstGeom>
                <a:solidFill>
                  <a:srgbClr val="FF00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38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585" y="1933"/>
                  <a:ext cx="32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Arial" charset="0"/>
                      <a:ea typeface="ＭＳ Ｐゴシック" charset="0"/>
                    </a:rPr>
                    <a:t>p</a:t>
                  </a:r>
                  <a:r>
                    <a:rPr lang="fr-FR" baseline="-25000">
                      <a:latin typeface="Arial" charset="0"/>
                      <a:ea typeface="ＭＳ Ｐゴシック" charset="0"/>
                    </a:rPr>
                    <a:t>k-1</a:t>
                  </a: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838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583" y="2500"/>
                  <a:ext cx="329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defRPr/>
                  </a:pPr>
                  <a:r>
                    <a:rPr lang="fr-FR">
                      <a:latin typeface="Arial" charset="0"/>
                      <a:ea typeface="ＭＳ Ｐゴシック" charset="0"/>
                    </a:rPr>
                    <a:t>p</a:t>
                  </a:r>
                  <a:r>
                    <a:rPr lang="fr-FR" baseline="-25000">
                      <a:latin typeface="Arial" charset="0"/>
                      <a:ea typeface="ＭＳ Ｐゴシック" charset="0"/>
                    </a:rPr>
                    <a:t>k</a:t>
                  </a:r>
                  <a:endParaRPr lang="fr-FR"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58386" name="Line 18"/>
              <p:cNvSpPr>
                <a:spLocks noChangeShapeType="1"/>
              </p:cNvSpPr>
              <p:nvPr/>
            </p:nvSpPr>
            <p:spPr bwMode="auto">
              <a:xfrm>
                <a:off x="4059" y="1820"/>
                <a:ext cx="114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58387" name="Text Box 19"/>
              <p:cNvSpPr txBox="1">
                <a:spLocks noChangeArrowheads="1"/>
              </p:cNvSpPr>
              <p:nvPr/>
            </p:nvSpPr>
            <p:spPr bwMode="auto">
              <a:xfrm>
                <a:off x="3946" y="1820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fr-FR">
                    <a:latin typeface="Arial" charset="0"/>
                    <a:ea typeface="ＭＳ Ｐゴシック" charset="0"/>
                  </a:rPr>
                  <a:t>r</a:t>
                </a:r>
                <a:r>
                  <a:rPr lang="fr-FR" baseline="-25000">
                    <a:latin typeface="Arial" charset="0"/>
                    <a:ea typeface="ＭＳ Ｐゴシック" charset="0"/>
                  </a:rPr>
                  <a:t>k</a:t>
                </a:r>
                <a:endParaRPr lang="fr-FR"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58389" name="Text Box 21"/>
            <p:cNvSpPr txBox="1">
              <a:spLocks noChangeArrowheads="1"/>
            </p:cNvSpPr>
            <p:nvPr/>
          </p:nvSpPr>
          <p:spPr bwMode="auto">
            <a:xfrm>
              <a:off x="4377" y="1774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fr-FR">
                  <a:latin typeface="Arial" charset="0"/>
                  <a:ea typeface="ＭＳ Ｐゴシック" charset="0"/>
                </a:rPr>
                <a:t>C</a:t>
              </a:r>
            </a:p>
          </p:txBody>
        </p:sp>
      </p:grpSp>
      <p:sp>
        <p:nvSpPr>
          <p:cNvPr id="58392" name="Rectangle 24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23" name="Object 23"/>
          <p:cNvGraphicFramePr>
            <a:graphicFrameLocks noChangeAspect="1"/>
          </p:cNvGraphicFramePr>
          <p:nvPr/>
        </p:nvGraphicFramePr>
        <p:xfrm>
          <a:off x="3348038" y="3465513"/>
          <a:ext cx="4953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4" name="Equation" r:id="rId7" imgW="279400" imgH="228600" progId="Equation.DSMT4">
                  <p:embed/>
                </p:oleObj>
              </mc:Choice>
              <mc:Fallback>
                <p:oleObj name="Equation" r:id="rId7" imgW="2794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465513"/>
                        <a:ext cx="4953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4" name="Rectangle 26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25" name="Object 25"/>
          <p:cNvGraphicFramePr>
            <a:graphicFrameLocks noChangeAspect="1"/>
          </p:cNvGraphicFramePr>
          <p:nvPr/>
        </p:nvGraphicFramePr>
        <p:xfrm>
          <a:off x="395288" y="4041775"/>
          <a:ext cx="55340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5" name="Equation" r:id="rId9" imgW="3073400" imgH="254000" progId="Equation.DSMT4">
                  <p:embed/>
                </p:oleObj>
              </mc:Choice>
              <mc:Fallback>
                <p:oleObj name="Equation" r:id="rId9" imgW="3073400" imgH="2540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041775"/>
                        <a:ext cx="55340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6" name="Rectangle 28"/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27" name="Object 27"/>
          <p:cNvGraphicFramePr>
            <a:graphicFrameLocks noChangeAspect="1"/>
          </p:cNvGraphicFramePr>
          <p:nvPr/>
        </p:nvGraphicFramePr>
        <p:xfrm>
          <a:off x="6624638" y="3789363"/>
          <a:ext cx="21907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6" name="Equation" r:id="rId11" imgW="1218671" imgH="482391" progId="Equation.DSMT4">
                  <p:embed/>
                </p:oleObj>
              </mc:Choice>
              <mc:Fallback>
                <p:oleObj name="Equation" r:id="rId11" imgW="1218671" imgH="482391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4638" y="3789363"/>
                        <a:ext cx="2190750" cy="8667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7" name="AutoShape 29"/>
          <p:cNvSpPr>
            <a:spLocks noChangeArrowheads="1"/>
          </p:cNvSpPr>
          <p:nvPr/>
        </p:nvSpPr>
        <p:spPr bwMode="auto">
          <a:xfrm>
            <a:off x="6084888" y="4184650"/>
            <a:ext cx="539750" cy="179388"/>
          </a:xfrm>
          <a:prstGeom prst="rightArrow">
            <a:avLst>
              <a:gd name="adj1" fmla="val 50000"/>
              <a:gd name="adj2" fmla="val 752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8398" name="Text Box 30"/>
          <p:cNvSpPr txBox="1">
            <a:spLocks noChangeArrowheads="1"/>
          </p:cNvSpPr>
          <p:nvPr/>
        </p:nvSpPr>
        <p:spPr bwMode="auto">
          <a:xfrm>
            <a:off x="339725" y="4745038"/>
            <a:ext cx="542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point est déterminé à l</a:t>
            </a:r>
            <a:r>
              <a:rPr lang="ja-JP" altLang="fr-FR" sz="1800"/>
              <a:t>’</a:t>
            </a:r>
            <a:r>
              <a:rPr lang="fr-FR" altLang="ja-JP" sz="1800"/>
              <a:t>itération k par la relation :</a:t>
            </a:r>
            <a:r>
              <a:rPr lang="en-US" altLang="ja-JP" sz="1800"/>
              <a:t> </a:t>
            </a:r>
            <a:endParaRPr lang="fr-FR" altLang="fr-FR" sz="1800"/>
          </a:p>
        </p:txBody>
      </p:sp>
      <p:sp>
        <p:nvSpPr>
          <p:cNvPr id="58400" name="Rectangle 32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31" name="Object 31"/>
          <p:cNvGraphicFramePr>
            <a:graphicFrameLocks noChangeAspect="1"/>
          </p:cNvGraphicFramePr>
          <p:nvPr/>
        </p:nvGraphicFramePr>
        <p:xfrm>
          <a:off x="5688013" y="4711700"/>
          <a:ext cx="19145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" name="Equation" r:id="rId13" imgW="1066800" imgH="228600" progId="Equation.DSMT4">
                  <p:embed/>
                </p:oleObj>
              </mc:Choice>
              <mc:Fallback>
                <p:oleObj name="Equation" r:id="rId13" imgW="106680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4711700"/>
                        <a:ext cx="19145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2" name="Rectangle 34"/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33" name="Object 33"/>
          <p:cNvGraphicFramePr>
            <a:graphicFrameLocks noChangeAspect="1"/>
          </p:cNvGraphicFramePr>
          <p:nvPr/>
        </p:nvGraphicFramePr>
        <p:xfrm>
          <a:off x="6516688" y="5121275"/>
          <a:ext cx="15525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" name="Equation" r:id="rId15" imgW="863225" imgH="482391" progId="Equation.DSMT4">
                  <p:embed/>
                </p:oleObj>
              </mc:Choice>
              <mc:Fallback>
                <p:oleObj name="Equation" r:id="rId15" imgW="863225" imgH="482391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121275"/>
                        <a:ext cx="1552575" cy="8667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3" name="Text Box 35"/>
          <p:cNvSpPr txBox="1">
            <a:spLocks noChangeArrowheads="1"/>
          </p:cNvSpPr>
          <p:nvPr/>
        </p:nvSpPr>
        <p:spPr bwMode="auto">
          <a:xfrm>
            <a:off x="339725" y="5284788"/>
            <a:ext cx="4768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Une étude plus poussée permet de simplifier </a:t>
            </a:r>
          </a:p>
        </p:txBody>
      </p:sp>
      <p:sp>
        <p:nvSpPr>
          <p:cNvPr id="58405" name="Rectangle 37"/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36" name="Object 36"/>
          <p:cNvGraphicFramePr>
            <a:graphicFrameLocks noChangeAspect="1"/>
          </p:cNvGraphicFramePr>
          <p:nvPr/>
        </p:nvGraphicFramePr>
        <p:xfrm>
          <a:off x="395288" y="5697538"/>
          <a:ext cx="27146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" name="Equation" r:id="rId17" imgW="1511300" imgH="482600" progId="Equation.DSMT4">
                  <p:embed/>
                </p:oleObj>
              </mc:Choice>
              <mc:Fallback>
                <p:oleObj name="Equation" r:id="rId17" imgW="1511300" imgH="482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97538"/>
                        <a:ext cx="27146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7" name="Rectangle 39"/>
          <p:cNvSpPr>
            <a:spLocks noChangeArrowheads="1"/>
          </p:cNvSpPr>
          <p:nvPr/>
        </p:nvSpPr>
        <p:spPr bwMode="auto">
          <a:xfrm>
            <a:off x="0" y="29956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3338" name="Object 38"/>
          <p:cNvGraphicFramePr>
            <a:graphicFrameLocks noChangeAspect="1"/>
          </p:cNvGraphicFramePr>
          <p:nvPr/>
        </p:nvGraphicFramePr>
        <p:xfrm>
          <a:off x="3635375" y="5697538"/>
          <a:ext cx="28765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0" name="Equation" r:id="rId19" imgW="1600200" imgH="482600" progId="Equation.DSMT4">
                  <p:embed/>
                </p:oleObj>
              </mc:Choice>
              <mc:Fallback>
                <p:oleObj name="Equation" r:id="rId19" imgW="1600200" imgH="482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697538"/>
                        <a:ext cx="28765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08" name="Text Box 40"/>
          <p:cNvSpPr txBox="1">
            <a:spLocks noChangeArrowheads="1"/>
          </p:cNvSpPr>
          <p:nvPr/>
        </p:nvSpPr>
        <p:spPr bwMode="auto">
          <a:xfrm>
            <a:off x="3132138" y="591343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</a:rPr>
              <a:t>et</a:t>
            </a:r>
          </a:p>
        </p:txBody>
      </p:sp>
      <p:sp>
        <p:nvSpPr>
          <p:cNvPr id="40" name="Rectangle à coins arrondis 39"/>
          <p:cNvSpPr/>
          <p:nvPr/>
        </p:nvSpPr>
        <p:spPr>
          <a:xfrm>
            <a:off x="7513068" y="2239963"/>
            <a:ext cx="1458466" cy="50482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Animationgeogebra</a:t>
            </a:r>
            <a:endParaRPr lang="fr-FR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DE652CB-7A80-4EBF-8331-0A2978F4DE84}" type="slidenum">
              <a:rPr lang="fr-FR" altLang="fr-FR" sz="1200"/>
              <a:pPr eaLnBrk="1" hangingPunct="1"/>
              <a:t>12</a:t>
            </a:fld>
            <a:endParaRPr lang="fr-FR" altLang="fr-FR" sz="1200" b="0"/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23850" y="225425"/>
            <a:ext cx="6596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cs typeface="Arial" panose="020B0604020202020204" pitchFamily="34" charset="0"/>
              </a:rPr>
              <a:t>Algorithme de la méthode du gradient conjugué</a:t>
            </a:r>
            <a:endParaRPr lang="fr-FR" altLang="fr-FR"/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9113" y="1216025"/>
            <a:ext cx="3841750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part d</a:t>
            </a:r>
            <a:r>
              <a:rPr lang="ja-JP" altLang="fr-FR" sz="1800"/>
              <a:t>’</a:t>
            </a:r>
            <a:r>
              <a:rPr lang="fr-FR" altLang="ja-JP" sz="1800"/>
              <a:t>un point x</a:t>
            </a:r>
            <a:r>
              <a:rPr lang="fr-FR" altLang="ja-JP" sz="1800" baseline="-25000"/>
              <a:t>0</a:t>
            </a:r>
            <a:r>
              <a:rPr lang="fr-FR" altLang="ja-JP" sz="1800"/>
              <a:t>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Initialisation pour k=0 :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Tant que 			</a:t>
            </a:r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Fin boucle</a:t>
            </a: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4341" name="Object 6"/>
          <p:cNvGraphicFramePr>
            <a:graphicFrameLocks noChangeAspect="1"/>
          </p:cNvGraphicFramePr>
          <p:nvPr/>
        </p:nvGraphicFramePr>
        <p:xfrm>
          <a:off x="2960688" y="1736725"/>
          <a:ext cx="8191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9" name="Equation" r:id="rId3" imgW="457200" imgH="228600" progId="Equation.DSMT4">
                  <p:embed/>
                </p:oleObj>
              </mc:Choice>
              <mc:Fallback>
                <p:oleObj name="Equation" r:id="rId3" imgW="4572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1736725"/>
                        <a:ext cx="8191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1655763" y="2241550"/>
          <a:ext cx="1762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0" name="Equation" r:id="rId5" imgW="977476" imgH="317362" progId="Equation.DSMT4">
                  <p:embed/>
                </p:oleObj>
              </mc:Choice>
              <mc:Fallback>
                <p:oleObj name="Equation" r:id="rId5" imgW="977476" imgH="31736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2241550"/>
                        <a:ext cx="17621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5"/>
          <p:cNvGraphicFramePr>
            <a:graphicFrameLocks noChangeAspect="1"/>
          </p:cNvGraphicFramePr>
          <p:nvPr/>
        </p:nvGraphicFramePr>
        <p:xfrm>
          <a:off x="1439863" y="2781300"/>
          <a:ext cx="27146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1" name="Equation" r:id="rId7" imgW="1511300" imgH="482600" progId="Equation.DSMT4">
                  <p:embed/>
                </p:oleObj>
              </mc:Choice>
              <mc:Fallback>
                <p:oleObj name="Equation" r:id="rId7" imgW="15113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781300"/>
                        <a:ext cx="27146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4"/>
          <p:cNvGraphicFramePr>
            <a:graphicFrameLocks noChangeAspect="1"/>
          </p:cNvGraphicFramePr>
          <p:nvPr/>
        </p:nvGraphicFramePr>
        <p:xfrm>
          <a:off x="5003800" y="2997200"/>
          <a:ext cx="19145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2" name="Equation" r:id="rId9" imgW="1066800" imgH="228600" progId="Equation.DSMT4">
                  <p:embed/>
                </p:oleObj>
              </mc:Choice>
              <mc:Fallback>
                <p:oleObj name="Equation" r:id="rId9" imgW="10668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997200"/>
                        <a:ext cx="19145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3"/>
          <p:cNvGraphicFramePr>
            <a:graphicFrameLocks noChangeAspect="1"/>
          </p:cNvGraphicFramePr>
          <p:nvPr/>
        </p:nvGraphicFramePr>
        <p:xfrm>
          <a:off x="1439863" y="3752850"/>
          <a:ext cx="1752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3" name="Equation" r:id="rId11" imgW="977900" imgH="228600" progId="Equation.DSMT4">
                  <p:embed/>
                </p:oleObj>
              </mc:Choice>
              <mc:Fallback>
                <p:oleObj name="Equation" r:id="rId11" imgW="9779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3752850"/>
                        <a:ext cx="17526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5008563" y="3500438"/>
          <a:ext cx="28765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4" name="Equation" r:id="rId13" imgW="1600200" imgH="482600" progId="Equation.DSMT4">
                  <p:embed/>
                </p:oleObj>
              </mc:Choice>
              <mc:Fallback>
                <p:oleObj name="Equation" r:id="rId13" imgW="1600200" imgH="482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3500438"/>
                        <a:ext cx="28765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1"/>
          <p:cNvGraphicFramePr>
            <a:graphicFrameLocks noChangeAspect="1"/>
          </p:cNvGraphicFramePr>
          <p:nvPr/>
        </p:nvGraphicFramePr>
        <p:xfrm>
          <a:off x="1439863" y="4257675"/>
          <a:ext cx="20288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5" name="Equation" r:id="rId15" imgW="1130300" imgH="228600" progId="Equation.DSMT4">
                  <p:embed/>
                </p:oleObj>
              </mc:Choice>
              <mc:Fallback>
                <p:oleObj name="Equation" r:id="rId15" imgW="11303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4257675"/>
                        <a:ext cx="20288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9" name="Object 10"/>
          <p:cNvGraphicFramePr>
            <a:graphicFrameLocks noChangeAspect="1"/>
          </p:cNvGraphicFramePr>
          <p:nvPr/>
        </p:nvGraphicFramePr>
        <p:xfrm>
          <a:off x="1476375" y="4868863"/>
          <a:ext cx="9810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6" name="Equation" r:id="rId17" imgW="545626" imgH="177646" progId="Equation.DSMT4">
                  <p:embed/>
                </p:oleObj>
              </mc:Choice>
              <mc:Fallback>
                <p:oleObj name="Equation" r:id="rId17" imgW="545626" imgH="17764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868863"/>
                        <a:ext cx="9810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9" name="Rectangle 17"/>
          <p:cNvSpPr>
            <a:spLocks noChangeArrowheads="1"/>
          </p:cNvSpPr>
          <p:nvPr/>
        </p:nvSpPr>
        <p:spPr bwMode="auto">
          <a:xfrm>
            <a:off x="0" y="2286000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  <a:cs typeface="Times New Roman" charset="0"/>
              </a:rPr>
              <a:t>	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0" name="Rectangle 18"/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1" name="Rectangle 19"/>
          <p:cNvSpPr>
            <a:spLocks noChangeArrowheads="1"/>
          </p:cNvSpPr>
          <p:nvPr/>
        </p:nvSpPr>
        <p:spPr bwMode="auto">
          <a:xfrm>
            <a:off x="0" y="3471863"/>
            <a:ext cx="1098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ＭＳ Ｐゴシック" charset="0"/>
                <a:cs typeface="Times New Roman" charset="0"/>
              </a:rPr>
              <a:t>	</a:t>
            </a: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2" name="Rectangle 20"/>
          <p:cNvSpPr>
            <a:spLocks noChangeArrowheads="1"/>
          </p:cNvSpPr>
          <p:nvPr/>
        </p:nvSpPr>
        <p:spPr bwMode="auto">
          <a:xfrm>
            <a:off x="0" y="4705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0" y="5114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4" name="AutoShape 22"/>
          <p:cNvSpPr>
            <a:spLocks noChangeArrowheads="1"/>
          </p:cNvSpPr>
          <p:nvPr/>
        </p:nvSpPr>
        <p:spPr bwMode="auto">
          <a:xfrm>
            <a:off x="4319588" y="3141663"/>
            <a:ext cx="539750" cy="179387"/>
          </a:xfrm>
          <a:prstGeom prst="rightArrow">
            <a:avLst>
              <a:gd name="adj1" fmla="val 50000"/>
              <a:gd name="adj2" fmla="val 752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59415" name="AutoShape 23"/>
          <p:cNvSpPr>
            <a:spLocks noChangeArrowheads="1"/>
          </p:cNvSpPr>
          <p:nvPr/>
        </p:nvSpPr>
        <p:spPr bwMode="auto">
          <a:xfrm>
            <a:off x="4319588" y="3860800"/>
            <a:ext cx="539750" cy="179388"/>
          </a:xfrm>
          <a:prstGeom prst="rightArrow">
            <a:avLst>
              <a:gd name="adj1" fmla="val 50000"/>
              <a:gd name="adj2" fmla="val 752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8FC3CB7-CD1C-4AD6-BF10-14759C526BD2}" type="slidenum">
              <a:rPr lang="fr-FR" altLang="fr-FR" sz="1200"/>
              <a:pPr eaLnBrk="1" hangingPunct="1"/>
              <a:t>13</a:t>
            </a:fld>
            <a:endParaRPr lang="fr-FR" altLang="fr-FR" sz="1200" b="0"/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0" y="369888"/>
            <a:ext cx="3997325" cy="648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360249" tIns="360249" rIns="360249" bIns="360249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systeme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a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resoudre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A=[2 0; 0 1];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b=[1 0]';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point de </a:t>
            </a:r>
            <a:r>
              <a:rPr lang="fr-FR" altLang="fr-FR" sz="1800" b="1" dirty="0" err="1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depart</a:t>
            </a:r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x0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x=[1 1]';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on efface les tableaux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clear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altLang="fr-FR" sz="1800" b="1" dirty="0" err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xn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altLang="fr-FR" sz="1800" b="1" dirty="0" err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yn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fr-FR" altLang="fr-FR" sz="1800" b="1" dirty="0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tolérance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tol</a:t>
            </a:r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=1e-6;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fr-FR" altLang="fr-FR" sz="18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initialisation 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r=b-A*x;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p=r;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k</a:t>
            </a:r>
            <a:r>
              <a:rPr lang="pt-B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=1</a:t>
            </a:r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xn(k)=</a:t>
            </a:r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x(1);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yn(k)=</a:t>
            </a:r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x(2);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en(k)=</a:t>
            </a:r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0.5*x'*A*x-x'*b;</a:t>
            </a:r>
            <a:endParaRPr lang="en-US" altLang="fr-FR" sz="1800" dirty="0">
              <a:ea typeface="Times New Roman" panose="02020603050405020304" pitchFamily="18" charset="0"/>
            </a:endParaRPr>
          </a:p>
          <a:p>
            <a:r>
              <a:rPr lang="pt-BR" altLang="fr-FR" sz="18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altLang="fr-FR" sz="1800" dirty="0">
              <a:ea typeface="Times New Roman" panose="02020603050405020304" pitchFamily="18" charset="0"/>
            </a:endParaRP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158750" y="63500"/>
            <a:ext cx="7831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Programme 2 : méthode du gradient conjugué en matlab</a:t>
            </a: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3816350" y="733425"/>
            <a:ext cx="5351463" cy="613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pt-BR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processus de minimisation </a:t>
            </a:r>
            <a:r>
              <a:rPr lang="pt-BR" sz="1600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A COMPLETER</a:t>
            </a:r>
            <a:endParaRPr lang="en-US" sz="1600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r>
              <a:rPr lang="nl-NL" b="1" dirty="0" err="1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while</a:t>
            </a:r>
            <a:r>
              <a:rPr lang="nl-NL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(norm(r)/norm(b) &gt; tol)</a:t>
            </a: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r>
              <a:rPr lang="en-GB" b="1" dirty="0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end</a:t>
            </a:r>
            <a:r>
              <a:rPr lang="en-GB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   </a:t>
            </a:r>
            <a:endParaRPr lang="en-US" dirty="0">
              <a:latin typeface="Arial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r>
              <a:rPr lang="en-GB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r>
              <a:rPr lang="fr-FR" b="1" dirty="0" err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disp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([</a:t>
            </a:r>
            <a:r>
              <a:rPr lang="fr-FR" b="1" dirty="0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'nombre d''</a:t>
            </a:r>
            <a:r>
              <a:rPr lang="fr-FR" b="1" dirty="0" err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iterations</a:t>
            </a:r>
            <a:r>
              <a:rPr lang="fr-FR" b="1" dirty="0">
                <a:solidFill>
                  <a:srgbClr val="A020F0"/>
                </a:solidFill>
                <a:latin typeface="Arial" charset="0"/>
                <a:ea typeface="Times New Roman" charset="0"/>
                <a:cs typeface="Courier New" charset="0"/>
              </a:rPr>
              <a:t>' </a:t>
            </a:r>
            <a:endParaRPr lang="fr-FR" b="1" dirty="0">
              <a:solidFill>
                <a:srgbClr val="A020F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 eaLnBrk="0" hangingPunct="0">
              <a:defRPr/>
            </a:pPr>
            <a:r>
              <a:rPr lang="fr-F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</a:t>
            </a:r>
            <a:r>
              <a:rPr lang="fr-FR" b="1" dirty="0" smtClean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num2str(k-1</a:t>
            </a:r>
            <a:r>
              <a:rPr lang="fr-FR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)]);</a:t>
            </a:r>
          </a:p>
          <a:p>
            <a:pPr>
              <a:defRPr/>
            </a:pPr>
            <a:endParaRPr lang="fr-FR" dirty="0">
              <a:latin typeface="Arial" charset="0"/>
              <a:ea typeface="Times New Roman" charset="0"/>
              <a:cs typeface="Courier Ne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0F19843-10AD-4A88-B965-10F15608CE42}" type="slidenum">
              <a:rPr lang="fr-FR" altLang="fr-FR" sz="1200"/>
              <a:pPr eaLnBrk="1" hangingPunct="1"/>
              <a:t>14</a:t>
            </a:fld>
            <a:endParaRPr lang="fr-FR" altLang="fr-FR" sz="1200" b="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981075" y="260350"/>
            <a:ext cx="6370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Gradient plus forte pente /  Gradient conjugué</a:t>
            </a:r>
          </a:p>
        </p:txBody>
      </p:sp>
      <p:pic>
        <p:nvPicPr>
          <p:cNvPr id="16387" name="Picture 5" descr="gc-erreur_ni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2097088"/>
            <a:ext cx="3313112" cy="248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6" descr="gpfp-erreur_ni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1916113"/>
            <a:ext cx="3636962" cy="272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1008063" y="4868863"/>
            <a:ext cx="280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Nombre d</a:t>
            </a:r>
            <a:r>
              <a:rPr lang="ja-JP" altLang="fr-FR" sz="1800" b="1"/>
              <a:t>’</a:t>
            </a:r>
            <a:r>
              <a:rPr lang="fr-FR" altLang="ja-JP" sz="1800" b="1"/>
              <a:t>itérations : 14</a:t>
            </a:r>
            <a:endParaRPr lang="fr-FR" altLang="fr-FR" sz="1800" b="1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5256213" y="4868863"/>
            <a:ext cx="2673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Nombre d</a:t>
            </a:r>
            <a:r>
              <a:rPr lang="ja-JP" altLang="fr-FR" sz="1800" b="1"/>
              <a:t>’</a:t>
            </a:r>
            <a:r>
              <a:rPr lang="fr-FR" altLang="ja-JP" sz="1800" b="1"/>
              <a:t>itérations : 3</a:t>
            </a:r>
            <a:endParaRPr lang="fr-FR" altLang="fr-FR" sz="1800" b="1"/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3635375" y="1557338"/>
            <a:ext cx="1855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Tolérance : 10</a:t>
            </a:r>
            <a:r>
              <a:rPr lang="fr-FR" altLang="fr-FR" sz="1800" b="1" baseline="30000"/>
              <a:t>-6</a:t>
            </a:r>
          </a:p>
        </p:txBody>
      </p:sp>
      <p:graphicFrame>
        <p:nvGraphicFramePr>
          <p:cNvPr id="16392" name="Object 10"/>
          <p:cNvGraphicFramePr>
            <a:graphicFrameLocks noChangeAspect="1"/>
          </p:cNvGraphicFramePr>
          <p:nvPr/>
        </p:nvGraphicFramePr>
        <p:xfrm>
          <a:off x="2987675" y="765175"/>
          <a:ext cx="284321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name="Equation" r:id="rId5" imgW="1917700" imgH="457200" progId="Equation.DSMT4">
                  <p:embed/>
                </p:oleObj>
              </mc:Choice>
              <mc:Fallback>
                <p:oleObj name="Equation" r:id="rId5" imgW="19177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765175"/>
                        <a:ext cx="284321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D8BFFE7-3DAE-433C-8B57-D8E580A9BA99}" type="slidenum">
              <a:rPr lang="fr-FR" altLang="fr-FR" sz="1200"/>
              <a:pPr eaLnBrk="1" hangingPunct="1"/>
              <a:t>15</a:t>
            </a:fld>
            <a:endParaRPr lang="fr-FR" altLang="fr-FR" sz="1200" b="0"/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11188" y="1520825"/>
            <a:ext cx="7573962" cy="343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152352" rIns="0" bIns="38088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1800"/>
              <a:t>La méthode du gradient conjugué est bien adaptée pour résoudre des systèmes d</a:t>
            </a:r>
            <a:r>
              <a:rPr lang="ja-JP" altLang="fr-FR" sz="1800"/>
              <a:t>’</a:t>
            </a:r>
            <a:r>
              <a:rPr lang="fr-FR" altLang="ja-JP" sz="1800"/>
              <a:t>équations linéaires où la matrice associée A, obligatoirement symétrique définie positive, contient peu d</a:t>
            </a:r>
            <a:r>
              <a:rPr lang="ja-JP" altLang="fr-FR" sz="1800"/>
              <a:t>’</a:t>
            </a:r>
            <a:r>
              <a:rPr lang="fr-FR" altLang="ja-JP" sz="1800"/>
              <a:t>éléments. On dit qu</a:t>
            </a:r>
            <a:r>
              <a:rPr lang="ja-JP" altLang="fr-FR" sz="1800"/>
              <a:t>’</a:t>
            </a:r>
            <a:r>
              <a:rPr lang="fr-FR" altLang="ja-JP" sz="1800"/>
              <a:t>elle est creuse.</a:t>
            </a:r>
          </a:p>
          <a:p>
            <a:pPr algn="just" eaLnBrk="1" hangingPunct="1"/>
            <a:endParaRPr lang="fr-FR" altLang="fr-FR" sz="1800"/>
          </a:p>
          <a:p>
            <a:pPr algn="just" eaLnBrk="1" hangingPunct="1"/>
            <a:endParaRPr lang="fr-FR" altLang="fr-FR" sz="1800"/>
          </a:p>
          <a:p>
            <a:pPr algn="just" eaLnBrk="1" hangingPunct="1">
              <a:buFontTx/>
              <a:buAutoNum type="arabicPeriod"/>
            </a:pPr>
            <a:r>
              <a:rPr lang="fr-FR" altLang="fr-FR" sz="1800"/>
              <a:t>Créer une matrice creuse définie positive</a:t>
            </a:r>
          </a:p>
          <a:p>
            <a:pPr algn="just" eaLnBrk="1" hangingPunct="1">
              <a:buFontTx/>
              <a:buAutoNum type="arabicPeriod"/>
            </a:pPr>
            <a:endParaRPr lang="fr-FR" altLang="fr-FR" sz="1800"/>
          </a:p>
          <a:p>
            <a:pPr algn="just" eaLnBrk="1" hangingPunct="1">
              <a:buFontTx/>
              <a:buAutoNum type="arabicPeriod"/>
            </a:pPr>
            <a:r>
              <a:rPr lang="fr-FR" altLang="fr-FR" sz="1800"/>
              <a:t>Tester votre programme avec cette matrice</a:t>
            </a:r>
          </a:p>
          <a:p>
            <a:pPr algn="just" eaLnBrk="1" hangingPunct="1">
              <a:buFontTx/>
              <a:buAutoNum type="arabicPeriod"/>
            </a:pPr>
            <a:endParaRPr lang="fr-FR" altLang="fr-FR" sz="1800"/>
          </a:p>
          <a:p>
            <a:pPr algn="just" eaLnBrk="1" hangingPunct="1">
              <a:buFontTx/>
              <a:buAutoNum type="arabicPeriod"/>
            </a:pPr>
            <a:r>
              <a:rPr lang="fr-FR" altLang="fr-FR" sz="1800"/>
              <a:t>Tracer l</a:t>
            </a:r>
            <a:r>
              <a:rPr lang="ja-JP" altLang="fr-FR" sz="1800"/>
              <a:t>’</a:t>
            </a:r>
            <a:r>
              <a:rPr lang="fr-FR" altLang="ja-JP" sz="1800"/>
              <a:t>évolution de l</a:t>
            </a:r>
            <a:r>
              <a:rPr lang="ja-JP" altLang="fr-FR" sz="1800"/>
              <a:t>’</a:t>
            </a:r>
            <a:r>
              <a:rPr lang="fr-FR" altLang="ja-JP" sz="1800"/>
              <a:t>erreur en fonction du numéro de l</a:t>
            </a:r>
            <a:r>
              <a:rPr lang="ja-JP" altLang="fr-FR" sz="1800"/>
              <a:t>’</a:t>
            </a:r>
            <a:r>
              <a:rPr lang="fr-FR" altLang="ja-JP" sz="1800"/>
              <a:t>itération – </a:t>
            </a:r>
            <a:endParaRPr lang="fr-FR" altLang="fr-FR" sz="1800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47700" y="188913"/>
            <a:ext cx="79930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/>
              <a:t>Méthode du gradient conjugué </a:t>
            </a:r>
          </a:p>
          <a:p>
            <a:pPr algn="ctr" eaLnBrk="1" hangingPunct="1"/>
            <a:r>
              <a:rPr lang="fr-FR" altLang="fr-FR"/>
              <a:t>sur des systèmes de grande taille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BD8A-A8A6-4700-A27D-0FB9B67ACBC4}" type="slidenum">
              <a:rPr lang="fr-FR" altLang="fr-FR" smtClean="0"/>
              <a:pPr/>
              <a:t>16</a:t>
            </a:fld>
            <a:endParaRPr lang="fr-FR" altLang="fr-FR" b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647700" y="188913"/>
            <a:ext cx="799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dirty="0"/>
              <a:t>M</a:t>
            </a:r>
            <a:r>
              <a:rPr lang="fr-FR" altLang="fr-FR" dirty="0" smtClean="0"/>
              <a:t>atrice réelle </a:t>
            </a:r>
            <a:r>
              <a:rPr lang="fr-FR" altLang="fr-FR" dirty="0" err="1" smtClean="0"/>
              <a:t>sym</a:t>
            </a:r>
            <a:r>
              <a:rPr lang="fr-FR" altLang="fr-FR" dirty="0" smtClean="0"/>
              <a:t> définie positive</a:t>
            </a:r>
            <a:endParaRPr lang="fr-FR" alt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431540" y="728700"/>
            <a:ext cx="7849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But : définir une condition suffisante pour qu’une matrice A soit </a:t>
            </a:r>
            <a:r>
              <a:rPr lang="fr-FR" dirty="0" err="1" smtClean="0"/>
              <a:t>déf</a:t>
            </a:r>
            <a:r>
              <a:rPr lang="fr-FR" dirty="0" smtClean="0"/>
              <a:t>. positive</a:t>
            </a:r>
          </a:p>
          <a:p>
            <a:r>
              <a:rPr lang="fr-FR" dirty="0" smtClean="0"/>
              <a:t>Toutes les valeurs propres sont strictement positives</a:t>
            </a:r>
            <a:endParaRPr lang="fr-FR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899363"/>
              </p:ext>
            </p:extLst>
          </p:nvPr>
        </p:nvGraphicFramePr>
        <p:xfrm>
          <a:off x="1454150" y="1299418"/>
          <a:ext cx="53355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6" name="Equation" r:id="rId3" imgW="2273040" imgH="355320" progId="Equation.DSMT4">
                  <p:embed/>
                </p:oleObj>
              </mc:Choice>
              <mc:Fallback>
                <p:oleObj name="Equation" r:id="rId3" imgW="2273040" imgH="355320" progId="Equation.DSMT4">
                  <p:embed/>
                  <p:pic>
                    <p:nvPicPr>
                      <p:cNvPr id="5" name="Obje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4150" y="1299418"/>
                        <a:ext cx="5335588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7164288" y="1443521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</a:t>
            </a:r>
            <a:r>
              <a:rPr lang="fr-FR" dirty="0" smtClean="0"/>
              <a:t>our tout i</a:t>
            </a:r>
            <a:endParaRPr lang="fr-FR" dirty="0"/>
          </a:p>
        </p:txBody>
      </p:sp>
      <p:grpSp>
        <p:nvGrpSpPr>
          <p:cNvPr id="12" name="Groupe 11"/>
          <p:cNvGrpSpPr/>
          <p:nvPr/>
        </p:nvGrpSpPr>
        <p:grpSpPr>
          <a:xfrm>
            <a:off x="431540" y="2025348"/>
            <a:ext cx="7237879" cy="657225"/>
            <a:chOff x="575556" y="2024844"/>
            <a:chExt cx="7237879" cy="657225"/>
          </a:xfrm>
        </p:grpSpPr>
        <p:sp>
          <p:nvSpPr>
            <p:cNvPr id="8" name="ZoneTexte 7"/>
            <p:cNvSpPr txBox="1"/>
            <p:nvPr/>
          </p:nvSpPr>
          <p:spPr>
            <a:xfrm>
              <a:off x="575556" y="2182212"/>
              <a:ext cx="7237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On choisit maintenant un i particulier tel que                       pour tout j </a:t>
              </a:r>
              <a:endParaRPr lang="fr-FR" dirty="0"/>
            </a:p>
          </p:txBody>
        </p:sp>
        <p:graphicFrame>
          <p:nvGraphicFramePr>
            <p:cNvPr id="9" name="Obje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3990806"/>
                </p:ext>
              </p:extLst>
            </p:nvPr>
          </p:nvGraphicFramePr>
          <p:xfrm>
            <a:off x="5227675" y="2024844"/>
            <a:ext cx="1252537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7" name="Equation" r:id="rId5" imgW="533160" imgH="279360" progId="Equation.DSMT4">
                    <p:embed/>
                  </p:oleObj>
                </mc:Choice>
                <mc:Fallback>
                  <p:oleObj name="Equation" r:id="rId5" imgW="533160" imgH="279360" progId="Equation.DSMT4">
                    <p:embed/>
                    <p:pic>
                      <p:nvPicPr>
                        <p:cNvPr id="5" name="Objet 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27675" y="2024844"/>
                          <a:ext cx="1252537" cy="6572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045391"/>
              </p:ext>
            </p:extLst>
          </p:nvPr>
        </p:nvGraphicFramePr>
        <p:xfrm>
          <a:off x="592138" y="2633782"/>
          <a:ext cx="8048625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Equation" r:id="rId7" imgW="3429000" imgH="482400" progId="Equation.DSMT4">
                  <p:embed/>
                </p:oleObj>
              </mc:Choice>
              <mc:Fallback>
                <p:oleObj name="Equation" r:id="rId7" imgW="3429000" imgH="482400" progId="Equation.DSMT4">
                  <p:embed/>
                  <p:pic>
                    <p:nvPicPr>
                      <p:cNvPr id="10" name="Objet 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2138" y="2633782"/>
                        <a:ext cx="8048625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817051"/>
              </p:ext>
            </p:extLst>
          </p:nvPr>
        </p:nvGraphicFramePr>
        <p:xfrm>
          <a:off x="2369789" y="4442468"/>
          <a:ext cx="426085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Equation" r:id="rId9" imgW="1815840" imgH="368280" progId="Equation.DSMT4">
                  <p:embed/>
                </p:oleObj>
              </mc:Choice>
              <mc:Fallback>
                <p:oleObj name="Equation" r:id="rId9" imgW="1815840" imgH="368280" progId="Equation.DSMT4">
                  <p:embed/>
                  <p:pic>
                    <p:nvPicPr>
                      <p:cNvPr id="13" name="Objet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69789" y="4442468"/>
                        <a:ext cx="4260850" cy="865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ZoneTexte 14"/>
          <p:cNvSpPr txBox="1"/>
          <p:nvPr/>
        </p:nvSpPr>
        <p:spPr>
          <a:xfrm>
            <a:off x="440726" y="3978992"/>
            <a:ext cx="532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On en déduit un encadrement des valeurs propres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440726" y="5327920"/>
            <a:ext cx="840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Une condition suffisante pour que les valeurs propres soient positives strictement</a:t>
            </a:r>
            <a:endParaRPr lang="fr-FR" dirty="0"/>
          </a:p>
        </p:txBody>
      </p:sp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506775"/>
              </p:ext>
            </p:extLst>
          </p:nvPr>
        </p:nvGraphicFramePr>
        <p:xfrm>
          <a:off x="1674813" y="5841268"/>
          <a:ext cx="536257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Equation" r:id="rId11" imgW="2286000" imgH="368280" progId="Equation.DSMT4">
                  <p:embed/>
                </p:oleObj>
              </mc:Choice>
              <mc:Fallback>
                <p:oleObj name="Equation" r:id="rId11" imgW="2286000" imgH="368280" progId="Equation.DSMT4">
                  <p:embed/>
                  <p:pic>
                    <p:nvPicPr>
                      <p:cNvPr id="14" name="Objet 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74813" y="5841268"/>
                        <a:ext cx="5362575" cy="86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à coins arrondis 17"/>
          <p:cNvSpPr/>
          <p:nvPr/>
        </p:nvSpPr>
        <p:spPr>
          <a:xfrm>
            <a:off x="5040052" y="2885877"/>
            <a:ext cx="489633" cy="684076"/>
          </a:xfrm>
          <a:prstGeom prst="roundRect">
            <a:avLst/>
          </a:prstGeom>
          <a:solidFill>
            <a:srgbClr val="FFC000">
              <a:alpha val="45098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à coins arrondis 18"/>
          <p:cNvSpPr/>
          <p:nvPr/>
        </p:nvSpPr>
        <p:spPr>
          <a:xfrm>
            <a:off x="1674813" y="2858590"/>
            <a:ext cx="489633" cy="684076"/>
          </a:xfrm>
          <a:prstGeom prst="roundRect">
            <a:avLst/>
          </a:prstGeom>
          <a:solidFill>
            <a:srgbClr val="FFC000">
              <a:alpha val="45098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03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C910E27-A76B-4F25-946D-56FBDF6BA1D7}" type="slidenum">
              <a:rPr lang="fr-FR" altLang="fr-FR" sz="1200"/>
              <a:pPr eaLnBrk="1" hangingPunct="1"/>
              <a:t>17</a:t>
            </a:fld>
            <a:endParaRPr lang="fr-FR" altLang="fr-FR" sz="1200" b="0"/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576263" y="541338"/>
            <a:ext cx="8129587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random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 avec la </a:t>
            </a:r>
            <a:r>
              <a:rPr lang="fr-FR" sz="1600" b="1" dirty="0" err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meme</a:t>
            </a:r>
            <a:r>
              <a:rPr lang="fr-FR" sz="1600" b="1" dirty="0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 graine</a:t>
            </a:r>
            <a:endParaRPr lang="fr-FR" sz="1600" b="1" dirty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rand (</a:t>
            </a:r>
            <a:r>
              <a:rPr lang="fr-FR" sz="1600" b="1" dirty="0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'seed'</a:t>
            </a:r>
            <a:r>
              <a:rPr lang="fr-FR" sz="1600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,12563);</a:t>
            </a:r>
            <a:endParaRPr lang="en-GB" sz="1600" b="1" dirty="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en-GB" sz="1600" b="1" dirty="0" err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randn</a:t>
            </a:r>
            <a:r>
              <a:rPr lang="en-GB" sz="1600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(</a:t>
            </a:r>
            <a:r>
              <a:rPr lang="en-GB" sz="1600" b="1" dirty="0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'seed'</a:t>
            </a:r>
            <a:r>
              <a:rPr lang="en-GB" sz="1600" b="1" dirty="0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,12563);</a:t>
            </a:r>
          </a:p>
          <a:p>
            <a:pPr>
              <a:defRPr/>
            </a:pPr>
            <a:endParaRPr lang="fr-FR" sz="1600" b="1" dirty="0">
              <a:solidFill>
                <a:srgbClr val="008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taille du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systeme</a:t>
            </a:r>
            <a:endParaRPr lang="fr-FR" sz="1600" b="1" dirty="0">
              <a:solidFill>
                <a:srgbClr val="008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N=400;</a:t>
            </a: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density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=0.01;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A = 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sprandn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N,N,density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); </a:t>
            </a: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A matrice creuse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aleatoire</a:t>
            </a:r>
            <a:endParaRPr lang="fr-FR" sz="1600" b="1" dirty="0">
              <a:solidFill>
                <a:srgbClr val="008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endParaRPr lang="fr-FR" sz="1600" b="1" dirty="0">
              <a:solidFill>
                <a:srgbClr val="008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pour rendre A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symetrique</a:t>
            </a:r>
            <a:endParaRPr lang="fr-FR" sz="1600" b="1" dirty="0">
              <a:solidFill>
                <a:srgbClr val="008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A=0.5*(A+A');  </a:t>
            </a:r>
          </a:p>
          <a:p>
            <a:pPr>
              <a:defRPr/>
            </a:pPr>
            <a:endParaRPr lang="fr-FR" sz="1600" b="1" dirty="0"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HACK pour rendre A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definie</a:t>
            </a: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 positive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D=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sum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(abs(A(:,1:N)));</a:t>
            </a:r>
          </a:p>
          <a:p>
            <a:pPr>
              <a:defRPr/>
            </a:pPr>
            <a:r>
              <a:rPr lang="fr-FR" b="1" dirty="0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for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i=1:N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   A(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i,i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)=D(i)-A(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i,i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);</a:t>
            </a:r>
          </a:p>
          <a:p>
            <a:pPr>
              <a:defRPr/>
            </a:pPr>
            <a:r>
              <a:rPr lang="fr-FR" b="1" dirty="0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end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;</a:t>
            </a:r>
          </a:p>
          <a:p>
            <a:pPr>
              <a:defRPr/>
            </a:pPr>
            <a:endParaRPr lang="fr-FR" sz="1600" b="1" dirty="0">
              <a:latin typeface="Courier New" charset="0"/>
              <a:ea typeface="Times New Roman" charset="0"/>
              <a:cs typeface="Courier New" charset="0"/>
            </a:endParaRP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disp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(['nb d''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elts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non nuls ' num2str(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nnz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(A))]);</a:t>
            </a: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disp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(['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condionnement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 de A '  num2str(max(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eig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(A))/min(</a:t>
            </a:r>
            <a:r>
              <a:rPr lang="fr-FR" sz="1600" b="1" dirty="0" err="1">
                <a:latin typeface="Courier New" charset="0"/>
                <a:ea typeface="Times New Roman" charset="0"/>
                <a:cs typeface="Courier New" charset="0"/>
              </a:rPr>
              <a:t>eig</a:t>
            </a: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(A)))]);</a:t>
            </a: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construction de b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b=rand(N, 1);</a:t>
            </a: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% point de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depart</a:t>
            </a: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Times New Roman" charset="0"/>
                <a:cs typeface="Courier New" charset="0"/>
              </a:rPr>
              <a:t> x0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Times New Roman" charset="0"/>
                <a:cs typeface="Courier New" charset="0"/>
              </a:rPr>
              <a:t>x=rand(N, 1);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47700" y="188913"/>
            <a:ext cx="799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dirty="0"/>
              <a:t>Création de la matrice creuse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812F508-661C-48EB-A5A9-47971F271EBC}" type="slidenum">
              <a:rPr lang="fr-FR" altLang="fr-FR" sz="1200"/>
              <a:pPr eaLnBrk="1" hangingPunct="1"/>
              <a:t>18</a:t>
            </a:fld>
            <a:endParaRPr lang="fr-FR" altLang="fr-FR" sz="1200" b="0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395288" y="44450"/>
            <a:ext cx="79930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/>
              <a:t>Méthode du gradient conjugué </a:t>
            </a:r>
          </a:p>
          <a:p>
            <a:pPr algn="ctr" eaLnBrk="1" hangingPunct="1"/>
            <a:r>
              <a:rPr lang="fr-FR" altLang="fr-FR"/>
              <a:t>sur des systèmes de grande taille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903288" y="925226"/>
            <a:ext cx="5862502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% initialisation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residu</a:t>
            </a: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 et direction 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r=b-A*x;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p=r;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k</a:t>
            </a:r>
            <a:r>
              <a:rPr lang="fr-FR" sz="1600" b="1" dirty="0" smtClean="0">
                <a:latin typeface="Courier New" charset="0"/>
                <a:ea typeface="ＭＳ Ｐゴシック" charset="0"/>
              </a:rPr>
              <a:t>=1</a:t>
            </a:r>
            <a:r>
              <a:rPr lang="fr-FR" sz="1600" b="1" dirty="0">
                <a:latin typeface="Courier New" charset="0"/>
                <a:ea typeface="ＭＳ Ｐゴシック" charset="0"/>
              </a:rPr>
              <a:t>;</a:t>
            </a:r>
          </a:p>
          <a:p>
            <a:pPr>
              <a:defRPr/>
            </a:pPr>
            <a:r>
              <a:rPr lang="fr-FR" sz="1600" b="1" dirty="0" smtClean="0">
                <a:latin typeface="Courier New" charset="0"/>
                <a:ea typeface="ＭＳ Ｐゴシック" charset="0"/>
              </a:rPr>
              <a:t>erreur(k)= 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(r)/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(b);</a:t>
            </a:r>
          </a:p>
          <a:p>
            <a:pPr>
              <a:defRPr/>
            </a:pPr>
            <a:endParaRPr lang="fr-FR" sz="1600" b="1" dirty="0"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% processus de minimisation</a:t>
            </a:r>
          </a:p>
          <a:p>
            <a:pPr>
              <a:defRPr/>
            </a:pPr>
            <a:r>
              <a:rPr lang="fr-FR" sz="1600" b="1" dirty="0" err="1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while</a:t>
            </a:r>
            <a:r>
              <a:rPr lang="fr-FR" sz="1600" b="1" dirty="0">
                <a:latin typeface="Courier New" charset="0"/>
                <a:ea typeface="ＭＳ Ｐゴシック" charset="0"/>
              </a:rPr>
              <a:t> (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(r)/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(b) &gt; 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tol</a:t>
            </a:r>
            <a:r>
              <a:rPr lang="fr-FR" sz="1600" b="1" dirty="0">
                <a:latin typeface="Courier New" charset="0"/>
                <a:ea typeface="ＭＳ Ｐゴシック" charset="0"/>
              </a:rPr>
              <a:t>)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    </a:t>
            </a:r>
            <a:r>
              <a:rPr lang="pt-BR" sz="1600" b="1" dirty="0">
                <a:latin typeface="Courier New" charset="0"/>
                <a:ea typeface="ＭＳ Ｐゴシック" charset="0"/>
              </a:rPr>
              <a:t>alpha=p'*r/(p'*A*p);</a:t>
            </a:r>
          </a:p>
          <a:p>
            <a:pPr>
              <a:defRPr/>
            </a:pPr>
            <a:r>
              <a:rPr lang="pt-BR" sz="1600" b="1" dirty="0">
                <a:latin typeface="Courier New" charset="0"/>
                <a:ea typeface="ＭＳ Ｐゴシック" charset="0"/>
              </a:rPr>
              <a:t>    x=x+alpha*p;</a:t>
            </a:r>
          </a:p>
          <a:p>
            <a:pPr>
              <a:defRPr/>
            </a:pPr>
            <a:r>
              <a:rPr lang="pt-BR" sz="1600" b="1" dirty="0">
                <a:latin typeface="Courier New" charset="0"/>
                <a:ea typeface="ＭＳ Ｐゴシック" charset="0"/>
              </a:rPr>
              <a:t>    r=b-A*x;</a:t>
            </a:r>
          </a:p>
          <a:p>
            <a:pPr>
              <a:defRPr/>
            </a:pPr>
            <a:r>
              <a:rPr lang="pt-BR" sz="1600" b="1" dirty="0">
                <a:latin typeface="Courier New" charset="0"/>
                <a:ea typeface="ＭＳ Ｐゴシック" charset="0"/>
              </a:rPr>
              <a:t>    beta=-r'*A*p/(p'*A*p);</a:t>
            </a:r>
          </a:p>
          <a:p>
            <a:pPr>
              <a:defRPr/>
            </a:pPr>
            <a:r>
              <a:rPr lang="pt-BR" sz="1600" b="1" dirty="0">
                <a:latin typeface="Courier New" charset="0"/>
                <a:ea typeface="ＭＳ Ｐゴシック" charset="0"/>
              </a:rPr>
              <a:t>    p=r+beta*p;</a:t>
            </a:r>
            <a:r>
              <a:rPr lang="fr-FR" sz="1600" b="1" dirty="0">
                <a:latin typeface="Courier New" charset="0"/>
                <a:ea typeface="ＭＳ Ｐゴシック" charset="0"/>
              </a:rPr>
              <a:t> 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 smtClean="0">
                <a:latin typeface="Courier New" charset="0"/>
                <a:ea typeface="ＭＳ Ｐゴシック" charset="0"/>
              </a:rPr>
              <a:t>k=k+1</a:t>
            </a:r>
            <a:r>
              <a:rPr lang="fr-FR" sz="1600" b="1" dirty="0">
                <a:latin typeface="Courier New" charset="0"/>
                <a:ea typeface="ＭＳ Ｐゴシック" charset="0"/>
              </a:rPr>
              <a:t>;</a:t>
            </a:r>
          </a:p>
          <a:p>
            <a:pPr>
              <a:defRPr/>
            </a:pPr>
            <a:r>
              <a:rPr lang="fr-FR" sz="1600" b="1" dirty="0">
                <a:latin typeface="Courier New" charset="0"/>
                <a:ea typeface="ＭＳ Ｐゴシック" charset="0"/>
              </a:rPr>
              <a:t>    </a:t>
            </a:r>
            <a:r>
              <a:rPr lang="fr-FR" sz="1600" b="1" dirty="0" smtClean="0">
                <a:latin typeface="Courier New" charset="0"/>
                <a:ea typeface="ＭＳ Ｐゴシック" charset="0"/>
              </a:rPr>
              <a:t>erreur(k)= 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(r)/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norm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(b);</a:t>
            </a:r>
          </a:p>
          <a:p>
            <a:pPr>
              <a:defRPr/>
            </a:pPr>
            <a:r>
              <a:rPr lang="fr-FR" sz="1600" b="1" dirty="0">
                <a:solidFill>
                  <a:srgbClr val="0000FF"/>
                </a:solidFill>
                <a:latin typeface="Courier New" charset="0"/>
                <a:ea typeface="ＭＳ Ｐゴシック" charset="0"/>
              </a:rPr>
              <a:t>end</a:t>
            </a:r>
            <a:r>
              <a:rPr lang="fr-FR" sz="1600" b="1" dirty="0">
                <a:latin typeface="Courier New" charset="0"/>
                <a:ea typeface="ＭＳ Ｐゴシック" charset="0"/>
              </a:rPr>
              <a:t>;   </a:t>
            </a:r>
          </a:p>
          <a:p>
            <a:pPr>
              <a:defRPr/>
            </a:pPr>
            <a:endParaRPr lang="fr-FR" sz="1600" b="1" dirty="0"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ＭＳ Ｐゴシック" charset="0"/>
              </a:rPr>
              <a:t>disp</a:t>
            </a:r>
            <a:r>
              <a:rPr lang="fr-FR" sz="1600" b="1" dirty="0">
                <a:latin typeface="Courier New" charset="0"/>
                <a:ea typeface="ＭＳ Ｐゴシック" charset="0"/>
              </a:rPr>
              <a:t> (['nombre d''</a:t>
            </a:r>
            <a:r>
              <a:rPr lang="fr-FR" sz="1600" b="1" dirty="0" err="1">
                <a:latin typeface="Courier New" charset="0"/>
                <a:ea typeface="ＭＳ Ｐゴシック" charset="0"/>
              </a:rPr>
              <a:t>iterations</a:t>
            </a:r>
            <a:r>
              <a:rPr lang="fr-FR" sz="1600" b="1" dirty="0">
                <a:latin typeface="Courier New" charset="0"/>
                <a:ea typeface="ＭＳ Ｐゴシック" charset="0"/>
              </a:rPr>
              <a:t>'  </a:t>
            </a:r>
            <a:r>
              <a:rPr lang="fr-FR" sz="1600" b="1" dirty="0" smtClean="0">
                <a:latin typeface="Courier New" charset="0"/>
                <a:ea typeface="ＭＳ Ｐゴシック" charset="0"/>
              </a:rPr>
              <a:t>num2str(k-1)]);</a:t>
            </a:r>
            <a:endParaRPr lang="fr-FR" sz="1600" b="1" dirty="0">
              <a:latin typeface="Courier New" charset="0"/>
              <a:ea typeface="ＭＳ Ｐゴシック" charset="0"/>
            </a:endParaRPr>
          </a:p>
          <a:p>
            <a:pPr>
              <a:defRPr/>
            </a:pPr>
            <a:endParaRPr lang="fr-FR" sz="1600" b="1" dirty="0">
              <a:latin typeface="Courier New" charset="0"/>
              <a:ea typeface="ＭＳ Ｐゴシック" charset="0"/>
            </a:endParaRPr>
          </a:p>
          <a:p>
            <a:pPr>
              <a:defRPr/>
            </a:pP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% trace en </a:t>
            </a:r>
            <a:r>
              <a:rPr lang="fr-FR" sz="1600" b="1" dirty="0" err="1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echelle</a:t>
            </a:r>
            <a:r>
              <a:rPr lang="fr-FR" sz="1600" b="1" dirty="0">
                <a:solidFill>
                  <a:srgbClr val="008000"/>
                </a:solidFill>
                <a:latin typeface="Courier New" charset="0"/>
                <a:ea typeface="ＭＳ Ｐゴシック" charset="0"/>
              </a:rPr>
              <a:t> log10</a:t>
            </a: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ＭＳ Ｐゴシック" charset="0"/>
              </a:rPr>
              <a:t>semilogy</a:t>
            </a:r>
            <a:r>
              <a:rPr lang="fr-FR" sz="1600" b="1" dirty="0">
                <a:latin typeface="Courier New" charset="0"/>
                <a:ea typeface="ＭＳ Ｐゴシック" charset="0"/>
              </a:rPr>
              <a:t>(erreur);</a:t>
            </a:r>
          </a:p>
          <a:p>
            <a:pPr>
              <a:defRPr/>
            </a:pPr>
            <a:r>
              <a:rPr lang="fr-FR" sz="1600" b="1" dirty="0" err="1">
                <a:latin typeface="Courier New" charset="0"/>
                <a:ea typeface="ＭＳ Ｐゴシック" charset="0"/>
              </a:rPr>
              <a:t>grid</a:t>
            </a:r>
            <a:r>
              <a:rPr lang="fr-FR" sz="1600" b="1" dirty="0">
                <a:latin typeface="Courier New" charset="0"/>
                <a:ea typeface="ＭＳ Ｐゴシック" charset="0"/>
              </a:rPr>
              <a:t> 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20805BE-41ED-452E-BA4B-8F01C9AA76C9}" type="slidenum">
              <a:rPr lang="fr-FR" altLang="fr-FR" sz="1200"/>
              <a:pPr eaLnBrk="1" hangingPunct="1"/>
              <a:t>19</a:t>
            </a:fld>
            <a:endParaRPr lang="fr-FR" altLang="fr-FR" sz="1200" b="0"/>
          </a:p>
        </p:txBody>
      </p:sp>
      <p:pic>
        <p:nvPicPr>
          <p:cNvPr id="2048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203200"/>
            <a:ext cx="5286375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58750" y="44450"/>
            <a:ext cx="7972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Evolution de l</a:t>
            </a:r>
            <a:r>
              <a:rPr lang="ja-JP" altLang="fr-FR" sz="2000"/>
              <a:t>’</a:t>
            </a:r>
            <a:r>
              <a:rPr lang="fr-FR" altLang="ja-JP" sz="2000"/>
              <a:t>énergie et du résidu en fonction du nombre d</a:t>
            </a:r>
            <a:r>
              <a:rPr lang="ja-JP" altLang="fr-FR" sz="2000"/>
              <a:t>’</a:t>
            </a:r>
            <a:r>
              <a:rPr lang="fr-FR" altLang="ja-JP" sz="2000"/>
              <a:t>itérations</a:t>
            </a:r>
            <a:r>
              <a:rPr lang="en-US" altLang="ja-JP" sz="2000"/>
              <a:t> </a:t>
            </a:r>
            <a:endParaRPr lang="fr-FR" altLang="fr-F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CD6BF14-4DF9-45E8-BFE8-8775BBB6D165}" type="slidenum">
              <a:rPr lang="fr-FR" altLang="fr-FR" sz="1200"/>
              <a:pPr eaLnBrk="1" hangingPunct="1"/>
              <a:t>20</a:t>
            </a:fld>
            <a:endParaRPr lang="fr-FR" altLang="fr-FR" sz="1200" b="0"/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95288" y="188913"/>
            <a:ext cx="750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Préconditionnement</a:t>
            </a:r>
            <a:r>
              <a:rPr lang="fr-FR" altLang="fr-FR" sz="1800"/>
              <a:t> ou comment minimiser le nombre d</a:t>
            </a:r>
            <a:r>
              <a:rPr lang="ja-JP" altLang="fr-FR" sz="1800"/>
              <a:t>’</a:t>
            </a:r>
            <a:r>
              <a:rPr lang="fr-FR" altLang="ja-JP" sz="1800"/>
              <a:t>itérations</a:t>
            </a:r>
            <a:endParaRPr lang="fr-FR" altLang="fr-FR" sz="1800"/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303213" y="784225"/>
            <a:ext cx="7956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préconditionnement est une technique pour améliorer le conditionnement </a:t>
            </a:r>
          </a:p>
          <a:p>
            <a:pPr eaLnBrk="1" hangingPunct="1"/>
            <a:r>
              <a:rPr lang="fr-FR" altLang="fr-FR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une matrice. </a:t>
            </a:r>
            <a:endParaRPr lang="fr-FR" altLang="fr-FR" sz="1800"/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0" y="3009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1509" name="Object 6"/>
          <p:cNvGraphicFramePr>
            <a:graphicFrameLocks noChangeAspect="1"/>
          </p:cNvGraphicFramePr>
          <p:nvPr/>
        </p:nvGraphicFramePr>
        <p:xfrm>
          <a:off x="2087563" y="1233488"/>
          <a:ext cx="3810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4" name="Equation" r:id="rId3" imgW="2120900" imgH="469900" progId="Equation.DSMT4">
                  <p:embed/>
                </p:oleObj>
              </mc:Choice>
              <mc:Fallback>
                <p:oleObj name="Equation" r:id="rId3" imgW="2120900" imgH="469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233488"/>
                        <a:ext cx="3810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303213" y="2060575"/>
            <a:ext cx="7245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ea typeface="Times New Roman" panose="02020603050405020304" pitchFamily="18" charset="0"/>
              </a:rPr>
              <a:t>Pour le GC, le nombre d</a:t>
            </a:r>
            <a:r>
              <a:rPr lang="ja-JP" altLang="fr-FR" sz="1800">
                <a:ea typeface="Times New Roman" panose="02020603050405020304" pitchFamily="18" charset="0"/>
              </a:rPr>
              <a:t>’</a:t>
            </a:r>
            <a:r>
              <a:rPr lang="fr-FR" altLang="ja-JP" sz="1800">
                <a:ea typeface="Times New Roman" panose="02020603050405020304" pitchFamily="18" charset="0"/>
                <a:cs typeface="Arial" panose="020B0604020202020204" pitchFamily="34" charset="0"/>
              </a:rPr>
              <a:t>itérations pour converger est proportionnel à </a:t>
            </a:r>
            <a:endParaRPr lang="fr-FR" altLang="fr-FR" sz="180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1511" name="Object 8"/>
          <p:cNvGraphicFramePr>
            <a:graphicFrameLocks noChangeAspect="1"/>
          </p:cNvGraphicFramePr>
          <p:nvPr/>
        </p:nvGraphicFramePr>
        <p:xfrm>
          <a:off x="7524750" y="1952625"/>
          <a:ext cx="134302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5" name="Equation" r:id="rId5" imgW="748975" imgH="291973" progId="Equation.DSMT4">
                  <p:embed/>
                </p:oleObj>
              </mc:Choice>
              <mc:Fallback>
                <p:oleObj name="Equation" r:id="rId5" imgW="748975" imgH="29197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1952625"/>
                        <a:ext cx="134302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303213" y="2620963"/>
            <a:ext cx="52276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multiplie le système A x=b par une matrice C</a:t>
            </a:r>
            <a:r>
              <a:rPr lang="fr-FR" altLang="fr-FR" sz="1800" baseline="30000"/>
              <a:t>-1</a:t>
            </a:r>
            <a:r>
              <a:rPr lang="fr-FR" altLang="fr-FR" sz="1800"/>
              <a:t> </a:t>
            </a:r>
          </a:p>
        </p:txBody>
      </p:sp>
      <p:sp>
        <p:nvSpPr>
          <p:cNvPr id="63500" name="Text Box 12"/>
          <p:cNvSpPr txBox="1">
            <a:spLocks noChangeArrowheads="1"/>
          </p:cNvSpPr>
          <p:nvPr/>
        </p:nvSpPr>
        <p:spPr bwMode="auto">
          <a:xfrm>
            <a:off x="303213" y="3116263"/>
            <a:ext cx="855345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C est  une matrice symétrique positive qui approxime la matrice A, facile à inverser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	Exemple 1 : C</a:t>
            </a:r>
            <a:r>
              <a:rPr lang="fr-FR" altLang="fr-FR" sz="1800" baseline="-25000"/>
              <a:t>ii</a:t>
            </a:r>
            <a:r>
              <a:rPr lang="fr-FR" altLang="fr-FR" sz="1800"/>
              <a:t>=1/A</a:t>
            </a:r>
            <a:r>
              <a:rPr lang="fr-FR" altLang="fr-FR" sz="1800" baseline="-25000"/>
              <a:t>ii</a:t>
            </a:r>
            <a:r>
              <a:rPr lang="fr-FR" altLang="fr-FR" sz="1800"/>
              <a:t> à condition que A</a:t>
            </a:r>
            <a:r>
              <a:rPr lang="fr-FR" altLang="fr-FR" sz="1800" baseline="-25000"/>
              <a:t>ii</a:t>
            </a:r>
            <a:r>
              <a:rPr lang="fr-FR" altLang="fr-FR" sz="1800">
                <a:sym typeface="Symbol" panose="05050102010706020507" pitchFamily="18" charset="2"/>
              </a:rPr>
              <a:t>0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>
                <a:sym typeface="Symbol" panose="05050102010706020507" pitchFamily="18" charset="2"/>
              </a:rPr>
              <a:t>	Exemple 2 : factorisation partielle de A en LU (méthode LU incomplète)</a:t>
            </a:r>
          </a:p>
        </p:txBody>
      </p:sp>
      <p:graphicFrame>
        <p:nvGraphicFramePr>
          <p:cNvPr id="21514" name="Object 13"/>
          <p:cNvGraphicFramePr>
            <a:graphicFrameLocks noChangeAspect="1"/>
          </p:cNvGraphicFramePr>
          <p:nvPr/>
        </p:nvGraphicFramePr>
        <p:xfrm>
          <a:off x="7096125" y="4503738"/>
          <a:ext cx="17240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6" name="Equation" r:id="rId7" imgW="952087" imgH="241195" progId="Equation.DSMT4">
                  <p:embed/>
                </p:oleObj>
              </mc:Choice>
              <mc:Fallback>
                <p:oleObj name="Equation" r:id="rId7" imgW="952087" imgH="24119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5" y="4503738"/>
                        <a:ext cx="17240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3" name="Rectangle 15"/>
          <p:cNvSpPr>
            <a:spLocks noChangeArrowheads="1"/>
          </p:cNvSpPr>
          <p:nvPr/>
        </p:nvSpPr>
        <p:spPr bwMode="auto">
          <a:xfrm>
            <a:off x="303213" y="4540250"/>
            <a:ext cx="67691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ea typeface="Times New Roman" panose="02020603050405020304" pitchFamily="18" charset="0"/>
              </a:rPr>
              <a:t>La résolution de A x=b se fait de manière indirecte en résolvant : </a:t>
            </a:r>
          </a:p>
        </p:txBody>
      </p:sp>
      <p:sp>
        <p:nvSpPr>
          <p:cNvPr id="63506" name="Text Box 18"/>
          <p:cNvSpPr txBox="1">
            <a:spLocks noChangeArrowheads="1"/>
          </p:cNvSpPr>
          <p:nvPr/>
        </p:nvSpPr>
        <p:spPr bwMode="auto">
          <a:xfrm>
            <a:off x="303213" y="5226050"/>
            <a:ext cx="858202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Si Cond(C</a:t>
            </a:r>
            <a:r>
              <a:rPr lang="fr-FR" altLang="fr-FR" sz="1800" baseline="30000">
                <a:solidFill>
                  <a:srgbClr val="000000"/>
                </a:solidFill>
                <a:ea typeface="Times New Roman" panose="02020603050405020304" pitchFamily="18" charset="0"/>
              </a:rPr>
              <a:t>-1</a:t>
            </a:r>
            <a:r>
              <a:rPr lang="fr-FR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 A) &lt;&lt; Cond(A) ou si le spectre des valeurs propres de C</a:t>
            </a:r>
            <a:r>
              <a:rPr lang="fr-FR" altLang="fr-FR" sz="1800" baseline="30000">
                <a:solidFill>
                  <a:srgbClr val="000000"/>
                </a:solidFill>
                <a:ea typeface="Times New Roman" panose="02020603050405020304" pitchFamily="18" charset="0"/>
              </a:rPr>
              <a:t>-1</a:t>
            </a:r>
            <a:r>
              <a:rPr lang="fr-FR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 A est moins </a:t>
            </a:r>
          </a:p>
          <a:p>
            <a:pPr eaLnBrk="1" hangingPunct="1"/>
            <a:r>
              <a:rPr lang="fr-FR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étendu que celui de  A</a:t>
            </a:r>
          </a:p>
          <a:p>
            <a:pPr eaLnBrk="1" hangingPunct="1"/>
            <a:endParaRPr lang="fr-FR" altLang="fr-FR" sz="180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eaLnBrk="1" hangingPunct="1"/>
            <a:r>
              <a:rPr lang="fr-FR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alors la résolution du système modifié s</a:t>
            </a:r>
            <a:r>
              <a:rPr lang="ja-JP" altLang="fr-FR" sz="1800">
                <a:solidFill>
                  <a:srgbClr val="000000"/>
                </a:solidFill>
                <a:ea typeface="Times New Roman" panose="02020603050405020304" pitchFamily="18" charset="0"/>
              </a:rPr>
              <a:t>’</a:t>
            </a:r>
            <a:r>
              <a:rPr lang="fr-FR" altLang="ja-JP" sz="180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effectuera plus rapidement.</a:t>
            </a:r>
            <a:endParaRPr lang="fr-FR" altLang="fr-FR" sz="180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802A20F-F35A-42B5-9547-131F3459BF0F}" type="slidenum">
              <a:rPr lang="fr-FR" altLang="fr-FR" sz="1200"/>
              <a:pPr eaLnBrk="1" hangingPunct="1"/>
              <a:t>21</a:t>
            </a:fld>
            <a:endParaRPr lang="fr-FR" altLang="fr-FR" sz="1200" b="0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647700" y="188913"/>
            <a:ext cx="6834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0000"/>
                </a:solidFill>
                <a:ea typeface="Times New Roman" panose="02020603050405020304" pitchFamily="18" charset="0"/>
              </a:rPr>
              <a:t>Algorithme du gradient conjugué préconditionné :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3213" y="1036638"/>
            <a:ext cx="2463800" cy="531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part d</a:t>
            </a:r>
            <a:r>
              <a:rPr lang="ja-JP" altLang="fr-FR" sz="1800"/>
              <a:t>’</a:t>
            </a:r>
            <a:r>
              <a:rPr lang="fr-FR" altLang="ja-JP" sz="1800"/>
              <a:t>un point x0 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Initialisation pour k=0 :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Tant que </a:t>
            </a:r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Fin Tant que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graphicFrame>
        <p:nvGraphicFramePr>
          <p:cNvPr id="22533" name="Object 6"/>
          <p:cNvGraphicFramePr>
            <a:graphicFrameLocks noChangeAspect="1"/>
          </p:cNvGraphicFramePr>
          <p:nvPr/>
        </p:nvGraphicFramePr>
        <p:xfrm>
          <a:off x="2735263" y="1520825"/>
          <a:ext cx="12096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1" name="Equation" r:id="rId3" imgW="672808" imgH="253890" progId="Equation.DSMT4">
                  <p:embed/>
                </p:oleObj>
              </mc:Choice>
              <mc:Fallback>
                <p:oleObj name="Equation" r:id="rId3" imgW="672808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1520825"/>
                        <a:ext cx="12096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4"/>
          <p:cNvGraphicFramePr>
            <a:graphicFrameLocks noChangeAspect="1"/>
          </p:cNvGraphicFramePr>
          <p:nvPr/>
        </p:nvGraphicFramePr>
        <p:xfrm>
          <a:off x="1511300" y="2024063"/>
          <a:ext cx="1762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2" name="Equation" r:id="rId5" imgW="977476" imgH="317362" progId="Equation.DSMT4">
                  <p:embed/>
                </p:oleObj>
              </mc:Choice>
              <mc:Fallback>
                <p:oleObj name="Equation" r:id="rId5" imgW="977476" imgH="31736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2024063"/>
                        <a:ext cx="17621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3"/>
          <p:cNvGraphicFramePr>
            <a:graphicFrameLocks noChangeAspect="1"/>
          </p:cNvGraphicFramePr>
          <p:nvPr/>
        </p:nvGraphicFramePr>
        <p:xfrm>
          <a:off x="1108075" y="2565400"/>
          <a:ext cx="15525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3" name="Equation" r:id="rId7" imgW="863225" imgH="482391" progId="Equation.DSMT4">
                  <p:embed/>
                </p:oleObj>
              </mc:Choice>
              <mc:Fallback>
                <p:oleObj name="Equation" r:id="rId7" imgW="863225" imgH="48239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2565400"/>
                        <a:ext cx="15525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2"/>
          <p:cNvGraphicFramePr>
            <a:graphicFrameLocks noChangeAspect="1"/>
          </p:cNvGraphicFramePr>
          <p:nvPr/>
        </p:nvGraphicFramePr>
        <p:xfrm>
          <a:off x="1108075" y="3465513"/>
          <a:ext cx="19145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4" name="Equation" r:id="rId9" imgW="1066800" imgH="228600" progId="Equation.DSMT4">
                  <p:embed/>
                </p:oleObj>
              </mc:Choice>
              <mc:Fallback>
                <p:oleObj name="Equation" r:id="rId9" imgW="10668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3465513"/>
                        <a:ext cx="19145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11"/>
          <p:cNvGraphicFramePr>
            <a:graphicFrameLocks noChangeAspect="1"/>
          </p:cNvGraphicFramePr>
          <p:nvPr/>
        </p:nvGraphicFramePr>
        <p:xfrm>
          <a:off x="1108075" y="3875088"/>
          <a:ext cx="17526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5" name="Equation" r:id="rId11" imgW="977900" imgH="228600" progId="Equation.DSMT4">
                  <p:embed/>
                </p:oleObj>
              </mc:Choice>
              <mc:Fallback>
                <p:oleObj name="Equation" r:id="rId11" imgW="9779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3875088"/>
                        <a:ext cx="17526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1108075" y="4284663"/>
          <a:ext cx="18954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6" name="Equation" r:id="rId13" imgW="1054100" imgH="482600" progId="Equation.DSMT4">
                  <p:embed/>
                </p:oleObj>
              </mc:Choice>
              <mc:Fallback>
                <p:oleObj name="Equation" r:id="rId13" imgW="1054100" imgH="482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4284663"/>
                        <a:ext cx="18954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9"/>
          <p:cNvGraphicFramePr>
            <a:graphicFrameLocks noChangeAspect="1"/>
          </p:cNvGraphicFramePr>
          <p:nvPr/>
        </p:nvGraphicFramePr>
        <p:xfrm>
          <a:off x="1108075" y="5151438"/>
          <a:ext cx="24193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7" name="Equation" r:id="rId15" imgW="1345616" imgH="253890" progId="Equation.DSMT4">
                  <p:embed/>
                </p:oleObj>
              </mc:Choice>
              <mc:Fallback>
                <p:oleObj name="Equation" r:id="rId15" imgW="1345616" imgH="2538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151438"/>
                        <a:ext cx="24193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8"/>
          <p:cNvGraphicFramePr>
            <a:graphicFrameLocks noChangeAspect="1"/>
          </p:cNvGraphicFramePr>
          <p:nvPr/>
        </p:nvGraphicFramePr>
        <p:xfrm>
          <a:off x="1108075" y="5608638"/>
          <a:ext cx="9810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8" name="Equation" r:id="rId17" imgW="545626" imgH="177646" progId="Equation.DSMT4">
                  <p:embed/>
                </p:oleObj>
              </mc:Choice>
              <mc:Fallback>
                <p:oleObj name="Equation" r:id="rId17" imgW="545626" imgH="1776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5608638"/>
                        <a:ext cx="9810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7" name="Rectangle 15"/>
          <p:cNvSpPr>
            <a:spLocks noChangeArrowheads="1"/>
          </p:cNvSpPr>
          <p:nvPr/>
        </p:nvSpPr>
        <p:spPr bwMode="auto">
          <a:xfrm>
            <a:off x="0" y="927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4528" name="Rectangle 16"/>
          <p:cNvSpPr>
            <a:spLocks noChangeArrowheads="1"/>
          </p:cNvSpPr>
          <p:nvPr/>
        </p:nvSpPr>
        <p:spPr bwMode="auto">
          <a:xfrm>
            <a:off x="0" y="1498600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Times New Roman" charset="0"/>
                <a:cs typeface="Arial" charset="0"/>
              </a:rPr>
              <a:t>	</a:t>
            </a:r>
          </a:p>
        </p:txBody>
      </p:sp>
      <p:sp>
        <p:nvSpPr>
          <p:cNvPr id="64529" name="Rectangle 17"/>
          <p:cNvSpPr>
            <a:spLocks noChangeArrowheads="1"/>
          </p:cNvSpPr>
          <p:nvPr/>
        </p:nvSpPr>
        <p:spPr bwMode="auto">
          <a:xfrm>
            <a:off x="0" y="2732088"/>
            <a:ext cx="1098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Times New Roman" charset="0"/>
                <a:cs typeface="Arial" charset="0"/>
              </a:rPr>
              <a:t>	</a:t>
            </a:r>
          </a:p>
        </p:txBody>
      </p:sp>
      <p:sp>
        <p:nvSpPr>
          <p:cNvPr id="64530" name="Rectangle 18"/>
          <p:cNvSpPr>
            <a:spLocks noChangeArrowheads="1"/>
          </p:cNvSpPr>
          <p:nvPr/>
        </p:nvSpPr>
        <p:spPr bwMode="auto">
          <a:xfrm>
            <a:off x="0" y="3508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4531" name="Rectangle 19"/>
          <p:cNvSpPr>
            <a:spLocks noChangeArrowheads="1"/>
          </p:cNvSpPr>
          <p:nvPr/>
        </p:nvSpPr>
        <p:spPr bwMode="auto">
          <a:xfrm>
            <a:off x="0" y="3917950"/>
            <a:ext cx="1098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fr-FR">
                <a:latin typeface="Arial" charset="0"/>
                <a:ea typeface="Times New Roman" charset="0"/>
                <a:cs typeface="Arial" charset="0"/>
              </a:rPr>
              <a:t>	</a:t>
            </a:r>
          </a:p>
        </p:txBody>
      </p:sp>
      <p:sp>
        <p:nvSpPr>
          <p:cNvPr id="64532" name="Rectangle 20"/>
          <p:cNvSpPr>
            <a:spLocks noChangeArrowheads="1"/>
          </p:cNvSpPr>
          <p:nvPr/>
        </p:nvSpPr>
        <p:spPr bwMode="auto">
          <a:xfrm>
            <a:off x="0" y="5151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4534" name="Text Box 22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64535" name="Text Box 23"/>
          <p:cNvSpPr txBox="1">
            <a:spLocks noChangeArrowheads="1"/>
          </p:cNvSpPr>
          <p:nvPr/>
        </p:nvSpPr>
        <p:spPr bwMode="auto">
          <a:xfrm>
            <a:off x="4624388" y="1316038"/>
            <a:ext cx="3740150" cy="240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/>
              <a:t>1. Adapter le programme du GC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Sans préconditionnement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En prenant C</a:t>
            </a:r>
            <a:r>
              <a:rPr lang="fr-FR" altLang="fr-FR" sz="1800" baseline="30000"/>
              <a:t>-1</a:t>
            </a:r>
            <a:r>
              <a:rPr lang="fr-FR" altLang="fr-FR" sz="1800"/>
              <a:t>=1/diag(A)</a:t>
            </a:r>
          </a:p>
          <a:p>
            <a:pPr eaLnBrk="1" hangingPunct="1">
              <a:lnSpc>
                <a:spcPct val="120000"/>
              </a:lnSpc>
            </a:pPr>
            <a:endParaRPr lang="fr-FR" altLang="fr-FR" sz="1800"/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2. Examiner l</a:t>
            </a:r>
            <a:r>
              <a:rPr lang="ja-JP" altLang="fr-FR" sz="1800"/>
              <a:t>’</a:t>
            </a:r>
            <a:r>
              <a:rPr lang="fr-FR" altLang="ja-JP" sz="1800"/>
              <a:t>évolution de l</a:t>
            </a:r>
            <a:r>
              <a:rPr lang="ja-JP" altLang="fr-FR" sz="1800"/>
              <a:t>’</a:t>
            </a:r>
            <a:r>
              <a:rPr lang="fr-FR" altLang="ja-JP" sz="1800"/>
              <a:t>énergie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Et du résidu en fonction du nombre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/>
              <a:t>d</a:t>
            </a:r>
            <a:r>
              <a:rPr lang="ja-JP" altLang="fr-FR" sz="1800"/>
              <a:t>’</a:t>
            </a:r>
            <a:r>
              <a:rPr lang="fr-FR" altLang="ja-JP" sz="1800"/>
              <a:t>itérations</a:t>
            </a: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A4E374C-2203-4E30-8A46-49EEA5760880}" type="slidenum">
              <a:rPr lang="fr-FR" altLang="fr-FR" sz="1200"/>
              <a:pPr eaLnBrk="1" hangingPunct="1"/>
              <a:t>22</a:t>
            </a:fld>
            <a:endParaRPr lang="fr-FR" altLang="fr-FR" sz="1200" b="0"/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447675" y="655638"/>
            <a:ext cx="3606800" cy="604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random avec le meme graine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rand (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'seed'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,12563);</a:t>
            </a: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randn(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'seed'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,12563);</a:t>
            </a: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taille du systeme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N=400;</a:t>
            </a: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	density=0.01;</a:t>
            </a: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A = sprandn(N,N,density);</a:t>
            </a: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pt-B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pour rendre A symetrique</a:t>
            </a:r>
            <a:endParaRPr lang="pt-B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A=0.5*(A+A');  </a:t>
            </a: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pt-B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HACK -&gt; A definie positive</a:t>
            </a:r>
            <a:endParaRPr lang="pt-B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pt-B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D=sum(abs(A(:,1:N)));</a:t>
            </a:r>
            <a:endParaRPr lang="en-GB" sz="1600" b="1">
              <a:solidFill>
                <a:srgbClr val="0000FF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GB" sz="1600" b="1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for</a:t>
            </a:r>
            <a:r>
              <a:rPr lang="en-GB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i=1:N</a:t>
            </a:r>
          </a:p>
          <a:p>
            <a:pPr>
              <a:lnSpc>
                <a:spcPct val="90000"/>
              </a:lnSpc>
              <a:defRPr/>
            </a:pPr>
            <a:r>
              <a:rPr lang="en-GB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   A(i,i)=D(i)-A(i,i);</a:t>
            </a:r>
            <a:endParaRPr lang="en-GB" sz="1600" b="1">
              <a:solidFill>
                <a:srgbClr val="0000FF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GB" sz="1600" b="1">
                <a:solidFill>
                  <a:srgbClr val="0000FF"/>
                </a:solidFill>
                <a:latin typeface="Courier New" charset="0"/>
                <a:ea typeface="Times New Roman" charset="0"/>
                <a:cs typeface="Courier New" charset="0"/>
              </a:rPr>
              <a:t>end</a:t>
            </a:r>
            <a:r>
              <a:rPr lang="en-GB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</a:t>
            </a:r>
            <a:endParaRPr lang="fr-F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Preconditionneur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Cinv=diag(1./diag(A));</a:t>
            </a: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construction de b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b=rand(N, 1);</a:t>
            </a: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point de depart x0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x=rand(N, 1);</a:t>
            </a: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endParaRPr lang="fr-FR" sz="1600" b="1">
              <a:solidFill>
                <a:srgbClr val="228B22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228B22"/>
                </a:solidFill>
                <a:latin typeface="Courier New" charset="0"/>
                <a:ea typeface="Times New Roman" charset="0"/>
                <a:cs typeface="Courier New" charset="0"/>
              </a:rPr>
              <a:t>% on efface les tableaux</a:t>
            </a:r>
            <a:endParaRPr lang="fr-FR" sz="1600" b="1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  <a:p>
            <a:pPr>
              <a:lnSpc>
                <a:spcPct val="90000"/>
              </a:lnSpc>
              <a:defRPr/>
            </a:pP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clear 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xn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 </a:t>
            </a:r>
            <a:r>
              <a:rPr lang="fr-FR" sz="1600" b="1">
                <a:solidFill>
                  <a:srgbClr val="A020F0"/>
                </a:solidFill>
                <a:latin typeface="Courier New" charset="0"/>
                <a:ea typeface="Times New Roman" charset="0"/>
                <a:cs typeface="Courier New" charset="0"/>
              </a:rPr>
              <a:t>en</a:t>
            </a:r>
            <a:r>
              <a:rPr lang="fr-FR" sz="1600" b="1">
                <a:solidFill>
                  <a:srgbClr val="000000"/>
                </a:solidFill>
                <a:latin typeface="Courier New" charset="0"/>
                <a:ea typeface="Times New Roman" charset="0"/>
                <a:cs typeface="Courier New" charset="0"/>
              </a:rPr>
              <a:t>;</a:t>
            </a:r>
            <a:endParaRPr lang="fr-FR" sz="1600">
              <a:solidFill>
                <a:srgbClr val="000000"/>
              </a:solidFill>
              <a:latin typeface="Courier New" charset="0"/>
              <a:ea typeface="Times New Roman" charset="0"/>
              <a:cs typeface="Courier New" charset="0"/>
            </a:endParaRP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4633913" y="333375"/>
            <a:ext cx="3973512" cy="6491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fr-FR" altLang="fr-FR" sz="1600" b="1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tol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=1e-6; </a:t>
            </a:r>
            <a:r>
              <a:rPr lang="fr-FR" altLang="fr-FR" sz="16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tolérance</a:t>
            </a:r>
            <a:endParaRPr lang="fr-FR" altLang="fr-FR" sz="16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pt-BR" altLang="fr-FR" sz="1600" b="1" dirty="0">
              <a:solidFill>
                <a:srgbClr val="228B22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initialisation </a:t>
            </a:r>
            <a:endParaRPr lang="pt-BR" altLang="fr-FR" sz="1600" b="1" dirty="0">
              <a:solidFill>
                <a:srgbClr val="000000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r=b-A*x;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p=Cinv*r;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rho1=p'*r;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k</a:t>
            </a: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=1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xn(:, </a:t>
            </a: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k)=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en(k)=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0.5*x'*A*x-x'*b;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pt-BR" altLang="fr-FR" sz="1600" b="1" dirty="0">
              <a:solidFill>
                <a:srgbClr val="228B22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228B22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% processus de minimisation</a:t>
            </a:r>
            <a:endParaRPr lang="pt-BR" altLang="fr-FR" sz="1600" b="1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while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(norm(r)/norm(b) &gt; tol)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alpha=rho1/(p'*A*p);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x=x+alpha*p;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r=b-A*x;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rho=r'*Cinv*r;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beta=rho/rho1;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p=Cinv*r+beta*p;  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rho1=rho;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k=k+1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xn(:, </a:t>
            </a: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k)=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x;</a:t>
            </a:r>
          </a:p>
          <a:p>
            <a:pPr eaLnBrk="1" hangingPunct="1">
              <a:lnSpc>
                <a:spcPct val="90000"/>
              </a:lnSpc>
            </a:pP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  </a:t>
            </a:r>
            <a:r>
              <a:rPr lang="pt-B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en(k)=</a:t>
            </a:r>
            <a:r>
              <a:rPr lang="pt-B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0.5*x'*A*x-x'*b;    </a:t>
            </a:r>
            <a:endParaRPr lang="fr-FR" altLang="fr-FR" sz="1600" b="1" dirty="0">
              <a:solidFill>
                <a:srgbClr val="0000FF"/>
              </a:solidFill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fr-FR" altLang="fr-FR" sz="16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end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;   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600" b="1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disp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([</a:t>
            </a:r>
            <a:r>
              <a:rPr lang="fr-FR" altLang="fr-FR" sz="1600" b="1" dirty="0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'nombre d''</a:t>
            </a:r>
            <a:r>
              <a:rPr lang="fr-FR" altLang="fr-FR" sz="1600" b="1" dirty="0" err="1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iterations</a:t>
            </a:r>
            <a:r>
              <a:rPr lang="fr-FR" altLang="fr-FR" sz="1600" b="1" dirty="0">
                <a:solidFill>
                  <a:srgbClr val="A020F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'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fr-FR" altLang="fr-FR" sz="1600" b="1" dirty="0" smtClean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num2str(k-1</a:t>
            </a:r>
            <a:r>
              <a:rPr lang="fr-FR" altLang="fr-FR" sz="1600" b="1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</a:rPr>
              <a:t>)]);</a:t>
            </a:r>
          </a:p>
        </p:txBody>
      </p:sp>
      <p:sp>
        <p:nvSpPr>
          <p:cNvPr id="65542" name="Text Box 6"/>
          <p:cNvSpPr txBox="1">
            <a:spLocks noChangeArrowheads="1"/>
          </p:cNvSpPr>
          <p:nvPr/>
        </p:nvSpPr>
        <p:spPr bwMode="auto">
          <a:xfrm>
            <a:off x="158750" y="36513"/>
            <a:ext cx="8183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Programme matlab : GC avec Precond (version optimisée)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FDC488B6-CF99-4E6C-BDB9-125C39D583CA}" type="slidenum">
              <a:rPr lang="fr-FR" altLang="fr-FR" sz="1200"/>
              <a:pPr eaLnBrk="1" hangingPunct="1"/>
              <a:t>23</a:t>
            </a:fld>
            <a:endParaRPr lang="fr-FR" altLang="fr-FR" sz="1200" b="0"/>
          </a:p>
        </p:txBody>
      </p:sp>
      <p:pic>
        <p:nvPicPr>
          <p:cNvPr id="2457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57225"/>
            <a:ext cx="4217988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158750" y="44450"/>
            <a:ext cx="7972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Evolution de l</a:t>
            </a:r>
            <a:r>
              <a:rPr lang="ja-JP" altLang="fr-FR" sz="2000"/>
              <a:t>’</a:t>
            </a:r>
            <a:r>
              <a:rPr lang="fr-FR" altLang="ja-JP" sz="2000"/>
              <a:t>énergie et du résidu en fonction du nombre d</a:t>
            </a:r>
            <a:r>
              <a:rPr lang="ja-JP" altLang="fr-FR" sz="2000"/>
              <a:t>’</a:t>
            </a:r>
            <a:r>
              <a:rPr lang="fr-FR" altLang="ja-JP" sz="2000"/>
              <a:t>itérations</a:t>
            </a:r>
            <a:r>
              <a:rPr lang="en-US" altLang="ja-JP" sz="2000"/>
              <a:t> </a:t>
            </a:r>
            <a:endParaRPr lang="fr-FR" altLang="fr-FR" sz="2000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657225"/>
            <a:ext cx="4459287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1079500" y="639763"/>
            <a:ext cx="302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GC sans précondionnement</a:t>
            </a:r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5327650" y="620713"/>
            <a:ext cx="3028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GC avec précondionnement</a:t>
            </a:r>
          </a:p>
        </p:txBody>
      </p:sp>
      <p:sp>
        <p:nvSpPr>
          <p:cNvPr id="66571" name="Oval 11"/>
          <p:cNvSpPr>
            <a:spLocks noChangeAspect="1" noChangeArrowheads="1"/>
          </p:cNvSpPr>
          <p:nvPr/>
        </p:nvSpPr>
        <p:spPr bwMode="auto">
          <a:xfrm>
            <a:off x="3743325" y="2501900"/>
            <a:ext cx="65088" cy="635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6572" name="Oval 12"/>
          <p:cNvSpPr>
            <a:spLocks noChangeAspect="1" noChangeArrowheads="1"/>
          </p:cNvSpPr>
          <p:nvPr/>
        </p:nvSpPr>
        <p:spPr bwMode="auto">
          <a:xfrm>
            <a:off x="8640763" y="2565400"/>
            <a:ext cx="65087" cy="63500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>
            <a:off x="8532813" y="2528888"/>
            <a:ext cx="142875" cy="714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fr-FR">
              <a:latin typeface="Arial" charset="0"/>
              <a:ea typeface="ＭＳ Ｐゴシック" charset="0"/>
            </a:endParaRPr>
          </a:p>
        </p:txBody>
      </p:sp>
      <p:sp>
        <p:nvSpPr>
          <p:cNvPr id="66574" name="Text Box 14"/>
          <p:cNvSpPr txBox="1">
            <a:spLocks noChangeArrowheads="1"/>
          </p:cNvSpPr>
          <p:nvPr/>
        </p:nvSpPr>
        <p:spPr bwMode="auto">
          <a:xfrm>
            <a:off x="376238" y="6221413"/>
            <a:ext cx="5226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nombre d</a:t>
            </a:r>
            <a:r>
              <a:rPr lang="ja-JP" altLang="fr-FR" sz="1800"/>
              <a:t>’</a:t>
            </a:r>
            <a:r>
              <a:rPr lang="fr-FR" altLang="ja-JP" sz="1800"/>
              <a:t>itérations a été réduite d</a:t>
            </a:r>
            <a:r>
              <a:rPr lang="ja-JP" altLang="fr-FR" sz="1800"/>
              <a:t>’</a:t>
            </a:r>
            <a:r>
              <a:rPr lang="fr-FR" altLang="ja-JP" sz="1800"/>
              <a:t>un facteur 2</a:t>
            </a:r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5730</TotalTime>
  <Words>1421</Words>
  <Application>Microsoft Office PowerPoint</Application>
  <PresentationFormat>Affichage à l'écran (4:3)</PresentationFormat>
  <Paragraphs>428</Paragraphs>
  <Slides>23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5" baseType="lpstr">
      <vt:lpstr>ＭＳ Ｐゴシック</vt:lpstr>
      <vt:lpstr>ＭＳ Ｐゴシック</vt:lpstr>
      <vt:lpstr>Arial</vt:lpstr>
      <vt:lpstr>Comic Sans MS</vt:lpstr>
      <vt:lpstr>Courier New</vt:lpstr>
      <vt:lpstr>MS Mincho</vt:lpstr>
      <vt:lpstr>MT Extra</vt:lpstr>
      <vt:lpstr>Symbol</vt:lpstr>
      <vt:lpstr>Times New Roman</vt:lpstr>
      <vt:lpstr>Wingdings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toussaij</dc:creator>
  <cp:lastModifiedBy>toussaij</cp:lastModifiedBy>
  <cp:revision>172</cp:revision>
  <cp:lastPrinted>1601-01-01T00:00:00Z</cp:lastPrinted>
  <dcterms:created xsi:type="dcterms:W3CDTF">1601-01-01T00:00:00Z</dcterms:created>
  <dcterms:modified xsi:type="dcterms:W3CDTF">2022-11-07T14:05:07Z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