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2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7" r:id="rId10"/>
    <p:sldId id="288" r:id="rId11"/>
    <p:sldId id="290" r:id="rId12"/>
  </p:sldIdLst>
  <p:sldSz cx="9144000" cy="6858000" type="screen4x3"/>
  <p:notesSz cx="7104063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1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837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837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 smtClean="0"/>
            </a:lvl1pPr>
          </a:lstStyle>
          <a:p>
            <a:pPr>
              <a:defRPr/>
            </a:pPr>
            <a:fld id="{1604085C-2619-4F02-B9AF-C650C146AAE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837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9687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677" y="4859338"/>
            <a:ext cx="5682298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837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 smtClean="0"/>
            </a:lvl1pPr>
          </a:lstStyle>
          <a:p>
            <a:pPr>
              <a:defRPr/>
            </a:pPr>
            <a:fld id="{8C08EEF9-080C-4D20-97EB-01EC7EFBEFA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173BB81-A12E-4B60-AF20-612662B904C5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F40CA6-BC86-4698-9CCE-60733908B6D6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D04880-E850-4F19-AA9B-E4188B98821B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F46AC0-9829-4BF9-AD5A-7883A43115ED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FC389C-01CA-4055-9EC7-49870A286C40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9D4F2A-F99A-435B-BAE6-0410C6E23EB1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245208-9987-4C2A-B888-C72E1912B36C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6E31AA-FB39-4466-9157-100B0D0B438C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8B5287-F1F3-43C9-AFB2-9E73424189FA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A44672-95A8-4BA0-9571-8727FB87D2DA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B1F9D2-7ADE-40FE-923A-1CB58F5859AD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5081F9-BFE3-4B44-A5F4-F51C1EE2AA53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38833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20C602-A455-4CE6-9FA1-D4DDE6E36CC3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46259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256333B-7F00-423A-A2A2-3B5EE40BDD8B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17320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22C8F4-D557-45C8-A6F2-B3929246468F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44067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DC500F-6C66-445C-ABE5-53FCF39E6EC3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9486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6556680-CB21-46F4-B722-2677BE4AE3B0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87906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0DEA25-E8C5-4E1F-8E00-6AB0EC7D1C88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38261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643002-C6E4-4CFD-8A0C-F0316DF157D2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9157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E1A61C-01BD-4D43-8D4E-8658B6343EA5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11415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77A189-392C-4DAA-A4BE-5EE97269E175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421489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E88D705-A318-46EF-B552-8DE11177B410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60388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0663"/>
            <a:ext cx="2133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/>
            </a:lvl1pPr>
          </a:lstStyle>
          <a:p>
            <a:pPr>
              <a:defRPr/>
            </a:pPr>
            <a:fld id="{34B48929-8BAC-468C-9A39-9CF012E5BE8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wmf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1.bin"/><Relationship Id="rId5" Type="http://schemas.openxmlformats.org/officeDocument/2006/relationships/image" Target="../media/image17.wmf"/><Relationship Id="rId10" Type="http://schemas.openxmlformats.org/officeDocument/2006/relationships/image" Target="../media/image19.wmf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28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816A14-34AC-4CF4-8DC6-D0C0546BEE49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fr-FR" altLang="fr-FR" sz="1400" b="0"/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1835150" y="115888"/>
            <a:ext cx="575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Méthodes d</a:t>
            </a:r>
            <a:r>
              <a:rPr lang="ja-JP" altLang="fr-FR" sz="2400" b="1">
                <a:solidFill>
                  <a:srgbClr val="A50021"/>
                </a:solidFill>
              </a:rPr>
              <a:t>’</a:t>
            </a:r>
            <a:r>
              <a:rPr lang="fr-FR" altLang="ja-JP" sz="2400" b="1">
                <a:solidFill>
                  <a:srgbClr val="A50021"/>
                </a:solidFill>
              </a:rPr>
              <a:t>intégration à pas adaptatif</a:t>
            </a:r>
            <a:endParaRPr lang="fr-FR" altLang="fr-FR" sz="2400" b="1">
              <a:solidFill>
                <a:srgbClr val="A50021"/>
              </a:solidFill>
            </a:endParaRPr>
          </a:p>
        </p:txBody>
      </p:sp>
      <p:sp>
        <p:nvSpPr>
          <p:cNvPr id="15364" name="Text Box 23"/>
          <p:cNvSpPr txBox="1">
            <a:spLocks noChangeArrowheads="1"/>
          </p:cNvSpPr>
          <p:nvPr/>
        </p:nvSpPr>
        <p:spPr bwMode="auto">
          <a:xfrm>
            <a:off x="250825" y="981075"/>
            <a:ext cx="8569325" cy="479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But : résoudre une équation différentielle linéaire ou non-linéaire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Ce sont des techniques plus versatiles gérant elle-même le choix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du pas de temps d</a:t>
            </a:r>
            <a:r>
              <a:rPr lang="ja-JP" altLang="fr-FR" sz="2000"/>
              <a:t>’</a:t>
            </a:r>
            <a:r>
              <a:rPr lang="fr-FR" altLang="ja-JP" sz="2000"/>
              <a:t>intégration.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8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En premier, une valeur acceptable pour l</a:t>
            </a:r>
            <a:r>
              <a:rPr lang="ja-JP" altLang="fr-FR" sz="2000"/>
              <a:t>’</a:t>
            </a:r>
            <a:r>
              <a:rPr lang="fr-FR" altLang="ja-JP" sz="2000"/>
              <a:t>erreur d</a:t>
            </a:r>
            <a:r>
              <a:rPr lang="ja-JP" altLang="fr-FR" sz="2000"/>
              <a:t>’</a:t>
            </a:r>
            <a:r>
              <a:rPr lang="fr-FR" altLang="ja-JP" sz="2000"/>
              <a:t>intégration est donnée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par l</a:t>
            </a:r>
            <a:r>
              <a:rPr lang="ja-JP" altLang="fr-FR" sz="2000"/>
              <a:t>’</a:t>
            </a:r>
            <a:r>
              <a:rPr lang="fr-FR" altLang="ja-JP" sz="2000"/>
              <a:t>utilisateur. On la note </a:t>
            </a:r>
            <a:r>
              <a:rPr lang="fr-FR" altLang="ja-JP" sz="2000">
                <a:sym typeface="Symbol" panose="05050102010706020507" pitchFamily="18" charset="2"/>
              </a:rPr>
              <a:t>ε</a:t>
            </a:r>
            <a:r>
              <a:rPr lang="fr-FR" altLang="ja-JP" sz="2000" baseline="-25000">
                <a:sym typeface="Symbol" panose="05050102010706020507" pitchFamily="18" charset="2"/>
              </a:rPr>
              <a:t>m</a:t>
            </a:r>
            <a:endParaRPr lang="fr-FR" altLang="ja-JP" sz="20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1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A chaque itération, le schéma tente d</a:t>
            </a:r>
            <a:r>
              <a:rPr lang="ja-JP" altLang="fr-FR" sz="2000"/>
              <a:t>’</a:t>
            </a:r>
            <a:r>
              <a:rPr lang="fr-FR" altLang="ja-JP" sz="2000"/>
              <a:t>ajuster le pas d</a:t>
            </a:r>
            <a:r>
              <a:rPr lang="ja-JP" altLang="fr-FR" sz="2000"/>
              <a:t>’</a:t>
            </a:r>
            <a:r>
              <a:rPr lang="fr-FR" altLang="ja-JP" sz="2000"/>
              <a:t>intégration de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manière à ce que l</a:t>
            </a:r>
            <a:r>
              <a:rPr lang="ja-JP" altLang="fr-FR" sz="2000"/>
              <a:t>’</a:t>
            </a:r>
            <a:r>
              <a:rPr lang="fr-FR" altLang="ja-JP" sz="2000"/>
              <a:t>erreur </a:t>
            </a:r>
            <a:r>
              <a:rPr lang="fr-FR" altLang="ja-JP" sz="2000">
                <a:sym typeface="Symbol" panose="05050102010706020507" pitchFamily="18" charset="2"/>
              </a:rPr>
              <a:t>ε</a:t>
            </a:r>
            <a:r>
              <a:rPr lang="fr-FR" altLang="ja-JP" sz="2000"/>
              <a:t> ne dépasse pas la valeur de l’erreur acceptable </a:t>
            </a:r>
            <a:r>
              <a:rPr lang="fr-FR" altLang="ja-JP" sz="2000">
                <a:sym typeface="Symbol" panose="05050102010706020507" pitchFamily="18" charset="2"/>
              </a:rPr>
              <a:t>ε</a:t>
            </a:r>
            <a:r>
              <a:rPr lang="fr-FR" altLang="ja-JP" sz="2000" baseline="-25000">
                <a:sym typeface="Symbol" panose="05050102010706020507" pitchFamily="18" charset="2"/>
              </a:rPr>
              <a:t>m</a:t>
            </a:r>
            <a:r>
              <a:rPr lang="fr-FR" altLang="ja-JP" sz="2000"/>
              <a:t>.</a:t>
            </a:r>
            <a:endParaRPr lang="fr-FR" altLang="fr-FR" sz="2000"/>
          </a:p>
        </p:txBody>
      </p:sp>
      <p:graphicFrame>
        <p:nvGraphicFramePr>
          <p:cNvPr id="15365" name="Object 24"/>
          <p:cNvGraphicFramePr>
            <a:graphicFrameLocks noChangeAspect="1"/>
          </p:cNvGraphicFramePr>
          <p:nvPr/>
        </p:nvGraphicFramePr>
        <p:xfrm>
          <a:off x="2474913" y="1268413"/>
          <a:ext cx="37528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4" imgW="2082600" imgH="393480" progId="Equation.DSMT4">
                  <p:embed/>
                </p:oleObj>
              </mc:Choice>
              <mc:Fallback>
                <p:oleObj name="Equation" r:id="rId4" imgW="2082600" imgH="3934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1268413"/>
                        <a:ext cx="375285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82D018-F137-4282-844F-CC6042DAD2A5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fr-FR" altLang="fr-FR" sz="1400" b="0"/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395288" y="665163"/>
            <a:ext cx="8686800" cy="528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/>
              <a:t> Supposons que le vecteur </a:t>
            </a:r>
            <a:r>
              <a:rPr lang="fr-FR" altLang="fr-FR" sz="2000" b="1"/>
              <a:t>y</a:t>
            </a:r>
            <a:r>
              <a:rPr lang="fr-FR" altLang="fr-FR" sz="2000"/>
              <a:t>(t</a:t>
            </a:r>
            <a:r>
              <a:rPr lang="fr-FR" altLang="fr-FR" sz="2000" baseline="-25000"/>
              <a:t>n</a:t>
            </a:r>
            <a:r>
              <a:rPr lang="fr-FR" altLang="fr-FR" sz="2000"/>
              <a:t>) soit connu à l</a:t>
            </a:r>
            <a:r>
              <a:rPr lang="ja-JP" altLang="fr-FR" sz="2000"/>
              <a:t>’</a:t>
            </a:r>
            <a:r>
              <a:rPr lang="fr-FR" altLang="ja-JP" sz="2000"/>
              <a:t>instant t</a:t>
            </a:r>
            <a:r>
              <a:rPr lang="fr-FR" altLang="ja-JP" sz="2000" baseline="-25000"/>
              <a:t>n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 baseline="-25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 baseline="-25000"/>
              <a:t> </a:t>
            </a:r>
            <a:r>
              <a:rPr lang="fr-FR" altLang="fr-FR" sz="2000"/>
              <a:t>L</a:t>
            </a:r>
            <a:r>
              <a:rPr lang="ja-JP" altLang="fr-FR" sz="2000"/>
              <a:t>’</a:t>
            </a:r>
            <a:r>
              <a:rPr lang="fr-FR" altLang="ja-JP" sz="2000"/>
              <a:t>idée est d</a:t>
            </a:r>
            <a:r>
              <a:rPr lang="ja-JP" altLang="fr-FR" sz="2000"/>
              <a:t>’</a:t>
            </a:r>
            <a:r>
              <a:rPr lang="fr-FR" altLang="ja-JP" sz="2000"/>
              <a:t>effectuer l’intégration du système d’équations différentielles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de l</a:t>
            </a:r>
            <a:r>
              <a:rPr lang="ja-JP" altLang="fr-FR" sz="2000"/>
              <a:t>’</a:t>
            </a:r>
            <a:r>
              <a:rPr lang="fr-FR" altLang="ja-JP" sz="2000"/>
              <a:t>instant t</a:t>
            </a:r>
            <a:r>
              <a:rPr lang="fr-FR" altLang="ja-JP" sz="2000" baseline="-25000"/>
              <a:t>n</a:t>
            </a:r>
            <a:r>
              <a:rPr lang="fr-FR" altLang="ja-JP" sz="2000"/>
              <a:t> à l</a:t>
            </a:r>
            <a:r>
              <a:rPr lang="ja-JP" altLang="fr-FR" sz="2000"/>
              <a:t>’</a:t>
            </a:r>
            <a:r>
              <a:rPr lang="fr-FR" altLang="ja-JP" sz="2000"/>
              <a:t>instant t</a:t>
            </a:r>
            <a:r>
              <a:rPr lang="fr-FR" altLang="ja-JP" sz="2000" baseline="-25000"/>
              <a:t>n</a:t>
            </a:r>
            <a:r>
              <a:rPr lang="fr-FR" altLang="ja-JP" sz="2000"/>
              <a:t>+h,  </a:t>
            </a:r>
            <a:r>
              <a:rPr lang="fr-FR" altLang="ja-JP" sz="2000">
                <a:solidFill>
                  <a:srgbClr val="FF0000"/>
                </a:solidFill>
              </a:rPr>
              <a:t>deux</a:t>
            </a:r>
            <a:r>
              <a:rPr lang="fr-FR" altLang="ja-JP" sz="2000"/>
              <a:t> fois avec </a:t>
            </a:r>
            <a:r>
              <a:rPr lang="fr-FR" altLang="ja-JP" sz="2000">
                <a:solidFill>
                  <a:srgbClr val="FF0000"/>
                </a:solidFill>
              </a:rPr>
              <a:t>deux</a:t>
            </a:r>
            <a:r>
              <a:rPr lang="fr-FR" altLang="ja-JP" sz="2000"/>
              <a:t> algorithmes différents 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/>
              <a:t> Chacun donne une estimation de </a:t>
            </a:r>
            <a:r>
              <a:rPr lang="fr-FR" altLang="fr-FR" sz="2000" b="1"/>
              <a:t>y</a:t>
            </a:r>
            <a:r>
              <a:rPr lang="fr-FR" altLang="fr-FR" sz="2000"/>
              <a:t>(t</a:t>
            </a:r>
            <a:r>
              <a:rPr lang="fr-FR" altLang="fr-FR" sz="2000" baseline="-25000"/>
              <a:t>n</a:t>
            </a:r>
            <a:r>
              <a:rPr lang="fr-FR" altLang="fr-FR" sz="2000"/>
              <a:t>+h) que l</a:t>
            </a:r>
            <a:r>
              <a:rPr lang="ja-JP" altLang="fr-FR" sz="2000"/>
              <a:t>’</a:t>
            </a:r>
            <a:r>
              <a:rPr lang="fr-FR" altLang="ja-JP" sz="2000"/>
              <a:t>on note A</a:t>
            </a:r>
            <a:r>
              <a:rPr lang="fr-FR" altLang="ja-JP" sz="2000" baseline="-25000"/>
              <a:t>1</a:t>
            </a:r>
            <a:r>
              <a:rPr lang="fr-FR" altLang="ja-JP" sz="2000"/>
              <a:t> et A</a:t>
            </a:r>
            <a:r>
              <a:rPr lang="fr-FR" altLang="ja-JP" sz="2000" baseline="-25000"/>
              <a:t>2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endParaRPr lang="fr-FR" altLang="fr-FR" sz="2000" baseline="-25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 baseline="-25000"/>
              <a:t> </a:t>
            </a:r>
            <a:r>
              <a:rPr lang="fr-FR" altLang="fr-FR" sz="2000"/>
              <a:t>On utilise A</a:t>
            </a:r>
            <a:r>
              <a:rPr lang="fr-FR" altLang="fr-FR" sz="2000" baseline="-25000"/>
              <a:t>1</a:t>
            </a:r>
            <a:r>
              <a:rPr lang="fr-FR" altLang="fr-FR" sz="2000"/>
              <a:t> et A</a:t>
            </a:r>
            <a:r>
              <a:rPr lang="fr-FR" altLang="fr-FR" sz="2000" baseline="-25000"/>
              <a:t>2</a:t>
            </a:r>
            <a:r>
              <a:rPr lang="fr-FR" altLang="fr-FR" sz="2000"/>
              <a:t> pour calculer une estimation de l</a:t>
            </a:r>
            <a:r>
              <a:rPr lang="ja-JP" altLang="fr-FR" sz="2000"/>
              <a:t>’</a:t>
            </a:r>
            <a:r>
              <a:rPr lang="fr-FR" altLang="ja-JP" sz="2000"/>
              <a:t>erreur commise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lors de l</a:t>
            </a:r>
            <a:r>
              <a:rPr lang="ja-JP" altLang="fr-FR" sz="2000"/>
              <a:t>’</a:t>
            </a:r>
            <a:r>
              <a:rPr lang="fr-FR" altLang="ja-JP" sz="2000"/>
              <a:t>intégration.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 baseline="-25000"/>
              <a:t> </a:t>
            </a:r>
            <a:r>
              <a:rPr lang="fr-FR" altLang="fr-FR" sz="2000"/>
              <a:t>En combinant linéairement A</a:t>
            </a:r>
            <a:r>
              <a:rPr lang="fr-FR" altLang="fr-FR" sz="2000" baseline="-25000"/>
              <a:t>1</a:t>
            </a:r>
            <a:r>
              <a:rPr lang="fr-FR" altLang="fr-FR" sz="2000"/>
              <a:t> et A</a:t>
            </a:r>
            <a:r>
              <a:rPr lang="fr-FR" altLang="fr-FR" sz="2000" baseline="-25000"/>
              <a:t>2</a:t>
            </a:r>
            <a:r>
              <a:rPr lang="fr-FR" altLang="fr-FR" sz="2000"/>
              <a:t> on augmente d</a:t>
            </a:r>
            <a:r>
              <a:rPr lang="ja-JP" altLang="fr-FR" sz="2000"/>
              <a:t>’</a:t>
            </a:r>
            <a:r>
              <a:rPr lang="fr-FR" altLang="ja-JP" sz="2000"/>
              <a:t>un ordre en h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la précision sur </a:t>
            </a:r>
            <a:r>
              <a:rPr lang="fr-FR" altLang="fr-FR" sz="2000" b="1"/>
              <a:t>y</a:t>
            </a:r>
            <a:r>
              <a:rPr lang="fr-FR" altLang="fr-FR" sz="2000"/>
              <a:t>(t</a:t>
            </a:r>
            <a:r>
              <a:rPr lang="fr-FR" altLang="fr-FR" sz="2000" baseline="-25000"/>
              <a:t>n</a:t>
            </a:r>
            <a:r>
              <a:rPr lang="fr-FR" altLang="fr-FR" sz="2000"/>
              <a:t>+h)</a:t>
            </a:r>
            <a:endParaRPr lang="fr-FR" altLang="fr-FR" sz="2000" baseline="-25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endParaRPr lang="fr-FR" altLang="fr-FR" sz="2000" baseline="-25000"/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2555875" y="141288"/>
            <a:ext cx="411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Principe de ces techniques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CD64F-86DF-40EF-96E0-2BB0C742C2F6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fr-FR" altLang="fr-FR" sz="1400" b="0"/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1692275" y="188913"/>
            <a:ext cx="514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Méthode d</a:t>
            </a:r>
            <a:r>
              <a:rPr lang="ja-JP" altLang="fr-FR" sz="2400" b="1">
                <a:solidFill>
                  <a:srgbClr val="A50021"/>
                </a:solidFill>
              </a:rPr>
              <a:t>’</a:t>
            </a:r>
            <a:r>
              <a:rPr lang="fr-FR" altLang="ja-JP" sz="2400" b="1">
                <a:solidFill>
                  <a:srgbClr val="A50021"/>
                </a:solidFill>
              </a:rPr>
              <a:t>Euler et d</a:t>
            </a:r>
            <a:r>
              <a:rPr lang="ja-JP" altLang="fr-FR" sz="2400" b="1">
                <a:solidFill>
                  <a:srgbClr val="A50021"/>
                </a:solidFill>
              </a:rPr>
              <a:t>’</a:t>
            </a:r>
            <a:r>
              <a:rPr lang="fr-FR" altLang="ja-JP" sz="2400" b="1">
                <a:solidFill>
                  <a:srgbClr val="A50021"/>
                </a:solidFill>
              </a:rPr>
              <a:t>Euler à 2 pas</a:t>
            </a:r>
            <a:endParaRPr lang="fr-FR" altLang="fr-FR" sz="2400" b="1">
              <a:solidFill>
                <a:srgbClr val="A50021"/>
              </a:solidFill>
            </a:endParaRPr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5484813" y="692150"/>
          <a:ext cx="32258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Equation" r:id="rId4" imgW="1790640" imgH="393480" progId="Equation.DSMT4">
                  <p:embed/>
                </p:oleObj>
              </mc:Choice>
              <mc:Fallback>
                <p:oleObj name="Equation" r:id="rId4" imgW="179064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692150"/>
                        <a:ext cx="32258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231775" y="836613"/>
            <a:ext cx="80327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z="2000"/>
              <a:t> On note </a:t>
            </a:r>
            <a:r>
              <a:rPr lang="fr-FR" altLang="fr-FR" sz="2000">
                <a:sym typeface="Symbol" panose="05050102010706020507" pitchFamily="18" charset="2"/>
              </a:rPr>
              <a:t>ϕ(t) la solution exacte de l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éq. diff.</a:t>
            </a:r>
          </a:p>
          <a:p>
            <a:pPr eaLnBrk="1" hangingPunct="1">
              <a:spcBef>
                <a:spcPct val="0"/>
              </a:spcBef>
            </a:pPr>
            <a:endParaRPr lang="fr-FR" altLang="fr-FR" sz="2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z="2000">
                <a:sym typeface="Symbol" panose="05050102010706020507" pitchFamily="18" charset="2"/>
              </a:rPr>
              <a:t> Sans perdre en généralité, on suppose qu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à l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instant n, </a:t>
            </a:r>
            <a:r>
              <a:rPr lang="fr-FR" altLang="ja-JP" sz="2000">
                <a:solidFill>
                  <a:srgbClr val="FF0000"/>
                </a:solidFill>
                <a:sym typeface="Symbol" panose="05050102010706020507" pitchFamily="18" charset="2"/>
              </a:rPr>
              <a:t>ϕ(t</a:t>
            </a:r>
            <a:r>
              <a:rPr lang="fr-FR" altLang="ja-JP" sz="2000" baseline="-25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fr-FR" altLang="ja-JP" sz="2000">
                <a:solidFill>
                  <a:srgbClr val="FF0000"/>
                </a:solidFill>
                <a:sym typeface="Symbol" panose="05050102010706020507" pitchFamily="18" charset="2"/>
              </a:rPr>
              <a:t>) = y</a:t>
            </a:r>
            <a:r>
              <a:rPr lang="fr-FR" altLang="ja-JP" sz="2000" baseline="-25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endParaRPr lang="fr-FR" altLang="fr-FR" sz="2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231775" y="1982788"/>
            <a:ext cx="7739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/>
              <a:t>Phase 1</a:t>
            </a:r>
            <a:r>
              <a:rPr lang="fr-FR" altLang="fr-FR" sz="2000"/>
              <a:t> : application de la méthode d</a:t>
            </a:r>
            <a:r>
              <a:rPr lang="ja-JP" altLang="fr-FR" sz="2000"/>
              <a:t>’</a:t>
            </a:r>
            <a:r>
              <a:rPr lang="fr-FR" altLang="ja-JP" sz="2000"/>
              <a:t>Euler 1x avec pas=h donne :</a:t>
            </a:r>
            <a:endParaRPr lang="fr-FR" altLang="fr-FR" sz="2000"/>
          </a:p>
        </p:txBody>
      </p:sp>
      <p:graphicFrame>
        <p:nvGraphicFramePr>
          <p:cNvPr id="19463" name="Object 8"/>
          <p:cNvGraphicFramePr>
            <a:graphicFrameLocks noChangeAspect="1"/>
          </p:cNvGraphicFramePr>
          <p:nvPr/>
        </p:nvGraphicFramePr>
        <p:xfrm>
          <a:off x="1223963" y="2492375"/>
          <a:ext cx="23114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Equation" r:id="rId6" imgW="1282680" imgH="228600" progId="Equation.DSMT4">
                  <p:embed/>
                </p:oleObj>
              </mc:Choice>
              <mc:Fallback>
                <p:oleObj name="Equation" r:id="rId6" imgW="128268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2492375"/>
                        <a:ext cx="23114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9"/>
          <p:cNvGraphicFramePr>
            <a:graphicFrameLocks noChangeAspect="1"/>
          </p:cNvGraphicFramePr>
          <p:nvPr/>
        </p:nvGraphicFramePr>
        <p:xfrm>
          <a:off x="1758950" y="3028950"/>
          <a:ext cx="5191125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Equation" r:id="rId8" imgW="2882880" imgH="838080" progId="Equation.DSMT4">
                  <p:embed/>
                </p:oleObj>
              </mc:Choice>
              <mc:Fallback>
                <p:oleObj name="Equation" r:id="rId8" imgW="2882880" imgH="8380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3028950"/>
                        <a:ext cx="5191125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323850" y="356711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Or</a:t>
            </a:r>
          </a:p>
        </p:txBody>
      </p:sp>
      <p:graphicFrame>
        <p:nvGraphicFramePr>
          <p:cNvPr id="19466" name="Object 11"/>
          <p:cNvGraphicFramePr>
            <a:graphicFrameLocks noChangeAspect="1"/>
          </p:cNvGraphicFramePr>
          <p:nvPr/>
        </p:nvGraphicFramePr>
        <p:xfrm>
          <a:off x="1365250" y="4556125"/>
          <a:ext cx="37258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Equation" r:id="rId10" imgW="2070100" imgH="419100" progId="Equation.DSMT4">
                  <p:embed/>
                </p:oleObj>
              </mc:Choice>
              <mc:Fallback>
                <p:oleObj name="Equation" r:id="rId10" imgW="2070100" imgH="419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4556125"/>
                        <a:ext cx="372586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12"/>
          <p:cNvSpPr>
            <a:spLocks noChangeArrowheads="1"/>
          </p:cNvSpPr>
          <p:nvPr/>
        </p:nvSpPr>
        <p:spPr bwMode="auto">
          <a:xfrm>
            <a:off x="3059113" y="4556125"/>
            <a:ext cx="1152525" cy="86360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2763838" y="5413375"/>
            <a:ext cx="5446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Erreur commise lors de l</a:t>
            </a:r>
            <a:r>
              <a:rPr lang="ja-JP" altLang="fr-FR" sz="2000"/>
              <a:t>’</a:t>
            </a:r>
            <a:r>
              <a:rPr lang="fr-FR" altLang="ja-JP" sz="2000"/>
              <a:t>intégration avec Euler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A31700-FE88-494B-810A-DAF03FABC199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fr-FR" altLang="fr-FR" sz="1400" b="0"/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250825" y="234950"/>
            <a:ext cx="6732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Phase 2</a:t>
            </a:r>
            <a:r>
              <a:rPr lang="fr-FR" altLang="fr-FR" sz="1800"/>
              <a:t> : </a:t>
            </a:r>
            <a:r>
              <a:rPr lang="fr-FR" altLang="fr-FR" sz="2000"/>
              <a:t>Application de la méthode RK2 avec un pas=h</a:t>
            </a:r>
          </a:p>
        </p:txBody>
      </p:sp>
      <p:graphicFrame>
        <p:nvGraphicFramePr>
          <p:cNvPr id="215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160864"/>
              </p:ext>
            </p:extLst>
          </p:nvPr>
        </p:nvGraphicFramePr>
        <p:xfrm>
          <a:off x="323850" y="547688"/>
          <a:ext cx="2513108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name="Equation" r:id="rId4" imgW="1663560" imgH="1244520" progId="Equation.DSMT4">
                  <p:embed/>
                </p:oleObj>
              </mc:Choice>
              <mc:Fallback>
                <p:oleObj name="Equation" r:id="rId4" imgW="1663560" imgH="12445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47688"/>
                        <a:ext cx="2513108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9"/>
          <p:cNvGraphicFramePr>
            <a:graphicFrameLocks noChangeAspect="1"/>
          </p:cNvGraphicFramePr>
          <p:nvPr/>
        </p:nvGraphicFramePr>
        <p:xfrm>
          <a:off x="4035425" y="1052513"/>
          <a:ext cx="42545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Equation" r:id="rId6" imgW="2361960" imgH="393480" progId="Equation.DSMT4">
                  <p:embed/>
                </p:oleObj>
              </mc:Choice>
              <mc:Fallback>
                <p:oleObj name="Equation" r:id="rId6" imgW="236196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1052513"/>
                        <a:ext cx="42545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23"/>
          <p:cNvSpPr txBox="1">
            <a:spLocks noChangeArrowheads="1"/>
          </p:cNvSpPr>
          <p:nvPr/>
        </p:nvSpPr>
        <p:spPr bwMode="auto">
          <a:xfrm>
            <a:off x="3203575" y="11969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ym typeface="Symbol" panose="05050102010706020507" pitchFamily="18" charset="2"/>
              </a:rPr>
              <a:t>=&gt;</a:t>
            </a:r>
          </a:p>
        </p:txBody>
      </p:sp>
      <p:graphicFrame>
        <p:nvGraphicFramePr>
          <p:cNvPr id="21511" name="Object 24"/>
          <p:cNvGraphicFramePr>
            <a:graphicFrameLocks noChangeAspect="1"/>
          </p:cNvGraphicFramePr>
          <p:nvPr/>
        </p:nvGraphicFramePr>
        <p:xfrm>
          <a:off x="280988" y="2420938"/>
          <a:ext cx="8589962" cy="284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Equation" r:id="rId8" imgW="5371920" imgH="1777680" progId="Equation.DSMT4">
                  <p:embed/>
                </p:oleObj>
              </mc:Choice>
              <mc:Fallback>
                <p:oleObj name="Equation" r:id="rId8" imgW="5371920" imgH="17776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2420938"/>
                        <a:ext cx="8589962" cy="284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28"/>
          <p:cNvSpPr>
            <a:spLocks noChangeArrowheads="1"/>
          </p:cNvSpPr>
          <p:nvPr/>
        </p:nvSpPr>
        <p:spPr bwMode="auto">
          <a:xfrm>
            <a:off x="7164388" y="4437063"/>
            <a:ext cx="170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car ϕ(t</a:t>
            </a:r>
            <a:r>
              <a:rPr lang="fr-FR" altLang="fr-FR" sz="1800" baseline="-25000">
                <a:sym typeface="Symbol" panose="05050102010706020507" pitchFamily="18" charset="2"/>
              </a:rPr>
              <a:t>n</a:t>
            </a:r>
            <a:r>
              <a:rPr lang="fr-FR" altLang="fr-FR" sz="1800">
                <a:sym typeface="Symbol" panose="05050102010706020507" pitchFamily="18" charset="2"/>
              </a:rPr>
              <a:t>) = y</a:t>
            </a:r>
            <a:r>
              <a:rPr lang="fr-FR" altLang="fr-FR" sz="1800" baseline="-25000">
                <a:sym typeface="Symbol" panose="05050102010706020507" pitchFamily="18" charset="2"/>
              </a:rPr>
              <a:t>n </a:t>
            </a:r>
            <a:r>
              <a:rPr lang="fr-FR" altLang="fr-FR" sz="1800">
                <a:sym typeface="Symbol" panose="05050102010706020507" pitchFamily="18" charset="2"/>
              </a:rPr>
              <a:t>et</a:t>
            </a:r>
          </a:p>
        </p:txBody>
      </p:sp>
      <p:graphicFrame>
        <p:nvGraphicFramePr>
          <p:cNvPr id="21513" name="Object 29"/>
          <p:cNvGraphicFramePr>
            <a:graphicFrameLocks noChangeAspect="1"/>
          </p:cNvGraphicFramePr>
          <p:nvPr/>
        </p:nvGraphicFramePr>
        <p:xfrm>
          <a:off x="7577138" y="4797425"/>
          <a:ext cx="13382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name="Equation" r:id="rId10" imgW="838080" imgH="393480" progId="Equation.DSMT4">
                  <p:embed/>
                </p:oleObj>
              </mc:Choice>
              <mc:Fallback>
                <p:oleObj name="Equation" r:id="rId10" imgW="838080" imgH="3934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7138" y="4797425"/>
                        <a:ext cx="13382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AutoShape 31"/>
          <p:cNvSpPr>
            <a:spLocks/>
          </p:cNvSpPr>
          <p:nvPr/>
        </p:nvSpPr>
        <p:spPr bwMode="auto">
          <a:xfrm rot="5400000">
            <a:off x="6695282" y="440531"/>
            <a:ext cx="360362" cy="2879725"/>
          </a:xfrm>
          <a:prstGeom prst="rightBrace">
            <a:avLst>
              <a:gd name="adj1" fmla="val 66593"/>
              <a:gd name="adj2" fmla="val 50000"/>
            </a:avLst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21515" name="Rectangle 32"/>
          <p:cNvSpPr>
            <a:spLocks noChangeArrowheads="1"/>
          </p:cNvSpPr>
          <p:nvPr/>
        </p:nvSpPr>
        <p:spPr bwMode="auto">
          <a:xfrm>
            <a:off x="323850" y="2276475"/>
            <a:ext cx="8712200" cy="3313113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graphicFrame>
        <p:nvGraphicFramePr>
          <p:cNvPr id="21516" name="Object 36"/>
          <p:cNvGraphicFramePr>
            <a:graphicFrameLocks noChangeAspect="1"/>
          </p:cNvGraphicFramePr>
          <p:nvPr/>
        </p:nvGraphicFramePr>
        <p:xfrm>
          <a:off x="1450975" y="5734050"/>
          <a:ext cx="668178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12" imgW="4127400" imgH="444240" progId="Equation.DSMT4">
                  <p:embed/>
                </p:oleObj>
              </mc:Choice>
              <mc:Fallback>
                <p:oleObj name="Equation" r:id="rId12" imgW="4127400" imgH="4442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5734050"/>
                        <a:ext cx="668178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Text Box 37"/>
          <p:cNvSpPr txBox="1">
            <a:spLocks noChangeArrowheads="1"/>
          </p:cNvSpPr>
          <p:nvPr/>
        </p:nvSpPr>
        <p:spPr bwMode="auto">
          <a:xfrm>
            <a:off x="323850" y="5840413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</a:t>
            </a:r>
            <a:r>
              <a:rPr lang="ja-JP" altLang="fr-FR" sz="2000"/>
              <a:t>’</a:t>
            </a:r>
            <a:r>
              <a:rPr lang="fr-FR" altLang="ja-JP" sz="2000"/>
              <a:t>où :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AB7BD7-4EAA-435B-B59E-21304797D701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fr-FR" altLang="fr-FR" sz="1400" b="0"/>
          </a:p>
        </p:txBody>
      </p:sp>
      <p:sp>
        <p:nvSpPr>
          <p:cNvPr id="23555" name="Text Box 14"/>
          <p:cNvSpPr txBox="1">
            <a:spLocks noChangeArrowheads="1"/>
          </p:cNvSpPr>
          <p:nvPr/>
        </p:nvSpPr>
        <p:spPr bwMode="auto">
          <a:xfrm>
            <a:off x="755650" y="3351213"/>
            <a:ext cx="7346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Comme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l</a:t>
            </a:r>
            <a:r>
              <a:rPr lang="ja-JP" altLang="fr-FR" sz="2000"/>
              <a:t>’</a:t>
            </a:r>
            <a:r>
              <a:rPr lang="fr-FR" altLang="ja-JP" sz="2000"/>
              <a:t>erreur d</a:t>
            </a:r>
            <a:r>
              <a:rPr lang="ja-JP" altLang="fr-FR" sz="2000"/>
              <a:t>’</a:t>
            </a:r>
            <a:r>
              <a:rPr lang="fr-FR" altLang="ja-JP" sz="2000"/>
              <a:t>intégration </a:t>
            </a:r>
            <a:r>
              <a:rPr lang="fr-FR" altLang="ja-JP" sz="2000">
                <a:latin typeface="Symbol" panose="05050102010706020507" pitchFamily="18" charset="2"/>
              </a:rPr>
              <a:t>e</a:t>
            </a:r>
            <a:r>
              <a:rPr lang="fr-FR" altLang="ja-JP" sz="2000"/>
              <a:t> à chaque pas peut être estimée par A</a:t>
            </a:r>
            <a:r>
              <a:rPr lang="fr-FR" altLang="ja-JP" sz="2000" baseline="-25000"/>
              <a:t>1</a:t>
            </a:r>
            <a:r>
              <a:rPr lang="fr-FR" altLang="ja-JP" sz="2000"/>
              <a:t>-A</a:t>
            </a:r>
            <a:r>
              <a:rPr lang="fr-FR" altLang="ja-JP" sz="2000" baseline="-25000"/>
              <a:t>2</a:t>
            </a:r>
            <a:endParaRPr lang="fr-FR" altLang="fr-FR" sz="2000" baseline="-25000"/>
          </a:p>
        </p:txBody>
      </p:sp>
      <p:graphicFrame>
        <p:nvGraphicFramePr>
          <p:cNvPr id="23556" name="Object 13"/>
          <p:cNvGraphicFramePr>
            <a:graphicFrameLocks noChangeAspect="1"/>
          </p:cNvGraphicFramePr>
          <p:nvPr/>
        </p:nvGraphicFramePr>
        <p:xfrm>
          <a:off x="1835150" y="3133725"/>
          <a:ext cx="372745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Equation" r:id="rId4" imgW="2070100" imgH="419100" progId="Equation.DSMT4">
                  <p:embed/>
                </p:oleObj>
              </mc:Choice>
              <mc:Fallback>
                <p:oleObj name="Equation" r:id="rId4" imgW="20701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133725"/>
                        <a:ext cx="372745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21"/>
          <p:cNvGraphicFramePr>
            <a:graphicFrameLocks noChangeAspect="1"/>
          </p:cNvGraphicFramePr>
          <p:nvPr/>
        </p:nvGraphicFramePr>
        <p:xfrm>
          <a:off x="2627313" y="4573588"/>
          <a:ext cx="32448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8" name="Equation" r:id="rId6" imgW="1803240" imgH="419040" progId="Equation.DSMT4">
                  <p:embed/>
                </p:oleObj>
              </mc:Choice>
              <mc:Fallback>
                <p:oleObj name="Equation" r:id="rId6" imgW="1803240" imgH="4190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573588"/>
                        <a:ext cx="32448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23"/>
          <p:cNvGraphicFramePr>
            <a:graphicFrameLocks noChangeAspect="1"/>
          </p:cNvGraphicFramePr>
          <p:nvPr/>
        </p:nvGraphicFramePr>
        <p:xfrm>
          <a:off x="928688" y="333375"/>
          <a:ext cx="38735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9" name="Equation" r:id="rId8" imgW="1993680" imgH="419040" progId="Equation.DSMT4">
                  <p:embed/>
                </p:oleObj>
              </mc:Choice>
              <mc:Fallback>
                <p:oleObj name="Equation" r:id="rId8" imgW="1993680" imgH="4190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33375"/>
                        <a:ext cx="38735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25"/>
          <p:cNvSpPr txBox="1">
            <a:spLocks noChangeArrowheads="1"/>
          </p:cNvSpPr>
          <p:nvPr/>
        </p:nvSpPr>
        <p:spPr bwMode="auto">
          <a:xfrm>
            <a:off x="5724525" y="692150"/>
            <a:ext cx="219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que l</a:t>
            </a:r>
            <a:r>
              <a:rPr lang="ja-JP" altLang="fr-FR" sz="1800"/>
              <a:t>’</a:t>
            </a:r>
            <a:r>
              <a:rPr lang="fr-FR" altLang="ja-JP" sz="1800"/>
              <a:t>on peut écrire </a:t>
            </a:r>
            <a:endParaRPr lang="fr-FR" altLang="fr-FR" sz="1800"/>
          </a:p>
        </p:txBody>
      </p:sp>
      <p:graphicFrame>
        <p:nvGraphicFramePr>
          <p:cNvPr id="23560" name="Object 26"/>
          <p:cNvGraphicFramePr>
            <a:graphicFrameLocks noChangeAspect="1"/>
          </p:cNvGraphicFramePr>
          <p:nvPr/>
        </p:nvGraphicFramePr>
        <p:xfrm>
          <a:off x="990600" y="1268413"/>
          <a:ext cx="43688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0" name="Equation" r:id="rId10" imgW="2311200" imgH="419040" progId="Equation.DSMT4">
                  <p:embed/>
                </p:oleObj>
              </mc:Choice>
              <mc:Fallback>
                <p:oleObj name="Equation" r:id="rId10" imgW="2311200" imgH="4190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68413"/>
                        <a:ext cx="43688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27"/>
          <p:cNvGraphicFramePr>
            <a:graphicFrameLocks noChangeAspect="1"/>
          </p:cNvGraphicFramePr>
          <p:nvPr/>
        </p:nvGraphicFramePr>
        <p:xfrm>
          <a:off x="996950" y="2457450"/>
          <a:ext cx="31718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1" name="Equation" r:id="rId12" imgW="1447560" imgH="279360" progId="Equation.DSMT4">
                  <p:embed/>
                </p:oleObj>
              </mc:Choice>
              <mc:Fallback>
                <p:oleObj name="Equation" r:id="rId12" imgW="1447560" imgH="27936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457450"/>
                        <a:ext cx="31718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28"/>
          <p:cNvSpPr>
            <a:spLocks noChangeArrowheads="1"/>
          </p:cNvSpPr>
          <p:nvPr/>
        </p:nvSpPr>
        <p:spPr bwMode="auto">
          <a:xfrm>
            <a:off x="1547813" y="1262063"/>
            <a:ext cx="2808287" cy="792162"/>
          </a:xfrm>
          <a:prstGeom prst="rect">
            <a:avLst/>
          </a:prstGeom>
          <a:solidFill>
            <a:srgbClr val="FF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23563" name="Rectangle 29"/>
          <p:cNvSpPr>
            <a:spLocks noChangeArrowheads="1"/>
          </p:cNvSpPr>
          <p:nvPr/>
        </p:nvSpPr>
        <p:spPr bwMode="auto">
          <a:xfrm>
            <a:off x="1692275" y="2457450"/>
            <a:ext cx="1512888" cy="582613"/>
          </a:xfrm>
          <a:prstGeom prst="rect">
            <a:avLst/>
          </a:prstGeom>
          <a:solidFill>
            <a:srgbClr val="FF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23564" name="AutoShape 30"/>
          <p:cNvSpPr>
            <a:spLocks noChangeArrowheads="1"/>
          </p:cNvSpPr>
          <p:nvPr/>
        </p:nvSpPr>
        <p:spPr bwMode="auto">
          <a:xfrm rot="10800000">
            <a:off x="6370638" y="1117600"/>
            <a:ext cx="504825" cy="7207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65" name="Rectangle 32"/>
          <p:cNvSpPr>
            <a:spLocks noChangeArrowheads="1"/>
          </p:cNvSpPr>
          <p:nvPr/>
        </p:nvSpPr>
        <p:spPr bwMode="auto">
          <a:xfrm>
            <a:off x="2339975" y="6086475"/>
            <a:ext cx="417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A chaque pas, l</a:t>
            </a:r>
            <a:r>
              <a:rPr lang="ja-JP" altLang="fr-FR" sz="1800" b="1"/>
              <a:t>’</a:t>
            </a:r>
            <a:r>
              <a:rPr lang="fr-FR" altLang="ja-JP" sz="1800" b="1"/>
              <a:t>erreur </a:t>
            </a:r>
            <a:r>
              <a:rPr lang="fr-FR" altLang="ja-JP" sz="1800" b="1">
                <a:latin typeface="Symbol" panose="05050102010706020507" pitchFamily="18" charset="2"/>
              </a:rPr>
              <a:t>e</a:t>
            </a:r>
            <a:r>
              <a:rPr lang="fr-FR" altLang="ja-JP" sz="1800" b="1"/>
              <a:t> est calculée </a:t>
            </a:r>
            <a:endParaRPr lang="fr-FR" altLang="fr-FR" sz="1800" b="1"/>
          </a:p>
        </p:txBody>
      </p:sp>
      <p:graphicFrame>
        <p:nvGraphicFramePr>
          <p:cNvPr id="23566" name="Object 21"/>
          <p:cNvGraphicFramePr>
            <a:graphicFrameLocks noChangeAspect="1"/>
          </p:cNvGraphicFramePr>
          <p:nvPr/>
        </p:nvGraphicFramePr>
        <p:xfrm>
          <a:off x="3494088" y="5489575"/>
          <a:ext cx="13477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2" name="Equation" r:id="rId14" imgW="749160" imgH="253800" progId="Equation.DSMT4">
                  <p:embed/>
                </p:oleObj>
              </mc:Choice>
              <mc:Fallback>
                <p:oleObj name="Equation" r:id="rId14" imgW="749160" imgH="253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5489575"/>
                        <a:ext cx="13477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47FF2E-C9AF-4BF0-9F6F-8E173E85E42F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fr-FR" altLang="fr-FR" sz="1400" b="0"/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395288" y="188913"/>
            <a:ext cx="4879975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Si </a:t>
            </a:r>
            <a:r>
              <a:rPr lang="fr-FR" altLang="fr-FR" sz="1800">
                <a:sym typeface="Symbol" panose="05050102010706020507" pitchFamily="18" charset="2"/>
              </a:rPr>
              <a:t>ε &gt; ε</a:t>
            </a:r>
            <a:r>
              <a:rPr lang="fr-FR" altLang="fr-FR" sz="1800" baseline="-25000">
                <a:sym typeface="Symbol" panose="05050102010706020507" pitchFamily="18" charset="2"/>
              </a:rPr>
              <a:t>m</a:t>
            </a:r>
            <a:r>
              <a:rPr lang="fr-FR" altLang="fr-FR" sz="1800">
                <a:sym typeface="Symbol" panose="05050102010706020507" pitchFamily="18" charset="2"/>
              </a:rPr>
              <a:t> alors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l’</a:t>
            </a:r>
            <a:r>
              <a:rPr lang="fr-FR" altLang="ja-JP" sz="1800">
                <a:sym typeface="Symbol" panose="05050102010706020507" pitchFamily="18" charset="2"/>
              </a:rPr>
              <a:t>itération est rejetée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On diminue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Sinon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l’</a:t>
            </a:r>
            <a:r>
              <a:rPr lang="fr-FR" altLang="ja-JP" sz="1800">
                <a:sym typeface="Symbol" panose="05050102010706020507" pitchFamily="18" charset="2"/>
              </a:rPr>
              <a:t>itération est validée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 On augmente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Finsi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</p:txBody>
      </p:sp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1392238" y="1700213"/>
          <a:ext cx="12795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Equation" r:id="rId4" imgW="710891" imgH="444307" progId="Equation.DSMT4">
                  <p:embed/>
                </p:oleObj>
              </mc:Choice>
              <mc:Fallback>
                <p:oleObj name="Equation" r:id="rId4" imgW="710891" imgH="44430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1700213"/>
                        <a:ext cx="127952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1465263" y="3068638"/>
          <a:ext cx="19653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Equation" r:id="rId6" imgW="1091880" imgH="279360" progId="Equation.DSMT4">
                  <p:embed/>
                </p:oleObj>
              </mc:Choice>
              <mc:Fallback>
                <p:oleObj name="Equation" r:id="rId6" imgW="109188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3068638"/>
                        <a:ext cx="19653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1476375" y="4149725"/>
          <a:ext cx="12795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8" name="Equation" r:id="rId8" imgW="710891" imgH="444307" progId="Equation.DSMT4">
                  <p:embed/>
                </p:oleObj>
              </mc:Choice>
              <mc:Fallback>
                <p:oleObj name="Equation" r:id="rId8" imgW="710891" imgH="44430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149725"/>
                        <a:ext cx="12795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10"/>
          <p:cNvSpPr txBox="1">
            <a:spLocks noChangeArrowheads="1"/>
          </p:cNvSpPr>
          <p:nvPr/>
        </p:nvSpPr>
        <p:spPr bwMode="auto">
          <a:xfrm>
            <a:off x="376238" y="5440363"/>
            <a:ext cx="8532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Rem : en pratique, un facteur de sécurité est appliqué à l</a:t>
            </a:r>
            <a:r>
              <a:rPr lang="ja-JP" altLang="fr-FR" sz="2000"/>
              <a:t>’</a:t>
            </a:r>
            <a:r>
              <a:rPr lang="fr-FR" altLang="ja-JP" sz="2000"/>
              <a:t>expression de h</a:t>
            </a:r>
            <a:r>
              <a:rPr lang="ja-JP" altLang="fr-FR" sz="2000"/>
              <a:t>’</a:t>
            </a:r>
            <a:r>
              <a:rPr lang="fr-FR" altLang="ja-JP" sz="2000"/>
              <a:t> </a:t>
            </a:r>
            <a:endParaRPr lang="fr-FR" altLang="fr-FR" sz="2000"/>
          </a:p>
        </p:txBody>
      </p:sp>
      <p:graphicFrame>
        <p:nvGraphicFramePr>
          <p:cNvPr id="25608" name="Object 11"/>
          <p:cNvGraphicFramePr>
            <a:graphicFrameLocks noChangeAspect="1"/>
          </p:cNvGraphicFramePr>
          <p:nvPr/>
        </p:nvGraphicFramePr>
        <p:xfrm>
          <a:off x="1247775" y="5805488"/>
          <a:ext cx="166846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9" name="Equation" r:id="rId9" imgW="926698" imgH="444307" progId="Equation.DSMT4">
                  <p:embed/>
                </p:oleObj>
              </mc:Choice>
              <mc:Fallback>
                <p:oleObj name="Equation" r:id="rId9" imgW="926698" imgH="44430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5805488"/>
                        <a:ext cx="1668463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12"/>
          <p:cNvGraphicFramePr>
            <a:graphicFrameLocks noChangeAspect="1"/>
          </p:cNvGraphicFramePr>
          <p:nvPr/>
        </p:nvGraphicFramePr>
        <p:xfrm>
          <a:off x="4921250" y="2401888"/>
          <a:ext cx="24463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0" name="Equation" r:id="rId11" imgW="1358640" imgH="279360" progId="Equation.DSMT4">
                  <p:embed/>
                </p:oleObj>
              </mc:Choice>
              <mc:Fallback>
                <p:oleObj name="Equation" r:id="rId11" imgW="1358640" imgH="2793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2401888"/>
                        <a:ext cx="244633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3"/>
          <p:cNvGraphicFramePr>
            <a:graphicFrameLocks noChangeAspect="1"/>
          </p:cNvGraphicFramePr>
          <p:nvPr/>
        </p:nvGraphicFramePr>
        <p:xfrm>
          <a:off x="4859338" y="1484313"/>
          <a:ext cx="3727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1" name="Equation" r:id="rId13" imgW="2070100" imgH="419100" progId="Equation.DSMT4">
                  <p:embed/>
                </p:oleObj>
              </mc:Choice>
              <mc:Fallback>
                <p:oleObj name="Equation" r:id="rId13" imgW="20701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484313"/>
                        <a:ext cx="3727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1" name="Group 19"/>
          <p:cNvGrpSpPr>
            <a:grpSpLocks/>
          </p:cNvGrpSpPr>
          <p:nvPr/>
        </p:nvGrpSpPr>
        <p:grpSpPr bwMode="auto">
          <a:xfrm>
            <a:off x="2771775" y="3068638"/>
            <a:ext cx="4319588" cy="576262"/>
            <a:chOff x="1701" y="1888"/>
            <a:chExt cx="2721" cy="363"/>
          </a:xfrm>
        </p:grpSpPr>
        <p:sp>
          <p:nvSpPr>
            <p:cNvPr id="25613" name="Line 16"/>
            <p:cNvSpPr>
              <a:spLocks noChangeShapeType="1"/>
            </p:cNvSpPr>
            <p:nvPr/>
          </p:nvSpPr>
          <p:spPr bwMode="auto">
            <a:xfrm>
              <a:off x="1701" y="2251"/>
              <a:ext cx="2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14" name="Line 17"/>
            <p:cNvSpPr>
              <a:spLocks noChangeShapeType="1"/>
            </p:cNvSpPr>
            <p:nvPr/>
          </p:nvSpPr>
          <p:spPr bwMode="auto">
            <a:xfrm flipV="1">
              <a:off x="1701" y="21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15" name="Line 18"/>
            <p:cNvSpPr>
              <a:spLocks noChangeShapeType="1"/>
            </p:cNvSpPr>
            <p:nvPr/>
          </p:nvSpPr>
          <p:spPr bwMode="auto">
            <a:xfrm flipV="1">
              <a:off x="4422" y="188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612" name="Text Box 20"/>
          <p:cNvSpPr txBox="1">
            <a:spLocks noChangeArrowheads="1"/>
          </p:cNvSpPr>
          <p:nvPr/>
        </p:nvSpPr>
        <p:spPr bwMode="auto">
          <a:xfrm>
            <a:off x="2555875" y="141288"/>
            <a:ext cx="3500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Algorithme de principe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34A78E-A2C1-4741-B807-CE949DEE7720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fr-FR" altLang="fr-FR" sz="1400" b="0"/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1835150" y="115888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A50021"/>
                </a:solidFill>
              </a:rPr>
              <a:t>Méthode de </a:t>
            </a:r>
            <a:r>
              <a:rPr lang="fr-FR" altLang="fr-FR" sz="2400" b="1" dirty="0" err="1">
                <a:solidFill>
                  <a:srgbClr val="A50021"/>
                </a:solidFill>
              </a:rPr>
              <a:t>Kutta</a:t>
            </a:r>
            <a:r>
              <a:rPr lang="fr-FR" altLang="fr-FR" sz="2400" b="1" dirty="0">
                <a:solidFill>
                  <a:srgbClr val="A50021"/>
                </a:solidFill>
              </a:rPr>
              <a:t> -</a:t>
            </a:r>
            <a:r>
              <a:rPr lang="fr-FR" altLang="fr-FR" sz="2400" b="1" dirty="0" err="1">
                <a:solidFill>
                  <a:srgbClr val="A50021"/>
                </a:solidFill>
              </a:rPr>
              <a:t>Merson</a:t>
            </a:r>
            <a:endParaRPr lang="fr-FR" altLang="fr-FR" sz="2400" b="1" dirty="0">
              <a:solidFill>
                <a:srgbClr val="A50021"/>
              </a:solidFill>
            </a:endParaRPr>
          </a:p>
        </p:txBody>
      </p:sp>
      <p:graphicFrame>
        <p:nvGraphicFramePr>
          <p:cNvPr id="27652" name="Object 6"/>
          <p:cNvGraphicFramePr>
            <a:graphicFrameLocks noChangeAspect="1"/>
          </p:cNvGraphicFramePr>
          <p:nvPr/>
        </p:nvGraphicFramePr>
        <p:xfrm>
          <a:off x="-53975" y="765175"/>
          <a:ext cx="91249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Equation" r:id="rId4" imgW="5067000" imgH="2057400" progId="Equation.DSMT4">
                  <p:embed/>
                </p:oleObj>
              </mc:Choice>
              <mc:Fallback>
                <p:oleObj name="Equation" r:id="rId4" imgW="5067000" imgH="205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3975" y="765175"/>
                        <a:ext cx="9124950" cy="369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0" y="4627563"/>
            <a:ext cx="50193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dirty="0" smtClean="0"/>
              <a:t>C</a:t>
            </a:r>
            <a:r>
              <a:rPr lang="fr-FR" altLang="fr-FR" sz="2000" dirty="0" smtClean="0"/>
              <a:t>’</a:t>
            </a:r>
            <a:r>
              <a:rPr lang="fr-FR" altLang="ja-JP" sz="2000" dirty="0" smtClean="0"/>
              <a:t>est </a:t>
            </a:r>
            <a:r>
              <a:rPr lang="fr-FR" altLang="ja-JP" sz="2000" dirty="0"/>
              <a:t>une méthode d</a:t>
            </a:r>
            <a:r>
              <a:rPr lang="ja-JP" altLang="fr-FR" sz="2000" dirty="0"/>
              <a:t>’</a:t>
            </a:r>
            <a:r>
              <a:rPr lang="fr-FR" altLang="ja-JP" sz="2000" dirty="0"/>
              <a:t>intégration d</a:t>
            </a:r>
            <a:r>
              <a:rPr lang="ja-JP" altLang="fr-FR" sz="2000" dirty="0"/>
              <a:t>’</a:t>
            </a:r>
            <a:r>
              <a:rPr lang="fr-FR" altLang="ja-JP" sz="2000" dirty="0"/>
              <a:t>ordre 5</a:t>
            </a:r>
            <a:endParaRPr lang="fr-FR" altLang="fr-FR" sz="2000" dirty="0"/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20638" y="5030788"/>
            <a:ext cx="6207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smtClean="0"/>
              <a:t>L</a:t>
            </a:r>
            <a:r>
              <a:rPr lang="fr-FR" altLang="fr-FR" sz="2000" smtClean="0"/>
              <a:t>’</a:t>
            </a:r>
            <a:r>
              <a:rPr lang="fr-FR" altLang="ja-JP" sz="2000" smtClean="0"/>
              <a:t>erreur </a:t>
            </a:r>
            <a:r>
              <a:rPr lang="fr-FR" altLang="ja-JP" sz="2000" dirty="0"/>
              <a:t>d</a:t>
            </a:r>
            <a:r>
              <a:rPr lang="ja-JP" altLang="fr-FR" sz="2000" dirty="0"/>
              <a:t>’</a:t>
            </a:r>
            <a:r>
              <a:rPr lang="fr-FR" altLang="ja-JP" sz="2000" dirty="0"/>
              <a:t>intégration à chaque pas peut être estimée</a:t>
            </a:r>
            <a:endParaRPr lang="fr-FR" altLang="fr-FR" sz="2000" dirty="0"/>
          </a:p>
        </p:txBody>
      </p:sp>
      <p:graphicFrame>
        <p:nvGraphicFramePr>
          <p:cNvPr id="27655" name="Object 9"/>
          <p:cNvGraphicFramePr>
            <a:graphicFrameLocks noChangeAspect="1"/>
          </p:cNvGraphicFramePr>
          <p:nvPr/>
        </p:nvGraphicFramePr>
        <p:xfrm>
          <a:off x="4992688" y="5661025"/>
          <a:ext cx="32210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name="Equation" r:id="rId6" imgW="1790700" imgH="419100" progId="Equation.DSMT4">
                  <p:embed/>
                </p:oleObj>
              </mc:Choice>
              <mc:Fallback>
                <p:oleObj name="Equation" r:id="rId6" imgW="17907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5661025"/>
                        <a:ext cx="322103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0"/>
          <p:cNvGraphicFramePr>
            <a:graphicFrameLocks noChangeAspect="1"/>
          </p:cNvGraphicFramePr>
          <p:nvPr/>
        </p:nvGraphicFramePr>
        <p:xfrm>
          <a:off x="133350" y="5661025"/>
          <a:ext cx="351948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8" imgW="1955800" imgH="419100" progId="Equation.DSMT4">
                  <p:embed/>
                </p:oleObj>
              </mc:Choice>
              <mc:Fallback>
                <p:oleObj name="Equation" r:id="rId8" imgW="19558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" y="5661025"/>
                        <a:ext cx="351948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11"/>
          <p:cNvSpPr>
            <a:spLocks noChangeArrowheads="1"/>
          </p:cNvSpPr>
          <p:nvPr/>
        </p:nvSpPr>
        <p:spPr bwMode="auto">
          <a:xfrm>
            <a:off x="6588125" y="3573463"/>
            <a:ext cx="1512888" cy="792162"/>
          </a:xfrm>
          <a:prstGeom prst="rect">
            <a:avLst/>
          </a:prstGeom>
          <a:solidFill>
            <a:srgbClr val="FFFF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grpSp>
        <p:nvGrpSpPr>
          <p:cNvPr id="27658" name="Group 12"/>
          <p:cNvGrpSpPr>
            <a:grpSpLocks/>
          </p:cNvGrpSpPr>
          <p:nvPr/>
        </p:nvGrpSpPr>
        <p:grpSpPr bwMode="auto">
          <a:xfrm>
            <a:off x="6372225" y="4508500"/>
            <a:ext cx="936625" cy="720725"/>
            <a:chOff x="4014" y="2931"/>
            <a:chExt cx="590" cy="681"/>
          </a:xfrm>
        </p:grpSpPr>
        <p:sp>
          <p:nvSpPr>
            <p:cNvPr id="27660" name="Line 13"/>
            <p:cNvSpPr>
              <a:spLocks noChangeShapeType="1"/>
            </p:cNvSpPr>
            <p:nvPr/>
          </p:nvSpPr>
          <p:spPr bwMode="auto">
            <a:xfrm>
              <a:off x="4014" y="3612"/>
              <a:ext cx="5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61" name="Line 14"/>
            <p:cNvSpPr>
              <a:spLocks noChangeShapeType="1"/>
            </p:cNvSpPr>
            <p:nvPr/>
          </p:nvSpPr>
          <p:spPr bwMode="auto">
            <a:xfrm flipV="1">
              <a:off x="4604" y="2931"/>
              <a:ext cx="0" cy="68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7659" name="Text Box 15"/>
          <p:cNvSpPr txBox="1">
            <a:spLocks noChangeArrowheads="1"/>
          </p:cNvSpPr>
          <p:nvPr/>
        </p:nvSpPr>
        <p:spPr bwMode="auto">
          <a:xfrm>
            <a:off x="6731000" y="5876925"/>
            <a:ext cx="288925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>
                <a:sym typeface="SymbolProp BT" pitchFamily="18" charset="2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827FF1-A2B1-4CA3-B8E7-C3F76AF231A5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fr-FR" altLang="fr-FR" sz="1400" b="0"/>
          </a:p>
        </p:txBody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395288" y="188913"/>
            <a:ext cx="5457825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 chaque pas, l</a:t>
            </a:r>
            <a:r>
              <a:rPr lang="ja-JP" altLang="fr-FR" sz="1800"/>
              <a:t>’</a:t>
            </a:r>
            <a:r>
              <a:rPr lang="fr-FR" altLang="ja-JP" sz="1800"/>
              <a:t>erreur                           est calculée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Si </a:t>
            </a:r>
            <a:r>
              <a:rPr lang="fr-FR" altLang="fr-FR" sz="1800">
                <a:sym typeface="Symbol" panose="05050102010706020507" pitchFamily="18" charset="2"/>
              </a:rPr>
              <a:t>ε &gt; ε</a:t>
            </a:r>
            <a:r>
              <a:rPr lang="fr-FR" altLang="fr-FR" sz="1800" baseline="-25000">
                <a:sym typeface="Symbol" panose="05050102010706020507" pitchFamily="18" charset="2"/>
              </a:rPr>
              <a:t>m</a:t>
            </a:r>
            <a:r>
              <a:rPr lang="fr-FR" altLang="fr-FR" sz="1800">
                <a:sym typeface="Symbol" panose="05050102010706020507" pitchFamily="18" charset="2"/>
              </a:rPr>
              <a:t> alors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l’</a:t>
            </a:r>
            <a:r>
              <a:rPr lang="fr-FR" altLang="ja-JP" sz="1800">
                <a:sym typeface="Symbol" panose="05050102010706020507" pitchFamily="18" charset="2"/>
              </a:rPr>
              <a:t>itération est rejetée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On diminue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Sinon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itération est validée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 On augmente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Finsi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2736850" y="41275"/>
          <a:ext cx="16906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2" name="Equation" r:id="rId4" imgW="939392" imgH="393529" progId="Equation.DSMT4">
                  <p:embed/>
                </p:oleObj>
              </mc:Choice>
              <mc:Fallback>
                <p:oleObj name="Equation" r:id="rId4" imgW="939392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50" y="41275"/>
                        <a:ext cx="16906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1387475" y="1628775"/>
          <a:ext cx="16002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3" name="Equation" r:id="rId6" imgW="889000" imgH="469900" progId="Equation.DSMT4">
                  <p:embed/>
                </p:oleObj>
              </mc:Choice>
              <mc:Fallback>
                <p:oleObj name="Equation" r:id="rId6" imgW="889000" imgH="469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1628775"/>
                        <a:ext cx="16002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/>
          <p:cNvGraphicFramePr>
            <a:graphicFrameLocks noChangeAspect="1"/>
          </p:cNvGraphicFramePr>
          <p:nvPr/>
        </p:nvGraphicFramePr>
        <p:xfrm>
          <a:off x="1403350" y="3068638"/>
          <a:ext cx="2355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4" name="Equation" r:id="rId8" imgW="1308100" imgH="279400" progId="Equation.DSMT4">
                  <p:embed/>
                </p:oleObj>
              </mc:Choice>
              <mc:Fallback>
                <p:oleObj name="Equation" r:id="rId8" imgW="1308100" imgH="279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068638"/>
                        <a:ext cx="23558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376238" y="5440363"/>
            <a:ext cx="8532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Rem : en pratique, un facteur de sécurité est appliqué à l</a:t>
            </a:r>
            <a:r>
              <a:rPr lang="ja-JP" altLang="fr-FR" sz="2000"/>
              <a:t>’</a:t>
            </a:r>
            <a:r>
              <a:rPr lang="fr-FR" altLang="ja-JP" sz="2000"/>
              <a:t>expression de h</a:t>
            </a:r>
            <a:r>
              <a:rPr lang="ja-JP" altLang="fr-FR" sz="2000"/>
              <a:t>’</a:t>
            </a:r>
            <a:r>
              <a:rPr lang="fr-FR" altLang="ja-JP" sz="2000"/>
              <a:t> </a:t>
            </a:r>
            <a:endParaRPr lang="fr-FR" altLang="fr-FR" sz="2000"/>
          </a:p>
        </p:txBody>
      </p:sp>
      <p:graphicFrame>
        <p:nvGraphicFramePr>
          <p:cNvPr id="29704" name="Object 11"/>
          <p:cNvGraphicFramePr>
            <a:graphicFrameLocks noChangeAspect="1"/>
          </p:cNvGraphicFramePr>
          <p:nvPr/>
        </p:nvGraphicFramePr>
        <p:xfrm>
          <a:off x="1458913" y="4076700"/>
          <a:ext cx="16002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5" name="Equation" r:id="rId10" imgW="889000" imgH="469900" progId="Equation.DSMT4">
                  <p:embed/>
                </p:oleObj>
              </mc:Choice>
              <mc:Fallback>
                <p:oleObj name="Equation" r:id="rId10" imgW="889000" imgH="469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4076700"/>
                        <a:ext cx="16002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12"/>
          <p:cNvGraphicFramePr>
            <a:graphicFrameLocks noChangeAspect="1"/>
          </p:cNvGraphicFramePr>
          <p:nvPr/>
        </p:nvGraphicFramePr>
        <p:xfrm>
          <a:off x="4643438" y="1844675"/>
          <a:ext cx="4094162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6" name="Equation" r:id="rId12" imgW="2273300" imgH="863600" progId="Equation.DSMT4">
                  <p:embed/>
                </p:oleObj>
              </mc:Choice>
              <mc:Fallback>
                <p:oleObj name="Equation" r:id="rId12" imgW="2273300" imgH="863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844675"/>
                        <a:ext cx="4094162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3"/>
          <p:cNvGraphicFramePr>
            <a:graphicFrameLocks noChangeAspect="1"/>
          </p:cNvGraphicFramePr>
          <p:nvPr/>
        </p:nvGraphicFramePr>
        <p:xfrm>
          <a:off x="1190625" y="5805488"/>
          <a:ext cx="20129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7" name="Equation" r:id="rId14" imgW="1117600" imgH="469900" progId="Equation.DSMT4">
                  <p:embed/>
                </p:oleObj>
              </mc:Choice>
              <mc:Fallback>
                <p:oleObj name="Equation" r:id="rId14" imgW="11176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5805488"/>
                        <a:ext cx="20129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Rectangle 14"/>
          <p:cNvSpPr>
            <a:spLocks noChangeArrowheads="1"/>
          </p:cNvSpPr>
          <p:nvPr/>
        </p:nvSpPr>
        <p:spPr bwMode="auto">
          <a:xfrm>
            <a:off x="6300788" y="2636838"/>
            <a:ext cx="1512887" cy="792162"/>
          </a:xfrm>
          <a:prstGeom prst="rect">
            <a:avLst/>
          </a:prstGeom>
          <a:solidFill>
            <a:srgbClr val="FFFF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grpSp>
        <p:nvGrpSpPr>
          <p:cNvPr id="29708" name="Group 19"/>
          <p:cNvGrpSpPr>
            <a:grpSpLocks/>
          </p:cNvGrpSpPr>
          <p:nvPr/>
        </p:nvGrpSpPr>
        <p:grpSpPr bwMode="auto">
          <a:xfrm>
            <a:off x="2700338" y="3357563"/>
            <a:ext cx="4319587" cy="215900"/>
            <a:chOff x="1701" y="2115"/>
            <a:chExt cx="2721" cy="136"/>
          </a:xfrm>
        </p:grpSpPr>
        <p:sp>
          <p:nvSpPr>
            <p:cNvPr id="29709" name="Line 16"/>
            <p:cNvSpPr>
              <a:spLocks noChangeShapeType="1"/>
            </p:cNvSpPr>
            <p:nvPr/>
          </p:nvSpPr>
          <p:spPr bwMode="auto">
            <a:xfrm>
              <a:off x="1701" y="2251"/>
              <a:ext cx="2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710" name="Line 17"/>
            <p:cNvSpPr>
              <a:spLocks noChangeShapeType="1"/>
            </p:cNvSpPr>
            <p:nvPr/>
          </p:nvSpPr>
          <p:spPr bwMode="auto">
            <a:xfrm flipV="1">
              <a:off x="1701" y="21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711" name="Line 18"/>
            <p:cNvSpPr>
              <a:spLocks noChangeShapeType="1"/>
            </p:cNvSpPr>
            <p:nvPr/>
          </p:nvSpPr>
          <p:spPr bwMode="auto">
            <a:xfrm flipV="1">
              <a:off x="4422" y="211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EF8666-DD60-480E-BC32-AA9E6A99DE3D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fr-FR" altLang="fr-FR" sz="1400" b="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228600" y="1106488"/>
            <a:ext cx="8686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400"/>
              <a:t>ode23 et ode45 sont des solveurs implantés dans Matlab</a:t>
            </a:r>
            <a:r>
              <a:rPr lang="fr-FR" altLang="fr-FR" sz="2400" baseline="30000"/>
              <a:t>®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fr-FR" altLang="fr-FR" sz="200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ode23 : Méthode de Runge-Kutta-Fehlberg 23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	utilisation des méthodes de Runge-Kutta d</a:t>
            </a:r>
            <a:r>
              <a:rPr lang="ja-JP" altLang="fr-FR" sz="2000"/>
              <a:t>’</a:t>
            </a:r>
            <a:r>
              <a:rPr lang="fr-FR" altLang="ja-JP" sz="2000"/>
              <a:t>ordres 2 et 3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fr-FR" altLang="fr-FR" sz="200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ode45 : Méthode de Runge-Kutta-Fehlberg 45 ~ Kutta - Merson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	utilisation des méthodes de Runge-Kutta d</a:t>
            </a:r>
            <a:r>
              <a:rPr lang="ja-JP" altLang="fr-FR" sz="2000"/>
              <a:t>’</a:t>
            </a:r>
            <a:r>
              <a:rPr lang="fr-FR" altLang="ja-JP" sz="2000"/>
              <a:t>ordres 4 et 5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fr-FR" altLang="fr-FR" sz="2000"/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ODE23 et ODE45</a:t>
            </a:r>
            <a:endParaRPr lang="en-GB" altLang="fr-FR" sz="2400" b="1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2B1BDC-EFBB-4670-BD17-296F3F6F5AE9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fr-FR" altLang="fr-FR" sz="1400" b="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228600" y="596900"/>
            <a:ext cx="868680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[t,Y]=ode45 (@f, [t0 tfin],y0)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fr-FR" altLang="fr-FR" sz="2000">
                <a:solidFill>
                  <a:srgbClr val="A50021"/>
                </a:solidFill>
              </a:rPr>
              <a:t>f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est le nom de la fonction où est défini le système d</a:t>
            </a:r>
            <a:r>
              <a:rPr lang="ja-JP" altLang="fr-FR" sz="2000"/>
              <a:t>’</a:t>
            </a:r>
            <a:r>
              <a:rPr lang="fr-FR" altLang="ja-JP" sz="2000"/>
              <a:t>EDO à résoudre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>
                <a:solidFill>
                  <a:srgbClr val="A50021"/>
                </a:solidFill>
              </a:rPr>
              <a:t>t0 et tfin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sont  les valeurs initiale et finale de la variable d</a:t>
            </a:r>
            <a:r>
              <a:rPr lang="ja-JP" altLang="fr-FR" sz="2000"/>
              <a:t>’</a:t>
            </a:r>
            <a:r>
              <a:rPr lang="fr-FR" altLang="ja-JP" sz="2000"/>
              <a:t>intégration (par ex. le temps) </a:t>
            </a:r>
            <a:r>
              <a:rPr lang="fr-FR" altLang="ja-JP" sz="2400"/>
              <a:t>	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>
                <a:solidFill>
                  <a:srgbClr val="A50021"/>
                </a:solidFill>
              </a:rPr>
              <a:t>y0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est le vecteur ligne contenant les conditions initiales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>
                <a:solidFill>
                  <a:srgbClr val="A50021"/>
                </a:solidFill>
              </a:rPr>
              <a:t>Y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est une matrice qui contient le résultat de l</a:t>
            </a:r>
            <a:r>
              <a:rPr lang="ja-JP" altLang="fr-FR" sz="2000"/>
              <a:t>’</a:t>
            </a:r>
            <a:r>
              <a:rPr lang="fr-FR" altLang="ja-JP" sz="2000"/>
              <a:t>intégration; chaque colonne correspond à une variable et chaque ligne correspond à une valeur de la variable indépendante (vecteur</a:t>
            </a:r>
            <a:r>
              <a:rPr lang="fr-FR" altLang="ja-JP" sz="2000">
                <a:solidFill>
                  <a:srgbClr val="FF3300"/>
                </a:solidFill>
              </a:rPr>
              <a:t> </a:t>
            </a:r>
            <a:r>
              <a:rPr lang="fr-FR" altLang="ja-JP" sz="2000">
                <a:solidFill>
                  <a:srgbClr val="A50021"/>
                </a:solidFill>
              </a:rPr>
              <a:t>t</a:t>
            </a:r>
            <a:r>
              <a:rPr lang="fr-FR" altLang="ja-JP" sz="2000"/>
              <a:t>)</a:t>
            </a:r>
            <a:endParaRPr lang="fr-FR" altLang="fr-FR" sz="2000"/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/>
              <a:t>Utilisation d</a:t>
            </a:r>
            <a:r>
              <a:rPr lang="ja-JP" altLang="fr-FR" sz="2400" b="1"/>
              <a:t>’</a:t>
            </a:r>
            <a:r>
              <a:rPr lang="fr-FR" altLang="ja-JP" sz="2400" b="1"/>
              <a:t>ODE45</a:t>
            </a:r>
            <a:endParaRPr lang="en-GB" altLang="fr-FR" sz="2400" b="1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50825" y="4665663"/>
            <a:ext cx="84740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Matlab décide par défaut de prendre un pas de temps initial d</a:t>
            </a:r>
            <a:r>
              <a:rPr lang="ja-JP" altLang="fr-FR" sz="2000"/>
              <a:t>’</a:t>
            </a:r>
            <a:r>
              <a:rPr lang="fr-FR" altLang="ja-JP" sz="2000"/>
              <a:t>intégration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de (t</a:t>
            </a:r>
            <a:r>
              <a:rPr lang="fr-FR" altLang="fr-FR" sz="2000" baseline="-25000"/>
              <a:t>fin</a:t>
            </a:r>
            <a:r>
              <a:rPr lang="fr-FR" altLang="fr-FR" sz="2000"/>
              <a:t>-t</a:t>
            </a:r>
            <a:r>
              <a:rPr lang="fr-FR" altLang="fr-FR" sz="2000" baseline="-25000"/>
              <a:t>0</a:t>
            </a:r>
            <a:r>
              <a:rPr lang="fr-FR" altLang="fr-FR" sz="2000"/>
              <a:t>)/1000.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Utiliser odeset pour passer des paramètres à l</a:t>
            </a:r>
            <a:r>
              <a:rPr lang="ja-JP" altLang="fr-FR" sz="2000"/>
              <a:t>’</a:t>
            </a:r>
            <a:r>
              <a:rPr lang="fr-FR" altLang="ja-JP" sz="2000"/>
              <a:t>intégrateur</a:t>
            </a:r>
            <a:endParaRPr lang="en-GB" altLang="fr-FR" sz="2000"/>
          </a:p>
        </p:txBody>
      </p:sp>
      <p:sp>
        <p:nvSpPr>
          <p:cNvPr id="33798" name="ZoneTexte 6"/>
          <p:cNvSpPr txBox="1">
            <a:spLocks noChangeArrowheads="1"/>
          </p:cNvSpPr>
          <p:nvPr/>
        </p:nvSpPr>
        <p:spPr bwMode="auto">
          <a:xfrm>
            <a:off x="323850" y="5746750"/>
            <a:ext cx="76247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opts = odeset('MaxOrder', 2, </a:t>
            </a:r>
            <a:r>
              <a:rPr lang="ja-JP" altLang="fr-FR" sz="1800"/>
              <a:t>‘</a:t>
            </a:r>
            <a:r>
              <a:rPr lang="fr-FR" altLang="ja-JP" sz="1800"/>
              <a:t>InitialStep',1e-9, </a:t>
            </a:r>
            <a:r>
              <a:rPr lang="ja-JP" altLang="fr-FR" sz="1800"/>
              <a:t>‘</a:t>
            </a:r>
            <a:r>
              <a:rPr lang="fr-FR" altLang="ja-JP" sz="1800"/>
              <a:t>MaxStep',1e-8, 'stats','off')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newopts = odeset(opts);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C8A729-9DD9-4D3B-A0B7-67B2A6E149B2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fr-FR" altLang="fr-FR" sz="1400" b="0"/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152400" y="152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/>
              <a:t>Exemple :ODE45 pour l</a:t>
            </a:r>
            <a:r>
              <a:rPr lang="ja-JP" altLang="fr-FR" sz="2400"/>
              <a:t>’</a:t>
            </a:r>
            <a:r>
              <a:rPr lang="fr-FR" altLang="ja-JP" sz="2400"/>
              <a:t>oscillateur harmonique</a:t>
            </a:r>
            <a:endParaRPr lang="en-GB" altLang="fr-FR" sz="2400"/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179388" y="549275"/>
            <a:ext cx="8251825" cy="644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solver_ode45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off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tfin=12;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x0=1;   v0=0;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[T,Y] = ode45(@oscil,[0 tfin],[x0 v0]);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plot(T,Y(:,1),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'-'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,T,Y(:,2),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'-.'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save 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'mydata.mat'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dy = oscil(t,y)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dy = zeros(2,1);    	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</a:rPr>
              <a:t>ATTENTION vecteur ligne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--&gt;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</a:rPr>
              <a:t>colonne</a:t>
            </a:r>
            <a:endParaRPr lang="fr-FR" altLang="fr-FR" sz="16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			%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</a:rPr>
              <a:t>pour compatibilite avec ode45 de MATLAB</a:t>
            </a:r>
            <a:endParaRPr lang="fr-FR" altLang="fr-FR" sz="16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%2eme cas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n=0.2;</a:t>
            </a:r>
            <a:r>
              <a:rPr lang="fr-FR" altLang="fr-FR" sz="1600"/>
              <a:t>    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p2=1;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pour garder les notations de l'équation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x=y(1);</a:t>
            </a:r>
            <a:r>
              <a:rPr lang="fr-FR" altLang="fr-FR" sz="1600"/>
              <a:t>  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v=y(2);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écriture de l'équation telle quelle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dx_dt = v;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dv_dt = -p2*x-2*n*v;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pour se conformer au vecteur de sortie dy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dy(1)=dx_dt;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dy(2)=dv_dt;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60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5089525" y="836613"/>
            <a:ext cx="40957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pas initial d</a:t>
            </a:r>
            <a:r>
              <a:rPr lang="ja-JP" altLang="fr-FR" sz="1800"/>
              <a:t>’</a:t>
            </a:r>
            <a:r>
              <a:rPr lang="fr-FR" altLang="ja-JP" sz="1800"/>
              <a:t>intégration (tfin-t0)/1000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Modification des paramètres par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défaut des intégrateurs comme ode45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avec la commande odeset</a:t>
            </a:r>
            <a:endParaRPr lang="en-GB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utoUpdateAnimBg="0"/>
    </p:bld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851</Words>
  <Application>Microsoft Office PowerPoint</Application>
  <PresentationFormat>Affichage à l'écran (4:3)</PresentationFormat>
  <Paragraphs>162</Paragraphs>
  <Slides>11</Slides>
  <Notes>11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MS PGothic</vt:lpstr>
      <vt:lpstr>MS PGothic</vt:lpstr>
      <vt:lpstr>Arial</vt:lpstr>
      <vt:lpstr>Courier New</vt:lpstr>
      <vt:lpstr>Symbol</vt:lpstr>
      <vt:lpstr>SymbolProp BT</vt:lpstr>
      <vt:lpstr>Wingdings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jean-christophe toussaint</cp:lastModifiedBy>
  <cp:revision>19</cp:revision>
  <cp:lastPrinted>2019-10-07T09:16:56Z</cp:lastPrinted>
  <dcterms:created xsi:type="dcterms:W3CDTF">2017-10-10T12:59:46Z</dcterms:created>
  <dcterms:modified xsi:type="dcterms:W3CDTF">2020-10-02T07:49:02Z</dcterms:modified>
</cp:coreProperties>
</file>