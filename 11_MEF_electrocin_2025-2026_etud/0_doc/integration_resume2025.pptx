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7099300" cy="10234613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96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emf"/><Relationship Id="rId1" Type="http://schemas.openxmlformats.org/officeDocument/2006/relationships/image" Target="../media/image13.wmf"/><Relationship Id="rId4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4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4" Type="http://schemas.openxmlformats.org/officeDocument/2006/relationships/image" Target="../media/image2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09E58F-9938-4AA6-938C-9A7D76F8B103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686832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Cliquez pour modifier les styles du texte du masque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728871-2597-4381-9458-072B860F91F3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369595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8BA4B3-16F2-44D3-9D2D-FACC1E3BCAEE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02506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Cliquez pour modifier les styles du texte du masque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Cliquez pour modifier les styles du texte du masque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2196B5-F689-4C41-AA97-5303714E522E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9812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Cliquez pour modifier les styles du texte du masque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Cliquez pour modifier les styles du texte du masque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75EB86-747F-4D37-A902-4454F1D2FB3B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557027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44384C-8104-429E-8002-E215CBDD1212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40679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742320-2B5C-44DA-A732-11FF91C51A0D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65993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Cliquez pour modifier les styles du texte du masque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DE3376-7C75-4E2C-8AFE-82BFEEB8EA2E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684281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721BDE-54D0-4910-A568-92580BDEC148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593793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Cliquez pour modifier les styles du texte du masque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1215C7-F6D0-42D5-BC70-029B8C5D6241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0070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Cliquez pour modifier les styles du texte du masque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56F421-7F40-40FE-BA15-44595B4004A3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7729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7908898-736A-47F5-8F2B-F27729264F99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9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8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13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2"/>
          <p:cNvSpPr>
            <a:spLocks noChangeArrowheads="1"/>
          </p:cNvSpPr>
          <p:nvPr/>
        </p:nvSpPr>
        <p:spPr bwMode="auto">
          <a:xfrm>
            <a:off x="3924300" y="3141663"/>
            <a:ext cx="1511300" cy="288925"/>
          </a:xfrm>
          <a:prstGeom prst="rightArrow">
            <a:avLst>
              <a:gd name="adj1" fmla="val 50000"/>
              <a:gd name="adj2" fmla="val 130769"/>
            </a:avLst>
          </a:prstGeom>
          <a:solidFill>
            <a:srgbClr val="F8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2050" name="Object 3"/>
          <p:cNvGraphicFramePr>
            <a:graphicFrameLocks noChangeAspect="1"/>
          </p:cNvGraphicFramePr>
          <p:nvPr/>
        </p:nvGraphicFramePr>
        <p:xfrm>
          <a:off x="3249613" y="1506538"/>
          <a:ext cx="2654300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" name="Equation" r:id="rId3" imgW="1473200" imgH="914400" progId="Equation.3">
                  <p:embed/>
                </p:oleObj>
              </mc:Choice>
              <mc:Fallback>
                <p:oleObj name="Equation" r:id="rId3" imgW="1473200" imgH="914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9613" y="1506538"/>
                        <a:ext cx="2654300" cy="164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3276600" y="1125538"/>
            <a:ext cx="2635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NBN nombre de noeuds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620713" y="238125"/>
            <a:ext cx="769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fr-FR" altLang="fr-FR" b="1"/>
              <a:t>Interpolation sur un élément triangulaire à 3 noeuds</a:t>
            </a:r>
          </a:p>
        </p:txBody>
      </p:sp>
      <p:sp>
        <p:nvSpPr>
          <p:cNvPr id="5126" name="AutoShape 6"/>
          <p:cNvSpPr>
            <a:spLocks noChangeArrowheads="1"/>
          </p:cNvSpPr>
          <p:nvPr/>
        </p:nvSpPr>
        <p:spPr bwMode="auto">
          <a:xfrm>
            <a:off x="776288" y="1679575"/>
            <a:ext cx="1439862" cy="1439863"/>
          </a:xfrm>
          <a:prstGeom prst="rtTriangl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127" name="Line 7"/>
          <p:cNvSpPr>
            <a:spLocks noChangeShapeType="1"/>
          </p:cNvSpPr>
          <p:nvPr/>
        </p:nvSpPr>
        <p:spPr bwMode="auto">
          <a:xfrm flipV="1">
            <a:off x="776288" y="1374775"/>
            <a:ext cx="0" cy="1725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2605088" y="26003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fr-FR" sz="2400">
                <a:latin typeface="Times New Roman" charset="0"/>
                <a:ea typeface="ＭＳ Ｐゴシック" charset="0"/>
              </a:rPr>
              <a:t>u</a:t>
            </a:r>
          </a:p>
        </p:txBody>
      </p:sp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760413" y="11255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fr-FR" sz="2400">
                <a:latin typeface="Times New Roman" charset="0"/>
                <a:ea typeface="ＭＳ Ｐゴシック" charset="0"/>
              </a:rPr>
              <a:t>v</a:t>
            </a:r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2071688" y="26701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fr-FR" sz="2400">
                <a:latin typeface="Times New Roman" charset="0"/>
                <a:ea typeface="ＭＳ Ｐゴシック" charset="0"/>
              </a:rPr>
              <a:t>1</a:t>
            </a:r>
          </a:p>
        </p:txBody>
      </p:sp>
      <p:sp>
        <p:nvSpPr>
          <p:cNvPr id="5131" name="Text Box 11"/>
          <p:cNvSpPr txBox="1">
            <a:spLocks noChangeArrowheads="1"/>
          </p:cNvSpPr>
          <p:nvPr/>
        </p:nvSpPr>
        <p:spPr bwMode="auto">
          <a:xfrm>
            <a:off x="831850" y="14795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fr-FR" sz="2400">
                <a:latin typeface="Times New Roman" charset="0"/>
                <a:ea typeface="ＭＳ Ｐゴシック" charset="0"/>
              </a:rPr>
              <a:t>1</a:t>
            </a:r>
          </a:p>
        </p:txBody>
      </p:sp>
      <p:sp>
        <p:nvSpPr>
          <p:cNvPr id="5132" name="Line 12"/>
          <p:cNvSpPr>
            <a:spLocks noChangeShapeType="1"/>
          </p:cNvSpPr>
          <p:nvPr/>
        </p:nvSpPr>
        <p:spPr bwMode="auto">
          <a:xfrm>
            <a:off x="776288" y="3127375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133" name="Oval 13"/>
          <p:cNvSpPr>
            <a:spLocks noChangeArrowheads="1"/>
          </p:cNvSpPr>
          <p:nvPr/>
        </p:nvSpPr>
        <p:spPr bwMode="auto">
          <a:xfrm>
            <a:off x="690563" y="3003550"/>
            <a:ext cx="179387" cy="17938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134" name="Text Box 14"/>
          <p:cNvSpPr txBox="1">
            <a:spLocks noChangeArrowheads="1"/>
          </p:cNvSpPr>
          <p:nvPr/>
        </p:nvSpPr>
        <p:spPr bwMode="auto">
          <a:xfrm>
            <a:off x="596900" y="3157538"/>
            <a:ext cx="260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Times New Roman" charset="0"/>
                <a:ea typeface="ＭＳ Ｐゴシック" charset="0"/>
              </a:rPr>
              <a:t>I</a:t>
            </a:r>
          </a:p>
        </p:txBody>
      </p:sp>
      <p:sp>
        <p:nvSpPr>
          <p:cNvPr id="5135" name="Text Box 15"/>
          <p:cNvSpPr txBox="1">
            <a:spLocks noChangeArrowheads="1"/>
          </p:cNvSpPr>
          <p:nvPr/>
        </p:nvSpPr>
        <p:spPr bwMode="auto">
          <a:xfrm>
            <a:off x="2128838" y="3135313"/>
            <a:ext cx="5032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fr-FR">
                <a:latin typeface="Times New Roman" charset="0"/>
                <a:ea typeface="ＭＳ Ｐゴシック" charset="0"/>
              </a:rPr>
              <a:t>II</a:t>
            </a:r>
          </a:p>
        </p:txBody>
      </p:sp>
      <p:sp>
        <p:nvSpPr>
          <p:cNvPr id="5136" name="Text Box 16"/>
          <p:cNvSpPr txBox="1">
            <a:spLocks noChangeArrowheads="1"/>
          </p:cNvSpPr>
          <p:nvPr/>
        </p:nvSpPr>
        <p:spPr bwMode="auto">
          <a:xfrm>
            <a:off x="400050" y="1624013"/>
            <a:ext cx="5032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fr-FR">
                <a:latin typeface="Times New Roman" charset="0"/>
                <a:ea typeface="ＭＳ Ｐゴシック" charset="0"/>
              </a:rPr>
              <a:t>III</a:t>
            </a:r>
          </a:p>
        </p:txBody>
      </p:sp>
      <p:sp>
        <p:nvSpPr>
          <p:cNvPr id="5137" name="Text Box 17"/>
          <p:cNvSpPr txBox="1">
            <a:spLocks noChangeArrowheads="1"/>
          </p:cNvSpPr>
          <p:nvPr/>
        </p:nvSpPr>
        <p:spPr bwMode="auto">
          <a:xfrm>
            <a:off x="1330325" y="1292225"/>
            <a:ext cx="1339850" cy="641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Élément de</a:t>
            </a:r>
          </a:p>
          <a:p>
            <a:pPr eaLnBrk="1" hangingPunct="1"/>
            <a:r>
              <a:rPr lang="fr-FR" altLang="fr-FR" sz="1800"/>
              <a:t>référence</a:t>
            </a:r>
          </a:p>
        </p:txBody>
      </p:sp>
      <p:sp>
        <p:nvSpPr>
          <p:cNvPr id="5138" name="Oval 18"/>
          <p:cNvSpPr>
            <a:spLocks noChangeArrowheads="1"/>
          </p:cNvSpPr>
          <p:nvPr/>
        </p:nvSpPr>
        <p:spPr bwMode="auto">
          <a:xfrm>
            <a:off x="2116138" y="3038475"/>
            <a:ext cx="179387" cy="17938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139" name="Oval 19"/>
          <p:cNvSpPr>
            <a:spLocks noChangeArrowheads="1"/>
          </p:cNvSpPr>
          <p:nvPr/>
        </p:nvSpPr>
        <p:spPr bwMode="auto">
          <a:xfrm>
            <a:off x="677863" y="1619250"/>
            <a:ext cx="179387" cy="17938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pSp>
        <p:nvGrpSpPr>
          <p:cNvPr id="2067" name="Group 20"/>
          <p:cNvGrpSpPr>
            <a:grpSpLocks/>
          </p:cNvGrpSpPr>
          <p:nvPr/>
        </p:nvGrpSpPr>
        <p:grpSpPr bwMode="auto">
          <a:xfrm>
            <a:off x="6659563" y="1143000"/>
            <a:ext cx="2006600" cy="2435225"/>
            <a:chOff x="4195" y="720"/>
            <a:chExt cx="1264" cy="1534"/>
          </a:xfrm>
        </p:grpSpPr>
        <p:grpSp>
          <p:nvGrpSpPr>
            <p:cNvPr id="2074" name="Group 21"/>
            <p:cNvGrpSpPr>
              <a:grpSpLocks/>
            </p:cNvGrpSpPr>
            <p:nvPr/>
          </p:nvGrpSpPr>
          <p:grpSpPr bwMode="auto">
            <a:xfrm>
              <a:off x="4286" y="980"/>
              <a:ext cx="1043" cy="1043"/>
              <a:chOff x="4105" y="2931"/>
              <a:chExt cx="1043" cy="1043"/>
            </a:xfrm>
          </p:grpSpPr>
          <p:sp>
            <p:nvSpPr>
              <p:cNvPr id="5142" name="Line 22"/>
              <p:cNvSpPr>
                <a:spLocks noChangeShapeType="1"/>
              </p:cNvSpPr>
              <p:nvPr/>
            </p:nvSpPr>
            <p:spPr bwMode="auto">
              <a:xfrm>
                <a:off x="4105" y="3974"/>
                <a:ext cx="8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143" name="Line 23"/>
              <p:cNvSpPr>
                <a:spLocks noChangeShapeType="1"/>
              </p:cNvSpPr>
              <p:nvPr/>
            </p:nvSpPr>
            <p:spPr bwMode="auto">
              <a:xfrm flipV="1">
                <a:off x="4105" y="2931"/>
                <a:ext cx="1043" cy="10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144" name="Line 24"/>
              <p:cNvSpPr>
                <a:spLocks noChangeShapeType="1"/>
              </p:cNvSpPr>
              <p:nvPr/>
            </p:nvSpPr>
            <p:spPr bwMode="auto">
              <a:xfrm flipH="1">
                <a:off x="4967" y="2931"/>
                <a:ext cx="181" cy="10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145" name="Text Box 25"/>
            <p:cNvSpPr txBox="1">
              <a:spLocks noChangeArrowheads="1"/>
            </p:cNvSpPr>
            <p:nvPr/>
          </p:nvSpPr>
          <p:spPr bwMode="auto">
            <a:xfrm>
              <a:off x="4195" y="2023"/>
              <a:ext cx="1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Times New Roman" charset="0"/>
                  <a:ea typeface="ＭＳ Ｐゴシック" charset="0"/>
                </a:rPr>
                <a:t>I</a:t>
              </a:r>
            </a:p>
          </p:txBody>
        </p:sp>
        <p:sp>
          <p:nvSpPr>
            <p:cNvPr id="5146" name="Text Box 26"/>
            <p:cNvSpPr txBox="1">
              <a:spLocks noChangeArrowheads="1"/>
            </p:cNvSpPr>
            <p:nvPr/>
          </p:nvSpPr>
          <p:spPr bwMode="auto">
            <a:xfrm>
              <a:off x="5057" y="2023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Times New Roman" charset="0"/>
                  <a:ea typeface="ＭＳ Ｐゴシック" charset="0"/>
                </a:rPr>
                <a:t>II</a:t>
              </a:r>
            </a:p>
          </p:txBody>
        </p:sp>
        <p:sp>
          <p:nvSpPr>
            <p:cNvPr id="5147" name="Text Box 27"/>
            <p:cNvSpPr txBox="1">
              <a:spLocks noChangeArrowheads="1"/>
            </p:cNvSpPr>
            <p:nvPr/>
          </p:nvSpPr>
          <p:spPr bwMode="auto">
            <a:xfrm>
              <a:off x="5199" y="720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Times New Roman" charset="0"/>
                  <a:ea typeface="ＭＳ Ｐゴシック" charset="0"/>
                </a:rPr>
                <a:t>III</a:t>
              </a:r>
            </a:p>
          </p:txBody>
        </p:sp>
        <p:sp>
          <p:nvSpPr>
            <p:cNvPr id="5148" name="Text Box 28"/>
            <p:cNvSpPr txBox="1">
              <a:spLocks noChangeArrowheads="1"/>
            </p:cNvSpPr>
            <p:nvPr/>
          </p:nvSpPr>
          <p:spPr bwMode="auto">
            <a:xfrm>
              <a:off x="4286" y="890"/>
              <a:ext cx="644" cy="4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Élément</a:t>
              </a:r>
            </a:p>
            <a:p>
              <a:pPr eaLnBrk="1" hangingPunct="1"/>
              <a:r>
                <a:rPr lang="fr-FR" altLang="fr-FR" sz="1800"/>
                <a:t>réel</a:t>
              </a:r>
            </a:p>
          </p:txBody>
        </p:sp>
        <p:sp>
          <p:nvSpPr>
            <p:cNvPr id="5149" name="Oval 29"/>
            <p:cNvSpPr>
              <a:spLocks noChangeArrowheads="1"/>
            </p:cNvSpPr>
            <p:nvPr/>
          </p:nvSpPr>
          <p:spPr bwMode="auto">
            <a:xfrm>
              <a:off x="4237" y="1956"/>
              <a:ext cx="113" cy="11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5150" name="Oval 30"/>
            <p:cNvSpPr>
              <a:spLocks noChangeArrowheads="1"/>
            </p:cNvSpPr>
            <p:nvPr/>
          </p:nvSpPr>
          <p:spPr bwMode="auto">
            <a:xfrm>
              <a:off x="5095" y="1956"/>
              <a:ext cx="113" cy="11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5151" name="Oval 31"/>
            <p:cNvSpPr>
              <a:spLocks noChangeArrowheads="1"/>
            </p:cNvSpPr>
            <p:nvPr/>
          </p:nvSpPr>
          <p:spPr bwMode="auto">
            <a:xfrm>
              <a:off x="5269" y="924"/>
              <a:ext cx="113" cy="11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</p:grpSp>
      <p:graphicFrame>
        <p:nvGraphicFramePr>
          <p:cNvPr id="2068" name="Object 32"/>
          <p:cNvGraphicFramePr>
            <a:graphicFrameLocks noChangeAspect="1"/>
          </p:cNvGraphicFramePr>
          <p:nvPr/>
        </p:nvGraphicFramePr>
        <p:xfrm>
          <a:off x="1258888" y="4659313"/>
          <a:ext cx="6481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" name="Equation" r:id="rId5" imgW="3124200" imgH="215900" progId="Equation.3">
                  <p:embed/>
                </p:oleObj>
              </mc:Choice>
              <mc:Fallback>
                <p:oleObj name="Equation" r:id="rId5" imgW="3124200" imgH="2159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659313"/>
                        <a:ext cx="6481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3" name="Text Box 33"/>
          <p:cNvSpPr txBox="1">
            <a:spLocks noChangeArrowheads="1"/>
          </p:cNvSpPr>
          <p:nvPr/>
        </p:nvSpPr>
        <p:spPr bwMode="auto">
          <a:xfrm>
            <a:off x="611188" y="4076700"/>
            <a:ext cx="6750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Polynômes d</a:t>
            </a:r>
            <a:r>
              <a:rPr lang="ja-JP" altLang="fr-FR" sz="1800"/>
              <a:t>’</a:t>
            </a:r>
            <a:r>
              <a:rPr lang="fr-FR" altLang="ja-JP" sz="1800"/>
              <a:t>interpolation de Lagrange d</a:t>
            </a:r>
            <a:r>
              <a:rPr lang="ja-JP" altLang="fr-FR" sz="1800"/>
              <a:t>’</a:t>
            </a:r>
            <a:r>
              <a:rPr lang="fr-FR" altLang="ja-JP" sz="1800"/>
              <a:t>ordre 1 : polynômes P1</a:t>
            </a:r>
            <a:endParaRPr lang="fr-FR" altLang="fr-FR" sz="1800"/>
          </a:p>
        </p:txBody>
      </p:sp>
      <p:sp>
        <p:nvSpPr>
          <p:cNvPr id="5154" name="Text Box 34"/>
          <p:cNvSpPr txBox="1">
            <a:spLocks noChangeArrowheads="1"/>
          </p:cNvSpPr>
          <p:nvPr/>
        </p:nvSpPr>
        <p:spPr bwMode="auto">
          <a:xfrm>
            <a:off x="755650" y="5373688"/>
            <a:ext cx="667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Interpolation d</a:t>
            </a:r>
            <a:r>
              <a:rPr lang="ja-JP" altLang="fr-FR" sz="1800"/>
              <a:t>’</a:t>
            </a:r>
            <a:r>
              <a:rPr lang="fr-FR" altLang="ja-JP" sz="1800"/>
              <a:t>une grandeur f connue aux nœuds d</a:t>
            </a:r>
            <a:r>
              <a:rPr lang="ja-JP" altLang="fr-FR" sz="1800"/>
              <a:t>’</a:t>
            </a:r>
            <a:r>
              <a:rPr lang="fr-FR" altLang="ja-JP" sz="1800"/>
              <a:t>interpolation</a:t>
            </a:r>
            <a:endParaRPr lang="fr-FR" altLang="fr-FR" sz="1800"/>
          </a:p>
        </p:txBody>
      </p:sp>
      <p:graphicFrame>
        <p:nvGraphicFramePr>
          <p:cNvPr id="2071" name="Object 35"/>
          <p:cNvGraphicFramePr>
            <a:graphicFrameLocks noChangeAspect="1"/>
          </p:cNvGraphicFramePr>
          <p:nvPr/>
        </p:nvGraphicFramePr>
        <p:xfrm>
          <a:off x="1042988" y="5821363"/>
          <a:ext cx="2563812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" name="Equation" r:id="rId7" imgW="1422400" imgH="431800" progId="Equation.3">
                  <p:embed/>
                </p:oleObj>
              </mc:Choice>
              <mc:Fallback>
                <p:oleObj name="Equation" r:id="rId7" imgW="1422400" imgH="4318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5821363"/>
                        <a:ext cx="2563812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2" name="Object 36"/>
          <p:cNvGraphicFramePr>
            <a:graphicFrameLocks noChangeAspect="1"/>
          </p:cNvGraphicFramePr>
          <p:nvPr/>
        </p:nvGraphicFramePr>
        <p:xfrm>
          <a:off x="5811838" y="5949950"/>
          <a:ext cx="3021012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" name="Equation" r:id="rId9" imgW="1675673" imgH="215806" progId="Equation.3">
                  <p:embed/>
                </p:oleObj>
              </mc:Choice>
              <mc:Fallback>
                <p:oleObj name="Equation" r:id="rId9" imgW="1675673" imgH="215806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1838" y="5949950"/>
                        <a:ext cx="3021012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7" name="AutoShape 37"/>
          <p:cNvSpPr>
            <a:spLocks noChangeArrowheads="1"/>
          </p:cNvSpPr>
          <p:nvPr/>
        </p:nvSpPr>
        <p:spPr bwMode="auto">
          <a:xfrm>
            <a:off x="3995738" y="6021388"/>
            <a:ext cx="1511300" cy="288925"/>
          </a:xfrm>
          <a:prstGeom prst="rightArrow">
            <a:avLst>
              <a:gd name="adj1" fmla="val 50000"/>
              <a:gd name="adj2" fmla="val 130769"/>
            </a:avLst>
          </a:prstGeom>
          <a:solidFill>
            <a:srgbClr val="F8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220663" y="238125"/>
            <a:ext cx="70532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fr-FR" altLang="fr-FR" b="1"/>
              <a:t>Intégration numérique de Gauss sur un triangle</a:t>
            </a:r>
          </a:p>
        </p:txBody>
      </p:sp>
      <p:grpSp>
        <p:nvGrpSpPr>
          <p:cNvPr id="3074" name="Group 82"/>
          <p:cNvGrpSpPr>
            <a:grpSpLocks/>
          </p:cNvGrpSpPr>
          <p:nvPr/>
        </p:nvGrpSpPr>
        <p:grpSpPr bwMode="auto">
          <a:xfrm>
            <a:off x="457200" y="762000"/>
            <a:ext cx="8240713" cy="2398713"/>
            <a:chOff x="295" y="2282"/>
            <a:chExt cx="5191" cy="1511"/>
          </a:xfrm>
        </p:grpSpPr>
        <p:grpSp>
          <p:nvGrpSpPr>
            <p:cNvPr id="3119" name="Group 39"/>
            <p:cNvGrpSpPr>
              <a:grpSpLocks/>
            </p:cNvGrpSpPr>
            <p:nvPr/>
          </p:nvGrpSpPr>
          <p:grpSpPr bwMode="auto">
            <a:xfrm>
              <a:off x="295" y="2282"/>
              <a:ext cx="1604" cy="1511"/>
              <a:chOff x="295" y="2387"/>
              <a:chExt cx="1604" cy="1511"/>
            </a:xfrm>
          </p:grpSpPr>
          <p:sp>
            <p:nvSpPr>
              <p:cNvPr id="6184" name="AutoShape 40"/>
              <p:cNvSpPr>
                <a:spLocks noChangeArrowheads="1"/>
              </p:cNvSpPr>
              <p:nvPr/>
            </p:nvSpPr>
            <p:spPr bwMode="auto">
              <a:xfrm>
                <a:off x="535" y="2736"/>
                <a:ext cx="907" cy="907"/>
              </a:xfrm>
              <a:prstGeom prst="rtTriangl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185" name="Line 41"/>
              <p:cNvSpPr>
                <a:spLocks noChangeShapeType="1"/>
              </p:cNvSpPr>
              <p:nvPr/>
            </p:nvSpPr>
            <p:spPr bwMode="auto">
              <a:xfrm flipV="1">
                <a:off x="535" y="2544"/>
                <a:ext cx="0" cy="10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186" name="Text Box 42"/>
              <p:cNvSpPr txBox="1">
                <a:spLocks noChangeArrowheads="1"/>
              </p:cNvSpPr>
              <p:nvPr/>
            </p:nvSpPr>
            <p:spPr bwMode="auto">
              <a:xfrm>
                <a:off x="1687" y="33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>
                  <a:defRPr/>
                </a:pPr>
                <a:r>
                  <a:rPr lang="fr-FR" sz="2400">
                    <a:latin typeface="Times New Roman" charset="0"/>
                    <a:ea typeface="ＭＳ Ｐゴシック" charset="0"/>
                  </a:rPr>
                  <a:t>u</a:t>
                </a:r>
              </a:p>
            </p:txBody>
          </p:sp>
          <p:sp>
            <p:nvSpPr>
              <p:cNvPr id="6187" name="Text Box 43"/>
              <p:cNvSpPr txBox="1">
                <a:spLocks noChangeArrowheads="1"/>
              </p:cNvSpPr>
              <p:nvPr/>
            </p:nvSpPr>
            <p:spPr bwMode="auto">
              <a:xfrm>
                <a:off x="525" y="2387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>
                  <a:defRPr/>
                </a:pPr>
                <a:r>
                  <a:rPr lang="fr-FR" sz="2400">
                    <a:latin typeface="Times New Roman" charset="0"/>
                    <a:ea typeface="ＭＳ Ｐゴシック" charset="0"/>
                  </a:rPr>
                  <a:t>v</a:t>
                </a:r>
              </a:p>
            </p:txBody>
          </p:sp>
          <p:sp>
            <p:nvSpPr>
              <p:cNvPr id="6188" name="Text Box 44"/>
              <p:cNvSpPr txBox="1">
                <a:spLocks noChangeArrowheads="1"/>
              </p:cNvSpPr>
              <p:nvPr/>
            </p:nvSpPr>
            <p:spPr bwMode="auto">
              <a:xfrm>
                <a:off x="1351" y="336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>
                  <a:defRPr/>
                </a:pPr>
                <a:r>
                  <a:rPr lang="fr-FR" sz="2400">
                    <a:latin typeface="Times New Roman" charset="0"/>
                    <a:ea typeface="ＭＳ Ｐゴシック" charset="0"/>
                  </a:rPr>
                  <a:t>1</a:t>
                </a:r>
              </a:p>
            </p:txBody>
          </p:sp>
          <p:sp>
            <p:nvSpPr>
              <p:cNvPr id="6189" name="Text Box 45"/>
              <p:cNvSpPr txBox="1">
                <a:spLocks noChangeArrowheads="1"/>
              </p:cNvSpPr>
              <p:nvPr/>
            </p:nvSpPr>
            <p:spPr bwMode="auto">
              <a:xfrm>
                <a:off x="570" y="261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>
                  <a:defRPr/>
                </a:pPr>
                <a:r>
                  <a:rPr lang="fr-FR" sz="2400">
                    <a:latin typeface="Times New Roman" charset="0"/>
                    <a:ea typeface="ＭＳ Ｐゴシック" charset="0"/>
                  </a:rPr>
                  <a:t>1</a:t>
                </a:r>
              </a:p>
            </p:txBody>
          </p:sp>
          <p:sp>
            <p:nvSpPr>
              <p:cNvPr id="6190" name="Oval 46"/>
              <p:cNvSpPr>
                <a:spLocks noChangeArrowheads="1"/>
              </p:cNvSpPr>
              <p:nvPr/>
            </p:nvSpPr>
            <p:spPr bwMode="auto">
              <a:xfrm>
                <a:off x="642" y="2988"/>
                <a:ext cx="113" cy="113"/>
              </a:xfrm>
              <a:prstGeom prst="ellipse">
                <a:avLst/>
              </a:prstGeom>
              <a:solidFill>
                <a:srgbClr val="CC0000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191" name="Line 47"/>
              <p:cNvSpPr>
                <a:spLocks noChangeShapeType="1"/>
              </p:cNvSpPr>
              <p:nvPr/>
            </p:nvSpPr>
            <p:spPr bwMode="auto">
              <a:xfrm flipV="1">
                <a:off x="535" y="2784"/>
                <a:ext cx="864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192" name="Line 48"/>
              <p:cNvSpPr>
                <a:spLocks noChangeShapeType="1"/>
              </p:cNvSpPr>
              <p:nvPr/>
            </p:nvSpPr>
            <p:spPr bwMode="auto">
              <a:xfrm>
                <a:off x="535" y="3648"/>
                <a:ext cx="12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193" name="Oval 49"/>
              <p:cNvSpPr>
                <a:spLocks noChangeArrowheads="1"/>
              </p:cNvSpPr>
              <p:nvPr/>
            </p:nvSpPr>
            <p:spPr bwMode="auto">
              <a:xfrm>
                <a:off x="649" y="3408"/>
                <a:ext cx="113" cy="113"/>
              </a:xfrm>
              <a:prstGeom prst="ellipse">
                <a:avLst/>
              </a:prstGeom>
              <a:solidFill>
                <a:srgbClr val="CC0000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194" name="Oval 50"/>
              <p:cNvSpPr>
                <a:spLocks noChangeArrowheads="1"/>
              </p:cNvSpPr>
              <p:nvPr/>
            </p:nvSpPr>
            <p:spPr bwMode="auto">
              <a:xfrm>
                <a:off x="1039" y="3409"/>
                <a:ext cx="113" cy="113"/>
              </a:xfrm>
              <a:prstGeom prst="ellipse">
                <a:avLst/>
              </a:prstGeom>
              <a:solidFill>
                <a:srgbClr val="CC0000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195" name="Line 51"/>
              <p:cNvSpPr>
                <a:spLocks noChangeShapeType="1"/>
              </p:cNvSpPr>
              <p:nvPr/>
            </p:nvSpPr>
            <p:spPr bwMode="auto">
              <a:xfrm flipH="1" flipV="1">
                <a:off x="295" y="3072"/>
                <a:ext cx="1152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196" name="Line 52"/>
              <p:cNvSpPr>
                <a:spLocks noChangeShapeType="1"/>
              </p:cNvSpPr>
              <p:nvPr/>
            </p:nvSpPr>
            <p:spPr bwMode="auto">
              <a:xfrm>
                <a:off x="535" y="2736"/>
                <a:ext cx="528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197" name="Text Box 53"/>
              <p:cNvSpPr txBox="1">
                <a:spLocks noChangeArrowheads="1"/>
              </p:cNvSpPr>
              <p:nvPr/>
            </p:nvSpPr>
            <p:spPr bwMode="auto">
              <a:xfrm>
                <a:off x="422" y="3667"/>
                <a:ext cx="16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Times New Roman" charset="0"/>
                    <a:ea typeface="ＭＳ Ｐゴシック" charset="0"/>
                  </a:rPr>
                  <a:t>I</a:t>
                </a:r>
              </a:p>
            </p:txBody>
          </p:sp>
          <p:sp>
            <p:nvSpPr>
              <p:cNvPr id="6198" name="Text Box 54"/>
              <p:cNvSpPr txBox="1">
                <a:spLocks noChangeArrowheads="1"/>
              </p:cNvSpPr>
              <p:nvPr/>
            </p:nvSpPr>
            <p:spPr bwMode="auto">
              <a:xfrm>
                <a:off x="1387" y="3653"/>
                <a:ext cx="31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Times New Roman" charset="0"/>
                    <a:ea typeface="ＭＳ Ｐゴシック" charset="0"/>
                  </a:rPr>
                  <a:t>II</a:t>
                </a:r>
              </a:p>
            </p:txBody>
          </p:sp>
          <p:sp>
            <p:nvSpPr>
              <p:cNvPr id="6199" name="Text Box 55"/>
              <p:cNvSpPr txBox="1">
                <a:spLocks noChangeArrowheads="1"/>
              </p:cNvSpPr>
              <p:nvPr/>
            </p:nvSpPr>
            <p:spPr bwMode="auto">
              <a:xfrm>
                <a:off x="298" y="2701"/>
                <a:ext cx="31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Times New Roman" charset="0"/>
                    <a:ea typeface="ＭＳ Ｐゴシック" charset="0"/>
                  </a:rPr>
                  <a:t>III</a:t>
                </a:r>
              </a:p>
            </p:txBody>
          </p:sp>
          <p:sp>
            <p:nvSpPr>
              <p:cNvPr id="6200" name="Text Box 56"/>
              <p:cNvSpPr txBox="1">
                <a:spLocks noChangeArrowheads="1"/>
              </p:cNvSpPr>
              <p:nvPr/>
            </p:nvSpPr>
            <p:spPr bwMode="auto">
              <a:xfrm>
                <a:off x="884" y="2492"/>
                <a:ext cx="844" cy="40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 sz="1800"/>
                  <a:t>Élément de</a:t>
                </a:r>
              </a:p>
              <a:p>
                <a:pPr eaLnBrk="1" hangingPunct="1"/>
                <a:r>
                  <a:rPr lang="fr-FR" altLang="fr-FR" sz="1800"/>
                  <a:t>référence</a:t>
                </a:r>
              </a:p>
            </p:txBody>
          </p:sp>
        </p:grpSp>
        <p:grpSp>
          <p:nvGrpSpPr>
            <p:cNvPr id="3120" name="Group 57"/>
            <p:cNvGrpSpPr>
              <a:grpSpLocks/>
            </p:cNvGrpSpPr>
            <p:nvPr/>
          </p:nvGrpSpPr>
          <p:grpSpPr bwMode="auto">
            <a:xfrm>
              <a:off x="4195" y="2324"/>
              <a:ext cx="1291" cy="1455"/>
              <a:chOff x="4195" y="2429"/>
              <a:chExt cx="1291" cy="1455"/>
            </a:xfrm>
          </p:grpSpPr>
          <p:grpSp>
            <p:nvGrpSpPr>
              <p:cNvPr id="3122" name="Group 58"/>
              <p:cNvGrpSpPr>
                <a:grpSpLocks/>
              </p:cNvGrpSpPr>
              <p:nvPr/>
            </p:nvGrpSpPr>
            <p:grpSpPr bwMode="auto">
              <a:xfrm>
                <a:off x="4195" y="2429"/>
                <a:ext cx="1258" cy="1455"/>
                <a:chOff x="4014" y="2750"/>
                <a:chExt cx="1258" cy="1455"/>
              </a:xfrm>
            </p:grpSpPr>
            <p:grpSp>
              <p:nvGrpSpPr>
                <p:cNvPr id="3130" name="Group 59"/>
                <p:cNvGrpSpPr>
                  <a:grpSpLocks/>
                </p:cNvGrpSpPr>
                <p:nvPr/>
              </p:nvGrpSpPr>
              <p:grpSpPr bwMode="auto">
                <a:xfrm>
                  <a:off x="4105" y="2931"/>
                  <a:ext cx="1043" cy="1043"/>
                  <a:chOff x="4105" y="2931"/>
                  <a:chExt cx="1043" cy="1043"/>
                </a:xfrm>
              </p:grpSpPr>
              <p:sp>
                <p:nvSpPr>
                  <p:cNvPr id="6204" name="Line 60"/>
                  <p:cNvSpPr>
                    <a:spLocks noChangeShapeType="1"/>
                  </p:cNvSpPr>
                  <p:nvPr/>
                </p:nvSpPr>
                <p:spPr bwMode="auto">
                  <a:xfrm>
                    <a:off x="4105" y="3974"/>
                    <a:ext cx="86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fr-FR"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205" name="Line 6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105" y="2931"/>
                    <a:ext cx="1043" cy="104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fr-FR"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206" name="Line 6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967" y="2931"/>
                    <a:ext cx="181" cy="104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fr-FR"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6207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4014" y="3974"/>
                  <a:ext cx="164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fr-FR">
                      <a:latin typeface="Times New Roman" charset="0"/>
                      <a:ea typeface="ＭＳ Ｐゴシック" charset="0"/>
                    </a:rPr>
                    <a:t>I</a:t>
                  </a:r>
                </a:p>
              </p:txBody>
            </p:sp>
            <p:sp>
              <p:nvSpPr>
                <p:cNvPr id="6208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4876" y="3974"/>
                  <a:ext cx="212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fr-FR">
                      <a:latin typeface="Times New Roman" charset="0"/>
                      <a:ea typeface="ＭＳ Ｐゴシック" charset="0"/>
                    </a:rPr>
                    <a:t>II</a:t>
                  </a:r>
                </a:p>
              </p:txBody>
            </p:sp>
            <p:sp>
              <p:nvSpPr>
                <p:cNvPr id="6209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5012" y="2750"/>
                  <a:ext cx="26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fr-FR">
                      <a:latin typeface="Times New Roman" charset="0"/>
                      <a:ea typeface="ＭＳ Ｐゴシック" charset="0"/>
                    </a:rPr>
                    <a:t>III</a:t>
                  </a:r>
                </a:p>
              </p:txBody>
            </p:sp>
          </p:grpSp>
          <p:sp>
            <p:nvSpPr>
              <p:cNvPr id="6210" name="Oval 66"/>
              <p:cNvSpPr>
                <a:spLocks noChangeArrowheads="1"/>
              </p:cNvSpPr>
              <p:nvPr/>
            </p:nvSpPr>
            <p:spPr bwMode="auto">
              <a:xfrm>
                <a:off x="4978" y="3409"/>
                <a:ext cx="113" cy="113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211" name="Oval 67"/>
              <p:cNvSpPr>
                <a:spLocks noChangeArrowheads="1"/>
              </p:cNvSpPr>
              <p:nvPr/>
            </p:nvSpPr>
            <p:spPr bwMode="auto">
              <a:xfrm>
                <a:off x="5054" y="2930"/>
                <a:ext cx="113" cy="113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212" name="Oval 68"/>
              <p:cNvSpPr>
                <a:spLocks noChangeArrowheads="1"/>
              </p:cNvSpPr>
              <p:nvPr/>
            </p:nvSpPr>
            <p:spPr bwMode="auto">
              <a:xfrm>
                <a:off x="4583" y="3410"/>
                <a:ext cx="113" cy="113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213" name="Line 69"/>
              <p:cNvSpPr>
                <a:spLocks noChangeShapeType="1"/>
              </p:cNvSpPr>
              <p:nvPr/>
            </p:nvSpPr>
            <p:spPr bwMode="auto">
              <a:xfrm flipH="1" flipV="1">
                <a:off x="4553" y="2723"/>
                <a:ext cx="595" cy="9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214" name="Line 70"/>
              <p:cNvSpPr>
                <a:spLocks noChangeShapeType="1"/>
              </p:cNvSpPr>
              <p:nvPr/>
            </p:nvSpPr>
            <p:spPr bwMode="auto">
              <a:xfrm flipH="1">
                <a:off x="4281" y="3032"/>
                <a:ext cx="1205" cy="6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215" name="Line 71"/>
              <p:cNvSpPr>
                <a:spLocks noChangeShapeType="1"/>
              </p:cNvSpPr>
              <p:nvPr/>
            </p:nvSpPr>
            <p:spPr bwMode="auto">
              <a:xfrm flipH="1">
                <a:off x="4649" y="2614"/>
                <a:ext cx="680" cy="12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216" name="Text Box 72"/>
              <p:cNvSpPr txBox="1">
                <a:spLocks noChangeArrowheads="1"/>
              </p:cNvSpPr>
              <p:nvPr/>
            </p:nvSpPr>
            <p:spPr bwMode="auto">
              <a:xfrm>
                <a:off x="4286" y="2520"/>
                <a:ext cx="644" cy="40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 sz="1800"/>
                  <a:t>Élément</a:t>
                </a:r>
              </a:p>
              <a:p>
                <a:pPr eaLnBrk="1" hangingPunct="1"/>
                <a:r>
                  <a:rPr lang="fr-FR" altLang="fr-FR" sz="1800"/>
                  <a:t>réel</a:t>
                </a:r>
              </a:p>
            </p:txBody>
          </p:sp>
        </p:grpSp>
        <p:pic>
          <p:nvPicPr>
            <p:cNvPr id="6217" name="Picture 7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172" r="36214"/>
            <a:stretch>
              <a:fillRect/>
            </a:stretch>
          </p:blipFill>
          <p:spPr bwMode="auto">
            <a:xfrm>
              <a:off x="2018" y="2669"/>
              <a:ext cx="1860" cy="6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sp>
        <p:nvSpPr>
          <p:cNvPr id="6220" name="Text Box 76"/>
          <p:cNvSpPr txBox="1">
            <a:spLocks noChangeArrowheads="1"/>
          </p:cNvSpPr>
          <p:nvPr/>
        </p:nvSpPr>
        <p:spPr bwMode="auto">
          <a:xfrm>
            <a:off x="376238" y="6021388"/>
            <a:ext cx="85391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Avec 3 points de Gauss, intégration exacte de tout polynôme en u</a:t>
            </a:r>
            <a:r>
              <a:rPr lang="fr-FR" altLang="fr-FR" sz="1800" baseline="30000"/>
              <a:t>i</a:t>
            </a:r>
            <a:r>
              <a:rPr lang="fr-FR" altLang="fr-FR" sz="1800"/>
              <a:t> v</a:t>
            </a:r>
            <a:r>
              <a:rPr lang="fr-FR" altLang="fr-FR" sz="1800" baseline="30000"/>
              <a:t>j</a:t>
            </a:r>
            <a:r>
              <a:rPr lang="fr-FR" altLang="fr-FR" sz="1800"/>
              <a:t> </a:t>
            </a:r>
          </a:p>
          <a:p>
            <a:pPr eaLnBrk="1" hangingPunct="1"/>
            <a:r>
              <a:rPr lang="fr-FR" altLang="fr-FR" sz="1800"/>
              <a:t>tel que i+j </a:t>
            </a:r>
            <a:r>
              <a:rPr lang="fr-FR" altLang="fr-FR" sz="1800">
                <a:sym typeface="Symbol" panose="05050102010706020507" pitchFamily="18" charset="2"/>
              </a:rPr>
              <a:t> </a:t>
            </a:r>
            <a:r>
              <a:rPr lang="fr-FR" altLang="fr-FR" sz="1800"/>
              <a:t>2.</a:t>
            </a:r>
          </a:p>
        </p:txBody>
      </p:sp>
      <p:grpSp>
        <p:nvGrpSpPr>
          <p:cNvPr id="3076" name="Group 81"/>
          <p:cNvGrpSpPr>
            <a:grpSpLocks/>
          </p:cNvGrpSpPr>
          <p:nvPr/>
        </p:nvGrpSpPr>
        <p:grpSpPr bwMode="auto">
          <a:xfrm>
            <a:off x="303213" y="3089275"/>
            <a:ext cx="8085137" cy="369888"/>
            <a:chOff x="191" y="1946"/>
            <a:chExt cx="5093" cy="233"/>
          </a:xfrm>
        </p:grpSpPr>
        <p:sp>
          <p:nvSpPr>
            <p:cNvPr id="6219" name="Line 75"/>
            <p:cNvSpPr>
              <a:spLocks noChangeShapeType="1"/>
            </p:cNvSpPr>
            <p:nvPr/>
          </p:nvSpPr>
          <p:spPr bwMode="auto">
            <a:xfrm>
              <a:off x="521" y="2083"/>
              <a:ext cx="47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6221" name="AutoShape 77"/>
            <p:cNvSpPr>
              <a:spLocks noChangeArrowheads="1"/>
            </p:cNvSpPr>
            <p:nvPr/>
          </p:nvSpPr>
          <p:spPr bwMode="auto">
            <a:xfrm>
              <a:off x="2109" y="1997"/>
              <a:ext cx="1777" cy="182"/>
            </a:xfrm>
            <a:prstGeom prst="rightArrow">
              <a:avLst>
                <a:gd name="adj1" fmla="val 50000"/>
                <a:gd name="adj2" fmla="val 244093"/>
              </a:avLst>
            </a:prstGeom>
            <a:solidFill>
              <a:srgbClr val="F8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6222" name="Text Box 78"/>
            <p:cNvSpPr txBox="1">
              <a:spLocks noChangeArrowheads="1"/>
            </p:cNvSpPr>
            <p:nvPr/>
          </p:nvSpPr>
          <p:spPr bwMode="auto">
            <a:xfrm>
              <a:off x="191" y="1946"/>
              <a:ext cx="3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OU</a:t>
              </a:r>
            </a:p>
          </p:txBody>
        </p:sp>
      </p:grpSp>
      <p:grpSp>
        <p:nvGrpSpPr>
          <p:cNvPr id="3077" name="Group 80"/>
          <p:cNvGrpSpPr>
            <a:grpSpLocks/>
          </p:cNvGrpSpPr>
          <p:nvPr/>
        </p:nvGrpSpPr>
        <p:grpSpPr bwMode="auto">
          <a:xfrm>
            <a:off x="468313" y="3511550"/>
            <a:ext cx="8240712" cy="2432050"/>
            <a:chOff x="295" y="391"/>
            <a:chExt cx="5191" cy="1532"/>
          </a:xfrm>
        </p:grpSpPr>
        <p:grpSp>
          <p:nvGrpSpPr>
            <p:cNvPr id="3078" name="Group 3"/>
            <p:cNvGrpSpPr>
              <a:grpSpLocks/>
            </p:cNvGrpSpPr>
            <p:nvPr/>
          </p:nvGrpSpPr>
          <p:grpSpPr bwMode="auto">
            <a:xfrm>
              <a:off x="4195" y="468"/>
              <a:ext cx="1291" cy="1455"/>
              <a:chOff x="4195" y="1162"/>
              <a:chExt cx="1291" cy="1455"/>
            </a:xfrm>
          </p:grpSpPr>
          <p:grpSp>
            <p:nvGrpSpPr>
              <p:cNvPr id="3100" name="Group 4"/>
              <p:cNvGrpSpPr>
                <a:grpSpLocks/>
              </p:cNvGrpSpPr>
              <p:nvPr/>
            </p:nvGrpSpPr>
            <p:grpSpPr bwMode="auto">
              <a:xfrm>
                <a:off x="4195" y="1162"/>
                <a:ext cx="1291" cy="1455"/>
                <a:chOff x="4014" y="2750"/>
                <a:chExt cx="1291" cy="1455"/>
              </a:xfrm>
            </p:grpSpPr>
            <p:grpSp>
              <p:nvGrpSpPr>
                <p:cNvPr id="3102" name="Group 5"/>
                <p:cNvGrpSpPr>
                  <a:grpSpLocks/>
                </p:cNvGrpSpPr>
                <p:nvPr/>
              </p:nvGrpSpPr>
              <p:grpSpPr bwMode="auto">
                <a:xfrm>
                  <a:off x="4014" y="2750"/>
                  <a:ext cx="1258" cy="1455"/>
                  <a:chOff x="4014" y="2750"/>
                  <a:chExt cx="1258" cy="1455"/>
                </a:xfrm>
              </p:grpSpPr>
              <p:grpSp>
                <p:nvGrpSpPr>
                  <p:cNvPr id="3109" name="Group 6"/>
                  <p:cNvGrpSpPr>
                    <a:grpSpLocks/>
                  </p:cNvGrpSpPr>
                  <p:nvPr/>
                </p:nvGrpSpPr>
                <p:grpSpPr bwMode="auto">
                  <a:xfrm>
                    <a:off x="4105" y="2931"/>
                    <a:ext cx="1043" cy="1043"/>
                    <a:chOff x="4105" y="2931"/>
                    <a:chExt cx="1043" cy="1043"/>
                  </a:xfrm>
                </p:grpSpPr>
                <p:sp>
                  <p:nvSpPr>
                    <p:cNvPr id="6151" name="Line 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105" y="3974"/>
                      <a:ext cx="86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>
                        <a:defRPr/>
                      </a:pPr>
                      <a:endParaRPr lang="fr-FR"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6152" name="Line 8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105" y="2931"/>
                      <a:ext cx="1043" cy="104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>
                        <a:defRPr/>
                      </a:pPr>
                      <a:endParaRPr lang="fr-FR"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6153" name="Line 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4967" y="2931"/>
                      <a:ext cx="181" cy="104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>
                        <a:defRPr/>
                      </a:pPr>
                      <a:endParaRPr lang="fr-FR"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6154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14" y="3974"/>
                    <a:ext cx="164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>
                      <a:defRPr/>
                    </a:pPr>
                    <a:r>
                      <a:rPr lang="fr-FR">
                        <a:latin typeface="Times New Roman" charset="0"/>
                        <a:ea typeface="ＭＳ Ｐゴシック" charset="0"/>
                      </a:rPr>
                      <a:t>I</a:t>
                    </a:r>
                  </a:p>
                </p:txBody>
              </p:sp>
              <p:sp>
                <p:nvSpPr>
                  <p:cNvPr id="6155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876" y="3974"/>
                    <a:ext cx="212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>
                      <a:defRPr/>
                    </a:pPr>
                    <a:r>
                      <a:rPr lang="fr-FR">
                        <a:latin typeface="Times New Roman" charset="0"/>
                        <a:ea typeface="ＭＳ Ｐゴシック" charset="0"/>
                      </a:rPr>
                      <a:t>II</a:t>
                    </a:r>
                  </a:p>
                </p:txBody>
              </p:sp>
              <p:sp>
                <p:nvSpPr>
                  <p:cNvPr id="6156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012" y="2750"/>
                    <a:ext cx="26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>
                      <a:defRPr/>
                    </a:pPr>
                    <a:r>
                      <a:rPr lang="fr-FR">
                        <a:latin typeface="Times New Roman" charset="0"/>
                        <a:ea typeface="ＭＳ Ｐゴシック" charset="0"/>
                      </a:rPr>
                      <a:t>III</a:t>
                    </a:r>
                  </a:p>
                </p:txBody>
              </p:sp>
            </p:grpSp>
            <p:sp>
              <p:nvSpPr>
                <p:cNvPr id="6157" name="Oval 13"/>
                <p:cNvSpPr>
                  <a:spLocks noChangeArrowheads="1"/>
                </p:cNvSpPr>
                <p:nvPr/>
              </p:nvSpPr>
              <p:spPr bwMode="auto">
                <a:xfrm>
                  <a:off x="4581" y="3376"/>
                  <a:ext cx="113" cy="113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FR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158" name="Oval 14"/>
                <p:cNvSpPr>
                  <a:spLocks noChangeArrowheads="1"/>
                </p:cNvSpPr>
                <p:nvPr/>
              </p:nvSpPr>
              <p:spPr bwMode="auto">
                <a:xfrm>
                  <a:off x="4993" y="3419"/>
                  <a:ext cx="113" cy="113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FR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159" name="Oval 15"/>
                <p:cNvSpPr>
                  <a:spLocks noChangeArrowheads="1"/>
                </p:cNvSpPr>
                <p:nvPr/>
              </p:nvSpPr>
              <p:spPr bwMode="auto">
                <a:xfrm>
                  <a:off x="4504" y="3923"/>
                  <a:ext cx="113" cy="113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FR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160" name="Line 16"/>
                <p:cNvSpPr>
                  <a:spLocks noChangeShapeType="1"/>
                </p:cNvSpPr>
                <p:nvPr/>
              </p:nvSpPr>
              <p:spPr bwMode="auto">
                <a:xfrm flipH="1" flipV="1">
                  <a:off x="4372" y="3044"/>
                  <a:ext cx="595" cy="93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FR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161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4100" y="3353"/>
                  <a:ext cx="1205" cy="6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FR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162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4468" y="2933"/>
                  <a:ext cx="680" cy="122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FR"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6163" name="Text Box 19"/>
              <p:cNvSpPr txBox="1">
                <a:spLocks noChangeArrowheads="1"/>
              </p:cNvSpPr>
              <p:nvPr/>
            </p:nvSpPr>
            <p:spPr bwMode="auto">
              <a:xfrm>
                <a:off x="4286" y="1253"/>
                <a:ext cx="644" cy="40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 sz="1800"/>
                  <a:t>Élément</a:t>
                </a:r>
              </a:p>
              <a:p>
                <a:pPr eaLnBrk="1" hangingPunct="1"/>
                <a:r>
                  <a:rPr lang="fr-FR" altLang="fr-FR" sz="1800"/>
                  <a:t>réel</a:t>
                </a:r>
              </a:p>
            </p:txBody>
          </p:sp>
        </p:grpSp>
        <p:grpSp>
          <p:nvGrpSpPr>
            <p:cNvPr id="3079" name="Group 20"/>
            <p:cNvGrpSpPr>
              <a:grpSpLocks/>
            </p:cNvGrpSpPr>
            <p:nvPr/>
          </p:nvGrpSpPr>
          <p:grpSpPr bwMode="auto">
            <a:xfrm>
              <a:off x="295" y="391"/>
              <a:ext cx="1604" cy="1511"/>
              <a:chOff x="204" y="1148"/>
              <a:chExt cx="1604" cy="1511"/>
            </a:xfrm>
          </p:grpSpPr>
          <p:grpSp>
            <p:nvGrpSpPr>
              <p:cNvPr id="3082" name="Group 21"/>
              <p:cNvGrpSpPr>
                <a:grpSpLocks/>
              </p:cNvGrpSpPr>
              <p:nvPr/>
            </p:nvGrpSpPr>
            <p:grpSpPr bwMode="auto">
              <a:xfrm>
                <a:off x="204" y="1148"/>
                <a:ext cx="1604" cy="1511"/>
                <a:chOff x="3648" y="803"/>
                <a:chExt cx="1604" cy="1511"/>
              </a:xfrm>
            </p:grpSpPr>
            <p:sp>
              <p:nvSpPr>
                <p:cNvPr id="6166" name="AutoShape 22"/>
                <p:cNvSpPr>
                  <a:spLocks noChangeArrowheads="1"/>
                </p:cNvSpPr>
                <p:nvPr/>
              </p:nvSpPr>
              <p:spPr bwMode="auto">
                <a:xfrm>
                  <a:off x="3888" y="1152"/>
                  <a:ext cx="907" cy="907"/>
                </a:xfrm>
                <a:prstGeom prst="rtTriangl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FR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167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3888" y="960"/>
                  <a:ext cx="0" cy="108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lg" len="lg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FR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168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5040" y="1732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0" hangingPunct="0">
                    <a:defRPr/>
                  </a:pPr>
                  <a:r>
                    <a:rPr lang="fr-FR" sz="2400">
                      <a:latin typeface="Times New Roman" charset="0"/>
                      <a:ea typeface="ＭＳ Ｐゴシック" charset="0"/>
                    </a:rPr>
                    <a:t>u</a:t>
                  </a:r>
                </a:p>
              </p:txBody>
            </p:sp>
            <p:sp>
              <p:nvSpPr>
                <p:cNvPr id="6169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3878" y="803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0" hangingPunct="0">
                    <a:defRPr/>
                  </a:pPr>
                  <a:r>
                    <a:rPr lang="fr-FR" sz="2400">
                      <a:latin typeface="Times New Roman" charset="0"/>
                      <a:ea typeface="ＭＳ Ｐゴシック" charset="0"/>
                    </a:rPr>
                    <a:t>v</a:t>
                  </a:r>
                </a:p>
              </p:txBody>
            </p:sp>
            <p:sp>
              <p:nvSpPr>
                <p:cNvPr id="6170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4704" y="1776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0" hangingPunct="0">
                    <a:defRPr/>
                  </a:pPr>
                  <a:r>
                    <a:rPr lang="fr-FR" sz="2400">
                      <a:latin typeface="Times New Roman" charset="0"/>
                      <a:ea typeface="ＭＳ Ｐゴシック" charset="0"/>
                    </a:rPr>
                    <a:t>1</a:t>
                  </a:r>
                </a:p>
              </p:txBody>
            </p:sp>
            <p:sp>
              <p:nvSpPr>
                <p:cNvPr id="6171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3923" y="1026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0" hangingPunct="0">
                    <a:defRPr/>
                  </a:pPr>
                  <a:r>
                    <a:rPr lang="fr-FR" sz="2400">
                      <a:latin typeface="Times New Roman" charset="0"/>
                      <a:ea typeface="ＭＳ Ｐゴシック" charset="0"/>
                    </a:rPr>
                    <a:t>1</a:t>
                  </a:r>
                </a:p>
              </p:txBody>
            </p:sp>
            <p:sp>
              <p:nvSpPr>
                <p:cNvPr id="6172" name="Oval 28"/>
                <p:cNvSpPr>
                  <a:spLocks noChangeArrowheads="1"/>
                </p:cNvSpPr>
                <p:nvPr/>
              </p:nvSpPr>
              <p:spPr bwMode="auto">
                <a:xfrm>
                  <a:off x="4277" y="1536"/>
                  <a:ext cx="113" cy="113"/>
                </a:xfrm>
                <a:prstGeom prst="ellipse">
                  <a:avLst/>
                </a:prstGeom>
                <a:solidFill>
                  <a:srgbClr val="CC0000"/>
                </a:solidFill>
                <a:ln w="9525">
                  <a:solidFill>
                    <a:srgbClr val="CC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FR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173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3888" y="1200"/>
                  <a:ext cx="864" cy="86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FR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174" name="Line 30"/>
                <p:cNvSpPr>
                  <a:spLocks noChangeShapeType="1"/>
                </p:cNvSpPr>
                <p:nvPr/>
              </p:nvSpPr>
              <p:spPr bwMode="auto">
                <a:xfrm>
                  <a:off x="3888" y="2064"/>
                  <a:ext cx="12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FR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175" name="Oval 31"/>
                <p:cNvSpPr>
                  <a:spLocks noChangeArrowheads="1"/>
                </p:cNvSpPr>
                <p:nvPr/>
              </p:nvSpPr>
              <p:spPr bwMode="auto">
                <a:xfrm>
                  <a:off x="3840" y="1536"/>
                  <a:ext cx="113" cy="113"/>
                </a:xfrm>
                <a:prstGeom prst="ellipse">
                  <a:avLst/>
                </a:prstGeom>
                <a:solidFill>
                  <a:srgbClr val="CC0000"/>
                </a:solidFill>
                <a:ln w="9525">
                  <a:solidFill>
                    <a:srgbClr val="CC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FR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176" name="Oval 32"/>
                <p:cNvSpPr>
                  <a:spLocks noChangeArrowheads="1"/>
                </p:cNvSpPr>
                <p:nvPr/>
              </p:nvSpPr>
              <p:spPr bwMode="auto">
                <a:xfrm>
                  <a:off x="4272" y="1999"/>
                  <a:ext cx="113" cy="113"/>
                </a:xfrm>
                <a:prstGeom prst="ellipse">
                  <a:avLst/>
                </a:prstGeom>
                <a:solidFill>
                  <a:srgbClr val="CC0000"/>
                </a:solidFill>
                <a:ln w="9525">
                  <a:solidFill>
                    <a:srgbClr val="CC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FR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177" name="Line 33"/>
                <p:cNvSpPr>
                  <a:spLocks noChangeShapeType="1"/>
                </p:cNvSpPr>
                <p:nvPr/>
              </p:nvSpPr>
              <p:spPr bwMode="auto">
                <a:xfrm flipH="1" flipV="1">
                  <a:off x="3648" y="1488"/>
                  <a:ext cx="1152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FR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178" name="Line 34"/>
                <p:cNvSpPr>
                  <a:spLocks noChangeShapeType="1"/>
                </p:cNvSpPr>
                <p:nvPr/>
              </p:nvSpPr>
              <p:spPr bwMode="auto">
                <a:xfrm>
                  <a:off x="3888" y="1152"/>
                  <a:ext cx="528" cy="100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FR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179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3775" y="2083"/>
                  <a:ext cx="164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fr-FR">
                      <a:latin typeface="Times New Roman" charset="0"/>
                      <a:ea typeface="ＭＳ Ｐゴシック" charset="0"/>
                    </a:rPr>
                    <a:t>I</a:t>
                  </a:r>
                </a:p>
              </p:txBody>
            </p:sp>
            <p:sp>
              <p:nvSpPr>
                <p:cNvPr id="6180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4740" y="2069"/>
                  <a:ext cx="317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fr-FR">
                      <a:latin typeface="Times New Roman" charset="0"/>
                      <a:ea typeface="ＭＳ Ｐゴシック" charset="0"/>
                    </a:rPr>
                    <a:t>II</a:t>
                  </a:r>
                </a:p>
              </p:txBody>
            </p:sp>
            <p:sp>
              <p:nvSpPr>
                <p:cNvPr id="6181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3651" y="1117"/>
                  <a:ext cx="317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fr-FR">
                      <a:latin typeface="Times New Roman" charset="0"/>
                      <a:ea typeface="ＭＳ Ｐゴシック" charset="0"/>
                    </a:rPr>
                    <a:t>III</a:t>
                  </a:r>
                </a:p>
              </p:txBody>
            </p:sp>
          </p:grpSp>
          <p:sp>
            <p:nvSpPr>
              <p:cNvPr id="6182" name="Text Box 38"/>
              <p:cNvSpPr txBox="1">
                <a:spLocks noChangeArrowheads="1"/>
              </p:cNvSpPr>
              <p:nvPr/>
            </p:nvSpPr>
            <p:spPr bwMode="auto">
              <a:xfrm>
                <a:off x="793" y="1253"/>
                <a:ext cx="844" cy="40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 sz="1800"/>
                  <a:t>Élément de</a:t>
                </a:r>
              </a:p>
              <a:p>
                <a:pPr eaLnBrk="1" hangingPunct="1"/>
                <a:r>
                  <a:rPr lang="fr-FR" altLang="fr-FR" sz="1800"/>
                  <a:t>référence</a:t>
                </a:r>
              </a:p>
            </p:txBody>
          </p:sp>
        </p:grpSp>
        <p:pic>
          <p:nvPicPr>
            <p:cNvPr id="6218" name="Picture 7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8" y="1104"/>
              <a:ext cx="1842" cy="6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6223" name="Text Box 79"/>
            <p:cNvSpPr txBox="1">
              <a:spLocks noChangeArrowheads="1"/>
            </p:cNvSpPr>
            <p:nvPr/>
          </p:nvSpPr>
          <p:spPr bwMode="auto">
            <a:xfrm>
              <a:off x="2064" y="527"/>
              <a:ext cx="150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NPI nombre de points</a:t>
              </a:r>
            </a:p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de Gauss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381000" y="407988"/>
            <a:ext cx="7645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Char char="•"/>
            </a:pPr>
            <a:r>
              <a:rPr lang="fr-FR" altLang="fr-FR" sz="2000"/>
              <a:t> Intégration d</a:t>
            </a:r>
            <a:r>
              <a:rPr lang="ja-JP" altLang="fr-FR" sz="2000"/>
              <a:t>’</a:t>
            </a:r>
            <a:r>
              <a:rPr lang="fr-FR" altLang="ja-JP" sz="2000"/>
              <a:t>une fonction f(x, y) sur l</a:t>
            </a:r>
            <a:r>
              <a:rPr lang="ja-JP" altLang="fr-FR" sz="2000"/>
              <a:t>’</a:t>
            </a:r>
            <a:r>
              <a:rPr lang="fr-FR" altLang="ja-JP" sz="2000"/>
              <a:t>élément réel triangulaire e : </a:t>
            </a:r>
            <a:endParaRPr lang="fr-FR" altLang="fr-FR"/>
          </a:p>
        </p:txBody>
      </p:sp>
      <p:graphicFrame>
        <p:nvGraphicFramePr>
          <p:cNvPr id="4098" name="Object 3"/>
          <p:cNvGraphicFramePr>
            <a:graphicFrameLocks noChangeAspect="1"/>
          </p:cNvGraphicFramePr>
          <p:nvPr/>
        </p:nvGraphicFramePr>
        <p:xfrm>
          <a:off x="1689100" y="833438"/>
          <a:ext cx="5859463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3" imgW="3251200" imgH="482600" progId="Equation.3">
                  <p:embed/>
                </p:oleObj>
              </mc:Choice>
              <mc:Fallback>
                <p:oleObj name="Equation" r:id="rId3" imgW="32512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100" y="833438"/>
                        <a:ext cx="5859463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5"/>
          <p:cNvGraphicFramePr>
            <a:graphicFrameLocks noChangeAspect="1"/>
          </p:cNvGraphicFramePr>
          <p:nvPr/>
        </p:nvGraphicFramePr>
        <p:xfrm>
          <a:off x="3733800" y="1606550"/>
          <a:ext cx="5289550" cy="200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5" imgW="2933700" imgH="1117600" progId="Equation.DSMT4">
                  <p:embed/>
                </p:oleObj>
              </mc:Choice>
              <mc:Fallback>
                <p:oleObj name="Equation" r:id="rId5" imgW="2933700" imgH="1117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606550"/>
                        <a:ext cx="5289550" cy="200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34925" y="2349500"/>
            <a:ext cx="649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000">
                <a:latin typeface="Times New Roman" charset="0"/>
                <a:ea typeface="ＭＳ Ｐゴシック" charset="0"/>
              </a:rPr>
              <a:t>avec</a:t>
            </a:r>
          </a:p>
        </p:txBody>
      </p:sp>
      <p:graphicFrame>
        <p:nvGraphicFramePr>
          <p:cNvPr id="4101" name="Object 7"/>
          <p:cNvGraphicFramePr>
            <a:graphicFrameLocks noChangeAspect="1"/>
          </p:cNvGraphicFramePr>
          <p:nvPr/>
        </p:nvGraphicFramePr>
        <p:xfrm>
          <a:off x="682625" y="1784350"/>
          <a:ext cx="2654300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quation" r:id="rId7" imgW="1473200" imgH="914400" progId="Equation.3">
                  <p:embed/>
                </p:oleObj>
              </mc:Choice>
              <mc:Fallback>
                <p:oleObj name="Equation" r:id="rId7" imgW="1473200" imgH="914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25" y="1784350"/>
                        <a:ext cx="2654300" cy="164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3352800" y="2349500"/>
            <a:ext cx="3667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000">
                <a:latin typeface="Times New Roman" charset="0"/>
                <a:ea typeface="ＭＳ Ｐゴシック" charset="0"/>
              </a:rPr>
              <a:t>et</a:t>
            </a:r>
          </a:p>
        </p:txBody>
      </p:sp>
      <p:graphicFrame>
        <p:nvGraphicFramePr>
          <p:cNvPr id="4103" name="Object 9"/>
          <p:cNvGraphicFramePr>
            <a:graphicFrameLocks noChangeAspect="1"/>
          </p:cNvGraphicFramePr>
          <p:nvPr/>
        </p:nvGraphicFramePr>
        <p:xfrm>
          <a:off x="755650" y="3956050"/>
          <a:ext cx="753110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Equation" r:id="rId9" imgW="4178300" imgH="457200" progId="Equation.3">
                  <p:embed/>
                </p:oleObj>
              </mc:Choice>
              <mc:Fallback>
                <p:oleObj name="Equation" r:id="rId9" imgW="4178300" imgH="457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956050"/>
                        <a:ext cx="7531100" cy="82073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8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304800" y="4945063"/>
            <a:ext cx="8832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Char char="•"/>
            </a:pPr>
            <a:r>
              <a:rPr lang="fr-FR" altLang="fr-FR" sz="2000"/>
              <a:t> Intégration d</a:t>
            </a:r>
            <a:r>
              <a:rPr lang="ja-JP" altLang="fr-FR" sz="2000"/>
              <a:t>’</a:t>
            </a:r>
            <a:r>
              <a:rPr lang="fr-FR" altLang="ja-JP" sz="2000"/>
              <a:t>une fonction f(x, y) sur un domaine D maillé avec NE triangles </a:t>
            </a:r>
            <a:endParaRPr lang="fr-FR" altLang="fr-FR"/>
          </a:p>
        </p:txBody>
      </p:sp>
      <p:graphicFrame>
        <p:nvGraphicFramePr>
          <p:cNvPr id="4105" name="Object 11"/>
          <p:cNvGraphicFramePr>
            <a:graphicFrameLocks noChangeAspect="1"/>
          </p:cNvGraphicFramePr>
          <p:nvPr/>
        </p:nvGraphicFramePr>
        <p:xfrm>
          <a:off x="2424113" y="5516563"/>
          <a:ext cx="4189412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Equation" r:id="rId11" imgW="2324100" imgH="457200" progId="Equation.3">
                  <p:embed/>
                </p:oleObj>
              </mc:Choice>
              <mc:Fallback>
                <p:oleObj name="Equation" r:id="rId11" imgW="2324100" imgH="457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5516563"/>
                        <a:ext cx="4189412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381000" y="407988"/>
            <a:ext cx="81168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Char char="•"/>
            </a:pPr>
            <a:r>
              <a:rPr lang="fr-FR" altLang="fr-FR" sz="2000"/>
              <a:t> Intégration sur l</a:t>
            </a:r>
            <a:r>
              <a:rPr lang="ja-JP" altLang="fr-FR" sz="2000"/>
              <a:t>’</a:t>
            </a:r>
            <a:r>
              <a:rPr lang="fr-FR" altLang="ja-JP" sz="2000"/>
              <a:t>élément réel triangulaire e d</a:t>
            </a:r>
            <a:r>
              <a:rPr lang="ja-JP" altLang="fr-FR" sz="2000"/>
              <a:t>’</a:t>
            </a:r>
            <a:r>
              <a:rPr lang="fr-FR" altLang="ja-JP" sz="2000"/>
              <a:t>une grandeur interpolée </a:t>
            </a:r>
          </a:p>
          <a:p>
            <a:r>
              <a:rPr lang="fr-FR" altLang="fr-FR" sz="2000"/>
              <a:t>à partir de ses valeurs aux nœuds d</a:t>
            </a:r>
            <a:r>
              <a:rPr lang="ja-JP" altLang="fr-FR" sz="2000"/>
              <a:t>’</a:t>
            </a:r>
            <a:r>
              <a:rPr lang="fr-FR" altLang="ja-JP" sz="2000"/>
              <a:t>interpolation</a:t>
            </a:r>
            <a:endParaRPr lang="fr-FR" altLang="fr-FR" sz="2000"/>
          </a:p>
        </p:txBody>
      </p:sp>
      <p:graphicFrame>
        <p:nvGraphicFramePr>
          <p:cNvPr id="5122" name="Object 3"/>
          <p:cNvGraphicFramePr>
            <a:graphicFrameLocks noChangeAspect="1"/>
          </p:cNvGraphicFramePr>
          <p:nvPr/>
        </p:nvGraphicFramePr>
        <p:xfrm>
          <a:off x="1692275" y="1268413"/>
          <a:ext cx="5859463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3" imgW="3251200" imgH="482600" progId="Equation.3">
                  <p:embed/>
                </p:oleObj>
              </mc:Choice>
              <mc:Fallback>
                <p:oleObj name="Equation" r:id="rId3" imgW="32512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268413"/>
                        <a:ext cx="5859463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4"/>
          <p:cNvGraphicFramePr>
            <a:graphicFrameLocks noChangeAspect="1"/>
          </p:cNvGraphicFramePr>
          <p:nvPr/>
        </p:nvGraphicFramePr>
        <p:xfrm>
          <a:off x="1692275" y="2420938"/>
          <a:ext cx="370840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Equation" r:id="rId5" imgW="2057400" imgH="431800" progId="Equation.3">
                  <p:embed/>
                </p:oleObj>
              </mc:Choice>
              <mc:Fallback>
                <p:oleObj name="Equation" r:id="rId5" imgW="20574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420938"/>
                        <a:ext cx="3708400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5"/>
          <p:cNvGraphicFramePr>
            <a:graphicFrameLocks noChangeAspect="1"/>
          </p:cNvGraphicFramePr>
          <p:nvPr/>
        </p:nvGraphicFramePr>
        <p:xfrm>
          <a:off x="1223963" y="3644900"/>
          <a:ext cx="6913562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quation" r:id="rId7" imgW="3835400" imgH="469900" progId="Equation.3">
                  <p:embed/>
                </p:oleObj>
              </mc:Choice>
              <mc:Fallback>
                <p:oleObj name="Equation" r:id="rId7" imgW="3835400" imgH="469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963" y="3644900"/>
                        <a:ext cx="6913562" cy="8445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8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304800" y="4945063"/>
            <a:ext cx="8832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Char char="•"/>
            </a:pPr>
            <a:r>
              <a:rPr lang="fr-FR" altLang="fr-FR" sz="2000"/>
              <a:t> Intégration d</a:t>
            </a:r>
            <a:r>
              <a:rPr lang="ja-JP" altLang="fr-FR" sz="2000"/>
              <a:t>’</a:t>
            </a:r>
            <a:r>
              <a:rPr lang="fr-FR" altLang="ja-JP" sz="2000"/>
              <a:t>une fonction f(x, y) sur un domaine D maillé avec NE triangles </a:t>
            </a:r>
            <a:endParaRPr lang="fr-FR" altLang="fr-FR" sz="2000"/>
          </a:p>
        </p:txBody>
      </p:sp>
      <p:graphicFrame>
        <p:nvGraphicFramePr>
          <p:cNvPr id="5126" name="Object 7"/>
          <p:cNvGraphicFramePr>
            <a:graphicFrameLocks noChangeAspect="1"/>
          </p:cNvGraphicFramePr>
          <p:nvPr/>
        </p:nvGraphicFramePr>
        <p:xfrm>
          <a:off x="2424113" y="5516563"/>
          <a:ext cx="4189412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Equation" r:id="rId9" imgW="2324100" imgH="457200" progId="Equation.3">
                  <p:embed/>
                </p:oleObj>
              </mc:Choice>
              <mc:Fallback>
                <p:oleObj name="Equation" r:id="rId9" imgW="232410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5516563"/>
                        <a:ext cx="4189412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381000" y="404813"/>
            <a:ext cx="877728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Char char="•"/>
            </a:pPr>
            <a:r>
              <a:rPr lang="fr-FR" altLang="fr-FR" sz="2000"/>
              <a:t> Intégration de la dérivée fonction </a:t>
            </a:r>
            <a:r>
              <a:rPr lang="fr-FR" altLang="fr-FR" sz="2000">
                <a:sym typeface="Symbol" panose="05050102010706020507" pitchFamily="18" charset="2"/>
              </a:rPr>
              <a:t>d</a:t>
            </a:r>
            <a:r>
              <a:rPr lang="fr-FR" altLang="fr-FR" sz="2000" baseline="-25000">
                <a:sym typeface="Symbol" panose="05050102010706020507" pitchFamily="18" charset="2"/>
              </a:rPr>
              <a:t>x</a:t>
            </a:r>
            <a:r>
              <a:rPr lang="fr-FR" altLang="fr-FR" sz="2000"/>
              <a:t>f(x, y) sur l</a:t>
            </a:r>
            <a:r>
              <a:rPr lang="ja-JP" altLang="fr-FR" sz="2000"/>
              <a:t>’</a:t>
            </a:r>
            <a:r>
              <a:rPr lang="fr-FR" altLang="ja-JP" sz="2000"/>
              <a:t>élément réel triangulaire e : </a:t>
            </a:r>
            <a:endParaRPr lang="fr-FR" altLang="fr-FR"/>
          </a:p>
        </p:txBody>
      </p:sp>
      <p:graphicFrame>
        <p:nvGraphicFramePr>
          <p:cNvPr id="6146" name="Object 3"/>
          <p:cNvGraphicFramePr>
            <a:graphicFrameLocks noChangeAspect="1"/>
          </p:cNvGraphicFramePr>
          <p:nvPr/>
        </p:nvGraphicFramePr>
        <p:xfrm>
          <a:off x="1289050" y="844550"/>
          <a:ext cx="66611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3" imgW="3695700" imgH="469900" progId="Equation.DSMT4">
                  <p:embed/>
                </p:oleObj>
              </mc:Choice>
              <mc:Fallback>
                <p:oleObj name="Equation" r:id="rId3" imgW="3695700" imgH="469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050" y="844550"/>
                        <a:ext cx="666115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5"/>
          <p:cNvGraphicFramePr>
            <a:graphicFrameLocks noChangeAspect="1"/>
          </p:cNvGraphicFramePr>
          <p:nvPr/>
        </p:nvGraphicFramePr>
        <p:xfrm>
          <a:off x="322263" y="4008438"/>
          <a:ext cx="8243887" cy="250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Equation" r:id="rId5" imgW="4572000" imgH="1397000" progId="Equation.DSMT4">
                  <p:embed/>
                </p:oleObj>
              </mc:Choice>
              <mc:Fallback>
                <p:oleObj name="Equation" r:id="rId5" imgW="4572000" imgH="1397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263" y="4008438"/>
                        <a:ext cx="8243887" cy="2506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12"/>
          <p:cNvGraphicFramePr>
            <a:graphicFrameLocks noChangeAspect="1"/>
          </p:cNvGraphicFramePr>
          <p:nvPr/>
        </p:nvGraphicFramePr>
        <p:xfrm>
          <a:off x="1295400" y="1905000"/>
          <a:ext cx="544830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Equation" r:id="rId7" imgW="3022600" imgH="457200" progId="Equation.DSMT4">
                  <p:embed/>
                </p:oleObj>
              </mc:Choice>
              <mc:Fallback>
                <p:oleObj name="Equation" r:id="rId7" imgW="3022600" imgH="457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905000"/>
                        <a:ext cx="5448300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13"/>
          <p:cNvGraphicFramePr>
            <a:graphicFrameLocks noChangeAspect="1"/>
          </p:cNvGraphicFramePr>
          <p:nvPr/>
        </p:nvGraphicFramePr>
        <p:xfrm>
          <a:off x="1219200" y="2971800"/>
          <a:ext cx="6958013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Equation" r:id="rId9" imgW="3860800" imgH="457200" progId="Equation.DSMT4">
                  <p:embed/>
                </p:oleObj>
              </mc:Choice>
              <mc:Fallback>
                <p:oleObj name="Equation" r:id="rId9" imgW="3860800" imgH="457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971800"/>
                        <a:ext cx="6958013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7" name="Rectangle 17"/>
          <p:cNvSpPr>
            <a:spLocks noChangeArrowheads="1"/>
          </p:cNvSpPr>
          <p:nvPr/>
        </p:nvSpPr>
        <p:spPr bwMode="auto">
          <a:xfrm>
            <a:off x="5257800" y="3886200"/>
            <a:ext cx="3429000" cy="25146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9" name="Object 5"/>
          <p:cNvGraphicFramePr>
            <a:graphicFrameLocks noChangeAspect="1"/>
          </p:cNvGraphicFramePr>
          <p:nvPr/>
        </p:nvGraphicFramePr>
        <p:xfrm>
          <a:off x="3514725" y="152400"/>
          <a:ext cx="3800475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Equation" r:id="rId3" imgW="2108200" imgH="431800" progId="Equation.DSMT4">
                  <p:embed/>
                </p:oleObj>
              </mc:Choice>
              <mc:Fallback>
                <p:oleObj name="Equation" r:id="rId3" imgW="2108200" imgH="431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4725" y="152400"/>
                        <a:ext cx="3800475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0" name="Object 6"/>
          <p:cNvGraphicFramePr>
            <a:graphicFrameLocks noChangeAspect="1"/>
          </p:cNvGraphicFramePr>
          <p:nvPr/>
        </p:nvGraphicFramePr>
        <p:xfrm>
          <a:off x="685800" y="1066800"/>
          <a:ext cx="5727700" cy="205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Equation" r:id="rId5" imgW="3175000" imgH="1143000" progId="Equation.DSMT4">
                  <p:embed/>
                </p:oleObj>
              </mc:Choice>
              <mc:Fallback>
                <p:oleObj name="Equation" r:id="rId5" imgW="3175000" imgH="1143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066800"/>
                        <a:ext cx="5727700" cy="205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365125" y="341313"/>
            <a:ext cx="283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Si f(x,y) est une interpolée</a:t>
            </a:r>
          </a:p>
        </p:txBody>
      </p:sp>
      <p:graphicFrame>
        <p:nvGraphicFramePr>
          <p:cNvPr id="7172" name="Object 8"/>
          <p:cNvGraphicFramePr>
            <a:graphicFrameLocks noChangeAspect="1"/>
          </p:cNvGraphicFramePr>
          <p:nvPr/>
        </p:nvGraphicFramePr>
        <p:xfrm>
          <a:off x="609600" y="3733800"/>
          <a:ext cx="8286750" cy="210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Equation" r:id="rId7" imgW="4597400" imgH="1168400" progId="Equation.DSMT4">
                  <p:embed/>
                </p:oleObj>
              </mc:Choice>
              <mc:Fallback>
                <p:oleObj name="Equation" r:id="rId7" imgW="4597400" imgH="1168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733800"/>
                        <a:ext cx="8286750" cy="210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2868613" y="4876800"/>
            <a:ext cx="3711575" cy="1066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1274" name="Rectangle 10"/>
          <p:cNvSpPr>
            <a:spLocks noChangeArrowheads="1"/>
          </p:cNvSpPr>
          <p:nvPr/>
        </p:nvSpPr>
        <p:spPr bwMode="auto">
          <a:xfrm>
            <a:off x="609600" y="990600"/>
            <a:ext cx="762000" cy="9906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1275" name="Line 11"/>
          <p:cNvSpPr>
            <a:spLocks noChangeShapeType="1"/>
          </p:cNvSpPr>
          <p:nvPr/>
        </p:nvSpPr>
        <p:spPr bwMode="auto">
          <a:xfrm>
            <a:off x="1066800" y="1981200"/>
            <a:ext cx="2057400" cy="2895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2"/>
          <p:cNvSpPr>
            <a:spLocks noChangeArrowheads="1"/>
          </p:cNvSpPr>
          <p:nvPr/>
        </p:nvSpPr>
        <p:spPr bwMode="auto">
          <a:xfrm>
            <a:off x="5486400" y="1998663"/>
            <a:ext cx="1511300" cy="288925"/>
          </a:xfrm>
          <a:prstGeom prst="rightArrow">
            <a:avLst>
              <a:gd name="adj1" fmla="val 50000"/>
              <a:gd name="adj2" fmla="val 130769"/>
            </a:avLst>
          </a:prstGeom>
          <a:solidFill>
            <a:srgbClr val="F8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8194" name="Object 3"/>
          <p:cNvGraphicFramePr>
            <a:graphicFrameLocks noChangeAspect="1"/>
          </p:cNvGraphicFramePr>
          <p:nvPr/>
        </p:nvGraphicFramePr>
        <p:xfrm>
          <a:off x="3454400" y="1317625"/>
          <a:ext cx="2243138" cy="159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3" name="Equation" r:id="rId3" imgW="1244600" imgH="889000" progId="Equation.DSMT4">
                  <p:embed/>
                </p:oleObj>
              </mc:Choice>
              <mc:Fallback>
                <p:oleObj name="Equation" r:id="rId3" imgW="1244600" imgH="889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1317625"/>
                        <a:ext cx="2243138" cy="159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3276600" y="914400"/>
            <a:ext cx="2635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NBN nombre de noeuds</a:t>
            </a: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620713" y="238125"/>
            <a:ext cx="7186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fr-FR" altLang="fr-FR" b="1"/>
              <a:t>Interpolation sur un élément linéique à 2 noeuds</a:t>
            </a:r>
          </a:p>
        </p:txBody>
      </p:sp>
      <p:sp>
        <p:nvSpPr>
          <p:cNvPr id="12311" name="Line 23"/>
          <p:cNvSpPr>
            <a:spLocks noChangeShapeType="1"/>
          </p:cNvSpPr>
          <p:nvPr/>
        </p:nvSpPr>
        <p:spPr bwMode="auto">
          <a:xfrm flipV="1">
            <a:off x="7315200" y="1344613"/>
            <a:ext cx="1144588" cy="1111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2313" name="Text Box 25"/>
          <p:cNvSpPr txBox="1">
            <a:spLocks noChangeArrowheads="1"/>
          </p:cNvSpPr>
          <p:nvPr/>
        </p:nvSpPr>
        <p:spPr bwMode="auto">
          <a:xfrm>
            <a:off x="7096125" y="2562225"/>
            <a:ext cx="26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Times New Roman" charset="0"/>
                <a:ea typeface="ＭＳ Ｐゴシック" charset="0"/>
              </a:rPr>
              <a:t>I</a:t>
            </a:r>
          </a:p>
        </p:txBody>
      </p:sp>
      <p:sp>
        <p:nvSpPr>
          <p:cNvPr id="12315" name="Text Box 27"/>
          <p:cNvSpPr txBox="1">
            <a:spLocks noChangeArrowheads="1"/>
          </p:cNvSpPr>
          <p:nvPr/>
        </p:nvSpPr>
        <p:spPr bwMode="auto">
          <a:xfrm>
            <a:off x="8253413" y="931863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Times New Roman" charset="0"/>
                <a:ea typeface="ＭＳ Ｐゴシック" charset="0"/>
              </a:rPr>
              <a:t>II</a:t>
            </a:r>
          </a:p>
        </p:txBody>
      </p:sp>
      <p:sp>
        <p:nvSpPr>
          <p:cNvPr id="12316" name="Text Box 28"/>
          <p:cNvSpPr txBox="1">
            <a:spLocks noChangeArrowheads="1"/>
          </p:cNvSpPr>
          <p:nvPr/>
        </p:nvSpPr>
        <p:spPr bwMode="auto">
          <a:xfrm>
            <a:off x="6804025" y="1201738"/>
            <a:ext cx="1022350" cy="641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Élément</a:t>
            </a:r>
          </a:p>
          <a:p>
            <a:pPr eaLnBrk="1" hangingPunct="1"/>
            <a:r>
              <a:rPr lang="fr-FR" altLang="fr-FR" sz="1800"/>
              <a:t>réel</a:t>
            </a:r>
          </a:p>
        </p:txBody>
      </p:sp>
      <p:sp>
        <p:nvSpPr>
          <p:cNvPr id="12317" name="Oval 29"/>
          <p:cNvSpPr>
            <a:spLocks noChangeArrowheads="1"/>
          </p:cNvSpPr>
          <p:nvPr/>
        </p:nvSpPr>
        <p:spPr bwMode="auto">
          <a:xfrm>
            <a:off x="7162800" y="2455863"/>
            <a:ext cx="179388" cy="17938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2319" name="Oval 31"/>
          <p:cNvSpPr>
            <a:spLocks noChangeArrowheads="1"/>
          </p:cNvSpPr>
          <p:nvPr/>
        </p:nvSpPr>
        <p:spPr bwMode="auto">
          <a:xfrm>
            <a:off x="8364538" y="1255713"/>
            <a:ext cx="179387" cy="17938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8203" name="Object 32"/>
          <p:cNvGraphicFramePr>
            <a:graphicFrameLocks noChangeAspect="1"/>
          </p:cNvGraphicFramePr>
          <p:nvPr/>
        </p:nvGraphicFramePr>
        <p:xfrm>
          <a:off x="2219325" y="3675063"/>
          <a:ext cx="3962400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4" name="Equation" r:id="rId5" imgW="2197100" imgH="393700" progId="Equation.DSMT4">
                  <p:embed/>
                </p:oleObj>
              </mc:Choice>
              <mc:Fallback>
                <p:oleObj name="Equation" r:id="rId5" imgW="2197100" imgH="3937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325" y="3675063"/>
                        <a:ext cx="3962400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21" name="Text Box 33"/>
          <p:cNvSpPr txBox="1">
            <a:spLocks noChangeArrowheads="1"/>
          </p:cNvSpPr>
          <p:nvPr/>
        </p:nvSpPr>
        <p:spPr bwMode="auto">
          <a:xfrm>
            <a:off x="611188" y="3276600"/>
            <a:ext cx="6750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Polynômes d</a:t>
            </a:r>
            <a:r>
              <a:rPr lang="ja-JP" altLang="fr-FR" sz="1800"/>
              <a:t>’</a:t>
            </a:r>
            <a:r>
              <a:rPr lang="fr-FR" altLang="ja-JP" sz="1800"/>
              <a:t>interpolation de Lagrange d</a:t>
            </a:r>
            <a:r>
              <a:rPr lang="ja-JP" altLang="fr-FR" sz="1800"/>
              <a:t>’</a:t>
            </a:r>
            <a:r>
              <a:rPr lang="fr-FR" altLang="ja-JP" sz="1800"/>
              <a:t>ordre 1 : polynômes P1</a:t>
            </a:r>
            <a:endParaRPr lang="fr-FR" altLang="fr-FR" sz="1800"/>
          </a:p>
        </p:txBody>
      </p:sp>
      <p:sp>
        <p:nvSpPr>
          <p:cNvPr id="12322" name="Text Box 34"/>
          <p:cNvSpPr txBox="1">
            <a:spLocks noChangeArrowheads="1"/>
          </p:cNvSpPr>
          <p:nvPr/>
        </p:nvSpPr>
        <p:spPr bwMode="auto">
          <a:xfrm>
            <a:off x="609600" y="4719638"/>
            <a:ext cx="667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Interpolation d</a:t>
            </a:r>
            <a:r>
              <a:rPr lang="ja-JP" altLang="fr-FR" sz="1800"/>
              <a:t>’</a:t>
            </a:r>
            <a:r>
              <a:rPr lang="fr-FR" altLang="ja-JP" sz="1800"/>
              <a:t>une grandeur f connue aux nœuds d</a:t>
            </a:r>
            <a:r>
              <a:rPr lang="ja-JP" altLang="fr-FR" sz="1800"/>
              <a:t>’</a:t>
            </a:r>
            <a:r>
              <a:rPr lang="fr-FR" altLang="ja-JP" sz="1800"/>
              <a:t>interpolation</a:t>
            </a:r>
            <a:endParaRPr lang="fr-FR" altLang="fr-FR" sz="1800"/>
          </a:p>
        </p:txBody>
      </p:sp>
      <p:graphicFrame>
        <p:nvGraphicFramePr>
          <p:cNvPr id="8206" name="Object 35"/>
          <p:cNvGraphicFramePr>
            <a:graphicFrameLocks noChangeAspect="1"/>
          </p:cNvGraphicFramePr>
          <p:nvPr/>
        </p:nvGraphicFramePr>
        <p:xfrm>
          <a:off x="1114425" y="5167313"/>
          <a:ext cx="2128838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5" name="Equation" r:id="rId7" imgW="1180588" imgH="431613" progId="Equation.DSMT4">
                  <p:embed/>
                </p:oleObj>
              </mc:Choice>
              <mc:Fallback>
                <p:oleObj name="Equation" r:id="rId7" imgW="1180588" imgH="431613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425" y="5167313"/>
                        <a:ext cx="2128838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7" name="Object 36"/>
          <p:cNvGraphicFramePr>
            <a:graphicFrameLocks noChangeAspect="1"/>
          </p:cNvGraphicFramePr>
          <p:nvPr/>
        </p:nvGraphicFramePr>
        <p:xfrm>
          <a:off x="5962650" y="5262563"/>
          <a:ext cx="242570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6" name="Equation" r:id="rId9" imgW="1345616" imgH="253890" progId="Equation.DSMT4">
                  <p:embed/>
                </p:oleObj>
              </mc:Choice>
              <mc:Fallback>
                <p:oleObj name="Equation" r:id="rId9" imgW="1345616" imgH="25389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2650" y="5262563"/>
                        <a:ext cx="242570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25" name="AutoShape 37"/>
          <p:cNvSpPr>
            <a:spLocks noChangeArrowheads="1"/>
          </p:cNvSpPr>
          <p:nvPr/>
        </p:nvSpPr>
        <p:spPr bwMode="auto">
          <a:xfrm>
            <a:off x="3849688" y="5367338"/>
            <a:ext cx="1511300" cy="288925"/>
          </a:xfrm>
          <a:prstGeom prst="rightArrow">
            <a:avLst>
              <a:gd name="adj1" fmla="val 50000"/>
              <a:gd name="adj2" fmla="val 130769"/>
            </a:avLst>
          </a:prstGeom>
          <a:solidFill>
            <a:srgbClr val="F8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2326" name="Line 38"/>
          <p:cNvSpPr>
            <a:spLocks noChangeShapeType="1"/>
          </p:cNvSpPr>
          <p:nvPr/>
        </p:nvSpPr>
        <p:spPr bwMode="auto">
          <a:xfrm flipV="1">
            <a:off x="466725" y="1160463"/>
            <a:ext cx="0" cy="12239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2331" name="Text Box 43"/>
          <p:cNvSpPr txBox="1">
            <a:spLocks noChangeArrowheads="1"/>
          </p:cNvSpPr>
          <p:nvPr/>
        </p:nvSpPr>
        <p:spPr bwMode="auto">
          <a:xfrm>
            <a:off x="2316163" y="202565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fr-FR" sz="2000">
                <a:latin typeface="Times New Roman" charset="0"/>
                <a:ea typeface="ＭＳ Ｐゴシック" charset="0"/>
              </a:rPr>
              <a:t>u</a:t>
            </a:r>
          </a:p>
        </p:txBody>
      </p:sp>
      <p:sp>
        <p:nvSpPr>
          <p:cNvPr id="12332" name="Oval 44"/>
          <p:cNvSpPr>
            <a:spLocks noChangeArrowheads="1"/>
          </p:cNvSpPr>
          <p:nvPr/>
        </p:nvSpPr>
        <p:spPr bwMode="auto">
          <a:xfrm>
            <a:off x="444500" y="2312988"/>
            <a:ext cx="142875" cy="1428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2333" name="Oval 45"/>
          <p:cNvSpPr>
            <a:spLocks noChangeArrowheads="1"/>
          </p:cNvSpPr>
          <p:nvPr/>
        </p:nvSpPr>
        <p:spPr bwMode="auto">
          <a:xfrm>
            <a:off x="2100263" y="2312988"/>
            <a:ext cx="142875" cy="1428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2334" name="Text Box 46"/>
          <p:cNvSpPr txBox="1">
            <a:spLocks noChangeArrowheads="1"/>
          </p:cNvSpPr>
          <p:nvPr/>
        </p:nvSpPr>
        <p:spPr bwMode="auto">
          <a:xfrm>
            <a:off x="314325" y="2532063"/>
            <a:ext cx="2044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-1                      +1</a:t>
            </a:r>
          </a:p>
        </p:txBody>
      </p:sp>
      <p:sp>
        <p:nvSpPr>
          <p:cNvPr id="12335" name="Line 47"/>
          <p:cNvSpPr>
            <a:spLocks noChangeShapeType="1"/>
          </p:cNvSpPr>
          <p:nvPr/>
        </p:nvSpPr>
        <p:spPr bwMode="auto">
          <a:xfrm flipH="1">
            <a:off x="517525" y="1468438"/>
            <a:ext cx="1584325" cy="915987"/>
          </a:xfrm>
          <a:prstGeom prst="line">
            <a:avLst/>
          </a:prstGeom>
          <a:noFill/>
          <a:ln w="28575">
            <a:solidFill>
              <a:srgbClr val="CC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2336" name="Line 48"/>
          <p:cNvSpPr>
            <a:spLocks noChangeShapeType="1"/>
          </p:cNvSpPr>
          <p:nvPr/>
        </p:nvSpPr>
        <p:spPr bwMode="auto">
          <a:xfrm flipH="1" flipV="1">
            <a:off x="514350" y="1449388"/>
            <a:ext cx="1655763" cy="955675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2337" name="Text Box 49"/>
          <p:cNvSpPr txBox="1">
            <a:spLocks noChangeArrowheads="1"/>
          </p:cNvSpPr>
          <p:nvPr/>
        </p:nvSpPr>
        <p:spPr bwMode="auto">
          <a:xfrm>
            <a:off x="1165225" y="201930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Arial" charset="0"/>
                <a:ea typeface="ＭＳ Ｐゴシック" charset="0"/>
              </a:rPr>
              <a:t>e</a:t>
            </a:r>
          </a:p>
        </p:txBody>
      </p:sp>
      <p:sp>
        <p:nvSpPr>
          <p:cNvPr id="12338" name="Text Box 50"/>
          <p:cNvSpPr txBox="1">
            <a:spLocks noChangeArrowheads="1"/>
          </p:cNvSpPr>
          <p:nvPr/>
        </p:nvSpPr>
        <p:spPr bwMode="auto">
          <a:xfrm>
            <a:off x="1666875" y="116046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solidFill>
                  <a:srgbClr val="CC0000"/>
                </a:solidFill>
                <a:latin typeface="Symbol" charset="0"/>
                <a:ea typeface="ＭＳ Ｐゴシック" charset="0"/>
              </a:rPr>
              <a:t>a</a:t>
            </a:r>
            <a:r>
              <a:rPr lang="en-US" baseline="-25000">
                <a:solidFill>
                  <a:srgbClr val="CC0000"/>
                </a:solidFill>
                <a:latin typeface="Arial" charset="0"/>
                <a:ea typeface="ＭＳ Ｐゴシック" charset="0"/>
              </a:rPr>
              <a:t>2</a:t>
            </a:r>
            <a:endParaRPr lang="en-US" baseline="30000">
              <a:solidFill>
                <a:srgbClr val="CC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339" name="Text Box 51"/>
          <p:cNvSpPr txBox="1">
            <a:spLocks noChangeArrowheads="1"/>
          </p:cNvSpPr>
          <p:nvPr/>
        </p:nvSpPr>
        <p:spPr bwMode="auto">
          <a:xfrm>
            <a:off x="514350" y="116046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Symbol" charset="0"/>
                <a:ea typeface="ＭＳ Ｐゴシック" charset="0"/>
              </a:rPr>
              <a:t>a</a:t>
            </a:r>
            <a:r>
              <a:rPr lang="en-US" baseline="-25000">
                <a:latin typeface="Arial" charset="0"/>
                <a:ea typeface="ＭＳ Ｐゴシック" charset="0"/>
              </a:rPr>
              <a:t>1</a:t>
            </a:r>
            <a:endParaRPr lang="en-US" baseline="30000">
              <a:latin typeface="Arial" charset="0"/>
              <a:ea typeface="ＭＳ Ｐゴシック" charset="0"/>
            </a:endParaRPr>
          </a:p>
        </p:txBody>
      </p:sp>
      <p:sp>
        <p:nvSpPr>
          <p:cNvPr id="12340" name="Text Box 52"/>
          <p:cNvSpPr txBox="1">
            <a:spLocks noChangeArrowheads="1"/>
          </p:cNvSpPr>
          <p:nvPr/>
        </p:nvSpPr>
        <p:spPr bwMode="auto">
          <a:xfrm>
            <a:off x="300038" y="1879600"/>
            <a:ext cx="455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>
                <a:sym typeface="Wingdings" panose="05000000000000000000" pitchFamily="2" charset="2"/>
              </a:rPr>
              <a:t></a:t>
            </a:r>
          </a:p>
        </p:txBody>
      </p:sp>
      <p:sp>
        <p:nvSpPr>
          <p:cNvPr id="12341" name="Text Box 53"/>
          <p:cNvSpPr txBox="1">
            <a:spLocks noChangeArrowheads="1"/>
          </p:cNvSpPr>
          <p:nvPr/>
        </p:nvSpPr>
        <p:spPr bwMode="auto">
          <a:xfrm>
            <a:off x="1933575" y="1881188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>
                <a:sym typeface="Wingdings" panose="05000000000000000000" pitchFamily="2" charset="2"/>
              </a:rPr>
              <a:t></a:t>
            </a:r>
          </a:p>
        </p:txBody>
      </p:sp>
      <p:sp>
        <p:nvSpPr>
          <p:cNvPr id="12343" name="Line 55"/>
          <p:cNvSpPr>
            <a:spLocks noChangeShapeType="1"/>
          </p:cNvSpPr>
          <p:nvPr/>
        </p:nvSpPr>
        <p:spPr bwMode="auto">
          <a:xfrm>
            <a:off x="517525" y="2386013"/>
            <a:ext cx="18716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2349" name="Text Box 61"/>
          <p:cNvSpPr txBox="1">
            <a:spLocks noChangeArrowheads="1"/>
          </p:cNvSpPr>
          <p:nvPr/>
        </p:nvSpPr>
        <p:spPr bwMode="auto">
          <a:xfrm>
            <a:off x="228600" y="123190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220663" y="238125"/>
            <a:ext cx="8339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fr-FR" altLang="fr-FR" b="1"/>
              <a:t>Intégration numérique de Gauss sur un élément linéique</a:t>
            </a:r>
          </a:p>
        </p:txBody>
      </p:sp>
      <p:sp>
        <p:nvSpPr>
          <p:cNvPr id="13396" name="Text Box 84"/>
          <p:cNvSpPr txBox="1">
            <a:spLocks noChangeArrowheads="1"/>
          </p:cNvSpPr>
          <p:nvPr/>
        </p:nvSpPr>
        <p:spPr bwMode="auto">
          <a:xfrm>
            <a:off x="2397125" y="106045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fr-FR" sz="2000">
                <a:latin typeface="Times New Roman" charset="0"/>
                <a:ea typeface="ＭＳ Ｐゴシック" charset="0"/>
              </a:rPr>
              <a:t>u</a:t>
            </a:r>
          </a:p>
        </p:txBody>
      </p:sp>
      <p:sp>
        <p:nvSpPr>
          <p:cNvPr id="13399" name="Text Box 87"/>
          <p:cNvSpPr txBox="1">
            <a:spLocks noChangeArrowheads="1"/>
          </p:cNvSpPr>
          <p:nvPr/>
        </p:nvSpPr>
        <p:spPr bwMode="auto">
          <a:xfrm>
            <a:off x="381000" y="1563688"/>
            <a:ext cx="2044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-1                      +1</a:t>
            </a:r>
          </a:p>
        </p:txBody>
      </p:sp>
      <p:sp>
        <p:nvSpPr>
          <p:cNvPr id="13400" name="Text Box 88"/>
          <p:cNvSpPr txBox="1">
            <a:spLocks noChangeArrowheads="1"/>
          </p:cNvSpPr>
          <p:nvPr/>
        </p:nvSpPr>
        <p:spPr bwMode="auto">
          <a:xfrm>
            <a:off x="1246188" y="105410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Arial" charset="0"/>
                <a:ea typeface="ＭＳ Ｐゴシック" charset="0"/>
              </a:rPr>
              <a:t>e</a:t>
            </a:r>
          </a:p>
        </p:txBody>
      </p:sp>
      <p:sp>
        <p:nvSpPr>
          <p:cNvPr id="13401" name="Text Box 89"/>
          <p:cNvSpPr txBox="1">
            <a:spLocks noChangeArrowheads="1"/>
          </p:cNvSpPr>
          <p:nvPr/>
        </p:nvSpPr>
        <p:spPr bwMode="auto">
          <a:xfrm>
            <a:off x="381000" y="914400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>
                <a:sym typeface="Wingdings" panose="05000000000000000000" pitchFamily="2" charset="2"/>
              </a:rPr>
              <a:t></a:t>
            </a:r>
          </a:p>
        </p:txBody>
      </p:sp>
      <p:sp>
        <p:nvSpPr>
          <p:cNvPr id="13402" name="Text Box 90"/>
          <p:cNvSpPr txBox="1">
            <a:spLocks noChangeArrowheads="1"/>
          </p:cNvSpPr>
          <p:nvPr/>
        </p:nvSpPr>
        <p:spPr bwMode="auto">
          <a:xfrm>
            <a:off x="2014538" y="915988"/>
            <a:ext cx="455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>
                <a:sym typeface="Wingdings" panose="05000000000000000000" pitchFamily="2" charset="2"/>
              </a:rPr>
              <a:t></a:t>
            </a:r>
          </a:p>
        </p:txBody>
      </p:sp>
      <p:sp>
        <p:nvSpPr>
          <p:cNvPr id="13404" name="Line 92"/>
          <p:cNvSpPr>
            <a:spLocks noChangeShapeType="1"/>
          </p:cNvSpPr>
          <p:nvPr/>
        </p:nvSpPr>
        <p:spPr bwMode="auto">
          <a:xfrm>
            <a:off x="598488" y="1420813"/>
            <a:ext cx="18716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3405" name="Oval 93"/>
          <p:cNvSpPr>
            <a:spLocks noChangeArrowheads="1"/>
          </p:cNvSpPr>
          <p:nvPr/>
        </p:nvSpPr>
        <p:spPr bwMode="auto">
          <a:xfrm>
            <a:off x="955675" y="1384300"/>
            <a:ext cx="107950" cy="1079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3406" name="Oval 94"/>
          <p:cNvSpPr>
            <a:spLocks noChangeArrowheads="1"/>
          </p:cNvSpPr>
          <p:nvPr/>
        </p:nvSpPr>
        <p:spPr bwMode="auto">
          <a:xfrm>
            <a:off x="1785938" y="1384300"/>
            <a:ext cx="107950" cy="1079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3407" name="Text Box 95"/>
          <p:cNvSpPr txBox="1">
            <a:spLocks noChangeArrowheads="1"/>
          </p:cNvSpPr>
          <p:nvPr/>
        </p:nvSpPr>
        <p:spPr bwMode="auto">
          <a:xfrm>
            <a:off x="3071813" y="1038225"/>
            <a:ext cx="3481387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NPI = 2;</a:t>
            </a:r>
            <a:endParaRPr lang="fr-FR" sz="14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4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u = [-1./sqrt(3.) 1./sqrt(3.)];</a:t>
            </a:r>
            <a:endParaRPr lang="fr-FR" sz="14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4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pds=[1.0  1.0];</a:t>
            </a:r>
            <a:endParaRPr lang="fr-FR" sz="1400">
              <a:latin typeface="Arial" charset="0"/>
              <a:ea typeface="ＭＳ Ｐゴシック" charset="0"/>
            </a:endParaRPr>
          </a:p>
        </p:txBody>
      </p:sp>
      <p:sp>
        <p:nvSpPr>
          <p:cNvPr id="13409" name="Text Box 97"/>
          <p:cNvSpPr txBox="1">
            <a:spLocks noChangeArrowheads="1"/>
          </p:cNvSpPr>
          <p:nvPr/>
        </p:nvSpPr>
        <p:spPr bwMode="auto">
          <a:xfrm>
            <a:off x="6934200" y="1676400"/>
            <a:ext cx="26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Times New Roman" charset="0"/>
                <a:ea typeface="ＭＳ Ｐゴシック" charset="0"/>
              </a:rPr>
              <a:t>I</a:t>
            </a:r>
          </a:p>
        </p:txBody>
      </p:sp>
      <p:sp>
        <p:nvSpPr>
          <p:cNvPr id="13410" name="Text Box 98"/>
          <p:cNvSpPr txBox="1">
            <a:spLocks noChangeArrowheads="1"/>
          </p:cNvSpPr>
          <p:nvPr/>
        </p:nvSpPr>
        <p:spPr bwMode="auto">
          <a:xfrm>
            <a:off x="8154988" y="720725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Times New Roman" charset="0"/>
                <a:ea typeface="ＭＳ Ｐゴシック" charset="0"/>
              </a:rPr>
              <a:t>II</a:t>
            </a:r>
          </a:p>
        </p:txBody>
      </p:sp>
      <p:sp>
        <p:nvSpPr>
          <p:cNvPr id="13411" name="Text Box 99"/>
          <p:cNvSpPr txBox="1">
            <a:spLocks noChangeArrowheads="1"/>
          </p:cNvSpPr>
          <p:nvPr/>
        </p:nvSpPr>
        <p:spPr bwMode="auto">
          <a:xfrm>
            <a:off x="6781800" y="762000"/>
            <a:ext cx="1022350" cy="641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Élément</a:t>
            </a:r>
          </a:p>
          <a:p>
            <a:pPr eaLnBrk="1" hangingPunct="1"/>
            <a:r>
              <a:rPr lang="fr-FR" altLang="fr-FR" sz="1800"/>
              <a:t>réel</a:t>
            </a:r>
          </a:p>
        </p:txBody>
      </p:sp>
      <p:sp>
        <p:nvSpPr>
          <p:cNvPr id="13412" name="Oval 100"/>
          <p:cNvSpPr>
            <a:spLocks noChangeArrowheads="1"/>
          </p:cNvSpPr>
          <p:nvPr/>
        </p:nvSpPr>
        <p:spPr bwMode="auto">
          <a:xfrm>
            <a:off x="6858000" y="1524000"/>
            <a:ext cx="179388" cy="17938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3413" name="Oval 101"/>
          <p:cNvSpPr>
            <a:spLocks noChangeArrowheads="1"/>
          </p:cNvSpPr>
          <p:nvPr/>
        </p:nvSpPr>
        <p:spPr bwMode="auto">
          <a:xfrm>
            <a:off x="8266113" y="1044575"/>
            <a:ext cx="179387" cy="17938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pSp>
        <p:nvGrpSpPr>
          <p:cNvPr id="9232" name="Group 113"/>
          <p:cNvGrpSpPr>
            <a:grpSpLocks/>
          </p:cNvGrpSpPr>
          <p:nvPr/>
        </p:nvGrpSpPr>
        <p:grpSpPr bwMode="auto">
          <a:xfrm rot="1549697">
            <a:off x="7186613" y="895350"/>
            <a:ext cx="969962" cy="914400"/>
            <a:chOff x="4512" y="714"/>
            <a:chExt cx="755" cy="678"/>
          </a:xfrm>
        </p:grpSpPr>
        <p:sp>
          <p:nvSpPr>
            <p:cNvPr id="13408" name="Line 96"/>
            <p:cNvSpPr>
              <a:spLocks noChangeShapeType="1"/>
            </p:cNvSpPr>
            <p:nvPr/>
          </p:nvSpPr>
          <p:spPr bwMode="auto">
            <a:xfrm flipV="1">
              <a:off x="4512" y="714"/>
              <a:ext cx="755" cy="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13414" name="Oval 102"/>
            <p:cNvSpPr>
              <a:spLocks noChangeArrowheads="1"/>
            </p:cNvSpPr>
            <p:nvPr/>
          </p:nvSpPr>
          <p:spPr bwMode="auto">
            <a:xfrm>
              <a:off x="4664" y="1183"/>
              <a:ext cx="68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13415" name="Oval 103"/>
            <p:cNvSpPr>
              <a:spLocks noChangeArrowheads="1"/>
            </p:cNvSpPr>
            <p:nvPr/>
          </p:nvSpPr>
          <p:spPr bwMode="auto">
            <a:xfrm>
              <a:off x="5039" y="864"/>
              <a:ext cx="68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3417" name="Text Box 105"/>
          <p:cNvSpPr txBox="1">
            <a:spLocks noChangeArrowheads="1"/>
          </p:cNvSpPr>
          <p:nvPr/>
        </p:nvSpPr>
        <p:spPr bwMode="auto">
          <a:xfrm>
            <a:off x="381000" y="2133600"/>
            <a:ext cx="77374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Char char="•"/>
            </a:pPr>
            <a:r>
              <a:rPr lang="fr-FR" altLang="fr-FR" sz="2000"/>
              <a:t> Intégration sur l</a:t>
            </a:r>
            <a:r>
              <a:rPr lang="ja-JP" altLang="fr-FR" sz="2000"/>
              <a:t>’</a:t>
            </a:r>
            <a:r>
              <a:rPr lang="fr-FR" altLang="ja-JP" sz="2000"/>
              <a:t>élément réel linéique e d</a:t>
            </a:r>
            <a:r>
              <a:rPr lang="ja-JP" altLang="fr-FR" sz="2000"/>
              <a:t>’</a:t>
            </a:r>
            <a:r>
              <a:rPr lang="fr-FR" altLang="ja-JP" sz="2000"/>
              <a:t>une grandeur interpolée </a:t>
            </a:r>
          </a:p>
          <a:p>
            <a:r>
              <a:rPr lang="fr-FR" altLang="fr-FR" sz="2000"/>
              <a:t>à partir de ses valeurs aux nœuds d</a:t>
            </a:r>
            <a:r>
              <a:rPr lang="ja-JP" altLang="fr-FR" sz="2000"/>
              <a:t>’</a:t>
            </a:r>
            <a:r>
              <a:rPr lang="fr-FR" altLang="ja-JP" sz="2000"/>
              <a:t>interpolation</a:t>
            </a:r>
            <a:endParaRPr lang="fr-FR" altLang="fr-FR" sz="2000"/>
          </a:p>
        </p:txBody>
      </p:sp>
      <p:graphicFrame>
        <p:nvGraphicFramePr>
          <p:cNvPr id="9234" name="Object 106"/>
          <p:cNvGraphicFramePr>
            <a:graphicFrameLocks noChangeAspect="1"/>
          </p:cNvGraphicFramePr>
          <p:nvPr/>
        </p:nvGraphicFramePr>
        <p:xfrm>
          <a:off x="228600" y="2967038"/>
          <a:ext cx="5516563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" name="Equation" r:id="rId3" imgW="3060700" imgH="469900" progId="Equation.DSMT4">
                  <p:embed/>
                </p:oleObj>
              </mc:Choice>
              <mc:Fallback>
                <p:oleObj name="Equation" r:id="rId3" imgW="3060700" imgH="469900" progId="Equation.DSMT4">
                  <p:embed/>
                  <p:pic>
                    <p:nvPicPr>
                      <p:cNvPr id="0" name="Objec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967038"/>
                        <a:ext cx="5516563" cy="84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5" name="Object 107"/>
          <p:cNvGraphicFramePr>
            <a:graphicFrameLocks noChangeAspect="1"/>
          </p:cNvGraphicFramePr>
          <p:nvPr/>
        </p:nvGraphicFramePr>
        <p:xfrm>
          <a:off x="6477000" y="2971800"/>
          <a:ext cx="2449513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4" name="Equation" r:id="rId5" imgW="1358310" imgH="431613" progId="Equation.DSMT4">
                  <p:embed/>
                </p:oleObj>
              </mc:Choice>
              <mc:Fallback>
                <p:oleObj name="Equation" r:id="rId5" imgW="1358310" imgH="431613" progId="Equation.DSMT4">
                  <p:embed/>
                  <p:pic>
                    <p:nvPicPr>
                      <p:cNvPr id="0" name="Object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2971800"/>
                        <a:ext cx="2449513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20" name="Text Box 108"/>
          <p:cNvSpPr txBox="1">
            <a:spLocks noChangeArrowheads="1"/>
          </p:cNvSpPr>
          <p:nvPr/>
        </p:nvSpPr>
        <p:spPr bwMode="auto">
          <a:xfrm>
            <a:off x="5867400" y="3200400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où</a:t>
            </a:r>
          </a:p>
        </p:txBody>
      </p:sp>
      <p:graphicFrame>
        <p:nvGraphicFramePr>
          <p:cNvPr id="9237" name="Object 109"/>
          <p:cNvGraphicFramePr>
            <a:graphicFrameLocks noChangeAspect="1"/>
          </p:cNvGraphicFramePr>
          <p:nvPr/>
        </p:nvGraphicFramePr>
        <p:xfrm>
          <a:off x="381000" y="3962400"/>
          <a:ext cx="8289925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5" name="Equation" r:id="rId7" imgW="4597400" imgH="533400" progId="Equation.DSMT4">
                  <p:embed/>
                </p:oleObj>
              </mc:Choice>
              <mc:Fallback>
                <p:oleObj name="Equation" r:id="rId7" imgW="4597400" imgH="533400" progId="Equation.DSMT4">
                  <p:embed/>
                  <p:pic>
                    <p:nvPicPr>
                      <p:cNvPr id="0" name="Object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962400"/>
                        <a:ext cx="8289925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8" name="Object 114"/>
          <p:cNvGraphicFramePr>
            <a:graphicFrameLocks noChangeAspect="1"/>
          </p:cNvGraphicFramePr>
          <p:nvPr/>
        </p:nvGraphicFramePr>
        <p:xfrm>
          <a:off x="860425" y="5632450"/>
          <a:ext cx="641032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" name="Equation" r:id="rId9" imgW="3556000" imgH="469900" progId="Equation.DSMT4">
                  <p:embed/>
                </p:oleObj>
              </mc:Choice>
              <mc:Fallback>
                <p:oleObj name="Equation" r:id="rId9" imgW="3556000" imgH="469900" progId="Equation.DSMT4">
                  <p:embed/>
                  <p:pic>
                    <p:nvPicPr>
                      <p:cNvPr id="0" name="Object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425" y="5632450"/>
                        <a:ext cx="6410325" cy="8445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8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27" name="Text Box 115"/>
          <p:cNvSpPr txBox="1">
            <a:spLocks noChangeArrowheads="1"/>
          </p:cNvSpPr>
          <p:nvPr/>
        </p:nvSpPr>
        <p:spPr bwMode="auto">
          <a:xfrm>
            <a:off x="288925" y="5065713"/>
            <a:ext cx="405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Quadrature de Gauss sur l</a:t>
            </a:r>
            <a:r>
              <a:rPr lang="ja-JP" altLang="fr-FR" sz="1800"/>
              <a:t>’</a:t>
            </a:r>
            <a:r>
              <a:rPr lang="fr-FR" altLang="ja-JP" sz="1800"/>
              <a:t>interpolée :</a:t>
            </a:r>
            <a:endParaRPr lang="fr-FR" altLang="fr-FR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</TotalTime>
  <Words>345</Words>
  <Application>Microsoft Office PowerPoint</Application>
  <PresentationFormat>Affichage à l'écran (4:3)</PresentationFormat>
  <Paragraphs>94</Paragraphs>
  <Slides>8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8</vt:i4>
      </vt:variant>
    </vt:vector>
  </HeadingPairs>
  <TitlesOfParts>
    <vt:vector size="18" baseType="lpstr">
      <vt:lpstr>Arial</vt:lpstr>
      <vt:lpstr>MS PGothic</vt:lpstr>
      <vt:lpstr>Calibri</vt:lpstr>
      <vt:lpstr>Times New Roman</vt:lpstr>
      <vt:lpstr>Symbol</vt:lpstr>
      <vt:lpstr>Wingdings</vt:lpstr>
      <vt:lpstr>Courier New</vt:lpstr>
      <vt:lpstr>Modèle par défaut</vt:lpstr>
      <vt:lpstr>Microsoft Equation 3.0</vt:lpstr>
      <vt:lpstr>MathType 6.0 Equation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toussaij</dc:creator>
  <cp:lastModifiedBy>toussaij</cp:lastModifiedBy>
  <cp:revision>57</cp:revision>
  <cp:lastPrinted>1601-01-01T00:00:00Z</cp:lastPrinted>
  <dcterms:created xsi:type="dcterms:W3CDTF">1601-01-01T00:00:00Z</dcterms:created>
  <dcterms:modified xsi:type="dcterms:W3CDTF">2025-09-29T17:25:15Z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