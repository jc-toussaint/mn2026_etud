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79" r:id="rId2"/>
    <p:sldId id="320" r:id="rId3"/>
    <p:sldId id="317" r:id="rId4"/>
    <p:sldId id="280" r:id="rId5"/>
    <p:sldId id="319" r:id="rId6"/>
    <p:sldId id="318" r:id="rId7"/>
    <p:sldId id="307" r:id="rId8"/>
    <p:sldId id="308" r:id="rId9"/>
    <p:sldId id="283" r:id="rId10"/>
    <p:sldId id="284" r:id="rId11"/>
    <p:sldId id="285" r:id="rId12"/>
    <p:sldId id="286" r:id="rId13"/>
    <p:sldId id="311" r:id="rId14"/>
    <p:sldId id="288" r:id="rId15"/>
    <p:sldId id="289" r:id="rId16"/>
    <p:sldId id="290" r:id="rId17"/>
    <p:sldId id="291" r:id="rId18"/>
    <p:sldId id="292" r:id="rId19"/>
    <p:sldId id="293" r:id="rId20"/>
    <p:sldId id="314" r:id="rId21"/>
    <p:sldId id="295" r:id="rId22"/>
    <p:sldId id="315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9" r:id="rId31"/>
    <p:sldId id="310" r:id="rId32"/>
  </p:sldIdLst>
  <p:sldSz cx="9144000" cy="6858000" type="screen4x3"/>
  <p:notesSz cx="7099300" cy="10234613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00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99"/>
    <p:restoredTop sz="95332" autoAdjust="0"/>
  </p:normalViewPr>
  <p:slideViewPr>
    <p:cSldViewPr>
      <p:cViewPr varScale="1">
        <p:scale>
          <a:sx n="82" d="100"/>
          <a:sy n="82" d="100"/>
        </p:scale>
        <p:origin x="116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8405" cy="384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5" Type="http://schemas.openxmlformats.org/officeDocument/2006/relationships/image" Target="../media/image10.wmf"/><Relationship Id="rId4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8.wmf"/><Relationship Id="rId4" Type="http://schemas.openxmlformats.org/officeDocument/2006/relationships/image" Target="../media/image22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176AEE5A-4466-4345-BE51-29BE77E24A73}" type="slidenum">
              <a:rPr lang="fr-FR" altLang="en-US"/>
              <a:pPr>
                <a:defRPr/>
              </a:pPr>
              <a:t>‹N°›</a:t>
            </a:fld>
            <a:endParaRPr lang="fr-F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2513"/>
            <a:ext cx="5680075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 noProof="0"/>
              <a:t>Cliquez pour modifier les styles du texte du masque</a:t>
            </a:r>
          </a:p>
          <a:p>
            <a:pPr lvl="1"/>
            <a:r>
              <a:rPr lang="fr-FR" altLang="en-US" noProof="0"/>
              <a:t>Deuxième niveau</a:t>
            </a:r>
          </a:p>
          <a:p>
            <a:pPr lvl="2"/>
            <a:r>
              <a:rPr lang="fr-FR" altLang="en-US" noProof="0"/>
              <a:t>Troisième niveau</a:t>
            </a:r>
          </a:p>
          <a:p>
            <a:pPr lvl="3"/>
            <a:r>
              <a:rPr lang="fr-FR" altLang="en-US" noProof="0"/>
              <a:t>Quatrième niveau</a:t>
            </a:r>
          </a:p>
          <a:p>
            <a:pPr lvl="4"/>
            <a:r>
              <a:rPr lang="fr-FR" altLang="en-US" noProof="0"/>
              <a:t>Cinquième niveau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8B790928-6322-48EE-A90F-A0FD38C2654C}" type="slidenum">
              <a:rPr lang="fr-FR" altLang="en-US"/>
              <a:pPr>
                <a:defRPr/>
              </a:pPr>
              <a:t>‹N°›</a:t>
            </a:fld>
            <a:endParaRPr lang="fr-F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1973BB4-7EAC-462B-A559-0166F541EFB1}" type="slidenum">
              <a:rPr lang="fr-FR" altLang="en-US" smtClean="0"/>
              <a:pPr/>
              <a:t>1</a:t>
            </a:fld>
            <a:endParaRPr lang="fr-FR" altLang="en-US" smtClean="0"/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149A8EB-E328-4878-A112-F9B5D0D3C5A9}" type="slidenum">
              <a:rPr lang="fr-FR" altLang="en-US" smtClean="0"/>
              <a:pPr/>
              <a:t>3</a:t>
            </a:fld>
            <a:endParaRPr lang="fr-FR" altLang="en-US" smtClean="0"/>
          </a:p>
        </p:txBody>
      </p:sp>
      <p:sp>
        <p:nvSpPr>
          <p:cNvPr id="194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7E48EB-C8F1-4B50-B577-A74B9C28B38B}" type="slidenum">
              <a:rPr lang="fr-FR" altLang="en-US" smtClean="0"/>
              <a:pPr/>
              <a:t>4</a:t>
            </a:fld>
            <a:endParaRPr lang="fr-FR" altLang="en-US" smtClean="0"/>
          </a:p>
        </p:txBody>
      </p:sp>
      <p:sp>
        <p:nvSpPr>
          <p:cNvPr id="215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2958FD4-C2D6-4292-A015-5BF74A42FED1}" type="slidenum">
              <a:rPr lang="fr-FR" altLang="en-US" smtClean="0"/>
              <a:pPr/>
              <a:t>5</a:t>
            </a:fld>
            <a:endParaRPr lang="fr-FR" altLang="en-US" smtClean="0"/>
          </a:p>
        </p:txBody>
      </p:sp>
      <p:sp>
        <p:nvSpPr>
          <p:cNvPr id="235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BD342F4-9FF7-4E61-9784-8EB65BB78E52}" type="slidenum">
              <a:rPr lang="fr-FR" altLang="en-US" smtClean="0"/>
              <a:pPr/>
              <a:t>6</a:t>
            </a:fld>
            <a:endParaRPr lang="fr-FR" altLang="en-US" smtClean="0"/>
          </a:p>
        </p:txBody>
      </p:sp>
      <p:sp>
        <p:nvSpPr>
          <p:cNvPr id="256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0D175C-C465-4C9F-BF95-58A7B80EE7C2}" type="slidenum">
              <a:rPr lang="fr-FR" altLang="en-US"/>
              <a:pPr>
                <a:defRPr/>
              </a:pPr>
              <a:t>‹N°›</a:t>
            </a:fld>
            <a:endParaRPr lang="fr-FR" altLang="en-US" b="0"/>
          </a:p>
        </p:txBody>
      </p:sp>
    </p:spTree>
    <p:extLst>
      <p:ext uri="{BB962C8B-B14F-4D97-AF65-F5344CB8AC3E}">
        <p14:creationId xmlns:p14="http://schemas.microsoft.com/office/powerpoint/2010/main" val="2829937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A3ABF5-4D2A-4861-BBCD-E3853E2D010D}" type="slidenum">
              <a:rPr lang="fr-FR" altLang="en-US"/>
              <a:pPr>
                <a:defRPr/>
              </a:pPr>
              <a:t>‹N°›</a:t>
            </a:fld>
            <a:endParaRPr lang="fr-FR" altLang="en-US" b="0"/>
          </a:p>
        </p:txBody>
      </p:sp>
    </p:spTree>
    <p:extLst>
      <p:ext uri="{BB962C8B-B14F-4D97-AF65-F5344CB8AC3E}">
        <p14:creationId xmlns:p14="http://schemas.microsoft.com/office/powerpoint/2010/main" val="2663929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DEF45E-6745-4EBB-9445-7006D8691DE1}" type="slidenum">
              <a:rPr lang="fr-FR" altLang="en-US"/>
              <a:pPr>
                <a:defRPr/>
              </a:pPr>
              <a:t>‹N°›</a:t>
            </a:fld>
            <a:endParaRPr lang="fr-FR" altLang="en-US" b="0"/>
          </a:p>
        </p:txBody>
      </p:sp>
    </p:spTree>
    <p:extLst>
      <p:ext uri="{BB962C8B-B14F-4D97-AF65-F5344CB8AC3E}">
        <p14:creationId xmlns:p14="http://schemas.microsoft.com/office/powerpoint/2010/main" val="1002541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6AB203-7D37-4D60-BF0C-4FC417E96E60}" type="slidenum">
              <a:rPr lang="fr-FR" altLang="en-US"/>
              <a:pPr>
                <a:defRPr/>
              </a:pPr>
              <a:t>‹N°›</a:t>
            </a:fld>
            <a:endParaRPr lang="fr-FR" altLang="en-US" b="0"/>
          </a:p>
        </p:txBody>
      </p:sp>
    </p:spTree>
    <p:extLst>
      <p:ext uri="{BB962C8B-B14F-4D97-AF65-F5344CB8AC3E}">
        <p14:creationId xmlns:p14="http://schemas.microsoft.com/office/powerpoint/2010/main" val="614511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12E96-A65C-499D-B540-21DE86A3839F}" type="slidenum">
              <a:rPr lang="fr-FR" altLang="en-US"/>
              <a:pPr>
                <a:defRPr/>
              </a:pPr>
              <a:t>‹N°›</a:t>
            </a:fld>
            <a:endParaRPr lang="fr-FR" altLang="en-US" b="0"/>
          </a:p>
        </p:txBody>
      </p:sp>
    </p:spTree>
    <p:extLst>
      <p:ext uri="{BB962C8B-B14F-4D97-AF65-F5344CB8AC3E}">
        <p14:creationId xmlns:p14="http://schemas.microsoft.com/office/powerpoint/2010/main" val="2610562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A1A527-02DF-460F-A2C7-6DC806B02454}" type="slidenum">
              <a:rPr lang="fr-FR" altLang="en-US"/>
              <a:pPr>
                <a:defRPr/>
              </a:pPr>
              <a:t>‹N°›</a:t>
            </a:fld>
            <a:endParaRPr lang="fr-FR" altLang="en-US" b="0"/>
          </a:p>
        </p:txBody>
      </p:sp>
    </p:spTree>
    <p:extLst>
      <p:ext uri="{BB962C8B-B14F-4D97-AF65-F5344CB8AC3E}">
        <p14:creationId xmlns:p14="http://schemas.microsoft.com/office/powerpoint/2010/main" val="3479951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7010400" y="6562725"/>
            <a:ext cx="2133600" cy="2952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ED1C53-60BE-49A1-AEBC-40559FD38601}" type="slidenum">
              <a:rPr lang="fr-FR" altLang="en-US"/>
              <a:pPr>
                <a:defRPr/>
              </a:pPr>
              <a:t>‹N°›</a:t>
            </a:fld>
            <a:endParaRPr lang="fr-FR" altLang="en-US" b="0"/>
          </a:p>
        </p:txBody>
      </p:sp>
    </p:spTree>
    <p:extLst>
      <p:ext uri="{BB962C8B-B14F-4D97-AF65-F5344CB8AC3E}">
        <p14:creationId xmlns:p14="http://schemas.microsoft.com/office/powerpoint/2010/main" val="1645943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A4D72E-7150-4423-804C-4288C0832CDC}" type="slidenum">
              <a:rPr lang="fr-FR" altLang="en-US"/>
              <a:pPr>
                <a:defRPr/>
              </a:pPr>
              <a:t>‹N°›</a:t>
            </a:fld>
            <a:endParaRPr lang="fr-FR" altLang="en-US" b="0"/>
          </a:p>
        </p:txBody>
      </p:sp>
    </p:spTree>
    <p:extLst>
      <p:ext uri="{BB962C8B-B14F-4D97-AF65-F5344CB8AC3E}">
        <p14:creationId xmlns:p14="http://schemas.microsoft.com/office/powerpoint/2010/main" val="924330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3793C0-11BD-44AA-BFE0-C6F53B8F26D4}" type="slidenum">
              <a:rPr lang="fr-FR" altLang="en-US"/>
              <a:pPr>
                <a:defRPr/>
              </a:pPr>
              <a:t>‹N°›</a:t>
            </a:fld>
            <a:endParaRPr lang="fr-FR" altLang="en-US" b="0"/>
          </a:p>
        </p:txBody>
      </p:sp>
    </p:spTree>
    <p:extLst>
      <p:ext uri="{BB962C8B-B14F-4D97-AF65-F5344CB8AC3E}">
        <p14:creationId xmlns:p14="http://schemas.microsoft.com/office/powerpoint/2010/main" val="2418069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4C4E0B-EE7E-442C-82E9-6F6601F7E4E5}" type="slidenum">
              <a:rPr lang="fr-FR" altLang="en-US"/>
              <a:pPr>
                <a:defRPr/>
              </a:pPr>
              <a:t>‹N°›</a:t>
            </a:fld>
            <a:endParaRPr lang="fr-FR" altLang="en-US" b="0"/>
          </a:p>
        </p:txBody>
      </p:sp>
    </p:spTree>
    <p:extLst>
      <p:ext uri="{BB962C8B-B14F-4D97-AF65-F5344CB8AC3E}">
        <p14:creationId xmlns:p14="http://schemas.microsoft.com/office/powerpoint/2010/main" val="1768797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E7C6A-2D25-4190-9E41-0F4D1A319395}" type="slidenum">
              <a:rPr lang="fr-FR" altLang="en-US"/>
              <a:pPr>
                <a:defRPr/>
              </a:pPr>
              <a:t>‹N°›</a:t>
            </a:fld>
            <a:endParaRPr lang="fr-FR" altLang="en-US" b="0"/>
          </a:p>
        </p:txBody>
      </p:sp>
    </p:spTree>
    <p:extLst>
      <p:ext uri="{BB962C8B-B14F-4D97-AF65-F5344CB8AC3E}">
        <p14:creationId xmlns:p14="http://schemas.microsoft.com/office/powerpoint/2010/main" val="3627774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 smtClean="0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 smtClean="0"/>
              <a:t>Cliquez pour modifier les styles du texte du masque</a:t>
            </a:r>
          </a:p>
          <a:p>
            <a:pPr lvl="1"/>
            <a:r>
              <a:rPr lang="fr-FR" altLang="en-US" smtClean="0"/>
              <a:t>Deuxième niveau</a:t>
            </a:r>
          </a:p>
          <a:p>
            <a:pPr lvl="2"/>
            <a:r>
              <a:rPr lang="fr-FR" altLang="en-US" smtClean="0"/>
              <a:t>Troisième niveau</a:t>
            </a:r>
          </a:p>
          <a:p>
            <a:pPr lvl="3"/>
            <a:r>
              <a:rPr lang="fr-FR" altLang="en-US" smtClean="0"/>
              <a:t>Quatrième niveau</a:t>
            </a:r>
          </a:p>
          <a:p>
            <a:pPr lvl="4"/>
            <a:r>
              <a:rPr lang="fr-FR" altLang="en-US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0"/>
            <a:ext cx="21336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1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190EA244-3F99-44D1-AA8B-2DEFE268CD2A}" type="slidenum">
              <a:rPr lang="fr-FR" altLang="en-US"/>
              <a:pPr>
                <a:defRPr/>
              </a:pPr>
              <a:t>‹N°›</a:t>
            </a:fld>
            <a:endParaRPr lang="fr-F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7" r:id="rId1"/>
    <p:sldLayoutId id="2147484068" r:id="rId2"/>
    <p:sldLayoutId id="2147484069" r:id="rId3"/>
    <p:sldLayoutId id="2147484070" r:id="rId4"/>
    <p:sldLayoutId id="2147484071" r:id="rId5"/>
    <p:sldLayoutId id="2147484072" r:id="rId6"/>
    <p:sldLayoutId id="2147484073" r:id="rId7"/>
    <p:sldLayoutId id="2147484074" r:id="rId8"/>
    <p:sldLayoutId id="2147484075" r:id="rId9"/>
    <p:sldLayoutId id="2147484076" r:id="rId10"/>
    <p:sldLayoutId id="214748407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9.png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8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png"/><Relationship Id="rId5" Type="http://schemas.openxmlformats.org/officeDocument/2006/relationships/image" Target="../media/image10.wmf"/><Relationship Id="rId10" Type="http://schemas.openxmlformats.org/officeDocument/2006/relationships/image" Target="../media/image12.wmf"/><Relationship Id="rId4" Type="http://schemas.openxmlformats.org/officeDocument/2006/relationships/oleObject" Target="../embeddings/oleObject9.bin"/><Relationship Id="rId9" Type="http://schemas.openxmlformats.org/officeDocument/2006/relationships/oleObject" Target="../embeddings/oleObject1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5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10.w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19.wmf"/><Relationship Id="rId5" Type="http://schemas.openxmlformats.org/officeDocument/2006/relationships/image" Target="../media/image16.wmf"/><Relationship Id="rId10" Type="http://schemas.openxmlformats.org/officeDocument/2006/relationships/oleObject" Target="../embeddings/oleObject18.bin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8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2.e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1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26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2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29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33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4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35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image" Target="../media/image41.png"/><Relationship Id="rId7" Type="http://schemas.openxmlformats.org/officeDocument/2006/relationships/image" Target="../media/image3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38.wmf"/><Relationship Id="rId4" Type="http://schemas.openxmlformats.org/officeDocument/2006/relationships/oleObject" Target="../embeddings/oleObject34.bin"/><Relationship Id="rId9" Type="http://schemas.openxmlformats.org/officeDocument/2006/relationships/image" Target="../media/image40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image" Target="../media/image47.png"/><Relationship Id="rId7" Type="http://schemas.openxmlformats.org/officeDocument/2006/relationships/image" Target="../media/image4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44.wmf"/><Relationship Id="rId4" Type="http://schemas.openxmlformats.org/officeDocument/2006/relationships/oleObject" Target="../embeddings/oleObject37.bin"/><Relationship Id="rId9" Type="http://schemas.openxmlformats.org/officeDocument/2006/relationships/image" Target="../media/image46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0.png"/><Relationship Id="rId5" Type="http://schemas.openxmlformats.org/officeDocument/2006/relationships/image" Target="../media/image48.wmf"/><Relationship Id="rId4" Type="http://schemas.openxmlformats.org/officeDocument/2006/relationships/oleObject" Target="../embeddings/oleObject4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33EFFFA-5F05-4CDF-8F1F-1E1022AE3D46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fr-FR" altLang="en-US" sz="1400" b="0" smtClean="0"/>
          </a:p>
        </p:txBody>
      </p:sp>
      <p:sp>
        <p:nvSpPr>
          <p:cNvPr id="15363" name="Text Box 2"/>
          <p:cNvSpPr txBox="1">
            <a:spLocks noChangeArrowheads="1"/>
          </p:cNvSpPr>
          <p:nvPr/>
        </p:nvSpPr>
        <p:spPr bwMode="auto">
          <a:xfrm>
            <a:off x="1785267" y="130747"/>
            <a:ext cx="59458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 dirty="0" smtClean="0">
                <a:solidFill>
                  <a:schemeClr val="accent2"/>
                </a:solidFill>
              </a:rPr>
              <a:t>Electrocinétique en régime stationnaire</a:t>
            </a:r>
            <a:endParaRPr lang="fr-FR" altLang="en-US" sz="2400" b="1" dirty="0">
              <a:solidFill>
                <a:schemeClr val="accent2"/>
              </a:solidFill>
            </a:endParaRPr>
          </a:p>
        </p:txBody>
      </p:sp>
      <p:graphicFrame>
        <p:nvGraphicFramePr>
          <p:cNvPr id="1536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3001594"/>
              </p:ext>
            </p:extLst>
          </p:nvPr>
        </p:nvGraphicFramePr>
        <p:xfrm>
          <a:off x="3995738" y="3517330"/>
          <a:ext cx="1871662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6" name="Equation" r:id="rId4" imgW="1040948" imgH="253890" progId="Equation.DSMT4">
                  <p:embed/>
                </p:oleObj>
              </mc:Choice>
              <mc:Fallback>
                <p:oleObj name="Equation" r:id="rId4" imgW="1040948" imgH="25389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517330"/>
                        <a:ext cx="1871662" cy="458788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66" name="Group 5"/>
          <p:cNvGrpSpPr>
            <a:grpSpLocks/>
          </p:cNvGrpSpPr>
          <p:nvPr/>
        </p:nvGrpSpPr>
        <p:grpSpPr bwMode="auto">
          <a:xfrm>
            <a:off x="5956300" y="1129730"/>
            <a:ext cx="2425700" cy="2101850"/>
            <a:chOff x="4080" y="1076"/>
            <a:chExt cx="1528" cy="1324"/>
          </a:xfrm>
        </p:grpSpPr>
        <p:sp>
          <p:nvSpPr>
            <p:cNvPr id="15374" name="Freeform 6"/>
            <p:cNvSpPr>
              <a:spLocks/>
            </p:cNvSpPr>
            <p:nvPr/>
          </p:nvSpPr>
          <p:spPr bwMode="auto">
            <a:xfrm rot="654853">
              <a:off x="4417" y="1076"/>
              <a:ext cx="912" cy="1324"/>
            </a:xfrm>
            <a:custGeom>
              <a:avLst/>
              <a:gdLst>
                <a:gd name="T0" fmla="*/ 20 w 1144"/>
                <a:gd name="T1" fmla="*/ 14 h 1660"/>
                <a:gd name="T2" fmla="*/ 17 w 1144"/>
                <a:gd name="T3" fmla="*/ 3 h 1660"/>
                <a:gd name="T4" fmla="*/ 8 w 1144"/>
                <a:gd name="T5" fmla="*/ 2 h 1660"/>
                <a:gd name="T6" fmla="*/ 4 w 1144"/>
                <a:gd name="T7" fmla="*/ 7 h 1660"/>
                <a:gd name="T8" fmla="*/ 9 w 1144"/>
                <a:gd name="T9" fmla="*/ 14 h 1660"/>
                <a:gd name="T10" fmla="*/ 2 w 1144"/>
                <a:gd name="T11" fmla="*/ 18 h 1660"/>
                <a:gd name="T12" fmla="*/ 2 w 1144"/>
                <a:gd name="T13" fmla="*/ 24 h 1660"/>
                <a:gd name="T14" fmla="*/ 7 w 1144"/>
                <a:gd name="T15" fmla="*/ 29 h 1660"/>
                <a:gd name="T16" fmla="*/ 16 w 1144"/>
                <a:gd name="T17" fmla="*/ 24 h 1660"/>
                <a:gd name="T18" fmla="*/ 20 w 1144"/>
                <a:gd name="T19" fmla="*/ 14 h 16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144"/>
                <a:gd name="T31" fmla="*/ 0 h 1660"/>
                <a:gd name="T32" fmla="*/ 1144 w 1144"/>
                <a:gd name="T33" fmla="*/ 1660 h 166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144" h="1660">
                  <a:moveTo>
                    <a:pt x="1140" y="865"/>
                  </a:moveTo>
                  <a:cubicBezTo>
                    <a:pt x="1144" y="661"/>
                    <a:pt x="1072" y="299"/>
                    <a:pt x="959" y="162"/>
                  </a:cubicBezTo>
                  <a:cubicBezTo>
                    <a:pt x="846" y="25"/>
                    <a:pt x="590" y="0"/>
                    <a:pt x="463" y="43"/>
                  </a:cubicBezTo>
                  <a:cubicBezTo>
                    <a:pt x="336" y="86"/>
                    <a:pt x="195" y="281"/>
                    <a:pt x="198" y="418"/>
                  </a:cubicBezTo>
                  <a:cubicBezTo>
                    <a:pt x="201" y="555"/>
                    <a:pt x="494" y="761"/>
                    <a:pt x="483" y="865"/>
                  </a:cubicBezTo>
                  <a:cubicBezTo>
                    <a:pt x="472" y="969"/>
                    <a:pt x="207" y="954"/>
                    <a:pt x="134" y="1040"/>
                  </a:cubicBezTo>
                  <a:cubicBezTo>
                    <a:pt x="61" y="1126"/>
                    <a:pt x="0" y="1275"/>
                    <a:pt x="43" y="1378"/>
                  </a:cubicBezTo>
                  <a:cubicBezTo>
                    <a:pt x="86" y="1481"/>
                    <a:pt x="243" y="1658"/>
                    <a:pt x="392" y="1659"/>
                  </a:cubicBezTo>
                  <a:cubicBezTo>
                    <a:pt x="541" y="1660"/>
                    <a:pt x="811" y="1519"/>
                    <a:pt x="936" y="1387"/>
                  </a:cubicBezTo>
                  <a:cubicBezTo>
                    <a:pt x="1061" y="1255"/>
                    <a:pt x="1136" y="1069"/>
                    <a:pt x="1140" y="865"/>
                  </a:cubicBezTo>
                  <a:close/>
                </a:path>
              </a:pathLst>
            </a:custGeom>
            <a:solidFill>
              <a:schemeClr val="bg1"/>
            </a:solidFill>
            <a:ln w="38100" cap="flat" cmpd="sng">
              <a:solidFill>
                <a:srgbClr val="0099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5375" name="Text Box 7"/>
            <p:cNvSpPr txBox="1">
              <a:spLocks noChangeArrowheads="1"/>
            </p:cNvSpPr>
            <p:nvPr/>
          </p:nvSpPr>
          <p:spPr bwMode="auto">
            <a:xfrm>
              <a:off x="5366" y="1636"/>
              <a:ext cx="238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279525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1279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1279525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1279525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1279525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127952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127952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127952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127952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2500" b="1"/>
                <a:t>n</a:t>
              </a:r>
            </a:p>
          </p:txBody>
        </p:sp>
        <p:sp>
          <p:nvSpPr>
            <p:cNvPr id="15376" name="Text Box 8"/>
            <p:cNvSpPr txBox="1">
              <a:spLocks noChangeArrowheads="1"/>
            </p:cNvSpPr>
            <p:nvPr/>
          </p:nvSpPr>
          <p:spPr bwMode="auto">
            <a:xfrm>
              <a:off x="4080" y="1632"/>
              <a:ext cx="2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2800" b="1">
                  <a:solidFill>
                    <a:srgbClr val="FF0000"/>
                  </a:solidFill>
                </a:rPr>
                <a:t>j</a:t>
              </a:r>
              <a:r>
                <a:rPr lang="fr-FR" altLang="en-US" sz="2800" b="1" baseline="-25000">
                  <a:solidFill>
                    <a:srgbClr val="FF0000"/>
                  </a:solidFill>
                </a:rPr>
                <a:t>s</a:t>
              </a:r>
              <a:endParaRPr lang="fr-FR" altLang="en-US" sz="2800" b="1">
                <a:solidFill>
                  <a:srgbClr val="FF0000"/>
                </a:solidFill>
              </a:endParaRPr>
            </a:p>
          </p:txBody>
        </p:sp>
        <p:sp>
          <p:nvSpPr>
            <p:cNvPr id="15377" name="Line 9"/>
            <p:cNvSpPr>
              <a:spLocks noChangeShapeType="1"/>
            </p:cNvSpPr>
            <p:nvPr/>
          </p:nvSpPr>
          <p:spPr bwMode="auto">
            <a:xfrm>
              <a:off x="5334" y="1654"/>
              <a:ext cx="2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378" name="Text Box 10"/>
            <p:cNvSpPr txBox="1">
              <a:spLocks noChangeArrowheads="1"/>
            </p:cNvSpPr>
            <p:nvPr/>
          </p:nvSpPr>
          <p:spPr bwMode="auto">
            <a:xfrm>
              <a:off x="4873" y="1342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2400" b="1"/>
                <a:t>D</a:t>
              </a:r>
            </a:p>
          </p:txBody>
        </p:sp>
        <p:sp>
          <p:nvSpPr>
            <p:cNvPr id="15379" name="Text Box 11"/>
            <p:cNvSpPr txBox="1">
              <a:spLocks noChangeArrowheads="1"/>
            </p:cNvSpPr>
            <p:nvPr/>
          </p:nvSpPr>
          <p:spPr bwMode="auto">
            <a:xfrm>
              <a:off x="5042" y="1536"/>
              <a:ext cx="3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2000">
                  <a:solidFill>
                    <a:srgbClr val="FF0000"/>
                  </a:solidFill>
                </a:rPr>
                <a:t>dS</a:t>
              </a:r>
            </a:p>
          </p:txBody>
        </p:sp>
        <p:sp>
          <p:nvSpPr>
            <p:cNvPr id="15380" name="Line 12"/>
            <p:cNvSpPr>
              <a:spLocks noChangeShapeType="1"/>
            </p:cNvSpPr>
            <p:nvPr/>
          </p:nvSpPr>
          <p:spPr bwMode="auto">
            <a:xfrm>
              <a:off x="5334" y="1536"/>
              <a:ext cx="0" cy="25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381" name="Text Box 13"/>
            <p:cNvSpPr txBox="1">
              <a:spLocks noChangeArrowheads="1"/>
            </p:cNvSpPr>
            <p:nvPr/>
          </p:nvSpPr>
          <p:spPr bwMode="auto">
            <a:xfrm>
              <a:off x="4418" y="1536"/>
              <a:ext cx="36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2400">
                  <a:solidFill>
                    <a:schemeClr val="hlink"/>
                  </a:solidFill>
                  <a:sym typeface="Symbol" panose="05050102010706020507" pitchFamily="18" charset="2"/>
                </a:rPr>
                <a:t>δD</a:t>
              </a:r>
            </a:p>
          </p:txBody>
        </p:sp>
        <p:sp>
          <p:nvSpPr>
            <p:cNvPr id="15382" name="Line 14"/>
            <p:cNvSpPr>
              <a:spLocks noChangeShapeType="1"/>
            </p:cNvSpPr>
            <p:nvPr/>
          </p:nvSpPr>
          <p:spPr bwMode="auto">
            <a:xfrm flipH="1">
              <a:off x="4382" y="1850"/>
              <a:ext cx="70" cy="16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383" name="Freeform 15"/>
            <p:cNvSpPr>
              <a:spLocks/>
            </p:cNvSpPr>
            <p:nvPr/>
          </p:nvSpPr>
          <p:spPr bwMode="auto">
            <a:xfrm>
              <a:off x="4272" y="1536"/>
              <a:ext cx="144" cy="384"/>
            </a:xfrm>
            <a:custGeom>
              <a:avLst/>
              <a:gdLst>
                <a:gd name="T0" fmla="*/ 144 w 144"/>
                <a:gd name="T1" fmla="*/ 384 h 384"/>
                <a:gd name="T2" fmla="*/ 48 w 144"/>
                <a:gd name="T3" fmla="*/ 288 h 384"/>
                <a:gd name="T4" fmla="*/ 0 w 144"/>
                <a:gd name="T5" fmla="*/ 0 h 384"/>
                <a:gd name="T6" fmla="*/ 0 60000 65536"/>
                <a:gd name="T7" fmla="*/ 0 60000 65536"/>
                <a:gd name="T8" fmla="*/ 0 60000 65536"/>
                <a:gd name="T9" fmla="*/ 0 w 144"/>
                <a:gd name="T10" fmla="*/ 0 h 384"/>
                <a:gd name="T11" fmla="*/ 144 w 144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384">
                  <a:moveTo>
                    <a:pt x="144" y="384"/>
                  </a:moveTo>
                  <a:cubicBezTo>
                    <a:pt x="108" y="368"/>
                    <a:pt x="72" y="352"/>
                    <a:pt x="48" y="288"/>
                  </a:cubicBezTo>
                  <a:cubicBezTo>
                    <a:pt x="24" y="224"/>
                    <a:pt x="8" y="48"/>
                    <a:pt x="0" y="0"/>
                  </a:cubicBezTo>
                </a:path>
              </a:pathLst>
            </a:custGeom>
            <a:noFill/>
            <a:ln w="571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384" name="Freeform 16"/>
            <p:cNvSpPr>
              <a:spLocks/>
            </p:cNvSpPr>
            <p:nvPr/>
          </p:nvSpPr>
          <p:spPr bwMode="auto">
            <a:xfrm>
              <a:off x="5328" y="1248"/>
              <a:ext cx="280" cy="384"/>
            </a:xfrm>
            <a:custGeom>
              <a:avLst/>
              <a:gdLst>
                <a:gd name="T0" fmla="*/ 0 w 280"/>
                <a:gd name="T1" fmla="*/ 384 h 384"/>
                <a:gd name="T2" fmla="*/ 240 w 280"/>
                <a:gd name="T3" fmla="*/ 192 h 384"/>
                <a:gd name="T4" fmla="*/ 240 w 280"/>
                <a:gd name="T5" fmla="*/ 0 h 384"/>
                <a:gd name="T6" fmla="*/ 0 60000 65536"/>
                <a:gd name="T7" fmla="*/ 0 60000 65536"/>
                <a:gd name="T8" fmla="*/ 0 60000 65536"/>
                <a:gd name="T9" fmla="*/ 0 w 280"/>
                <a:gd name="T10" fmla="*/ 0 h 384"/>
                <a:gd name="T11" fmla="*/ 280 w 280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0" h="384">
                  <a:moveTo>
                    <a:pt x="0" y="384"/>
                  </a:moveTo>
                  <a:cubicBezTo>
                    <a:pt x="100" y="320"/>
                    <a:pt x="200" y="256"/>
                    <a:pt x="240" y="192"/>
                  </a:cubicBezTo>
                  <a:cubicBezTo>
                    <a:pt x="280" y="128"/>
                    <a:pt x="260" y="64"/>
                    <a:pt x="240" y="0"/>
                  </a:cubicBezTo>
                </a:path>
              </a:pathLst>
            </a:custGeom>
            <a:noFill/>
            <a:ln w="571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385" name="Text Box 17"/>
            <p:cNvSpPr txBox="1">
              <a:spLocks noChangeArrowheads="1"/>
            </p:cNvSpPr>
            <p:nvPr/>
          </p:nvSpPr>
          <p:spPr bwMode="auto">
            <a:xfrm>
              <a:off x="5328" y="1104"/>
              <a:ext cx="2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2800" b="1">
                  <a:solidFill>
                    <a:srgbClr val="FF0000"/>
                  </a:solidFill>
                </a:rPr>
                <a:t>j</a:t>
              </a:r>
              <a:r>
                <a:rPr lang="fr-FR" altLang="en-US" sz="2800" b="1" baseline="-25000">
                  <a:solidFill>
                    <a:srgbClr val="FF0000"/>
                  </a:solidFill>
                </a:rPr>
                <a:t>s</a:t>
              </a:r>
              <a:endParaRPr lang="fr-FR" altLang="en-US" sz="2800" b="1">
                <a:solidFill>
                  <a:srgbClr val="FF0000"/>
                </a:solidFill>
              </a:endParaRPr>
            </a:p>
          </p:txBody>
        </p:sp>
      </p:grpSp>
      <p:sp>
        <p:nvSpPr>
          <p:cNvPr id="15367" name="Text Box 18"/>
          <p:cNvSpPr txBox="1">
            <a:spLocks noChangeArrowheads="1"/>
          </p:cNvSpPr>
          <p:nvPr/>
        </p:nvSpPr>
        <p:spPr bwMode="auto">
          <a:xfrm>
            <a:off x="231775" y="1009080"/>
            <a:ext cx="5942652" cy="2339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dirty="0"/>
              <a:t>Equation de l</a:t>
            </a:r>
            <a:r>
              <a:rPr lang="ja-JP" altLang="fr-FR" sz="2000" b="1" dirty="0"/>
              <a:t>’</a:t>
            </a:r>
            <a:r>
              <a:rPr lang="fr-FR" altLang="ja-JP" sz="2000" b="1" dirty="0"/>
              <a:t>électrocinétique 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dirty="0"/>
              <a:t>Issue de la loi de conservation de la densité de courant 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dirty="0"/>
              <a:t>Equation de Maxwell Faraday en régime permanent 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 dirty="0"/>
          </a:p>
        </p:txBody>
      </p:sp>
      <p:sp>
        <p:nvSpPr>
          <p:cNvPr id="15368" name="Text Box 19"/>
          <p:cNvSpPr txBox="1">
            <a:spLocks noChangeArrowheads="1"/>
          </p:cNvSpPr>
          <p:nvPr/>
        </p:nvSpPr>
        <p:spPr bwMode="auto">
          <a:xfrm>
            <a:off x="269875" y="3236343"/>
            <a:ext cx="7950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L</a:t>
            </a:r>
            <a:r>
              <a:rPr lang="ja-JP" altLang="fr-FR" sz="1800"/>
              <a:t>’</a:t>
            </a:r>
            <a:r>
              <a:rPr lang="fr-FR" altLang="ja-JP" sz="1800"/>
              <a:t>équation locale de l</a:t>
            </a:r>
            <a:r>
              <a:rPr lang="ja-JP" altLang="fr-FR" sz="1800"/>
              <a:t>’</a:t>
            </a:r>
            <a:r>
              <a:rPr lang="fr-FR" altLang="ja-JP" sz="1800"/>
              <a:t>électrocinétique est appelée « forme forte »:</a:t>
            </a:r>
          </a:p>
        </p:txBody>
      </p:sp>
      <p:graphicFrame>
        <p:nvGraphicFramePr>
          <p:cNvPr id="1536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4637608"/>
              </p:ext>
            </p:extLst>
          </p:nvPr>
        </p:nvGraphicFramePr>
        <p:xfrm>
          <a:off x="4033838" y="4906393"/>
          <a:ext cx="28082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7" name="Equation" r:id="rId6" imgW="1562100" imgH="254000" progId="Equation.DSMT4">
                  <p:embed/>
                </p:oleObj>
              </mc:Choice>
              <mc:Fallback>
                <p:oleObj name="Equation" r:id="rId6" imgW="1562100" imgH="2540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3838" y="4906393"/>
                        <a:ext cx="2808287" cy="457200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8198313"/>
              </p:ext>
            </p:extLst>
          </p:nvPr>
        </p:nvGraphicFramePr>
        <p:xfrm>
          <a:off x="1457325" y="1969518"/>
          <a:ext cx="2474913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8" name="Equation" r:id="rId8" imgW="1256755" imgH="203112" progId="Equation.DSMT4">
                  <p:embed/>
                </p:oleObj>
              </mc:Choice>
              <mc:Fallback>
                <p:oleObj name="Equation" r:id="rId8" imgW="1256755" imgH="203112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325" y="1969518"/>
                        <a:ext cx="2474913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168235"/>
              </p:ext>
            </p:extLst>
          </p:nvPr>
        </p:nvGraphicFramePr>
        <p:xfrm>
          <a:off x="1538288" y="2775968"/>
          <a:ext cx="2659062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9" name="Equation" r:id="rId10" imgW="1384300" imgH="203200" progId="Equation.DSMT4">
                  <p:embed/>
                </p:oleObj>
              </mc:Choice>
              <mc:Fallback>
                <p:oleObj name="Equation" r:id="rId10" imgW="1384300" imgH="203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8288" y="2775968"/>
                        <a:ext cx="2659062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2" name="Rectangle 2"/>
          <p:cNvSpPr>
            <a:spLocks noChangeArrowheads="1"/>
          </p:cNvSpPr>
          <p:nvPr/>
        </p:nvSpPr>
        <p:spPr bwMode="auto">
          <a:xfrm>
            <a:off x="309563" y="3847530"/>
            <a:ext cx="8256587" cy="2616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dirty="0"/>
              <a:t>Conditions aux limites : </a:t>
            </a:r>
            <a:endParaRPr lang="fr-FR" altLang="en-US" sz="20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dirty="0" smtClean="0"/>
              <a:t> </a:t>
            </a:r>
            <a:r>
              <a:rPr lang="fr-FR" altLang="en-US" sz="1800" dirty="0"/>
              <a:t>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dirty="0"/>
              <a:t>générateur de tension </a:t>
            </a:r>
            <a:r>
              <a:rPr lang="fr-FR" altLang="en-US" sz="1800" dirty="0">
                <a:sym typeface="Wingdings" panose="05000000000000000000" pitchFamily="2" charset="2"/>
              </a:rPr>
              <a:t> on fixe le potentiel V sur les contacts en surface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dirty="0">
                <a:sym typeface="Wingdings" panose="05000000000000000000" pitchFamily="2" charset="2"/>
              </a:rPr>
              <a:t>référence en un point (la masse)  V=0</a:t>
            </a:r>
            <a:r>
              <a:rPr lang="fr-FR" altLang="en-US" sz="1800" dirty="0"/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dirty="0"/>
              <a:t>	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dirty="0"/>
              <a:t>générateur de courant </a:t>
            </a:r>
            <a:r>
              <a:rPr lang="fr-FR" altLang="en-US" sz="1800" dirty="0">
                <a:sym typeface="Wingdings" panose="05000000000000000000" pitchFamily="2" charset="2"/>
              </a:rPr>
              <a:t>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dirty="0"/>
              <a:t>	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dirty="0"/>
              <a:t>surface parfaitement isolée </a:t>
            </a:r>
            <a:r>
              <a:rPr lang="fr-FR" altLang="en-US" sz="1800" dirty="0">
                <a:sym typeface="Wingdings" panose="05000000000000000000" pitchFamily="2" charset="2"/>
              </a:rPr>
              <a:t>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 dirty="0">
              <a:sym typeface="Wingdings" panose="05000000000000000000" pitchFamily="2" charset="2"/>
            </a:endParaRPr>
          </a:p>
        </p:txBody>
      </p:sp>
      <p:graphicFrame>
        <p:nvGraphicFramePr>
          <p:cNvPr id="1537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1510738"/>
              </p:ext>
            </p:extLst>
          </p:nvPr>
        </p:nvGraphicFramePr>
        <p:xfrm>
          <a:off x="4073525" y="5520755"/>
          <a:ext cx="868363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0" name="Equation" r:id="rId12" imgW="482391" imgH="203112" progId="Equation.DSMT4">
                  <p:embed/>
                </p:oleObj>
              </mc:Choice>
              <mc:Fallback>
                <p:oleObj name="Equation" r:id="rId12" imgW="482391" imgH="203112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3525" y="5520755"/>
                        <a:ext cx="868363" cy="366713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Imag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175" y="442913"/>
            <a:ext cx="2535238" cy="190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1947AC4-0EE7-4DEF-8D26-361C3894E90C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fr-FR" altLang="en-US" sz="1400" b="0" smtClean="0"/>
          </a:p>
        </p:txBody>
      </p:sp>
      <p:sp>
        <p:nvSpPr>
          <p:cNvPr id="17412" name="Text Box 2"/>
          <p:cNvSpPr txBox="1">
            <a:spLocks noChangeArrowheads="1"/>
          </p:cNvSpPr>
          <p:nvPr/>
        </p:nvSpPr>
        <p:spPr bwMode="auto">
          <a:xfrm>
            <a:off x="1327150" y="28575"/>
            <a:ext cx="7277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solidFill>
                  <a:schemeClr val="accent2"/>
                </a:solidFill>
              </a:rPr>
              <a:t>Passage de l’équation locale à la forme intégrale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228600" y="754063"/>
            <a:ext cx="8583613" cy="574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fr-FR" altLang="en-US" sz="1800" dirty="0" smtClean="0"/>
              <a:t>Dans une approche simplifiée, on suppose que </a:t>
            </a:r>
            <a:r>
              <a:rPr lang="fr-FR" altLang="en-US" sz="1800" dirty="0" smtClean="0">
                <a:latin typeface="Symbol" panose="05050102010706020507" pitchFamily="18" charset="2"/>
              </a:rPr>
              <a:t>s</a:t>
            </a:r>
            <a:r>
              <a:rPr lang="fr-FR" altLang="en-US" sz="1800" dirty="0" smtClean="0"/>
              <a:t> est constant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endParaRPr lang="fr-FR" altLang="en-US" sz="1800" dirty="0" smtClean="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fr-FR" altLang="en-US" sz="1800" dirty="0" smtClean="0"/>
              <a:t>Résoudre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endParaRPr lang="fr-FR" altLang="en-US" sz="1800" dirty="0" smtClean="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fr-FR" altLang="en-US" sz="1800" dirty="0" smtClean="0"/>
              <a:t>Approximer l’opérateur </a:t>
            </a:r>
            <a:r>
              <a:rPr lang="fr-FR" altLang="en-US" sz="1800" dirty="0" smtClean="0">
                <a:latin typeface="Symbol" panose="05050102010706020507" pitchFamily="18" charset="2"/>
              </a:rPr>
              <a:t>D</a:t>
            </a:r>
            <a:r>
              <a:rPr lang="fr-FR" altLang="en-US" sz="1800" dirty="0" smtClean="0"/>
              <a:t> par un DL de Taylor impossible pour des géométries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fr-FR" altLang="en-US" sz="1800" dirty="0" smtClean="0"/>
              <a:t>complexes  </a:t>
            </a:r>
          </a:p>
          <a:p>
            <a:pPr marL="285750" indent="-285750" eaLnBrk="1" hangingPunct="1">
              <a:lnSpc>
                <a:spcPct val="120000"/>
              </a:lnSpc>
              <a:spcBef>
                <a:spcPct val="0"/>
              </a:spcBef>
              <a:buFont typeface="Symbol" panose="05050102010706020507" pitchFamily="18" charset="2"/>
              <a:buChar char="Þ"/>
              <a:defRPr/>
            </a:pPr>
            <a:r>
              <a:rPr lang="fr-FR" altLang="en-US" sz="1800" dirty="0" smtClean="0">
                <a:latin typeface="+mn-lt"/>
              </a:rPr>
              <a:t>Remplacer l’équation locale par une forme intégrale</a:t>
            </a:r>
            <a:r>
              <a:rPr lang="fr-FR" altLang="en-US" sz="1800" dirty="0" smtClean="0"/>
              <a:t>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endParaRPr lang="fr-FR" altLang="en-US" sz="1800" dirty="0" smtClean="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fr-FR" altLang="en-US" sz="1800" dirty="0" smtClean="0"/>
              <a:t>Rappel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endParaRPr lang="fr-FR" altLang="en-US" sz="1800" dirty="0" smtClean="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fr-FR" altLang="en-US" sz="1800" dirty="0" smtClean="0"/>
              <a:t>où </a:t>
            </a:r>
            <a:r>
              <a:rPr lang="fr-FR" altLang="en-US" sz="1800" dirty="0" smtClean="0">
                <a:latin typeface="Symbol" panose="05050102010706020507" pitchFamily="18" charset="2"/>
              </a:rPr>
              <a:t>d</a:t>
            </a:r>
            <a:r>
              <a:rPr lang="fr-FR" altLang="en-US" sz="1800" dirty="0" smtClean="0"/>
              <a:t> est la distribution de Dirac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fr-FR" altLang="en-US" sz="1800" dirty="0" smtClean="0"/>
              <a:t>On a :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endParaRPr lang="fr-FR" altLang="en-US" sz="1800" dirty="0" smtClean="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endParaRPr lang="fr-FR" altLang="en-US" sz="1800" dirty="0" smtClean="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fr-FR" altLang="en-US" sz="1800" dirty="0" smtClean="0"/>
              <a:t>NB: le </a:t>
            </a:r>
            <a:r>
              <a:rPr lang="fr-FR" altLang="en-US" sz="1800" dirty="0" err="1" smtClean="0"/>
              <a:t>laplacien</a:t>
            </a:r>
            <a:r>
              <a:rPr lang="fr-FR" altLang="en-US" sz="1800" dirty="0" smtClean="0"/>
              <a:t> est calculé en </a:t>
            </a:r>
            <a:r>
              <a:rPr lang="fr-FR" altLang="en-US" sz="1800" b="1" dirty="0" smtClean="0"/>
              <a:t>r’</a:t>
            </a:r>
            <a:r>
              <a:rPr lang="fr-FR" altLang="en-US" sz="1800" dirty="0" smtClean="0"/>
              <a:t>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fr-FR" altLang="en-US" sz="1800" dirty="0" smtClean="0"/>
              <a:t>En pratique dans la méthode des éléments finis, on approxime la distribution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fr-FR" altLang="en-US" sz="1800" dirty="0" smtClean="0">
                <a:latin typeface="Symbol" panose="05050102010706020507" pitchFamily="18" charset="2"/>
              </a:rPr>
              <a:t>d</a:t>
            </a:r>
            <a:r>
              <a:rPr lang="fr-FR" altLang="en-US" sz="1800" dirty="0" smtClean="0"/>
              <a:t> par une fonction chapeau localisée en un nœud du maillage                                  </a:t>
            </a:r>
          </a:p>
        </p:txBody>
      </p:sp>
      <p:graphicFrame>
        <p:nvGraphicFramePr>
          <p:cNvPr id="17414" name="Object 4"/>
          <p:cNvGraphicFramePr>
            <a:graphicFrameLocks noChangeAspect="1"/>
          </p:cNvGraphicFramePr>
          <p:nvPr/>
        </p:nvGraphicFramePr>
        <p:xfrm>
          <a:off x="1541463" y="1392238"/>
          <a:ext cx="387985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1" name="Equation" r:id="rId4" imgW="2159000" imgH="254000" progId="Equation.DSMT4">
                  <p:embed/>
                </p:oleObj>
              </mc:Choice>
              <mc:Fallback>
                <p:oleObj name="Equation" r:id="rId4" imgW="2159000" imgH="254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1463" y="1392238"/>
                        <a:ext cx="3879850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4"/>
          <p:cNvGraphicFramePr>
            <a:graphicFrameLocks noChangeAspect="1"/>
          </p:cNvGraphicFramePr>
          <p:nvPr/>
        </p:nvGraphicFramePr>
        <p:xfrm>
          <a:off x="1538288" y="3352800"/>
          <a:ext cx="4792662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2" name="Equation" r:id="rId6" imgW="2667000" imgH="381000" progId="Equation.DSMT4">
                  <p:embed/>
                </p:oleObj>
              </mc:Choice>
              <mc:Fallback>
                <p:oleObj name="Equation" r:id="rId6" imgW="2667000" imgH="381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8288" y="3352800"/>
                        <a:ext cx="4792662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4"/>
          <p:cNvGraphicFramePr>
            <a:graphicFrameLocks noChangeAspect="1"/>
          </p:cNvGraphicFramePr>
          <p:nvPr/>
        </p:nvGraphicFramePr>
        <p:xfrm>
          <a:off x="1249363" y="4657725"/>
          <a:ext cx="534035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3" name="Equation" r:id="rId8" imgW="2971800" imgH="381000" progId="Equation.DSMT4">
                  <p:embed/>
                </p:oleObj>
              </mc:Choice>
              <mc:Fallback>
                <p:oleObj name="Equation" r:id="rId8" imgW="2971800" imgH="381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9363" y="4657725"/>
                        <a:ext cx="5340350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Connecteur droit avec flèche 9"/>
          <p:cNvCxnSpPr/>
          <p:nvPr/>
        </p:nvCxnSpPr>
        <p:spPr>
          <a:xfrm flipV="1">
            <a:off x="7875588" y="4389438"/>
            <a:ext cx="0" cy="690562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418" name="Groupe 11"/>
          <p:cNvGrpSpPr>
            <a:grpSpLocks/>
          </p:cNvGrpSpPr>
          <p:nvPr/>
        </p:nvGrpSpPr>
        <p:grpSpPr bwMode="auto">
          <a:xfrm>
            <a:off x="7067550" y="5080000"/>
            <a:ext cx="1652588" cy="428625"/>
            <a:chOff x="7068325" y="5080415"/>
            <a:chExt cx="1651415" cy="427454"/>
          </a:xfrm>
        </p:grpSpPr>
        <p:cxnSp>
          <p:nvCxnSpPr>
            <p:cNvPr id="4" name="Connecteur droit 3"/>
            <p:cNvCxnSpPr/>
            <p:nvPr/>
          </p:nvCxnSpPr>
          <p:spPr>
            <a:xfrm>
              <a:off x="7068325" y="5080415"/>
              <a:ext cx="165141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20" name="ZoneTexte 10"/>
            <p:cNvSpPr txBox="1">
              <a:spLocks noChangeArrowheads="1"/>
            </p:cNvSpPr>
            <p:nvPr/>
          </p:nvSpPr>
          <p:spPr bwMode="auto">
            <a:xfrm>
              <a:off x="7756815" y="5138537"/>
              <a:ext cx="2744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800" b="1"/>
                <a:t>r</a:t>
              </a:r>
              <a:endParaRPr lang="fr-FR" altLang="fr-FR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2FC5D6-15EE-4303-9294-BD251AC7C669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fr-FR" altLang="en-US" sz="1400" b="0" smtClean="0"/>
          </a:p>
        </p:txBody>
      </p:sp>
      <p:sp>
        <p:nvSpPr>
          <p:cNvPr id="18435" name="Text Box 2"/>
          <p:cNvSpPr txBox="1">
            <a:spLocks noChangeArrowheads="1"/>
          </p:cNvSpPr>
          <p:nvPr/>
        </p:nvSpPr>
        <p:spPr bwMode="auto">
          <a:xfrm>
            <a:off x="2222500" y="28575"/>
            <a:ext cx="4703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solidFill>
                  <a:schemeClr val="accent2"/>
                </a:solidFill>
              </a:rPr>
              <a:t>Méthode projective de Galerkin</a:t>
            </a:r>
          </a:p>
        </p:txBody>
      </p:sp>
      <p:sp>
        <p:nvSpPr>
          <p:cNvPr id="18436" name="Text Box 20"/>
          <p:cNvSpPr txBox="1">
            <a:spLocks noChangeArrowheads="1"/>
          </p:cNvSpPr>
          <p:nvPr/>
        </p:nvSpPr>
        <p:spPr bwMode="auto">
          <a:xfrm>
            <a:off x="385763" y="1431925"/>
            <a:ext cx="7566025" cy="100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L</a:t>
            </a:r>
            <a:r>
              <a:rPr lang="ja-JP" altLang="fr-FR" sz="1800"/>
              <a:t>’</a:t>
            </a:r>
            <a:r>
              <a:rPr lang="fr-FR" altLang="ja-JP" sz="1800"/>
              <a:t>approximation de Galerkin consiste à pondérer l</a:t>
            </a:r>
            <a:r>
              <a:rPr lang="ja-JP" altLang="fr-FR" sz="1800"/>
              <a:t>’</a:t>
            </a:r>
            <a:r>
              <a:rPr lang="fr-FR" altLang="ja-JP" sz="1800"/>
              <a:t>EDP par une fonction test </a:t>
            </a:r>
            <a:r>
              <a:rPr lang="fr-FR" altLang="ja-JP" sz="1800">
                <a:sym typeface="Symbol" panose="05050102010706020507" pitchFamily="18" charset="2"/>
              </a:rPr>
              <a:t>β</a:t>
            </a:r>
            <a:r>
              <a:rPr lang="fr-FR" altLang="ja-JP" sz="1800" baseline="-25000">
                <a:sym typeface="Symbol" panose="05050102010706020507" pitchFamily="18" charset="2"/>
              </a:rPr>
              <a:t>i</a:t>
            </a:r>
            <a:r>
              <a:rPr lang="fr-FR" altLang="ja-JP" sz="1800">
                <a:sym typeface="Symbol" panose="05050102010706020507" pitchFamily="18" charset="2"/>
              </a:rPr>
              <a:t> </a:t>
            </a:r>
            <a:r>
              <a:rPr lang="fr-FR" altLang="ja-JP" sz="1800"/>
              <a:t>à support réduit (</a:t>
            </a:r>
            <a:r>
              <a:rPr lang="fr-FR" altLang="ja-JP" sz="1800">
                <a:sym typeface="Symbol" panose="05050102010706020507" pitchFamily="18" charset="2"/>
              </a:rPr>
              <a:t>= non nulle sur les éléments partageant un même nœud)</a:t>
            </a:r>
            <a:r>
              <a:rPr lang="fr-FR" altLang="ja-JP" sz="1800"/>
              <a:t>; ceci étant fait pour chacun des N nœuds du maillage.</a:t>
            </a:r>
            <a:endParaRPr lang="fr-FR" altLang="en-US" sz="1800"/>
          </a:p>
        </p:txBody>
      </p:sp>
      <p:grpSp>
        <p:nvGrpSpPr>
          <p:cNvPr id="18437" name="Group 22"/>
          <p:cNvGrpSpPr>
            <a:grpSpLocks/>
          </p:cNvGrpSpPr>
          <p:nvPr/>
        </p:nvGrpSpPr>
        <p:grpSpPr bwMode="auto">
          <a:xfrm>
            <a:off x="962025" y="3644900"/>
            <a:ext cx="3167063" cy="2039938"/>
            <a:chOff x="3357" y="2331"/>
            <a:chExt cx="2403" cy="1548"/>
          </a:xfrm>
        </p:grpSpPr>
        <p:grpSp>
          <p:nvGrpSpPr>
            <p:cNvPr id="18447" name="Group 23"/>
            <p:cNvGrpSpPr>
              <a:grpSpLocks noChangeAspect="1"/>
            </p:cNvGrpSpPr>
            <p:nvPr/>
          </p:nvGrpSpPr>
          <p:grpSpPr bwMode="auto">
            <a:xfrm>
              <a:off x="3357" y="3045"/>
              <a:ext cx="2403" cy="834"/>
              <a:chOff x="3538" y="3257"/>
              <a:chExt cx="2002" cy="695"/>
            </a:xfrm>
          </p:grpSpPr>
          <p:sp>
            <p:nvSpPr>
              <p:cNvPr id="18467" name="Line 24"/>
              <p:cNvSpPr>
                <a:spLocks noChangeAspect="1" noChangeShapeType="1"/>
              </p:cNvSpPr>
              <p:nvPr/>
            </p:nvSpPr>
            <p:spPr bwMode="auto">
              <a:xfrm flipV="1">
                <a:off x="3787" y="3267"/>
                <a:ext cx="684" cy="663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68" name="Line 25"/>
              <p:cNvSpPr>
                <a:spLocks noChangeAspect="1" noChangeShapeType="1"/>
              </p:cNvSpPr>
              <p:nvPr/>
            </p:nvSpPr>
            <p:spPr bwMode="auto">
              <a:xfrm flipV="1">
                <a:off x="4060" y="3274"/>
                <a:ext cx="679" cy="664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69" name="Line 26"/>
              <p:cNvSpPr>
                <a:spLocks noChangeAspect="1" noChangeShapeType="1"/>
              </p:cNvSpPr>
              <p:nvPr/>
            </p:nvSpPr>
            <p:spPr bwMode="auto">
              <a:xfrm flipV="1">
                <a:off x="4324" y="3292"/>
                <a:ext cx="659" cy="652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70" name="Line 27"/>
              <p:cNvSpPr>
                <a:spLocks noChangeAspect="1" noChangeShapeType="1"/>
              </p:cNvSpPr>
              <p:nvPr/>
            </p:nvSpPr>
            <p:spPr bwMode="auto">
              <a:xfrm flipV="1">
                <a:off x="4588" y="3292"/>
                <a:ext cx="647" cy="650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71" name="Line 28"/>
              <p:cNvSpPr>
                <a:spLocks noChangeAspect="1" noChangeShapeType="1"/>
              </p:cNvSpPr>
              <p:nvPr/>
            </p:nvSpPr>
            <p:spPr bwMode="auto">
              <a:xfrm flipV="1">
                <a:off x="3538" y="3261"/>
                <a:ext cx="668" cy="669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72" name="Line 29"/>
              <p:cNvSpPr>
                <a:spLocks noChangeAspect="1" noChangeShapeType="1"/>
              </p:cNvSpPr>
              <p:nvPr/>
            </p:nvSpPr>
            <p:spPr bwMode="auto">
              <a:xfrm>
                <a:off x="3598" y="3794"/>
                <a:ext cx="1604" cy="34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73" name="Line 30"/>
              <p:cNvSpPr>
                <a:spLocks noChangeAspect="1" noChangeShapeType="1"/>
              </p:cNvSpPr>
              <p:nvPr/>
            </p:nvSpPr>
            <p:spPr bwMode="auto">
              <a:xfrm>
                <a:off x="3686" y="3664"/>
                <a:ext cx="1598" cy="32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74" name="Line 31"/>
              <p:cNvSpPr>
                <a:spLocks noChangeAspect="1" noChangeShapeType="1"/>
              </p:cNvSpPr>
              <p:nvPr/>
            </p:nvSpPr>
            <p:spPr bwMode="auto">
              <a:xfrm>
                <a:off x="3730" y="3534"/>
                <a:ext cx="1774" cy="32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75" name="Line 32"/>
              <p:cNvSpPr>
                <a:spLocks noChangeAspect="1" noChangeShapeType="1"/>
              </p:cNvSpPr>
              <p:nvPr/>
            </p:nvSpPr>
            <p:spPr bwMode="auto">
              <a:xfrm>
                <a:off x="3882" y="3406"/>
                <a:ext cx="1594" cy="30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76" name="Line 33"/>
              <p:cNvSpPr>
                <a:spLocks noChangeAspect="1" noChangeShapeType="1"/>
              </p:cNvSpPr>
              <p:nvPr/>
            </p:nvSpPr>
            <p:spPr bwMode="auto">
              <a:xfrm flipV="1">
                <a:off x="4853" y="3299"/>
                <a:ext cx="665" cy="653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77" name="Line 34"/>
              <p:cNvSpPr>
                <a:spLocks noChangeAspect="1" noChangeShapeType="1"/>
              </p:cNvSpPr>
              <p:nvPr/>
            </p:nvSpPr>
            <p:spPr bwMode="auto">
              <a:xfrm>
                <a:off x="4096" y="3257"/>
                <a:ext cx="1444" cy="45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78" name="Line 35"/>
              <p:cNvSpPr>
                <a:spLocks noChangeAspect="1" noChangeShapeType="1"/>
              </p:cNvSpPr>
              <p:nvPr/>
            </p:nvSpPr>
            <p:spPr bwMode="auto">
              <a:xfrm flipV="1">
                <a:off x="3674" y="3291"/>
                <a:ext cx="1573" cy="502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79" name="Line 36"/>
              <p:cNvSpPr>
                <a:spLocks noChangeAspect="1" noChangeShapeType="1"/>
              </p:cNvSpPr>
              <p:nvPr/>
            </p:nvSpPr>
            <p:spPr bwMode="auto">
              <a:xfrm flipV="1">
                <a:off x="3921" y="3297"/>
                <a:ext cx="1593" cy="504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80" name="Line 37"/>
              <p:cNvSpPr>
                <a:spLocks noChangeAspect="1" noChangeShapeType="1"/>
              </p:cNvSpPr>
              <p:nvPr/>
            </p:nvSpPr>
            <p:spPr bwMode="auto">
              <a:xfrm flipV="1">
                <a:off x="4194" y="3429"/>
                <a:ext cx="1191" cy="378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81" name="Line 38"/>
              <p:cNvSpPr>
                <a:spLocks noChangeAspect="1" noChangeShapeType="1"/>
              </p:cNvSpPr>
              <p:nvPr/>
            </p:nvSpPr>
            <p:spPr bwMode="auto">
              <a:xfrm flipV="1">
                <a:off x="3804" y="3282"/>
                <a:ext cx="1191" cy="384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82" name="Line 39"/>
              <p:cNvSpPr>
                <a:spLocks noChangeAspect="1" noChangeShapeType="1"/>
              </p:cNvSpPr>
              <p:nvPr/>
            </p:nvSpPr>
            <p:spPr bwMode="auto">
              <a:xfrm flipV="1">
                <a:off x="3930" y="3273"/>
                <a:ext cx="804" cy="264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83" name="Line 40"/>
              <p:cNvSpPr>
                <a:spLocks noChangeAspect="1" noChangeShapeType="1"/>
              </p:cNvSpPr>
              <p:nvPr/>
            </p:nvSpPr>
            <p:spPr bwMode="auto">
              <a:xfrm flipV="1">
                <a:off x="4056" y="3270"/>
                <a:ext cx="411" cy="141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84" name="Line 41"/>
              <p:cNvSpPr>
                <a:spLocks noChangeAspect="1" noChangeShapeType="1"/>
              </p:cNvSpPr>
              <p:nvPr/>
            </p:nvSpPr>
            <p:spPr bwMode="auto">
              <a:xfrm flipV="1">
                <a:off x="4455" y="3561"/>
                <a:ext cx="792" cy="252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85" name="Line 42"/>
              <p:cNvSpPr>
                <a:spLocks noChangeAspect="1" noChangeShapeType="1"/>
              </p:cNvSpPr>
              <p:nvPr/>
            </p:nvSpPr>
            <p:spPr bwMode="auto">
              <a:xfrm flipV="1">
                <a:off x="4713" y="3690"/>
                <a:ext cx="402" cy="129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8448" name="Group 43"/>
            <p:cNvGrpSpPr>
              <a:grpSpLocks/>
            </p:cNvGrpSpPr>
            <p:nvPr/>
          </p:nvGrpSpPr>
          <p:grpSpPr bwMode="auto">
            <a:xfrm>
              <a:off x="3975" y="2331"/>
              <a:ext cx="952" cy="1221"/>
              <a:chOff x="4071" y="2325"/>
              <a:chExt cx="952" cy="1221"/>
            </a:xfrm>
          </p:grpSpPr>
          <p:sp>
            <p:nvSpPr>
              <p:cNvPr id="18451" name="Line 44"/>
              <p:cNvSpPr>
                <a:spLocks noChangeAspect="1" noChangeShapeType="1"/>
              </p:cNvSpPr>
              <p:nvPr/>
            </p:nvSpPr>
            <p:spPr bwMode="auto">
              <a:xfrm>
                <a:off x="4561" y="2609"/>
                <a:ext cx="462" cy="6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52" name="Line 45"/>
              <p:cNvSpPr>
                <a:spLocks noChangeAspect="1" noChangeShapeType="1"/>
              </p:cNvSpPr>
              <p:nvPr/>
            </p:nvSpPr>
            <p:spPr bwMode="auto">
              <a:xfrm>
                <a:off x="4561" y="2609"/>
                <a:ext cx="299" cy="7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53" name="Line 46"/>
              <p:cNvSpPr>
                <a:spLocks noChangeAspect="1" noChangeShapeType="1"/>
              </p:cNvSpPr>
              <p:nvPr/>
            </p:nvSpPr>
            <p:spPr bwMode="auto">
              <a:xfrm flipH="1">
                <a:off x="4398" y="2609"/>
                <a:ext cx="163" cy="9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54" name="Line 47"/>
              <p:cNvSpPr>
                <a:spLocks noChangeAspect="1" noChangeShapeType="1"/>
              </p:cNvSpPr>
              <p:nvPr/>
            </p:nvSpPr>
            <p:spPr bwMode="auto">
              <a:xfrm>
                <a:off x="4561" y="2609"/>
                <a:ext cx="154" cy="61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55" name="Line 48"/>
              <p:cNvSpPr>
                <a:spLocks noChangeAspect="1" noChangeShapeType="1"/>
              </p:cNvSpPr>
              <p:nvPr/>
            </p:nvSpPr>
            <p:spPr bwMode="auto">
              <a:xfrm flipH="1">
                <a:off x="4234" y="2609"/>
                <a:ext cx="327" cy="76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56" name="Line 49"/>
              <p:cNvSpPr>
                <a:spLocks noChangeAspect="1" noChangeShapeType="1"/>
              </p:cNvSpPr>
              <p:nvPr/>
            </p:nvSpPr>
            <p:spPr bwMode="auto">
              <a:xfrm flipH="1">
                <a:off x="4071" y="2609"/>
                <a:ext cx="490" cy="9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57" name="Line 50"/>
              <p:cNvSpPr>
                <a:spLocks noChangeAspect="1" noChangeShapeType="1"/>
              </p:cNvSpPr>
              <p:nvPr/>
            </p:nvSpPr>
            <p:spPr bwMode="auto">
              <a:xfrm>
                <a:off x="4071" y="3534"/>
                <a:ext cx="313" cy="1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58" name="Line 51"/>
              <p:cNvSpPr>
                <a:spLocks noChangeAspect="1" noChangeShapeType="1"/>
              </p:cNvSpPr>
              <p:nvPr/>
            </p:nvSpPr>
            <p:spPr bwMode="auto">
              <a:xfrm flipV="1">
                <a:off x="4386" y="3398"/>
                <a:ext cx="474" cy="14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59" name="Line 52"/>
              <p:cNvSpPr>
                <a:spLocks noChangeAspect="1" noChangeShapeType="1"/>
              </p:cNvSpPr>
              <p:nvPr/>
            </p:nvSpPr>
            <p:spPr bwMode="auto">
              <a:xfrm flipV="1">
                <a:off x="4860" y="3235"/>
                <a:ext cx="163" cy="16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60" name="Line 53"/>
              <p:cNvSpPr>
                <a:spLocks noChangeAspect="1" noChangeShapeType="1"/>
              </p:cNvSpPr>
              <p:nvPr/>
            </p:nvSpPr>
            <p:spPr bwMode="auto">
              <a:xfrm>
                <a:off x="4703" y="3238"/>
                <a:ext cx="309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61" name="Line 54"/>
              <p:cNvSpPr>
                <a:spLocks noChangeAspect="1" noChangeShapeType="1"/>
              </p:cNvSpPr>
              <p:nvPr/>
            </p:nvSpPr>
            <p:spPr bwMode="auto">
              <a:xfrm flipH="1">
                <a:off x="4238" y="3239"/>
                <a:ext cx="464" cy="12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62" name="Line 55"/>
              <p:cNvSpPr>
                <a:spLocks noChangeAspect="1" noChangeShapeType="1"/>
              </p:cNvSpPr>
              <p:nvPr/>
            </p:nvSpPr>
            <p:spPr bwMode="auto">
              <a:xfrm flipH="1">
                <a:off x="4071" y="3371"/>
                <a:ext cx="163" cy="16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63" name="Line 56"/>
              <p:cNvSpPr>
                <a:spLocks noChangeAspect="1" noChangeShapeType="1"/>
              </p:cNvSpPr>
              <p:nvPr/>
            </p:nvSpPr>
            <p:spPr bwMode="auto">
              <a:xfrm flipV="1">
                <a:off x="4071" y="3240"/>
                <a:ext cx="944" cy="29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64" name="Line 57"/>
              <p:cNvSpPr>
                <a:spLocks noChangeAspect="1" noChangeShapeType="1"/>
              </p:cNvSpPr>
              <p:nvPr/>
            </p:nvSpPr>
            <p:spPr bwMode="auto">
              <a:xfrm>
                <a:off x="4236" y="3378"/>
                <a:ext cx="625" cy="2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65" name="Line 58"/>
              <p:cNvSpPr>
                <a:spLocks noChangeAspect="1" noChangeShapeType="1"/>
              </p:cNvSpPr>
              <p:nvPr/>
            </p:nvSpPr>
            <p:spPr bwMode="auto">
              <a:xfrm flipV="1">
                <a:off x="4386" y="3238"/>
                <a:ext cx="317" cy="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66" name="Text Box 59"/>
              <p:cNvSpPr txBox="1">
                <a:spLocks noChangeAspect="1" noChangeArrowheads="1"/>
              </p:cNvSpPr>
              <p:nvPr/>
            </p:nvSpPr>
            <p:spPr bwMode="auto">
              <a:xfrm>
                <a:off x="4643" y="2325"/>
                <a:ext cx="310" cy="3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Symbol" panose="05050102010706020507" pitchFamily="18" charset="2"/>
                  </a:rPr>
                  <a:t>b</a:t>
                </a:r>
                <a:r>
                  <a:rPr lang="en-US" altLang="en-US" sz="2400" baseline="-25000">
                    <a:latin typeface="Times New Roman" panose="02020603050405020304" pitchFamily="18" charset="0"/>
                  </a:rPr>
                  <a:t>i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8449" name="Text Box 60"/>
            <p:cNvSpPr txBox="1">
              <a:spLocks noChangeArrowheads="1"/>
            </p:cNvSpPr>
            <p:nvPr/>
          </p:nvSpPr>
          <p:spPr bwMode="auto">
            <a:xfrm>
              <a:off x="4263" y="2386"/>
              <a:ext cx="255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450" name="Text Box 61"/>
            <p:cNvSpPr txBox="1">
              <a:spLocks noChangeArrowheads="1"/>
            </p:cNvSpPr>
            <p:nvPr/>
          </p:nvSpPr>
          <p:spPr bwMode="auto">
            <a:xfrm>
              <a:off x="3787" y="3362"/>
              <a:ext cx="255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</a:t>
              </a:r>
            </a:p>
          </p:txBody>
        </p:sp>
      </p:grpSp>
      <p:graphicFrame>
        <p:nvGraphicFramePr>
          <p:cNvPr id="18438" name="Object 4"/>
          <p:cNvGraphicFramePr>
            <a:graphicFrameLocks noChangeAspect="1"/>
          </p:cNvGraphicFramePr>
          <p:nvPr/>
        </p:nvGraphicFramePr>
        <p:xfrm>
          <a:off x="527050" y="6110288"/>
          <a:ext cx="3259138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6" name="Equation" r:id="rId4" imgW="1688367" imgH="253890" progId="Equation.DSMT4">
                  <p:embed/>
                </p:oleObj>
              </mc:Choice>
              <mc:Fallback>
                <p:oleObj name="Equation" r:id="rId4" imgW="1688367" imgH="25389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050" y="6110288"/>
                        <a:ext cx="3259138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39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0" y="3913188"/>
            <a:ext cx="24479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0" name="Text Box 62"/>
          <p:cNvSpPr txBox="1">
            <a:spLocks noChangeArrowheads="1"/>
          </p:cNvSpPr>
          <p:nvPr/>
        </p:nvSpPr>
        <p:spPr bwMode="auto">
          <a:xfrm>
            <a:off x="423863" y="625475"/>
            <a:ext cx="7391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Dans l</a:t>
            </a:r>
            <a:r>
              <a:rPr lang="ja-JP" altLang="fr-FR" sz="1800"/>
              <a:t>’</a:t>
            </a:r>
            <a:r>
              <a:rPr lang="fr-FR" altLang="ja-JP" sz="1800"/>
              <a:t>approximation des éléments finis, il n</a:t>
            </a:r>
            <a:r>
              <a:rPr lang="ja-JP" altLang="fr-FR" sz="1800"/>
              <a:t>’</a:t>
            </a:r>
            <a:r>
              <a:rPr lang="fr-FR" altLang="ja-JP" sz="1800"/>
              <a:t>est pas possible d</a:t>
            </a:r>
            <a:r>
              <a:rPr lang="ja-JP" altLang="fr-FR" sz="1800"/>
              <a:t>’</a:t>
            </a:r>
            <a:r>
              <a:rPr lang="fr-FR" altLang="ja-JP" sz="1800"/>
              <a:t>écrire des expressions locales des opérateurs de l</a:t>
            </a:r>
            <a:r>
              <a:rPr lang="ja-JP" altLang="fr-FR" sz="1800"/>
              <a:t>’</a:t>
            </a:r>
            <a:r>
              <a:rPr lang="fr-FR" altLang="ja-JP" sz="1800"/>
              <a:t>EDP.</a:t>
            </a:r>
            <a:endParaRPr lang="fr-FR" altLang="en-US" sz="1800"/>
          </a:p>
        </p:txBody>
      </p:sp>
      <p:graphicFrame>
        <p:nvGraphicFramePr>
          <p:cNvPr id="18441" name="Object 3"/>
          <p:cNvGraphicFramePr>
            <a:graphicFrameLocks noChangeAspect="1"/>
          </p:cNvGraphicFramePr>
          <p:nvPr/>
        </p:nvGraphicFramePr>
        <p:xfrm>
          <a:off x="1447800" y="2730500"/>
          <a:ext cx="62960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7" name="Equation" r:id="rId7" imgW="3149600" imgH="368300" progId="Equation.DSMT4">
                  <p:embed/>
                </p:oleObj>
              </mc:Choice>
              <mc:Fallback>
                <p:oleObj name="Equation" r:id="rId7" imgW="3149600" imgH="3683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30500"/>
                        <a:ext cx="6296025" cy="73660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ZoneTexte 1"/>
          <p:cNvSpPr txBox="1"/>
          <p:nvPr/>
        </p:nvSpPr>
        <p:spPr>
          <a:xfrm>
            <a:off x="4805228" y="6341030"/>
            <a:ext cx="3441968" cy="369332"/>
          </a:xfrm>
          <a:prstGeom prst="rect">
            <a:avLst/>
          </a:prstGeom>
          <a:solidFill>
            <a:schemeClr val="bg1"/>
          </a:solidFill>
          <a:ln>
            <a:solidFill>
              <a:srgbClr val="CC0000"/>
            </a:solidFill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fr-FR" dirty="0"/>
              <a:t>Faire représentation 1D de beta</a:t>
            </a:r>
          </a:p>
        </p:txBody>
      </p:sp>
      <p:graphicFrame>
        <p:nvGraphicFramePr>
          <p:cNvPr id="18445" name="Object 4"/>
          <p:cNvGraphicFramePr>
            <a:graphicFrameLocks noChangeAspect="1"/>
          </p:cNvGraphicFramePr>
          <p:nvPr/>
        </p:nvGraphicFramePr>
        <p:xfrm>
          <a:off x="530225" y="5672138"/>
          <a:ext cx="73501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8" name="Equation" r:id="rId9" imgW="380835" imgH="253890" progId="Equation.DSMT4">
                  <p:embed/>
                </p:oleObj>
              </mc:Choice>
              <mc:Fallback>
                <p:oleObj name="Equation" r:id="rId9" imgW="380835" imgH="25389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" y="5672138"/>
                        <a:ext cx="735013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6" name="ZoneTexte 2"/>
          <p:cNvSpPr txBox="1">
            <a:spLocks noChangeArrowheads="1"/>
          </p:cNvSpPr>
          <p:nvPr/>
        </p:nvSpPr>
        <p:spPr bwMode="auto">
          <a:xfrm>
            <a:off x="1274763" y="5705475"/>
            <a:ext cx="2378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/>
              <a:t>définie par morceaux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154E60-E9C0-430C-8B5C-F95F241A516B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fr-FR" altLang="en-US" sz="1400" b="0" smtClean="0"/>
          </a:p>
        </p:txBody>
      </p:sp>
      <p:sp>
        <p:nvSpPr>
          <p:cNvPr id="20483" name="Text Box 2"/>
          <p:cNvSpPr txBox="1">
            <a:spLocks noChangeArrowheads="1"/>
          </p:cNvSpPr>
          <p:nvPr/>
        </p:nvSpPr>
        <p:spPr bwMode="auto">
          <a:xfrm>
            <a:off x="228600" y="2141538"/>
            <a:ext cx="4540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en-US" sz="2000">
                <a:latin typeface="Times New Roman" panose="02020603050405020304" pitchFamily="18" charset="0"/>
              </a:rPr>
              <a:t> </a:t>
            </a:r>
            <a:r>
              <a:rPr lang="fr-FR" altLang="en-US" sz="2000"/>
              <a:t>formulation faible : on projette sur</a:t>
            </a:r>
            <a:r>
              <a:rPr lang="fr-FR" altLang="en-US" sz="2000">
                <a:latin typeface="Times New Roman" panose="02020603050405020304" pitchFamily="18" charset="0"/>
              </a:rPr>
              <a:t> </a:t>
            </a:r>
            <a:r>
              <a:rPr lang="fr-FR" altLang="ja-JP" sz="2000">
                <a:sym typeface="Symbol" panose="05050102010706020507" pitchFamily="18" charset="2"/>
              </a:rPr>
              <a:t>β</a:t>
            </a:r>
            <a:r>
              <a:rPr lang="fr-FR" altLang="en-US" sz="20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fr-FR" altLang="en-US" sz="2000">
                <a:latin typeface="Times New Roman" panose="02020603050405020304" pitchFamily="18" charset="0"/>
              </a:rPr>
              <a:t> , </a:t>
            </a:r>
          </a:p>
        </p:txBody>
      </p:sp>
      <p:graphicFrame>
        <p:nvGraphicFramePr>
          <p:cNvPr id="20484" name="Object 3"/>
          <p:cNvGraphicFramePr>
            <a:graphicFrameLocks noChangeAspect="1"/>
          </p:cNvGraphicFramePr>
          <p:nvPr/>
        </p:nvGraphicFramePr>
        <p:xfrm>
          <a:off x="1447800" y="2757488"/>
          <a:ext cx="62960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1" name="Equation" r:id="rId4" imgW="3149600" imgH="368300" progId="Equation.DSMT4">
                  <p:embed/>
                </p:oleObj>
              </mc:Choice>
              <mc:Fallback>
                <p:oleObj name="Equation" r:id="rId4" imgW="3149600" imgH="3683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57488"/>
                        <a:ext cx="6296025" cy="7366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4"/>
          <p:cNvGraphicFramePr>
            <a:graphicFrameLocks noChangeAspect="1"/>
          </p:cNvGraphicFramePr>
          <p:nvPr/>
        </p:nvGraphicFramePr>
        <p:xfrm>
          <a:off x="4745038" y="2147888"/>
          <a:ext cx="378936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2" name="Equation" r:id="rId6" imgW="2108200" imgH="254000" progId="Equation.DSMT4">
                  <p:embed/>
                </p:oleObj>
              </mc:Choice>
              <mc:Fallback>
                <p:oleObj name="Equation" r:id="rId6" imgW="2108200" imgH="254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5038" y="2147888"/>
                        <a:ext cx="378936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Text Box 5"/>
          <p:cNvSpPr txBox="1">
            <a:spLocks noChangeArrowheads="1"/>
          </p:cNvSpPr>
          <p:nvPr/>
        </p:nvSpPr>
        <p:spPr bwMode="auto">
          <a:xfrm>
            <a:off x="3124200" y="3443288"/>
            <a:ext cx="3473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Ordre de dérivation  : 0     et     2</a:t>
            </a:r>
          </a:p>
        </p:txBody>
      </p:sp>
      <p:sp>
        <p:nvSpPr>
          <p:cNvPr id="20487" name="Text Box 6"/>
          <p:cNvSpPr txBox="1">
            <a:spLocks noChangeArrowheads="1"/>
          </p:cNvSpPr>
          <p:nvPr/>
        </p:nvSpPr>
        <p:spPr bwMode="auto">
          <a:xfrm>
            <a:off x="228600" y="377825"/>
            <a:ext cx="5638800" cy="130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L</a:t>
            </a:r>
            <a:r>
              <a:rPr lang="ja-JP" altLang="fr-FR" sz="1800"/>
              <a:t>’</a:t>
            </a:r>
            <a:r>
              <a:rPr lang="fr-FR" altLang="ja-JP" sz="1800"/>
              <a:t>approximation de Galerkin consiste à pondérer l</a:t>
            </a:r>
            <a:r>
              <a:rPr lang="ja-JP" altLang="fr-FR" sz="1800"/>
              <a:t>’</a:t>
            </a:r>
            <a:r>
              <a:rPr lang="fr-FR" altLang="ja-JP" sz="1800"/>
              <a:t>EDP par une fonction test </a:t>
            </a:r>
            <a:r>
              <a:rPr lang="fr-FR" altLang="ja-JP" sz="1800">
                <a:sym typeface="Symbol" panose="05050102010706020507" pitchFamily="18" charset="2"/>
              </a:rPr>
              <a:t>β</a:t>
            </a:r>
            <a:r>
              <a:rPr lang="fr-FR" altLang="ja-JP" sz="1800" baseline="-25000">
                <a:sym typeface="Symbol" panose="05050102010706020507" pitchFamily="18" charset="2"/>
              </a:rPr>
              <a:t>i</a:t>
            </a:r>
            <a:r>
              <a:rPr lang="fr-FR" altLang="ja-JP" sz="1800">
                <a:sym typeface="Symbol" panose="05050102010706020507" pitchFamily="18" charset="2"/>
              </a:rPr>
              <a:t> </a:t>
            </a:r>
            <a:r>
              <a:rPr lang="fr-FR" altLang="ja-JP" sz="1800"/>
              <a:t>à support réduit (</a:t>
            </a:r>
            <a:r>
              <a:rPr lang="fr-FR" altLang="ja-JP" sz="1800">
                <a:sym typeface="Symbol" panose="05050102010706020507" pitchFamily="18" charset="2"/>
              </a:rPr>
              <a:t>= non nulle sur les éléments partageant un même nœud)</a:t>
            </a:r>
            <a:r>
              <a:rPr lang="fr-FR" altLang="ja-JP" sz="1800"/>
              <a:t>; ceci étant fait pour chacun des N nœuds du maillage.</a:t>
            </a:r>
            <a:endParaRPr lang="fr-FR" altLang="en-US" sz="1800"/>
          </a:p>
        </p:txBody>
      </p:sp>
      <p:grpSp>
        <p:nvGrpSpPr>
          <p:cNvPr id="20488" name="Group 7"/>
          <p:cNvGrpSpPr>
            <a:grpSpLocks/>
          </p:cNvGrpSpPr>
          <p:nvPr/>
        </p:nvGrpSpPr>
        <p:grpSpPr bwMode="auto">
          <a:xfrm>
            <a:off x="5867400" y="-76200"/>
            <a:ext cx="3167063" cy="2039938"/>
            <a:chOff x="3357" y="2331"/>
            <a:chExt cx="2403" cy="1548"/>
          </a:xfrm>
        </p:grpSpPr>
        <p:grpSp>
          <p:nvGrpSpPr>
            <p:cNvPr id="20492" name="Group 8"/>
            <p:cNvGrpSpPr>
              <a:grpSpLocks noChangeAspect="1"/>
            </p:cNvGrpSpPr>
            <p:nvPr/>
          </p:nvGrpSpPr>
          <p:grpSpPr bwMode="auto">
            <a:xfrm>
              <a:off x="3357" y="3045"/>
              <a:ext cx="2403" cy="834"/>
              <a:chOff x="3538" y="3257"/>
              <a:chExt cx="2002" cy="695"/>
            </a:xfrm>
          </p:grpSpPr>
          <p:sp>
            <p:nvSpPr>
              <p:cNvPr id="20512" name="Line 9"/>
              <p:cNvSpPr>
                <a:spLocks noChangeAspect="1" noChangeShapeType="1"/>
              </p:cNvSpPr>
              <p:nvPr/>
            </p:nvSpPr>
            <p:spPr bwMode="auto">
              <a:xfrm flipV="1">
                <a:off x="3787" y="3267"/>
                <a:ext cx="684" cy="663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13" name="Line 10"/>
              <p:cNvSpPr>
                <a:spLocks noChangeAspect="1" noChangeShapeType="1"/>
              </p:cNvSpPr>
              <p:nvPr/>
            </p:nvSpPr>
            <p:spPr bwMode="auto">
              <a:xfrm flipV="1">
                <a:off x="4060" y="3274"/>
                <a:ext cx="679" cy="664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14" name="Line 11"/>
              <p:cNvSpPr>
                <a:spLocks noChangeAspect="1" noChangeShapeType="1"/>
              </p:cNvSpPr>
              <p:nvPr/>
            </p:nvSpPr>
            <p:spPr bwMode="auto">
              <a:xfrm flipV="1">
                <a:off x="4324" y="3292"/>
                <a:ext cx="659" cy="652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15" name="Line 12"/>
              <p:cNvSpPr>
                <a:spLocks noChangeAspect="1" noChangeShapeType="1"/>
              </p:cNvSpPr>
              <p:nvPr/>
            </p:nvSpPr>
            <p:spPr bwMode="auto">
              <a:xfrm flipV="1">
                <a:off x="4588" y="3292"/>
                <a:ext cx="647" cy="650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16" name="Line 13"/>
              <p:cNvSpPr>
                <a:spLocks noChangeAspect="1" noChangeShapeType="1"/>
              </p:cNvSpPr>
              <p:nvPr/>
            </p:nvSpPr>
            <p:spPr bwMode="auto">
              <a:xfrm flipV="1">
                <a:off x="3538" y="3261"/>
                <a:ext cx="668" cy="669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17" name="Line 14"/>
              <p:cNvSpPr>
                <a:spLocks noChangeAspect="1" noChangeShapeType="1"/>
              </p:cNvSpPr>
              <p:nvPr/>
            </p:nvSpPr>
            <p:spPr bwMode="auto">
              <a:xfrm>
                <a:off x="3598" y="3794"/>
                <a:ext cx="1604" cy="34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18" name="Line 15"/>
              <p:cNvSpPr>
                <a:spLocks noChangeAspect="1" noChangeShapeType="1"/>
              </p:cNvSpPr>
              <p:nvPr/>
            </p:nvSpPr>
            <p:spPr bwMode="auto">
              <a:xfrm>
                <a:off x="3686" y="3664"/>
                <a:ext cx="1598" cy="32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19" name="Line 16"/>
              <p:cNvSpPr>
                <a:spLocks noChangeAspect="1" noChangeShapeType="1"/>
              </p:cNvSpPr>
              <p:nvPr/>
            </p:nvSpPr>
            <p:spPr bwMode="auto">
              <a:xfrm>
                <a:off x="3730" y="3534"/>
                <a:ext cx="1774" cy="32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20" name="Line 17"/>
              <p:cNvSpPr>
                <a:spLocks noChangeAspect="1" noChangeShapeType="1"/>
              </p:cNvSpPr>
              <p:nvPr/>
            </p:nvSpPr>
            <p:spPr bwMode="auto">
              <a:xfrm>
                <a:off x="3882" y="3406"/>
                <a:ext cx="1594" cy="30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21" name="Line 18"/>
              <p:cNvSpPr>
                <a:spLocks noChangeAspect="1" noChangeShapeType="1"/>
              </p:cNvSpPr>
              <p:nvPr/>
            </p:nvSpPr>
            <p:spPr bwMode="auto">
              <a:xfrm flipV="1">
                <a:off x="4853" y="3299"/>
                <a:ext cx="665" cy="653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22" name="Line 19"/>
              <p:cNvSpPr>
                <a:spLocks noChangeAspect="1" noChangeShapeType="1"/>
              </p:cNvSpPr>
              <p:nvPr/>
            </p:nvSpPr>
            <p:spPr bwMode="auto">
              <a:xfrm>
                <a:off x="4096" y="3257"/>
                <a:ext cx="1444" cy="45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23" name="Line 20"/>
              <p:cNvSpPr>
                <a:spLocks noChangeAspect="1" noChangeShapeType="1"/>
              </p:cNvSpPr>
              <p:nvPr/>
            </p:nvSpPr>
            <p:spPr bwMode="auto">
              <a:xfrm flipV="1">
                <a:off x="3674" y="3291"/>
                <a:ext cx="1573" cy="502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24" name="Line 21"/>
              <p:cNvSpPr>
                <a:spLocks noChangeAspect="1" noChangeShapeType="1"/>
              </p:cNvSpPr>
              <p:nvPr/>
            </p:nvSpPr>
            <p:spPr bwMode="auto">
              <a:xfrm flipV="1">
                <a:off x="3921" y="3297"/>
                <a:ext cx="1593" cy="504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25" name="Line 22"/>
              <p:cNvSpPr>
                <a:spLocks noChangeAspect="1" noChangeShapeType="1"/>
              </p:cNvSpPr>
              <p:nvPr/>
            </p:nvSpPr>
            <p:spPr bwMode="auto">
              <a:xfrm flipV="1">
                <a:off x="4194" y="3429"/>
                <a:ext cx="1191" cy="378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26" name="Line 23"/>
              <p:cNvSpPr>
                <a:spLocks noChangeAspect="1" noChangeShapeType="1"/>
              </p:cNvSpPr>
              <p:nvPr/>
            </p:nvSpPr>
            <p:spPr bwMode="auto">
              <a:xfrm flipV="1">
                <a:off x="3804" y="3282"/>
                <a:ext cx="1191" cy="384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27" name="Line 24"/>
              <p:cNvSpPr>
                <a:spLocks noChangeAspect="1" noChangeShapeType="1"/>
              </p:cNvSpPr>
              <p:nvPr/>
            </p:nvSpPr>
            <p:spPr bwMode="auto">
              <a:xfrm flipV="1">
                <a:off x="3930" y="3273"/>
                <a:ext cx="804" cy="264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28" name="Line 25"/>
              <p:cNvSpPr>
                <a:spLocks noChangeAspect="1" noChangeShapeType="1"/>
              </p:cNvSpPr>
              <p:nvPr/>
            </p:nvSpPr>
            <p:spPr bwMode="auto">
              <a:xfrm flipV="1">
                <a:off x="4056" y="3270"/>
                <a:ext cx="411" cy="141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29" name="Line 26"/>
              <p:cNvSpPr>
                <a:spLocks noChangeAspect="1" noChangeShapeType="1"/>
              </p:cNvSpPr>
              <p:nvPr/>
            </p:nvSpPr>
            <p:spPr bwMode="auto">
              <a:xfrm flipV="1">
                <a:off x="4455" y="3561"/>
                <a:ext cx="792" cy="252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30" name="Line 27"/>
              <p:cNvSpPr>
                <a:spLocks noChangeAspect="1" noChangeShapeType="1"/>
              </p:cNvSpPr>
              <p:nvPr/>
            </p:nvSpPr>
            <p:spPr bwMode="auto">
              <a:xfrm flipV="1">
                <a:off x="4713" y="3690"/>
                <a:ext cx="402" cy="129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20493" name="Group 28"/>
            <p:cNvGrpSpPr>
              <a:grpSpLocks/>
            </p:cNvGrpSpPr>
            <p:nvPr/>
          </p:nvGrpSpPr>
          <p:grpSpPr bwMode="auto">
            <a:xfrm>
              <a:off x="3975" y="2331"/>
              <a:ext cx="952" cy="1221"/>
              <a:chOff x="4071" y="2325"/>
              <a:chExt cx="952" cy="1221"/>
            </a:xfrm>
          </p:grpSpPr>
          <p:sp>
            <p:nvSpPr>
              <p:cNvPr id="20496" name="Line 29"/>
              <p:cNvSpPr>
                <a:spLocks noChangeAspect="1" noChangeShapeType="1"/>
              </p:cNvSpPr>
              <p:nvPr/>
            </p:nvSpPr>
            <p:spPr bwMode="auto">
              <a:xfrm>
                <a:off x="4561" y="2609"/>
                <a:ext cx="462" cy="6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497" name="Line 30"/>
              <p:cNvSpPr>
                <a:spLocks noChangeAspect="1" noChangeShapeType="1"/>
              </p:cNvSpPr>
              <p:nvPr/>
            </p:nvSpPr>
            <p:spPr bwMode="auto">
              <a:xfrm>
                <a:off x="4561" y="2609"/>
                <a:ext cx="299" cy="7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498" name="Line 31"/>
              <p:cNvSpPr>
                <a:spLocks noChangeAspect="1" noChangeShapeType="1"/>
              </p:cNvSpPr>
              <p:nvPr/>
            </p:nvSpPr>
            <p:spPr bwMode="auto">
              <a:xfrm flipH="1">
                <a:off x="4398" y="2609"/>
                <a:ext cx="163" cy="9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499" name="Line 32"/>
              <p:cNvSpPr>
                <a:spLocks noChangeAspect="1" noChangeShapeType="1"/>
              </p:cNvSpPr>
              <p:nvPr/>
            </p:nvSpPr>
            <p:spPr bwMode="auto">
              <a:xfrm>
                <a:off x="4561" y="2609"/>
                <a:ext cx="154" cy="61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00" name="Line 33"/>
              <p:cNvSpPr>
                <a:spLocks noChangeAspect="1" noChangeShapeType="1"/>
              </p:cNvSpPr>
              <p:nvPr/>
            </p:nvSpPr>
            <p:spPr bwMode="auto">
              <a:xfrm flipH="1">
                <a:off x="4234" y="2609"/>
                <a:ext cx="327" cy="76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01" name="Line 34"/>
              <p:cNvSpPr>
                <a:spLocks noChangeAspect="1" noChangeShapeType="1"/>
              </p:cNvSpPr>
              <p:nvPr/>
            </p:nvSpPr>
            <p:spPr bwMode="auto">
              <a:xfrm flipH="1">
                <a:off x="4071" y="2609"/>
                <a:ext cx="490" cy="9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02" name="Line 35"/>
              <p:cNvSpPr>
                <a:spLocks noChangeAspect="1" noChangeShapeType="1"/>
              </p:cNvSpPr>
              <p:nvPr/>
            </p:nvSpPr>
            <p:spPr bwMode="auto">
              <a:xfrm>
                <a:off x="4071" y="3534"/>
                <a:ext cx="313" cy="1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03" name="Line 36"/>
              <p:cNvSpPr>
                <a:spLocks noChangeAspect="1" noChangeShapeType="1"/>
              </p:cNvSpPr>
              <p:nvPr/>
            </p:nvSpPr>
            <p:spPr bwMode="auto">
              <a:xfrm flipV="1">
                <a:off x="4386" y="3398"/>
                <a:ext cx="474" cy="14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04" name="Line 37"/>
              <p:cNvSpPr>
                <a:spLocks noChangeAspect="1" noChangeShapeType="1"/>
              </p:cNvSpPr>
              <p:nvPr/>
            </p:nvSpPr>
            <p:spPr bwMode="auto">
              <a:xfrm flipV="1">
                <a:off x="4860" y="3235"/>
                <a:ext cx="163" cy="16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05" name="Line 38"/>
              <p:cNvSpPr>
                <a:spLocks noChangeAspect="1" noChangeShapeType="1"/>
              </p:cNvSpPr>
              <p:nvPr/>
            </p:nvSpPr>
            <p:spPr bwMode="auto">
              <a:xfrm>
                <a:off x="4703" y="3238"/>
                <a:ext cx="309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06" name="Line 39"/>
              <p:cNvSpPr>
                <a:spLocks noChangeAspect="1" noChangeShapeType="1"/>
              </p:cNvSpPr>
              <p:nvPr/>
            </p:nvSpPr>
            <p:spPr bwMode="auto">
              <a:xfrm flipH="1">
                <a:off x="4238" y="3239"/>
                <a:ext cx="464" cy="12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07" name="Line 40"/>
              <p:cNvSpPr>
                <a:spLocks noChangeAspect="1" noChangeShapeType="1"/>
              </p:cNvSpPr>
              <p:nvPr/>
            </p:nvSpPr>
            <p:spPr bwMode="auto">
              <a:xfrm flipH="1">
                <a:off x="4071" y="3371"/>
                <a:ext cx="163" cy="16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08" name="Line 41"/>
              <p:cNvSpPr>
                <a:spLocks noChangeAspect="1" noChangeShapeType="1"/>
              </p:cNvSpPr>
              <p:nvPr/>
            </p:nvSpPr>
            <p:spPr bwMode="auto">
              <a:xfrm flipV="1">
                <a:off x="4071" y="3240"/>
                <a:ext cx="944" cy="29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09" name="Line 42"/>
              <p:cNvSpPr>
                <a:spLocks noChangeAspect="1" noChangeShapeType="1"/>
              </p:cNvSpPr>
              <p:nvPr/>
            </p:nvSpPr>
            <p:spPr bwMode="auto">
              <a:xfrm>
                <a:off x="4236" y="3378"/>
                <a:ext cx="625" cy="2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10" name="Line 43"/>
              <p:cNvSpPr>
                <a:spLocks noChangeAspect="1" noChangeShapeType="1"/>
              </p:cNvSpPr>
              <p:nvPr/>
            </p:nvSpPr>
            <p:spPr bwMode="auto">
              <a:xfrm flipV="1">
                <a:off x="4386" y="3238"/>
                <a:ext cx="317" cy="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511" name="Text Box 44"/>
              <p:cNvSpPr txBox="1">
                <a:spLocks noChangeAspect="1" noChangeArrowheads="1"/>
              </p:cNvSpPr>
              <p:nvPr/>
            </p:nvSpPr>
            <p:spPr bwMode="auto">
              <a:xfrm>
                <a:off x="4643" y="2325"/>
                <a:ext cx="310" cy="3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Symbol" panose="05050102010706020507" pitchFamily="18" charset="2"/>
                  </a:rPr>
                  <a:t>b</a:t>
                </a:r>
                <a:r>
                  <a:rPr lang="en-US" altLang="en-US" sz="2400" baseline="-25000">
                    <a:latin typeface="Times New Roman" panose="02020603050405020304" pitchFamily="18" charset="0"/>
                  </a:rPr>
                  <a:t>i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0494" name="Text Box 45"/>
            <p:cNvSpPr txBox="1">
              <a:spLocks noChangeArrowheads="1"/>
            </p:cNvSpPr>
            <p:nvPr/>
          </p:nvSpPr>
          <p:spPr bwMode="auto">
            <a:xfrm>
              <a:off x="4263" y="2386"/>
              <a:ext cx="255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0495" name="Text Box 46"/>
            <p:cNvSpPr txBox="1">
              <a:spLocks noChangeArrowheads="1"/>
            </p:cNvSpPr>
            <p:nvPr/>
          </p:nvSpPr>
          <p:spPr bwMode="auto">
            <a:xfrm>
              <a:off x="3787" y="3362"/>
              <a:ext cx="255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20489" name="Text Box 47"/>
          <p:cNvSpPr txBox="1">
            <a:spLocks noChangeArrowheads="1"/>
          </p:cNvSpPr>
          <p:nvPr/>
        </p:nvSpPr>
        <p:spPr bwMode="auto">
          <a:xfrm>
            <a:off x="365125" y="3843338"/>
            <a:ext cx="8383588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Pb1 : l</a:t>
            </a:r>
            <a:r>
              <a:rPr lang="ja-JP" altLang="fr-FR" sz="1800"/>
              <a:t>’</a:t>
            </a:r>
            <a:r>
              <a:rPr lang="fr-FR" altLang="ja-JP" sz="1800"/>
              <a:t>ordre de dérivation du terme en V est 2  </a:t>
            </a:r>
            <a:r>
              <a:rPr lang="fr-FR" altLang="ja-JP" sz="1800">
                <a:latin typeface="Wingdings" panose="05000000000000000000" pitchFamily="2" charset="2"/>
                <a:sym typeface="Wingdings" panose="05000000000000000000" pitchFamily="2" charset="2"/>
              </a:rPr>
              <a:t></a:t>
            </a:r>
            <a:r>
              <a:rPr lang="fr-FR" altLang="ja-JP" sz="1800">
                <a:sym typeface="Symbol" panose="05050102010706020507" pitchFamily="18" charset="2"/>
              </a:rPr>
              <a:t> </a:t>
            </a:r>
            <a:r>
              <a:rPr lang="fr-FR" altLang="ja-JP" sz="1800"/>
              <a:t> si V est interpolée avec des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polynomes P1 de Lagrange alors ce terme est toujours nul.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Pb2 : les conditions aux limites n</a:t>
            </a:r>
            <a:r>
              <a:rPr lang="ja-JP" altLang="fr-FR" sz="1800"/>
              <a:t>’</a:t>
            </a:r>
            <a:r>
              <a:rPr lang="fr-FR" altLang="ja-JP" sz="1800"/>
              <a:t>apparaissent pas.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Solution à ces deux Pbs consiste à diminuer l</a:t>
            </a:r>
            <a:r>
              <a:rPr lang="ja-JP" altLang="fr-FR" sz="1800"/>
              <a:t>’</a:t>
            </a:r>
            <a:r>
              <a:rPr lang="fr-FR" altLang="ja-JP" sz="1800"/>
              <a:t>ordre de dérivation du terme en 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Et à augmenter celui en </a:t>
            </a:r>
            <a:r>
              <a:rPr lang="fr-FR" altLang="ja-JP" sz="1800">
                <a:sym typeface="Symbol" panose="05050102010706020507" pitchFamily="18" charset="2"/>
              </a:rPr>
              <a:t>β</a:t>
            </a:r>
            <a:r>
              <a:rPr lang="fr-FR" altLang="en-US" sz="1800" baseline="-25000">
                <a:sym typeface="Symbol" panose="05050102010706020507" pitchFamily="18" charset="2"/>
              </a:rPr>
              <a:t>i</a:t>
            </a:r>
            <a:r>
              <a:rPr lang="fr-FR" altLang="en-US" sz="1800">
                <a:sym typeface="Symbol" panose="05050102010706020507" pitchFamily="18" charset="2"/>
              </a:rPr>
              <a:t>  en faisant </a:t>
            </a:r>
            <a:r>
              <a:rPr lang="fr-FR" altLang="en-US" sz="1800"/>
              <a:t>une intégration par partie.</a:t>
            </a:r>
          </a:p>
        </p:txBody>
      </p:sp>
      <p:graphicFrame>
        <p:nvGraphicFramePr>
          <p:cNvPr id="20490" name="Object 48"/>
          <p:cNvGraphicFramePr>
            <a:graphicFrameLocks noChangeAspect="1"/>
          </p:cNvGraphicFramePr>
          <p:nvPr/>
        </p:nvGraphicFramePr>
        <p:xfrm>
          <a:off x="2514600" y="6045200"/>
          <a:ext cx="36560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3" name="Equation" r:id="rId8" imgW="1828800" imgH="254000" progId="Equation.DSMT4">
                  <p:embed/>
                </p:oleObj>
              </mc:Choice>
              <mc:Fallback>
                <p:oleObj name="Equation" r:id="rId8" imgW="1828800" imgH="2540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6045200"/>
                        <a:ext cx="36560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1" name="Text Box 49"/>
          <p:cNvSpPr txBox="1">
            <a:spLocks noChangeArrowheads="1"/>
          </p:cNvSpPr>
          <p:nvPr/>
        </p:nvSpPr>
        <p:spPr bwMode="auto">
          <a:xfrm>
            <a:off x="365125" y="6110288"/>
            <a:ext cx="2038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Formule de Green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F8DFDC-6D35-41A8-BAB7-8052A9B43234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fr-FR" altLang="en-US" sz="1400" b="0" smtClean="0"/>
          </a:p>
        </p:txBody>
      </p:sp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460375" y="304800"/>
          <a:ext cx="73120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" name="Equation" r:id="rId4" imgW="3657600" imgH="368300" progId="Equation.DSMT4">
                  <p:embed/>
                </p:oleObj>
              </mc:Choice>
              <mc:Fallback>
                <p:oleObj name="Equation" r:id="rId4" imgW="3657600" imgH="3683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75" y="304800"/>
                        <a:ext cx="731202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457200" y="1219200"/>
          <a:ext cx="69818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2" name="Equation" r:id="rId6" imgW="3492500" imgH="381000" progId="Equation.DSMT4">
                  <p:embed/>
                </p:oleObj>
              </mc:Choice>
              <mc:Fallback>
                <p:oleObj name="Equation" r:id="rId6" imgW="3492500" imgH="381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219200"/>
                        <a:ext cx="698182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304800" y="2100263"/>
            <a:ext cx="5807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/>
              <a:t> Avec les conditions aux limites de type Neuman </a:t>
            </a:r>
            <a:r>
              <a:rPr lang="fr-FR" altLang="en-US" sz="2000">
                <a:sym typeface="Symbol" panose="05050102010706020507" pitchFamily="18" charset="2"/>
              </a:rPr>
              <a:t>:</a:t>
            </a:r>
          </a:p>
        </p:txBody>
      </p:sp>
      <p:graphicFrame>
        <p:nvGraphicFramePr>
          <p:cNvPr id="22534" name="Object 6"/>
          <p:cNvGraphicFramePr>
            <a:graphicFrameLocks noChangeAspect="1"/>
          </p:cNvGraphicFramePr>
          <p:nvPr/>
        </p:nvGraphicFramePr>
        <p:xfrm>
          <a:off x="6324600" y="2101850"/>
          <a:ext cx="12319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" name="Equation" r:id="rId8" imgW="685800" imgH="228600" progId="Equation.DSMT4">
                  <p:embed/>
                </p:oleObj>
              </mc:Choice>
              <mc:Fallback>
                <p:oleObj name="Equation" r:id="rId8" imgW="6858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2101850"/>
                        <a:ext cx="123190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7"/>
          <p:cNvGraphicFramePr>
            <a:graphicFrameLocks noChangeAspect="1"/>
          </p:cNvGraphicFramePr>
          <p:nvPr/>
        </p:nvGraphicFramePr>
        <p:xfrm>
          <a:off x="2070100" y="4008438"/>
          <a:ext cx="439261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4" name="Equation" r:id="rId10" imgW="2197100" imgH="381000" progId="Equation.DSMT4">
                  <p:embed/>
                </p:oleObj>
              </mc:Choice>
              <mc:Fallback>
                <p:oleObj name="Equation" r:id="rId10" imgW="2197100" imgH="381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100" y="4008438"/>
                        <a:ext cx="4392613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6" name="Text Box 9"/>
          <p:cNvSpPr txBox="1">
            <a:spLocks noChangeArrowheads="1"/>
          </p:cNvSpPr>
          <p:nvPr/>
        </p:nvSpPr>
        <p:spPr bwMode="auto">
          <a:xfrm>
            <a:off x="385763" y="5230813"/>
            <a:ext cx="88534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La fonction test chapeau β</a:t>
            </a:r>
            <a:r>
              <a:rPr lang="fr-FR" altLang="en-US" sz="1800" baseline="-25000"/>
              <a:t>i</a:t>
            </a:r>
            <a:r>
              <a:rPr lang="fr-FR" altLang="en-US" sz="1800"/>
              <a:t> est définie par morceaux et coïncide avec le polynôme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de Lagrange associé au nœud i dans l’élément e considéré:                                        </a:t>
            </a:r>
          </a:p>
        </p:txBody>
      </p:sp>
      <p:sp>
        <p:nvSpPr>
          <p:cNvPr id="22537" name="Text Box 11"/>
          <p:cNvSpPr txBox="1">
            <a:spLocks noChangeArrowheads="1"/>
          </p:cNvSpPr>
          <p:nvPr/>
        </p:nvSpPr>
        <p:spPr bwMode="auto">
          <a:xfrm>
            <a:off x="365125" y="3586163"/>
            <a:ext cx="3778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On obtient la forme faible suivante :</a:t>
            </a:r>
          </a:p>
        </p:txBody>
      </p:sp>
      <p:sp>
        <p:nvSpPr>
          <p:cNvPr id="22538" name="Text Box 13"/>
          <p:cNvSpPr txBox="1">
            <a:spLocks noChangeArrowheads="1"/>
          </p:cNvSpPr>
          <p:nvPr/>
        </p:nvSpPr>
        <p:spPr bwMode="auto">
          <a:xfrm>
            <a:off x="385763" y="4770438"/>
            <a:ext cx="74898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On a autant d</a:t>
            </a:r>
            <a:r>
              <a:rPr lang="ja-JP" altLang="fr-FR" sz="1800"/>
              <a:t>’</a:t>
            </a:r>
            <a:r>
              <a:rPr lang="fr-FR" altLang="ja-JP" sz="1800"/>
              <a:t>équations que de nœuds i de maillage</a:t>
            </a:r>
            <a:endParaRPr lang="fr-FR" altLang="en-US" sz="1800">
              <a:solidFill>
                <a:schemeClr val="accent2"/>
              </a:solidFill>
            </a:endParaRPr>
          </a:p>
        </p:txBody>
      </p:sp>
      <p:sp>
        <p:nvSpPr>
          <p:cNvPr id="22539" name="Text Box 5"/>
          <p:cNvSpPr txBox="1">
            <a:spLocks noChangeArrowheads="1"/>
          </p:cNvSpPr>
          <p:nvPr/>
        </p:nvSpPr>
        <p:spPr bwMode="auto">
          <a:xfrm>
            <a:off x="288925" y="2584450"/>
            <a:ext cx="76739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 Les conditions de type Dirichlet sont appliquées aux nœuds uniquement.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On remplace la forme faible par V</a:t>
            </a:r>
            <a:r>
              <a:rPr lang="fr-FR" altLang="en-US" sz="1800" baseline="-25000"/>
              <a:t>i</a:t>
            </a:r>
            <a:r>
              <a:rPr lang="fr-FR" altLang="en-US" sz="1800"/>
              <a:t>=V</a:t>
            </a:r>
            <a:r>
              <a:rPr lang="fr-FR" altLang="en-US" sz="1800" baseline="-25000"/>
              <a:t>d </a:t>
            </a:r>
            <a:r>
              <a:rPr lang="fr-FR" altLang="en-US" sz="1800"/>
              <a:t>pour tout nœud i de dirichlet. </a:t>
            </a:r>
          </a:p>
        </p:txBody>
      </p:sp>
      <p:graphicFrame>
        <p:nvGraphicFramePr>
          <p:cNvPr id="22540" name="Object 4"/>
          <p:cNvGraphicFramePr>
            <a:graphicFrameLocks noChangeAspect="1"/>
          </p:cNvGraphicFramePr>
          <p:nvPr/>
        </p:nvGraphicFramePr>
        <p:xfrm>
          <a:off x="2486025" y="6064250"/>
          <a:ext cx="3259138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5" name="Equation" r:id="rId12" imgW="1688367" imgH="253890" progId="Equation.DSMT4">
                  <p:embed/>
                </p:oleObj>
              </mc:Choice>
              <mc:Fallback>
                <p:oleObj name="Equation" r:id="rId12" imgW="1688367" imgH="25389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6025" y="6064250"/>
                        <a:ext cx="3259138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E18718F-DEC6-4803-AC99-B18D40B20B74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fr-FR" altLang="en-US" sz="1400" b="0" smtClean="0"/>
          </a:p>
        </p:txBody>
      </p:sp>
      <p:sp>
        <p:nvSpPr>
          <p:cNvPr id="24579" name="Text Box 5"/>
          <p:cNvSpPr txBox="1">
            <a:spLocks noChangeArrowheads="1"/>
          </p:cNvSpPr>
          <p:nvPr/>
        </p:nvSpPr>
        <p:spPr bwMode="auto">
          <a:xfrm>
            <a:off x="423863" y="1676400"/>
            <a:ext cx="58118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/>
              <a:t> Avec les conditions aux limites de type Neuman </a:t>
            </a:r>
            <a:r>
              <a:rPr lang="fr-FR" altLang="en-US" sz="2000">
                <a:sym typeface="Symbol" panose="05050102010706020507" pitchFamily="18" charset="2"/>
              </a:rPr>
              <a:t>:</a:t>
            </a:r>
          </a:p>
        </p:txBody>
      </p:sp>
      <p:graphicFrame>
        <p:nvGraphicFramePr>
          <p:cNvPr id="24580" name="Object 6"/>
          <p:cNvGraphicFramePr>
            <a:graphicFrameLocks noChangeAspect="1"/>
          </p:cNvGraphicFramePr>
          <p:nvPr/>
        </p:nvGraphicFramePr>
        <p:xfrm>
          <a:off x="6329363" y="1677988"/>
          <a:ext cx="12319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8" name="Equation" r:id="rId4" imgW="685800" imgH="228600" progId="Equation.DSMT4">
                  <p:embed/>
                </p:oleObj>
              </mc:Choice>
              <mc:Fallback>
                <p:oleObj name="Equation" r:id="rId4" imgW="6858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9363" y="1677988"/>
                        <a:ext cx="123190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8"/>
          <p:cNvGraphicFramePr>
            <a:graphicFrameLocks noChangeAspect="1"/>
          </p:cNvGraphicFramePr>
          <p:nvPr/>
        </p:nvGraphicFramePr>
        <p:xfrm>
          <a:off x="2668588" y="3032125"/>
          <a:ext cx="219233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9" name="Equation" r:id="rId6" imgW="1218671" imgH="444307" progId="Equation.DSMT4">
                  <p:embed/>
                </p:oleObj>
              </mc:Choice>
              <mc:Fallback>
                <p:oleObj name="Equation" r:id="rId6" imgW="1218671" imgH="444307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8588" y="3032125"/>
                        <a:ext cx="2192337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2" name="Text Box 9"/>
          <p:cNvSpPr txBox="1">
            <a:spLocks noChangeArrowheads="1"/>
          </p:cNvSpPr>
          <p:nvPr/>
        </p:nvSpPr>
        <p:spPr bwMode="auto">
          <a:xfrm>
            <a:off x="461963" y="3827463"/>
            <a:ext cx="64468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La somme est restreinte aux nœuds de l</a:t>
            </a:r>
            <a:r>
              <a:rPr lang="fr-FR" altLang="fr-FR" sz="1800"/>
              <a:t>’</a:t>
            </a:r>
            <a:r>
              <a:rPr lang="fr-FR" altLang="en-US" sz="1800"/>
              <a:t>élément e considéré                                         </a:t>
            </a:r>
          </a:p>
        </p:txBody>
      </p:sp>
      <p:graphicFrame>
        <p:nvGraphicFramePr>
          <p:cNvPr id="24583" name="Object 10"/>
          <p:cNvGraphicFramePr>
            <a:graphicFrameLocks noChangeAspect="1"/>
          </p:cNvGraphicFramePr>
          <p:nvPr/>
        </p:nvGraphicFramePr>
        <p:xfrm>
          <a:off x="1236663" y="4619625"/>
          <a:ext cx="660876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0" name="Equation" r:id="rId8" imgW="3314700" imgH="482600" progId="Equation.DSMT4">
                  <p:embed/>
                </p:oleObj>
              </mc:Choice>
              <mc:Fallback>
                <p:oleObj name="Equation" r:id="rId8" imgW="3314700" imgH="482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6663" y="4619625"/>
                        <a:ext cx="6608762" cy="965200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4" name="Text Box 12"/>
          <p:cNvSpPr txBox="1">
            <a:spLocks noChangeArrowheads="1"/>
          </p:cNvSpPr>
          <p:nvPr/>
        </p:nvSpPr>
        <p:spPr bwMode="auto">
          <a:xfrm>
            <a:off x="461963" y="2598738"/>
            <a:ext cx="73199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On approxime le potentiel dans chaque élément e par son interpolée :</a:t>
            </a:r>
          </a:p>
        </p:txBody>
      </p:sp>
      <p:sp>
        <p:nvSpPr>
          <p:cNvPr id="24585" name="Text Box 13"/>
          <p:cNvSpPr txBox="1">
            <a:spLocks noChangeArrowheads="1"/>
          </p:cNvSpPr>
          <p:nvPr/>
        </p:nvSpPr>
        <p:spPr bwMode="auto">
          <a:xfrm>
            <a:off x="385763" y="5942013"/>
            <a:ext cx="74898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On a autant d</a:t>
            </a:r>
            <a:r>
              <a:rPr lang="fr-FR" altLang="fr-FR" sz="1800"/>
              <a:t>’</a:t>
            </a:r>
            <a:r>
              <a:rPr lang="fr-FR" altLang="ja-JP" sz="1800"/>
              <a:t>équations que de nœuds i de maillage</a:t>
            </a:r>
            <a:endParaRPr lang="fr-FR" altLang="en-US" sz="1800">
              <a:solidFill>
                <a:schemeClr val="accent2"/>
              </a:solidFill>
            </a:endParaRPr>
          </a:p>
        </p:txBody>
      </p:sp>
      <p:graphicFrame>
        <p:nvGraphicFramePr>
          <p:cNvPr id="24586" name="Object 7"/>
          <p:cNvGraphicFramePr>
            <a:graphicFrameLocks noChangeAspect="1"/>
          </p:cNvGraphicFramePr>
          <p:nvPr/>
        </p:nvGraphicFramePr>
        <p:xfrm>
          <a:off x="1806575" y="762000"/>
          <a:ext cx="53308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1" name="Equation" r:id="rId10" imgW="2667000" imgH="381000" progId="Equation.DSMT4">
                  <p:embed/>
                </p:oleObj>
              </mc:Choice>
              <mc:Fallback>
                <p:oleObj name="Equation" r:id="rId10" imgW="2667000" imgH="381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575" y="762000"/>
                        <a:ext cx="5330825" cy="762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7" name="Text Box 13"/>
          <p:cNvSpPr txBox="1">
            <a:spLocks noChangeArrowheads="1"/>
          </p:cNvSpPr>
          <p:nvPr/>
        </p:nvSpPr>
        <p:spPr bwMode="auto">
          <a:xfrm>
            <a:off x="461963" y="212725"/>
            <a:ext cx="7489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On obtient :</a:t>
            </a:r>
            <a:endParaRPr lang="fr-FR" altLang="en-US" sz="180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598726-C355-4C10-830D-1DA7C3D16109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fr-FR" altLang="en-US" sz="1400" b="0" smtClean="0"/>
          </a:p>
        </p:txBody>
      </p:sp>
      <p:sp>
        <p:nvSpPr>
          <p:cNvPr id="26627" name="Text Box 12"/>
          <p:cNvSpPr txBox="1">
            <a:spLocks noChangeArrowheads="1"/>
          </p:cNvSpPr>
          <p:nvPr/>
        </p:nvSpPr>
        <p:spPr bwMode="auto">
          <a:xfrm>
            <a:off x="806450" y="255588"/>
            <a:ext cx="4379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On obtient </a:t>
            </a:r>
            <a:r>
              <a:rPr lang="fr-FR" altLang="en-US" sz="1800"/>
              <a:t>pour tout nœud i du maillage :</a:t>
            </a:r>
            <a:endParaRPr lang="en-US" altLang="en-US" sz="1800"/>
          </a:p>
        </p:txBody>
      </p:sp>
      <p:sp>
        <p:nvSpPr>
          <p:cNvPr id="26628" name="Text Box 15"/>
          <p:cNvSpPr txBox="1">
            <a:spLocks noChangeArrowheads="1"/>
          </p:cNvSpPr>
          <p:nvPr/>
        </p:nvSpPr>
        <p:spPr bwMode="auto">
          <a:xfrm>
            <a:off x="827088" y="5426075"/>
            <a:ext cx="7343775" cy="12001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ym typeface="Symbol" panose="05050102010706020507" pitchFamily="18" charset="2"/>
              </a:rPr>
              <a:t>De manière générale, l</a:t>
            </a:r>
            <a:r>
              <a:rPr lang="fr-FR" altLang="fr-FR" sz="1800">
                <a:sym typeface="Symbol" panose="05050102010706020507" pitchFamily="18" charset="2"/>
              </a:rPr>
              <a:t>’</a:t>
            </a:r>
            <a:r>
              <a:rPr lang="fr-FR" altLang="ja-JP" sz="1800">
                <a:sym typeface="Symbol" panose="05050102010706020507" pitchFamily="18" charset="2"/>
              </a:rPr>
              <a:t>assemblage </a:t>
            </a:r>
            <a:r>
              <a:rPr lang="fr-FR" altLang="ja-JP" sz="1800"/>
              <a:t>des matrices et vecteurs élémentaires</a:t>
            </a:r>
            <a:r>
              <a:rPr lang="fr-FR" altLang="ja-JP" sz="1800">
                <a:sym typeface="Symbol" panose="05050102010706020507" pitchFamily="18" charset="2"/>
              </a:rPr>
              <a:t> donnent les matrices globales et vecteurs globaux.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800">
                <a:sym typeface="Symbol" panose="05050102010706020507" pitchFamily="18" charset="2"/>
              </a:rPr>
              <a:t>Par analogie avec la mécanique des structures, la matrice A est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800">
                <a:sym typeface="Symbol" panose="05050102010706020507" pitchFamily="18" charset="2"/>
              </a:rPr>
              <a:t>Une matrice de raideur et le vecteur B est un vecteur de charge. </a:t>
            </a:r>
            <a:endParaRPr lang="fr-FR" altLang="en-US" sz="1800">
              <a:sym typeface="Symbol" panose="05050102010706020507" pitchFamily="18" charset="2"/>
            </a:endParaRPr>
          </a:p>
        </p:txBody>
      </p:sp>
      <p:sp>
        <p:nvSpPr>
          <p:cNvPr id="26629" name="Text Box 16"/>
          <p:cNvSpPr txBox="1">
            <a:spLocks noChangeArrowheads="1"/>
          </p:cNvSpPr>
          <p:nvPr/>
        </p:nvSpPr>
        <p:spPr bwMode="auto">
          <a:xfrm>
            <a:off x="827088" y="4581525"/>
            <a:ext cx="7416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CC0000"/>
                </a:solidFill>
              </a:rPr>
              <a:t>Dans les matrices élémentaires, seuls les nœuds i et j d</a:t>
            </a:r>
            <a:r>
              <a:rPr lang="fr-FR" altLang="fr-FR" sz="1800">
                <a:solidFill>
                  <a:srgbClr val="CC0000"/>
                </a:solidFill>
              </a:rPr>
              <a:t>’</a:t>
            </a:r>
            <a:r>
              <a:rPr lang="fr-FR" altLang="ja-JP" sz="1800">
                <a:solidFill>
                  <a:srgbClr val="CC0000"/>
                </a:solidFill>
              </a:rPr>
              <a:t>un même élément e sont couplés</a:t>
            </a:r>
            <a:endParaRPr lang="fr-FR" altLang="en-US" sz="1800">
              <a:solidFill>
                <a:srgbClr val="CC0000"/>
              </a:solidFill>
            </a:endParaRPr>
          </a:p>
        </p:txBody>
      </p:sp>
      <p:sp>
        <p:nvSpPr>
          <p:cNvPr id="26630" name="AutoShape 4"/>
          <p:cNvSpPr>
            <a:spLocks/>
          </p:cNvSpPr>
          <p:nvPr/>
        </p:nvSpPr>
        <p:spPr bwMode="auto">
          <a:xfrm rot="-5400000">
            <a:off x="2930525" y="558800"/>
            <a:ext cx="287338" cy="3379788"/>
          </a:xfrm>
          <a:prstGeom prst="leftBrace">
            <a:avLst>
              <a:gd name="adj1" fmla="val 9802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31" name="AutoShape 10"/>
          <p:cNvSpPr>
            <a:spLocks/>
          </p:cNvSpPr>
          <p:nvPr/>
        </p:nvSpPr>
        <p:spPr bwMode="auto">
          <a:xfrm rot="-5400000">
            <a:off x="6852445" y="859631"/>
            <a:ext cx="277812" cy="2689225"/>
          </a:xfrm>
          <a:prstGeom prst="leftBrace">
            <a:avLst>
              <a:gd name="adj1" fmla="val 70315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26632" name="Object 14"/>
          <p:cNvGraphicFramePr>
            <a:graphicFrameLocks noChangeAspect="1"/>
          </p:cNvGraphicFramePr>
          <p:nvPr/>
        </p:nvGraphicFramePr>
        <p:xfrm>
          <a:off x="1173163" y="938213"/>
          <a:ext cx="6989762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7" name="Equation" r:id="rId3" imgW="3683000" imgH="495300" progId="Equation.DSMT4">
                  <p:embed/>
                </p:oleObj>
              </mc:Choice>
              <mc:Fallback>
                <p:oleObj name="Equation" r:id="rId3" imgW="3683000" imgH="4953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3163" y="938213"/>
                        <a:ext cx="6989762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Text Box 17"/>
          <p:cNvSpPr txBox="1">
            <a:spLocks noChangeArrowheads="1"/>
          </p:cNvSpPr>
          <p:nvPr/>
        </p:nvSpPr>
        <p:spPr bwMode="auto">
          <a:xfrm>
            <a:off x="2328863" y="1752600"/>
            <a:ext cx="22431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200"/>
              <a:t>Matrice élémentaire de raideur</a:t>
            </a:r>
          </a:p>
        </p:txBody>
      </p:sp>
      <p:grpSp>
        <p:nvGrpSpPr>
          <p:cNvPr id="26634" name="Groupe 2"/>
          <p:cNvGrpSpPr>
            <a:grpSpLocks/>
          </p:cNvGrpSpPr>
          <p:nvPr/>
        </p:nvGrpSpPr>
        <p:grpSpPr bwMode="auto">
          <a:xfrm>
            <a:off x="2130425" y="2582863"/>
            <a:ext cx="5038725" cy="1820862"/>
            <a:chOff x="2130425" y="2582863"/>
            <a:chExt cx="5038725" cy="1820862"/>
          </a:xfrm>
        </p:grpSpPr>
        <p:graphicFrame>
          <p:nvGraphicFramePr>
            <p:cNvPr id="26635" name="Object 2"/>
            <p:cNvGraphicFramePr>
              <a:graphicFrameLocks noChangeAspect="1"/>
            </p:cNvGraphicFramePr>
            <p:nvPr/>
          </p:nvGraphicFramePr>
          <p:xfrm>
            <a:off x="2130425" y="2582863"/>
            <a:ext cx="5038725" cy="1820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38" name="Equation" r:id="rId5" imgW="2425700" imgH="876300" progId="Equation.DSMT4">
                    <p:embed/>
                  </p:oleObj>
                </mc:Choice>
                <mc:Fallback>
                  <p:oleObj name="Equation" r:id="rId5" imgW="2425700" imgH="8763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0425" y="2582863"/>
                          <a:ext cx="5038725" cy="18208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36" name="ZoneTexte 1"/>
            <p:cNvSpPr txBox="1">
              <a:spLocks noChangeArrowheads="1"/>
            </p:cNvSpPr>
            <p:nvPr/>
          </p:nvSpPr>
          <p:spPr bwMode="auto">
            <a:xfrm>
              <a:off x="5252078" y="3257120"/>
              <a:ext cx="39466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800"/>
                <a:t>=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1FE4F07-97F6-4013-A364-522B20F901F1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fr-FR" altLang="en-US" sz="1400" b="0" smtClean="0"/>
          </a:p>
        </p:txBody>
      </p:sp>
      <p:sp>
        <p:nvSpPr>
          <p:cNvPr id="27651" name="Text Box 2"/>
          <p:cNvSpPr txBox="1">
            <a:spLocks noChangeArrowheads="1"/>
          </p:cNvSpPr>
          <p:nvPr/>
        </p:nvSpPr>
        <p:spPr bwMode="auto">
          <a:xfrm>
            <a:off x="539750" y="749300"/>
            <a:ext cx="8135938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Dans les matrices élémentaires, seuls les nœuds notés </a:t>
            </a:r>
            <a:r>
              <a:rPr lang="fr-FR" altLang="en-US" sz="1800">
                <a:solidFill>
                  <a:srgbClr val="CC0000"/>
                </a:solidFill>
              </a:rPr>
              <a:t>i et j</a:t>
            </a:r>
            <a:r>
              <a:rPr lang="fr-FR" altLang="en-US" sz="1800"/>
              <a:t> (numérotation globale) d</a:t>
            </a:r>
            <a:r>
              <a:rPr lang="ja-JP" altLang="fr-FR" sz="1800"/>
              <a:t>’</a:t>
            </a:r>
            <a:r>
              <a:rPr lang="fr-FR" altLang="ja-JP" sz="1800"/>
              <a:t>un même élément e sont couplés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Ils sont notés (</a:t>
            </a:r>
            <a:r>
              <a:rPr lang="fr-FR" altLang="en-US" sz="1800">
                <a:solidFill>
                  <a:srgbClr val="CC0000"/>
                </a:solidFill>
              </a:rPr>
              <a:t>ie_local, je_local</a:t>
            </a:r>
            <a:r>
              <a:rPr lang="fr-FR" altLang="en-US" sz="1800"/>
              <a:t>) </a:t>
            </a:r>
            <a:r>
              <a:rPr lang="fr-FR" altLang="en-US" sz="1800">
                <a:sym typeface="Symbol" panose="05050102010706020507" pitchFamily="18" charset="2"/>
              </a:rPr>
              <a:t>dans [1, NBN]</a:t>
            </a:r>
            <a:r>
              <a:rPr lang="fr-FR" altLang="en-US" sz="1800" baseline="30000">
                <a:sym typeface="Symbol" panose="05050102010706020507" pitchFamily="18" charset="2"/>
              </a:rPr>
              <a:t>2</a:t>
            </a:r>
            <a:r>
              <a:rPr lang="fr-FR" altLang="en-US" sz="1800">
                <a:sym typeface="Symbol" panose="05050102010706020507" pitchFamily="18" charset="2"/>
              </a:rPr>
              <a:t> dans la numérotation locale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>
                <a:sym typeface="Symbol" panose="05050102010706020507" pitchFamily="18" charset="2"/>
              </a:rPr>
              <a:t>où NBN est le nombre de nœuds de l</a:t>
            </a:r>
            <a:r>
              <a:rPr lang="ja-JP" altLang="fr-FR" sz="1800">
                <a:sym typeface="Symbol" panose="05050102010706020507" pitchFamily="18" charset="2"/>
              </a:rPr>
              <a:t>’</a:t>
            </a:r>
            <a:r>
              <a:rPr lang="fr-FR" altLang="ja-JP" sz="1800">
                <a:sym typeface="Symbol" panose="05050102010706020507" pitchFamily="18" charset="2"/>
              </a:rPr>
              <a:t>élément e.</a:t>
            </a:r>
            <a:endParaRPr lang="fr-FR" altLang="en-US" sz="1800"/>
          </a:p>
        </p:txBody>
      </p:sp>
      <p:pic>
        <p:nvPicPr>
          <p:cNvPr id="2765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114550"/>
            <a:ext cx="6700838" cy="282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7653" name="Object 4"/>
          <p:cNvGraphicFramePr>
            <a:graphicFrameLocks noChangeAspect="1"/>
          </p:cNvGraphicFramePr>
          <p:nvPr/>
        </p:nvGraphicFramePr>
        <p:xfrm>
          <a:off x="4981575" y="4724400"/>
          <a:ext cx="3694113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6" name="Equation" r:id="rId4" imgW="2095500" imgH="762000" progId="Equation.3">
                  <p:embed/>
                </p:oleObj>
              </mc:Choice>
              <mc:Fallback>
                <p:oleObj name="Equation" r:id="rId4" imgW="2095500" imgH="762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1575" y="4724400"/>
                        <a:ext cx="3694113" cy="133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Text Box 5"/>
          <p:cNvSpPr txBox="1">
            <a:spLocks noChangeArrowheads="1"/>
          </p:cNvSpPr>
          <p:nvPr/>
        </p:nvSpPr>
        <p:spPr bwMode="auto">
          <a:xfrm>
            <a:off x="395288" y="4987925"/>
            <a:ext cx="4476750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La matrice élémentaire pour un élément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triangulaire s</a:t>
            </a:r>
            <a:r>
              <a:rPr lang="ja-JP" altLang="fr-FR" sz="1800"/>
              <a:t>’</a:t>
            </a:r>
            <a:r>
              <a:rPr lang="fr-FR" altLang="ja-JP" sz="1800"/>
              <a:t>exprime sous la forme d</a:t>
            </a:r>
            <a:r>
              <a:rPr lang="ja-JP" altLang="fr-FR" sz="1800"/>
              <a:t>’</a:t>
            </a:r>
            <a:r>
              <a:rPr lang="fr-FR" altLang="ja-JP" sz="1800"/>
              <a:t>une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matrice 3x3 dans l</a:t>
            </a:r>
            <a:r>
              <a:rPr lang="ja-JP" altLang="fr-FR" sz="1800"/>
              <a:t>’</a:t>
            </a:r>
            <a:r>
              <a:rPr lang="fr-FR" altLang="ja-JP" sz="1800"/>
              <a:t>élément de référence</a:t>
            </a:r>
            <a:endParaRPr lang="fr-FR" altLang="en-US" sz="1800"/>
          </a:p>
        </p:txBody>
      </p:sp>
      <p:sp>
        <p:nvSpPr>
          <p:cNvPr id="27655" name="Rectangle 5"/>
          <p:cNvSpPr txBox="1">
            <a:spLocks noChangeArrowheads="1"/>
          </p:cNvSpPr>
          <p:nvPr/>
        </p:nvSpPr>
        <p:spPr bwMode="auto">
          <a:xfrm>
            <a:off x="457200" y="92075"/>
            <a:ext cx="8229600" cy="41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solidFill>
                  <a:schemeClr val="accent2"/>
                </a:solidFill>
              </a:rPr>
              <a:t>Assemblage des matrices élémentaires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DC616E-F5D1-4897-8132-2B58FD17A2F4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fr-FR" altLang="en-US" sz="1400" b="0" smtClean="0"/>
          </a:p>
        </p:txBody>
      </p:sp>
      <p:sp>
        <p:nvSpPr>
          <p:cNvPr id="28675" name="Text Box 2"/>
          <p:cNvSpPr txBox="1">
            <a:spLocks noChangeArrowheads="1"/>
          </p:cNvSpPr>
          <p:nvPr/>
        </p:nvSpPr>
        <p:spPr bwMode="auto">
          <a:xfrm>
            <a:off x="539750" y="657225"/>
            <a:ext cx="4883150" cy="42116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NOEUDS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1	0.0	0.0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2	1.0	0.0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3	2.0	0.0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4	0.0	1.0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5	1.0	1.0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6	2.0	1.0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ELEMENTS_SURFACIQUES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2	3	1	1	2	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2	3	1	5	4	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2	3	1	2	3	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2	3	1	6	5	3</a:t>
            </a:r>
          </a:p>
        </p:txBody>
      </p:sp>
      <p:sp>
        <p:nvSpPr>
          <p:cNvPr id="28676" name="Text Box 3"/>
          <p:cNvSpPr txBox="1">
            <a:spLocks noChangeArrowheads="1"/>
          </p:cNvSpPr>
          <p:nvPr/>
        </p:nvSpPr>
        <p:spPr bwMode="auto">
          <a:xfrm>
            <a:off x="2555875" y="614363"/>
            <a:ext cx="158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exemple1.pro</a:t>
            </a:r>
          </a:p>
        </p:txBody>
      </p:sp>
      <p:sp>
        <p:nvSpPr>
          <p:cNvPr id="28677" name="Rectangle 4"/>
          <p:cNvSpPr>
            <a:spLocks noChangeArrowheads="1"/>
          </p:cNvSpPr>
          <p:nvPr/>
        </p:nvSpPr>
        <p:spPr bwMode="auto">
          <a:xfrm>
            <a:off x="3132138" y="3716338"/>
            <a:ext cx="2411412" cy="1152525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678" name="Text Box 5"/>
          <p:cNvSpPr txBox="1">
            <a:spLocks noChangeArrowheads="1"/>
          </p:cNvSpPr>
          <p:nvPr/>
        </p:nvSpPr>
        <p:spPr bwMode="auto">
          <a:xfrm>
            <a:off x="6011863" y="4076700"/>
            <a:ext cx="2343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Table de connectivité</a:t>
            </a:r>
          </a:p>
        </p:txBody>
      </p:sp>
      <p:sp>
        <p:nvSpPr>
          <p:cNvPr id="28679" name="Text Box 6"/>
          <p:cNvSpPr txBox="1">
            <a:spLocks noChangeArrowheads="1"/>
          </p:cNvSpPr>
          <p:nvPr/>
        </p:nvSpPr>
        <p:spPr bwMode="auto">
          <a:xfrm>
            <a:off x="323850" y="4797425"/>
            <a:ext cx="628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TYP</a:t>
            </a:r>
          </a:p>
        </p:txBody>
      </p:sp>
      <p:sp>
        <p:nvSpPr>
          <p:cNvPr id="28680" name="Text Box 7"/>
          <p:cNvSpPr txBox="1">
            <a:spLocks noChangeArrowheads="1"/>
          </p:cNvSpPr>
          <p:nvPr/>
        </p:nvSpPr>
        <p:spPr bwMode="auto">
          <a:xfrm>
            <a:off x="1258888" y="4797425"/>
            <a:ext cx="66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NBN</a:t>
            </a:r>
          </a:p>
        </p:txBody>
      </p:sp>
      <p:sp>
        <p:nvSpPr>
          <p:cNvPr id="28681" name="Text Box 8"/>
          <p:cNvSpPr txBox="1">
            <a:spLocks noChangeArrowheads="1"/>
          </p:cNvSpPr>
          <p:nvPr/>
        </p:nvSpPr>
        <p:spPr bwMode="auto">
          <a:xfrm>
            <a:off x="179388" y="5595938"/>
            <a:ext cx="29337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NBN    = Nb de nœuds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NREG = Numéro de région</a:t>
            </a:r>
          </a:p>
        </p:txBody>
      </p:sp>
      <p:sp>
        <p:nvSpPr>
          <p:cNvPr id="28682" name="Text Box 9"/>
          <p:cNvSpPr txBox="1">
            <a:spLocks noChangeArrowheads="1"/>
          </p:cNvSpPr>
          <p:nvPr/>
        </p:nvSpPr>
        <p:spPr bwMode="auto">
          <a:xfrm>
            <a:off x="2195513" y="4797425"/>
            <a:ext cx="692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NRG</a:t>
            </a:r>
          </a:p>
        </p:txBody>
      </p:sp>
      <p:sp>
        <p:nvSpPr>
          <p:cNvPr id="28683" name="Text Box 10"/>
          <p:cNvSpPr txBox="1">
            <a:spLocks noChangeArrowheads="1"/>
          </p:cNvSpPr>
          <p:nvPr/>
        </p:nvSpPr>
        <p:spPr bwMode="auto">
          <a:xfrm>
            <a:off x="4067175" y="4797425"/>
            <a:ext cx="488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ind</a:t>
            </a:r>
          </a:p>
        </p:txBody>
      </p:sp>
      <p:grpSp>
        <p:nvGrpSpPr>
          <p:cNvPr id="28684" name="Group 11"/>
          <p:cNvGrpSpPr>
            <a:grpSpLocks/>
          </p:cNvGrpSpPr>
          <p:nvPr/>
        </p:nvGrpSpPr>
        <p:grpSpPr bwMode="auto">
          <a:xfrm>
            <a:off x="4862513" y="742950"/>
            <a:ext cx="4030662" cy="2686050"/>
            <a:chOff x="3669" y="11801"/>
            <a:chExt cx="5508" cy="3668"/>
          </a:xfrm>
        </p:grpSpPr>
        <p:sp>
          <p:nvSpPr>
            <p:cNvPr id="28722" name="AutoShape 12"/>
            <p:cNvSpPr>
              <a:spLocks noChangeArrowheads="1"/>
            </p:cNvSpPr>
            <p:nvPr/>
          </p:nvSpPr>
          <p:spPr bwMode="auto">
            <a:xfrm>
              <a:off x="3870" y="12242"/>
              <a:ext cx="2462" cy="2698"/>
            </a:xfrm>
            <a:prstGeom prst="rtTriangl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23" name="AutoShape 13"/>
            <p:cNvSpPr>
              <a:spLocks noChangeArrowheads="1"/>
            </p:cNvSpPr>
            <p:nvPr/>
          </p:nvSpPr>
          <p:spPr bwMode="auto">
            <a:xfrm>
              <a:off x="6346" y="12223"/>
              <a:ext cx="2462" cy="2736"/>
            </a:xfrm>
            <a:prstGeom prst="rtTriangl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24" name="AutoShape 14"/>
            <p:cNvSpPr>
              <a:spLocks noChangeArrowheads="1"/>
            </p:cNvSpPr>
            <p:nvPr/>
          </p:nvSpPr>
          <p:spPr bwMode="auto">
            <a:xfrm flipH="1" flipV="1">
              <a:off x="3885" y="12245"/>
              <a:ext cx="2462" cy="2736"/>
            </a:xfrm>
            <a:prstGeom prst="rtTriangl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25" name="AutoShape 15"/>
            <p:cNvSpPr>
              <a:spLocks noChangeArrowheads="1"/>
            </p:cNvSpPr>
            <p:nvPr/>
          </p:nvSpPr>
          <p:spPr bwMode="auto">
            <a:xfrm flipH="1" flipV="1">
              <a:off x="6361" y="12235"/>
              <a:ext cx="2462" cy="2736"/>
            </a:xfrm>
            <a:prstGeom prst="rtTriangl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26" name="Text Box 16"/>
            <p:cNvSpPr txBox="1">
              <a:spLocks noChangeArrowheads="1"/>
            </p:cNvSpPr>
            <p:nvPr/>
          </p:nvSpPr>
          <p:spPr bwMode="auto">
            <a:xfrm>
              <a:off x="4269" y="13590"/>
              <a:ext cx="424" cy="5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/>
                <a:t>1</a:t>
              </a:r>
              <a:endParaRPr lang="fr-FR" altLang="en-US" sz="1800"/>
            </a:p>
          </p:txBody>
        </p:sp>
        <p:sp>
          <p:nvSpPr>
            <p:cNvPr id="28727" name="Oval 17"/>
            <p:cNvSpPr>
              <a:spLocks noChangeArrowheads="1"/>
            </p:cNvSpPr>
            <p:nvPr/>
          </p:nvSpPr>
          <p:spPr bwMode="auto">
            <a:xfrm>
              <a:off x="4281" y="13616"/>
              <a:ext cx="425" cy="437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28" name="Text Box 18"/>
            <p:cNvSpPr txBox="1">
              <a:spLocks noChangeArrowheads="1"/>
            </p:cNvSpPr>
            <p:nvPr/>
          </p:nvSpPr>
          <p:spPr bwMode="auto">
            <a:xfrm>
              <a:off x="5254" y="12737"/>
              <a:ext cx="424" cy="5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/>
                <a:t>2</a:t>
              </a:r>
              <a:endParaRPr lang="fr-FR" altLang="en-US" sz="1800"/>
            </a:p>
          </p:txBody>
        </p:sp>
        <p:sp>
          <p:nvSpPr>
            <p:cNvPr id="28729" name="Oval 19"/>
            <p:cNvSpPr>
              <a:spLocks noChangeArrowheads="1"/>
            </p:cNvSpPr>
            <p:nvPr/>
          </p:nvSpPr>
          <p:spPr bwMode="auto">
            <a:xfrm>
              <a:off x="5266" y="12763"/>
              <a:ext cx="425" cy="437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30" name="Text Box 20"/>
            <p:cNvSpPr txBox="1">
              <a:spLocks noChangeArrowheads="1"/>
            </p:cNvSpPr>
            <p:nvPr/>
          </p:nvSpPr>
          <p:spPr bwMode="auto">
            <a:xfrm>
              <a:off x="6862" y="13740"/>
              <a:ext cx="424" cy="5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/>
                <a:t>3</a:t>
              </a:r>
              <a:endParaRPr lang="fr-FR" altLang="en-US" sz="1800"/>
            </a:p>
          </p:txBody>
        </p:sp>
        <p:sp>
          <p:nvSpPr>
            <p:cNvPr id="28731" name="Oval 21"/>
            <p:cNvSpPr>
              <a:spLocks noChangeArrowheads="1"/>
            </p:cNvSpPr>
            <p:nvPr/>
          </p:nvSpPr>
          <p:spPr bwMode="auto">
            <a:xfrm>
              <a:off x="6874" y="13766"/>
              <a:ext cx="425" cy="437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32" name="Text Box 22"/>
            <p:cNvSpPr txBox="1">
              <a:spLocks noChangeArrowheads="1"/>
            </p:cNvSpPr>
            <p:nvPr/>
          </p:nvSpPr>
          <p:spPr bwMode="auto">
            <a:xfrm>
              <a:off x="7878" y="12622"/>
              <a:ext cx="424" cy="5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/>
                <a:t>4</a:t>
              </a:r>
              <a:endParaRPr lang="fr-FR" altLang="en-US" sz="1800"/>
            </a:p>
          </p:txBody>
        </p:sp>
        <p:sp>
          <p:nvSpPr>
            <p:cNvPr id="28733" name="Oval 23"/>
            <p:cNvSpPr>
              <a:spLocks noChangeArrowheads="1"/>
            </p:cNvSpPr>
            <p:nvPr/>
          </p:nvSpPr>
          <p:spPr bwMode="auto">
            <a:xfrm>
              <a:off x="7890" y="12648"/>
              <a:ext cx="425" cy="437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34" name="Text Box 24"/>
            <p:cNvSpPr txBox="1">
              <a:spLocks noChangeArrowheads="1"/>
            </p:cNvSpPr>
            <p:nvPr/>
          </p:nvSpPr>
          <p:spPr bwMode="auto">
            <a:xfrm>
              <a:off x="3857" y="14607"/>
              <a:ext cx="540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/>
                <a:t>I</a:t>
              </a:r>
              <a:endParaRPr lang="fr-FR" altLang="en-US" sz="1800"/>
            </a:p>
          </p:txBody>
        </p:sp>
        <p:sp>
          <p:nvSpPr>
            <p:cNvPr id="28735" name="Text Box 25"/>
            <p:cNvSpPr txBox="1">
              <a:spLocks noChangeArrowheads="1"/>
            </p:cNvSpPr>
            <p:nvPr/>
          </p:nvSpPr>
          <p:spPr bwMode="auto">
            <a:xfrm>
              <a:off x="5670" y="14588"/>
              <a:ext cx="540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/>
                <a:t>II</a:t>
              </a:r>
              <a:endParaRPr lang="fr-FR" altLang="en-US" sz="1800"/>
            </a:p>
          </p:txBody>
        </p:sp>
        <p:sp>
          <p:nvSpPr>
            <p:cNvPr id="28736" name="Text Box 26"/>
            <p:cNvSpPr txBox="1">
              <a:spLocks noChangeArrowheads="1"/>
            </p:cNvSpPr>
            <p:nvPr/>
          </p:nvSpPr>
          <p:spPr bwMode="auto">
            <a:xfrm>
              <a:off x="3788" y="12527"/>
              <a:ext cx="540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000" b="1"/>
                <a:t>III</a:t>
              </a:r>
              <a:endParaRPr lang="fr-FR" altLang="en-US" sz="1800"/>
            </a:p>
          </p:txBody>
        </p:sp>
        <p:sp>
          <p:nvSpPr>
            <p:cNvPr id="28737" name="Text Box 27"/>
            <p:cNvSpPr txBox="1">
              <a:spLocks noChangeArrowheads="1"/>
            </p:cNvSpPr>
            <p:nvPr/>
          </p:nvSpPr>
          <p:spPr bwMode="auto">
            <a:xfrm>
              <a:off x="6334" y="14629"/>
              <a:ext cx="540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/>
                <a:t>I</a:t>
              </a:r>
              <a:endParaRPr lang="fr-FR" altLang="en-US" sz="1800"/>
            </a:p>
          </p:txBody>
        </p:sp>
        <p:sp>
          <p:nvSpPr>
            <p:cNvPr id="28738" name="Text Box 28"/>
            <p:cNvSpPr txBox="1">
              <a:spLocks noChangeArrowheads="1"/>
            </p:cNvSpPr>
            <p:nvPr/>
          </p:nvSpPr>
          <p:spPr bwMode="auto">
            <a:xfrm>
              <a:off x="8147" y="14610"/>
              <a:ext cx="540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/>
                <a:t>II</a:t>
              </a:r>
              <a:endParaRPr lang="fr-FR" altLang="en-US" sz="1800"/>
            </a:p>
          </p:txBody>
        </p:sp>
        <p:sp>
          <p:nvSpPr>
            <p:cNvPr id="28739" name="Text Box 29"/>
            <p:cNvSpPr txBox="1">
              <a:spLocks noChangeArrowheads="1"/>
            </p:cNvSpPr>
            <p:nvPr/>
          </p:nvSpPr>
          <p:spPr bwMode="auto">
            <a:xfrm>
              <a:off x="6265" y="12549"/>
              <a:ext cx="540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000" b="1"/>
                <a:t>III</a:t>
              </a:r>
              <a:endParaRPr lang="fr-FR" altLang="en-US" sz="1800"/>
            </a:p>
          </p:txBody>
        </p:sp>
        <p:sp>
          <p:nvSpPr>
            <p:cNvPr id="28740" name="Text Box 30"/>
            <p:cNvSpPr txBox="1">
              <a:spLocks noChangeArrowheads="1"/>
            </p:cNvSpPr>
            <p:nvPr/>
          </p:nvSpPr>
          <p:spPr bwMode="auto">
            <a:xfrm>
              <a:off x="5872" y="12288"/>
              <a:ext cx="540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/>
                <a:t>I</a:t>
              </a:r>
              <a:endParaRPr lang="fr-FR" altLang="en-US" sz="1800"/>
            </a:p>
          </p:txBody>
        </p:sp>
        <p:sp>
          <p:nvSpPr>
            <p:cNvPr id="28741" name="Text Box 31"/>
            <p:cNvSpPr txBox="1">
              <a:spLocks noChangeArrowheads="1"/>
            </p:cNvSpPr>
            <p:nvPr/>
          </p:nvSpPr>
          <p:spPr bwMode="auto">
            <a:xfrm>
              <a:off x="4124" y="12281"/>
              <a:ext cx="540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/>
                <a:t>II</a:t>
              </a:r>
              <a:endParaRPr lang="fr-FR" altLang="en-US" sz="1800"/>
            </a:p>
          </p:txBody>
        </p:sp>
        <p:sp>
          <p:nvSpPr>
            <p:cNvPr id="28742" name="Text Box 32"/>
            <p:cNvSpPr txBox="1">
              <a:spLocks noChangeArrowheads="1"/>
            </p:cNvSpPr>
            <p:nvPr/>
          </p:nvSpPr>
          <p:spPr bwMode="auto">
            <a:xfrm>
              <a:off x="5854" y="14206"/>
              <a:ext cx="540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000" b="1"/>
                <a:t>III</a:t>
              </a:r>
              <a:endParaRPr lang="fr-FR" altLang="en-US" sz="1800"/>
            </a:p>
          </p:txBody>
        </p:sp>
        <p:sp>
          <p:nvSpPr>
            <p:cNvPr id="28743" name="Text Box 33"/>
            <p:cNvSpPr txBox="1">
              <a:spLocks noChangeArrowheads="1"/>
            </p:cNvSpPr>
            <p:nvPr/>
          </p:nvSpPr>
          <p:spPr bwMode="auto">
            <a:xfrm>
              <a:off x="8426" y="12283"/>
              <a:ext cx="540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/>
                <a:t>I</a:t>
              </a:r>
              <a:endParaRPr lang="fr-FR" altLang="en-US" sz="1800"/>
            </a:p>
          </p:txBody>
        </p:sp>
        <p:sp>
          <p:nvSpPr>
            <p:cNvPr id="28744" name="Text Box 34"/>
            <p:cNvSpPr txBox="1">
              <a:spLocks noChangeArrowheads="1"/>
            </p:cNvSpPr>
            <p:nvPr/>
          </p:nvSpPr>
          <p:spPr bwMode="auto">
            <a:xfrm>
              <a:off x="6627" y="12276"/>
              <a:ext cx="540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/>
                <a:t>II</a:t>
              </a:r>
              <a:endParaRPr lang="fr-FR" altLang="en-US" sz="1800"/>
            </a:p>
          </p:txBody>
        </p:sp>
        <p:sp>
          <p:nvSpPr>
            <p:cNvPr id="28745" name="Text Box 35"/>
            <p:cNvSpPr txBox="1">
              <a:spLocks noChangeArrowheads="1"/>
            </p:cNvSpPr>
            <p:nvPr/>
          </p:nvSpPr>
          <p:spPr bwMode="auto">
            <a:xfrm>
              <a:off x="8357" y="14201"/>
              <a:ext cx="540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000" b="1"/>
                <a:t>III</a:t>
              </a:r>
              <a:endParaRPr lang="fr-FR" altLang="en-US" sz="1800"/>
            </a:p>
          </p:txBody>
        </p:sp>
        <p:sp>
          <p:nvSpPr>
            <p:cNvPr id="28746" name="Text Box 36"/>
            <p:cNvSpPr txBox="1">
              <a:spLocks noChangeArrowheads="1"/>
            </p:cNvSpPr>
            <p:nvPr/>
          </p:nvSpPr>
          <p:spPr bwMode="auto">
            <a:xfrm>
              <a:off x="3678" y="14955"/>
              <a:ext cx="553" cy="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 i="1"/>
                <a:t>1</a:t>
              </a:r>
              <a:endParaRPr lang="fr-FR" altLang="en-US" sz="1800"/>
            </a:p>
          </p:txBody>
        </p:sp>
        <p:sp>
          <p:nvSpPr>
            <p:cNvPr id="28747" name="Text Box 37"/>
            <p:cNvSpPr txBox="1">
              <a:spLocks noChangeArrowheads="1"/>
            </p:cNvSpPr>
            <p:nvPr/>
          </p:nvSpPr>
          <p:spPr bwMode="auto">
            <a:xfrm>
              <a:off x="6155" y="11810"/>
              <a:ext cx="553" cy="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 i="1"/>
                <a:t>5</a:t>
              </a:r>
              <a:endParaRPr lang="fr-FR" altLang="en-US" sz="1800"/>
            </a:p>
          </p:txBody>
        </p:sp>
        <p:sp>
          <p:nvSpPr>
            <p:cNvPr id="28748" name="Text Box 38"/>
            <p:cNvSpPr txBox="1">
              <a:spLocks noChangeArrowheads="1"/>
            </p:cNvSpPr>
            <p:nvPr/>
          </p:nvSpPr>
          <p:spPr bwMode="auto">
            <a:xfrm>
              <a:off x="3669" y="11801"/>
              <a:ext cx="553" cy="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 i="1"/>
                <a:t>4</a:t>
              </a:r>
              <a:endParaRPr lang="fr-FR" altLang="en-US" sz="1800"/>
            </a:p>
          </p:txBody>
        </p:sp>
        <p:sp>
          <p:nvSpPr>
            <p:cNvPr id="28749" name="Text Box 39"/>
            <p:cNvSpPr txBox="1">
              <a:spLocks noChangeArrowheads="1"/>
            </p:cNvSpPr>
            <p:nvPr/>
          </p:nvSpPr>
          <p:spPr bwMode="auto">
            <a:xfrm>
              <a:off x="8615" y="14968"/>
              <a:ext cx="553" cy="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 i="1"/>
                <a:t>3</a:t>
              </a:r>
              <a:endParaRPr lang="fr-FR" altLang="en-US" sz="1800"/>
            </a:p>
          </p:txBody>
        </p:sp>
        <p:sp>
          <p:nvSpPr>
            <p:cNvPr id="28750" name="Text Box 40"/>
            <p:cNvSpPr txBox="1">
              <a:spLocks noChangeArrowheads="1"/>
            </p:cNvSpPr>
            <p:nvPr/>
          </p:nvSpPr>
          <p:spPr bwMode="auto">
            <a:xfrm>
              <a:off x="6118" y="14963"/>
              <a:ext cx="553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 i="1"/>
                <a:t>2</a:t>
              </a:r>
              <a:endParaRPr lang="fr-FR" altLang="en-US" sz="1800"/>
            </a:p>
          </p:txBody>
        </p:sp>
        <p:sp>
          <p:nvSpPr>
            <p:cNvPr id="28751" name="Text Box 41"/>
            <p:cNvSpPr txBox="1">
              <a:spLocks noChangeArrowheads="1"/>
            </p:cNvSpPr>
            <p:nvPr/>
          </p:nvSpPr>
          <p:spPr bwMode="auto">
            <a:xfrm>
              <a:off x="8624" y="11854"/>
              <a:ext cx="553" cy="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 i="1"/>
                <a:t>6</a:t>
              </a:r>
              <a:endParaRPr lang="fr-FR" altLang="en-US" sz="1800"/>
            </a:p>
          </p:txBody>
        </p:sp>
        <p:sp>
          <p:nvSpPr>
            <p:cNvPr id="28752" name="Oval 42"/>
            <p:cNvSpPr>
              <a:spLocks noChangeArrowheads="1"/>
            </p:cNvSpPr>
            <p:nvPr/>
          </p:nvSpPr>
          <p:spPr bwMode="auto">
            <a:xfrm>
              <a:off x="3819" y="14889"/>
              <a:ext cx="141" cy="141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53" name="Oval 43"/>
            <p:cNvSpPr>
              <a:spLocks noChangeArrowheads="1"/>
            </p:cNvSpPr>
            <p:nvPr/>
          </p:nvSpPr>
          <p:spPr bwMode="auto">
            <a:xfrm>
              <a:off x="3789" y="12149"/>
              <a:ext cx="141" cy="141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54" name="Oval 44"/>
            <p:cNvSpPr>
              <a:spLocks noChangeArrowheads="1"/>
            </p:cNvSpPr>
            <p:nvPr/>
          </p:nvSpPr>
          <p:spPr bwMode="auto">
            <a:xfrm>
              <a:off x="6266" y="14906"/>
              <a:ext cx="141" cy="141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55" name="Oval 45"/>
            <p:cNvSpPr>
              <a:spLocks noChangeArrowheads="1"/>
            </p:cNvSpPr>
            <p:nvPr/>
          </p:nvSpPr>
          <p:spPr bwMode="auto">
            <a:xfrm>
              <a:off x="6287" y="12192"/>
              <a:ext cx="141" cy="141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56" name="Oval 46"/>
            <p:cNvSpPr>
              <a:spLocks noChangeArrowheads="1"/>
            </p:cNvSpPr>
            <p:nvPr/>
          </p:nvSpPr>
          <p:spPr bwMode="auto">
            <a:xfrm>
              <a:off x="8765" y="14846"/>
              <a:ext cx="141" cy="141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57" name="Oval 47"/>
            <p:cNvSpPr>
              <a:spLocks noChangeArrowheads="1"/>
            </p:cNvSpPr>
            <p:nvPr/>
          </p:nvSpPr>
          <p:spPr bwMode="auto">
            <a:xfrm>
              <a:off x="8760" y="12183"/>
              <a:ext cx="141" cy="141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aphicFrame>
        <p:nvGraphicFramePr>
          <p:cNvPr id="57392" name="Group 48"/>
          <p:cNvGraphicFramePr>
            <a:graphicFrameLocks noGrp="1"/>
          </p:cNvGraphicFramePr>
          <p:nvPr/>
        </p:nvGraphicFramePr>
        <p:xfrm>
          <a:off x="3203575" y="5229225"/>
          <a:ext cx="5849938" cy="1466850"/>
        </p:xfrm>
        <a:graphic>
          <a:graphicData uri="http://schemas.openxmlformats.org/drawingml/2006/table">
            <a:tbl>
              <a:tblPr/>
              <a:tblGrid>
                <a:gridCol w="1169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9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9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9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99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Elément 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Elément 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Elément 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Elément 4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Noeud I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6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Noeud II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4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Noeud III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4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8717" name="Group 80"/>
          <p:cNvGrpSpPr>
            <a:grpSpLocks/>
          </p:cNvGrpSpPr>
          <p:nvPr/>
        </p:nvGrpSpPr>
        <p:grpSpPr bwMode="auto">
          <a:xfrm>
            <a:off x="3419475" y="4005263"/>
            <a:ext cx="2016125" cy="2808287"/>
            <a:chOff x="2154" y="2387"/>
            <a:chExt cx="1270" cy="1769"/>
          </a:xfrm>
        </p:grpSpPr>
        <p:sp>
          <p:nvSpPr>
            <p:cNvPr id="28720" name="Line 81"/>
            <p:cNvSpPr>
              <a:spLocks noChangeShapeType="1"/>
            </p:cNvSpPr>
            <p:nvPr/>
          </p:nvSpPr>
          <p:spPr bwMode="auto">
            <a:xfrm>
              <a:off x="2154" y="2387"/>
              <a:ext cx="127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721" name="Line 82"/>
            <p:cNvSpPr>
              <a:spLocks noChangeShapeType="1"/>
            </p:cNvSpPr>
            <p:nvPr/>
          </p:nvSpPr>
          <p:spPr bwMode="auto">
            <a:xfrm>
              <a:off x="2971" y="2387"/>
              <a:ext cx="0" cy="1769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8718" name="Text Box 83"/>
          <p:cNvSpPr txBox="1">
            <a:spLocks noChangeArrowheads="1"/>
          </p:cNvSpPr>
          <p:nvPr/>
        </p:nvSpPr>
        <p:spPr bwMode="auto">
          <a:xfrm>
            <a:off x="1839913" y="92075"/>
            <a:ext cx="6073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solidFill>
                  <a:schemeClr val="accent2"/>
                </a:solidFill>
              </a:rPr>
              <a:t>Table de coordonnées et de connectivité</a:t>
            </a:r>
          </a:p>
        </p:txBody>
      </p:sp>
      <p:sp>
        <p:nvSpPr>
          <p:cNvPr id="28719" name="Text Box 84"/>
          <p:cNvSpPr txBox="1">
            <a:spLocks noChangeArrowheads="1"/>
          </p:cNvSpPr>
          <p:nvPr/>
        </p:nvSpPr>
        <p:spPr bwMode="auto">
          <a:xfrm>
            <a:off x="2987675" y="1557338"/>
            <a:ext cx="1504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Table des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coordonnées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AFCD09-2610-468F-B4E9-E060BAD377CC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fr-FR" altLang="en-US" sz="1400" b="0" smtClean="0"/>
          </a:p>
        </p:txBody>
      </p:sp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4140200" y="1090613"/>
            <a:ext cx="2008188" cy="10048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58371" name="Object 3"/>
          <p:cNvGraphicFramePr>
            <a:graphicFrameLocks noChangeAspect="1"/>
          </p:cNvGraphicFramePr>
          <p:nvPr/>
        </p:nvGraphicFramePr>
        <p:xfrm>
          <a:off x="557213" y="3832225"/>
          <a:ext cx="4332287" cy="159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7" name="Equation" r:id="rId3" imgW="3759200" imgH="1384300" progId="Equation.DSMT4">
                  <p:embed/>
                </p:oleObj>
              </mc:Choice>
              <mc:Fallback>
                <p:oleObj name="Equation" r:id="rId3" imgW="3759200" imgH="13843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3" y="3832225"/>
                        <a:ext cx="4332287" cy="159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2" name="Object 4"/>
          <p:cNvGraphicFramePr>
            <a:graphicFrameLocks noChangeAspect="1"/>
          </p:cNvGraphicFramePr>
          <p:nvPr/>
        </p:nvGraphicFramePr>
        <p:xfrm>
          <a:off x="5441950" y="3619500"/>
          <a:ext cx="31115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8" name="Equation" r:id="rId5" imgW="3111500" imgH="2044700" progId="Equation.DSMT4">
                  <p:embed/>
                </p:oleObj>
              </mc:Choice>
              <mc:Fallback>
                <p:oleObj name="Equation" r:id="rId5" imgW="3111500" imgH="2044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1950" y="3619500"/>
                        <a:ext cx="31115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92075"/>
            <a:ext cx="8229600" cy="417513"/>
          </a:xfrm>
        </p:spPr>
        <p:txBody>
          <a:bodyPr/>
          <a:lstStyle/>
          <a:p>
            <a:pPr eaLnBrk="1" hangingPunct="1"/>
            <a:r>
              <a:rPr lang="fr-FR" altLang="en-US" sz="2400" b="1" smtClean="0">
                <a:solidFill>
                  <a:schemeClr val="accent2"/>
                </a:solidFill>
              </a:rPr>
              <a:t>Assemblage des matrices élémentaires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79413" y="412750"/>
            <a:ext cx="3621087" cy="1941513"/>
            <a:chOff x="3072" y="551"/>
            <a:chExt cx="2281" cy="1223"/>
          </a:xfrm>
        </p:grpSpPr>
        <p:sp>
          <p:nvSpPr>
            <p:cNvPr id="29786" name="Text Box 7"/>
            <p:cNvSpPr txBox="1">
              <a:spLocks noChangeArrowheads="1"/>
            </p:cNvSpPr>
            <p:nvPr/>
          </p:nvSpPr>
          <p:spPr bwMode="auto">
            <a:xfrm>
              <a:off x="3293" y="811"/>
              <a:ext cx="2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1800">
                  <a:latin typeface="Symbol" panose="05050102010706020507" pitchFamily="18" charset="2"/>
                </a:rPr>
                <a:t>W</a:t>
              </a:r>
            </a:p>
          </p:txBody>
        </p:sp>
        <p:grpSp>
          <p:nvGrpSpPr>
            <p:cNvPr id="29787" name="Group 8"/>
            <p:cNvGrpSpPr>
              <a:grpSpLocks/>
            </p:cNvGrpSpPr>
            <p:nvPr/>
          </p:nvGrpSpPr>
          <p:grpSpPr bwMode="auto">
            <a:xfrm>
              <a:off x="3177" y="742"/>
              <a:ext cx="1987" cy="852"/>
              <a:chOff x="1630" y="1681"/>
              <a:chExt cx="1987" cy="852"/>
            </a:xfrm>
          </p:grpSpPr>
          <p:sp>
            <p:nvSpPr>
              <p:cNvPr id="29811" name="Oval 9"/>
              <p:cNvSpPr>
                <a:spLocks noChangeArrowheads="1"/>
              </p:cNvSpPr>
              <p:nvPr/>
            </p:nvSpPr>
            <p:spPr bwMode="auto">
              <a:xfrm>
                <a:off x="1630" y="1681"/>
                <a:ext cx="45" cy="45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9812" name="Oval 10"/>
              <p:cNvSpPr>
                <a:spLocks noChangeArrowheads="1"/>
              </p:cNvSpPr>
              <p:nvPr/>
            </p:nvSpPr>
            <p:spPr bwMode="auto">
              <a:xfrm>
                <a:off x="1630" y="2482"/>
                <a:ext cx="45" cy="45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9813" name="Oval 11"/>
              <p:cNvSpPr>
                <a:spLocks noChangeArrowheads="1"/>
              </p:cNvSpPr>
              <p:nvPr/>
            </p:nvSpPr>
            <p:spPr bwMode="auto">
              <a:xfrm>
                <a:off x="2619" y="1682"/>
                <a:ext cx="45" cy="45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9814" name="Oval 12"/>
              <p:cNvSpPr>
                <a:spLocks noChangeArrowheads="1"/>
              </p:cNvSpPr>
              <p:nvPr/>
            </p:nvSpPr>
            <p:spPr bwMode="auto">
              <a:xfrm>
                <a:off x="2619" y="2483"/>
                <a:ext cx="45" cy="45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9815" name="Oval 13"/>
              <p:cNvSpPr>
                <a:spLocks noChangeArrowheads="1"/>
              </p:cNvSpPr>
              <p:nvPr/>
            </p:nvSpPr>
            <p:spPr bwMode="auto">
              <a:xfrm>
                <a:off x="3572" y="1687"/>
                <a:ext cx="45" cy="45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9816" name="Oval 14"/>
              <p:cNvSpPr>
                <a:spLocks noChangeArrowheads="1"/>
              </p:cNvSpPr>
              <p:nvPr/>
            </p:nvSpPr>
            <p:spPr bwMode="auto">
              <a:xfrm>
                <a:off x="3572" y="2488"/>
                <a:ext cx="45" cy="45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</p:grpSp>
        <p:grpSp>
          <p:nvGrpSpPr>
            <p:cNvPr id="29788" name="Group 16"/>
            <p:cNvGrpSpPr>
              <a:grpSpLocks/>
            </p:cNvGrpSpPr>
            <p:nvPr/>
          </p:nvGrpSpPr>
          <p:grpSpPr bwMode="auto">
            <a:xfrm>
              <a:off x="3212" y="777"/>
              <a:ext cx="1913" cy="798"/>
              <a:chOff x="1665" y="1716"/>
              <a:chExt cx="1913" cy="798"/>
            </a:xfrm>
          </p:grpSpPr>
          <p:sp>
            <p:nvSpPr>
              <p:cNvPr id="29807" name="AutoShape 17"/>
              <p:cNvSpPr>
                <a:spLocks noChangeArrowheads="1"/>
              </p:cNvSpPr>
              <p:nvPr/>
            </p:nvSpPr>
            <p:spPr bwMode="auto">
              <a:xfrm>
                <a:off x="1675" y="1732"/>
                <a:ext cx="969" cy="782"/>
              </a:xfrm>
              <a:prstGeom prst="rtTriangl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/>
                  <a:t>elt1</a:t>
                </a:r>
              </a:p>
            </p:txBody>
          </p:sp>
          <p:sp>
            <p:nvSpPr>
              <p:cNvPr id="29808" name="AutoShape 18"/>
              <p:cNvSpPr>
                <a:spLocks noChangeArrowheads="1"/>
              </p:cNvSpPr>
              <p:nvPr/>
            </p:nvSpPr>
            <p:spPr bwMode="auto">
              <a:xfrm>
                <a:off x="2644" y="1721"/>
                <a:ext cx="919" cy="774"/>
              </a:xfrm>
              <a:prstGeom prst="rtTriangl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9809" name="AutoShape 19"/>
              <p:cNvSpPr>
                <a:spLocks noChangeArrowheads="1"/>
              </p:cNvSpPr>
              <p:nvPr/>
            </p:nvSpPr>
            <p:spPr bwMode="auto">
              <a:xfrm rot="10800000">
                <a:off x="1665" y="1716"/>
                <a:ext cx="964" cy="774"/>
              </a:xfrm>
              <a:prstGeom prst="rtTriangl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9810" name="AutoShape 20"/>
              <p:cNvSpPr>
                <a:spLocks noChangeArrowheads="1"/>
              </p:cNvSpPr>
              <p:nvPr/>
            </p:nvSpPr>
            <p:spPr bwMode="auto">
              <a:xfrm rot="10800000">
                <a:off x="2659" y="1721"/>
                <a:ext cx="919" cy="774"/>
              </a:xfrm>
              <a:prstGeom prst="rtTriangl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</p:grpSp>
        <p:sp>
          <p:nvSpPr>
            <p:cNvPr id="29789" name="Text Box 25"/>
            <p:cNvSpPr txBox="1">
              <a:spLocks noChangeArrowheads="1"/>
            </p:cNvSpPr>
            <p:nvPr/>
          </p:nvSpPr>
          <p:spPr bwMode="auto">
            <a:xfrm>
              <a:off x="3072" y="1538"/>
              <a:ext cx="2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1800">
                  <a:solidFill>
                    <a:srgbClr val="FF6600"/>
                  </a:solidFill>
                  <a:sym typeface="ZapfDingbats" pitchFamily="82" charset="2"/>
                </a:rPr>
                <a:t>1</a:t>
              </a:r>
            </a:p>
          </p:txBody>
        </p:sp>
        <p:sp>
          <p:nvSpPr>
            <p:cNvPr id="29790" name="Text Box 26"/>
            <p:cNvSpPr txBox="1">
              <a:spLocks noChangeArrowheads="1"/>
            </p:cNvSpPr>
            <p:nvPr/>
          </p:nvSpPr>
          <p:spPr bwMode="auto">
            <a:xfrm>
              <a:off x="4061" y="1543"/>
              <a:ext cx="2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1800">
                  <a:solidFill>
                    <a:srgbClr val="FF6600"/>
                  </a:solidFill>
                  <a:sym typeface="ZapfDingbats" pitchFamily="82" charset="2"/>
                </a:rPr>
                <a:t>2</a:t>
              </a:r>
            </a:p>
          </p:txBody>
        </p:sp>
        <p:sp>
          <p:nvSpPr>
            <p:cNvPr id="29791" name="Text Box 27"/>
            <p:cNvSpPr txBox="1">
              <a:spLocks noChangeArrowheads="1"/>
            </p:cNvSpPr>
            <p:nvPr/>
          </p:nvSpPr>
          <p:spPr bwMode="auto">
            <a:xfrm>
              <a:off x="3083" y="551"/>
              <a:ext cx="2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1800">
                  <a:solidFill>
                    <a:srgbClr val="FF6600"/>
                  </a:solidFill>
                  <a:sym typeface="ZapfDingbats" pitchFamily="82" charset="2"/>
                </a:rPr>
                <a:t>4</a:t>
              </a:r>
            </a:p>
          </p:txBody>
        </p:sp>
        <p:sp>
          <p:nvSpPr>
            <p:cNvPr id="29792" name="Text Box 28"/>
            <p:cNvSpPr txBox="1">
              <a:spLocks noChangeArrowheads="1"/>
            </p:cNvSpPr>
            <p:nvPr/>
          </p:nvSpPr>
          <p:spPr bwMode="auto">
            <a:xfrm>
              <a:off x="4071" y="551"/>
              <a:ext cx="2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1800">
                  <a:solidFill>
                    <a:srgbClr val="FF6600"/>
                  </a:solidFill>
                  <a:sym typeface="ZapfDingbats" pitchFamily="82" charset="2"/>
                </a:rPr>
                <a:t>5</a:t>
              </a:r>
            </a:p>
          </p:txBody>
        </p:sp>
        <p:sp>
          <p:nvSpPr>
            <p:cNvPr id="29793" name="Text Box 29"/>
            <p:cNvSpPr txBox="1">
              <a:spLocks noChangeArrowheads="1"/>
            </p:cNvSpPr>
            <p:nvPr/>
          </p:nvSpPr>
          <p:spPr bwMode="auto">
            <a:xfrm>
              <a:off x="5020" y="566"/>
              <a:ext cx="2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1800">
                  <a:solidFill>
                    <a:srgbClr val="FF6600"/>
                  </a:solidFill>
                  <a:sym typeface="ZapfDingbats" pitchFamily="82" charset="2"/>
                </a:rPr>
                <a:t>6</a:t>
              </a:r>
            </a:p>
          </p:txBody>
        </p:sp>
        <p:sp>
          <p:nvSpPr>
            <p:cNvPr id="29794" name="Text Box 30"/>
            <p:cNvSpPr txBox="1">
              <a:spLocks noChangeArrowheads="1"/>
            </p:cNvSpPr>
            <p:nvPr/>
          </p:nvSpPr>
          <p:spPr bwMode="auto">
            <a:xfrm>
              <a:off x="5057" y="1543"/>
              <a:ext cx="2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1800">
                  <a:solidFill>
                    <a:srgbClr val="FF6600"/>
                  </a:solidFill>
                  <a:sym typeface="ZapfDingbats" pitchFamily="82" charset="2"/>
                </a:rPr>
                <a:t>3</a:t>
              </a:r>
            </a:p>
          </p:txBody>
        </p:sp>
        <p:sp>
          <p:nvSpPr>
            <p:cNvPr id="29795" name="Text Box 31"/>
            <p:cNvSpPr txBox="1">
              <a:spLocks noChangeArrowheads="1"/>
            </p:cNvSpPr>
            <p:nvPr/>
          </p:nvSpPr>
          <p:spPr bwMode="auto">
            <a:xfrm>
              <a:off x="3205" y="1358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</a:t>
              </a:r>
            </a:p>
          </p:txBody>
        </p:sp>
        <p:sp>
          <p:nvSpPr>
            <p:cNvPr id="29796" name="Text Box 32"/>
            <p:cNvSpPr txBox="1">
              <a:spLocks noChangeArrowheads="1"/>
            </p:cNvSpPr>
            <p:nvPr/>
          </p:nvSpPr>
          <p:spPr bwMode="auto">
            <a:xfrm>
              <a:off x="3823" y="13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II</a:t>
              </a:r>
            </a:p>
          </p:txBody>
        </p:sp>
        <p:sp>
          <p:nvSpPr>
            <p:cNvPr id="29797" name="Text Box 33"/>
            <p:cNvSpPr txBox="1">
              <a:spLocks noChangeArrowheads="1"/>
            </p:cNvSpPr>
            <p:nvPr/>
          </p:nvSpPr>
          <p:spPr bwMode="auto">
            <a:xfrm>
              <a:off x="3175" y="850"/>
              <a:ext cx="2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III</a:t>
              </a:r>
            </a:p>
          </p:txBody>
        </p:sp>
        <p:sp>
          <p:nvSpPr>
            <p:cNvPr id="29798" name="Text Box 34"/>
            <p:cNvSpPr txBox="1">
              <a:spLocks noChangeArrowheads="1"/>
            </p:cNvSpPr>
            <p:nvPr/>
          </p:nvSpPr>
          <p:spPr bwMode="auto">
            <a:xfrm>
              <a:off x="4168" y="1358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</a:t>
              </a:r>
            </a:p>
          </p:txBody>
        </p:sp>
        <p:sp>
          <p:nvSpPr>
            <p:cNvPr id="29799" name="Text Box 35"/>
            <p:cNvSpPr txBox="1">
              <a:spLocks noChangeArrowheads="1"/>
            </p:cNvSpPr>
            <p:nvPr/>
          </p:nvSpPr>
          <p:spPr bwMode="auto">
            <a:xfrm>
              <a:off x="4786" y="13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II</a:t>
              </a:r>
            </a:p>
          </p:txBody>
        </p:sp>
        <p:sp>
          <p:nvSpPr>
            <p:cNvPr id="29800" name="Text Box 36"/>
            <p:cNvSpPr txBox="1">
              <a:spLocks noChangeArrowheads="1"/>
            </p:cNvSpPr>
            <p:nvPr/>
          </p:nvSpPr>
          <p:spPr bwMode="auto">
            <a:xfrm>
              <a:off x="4138" y="850"/>
              <a:ext cx="2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III</a:t>
              </a:r>
            </a:p>
          </p:txBody>
        </p:sp>
        <p:sp>
          <p:nvSpPr>
            <p:cNvPr id="29801" name="Text Box 37"/>
            <p:cNvSpPr txBox="1">
              <a:spLocks noChangeArrowheads="1"/>
            </p:cNvSpPr>
            <p:nvPr/>
          </p:nvSpPr>
          <p:spPr bwMode="auto">
            <a:xfrm>
              <a:off x="3983" y="748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</a:t>
              </a:r>
            </a:p>
          </p:txBody>
        </p:sp>
        <p:sp>
          <p:nvSpPr>
            <p:cNvPr id="29802" name="Text Box 38"/>
            <p:cNvSpPr txBox="1">
              <a:spLocks noChangeArrowheads="1"/>
            </p:cNvSpPr>
            <p:nvPr/>
          </p:nvSpPr>
          <p:spPr bwMode="auto">
            <a:xfrm>
              <a:off x="3379" y="74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II</a:t>
              </a:r>
            </a:p>
          </p:txBody>
        </p:sp>
        <p:sp>
          <p:nvSpPr>
            <p:cNvPr id="29803" name="Text Box 39"/>
            <p:cNvSpPr txBox="1">
              <a:spLocks noChangeArrowheads="1"/>
            </p:cNvSpPr>
            <p:nvPr/>
          </p:nvSpPr>
          <p:spPr bwMode="auto">
            <a:xfrm>
              <a:off x="3975" y="1253"/>
              <a:ext cx="2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III</a:t>
              </a:r>
            </a:p>
          </p:txBody>
        </p:sp>
        <p:sp>
          <p:nvSpPr>
            <p:cNvPr id="29804" name="Text Box 40"/>
            <p:cNvSpPr txBox="1">
              <a:spLocks noChangeArrowheads="1"/>
            </p:cNvSpPr>
            <p:nvPr/>
          </p:nvSpPr>
          <p:spPr bwMode="auto">
            <a:xfrm>
              <a:off x="4979" y="759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</a:t>
              </a:r>
            </a:p>
          </p:txBody>
        </p:sp>
        <p:sp>
          <p:nvSpPr>
            <p:cNvPr id="29805" name="Text Box 41"/>
            <p:cNvSpPr txBox="1">
              <a:spLocks noChangeArrowheads="1"/>
            </p:cNvSpPr>
            <p:nvPr/>
          </p:nvSpPr>
          <p:spPr bwMode="auto">
            <a:xfrm>
              <a:off x="4357" y="74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II</a:t>
              </a:r>
            </a:p>
          </p:txBody>
        </p:sp>
        <p:sp>
          <p:nvSpPr>
            <p:cNvPr id="29806" name="Text Box 42"/>
            <p:cNvSpPr txBox="1">
              <a:spLocks noChangeArrowheads="1"/>
            </p:cNvSpPr>
            <p:nvPr/>
          </p:nvSpPr>
          <p:spPr bwMode="auto">
            <a:xfrm>
              <a:off x="4939" y="1242"/>
              <a:ext cx="2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III</a:t>
              </a:r>
            </a:p>
          </p:txBody>
        </p:sp>
      </p:grpSp>
      <p:graphicFrame>
        <p:nvGraphicFramePr>
          <p:cNvPr id="58411" name="Group 43"/>
          <p:cNvGraphicFramePr>
            <a:graphicFrameLocks noGrp="1"/>
          </p:cNvGraphicFramePr>
          <p:nvPr/>
        </p:nvGraphicFramePr>
        <p:xfrm>
          <a:off x="4140200" y="668338"/>
          <a:ext cx="4849813" cy="1428750"/>
        </p:xfrm>
        <a:graphic>
          <a:graphicData uri="http://schemas.openxmlformats.org/drawingml/2006/table">
            <a:tbl>
              <a:tblPr/>
              <a:tblGrid>
                <a:gridCol w="1074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39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El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rebuchet MS" charset="0"/>
                          <a:ea typeface="ＭＳ Ｐゴシック" charset="-128"/>
                        </a:rPr>
                        <a:t>é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ment 1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El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rebuchet MS" charset="0"/>
                          <a:ea typeface="ＭＳ Ｐゴシック" charset="-128"/>
                        </a:rPr>
                        <a:t>é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ment 2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El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rebuchet MS" charset="0"/>
                          <a:ea typeface="ＭＳ Ｐゴシック" charset="-128"/>
                        </a:rPr>
                        <a:t>é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ment 3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El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rebuchet MS" charset="0"/>
                          <a:ea typeface="ＭＳ Ｐゴシック" charset="-128"/>
                        </a:rPr>
                        <a:t>é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ment 4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Noeud I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Noeud II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Noeud III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8443" name="Text Box 75"/>
          <p:cNvSpPr txBox="1">
            <a:spLocks noChangeArrowheads="1"/>
          </p:cNvSpPr>
          <p:nvPr/>
        </p:nvSpPr>
        <p:spPr bwMode="auto">
          <a:xfrm>
            <a:off x="5157788" y="3198813"/>
            <a:ext cx="3260725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latin typeface="Trebuchet MS" panose="020B0603020202020204" pitchFamily="34" charset="0"/>
              </a:rPr>
              <a:t>Matrice globale : 6x6</a:t>
            </a:r>
          </a:p>
        </p:txBody>
      </p:sp>
      <p:grpSp>
        <p:nvGrpSpPr>
          <p:cNvPr id="6" name="Group 76"/>
          <p:cNvGrpSpPr>
            <a:grpSpLocks/>
          </p:cNvGrpSpPr>
          <p:nvPr/>
        </p:nvGrpSpPr>
        <p:grpSpPr bwMode="auto">
          <a:xfrm>
            <a:off x="1828800" y="3619500"/>
            <a:ext cx="3935413" cy="777875"/>
            <a:chOff x="884" y="2272"/>
            <a:chExt cx="2479" cy="490"/>
          </a:xfrm>
        </p:grpSpPr>
        <p:sp>
          <p:nvSpPr>
            <p:cNvPr id="29783" name="Oval 77"/>
            <p:cNvSpPr>
              <a:spLocks noChangeArrowheads="1"/>
            </p:cNvSpPr>
            <p:nvPr/>
          </p:nvSpPr>
          <p:spPr bwMode="auto">
            <a:xfrm>
              <a:off x="884" y="2443"/>
              <a:ext cx="421" cy="319"/>
            </a:xfrm>
            <a:prstGeom prst="ellips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84" name="Oval 78"/>
            <p:cNvSpPr>
              <a:spLocks noChangeArrowheads="1"/>
            </p:cNvSpPr>
            <p:nvPr/>
          </p:nvSpPr>
          <p:spPr bwMode="auto">
            <a:xfrm>
              <a:off x="3152" y="2272"/>
              <a:ext cx="211" cy="216"/>
            </a:xfrm>
            <a:prstGeom prst="ellips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85" name="Line 79"/>
            <p:cNvSpPr>
              <a:spLocks noChangeShapeType="1"/>
            </p:cNvSpPr>
            <p:nvPr/>
          </p:nvSpPr>
          <p:spPr bwMode="auto">
            <a:xfrm flipV="1">
              <a:off x="1306" y="2371"/>
              <a:ext cx="1846" cy="236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80"/>
          <p:cNvGrpSpPr>
            <a:grpSpLocks/>
          </p:cNvGrpSpPr>
          <p:nvPr/>
        </p:nvGrpSpPr>
        <p:grpSpPr bwMode="auto">
          <a:xfrm>
            <a:off x="2678113" y="3619500"/>
            <a:ext cx="3421062" cy="777875"/>
            <a:chOff x="1419" y="2272"/>
            <a:chExt cx="2155" cy="490"/>
          </a:xfrm>
        </p:grpSpPr>
        <p:sp>
          <p:nvSpPr>
            <p:cNvPr id="29780" name="Oval 81"/>
            <p:cNvSpPr>
              <a:spLocks noChangeArrowheads="1"/>
            </p:cNvSpPr>
            <p:nvPr/>
          </p:nvSpPr>
          <p:spPr bwMode="auto">
            <a:xfrm>
              <a:off x="1419" y="2443"/>
              <a:ext cx="509" cy="319"/>
            </a:xfrm>
            <a:prstGeom prst="ellips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81" name="Oval 82"/>
            <p:cNvSpPr>
              <a:spLocks noChangeArrowheads="1"/>
            </p:cNvSpPr>
            <p:nvPr/>
          </p:nvSpPr>
          <p:spPr bwMode="auto">
            <a:xfrm>
              <a:off x="3363" y="2272"/>
              <a:ext cx="211" cy="216"/>
            </a:xfrm>
            <a:prstGeom prst="ellips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82" name="Line 83"/>
            <p:cNvSpPr>
              <a:spLocks noChangeShapeType="1"/>
            </p:cNvSpPr>
            <p:nvPr/>
          </p:nvSpPr>
          <p:spPr bwMode="auto">
            <a:xfrm flipV="1">
              <a:off x="1928" y="2371"/>
              <a:ext cx="1435" cy="228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" name="Group 84"/>
          <p:cNvGrpSpPr>
            <a:grpSpLocks/>
          </p:cNvGrpSpPr>
          <p:nvPr/>
        </p:nvGrpSpPr>
        <p:grpSpPr bwMode="auto">
          <a:xfrm>
            <a:off x="3729038" y="3619500"/>
            <a:ext cx="3074987" cy="784225"/>
            <a:chOff x="2081" y="2272"/>
            <a:chExt cx="1937" cy="494"/>
          </a:xfrm>
        </p:grpSpPr>
        <p:sp>
          <p:nvSpPr>
            <p:cNvPr id="29777" name="Oval 85"/>
            <p:cNvSpPr>
              <a:spLocks noChangeArrowheads="1"/>
            </p:cNvSpPr>
            <p:nvPr/>
          </p:nvSpPr>
          <p:spPr bwMode="auto">
            <a:xfrm>
              <a:off x="2081" y="2447"/>
              <a:ext cx="527" cy="319"/>
            </a:xfrm>
            <a:prstGeom prst="ellips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78" name="Oval 86"/>
            <p:cNvSpPr>
              <a:spLocks noChangeArrowheads="1"/>
            </p:cNvSpPr>
            <p:nvPr/>
          </p:nvSpPr>
          <p:spPr bwMode="auto">
            <a:xfrm>
              <a:off x="3807" y="2272"/>
              <a:ext cx="211" cy="216"/>
            </a:xfrm>
            <a:prstGeom prst="ellips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79" name="Line 87"/>
            <p:cNvSpPr>
              <a:spLocks noChangeShapeType="1"/>
            </p:cNvSpPr>
            <p:nvPr/>
          </p:nvSpPr>
          <p:spPr bwMode="auto">
            <a:xfrm flipV="1">
              <a:off x="2608" y="2371"/>
              <a:ext cx="1199" cy="228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9" name="Group 88"/>
          <p:cNvGrpSpPr>
            <a:grpSpLocks/>
          </p:cNvGrpSpPr>
          <p:nvPr/>
        </p:nvGrpSpPr>
        <p:grpSpPr bwMode="auto">
          <a:xfrm>
            <a:off x="1793875" y="3973513"/>
            <a:ext cx="3983038" cy="904875"/>
            <a:chOff x="862" y="2495"/>
            <a:chExt cx="2509" cy="570"/>
          </a:xfrm>
        </p:grpSpPr>
        <p:sp>
          <p:nvSpPr>
            <p:cNvPr id="29774" name="Oval 89"/>
            <p:cNvSpPr>
              <a:spLocks noChangeArrowheads="1"/>
            </p:cNvSpPr>
            <p:nvPr/>
          </p:nvSpPr>
          <p:spPr bwMode="auto">
            <a:xfrm>
              <a:off x="862" y="2746"/>
              <a:ext cx="421" cy="319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75" name="Oval 90"/>
            <p:cNvSpPr>
              <a:spLocks noChangeArrowheads="1"/>
            </p:cNvSpPr>
            <p:nvPr/>
          </p:nvSpPr>
          <p:spPr bwMode="auto">
            <a:xfrm>
              <a:off x="3160" y="2495"/>
              <a:ext cx="211" cy="216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76" name="Line 91"/>
            <p:cNvSpPr>
              <a:spLocks noChangeShapeType="1"/>
            </p:cNvSpPr>
            <p:nvPr/>
          </p:nvSpPr>
          <p:spPr bwMode="auto">
            <a:xfrm flipV="1">
              <a:off x="1283" y="2599"/>
              <a:ext cx="1877" cy="307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" name="Group 92"/>
          <p:cNvGrpSpPr>
            <a:grpSpLocks/>
          </p:cNvGrpSpPr>
          <p:nvPr/>
        </p:nvGrpSpPr>
        <p:grpSpPr bwMode="auto">
          <a:xfrm>
            <a:off x="2643188" y="3973513"/>
            <a:ext cx="3476625" cy="904875"/>
            <a:chOff x="1397" y="2495"/>
            <a:chExt cx="2190" cy="570"/>
          </a:xfrm>
        </p:grpSpPr>
        <p:sp>
          <p:nvSpPr>
            <p:cNvPr id="29771" name="Oval 93"/>
            <p:cNvSpPr>
              <a:spLocks noChangeArrowheads="1"/>
            </p:cNvSpPr>
            <p:nvPr/>
          </p:nvSpPr>
          <p:spPr bwMode="auto">
            <a:xfrm>
              <a:off x="1397" y="2746"/>
              <a:ext cx="531" cy="319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72" name="Oval 94"/>
            <p:cNvSpPr>
              <a:spLocks noChangeArrowheads="1"/>
            </p:cNvSpPr>
            <p:nvPr/>
          </p:nvSpPr>
          <p:spPr bwMode="auto">
            <a:xfrm>
              <a:off x="3376" y="2495"/>
              <a:ext cx="211" cy="216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73" name="Line 95"/>
            <p:cNvSpPr>
              <a:spLocks noChangeShapeType="1"/>
            </p:cNvSpPr>
            <p:nvPr/>
          </p:nvSpPr>
          <p:spPr bwMode="auto">
            <a:xfrm flipV="1">
              <a:off x="1928" y="2607"/>
              <a:ext cx="1448" cy="299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1" name="Group 96"/>
          <p:cNvGrpSpPr>
            <a:grpSpLocks/>
          </p:cNvGrpSpPr>
          <p:nvPr/>
        </p:nvGrpSpPr>
        <p:grpSpPr bwMode="auto">
          <a:xfrm>
            <a:off x="3694113" y="3973513"/>
            <a:ext cx="3130550" cy="911225"/>
            <a:chOff x="2059" y="2495"/>
            <a:chExt cx="1972" cy="574"/>
          </a:xfrm>
        </p:grpSpPr>
        <p:sp>
          <p:nvSpPr>
            <p:cNvPr id="29768" name="Oval 97"/>
            <p:cNvSpPr>
              <a:spLocks noChangeArrowheads="1"/>
            </p:cNvSpPr>
            <p:nvPr/>
          </p:nvSpPr>
          <p:spPr bwMode="auto">
            <a:xfrm>
              <a:off x="2059" y="2750"/>
              <a:ext cx="549" cy="319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69" name="Oval 98"/>
            <p:cNvSpPr>
              <a:spLocks noChangeArrowheads="1"/>
            </p:cNvSpPr>
            <p:nvPr/>
          </p:nvSpPr>
          <p:spPr bwMode="auto">
            <a:xfrm>
              <a:off x="3820" y="2495"/>
              <a:ext cx="211" cy="216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70" name="Line 99"/>
            <p:cNvSpPr>
              <a:spLocks noChangeShapeType="1"/>
            </p:cNvSpPr>
            <p:nvPr/>
          </p:nvSpPr>
          <p:spPr bwMode="auto">
            <a:xfrm flipV="1">
              <a:off x="2608" y="2607"/>
              <a:ext cx="1212" cy="299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2" name="Group 100"/>
          <p:cNvGrpSpPr>
            <a:grpSpLocks/>
          </p:cNvGrpSpPr>
          <p:nvPr/>
        </p:nvGrpSpPr>
        <p:grpSpPr bwMode="auto">
          <a:xfrm>
            <a:off x="1731963" y="4632325"/>
            <a:ext cx="4021137" cy="777875"/>
            <a:chOff x="823" y="2910"/>
            <a:chExt cx="2533" cy="490"/>
          </a:xfrm>
        </p:grpSpPr>
        <p:sp>
          <p:nvSpPr>
            <p:cNvPr id="29765" name="Oval 101"/>
            <p:cNvSpPr>
              <a:spLocks noChangeArrowheads="1"/>
            </p:cNvSpPr>
            <p:nvPr/>
          </p:nvSpPr>
          <p:spPr bwMode="auto">
            <a:xfrm>
              <a:off x="823" y="3081"/>
              <a:ext cx="440" cy="319"/>
            </a:xfrm>
            <a:prstGeom prst="ellips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66" name="Oval 102"/>
            <p:cNvSpPr>
              <a:spLocks noChangeArrowheads="1"/>
            </p:cNvSpPr>
            <p:nvPr/>
          </p:nvSpPr>
          <p:spPr bwMode="auto">
            <a:xfrm>
              <a:off x="3145" y="2910"/>
              <a:ext cx="211" cy="216"/>
            </a:xfrm>
            <a:prstGeom prst="ellips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67" name="Line 103"/>
            <p:cNvSpPr>
              <a:spLocks noChangeShapeType="1"/>
            </p:cNvSpPr>
            <p:nvPr/>
          </p:nvSpPr>
          <p:spPr bwMode="auto">
            <a:xfrm flipV="1">
              <a:off x="1264" y="3009"/>
              <a:ext cx="1881" cy="236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3" name="Group 104"/>
          <p:cNvGrpSpPr>
            <a:grpSpLocks/>
          </p:cNvGrpSpPr>
          <p:nvPr/>
        </p:nvGrpSpPr>
        <p:grpSpPr bwMode="auto">
          <a:xfrm>
            <a:off x="2643188" y="4632325"/>
            <a:ext cx="3484562" cy="777875"/>
            <a:chOff x="1397" y="2910"/>
            <a:chExt cx="2195" cy="490"/>
          </a:xfrm>
        </p:grpSpPr>
        <p:sp>
          <p:nvSpPr>
            <p:cNvPr id="29762" name="Oval 105"/>
            <p:cNvSpPr>
              <a:spLocks noChangeArrowheads="1"/>
            </p:cNvSpPr>
            <p:nvPr/>
          </p:nvSpPr>
          <p:spPr bwMode="auto">
            <a:xfrm>
              <a:off x="1397" y="3081"/>
              <a:ext cx="531" cy="319"/>
            </a:xfrm>
            <a:prstGeom prst="ellips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63" name="Oval 106"/>
            <p:cNvSpPr>
              <a:spLocks noChangeArrowheads="1"/>
            </p:cNvSpPr>
            <p:nvPr/>
          </p:nvSpPr>
          <p:spPr bwMode="auto">
            <a:xfrm>
              <a:off x="3381" y="2910"/>
              <a:ext cx="211" cy="216"/>
            </a:xfrm>
            <a:prstGeom prst="ellips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64" name="Line 107"/>
            <p:cNvSpPr>
              <a:spLocks noChangeShapeType="1"/>
            </p:cNvSpPr>
            <p:nvPr/>
          </p:nvSpPr>
          <p:spPr bwMode="auto">
            <a:xfrm flipV="1">
              <a:off x="1928" y="3009"/>
              <a:ext cx="1463" cy="236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4" name="Group 108"/>
          <p:cNvGrpSpPr>
            <a:grpSpLocks/>
          </p:cNvGrpSpPr>
          <p:nvPr/>
        </p:nvGrpSpPr>
        <p:grpSpPr bwMode="auto">
          <a:xfrm>
            <a:off x="3619500" y="4625975"/>
            <a:ext cx="3186113" cy="784225"/>
            <a:chOff x="2012" y="2906"/>
            <a:chExt cx="2007" cy="494"/>
          </a:xfrm>
        </p:grpSpPr>
        <p:sp>
          <p:nvSpPr>
            <p:cNvPr id="29759" name="Oval 109"/>
            <p:cNvSpPr>
              <a:spLocks noChangeArrowheads="1"/>
            </p:cNvSpPr>
            <p:nvPr/>
          </p:nvSpPr>
          <p:spPr bwMode="auto">
            <a:xfrm>
              <a:off x="2012" y="3081"/>
              <a:ext cx="596" cy="319"/>
            </a:xfrm>
            <a:prstGeom prst="ellips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60" name="Oval 110"/>
            <p:cNvSpPr>
              <a:spLocks noChangeArrowheads="1"/>
            </p:cNvSpPr>
            <p:nvPr/>
          </p:nvSpPr>
          <p:spPr bwMode="auto">
            <a:xfrm>
              <a:off x="3808" y="2906"/>
              <a:ext cx="211" cy="216"/>
            </a:xfrm>
            <a:prstGeom prst="ellips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61" name="Line 111"/>
            <p:cNvSpPr>
              <a:spLocks noChangeShapeType="1"/>
            </p:cNvSpPr>
            <p:nvPr/>
          </p:nvSpPr>
          <p:spPr bwMode="auto">
            <a:xfrm flipV="1">
              <a:off x="2608" y="3009"/>
              <a:ext cx="1200" cy="232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58480" name="AutoShape 112"/>
          <p:cNvSpPr>
            <a:spLocks noChangeArrowheads="1"/>
          </p:cNvSpPr>
          <p:nvPr/>
        </p:nvSpPr>
        <p:spPr bwMode="auto">
          <a:xfrm>
            <a:off x="4676775" y="4403725"/>
            <a:ext cx="741363" cy="385763"/>
          </a:xfrm>
          <a:prstGeom prst="rightArrow">
            <a:avLst>
              <a:gd name="adj1" fmla="val 50000"/>
              <a:gd name="adj2" fmla="val 480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8481" name="Text Box 113"/>
          <p:cNvSpPr txBox="1">
            <a:spLocks noChangeArrowheads="1"/>
          </p:cNvSpPr>
          <p:nvPr/>
        </p:nvSpPr>
        <p:spPr bwMode="auto">
          <a:xfrm>
            <a:off x="4910138" y="4030663"/>
            <a:ext cx="4937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>
                <a:latin typeface="Trebuchet MS" panose="020B0603020202020204" pitchFamily="34" charset="0"/>
              </a:rPr>
              <a:t>?</a:t>
            </a:r>
          </a:p>
        </p:txBody>
      </p:sp>
      <p:sp>
        <p:nvSpPr>
          <p:cNvPr id="58482" name="Text Box 114"/>
          <p:cNvSpPr txBox="1">
            <a:spLocks noChangeArrowheads="1"/>
          </p:cNvSpPr>
          <p:nvPr/>
        </p:nvSpPr>
        <p:spPr bwMode="auto">
          <a:xfrm>
            <a:off x="5453063" y="3571875"/>
            <a:ext cx="33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 b="1">
                <a:solidFill>
                  <a:srgbClr val="FF6600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58483" name="Text Box 115"/>
          <p:cNvSpPr txBox="1">
            <a:spLocks noChangeArrowheads="1"/>
          </p:cNvSpPr>
          <p:nvPr/>
        </p:nvSpPr>
        <p:spPr bwMode="auto">
          <a:xfrm>
            <a:off x="5808663" y="3581400"/>
            <a:ext cx="33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 b="1">
                <a:solidFill>
                  <a:srgbClr val="FF6600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58484" name="Text Box 116"/>
          <p:cNvSpPr txBox="1">
            <a:spLocks noChangeArrowheads="1"/>
          </p:cNvSpPr>
          <p:nvPr/>
        </p:nvSpPr>
        <p:spPr bwMode="auto">
          <a:xfrm>
            <a:off x="6489700" y="3581400"/>
            <a:ext cx="33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 b="1">
                <a:solidFill>
                  <a:srgbClr val="FF6600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58485" name="Text Box 117"/>
          <p:cNvSpPr txBox="1">
            <a:spLocks noChangeArrowheads="1"/>
          </p:cNvSpPr>
          <p:nvPr/>
        </p:nvSpPr>
        <p:spPr bwMode="auto">
          <a:xfrm>
            <a:off x="5454650" y="3906838"/>
            <a:ext cx="33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 b="1">
                <a:solidFill>
                  <a:schemeClr val="accent2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58486" name="Text Box 118"/>
          <p:cNvSpPr txBox="1">
            <a:spLocks noChangeArrowheads="1"/>
          </p:cNvSpPr>
          <p:nvPr/>
        </p:nvSpPr>
        <p:spPr bwMode="auto">
          <a:xfrm>
            <a:off x="5799138" y="3916363"/>
            <a:ext cx="33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 b="1">
                <a:solidFill>
                  <a:schemeClr val="accent2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58487" name="Text Box 119"/>
          <p:cNvSpPr txBox="1">
            <a:spLocks noChangeArrowheads="1"/>
          </p:cNvSpPr>
          <p:nvPr/>
        </p:nvSpPr>
        <p:spPr bwMode="auto">
          <a:xfrm>
            <a:off x="6497638" y="3910013"/>
            <a:ext cx="33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 b="1">
                <a:solidFill>
                  <a:schemeClr val="accent2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58488" name="Text Box 120"/>
          <p:cNvSpPr txBox="1">
            <a:spLocks noChangeArrowheads="1"/>
          </p:cNvSpPr>
          <p:nvPr/>
        </p:nvSpPr>
        <p:spPr bwMode="auto">
          <a:xfrm>
            <a:off x="5432425" y="4598988"/>
            <a:ext cx="33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 b="1">
                <a:solidFill>
                  <a:schemeClr val="hlink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58489" name="Text Box 121"/>
          <p:cNvSpPr txBox="1">
            <a:spLocks noChangeArrowheads="1"/>
          </p:cNvSpPr>
          <p:nvPr/>
        </p:nvSpPr>
        <p:spPr bwMode="auto">
          <a:xfrm>
            <a:off x="5808663" y="4603750"/>
            <a:ext cx="33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 b="1">
                <a:solidFill>
                  <a:schemeClr val="hlink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58490" name="Text Box 122"/>
          <p:cNvSpPr txBox="1">
            <a:spLocks noChangeArrowheads="1"/>
          </p:cNvSpPr>
          <p:nvPr/>
        </p:nvSpPr>
        <p:spPr bwMode="auto">
          <a:xfrm>
            <a:off x="6488113" y="4597400"/>
            <a:ext cx="33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 b="1">
                <a:solidFill>
                  <a:schemeClr val="hlink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29757" name="Text Box 124"/>
          <p:cNvSpPr txBox="1">
            <a:spLocks noChangeArrowheads="1"/>
          </p:cNvSpPr>
          <p:nvPr/>
        </p:nvSpPr>
        <p:spPr bwMode="auto">
          <a:xfrm>
            <a:off x="490538" y="2430463"/>
            <a:ext cx="85359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La matrice élémentaire KE</a:t>
            </a:r>
            <a:r>
              <a:rPr lang="fr-FR" altLang="en-US" sz="1800" baseline="30000"/>
              <a:t>e</a:t>
            </a:r>
            <a:r>
              <a:rPr lang="fr-FR" altLang="en-US" sz="1800"/>
              <a:t> correspond aux coefficients de couplage entre nœuds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d</a:t>
            </a:r>
            <a:r>
              <a:rPr lang="ja-JP" altLang="fr-FR" sz="1800"/>
              <a:t>’</a:t>
            </a:r>
            <a:r>
              <a:rPr lang="fr-FR" altLang="ja-JP" sz="1800"/>
              <a:t>un élément donné e repérés par leur numérotation locale</a:t>
            </a:r>
            <a:endParaRPr lang="fr-FR" altLang="en-US" sz="1800"/>
          </a:p>
        </p:txBody>
      </p:sp>
      <p:sp>
        <p:nvSpPr>
          <p:cNvPr id="29758" name="Text Box 125"/>
          <p:cNvSpPr txBox="1">
            <a:spLocks noChangeArrowheads="1"/>
          </p:cNvSpPr>
          <p:nvPr/>
        </p:nvSpPr>
        <p:spPr bwMode="auto">
          <a:xfrm>
            <a:off x="461963" y="5734050"/>
            <a:ext cx="8294687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En sommant la contribution des matrices élémentaires en tenant compte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de la numérotation globale des nœuds, on effectue l</a:t>
            </a:r>
            <a:r>
              <a:rPr lang="fr-FR" altLang="fr-FR" sz="1800"/>
              <a:t>’</a:t>
            </a:r>
            <a:r>
              <a:rPr lang="fr-FR" altLang="ja-JP" sz="1800"/>
              <a:t>assemblage des matrices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élémentaires. Une matrice globale est obtenue.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 animBg="1"/>
      <p:bldP spid="58443" grpId="0" animBg="1"/>
      <p:bldP spid="58480" grpId="0" animBg="1"/>
      <p:bldP spid="58481" grpId="0"/>
      <p:bldP spid="58483" grpId="0"/>
      <p:bldP spid="58484" grpId="0"/>
      <p:bldP spid="58485" grpId="0"/>
      <p:bldP spid="58486" grpId="0"/>
      <p:bldP spid="58487" grpId="0"/>
      <p:bldP spid="58488" grpId="0"/>
      <p:bldP spid="58489" grpId="0"/>
      <p:bldP spid="5849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3D7700-2DCA-4E97-B0C5-44517DD585D3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fr-FR" altLang="en-US" sz="1400" b="0" smtClean="0"/>
          </a:p>
        </p:txBody>
      </p:sp>
      <p:sp>
        <p:nvSpPr>
          <p:cNvPr id="59394" name="Rectangle 2"/>
          <p:cNvSpPr>
            <a:spLocks noChangeArrowheads="1"/>
          </p:cNvSpPr>
          <p:nvPr/>
        </p:nvSpPr>
        <p:spPr bwMode="auto">
          <a:xfrm>
            <a:off x="6148388" y="1719263"/>
            <a:ext cx="914400" cy="10048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59395" name="Object 3"/>
          <p:cNvGraphicFramePr>
            <a:graphicFrameLocks noChangeAspect="1"/>
          </p:cNvGraphicFramePr>
          <p:nvPr/>
        </p:nvGraphicFramePr>
        <p:xfrm>
          <a:off x="555625" y="3892550"/>
          <a:ext cx="3482975" cy="144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8" name="Equation" r:id="rId3" imgW="3022600" imgH="1257300" progId="Equation.3">
                  <p:embed/>
                </p:oleObj>
              </mc:Choice>
              <mc:Fallback>
                <p:oleObj name="Equation" r:id="rId3" imgW="3022600" imgH="1257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25" y="3892550"/>
                        <a:ext cx="3482975" cy="144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6" name="Object 4"/>
          <p:cNvGraphicFramePr>
            <a:graphicFrameLocks noChangeAspect="1"/>
          </p:cNvGraphicFramePr>
          <p:nvPr/>
        </p:nvGraphicFramePr>
        <p:xfrm>
          <a:off x="5016500" y="3606800"/>
          <a:ext cx="31115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9" name="Equation" r:id="rId5" imgW="3111500" imgH="2044700" progId="Equation.DSMT4">
                  <p:embed/>
                </p:oleObj>
              </mc:Choice>
              <mc:Fallback>
                <p:oleObj name="Equation" r:id="rId5" imgW="3111500" imgH="2044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0" y="3606800"/>
                        <a:ext cx="31115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4732338" y="3186113"/>
            <a:ext cx="3260725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latin typeface="Trebuchet MS" panose="020B0603020202020204" pitchFamily="34" charset="0"/>
              </a:rPr>
              <a:t>Matrice globale : 6x6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482725" y="3878263"/>
            <a:ext cx="5230813" cy="1458912"/>
            <a:chOff x="934" y="2443"/>
            <a:chExt cx="3295" cy="919"/>
          </a:xfrm>
        </p:grpSpPr>
        <p:sp>
          <p:nvSpPr>
            <p:cNvPr id="30835" name="Oval 7"/>
            <p:cNvSpPr>
              <a:spLocks noChangeArrowheads="1"/>
            </p:cNvSpPr>
            <p:nvPr/>
          </p:nvSpPr>
          <p:spPr bwMode="auto">
            <a:xfrm>
              <a:off x="934" y="2443"/>
              <a:ext cx="421" cy="319"/>
            </a:xfrm>
            <a:prstGeom prst="ellips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836" name="Oval 8"/>
            <p:cNvSpPr>
              <a:spLocks noChangeArrowheads="1"/>
            </p:cNvSpPr>
            <p:nvPr/>
          </p:nvSpPr>
          <p:spPr bwMode="auto">
            <a:xfrm>
              <a:off x="4018" y="3146"/>
              <a:ext cx="211" cy="216"/>
            </a:xfrm>
            <a:prstGeom prst="ellips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837" name="Line 9"/>
            <p:cNvSpPr>
              <a:spLocks noChangeShapeType="1"/>
            </p:cNvSpPr>
            <p:nvPr/>
          </p:nvSpPr>
          <p:spPr bwMode="auto">
            <a:xfrm>
              <a:off x="1343" y="2607"/>
              <a:ext cx="2675" cy="623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2252663" y="3878263"/>
            <a:ext cx="4125912" cy="1458912"/>
            <a:chOff x="1419" y="2443"/>
            <a:chExt cx="2599" cy="919"/>
          </a:xfrm>
        </p:grpSpPr>
        <p:sp>
          <p:nvSpPr>
            <p:cNvPr id="30832" name="Oval 11"/>
            <p:cNvSpPr>
              <a:spLocks noChangeArrowheads="1"/>
            </p:cNvSpPr>
            <p:nvPr/>
          </p:nvSpPr>
          <p:spPr bwMode="auto">
            <a:xfrm>
              <a:off x="1419" y="2443"/>
              <a:ext cx="509" cy="319"/>
            </a:xfrm>
            <a:prstGeom prst="ellips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833" name="Oval 12"/>
            <p:cNvSpPr>
              <a:spLocks noChangeArrowheads="1"/>
            </p:cNvSpPr>
            <p:nvPr/>
          </p:nvSpPr>
          <p:spPr bwMode="auto">
            <a:xfrm>
              <a:off x="3807" y="3146"/>
              <a:ext cx="211" cy="216"/>
            </a:xfrm>
            <a:prstGeom prst="ellips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834" name="Line 13"/>
            <p:cNvSpPr>
              <a:spLocks noChangeShapeType="1"/>
            </p:cNvSpPr>
            <p:nvPr/>
          </p:nvSpPr>
          <p:spPr bwMode="auto">
            <a:xfrm>
              <a:off x="1928" y="2607"/>
              <a:ext cx="1879" cy="623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3152775" y="3884613"/>
            <a:ext cx="2547938" cy="1414462"/>
            <a:chOff x="1986" y="2447"/>
            <a:chExt cx="1605" cy="891"/>
          </a:xfrm>
        </p:grpSpPr>
        <p:sp>
          <p:nvSpPr>
            <p:cNvPr id="30829" name="Oval 15"/>
            <p:cNvSpPr>
              <a:spLocks noChangeArrowheads="1"/>
            </p:cNvSpPr>
            <p:nvPr/>
          </p:nvSpPr>
          <p:spPr bwMode="auto">
            <a:xfrm>
              <a:off x="1986" y="2447"/>
              <a:ext cx="527" cy="319"/>
            </a:xfrm>
            <a:prstGeom prst="ellips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830" name="Oval 16"/>
            <p:cNvSpPr>
              <a:spLocks noChangeArrowheads="1"/>
            </p:cNvSpPr>
            <p:nvPr/>
          </p:nvSpPr>
          <p:spPr bwMode="auto">
            <a:xfrm>
              <a:off x="3380" y="3122"/>
              <a:ext cx="211" cy="216"/>
            </a:xfrm>
            <a:prstGeom prst="ellips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831" name="Line 17"/>
            <p:cNvSpPr>
              <a:spLocks noChangeShapeType="1"/>
            </p:cNvSpPr>
            <p:nvPr/>
          </p:nvSpPr>
          <p:spPr bwMode="auto">
            <a:xfrm>
              <a:off x="2513" y="2607"/>
              <a:ext cx="884" cy="539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1479550" y="4337050"/>
            <a:ext cx="5233988" cy="619125"/>
            <a:chOff x="932" y="2732"/>
            <a:chExt cx="3297" cy="390"/>
          </a:xfrm>
        </p:grpSpPr>
        <p:sp>
          <p:nvSpPr>
            <p:cNvPr id="30826" name="Oval 19"/>
            <p:cNvSpPr>
              <a:spLocks noChangeArrowheads="1"/>
            </p:cNvSpPr>
            <p:nvPr/>
          </p:nvSpPr>
          <p:spPr bwMode="auto">
            <a:xfrm>
              <a:off x="932" y="2732"/>
              <a:ext cx="421" cy="319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827" name="Oval 20"/>
            <p:cNvSpPr>
              <a:spLocks noChangeArrowheads="1"/>
            </p:cNvSpPr>
            <p:nvPr/>
          </p:nvSpPr>
          <p:spPr bwMode="auto">
            <a:xfrm>
              <a:off x="4018" y="2906"/>
              <a:ext cx="211" cy="216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828" name="Line 21"/>
            <p:cNvSpPr>
              <a:spLocks noChangeShapeType="1"/>
            </p:cNvSpPr>
            <p:nvPr/>
          </p:nvSpPr>
          <p:spPr bwMode="auto">
            <a:xfrm>
              <a:off x="1353" y="2892"/>
              <a:ext cx="2665" cy="85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6" name="Group 22"/>
          <p:cNvGrpSpPr>
            <a:grpSpLocks/>
          </p:cNvGrpSpPr>
          <p:nvPr/>
        </p:nvGrpSpPr>
        <p:grpSpPr bwMode="auto">
          <a:xfrm>
            <a:off x="2224088" y="4337050"/>
            <a:ext cx="4154487" cy="619125"/>
            <a:chOff x="1401" y="2732"/>
            <a:chExt cx="2617" cy="390"/>
          </a:xfrm>
        </p:grpSpPr>
        <p:sp>
          <p:nvSpPr>
            <p:cNvPr id="30823" name="Oval 23"/>
            <p:cNvSpPr>
              <a:spLocks noChangeArrowheads="1"/>
            </p:cNvSpPr>
            <p:nvPr/>
          </p:nvSpPr>
          <p:spPr bwMode="auto">
            <a:xfrm>
              <a:off x="1401" y="2732"/>
              <a:ext cx="531" cy="319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824" name="Oval 24"/>
            <p:cNvSpPr>
              <a:spLocks noChangeArrowheads="1"/>
            </p:cNvSpPr>
            <p:nvPr/>
          </p:nvSpPr>
          <p:spPr bwMode="auto">
            <a:xfrm>
              <a:off x="3807" y="2906"/>
              <a:ext cx="211" cy="216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825" name="Line 25"/>
            <p:cNvSpPr>
              <a:spLocks noChangeShapeType="1"/>
            </p:cNvSpPr>
            <p:nvPr/>
          </p:nvSpPr>
          <p:spPr bwMode="auto">
            <a:xfrm>
              <a:off x="1932" y="2892"/>
              <a:ext cx="1875" cy="85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3152775" y="4365625"/>
            <a:ext cx="2547938" cy="590550"/>
            <a:chOff x="1986" y="2734"/>
            <a:chExt cx="1605" cy="372"/>
          </a:xfrm>
        </p:grpSpPr>
        <p:sp>
          <p:nvSpPr>
            <p:cNvPr id="30820" name="Oval 27"/>
            <p:cNvSpPr>
              <a:spLocks noChangeArrowheads="1"/>
            </p:cNvSpPr>
            <p:nvPr/>
          </p:nvSpPr>
          <p:spPr bwMode="auto">
            <a:xfrm>
              <a:off x="1986" y="2734"/>
              <a:ext cx="549" cy="319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821" name="Oval 28"/>
            <p:cNvSpPr>
              <a:spLocks noChangeArrowheads="1"/>
            </p:cNvSpPr>
            <p:nvPr/>
          </p:nvSpPr>
          <p:spPr bwMode="auto">
            <a:xfrm>
              <a:off x="3380" y="2890"/>
              <a:ext cx="211" cy="216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822" name="Line 29"/>
            <p:cNvSpPr>
              <a:spLocks noChangeShapeType="1"/>
            </p:cNvSpPr>
            <p:nvPr/>
          </p:nvSpPr>
          <p:spPr bwMode="auto">
            <a:xfrm>
              <a:off x="2535" y="2890"/>
              <a:ext cx="845" cy="87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" name="Group 30"/>
          <p:cNvGrpSpPr>
            <a:grpSpLocks/>
          </p:cNvGrpSpPr>
          <p:nvPr/>
        </p:nvGrpSpPr>
        <p:grpSpPr bwMode="auto">
          <a:xfrm>
            <a:off x="1460500" y="3967163"/>
            <a:ext cx="5253038" cy="1377950"/>
            <a:chOff x="920" y="2499"/>
            <a:chExt cx="3309" cy="868"/>
          </a:xfrm>
        </p:grpSpPr>
        <p:sp>
          <p:nvSpPr>
            <p:cNvPr id="30817" name="Oval 31"/>
            <p:cNvSpPr>
              <a:spLocks noChangeArrowheads="1"/>
            </p:cNvSpPr>
            <p:nvPr/>
          </p:nvSpPr>
          <p:spPr bwMode="auto">
            <a:xfrm>
              <a:off x="920" y="3048"/>
              <a:ext cx="440" cy="319"/>
            </a:xfrm>
            <a:prstGeom prst="ellips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818" name="Oval 32"/>
            <p:cNvSpPr>
              <a:spLocks noChangeArrowheads="1"/>
            </p:cNvSpPr>
            <p:nvPr/>
          </p:nvSpPr>
          <p:spPr bwMode="auto">
            <a:xfrm>
              <a:off x="4018" y="2499"/>
              <a:ext cx="211" cy="216"/>
            </a:xfrm>
            <a:prstGeom prst="ellips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819" name="Line 33"/>
            <p:cNvSpPr>
              <a:spLocks noChangeShapeType="1"/>
            </p:cNvSpPr>
            <p:nvPr/>
          </p:nvSpPr>
          <p:spPr bwMode="auto">
            <a:xfrm flipV="1">
              <a:off x="1361" y="2607"/>
              <a:ext cx="2657" cy="605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9" name="Group 34"/>
          <p:cNvGrpSpPr>
            <a:grpSpLocks/>
          </p:cNvGrpSpPr>
          <p:nvPr/>
        </p:nvGrpSpPr>
        <p:grpSpPr bwMode="auto">
          <a:xfrm>
            <a:off x="2224088" y="3967163"/>
            <a:ext cx="4178300" cy="1377950"/>
            <a:chOff x="1401" y="2499"/>
            <a:chExt cx="2632" cy="868"/>
          </a:xfrm>
        </p:grpSpPr>
        <p:sp>
          <p:nvSpPr>
            <p:cNvPr id="30814" name="Oval 35"/>
            <p:cNvSpPr>
              <a:spLocks noChangeArrowheads="1"/>
            </p:cNvSpPr>
            <p:nvPr/>
          </p:nvSpPr>
          <p:spPr bwMode="auto">
            <a:xfrm>
              <a:off x="1401" y="3048"/>
              <a:ext cx="531" cy="319"/>
            </a:xfrm>
            <a:prstGeom prst="ellips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815" name="Oval 36"/>
            <p:cNvSpPr>
              <a:spLocks noChangeArrowheads="1"/>
            </p:cNvSpPr>
            <p:nvPr/>
          </p:nvSpPr>
          <p:spPr bwMode="auto">
            <a:xfrm>
              <a:off x="3822" y="2499"/>
              <a:ext cx="211" cy="216"/>
            </a:xfrm>
            <a:prstGeom prst="ellips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816" name="Line 37"/>
            <p:cNvSpPr>
              <a:spLocks noChangeShapeType="1"/>
            </p:cNvSpPr>
            <p:nvPr/>
          </p:nvSpPr>
          <p:spPr bwMode="auto">
            <a:xfrm flipV="1">
              <a:off x="1917" y="2607"/>
              <a:ext cx="1905" cy="605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" name="Group 38"/>
          <p:cNvGrpSpPr>
            <a:grpSpLocks/>
          </p:cNvGrpSpPr>
          <p:nvPr/>
        </p:nvGrpSpPr>
        <p:grpSpPr bwMode="auto">
          <a:xfrm>
            <a:off x="3152775" y="3967163"/>
            <a:ext cx="2574925" cy="1377950"/>
            <a:chOff x="1986" y="2499"/>
            <a:chExt cx="1622" cy="868"/>
          </a:xfrm>
        </p:grpSpPr>
        <p:sp>
          <p:nvSpPr>
            <p:cNvPr id="30811" name="Oval 39"/>
            <p:cNvSpPr>
              <a:spLocks noChangeArrowheads="1"/>
            </p:cNvSpPr>
            <p:nvPr/>
          </p:nvSpPr>
          <p:spPr bwMode="auto">
            <a:xfrm>
              <a:off x="1986" y="3048"/>
              <a:ext cx="596" cy="319"/>
            </a:xfrm>
            <a:prstGeom prst="ellips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812" name="Oval 40"/>
            <p:cNvSpPr>
              <a:spLocks noChangeArrowheads="1"/>
            </p:cNvSpPr>
            <p:nvPr/>
          </p:nvSpPr>
          <p:spPr bwMode="auto">
            <a:xfrm>
              <a:off x="3397" y="2499"/>
              <a:ext cx="211" cy="216"/>
            </a:xfrm>
            <a:prstGeom prst="ellips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813" name="Line 41"/>
            <p:cNvSpPr>
              <a:spLocks noChangeShapeType="1"/>
            </p:cNvSpPr>
            <p:nvPr/>
          </p:nvSpPr>
          <p:spPr bwMode="auto">
            <a:xfrm flipV="1">
              <a:off x="2582" y="2607"/>
              <a:ext cx="815" cy="601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1" name="Group 42"/>
          <p:cNvGrpSpPr>
            <a:grpSpLocks/>
          </p:cNvGrpSpPr>
          <p:nvPr/>
        </p:nvGrpSpPr>
        <p:grpSpPr bwMode="auto">
          <a:xfrm>
            <a:off x="379413" y="1041400"/>
            <a:ext cx="3621087" cy="1941513"/>
            <a:chOff x="3072" y="551"/>
            <a:chExt cx="2281" cy="1223"/>
          </a:xfrm>
        </p:grpSpPr>
        <p:sp>
          <p:nvSpPr>
            <p:cNvPr id="30780" name="Text Box 43"/>
            <p:cNvSpPr txBox="1">
              <a:spLocks noChangeArrowheads="1"/>
            </p:cNvSpPr>
            <p:nvPr/>
          </p:nvSpPr>
          <p:spPr bwMode="auto">
            <a:xfrm>
              <a:off x="3293" y="811"/>
              <a:ext cx="2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1800">
                  <a:latin typeface="Symbol" panose="05050102010706020507" pitchFamily="18" charset="2"/>
                </a:rPr>
                <a:t>W</a:t>
              </a:r>
            </a:p>
          </p:txBody>
        </p:sp>
        <p:grpSp>
          <p:nvGrpSpPr>
            <p:cNvPr id="30781" name="Group 44"/>
            <p:cNvGrpSpPr>
              <a:grpSpLocks/>
            </p:cNvGrpSpPr>
            <p:nvPr/>
          </p:nvGrpSpPr>
          <p:grpSpPr bwMode="auto">
            <a:xfrm>
              <a:off x="3177" y="742"/>
              <a:ext cx="1987" cy="852"/>
              <a:chOff x="1630" y="1681"/>
              <a:chExt cx="1987" cy="852"/>
            </a:xfrm>
          </p:grpSpPr>
          <p:sp>
            <p:nvSpPr>
              <p:cNvPr id="30805" name="Oval 45"/>
              <p:cNvSpPr>
                <a:spLocks noChangeArrowheads="1"/>
              </p:cNvSpPr>
              <p:nvPr/>
            </p:nvSpPr>
            <p:spPr bwMode="auto">
              <a:xfrm>
                <a:off x="1630" y="1681"/>
                <a:ext cx="45" cy="45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0806" name="Oval 46"/>
              <p:cNvSpPr>
                <a:spLocks noChangeArrowheads="1"/>
              </p:cNvSpPr>
              <p:nvPr/>
            </p:nvSpPr>
            <p:spPr bwMode="auto">
              <a:xfrm>
                <a:off x="1630" y="2482"/>
                <a:ext cx="45" cy="45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0807" name="Oval 47"/>
              <p:cNvSpPr>
                <a:spLocks noChangeArrowheads="1"/>
              </p:cNvSpPr>
              <p:nvPr/>
            </p:nvSpPr>
            <p:spPr bwMode="auto">
              <a:xfrm>
                <a:off x="2619" y="1682"/>
                <a:ext cx="45" cy="45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0808" name="Oval 48"/>
              <p:cNvSpPr>
                <a:spLocks noChangeArrowheads="1"/>
              </p:cNvSpPr>
              <p:nvPr/>
            </p:nvSpPr>
            <p:spPr bwMode="auto">
              <a:xfrm>
                <a:off x="2619" y="2483"/>
                <a:ext cx="45" cy="45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0809" name="Oval 49"/>
              <p:cNvSpPr>
                <a:spLocks noChangeArrowheads="1"/>
              </p:cNvSpPr>
              <p:nvPr/>
            </p:nvSpPr>
            <p:spPr bwMode="auto">
              <a:xfrm>
                <a:off x="3572" y="1687"/>
                <a:ext cx="45" cy="45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0810" name="Oval 50"/>
              <p:cNvSpPr>
                <a:spLocks noChangeArrowheads="1"/>
              </p:cNvSpPr>
              <p:nvPr/>
            </p:nvSpPr>
            <p:spPr bwMode="auto">
              <a:xfrm>
                <a:off x="3572" y="2488"/>
                <a:ext cx="45" cy="45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</p:grpSp>
        <p:grpSp>
          <p:nvGrpSpPr>
            <p:cNvPr id="30782" name="Group 52"/>
            <p:cNvGrpSpPr>
              <a:grpSpLocks/>
            </p:cNvGrpSpPr>
            <p:nvPr/>
          </p:nvGrpSpPr>
          <p:grpSpPr bwMode="auto">
            <a:xfrm>
              <a:off x="3212" y="777"/>
              <a:ext cx="1913" cy="783"/>
              <a:chOff x="1665" y="1716"/>
              <a:chExt cx="1913" cy="783"/>
            </a:xfrm>
          </p:grpSpPr>
          <p:sp>
            <p:nvSpPr>
              <p:cNvPr id="30801" name="AutoShape 53"/>
              <p:cNvSpPr>
                <a:spLocks noChangeArrowheads="1"/>
              </p:cNvSpPr>
              <p:nvPr/>
            </p:nvSpPr>
            <p:spPr bwMode="auto">
              <a:xfrm>
                <a:off x="1675" y="1732"/>
                <a:ext cx="969" cy="767"/>
              </a:xfrm>
              <a:prstGeom prst="rtTriangl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0802" name="AutoShape 54"/>
              <p:cNvSpPr>
                <a:spLocks noChangeArrowheads="1"/>
              </p:cNvSpPr>
              <p:nvPr/>
            </p:nvSpPr>
            <p:spPr bwMode="auto">
              <a:xfrm>
                <a:off x="2644" y="1721"/>
                <a:ext cx="919" cy="774"/>
              </a:xfrm>
              <a:prstGeom prst="rtTriangl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0803" name="AutoShape 55"/>
              <p:cNvSpPr>
                <a:spLocks noChangeArrowheads="1"/>
              </p:cNvSpPr>
              <p:nvPr/>
            </p:nvSpPr>
            <p:spPr bwMode="auto">
              <a:xfrm rot="10800000">
                <a:off x="1665" y="1716"/>
                <a:ext cx="964" cy="774"/>
              </a:xfrm>
              <a:prstGeom prst="rtTriangl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0804" name="AutoShape 56"/>
              <p:cNvSpPr>
                <a:spLocks noChangeArrowheads="1"/>
              </p:cNvSpPr>
              <p:nvPr/>
            </p:nvSpPr>
            <p:spPr bwMode="auto">
              <a:xfrm rot="10800000">
                <a:off x="2659" y="1721"/>
                <a:ext cx="919" cy="774"/>
              </a:xfrm>
              <a:prstGeom prst="rtTriangl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</p:grpSp>
        <p:sp>
          <p:nvSpPr>
            <p:cNvPr id="30783" name="Text Box 61"/>
            <p:cNvSpPr txBox="1">
              <a:spLocks noChangeArrowheads="1"/>
            </p:cNvSpPr>
            <p:nvPr/>
          </p:nvSpPr>
          <p:spPr bwMode="auto">
            <a:xfrm>
              <a:off x="3072" y="1538"/>
              <a:ext cx="2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1800">
                  <a:solidFill>
                    <a:srgbClr val="FF6600"/>
                  </a:solidFill>
                  <a:sym typeface="ZapfDingbats" pitchFamily="82" charset="2"/>
                </a:rPr>
                <a:t>1</a:t>
              </a:r>
            </a:p>
          </p:txBody>
        </p:sp>
        <p:sp>
          <p:nvSpPr>
            <p:cNvPr id="30784" name="Text Box 62"/>
            <p:cNvSpPr txBox="1">
              <a:spLocks noChangeArrowheads="1"/>
            </p:cNvSpPr>
            <p:nvPr/>
          </p:nvSpPr>
          <p:spPr bwMode="auto">
            <a:xfrm>
              <a:off x="4061" y="1543"/>
              <a:ext cx="2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1800">
                  <a:solidFill>
                    <a:srgbClr val="FF6600"/>
                  </a:solidFill>
                  <a:sym typeface="ZapfDingbats" pitchFamily="82" charset="2"/>
                </a:rPr>
                <a:t>2</a:t>
              </a:r>
            </a:p>
          </p:txBody>
        </p:sp>
        <p:sp>
          <p:nvSpPr>
            <p:cNvPr id="30785" name="Text Box 63"/>
            <p:cNvSpPr txBox="1">
              <a:spLocks noChangeArrowheads="1"/>
            </p:cNvSpPr>
            <p:nvPr/>
          </p:nvSpPr>
          <p:spPr bwMode="auto">
            <a:xfrm>
              <a:off x="3083" y="551"/>
              <a:ext cx="2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1800">
                  <a:solidFill>
                    <a:srgbClr val="FF6600"/>
                  </a:solidFill>
                  <a:sym typeface="ZapfDingbats" pitchFamily="82" charset="2"/>
                </a:rPr>
                <a:t>4</a:t>
              </a:r>
            </a:p>
          </p:txBody>
        </p:sp>
        <p:sp>
          <p:nvSpPr>
            <p:cNvPr id="30786" name="Text Box 64"/>
            <p:cNvSpPr txBox="1">
              <a:spLocks noChangeArrowheads="1"/>
            </p:cNvSpPr>
            <p:nvPr/>
          </p:nvSpPr>
          <p:spPr bwMode="auto">
            <a:xfrm>
              <a:off x="4116" y="551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1800">
                  <a:solidFill>
                    <a:srgbClr val="FF6600"/>
                  </a:solidFill>
                  <a:sym typeface="ZapfDingbats" pitchFamily="82" charset="2"/>
                </a:rPr>
                <a:t>5</a:t>
              </a:r>
            </a:p>
          </p:txBody>
        </p:sp>
        <p:sp>
          <p:nvSpPr>
            <p:cNvPr id="30787" name="Text Box 65"/>
            <p:cNvSpPr txBox="1">
              <a:spLocks noChangeArrowheads="1"/>
            </p:cNvSpPr>
            <p:nvPr/>
          </p:nvSpPr>
          <p:spPr bwMode="auto">
            <a:xfrm>
              <a:off x="5020" y="566"/>
              <a:ext cx="2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1800">
                  <a:solidFill>
                    <a:srgbClr val="FF6600"/>
                  </a:solidFill>
                  <a:sym typeface="ZapfDingbats" pitchFamily="82" charset="2"/>
                </a:rPr>
                <a:t>6</a:t>
              </a:r>
            </a:p>
          </p:txBody>
        </p:sp>
        <p:sp>
          <p:nvSpPr>
            <p:cNvPr id="30788" name="Text Box 66"/>
            <p:cNvSpPr txBox="1">
              <a:spLocks noChangeArrowheads="1"/>
            </p:cNvSpPr>
            <p:nvPr/>
          </p:nvSpPr>
          <p:spPr bwMode="auto">
            <a:xfrm>
              <a:off x="5057" y="1543"/>
              <a:ext cx="2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1800">
                  <a:solidFill>
                    <a:srgbClr val="FF6600"/>
                  </a:solidFill>
                  <a:sym typeface="ZapfDingbats" pitchFamily="82" charset="2"/>
                </a:rPr>
                <a:t>3</a:t>
              </a:r>
            </a:p>
          </p:txBody>
        </p:sp>
        <p:sp>
          <p:nvSpPr>
            <p:cNvPr id="30789" name="Text Box 67"/>
            <p:cNvSpPr txBox="1">
              <a:spLocks noChangeArrowheads="1"/>
            </p:cNvSpPr>
            <p:nvPr/>
          </p:nvSpPr>
          <p:spPr bwMode="auto">
            <a:xfrm>
              <a:off x="3205" y="1358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</a:t>
              </a:r>
            </a:p>
          </p:txBody>
        </p:sp>
        <p:sp>
          <p:nvSpPr>
            <p:cNvPr id="30790" name="Text Box 68"/>
            <p:cNvSpPr txBox="1">
              <a:spLocks noChangeArrowheads="1"/>
            </p:cNvSpPr>
            <p:nvPr/>
          </p:nvSpPr>
          <p:spPr bwMode="auto">
            <a:xfrm>
              <a:off x="3823" y="13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II</a:t>
              </a:r>
            </a:p>
          </p:txBody>
        </p:sp>
        <p:sp>
          <p:nvSpPr>
            <p:cNvPr id="30791" name="Text Box 69"/>
            <p:cNvSpPr txBox="1">
              <a:spLocks noChangeArrowheads="1"/>
            </p:cNvSpPr>
            <p:nvPr/>
          </p:nvSpPr>
          <p:spPr bwMode="auto">
            <a:xfrm>
              <a:off x="3175" y="850"/>
              <a:ext cx="2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III</a:t>
              </a:r>
            </a:p>
          </p:txBody>
        </p:sp>
        <p:sp>
          <p:nvSpPr>
            <p:cNvPr id="30792" name="Text Box 70"/>
            <p:cNvSpPr txBox="1">
              <a:spLocks noChangeArrowheads="1"/>
            </p:cNvSpPr>
            <p:nvPr/>
          </p:nvSpPr>
          <p:spPr bwMode="auto">
            <a:xfrm>
              <a:off x="4168" y="1358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</a:t>
              </a:r>
            </a:p>
          </p:txBody>
        </p:sp>
        <p:sp>
          <p:nvSpPr>
            <p:cNvPr id="30793" name="Text Box 71"/>
            <p:cNvSpPr txBox="1">
              <a:spLocks noChangeArrowheads="1"/>
            </p:cNvSpPr>
            <p:nvPr/>
          </p:nvSpPr>
          <p:spPr bwMode="auto">
            <a:xfrm>
              <a:off x="4786" y="13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II</a:t>
              </a:r>
            </a:p>
          </p:txBody>
        </p:sp>
        <p:sp>
          <p:nvSpPr>
            <p:cNvPr id="30794" name="Text Box 72"/>
            <p:cNvSpPr txBox="1">
              <a:spLocks noChangeArrowheads="1"/>
            </p:cNvSpPr>
            <p:nvPr/>
          </p:nvSpPr>
          <p:spPr bwMode="auto">
            <a:xfrm>
              <a:off x="4138" y="850"/>
              <a:ext cx="2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III</a:t>
              </a:r>
            </a:p>
          </p:txBody>
        </p:sp>
        <p:sp>
          <p:nvSpPr>
            <p:cNvPr id="30795" name="Text Box 73"/>
            <p:cNvSpPr txBox="1">
              <a:spLocks noChangeArrowheads="1"/>
            </p:cNvSpPr>
            <p:nvPr/>
          </p:nvSpPr>
          <p:spPr bwMode="auto">
            <a:xfrm>
              <a:off x="3983" y="748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</a:t>
              </a:r>
            </a:p>
          </p:txBody>
        </p:sp>
        <p:sp>
          <p:nvSpPr>
            <p:cNvPr id="30796" name="Text Box 74"/>
            <p:cNvSpPr txBox="1">
              <a:spLocks noChangeArrowheads="1"/>
            </p:cNvSpPr>
            <p:nvPr/>
          </p:nvSpPr>
          <p:spPr bwMode="auto">
            <a:xfrm>
              <a:off x="3379" y="74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II</a:t>
              </a:r>
            </a:p>
          </p:txBody>
        </p:sp>
        <p:sp>
          <p:nvSpPr>
            <p:cNvPr id="30797" name="Text Box 75"/>
            <p:cNvSpPr txBox="1">
              <a:spLocks noChangeArrowheads="1"/>
            </p:cNvSpPr>
            <p:nvPr/>
          </p:nvSpPr>
          <p:spPr bwMode="auto">
            <a:xfrm>
              <a:off x="3975" y="1253"/>
              <a:ext cx="2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III</a:t>
              </a:r>
            </a:p>
          </p:txBody>
        </p:sp>
        <p:sp>
          <p:nvSpPr>
            <p:cNvPr id="30798" name="Text Box 76"/>
            <p:cNvSpPr txBox="1">
              <a:spLocks noChangeArrowheads="1"/>
            </p:cNvSpPr>
            <p:nvPr/>
          </p:nvSpPr>
          <p:spPr bwMode="auto">
            <a:xfrm>
              <a:off x="4979" y="759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</a:t>
              </a:r>
            </a:p>
          </p:txBody>
        </p:sp>
        <p:sp>
          <p:nvSpPr>
            <p:cNvPr id="30799" name="Text Box 77"/>
            <p:cNvSpPr txBox="1">
              <a:spLocks noChangeArrowheads="1"/>
            </p:cNvSpPr>
            <p:nvPr/>
          </p:nvSpPr>
          <p:spPr bwMode="auto">
            <a:xfrm>
              <a:off x="4357" y="74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II</a:t>
              </a:r>
            </a:p>
          </p:txBody>
        </p:sp>
        <p:sp>
          <p:nvSpPr>
            <p:cNvPr id="30800" name="Text Box 78"/>
            <p:cNvSpPr txBox="1">
              <a:spLocks noChangeArrowheads="1"/>
            </p:cNvSpPr>
            <p:nvPr/>
          </p:nvSpPr>
          <p:spPr bwMode="auto">
            <a:xfrm>
              <a:off x="4939" y="1242"/>
              <a:ext cx="2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III</a:t>
              </a:r>
            </a:p>
          </p:txBody>
        </p:sp>
      </p:grpSp>
      <p:graphicFrame>
        <p:nvGraphicFramePr>
          <p:cNvPr id="59471" name="Group 79"/>
          <p:cNvGraphicFramePr>
            <a:graphicFrameLocks noGrp="1"/>
          </p:cNvGraphicFramePr>
          <p:nvPr/>
        </p:nvGraphicFramePr>
        <p:xfrm>
          <a:off x="4140200" y="1296988"/>
          <a:ext cx="4849813" cy="1428750"/>
        </p:xfrm>
        <a:graphic>
          <a:graphicData uri="http://schemas.openxmlformats.org/drawingml/2006/table">
            <a:tbl>
              <a:tblPr/>
              <a:tblGrid>
                <a:gridCol w="1074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39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El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rebuchet MS" charset="0"/>
                          <a:ea typeface="ＭＳ Ｐゴシック" charset="-128"/>
                        </a:rPr>
                        <a:t>é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ment 1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El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rebuchet MS" charset="0"/>
                          <a:ea typeface="ＭＳ Ｐゴシック" charset="-128"/>
                        </a:rPr>
                        <a:t>é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ment 2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El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rebuchet MS" charset="0"/>
                          <a:ea typeface="ＭＳ Ｐゴシック" charset="-128"/>
                        </a:rPr>
                        <a:t>é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ment 3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El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rebuchet MS" charset="0"/>
                          <a:ea typeface="ＭＳ Ｐゴシック" charset="-128"/>
                        </a:rPr>
                        <a:t>é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ment 4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Noeud I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Noeud II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Noeud III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9503" name="Text Box 111"/>
          <p:cNvSpPr txBox="1">
            <a:spLocks noChangeArrowheads="1"/>
          </p:cNvSpPr>
          <p:nvPr/>
        </p:nvSpPr>
        <p:spPr bwMode="auto">
          <a:xfrm>
            <a:off x="1236663" y="1552575"/>
            <a:ext cx="558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C00000"/>
                </a:solidFill>
                <a:sym typeface="ZapfDingbats" pitchFamily="82" charset="2"/>
              </a:rPr>
              <a:t>elt2</a:t>
            </a:r>
          </a:p>
        </p:txBody>
      </p:sp>
      <p:sp>
        <p:nvSpPr>
          <p:cNvPr id="59504" name="Text Box 112"/>
          <p:cNvSpPr txBox="1">
            <a:spLocks noChangeArrowheads="1"/>
          </p:cNvSpPr>
          <p:nvPr/>
        </p:nvSpPr>
        <p:spPr bwMode="auto">
          <a:xfrm>
            <a:off x="5375275" y="4932363"/>
            <a:ext cx="33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 b="1">
                <a:solidFill>
                  <a:srgbClr val="FF6600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59505" name="Text Box 113"/>
          <p:cNvSpPr txBox="1">
            <a:spLocks noChangeArrowheads="1"/>
          </p:cNvSpPr>
          <p:nvPr/>
        </p:nvSpPr>
        <p:spPr bwMode="auto">
          <a:xfrm>
            <a:off x="6064250" y="4932363"/>
            <a:ext cx="33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 b="1">
                <a:solidFill>
                  <a:srgbClr val="FF6600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59506" name="Text Box 114"/>
          <p:cNvSpPr txBox="1">
            <a:spLocks noChangeArrowheads="1"/>
          </p:cNvSpPr>
          <p:nvPr/>
        </p:nvSpPr>
        <p:spPr bwMode="auto">
          <a:xfrm>
            <a:off x="6411913" y="4932363"/>
            <a:ext cx="33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 b="1">
                <a:solidFill>
                  <a:srgbClr val="FF6600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59507" name="Text Box 115"/>
          <p:cNvSpPr txBox="1">
            <a:spLocks noChangeArrowheads="1"/>
          </p:cNvSpPr>
          <p:nvPr/>
        </p:nvSpPr>
        <p:spPr bwMode="auto">
          <a:xfrm>
            <a:off x="5375275" y="4594225"/>
            <a:ext cx="33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 b="1">
                <a:solidFill>
                  <a:schemeClr val="accent2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59508" name="Text Box 116"/>
          <p:cNvSpPr txBox="1">
            <a:spLocks noChangeArrowheads="1"/>
          </p:cNvSpPr>
          <p:nvPr/>
        </p:nvSpPr>
        <p:spPr bwMode="auto">
          <a:xfrm>
            <a:off x="6072188" y="4594225"/>
            <a:ext cx="33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 b="1">
                <a:solidFill>
                  <a:schemeClr val="accent2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59509" name="Text Box 117"/>
          <p:cNvSpPr txBox="1">
            <a:spLocks noChangeArrowheads="1"/>
          </p:cNvSpPr>
          <p:nvPr/>
        </p:nvSpPr>
        <p:spPr bwMode="auto">
          <a:xfrm>
            <a:off x="6402388" y="4594225"/>
            <a:ext cx="33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 b="1">
                <a:solidFill>
                  <a:schemeClr val="accent2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59510" name="Text Box 118"/>
          <p:cNvSpPr txBox="1">
            <a:spLocks noChangeArrowheads="1"/>
          </p:cNvSpPr>
          <p:nvPr/>
        </p:nvSpPr>
        <p:spPr bwMode="auto">
          <a:xfrm>
            <a:off x="6403975" y="3906838"/>
            <a:ext cx="33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 b="1">
                <a:solidFill>
                  <a:schemeClr val="hlink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59511" name="Text Box 119"/>
          <p:cNvSpPr txBox="1">
            <a:spLocks noChangeArrowheads="1"/>
          </p:cNvSpPr>
          <p:nvPr/>
        </p:nvSpPr>
        <p:spPr bwMode="auto">
          <a:xfrm>
            <a:off x="6067425" y="3906838"/>
            <a:ext cx="33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 b="1">
                <a:solidFill>
                  <a:schemeClr val="hlink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59512" name="Text Box 120"/>
          <p:cNvSpPr txBox="1">
            <a:spLocks noChangeArrowheads="1"/>
          </p:cNvSpPr>
          <p:nvPr/>
        </p:nvSpPr>
        <p:spPr bwMode="auto">
          <a:xfrm>
            <a:off x="5373688" y="3906838"/>
            <a:ext cx="33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 b="1">
                <a:solidFill>
                  <a:schemeClr val="hlink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30779" name="Rectangle 12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17512"/>
          </a:xfrm>
          <a:noFill/>
        </p:spPr>
        <p:txBody>
          <a:bodyPr/>
          <a:lstStyle/>
          <a:p>
            <a:pPr eaLnBrk="1" hangingPunct="1"/>
            <a:r>
              <a:rPr lang="fr-FR" altLang="en-US" sz="2400" b="1" smtClean="0">
                <a:solidFill>
                  <a:schemeClr val="accent2"/>
                </a:solidFill>
              </a:rPr>
              <a:t>Assemblage des matrices élémentaires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4" grpId="0" animBg="1"/>
      <p:bldP spid="59397" grpId="0" animBg="1"/>
      <p:bldP spid="59503" grpId="0"/>
      <p:bldP spid="59505" grpId="0"/>
      <p:bldP spid="59506" grpId="0"/>
      <p:bldP spid="59507" grpId="0"/>
      <p:bldP spid="59508" grpId="0"/>
      <p:bldP spid="59509" grpId="0"/>
      <p:bldP spid="59510" grpId="0"/>
      <p:bldP spid="59511" grpId="0"/>
      <p:bldP spid="595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AFF208-D5C4-4F5C-8A36-F5BA6AE78EBC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fr-FR" altLang="en-US" sz="1400" b="0" smtClean="0"/>
          </a:p>
        </p:txBody>
      </p:sp>
      <p:sp>
        <p:nvSpPr>
          <p:cNvPr id="31747" name="Rectangle 2"/>
          <p:cNvSpPr>
            <a:spLocks noChangeArrowheads="1"/>
          </p:cNvSpPr>
          <p:nvPr/>
        </p:nvSpPr>
        <p:spPr bwMode="auto">
          <a:xfrm>
            <a:off x="5119688" y="1520825"/>
            <a:ext cx="3775075" cy="10048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20675" y="882650"/>
            <a:ext cx="3621088" cy="1941513"/>
            <a:chOff x="3072" y="551"/>
            <a:chExt cx="2281" cy="1223"/>
          </a:xfrm>
        </p:grpSpPr>
        <p:sp>
          <p:nvSpPr>
            <p:cNvPr id="31847" name="Text Box 4"/>
            <p:cNvSpPr txBox="1">
              <a:spLocks noChangeArrowheads="1"/>
            </p:cNvSpPr>
            <p:nvPr/>
          </p:nvSpPr>
          <p:spPr bwMode="auto">
            <a:xfrm>
              <a:off x="3293" y="811"/>
              <a:ext cx="2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1800">
                  <a:latin typeface="Symbol" panose="05050102010706020507" pitchFamily="18" charset="2"/>
                </a:rPr>
                <a:t>W</a:t>
              </a:r>
            </a:p>
          </p:txBody>
        </p:sp>
        <p:grpSp>
          <p:nvGrpSpPr>
            <p:cNvPr id="31848" name="Group 5"/>
            <p:cNvGrpSpPr>
              <a:grpSpLocks/>
            </p:cNvGrpSpPr>
            <p:nvPr/>
          </p:nvGrpSpPr>
          <p:grpSpPr bwMode="auto">
            <a:xfrm>
              <a:off x="3177" y="742"/>
              <a:ext cx="1987" cy="852"/>
              <a:chOff x="1630" y="1681"/>
              <a:chExt cx="1987" cy="852"/>
            </a:xfrm>
          </p:grpSpPr>
          <p:sp>
            <p:nvSpPr>
              <p:cNvPr id="31877" name="Oval 6"/>
              <p:cNvSpPr>
                <a:spLocks noChangeArrowheads="1"/>
              </p:cNvSpPr>
              <p:nvPr/>
            </p:nvSpPr>
            <p:spPr bwMode="auto">
              <a:xfrm>
                <a:off x="1630" y="1681"/>
                <a:ext cx="45" cy="45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1878" name="Oval 7"/>
              <p:cNvSpPr>
                <a:spLocks noChangeArrowheads="1"/>
              </p:cNvSpPr>
              <p:nvPr/>
            </p:nvSpPr>
            <p:spPr bwMode="auto">
              <a:xfrm>
                <a:off x="1630" y="2482"/>
                <a:ext cx="45" cy="45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1879" name="Oval 8"/>
              <p:cNvSpPr>
                <a:spLocks noChangeArrowheads="1"/>
              </p:cNvSpPr>
              <p:nvPr/>
            </p:nvSpPr>
            <p:spPr bwMode="auto">
              <a:xfrm>
                <a:off x="2619" y="1682"/>
                <a:ext cx="45" cy="45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1880" name="Oval 9"/>
              <p:cNvSpPr>
                <a:spLocks noChangeArrowheads="1"/>
              </p:cNvSpPr>
              <p:nvPr/>
            </p:nvSpPr>
            <p:spPr bwMode="auto">
              <a:xfrm>
                <a:off x="2619" y="2483"/>
                <a:ext cx="45" cy="45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1881" name="Oval 10"/>
              <p:cNvSpPr>
                <a:spLocks noChangeArrowheads="1"/>
              </p:cNvSpPr>
              <p:nvPr/>
            </p:nvSpPr>
            <p:spPr bwMode="auto">
              <a:xfrm>
                <a:off x="3572" y="1687"/>
                <a:ext cx="45" cy="45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1882" name="Oval 11"/>
              <p:cNvSpPr>
                <a:spLocks noChangeArrowheads="1"/>
              </p:cNvSpPr>
              <p:nvPr/>
            </p:nvSpPr>
            <p:spPr bwMode="auto">
              <a:xfrm>
                <a:off x="3572" y="2488"/>
                <a:ext cx="45" cy="45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</p:grpSp>
        <p:grpSp>
          <p:nvGrpSpPr>
            <p:cNvPr id="31849" name="Group 12"/>
            <p:cNvGrpSpPr>
              <a:grpSpLocks/>
            </p:cNvGrpSpPr>
            <p:nvPr/>
          </p:nvGrpSpPr>
          <p:grpSpPr bwMode="auto">
            <a:xfrm>
              <a:off x="3212" y="777"/>
              <a:ext cx="1913" cy="797"/>
              <a:chOff x="1665" y="1716"/>
              <a:chExt cx="1913" cy="797"/>
            </a:xfrm>
          </p:grpSpPr>
          <p:grpSp>
            <p:nvGrpSpPr>
              <p:cNvPr id="31868" name="Group 13"/>
              <p:cNvGrpSpPr>
                <a:grpSpLocks/>
              </p:cNvGrpSpPr>
              <p:nvPr/>
            </p:nvGrpSpPr>
            <p:grpSpPr bwMode="auto">
              <a:xfrm>
                <a:off x="1665" y="1716"/>
                <a:ext cx="1913" cy="797"/>
                <a:chOff x="1665" y="1716"/>
                <a:chExt cx="1913" cy="797"/>
              </a:xfrm>
            </p:grpSpPr>
            <p:sp>
              <p:nvSpPr>
                <p:cNvPr id="31873" name="AutoShape 14"/>
                <p:cNvSpPr>
                  <a:spLocks noChangeArrowheads="1"/>
                </p:cNvSpPr>
                <p:nvPr/>
              </p:nvSpPr>
              <p:spPr bwMode="auto">
                <a:xfrm>
                  <a:off x="1675" y="1732"/>
                  <a:ext cx="974" cy="781"/>
                </a:xfrm>
                <a:prstGeom prst="rtTriangl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31874" name="AutoShape 15"/>
                <p:cNvSpPr>
                  <a:spLocks noChangeArrowheads="1"/>
                </p:cNvSpPr>
                <p:nvPr/>
              </p:nvSpPr>
              <p:spPr bwMode="auto">
                <a:xfrm>
                  <a:off x="2644" y="1721"/>
                  <a:ext cx="919" cy="774"/>
                </a:xfrm>
                <a:prstGeom prst="rtTriangl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31875" name="AutoShape 16"/>
                <p:cNvSpPr>
                  <a:spLocks noChangeArrowheads="1"/>
                </p:cNvSpPr>
                <p:nvPr/>
              </p:nvSpPr>
              <p:spPr bwMode="auto">
                <a:xfrm rot="10800000">
                  <a:off x="1665" y="1716"/>
                  <a:ext cx="964" cy="774"/>
                </a:xfrm>
                <a:prstGeom prst="rtTriangl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31876" name="AutoShape 17"/>
                <p:cNvSpPr>
                  <a:spLocks noChangeArrowheads="1"/>
                </p:cNvSpPr>
                <p:nvPr/>
              </p:nvSpPr>
              <p:spPr bwMode="auto">
                <a:xfrm rot="10800000">
                  <a:off x="2659" y="1721"/>
                  <a:ext cx="919" cy="774"/>
                </a:xfrm>
                <a:prstGeom prst="rtTriangl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sp>
            <p:nvSpPr>
              <p:cNvPr id="31869" name="Text Box 18"/>
              <p:cNvSpPr txBox="1">
                <a:spLocks noChangeArrowheads="1"/>
              </p:cNvSpPr>
              <p:nvPr/>
            </p:nvSpPr>
            <p:spPr bwMode="auto">
              <a:xfrm>
                <a:off x="1813" y="2101"/>
                <a:ext cx="37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fr-FR" altLang="en-US" sz="1800">
                    <a:sym typeface="ZapfDingbats" pitchFamily="82" charset="2"/>
                  </a:rPr>
                  <a:t>elt1</a:t>
                </a:r>
              </a:p>
            </p:txBody>
          </p:sp>
          <p:sp>
            <p:nvSpPr>
              <p:cNvPr id="31870" name="Text Box 19"/>
              <p:cNvSpPr txBox="1">
                <a:spLocks noChangeArrowheads="1"/>
              </p:cNvSpPr>
              <p:nvPr/>
            </p:nvSpPr>
            <p:spPr bwMode="auto">
              <a:xfrm>
                <a:off x="2121" y="1771"/>
                <a:ext cx="35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accent2"/>
                    </a:solidFill>
                    <a:sym typeface="ZapfDingbats" pitchFamily="82" charset="2"/>
                  </a:rPr>
                  <a:t>elt2</a:t>
                </a:r>
              </a:p>
            </p:txBody>
          </p:sp>
          <p:sp>
            <p:nvSpPr>
              <p:cNvPr id="31871" name="Text Box 20"/>
              <p:cNvSpPr txBox="1">
                <a:spLocks noChangeArrowheads="1"/>
              </p:cNvSpPr>
              <p:nvPr/>
            </p:nvSpPr>
            <p:spPr bwMode="auto">
              <a:xfrm>
                <a:off x="2818" y="2107"/>
                <a:ext cx="38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fr-FR" altLang="en-US" sz="1800">
                    <a:solidFill>
                      <a:srgbClr val="FF3300"/>
                    </a:solidFill>
                    <a:sym typeface="ZapfDingbats" pitchFamily="82" charset="2"/>
                  </a:rPr>
                  <a:t>elt3</a:t>
                </a:r>
              </a:p>
            </p:txBody>
          </p:sp>
          <p:sp>
            <p:nvSpPr>
              <p:cNvPr id="31872" name="Text Box 21"/>
              <p:cNvSpPr txBox="1">
                <a:spLocks noChangeArrowheads="1"/>
              </p:cNvSpPr>
              <p:nvPr/>
            </p:nvSpPr>
            <p:spPr bwMode="auto">
              <a:xfrm>
                <a:off x="3157" y="1815"/>
                <a:ext cx="353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fr-FR" altLang="en-US" sz="1800">
                    <a:sym typeface="ZapfDingbats" pitchFamily="82" charset="2"/>
                  </a:rPr>
                  <a:t>elt4</a:t>
                </a:r>
              </a:p>
            </p:txBody>
          </p:sp>
        </p:grpSp>
        <p:sp>
          <p:nvSpPr>
            <p:cNvPr id="31850" name="Text Box 22"/>
            <p:cNvSpPr txBox="1">
              <a:spLocks noChangeArrowheads="1"/>
            </p:cNvSpPr>
            <p:nvPr/>
          </p:nvSpPr>
          <p:spPr bwMode="auto">
            <a:xfrm>
              <a:off x="3072" y="1538"/>
              <a:ext cx="2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1800">
                  <a:solidFill>
                    <a:srgbClr val="FF6600"/>
                  </a:solidFill>
                  <a:sym typeface="ZapfDingbats" pitchFamily="82" charset="2"/>
                </a:rPr>
                <a:t>1</a:t>
              </a:r>
            </a:p>
          </p:txBody>
        </p:sp>
        <p:sp>
          <p:nvSpPr>
            <p:cNvPr id="31851" name="Text Box 23"/>
            <p:cNvSpPr txBox="1">
              <a:spLocks noChangeArrowheads="1"/>
            </p:cNvSpPr>
            <p:nvPr/>
          </p:nvSpPr>
          <p:spPr bwMode="auto">
            <a:xfrm>
              <a:off x="4061" y="1543"/>
              <a:ext cx="2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1800">
                  <a:solidFill>
                    <a:srgbClr val="FF6600"/>
                  </a:solidFill>
                  <a:sym typeface="ZapfDingbats" pitchFamily="82" charset="2"/>
                </a:rPr>
                <a:t>2</a:t>
              </a:r>
            </a:p>
          </p:txBody>
        </p:sp>
        <p:sp>
          <p:nvSpPr>
            <p:cNvPr id="31852" name="Text Box 24"/>
            <p:cNvSpPr txBox="1">
              <a:spLocks noChangeArrowheads="1"/>
            </p:cNvSpPr>
            <p:nvPr/>
          </p:nvSpPr>
          <p:spPr bwMode="auto">
            <a:xfrm>
              <a:off x="3083" y="551"/>
              <a:ext cx="2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1800">
                  <a:solidFill>
                    <a:srgbClr val="FF6600"/>
                  </a:solidFill>
                  <a:sym typeface="ZapfDingbats" pitchFamily="82" charset="2"/>
                </a:rPr>
                <a:t>4</a:t>
              </a:r>
            </a:p>
          </p:txBody>
        </p:sp>
        <p:sp>
          <p:nvSpPr>
            <p:cNvPr id="31853" name="Text Box 25"/>
            <p:cNvSpPr txBox="1">
              <a:spLocks noChangeArrowheads="1"/>
            </p:cNvSpPr>
            <p:nvPr/>
          </p:nvSpPr>
          <p:spPr bwMode="auto">
            <a:xfrm>
              <a:off x="4071" y="551"/>
              <a:ext cx="2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1800">
                  <a:solidFill>
                    <a:srgbClr val="FF6600"/>
                  </a:solidFill>
                  <a:sym typeface="ZapfDingbats" pitchFamily="82" charset="2"/>
                </a:rPr>
                <a:t>5</a:t>
              </a:r>
            </a:p>
          </p:txBody>
        </p:sp>
        <p:sp>
          <p:nvSpPr>
            <p:cNvPr id="31854" name="Text Box 26"/>
            <p:cNvSpPr txBox="1">
              <a:spLocks noChangeArrowheads="1"/>
            </p:cNvSpPr>
            <p:nvPr/>
          </p:nvSpPr>
          <p:spPr bwMode="auto">
            <a:xfrm>
              <a:off x="5020" y="566"/>
              <a:ext cx="2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1800">
                  <a:solidFill>
                    <a:srgbClr val="FF6600"/>
                  </a:solidFill>
                  <a:sym typeface="ZapfDingbats" pitchFamily="82" charset="2"/>
                </a:rPr>
                <a:t>6</a:t>
              </a:r>
            </a:p>
          </p:txBody>
        </p:sp>
        <p:sp>
          <p:nvSpPr>
            <p:cNvPr id="31855" name="Text Box 27"/>
            <p:cNvSpPr txBox="1">
              <a:spLocks noChangeArrowheads="1"/>
            </p:cNvSpPr>
            <p:nvPr/>
          </p:nvSpPr>
          <p:spPr bwMode="auto">
            <a:xfrm>
              <a:off x="5057" y="1543"/>
              <a:ext cx="2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1800">
                  <a:solidFill>
                    <a:srgbClr val="FF6600"/>
                  </a:solidFill>
                  <a:sym typeface="ZapfDingbats" pitchFamily="82" charset="2"/>
                </a:rPr>
                <a:t>3</a:t>
              </a:r>
            </a:p>
          </p:txBody>
        </p:sp>
        <p:sp>
          <p:nvSpPr>
            <p:cNvPr id="31856" name="Text Box 28"/>
            <p:cNvSpPr txBox="1">
              <a:spLocks noChangeArrowheads="1"/>
            </p:cNvSpPr>
            <p:nvPr/>
          </p:nvSpPr>
          <p:spPr bwMode="auto">
            <a:xfrm>
              <a:off x="3205" y="1358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</a:t>
              </a:r>
            </a:p>
          </p:txBody>
        </p:sp>
        <p:sp>
          <p:nvSpPr>
            <p:cNvPr id="31857" name="Text Box 29"/>
            <p:cNvSpPr txBox="1">
              <a:spLocks noChangeArrowheads="1"/>
            </p:cNvSpPr>
            <p:nvPr/>
          </p:nvSpPr>
          <p:spPr bwMode="auto">
            <a:xfrm>
              <a:off x="3823" y="13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II</a:t>
              </a:r>
            </a:p>
          </p:txBody>
        </p:sp>
        <p:sp>
          <p:nvSpPr>
            <p:cNvPr id="31858" name="Text Box 30"/>
            <p:cNvSpPr txBox="1">
              <a:spLocks noChangeArrowheads="1"/>
            </p:cNvSpPr>
            <p:nvPr/>
          </p:nvSpPr>
          <p:spPr bwMode="auto">
            <a:xfrm>
              <a:off x="3175" y="850"/>
              <a:ext cx="2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III</a:t>
              </a:r>
            </a:p>
          </p:txBody>
        </p:sp>
        <p:sp>
          <p:nvSpPr>
            <p:cNvPr id="31859" name="Text Box 31"/>
            <p:cNvSpPr txBox="1">
              <a:spLocks noChangeArrowheads="1"/>
            </p:cNvSpPr>
            <p:nvPr/>
          </p:nvSpPr>
          <p:spPr bwMode="auto">
            <a:xfrm>
              <a:off x="4168" y="1358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</a:t>
              </a:r>
            </a:p>
          </p:txBody>
        </p:sp>
        <p:sp>
          <p:nvSpPr>
            <p:cNvPr id="31860" name="Text Box 32"/>
            <p:cNvSpPr txBox="1">
              <a:spLocks noChangeArrowheads="1"/>
            </p:cNvSpPr>
            <p:nvPr/>
          </p:nvSpPr>
          <p:spPr bwMode="auto">
            <a:xfrm>
              <a:off x="4786" y="13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II</a:t>
              </a:r>
            </a:p>
          </p:txBody>
        </p:sp>
        <p:sp>
          <p:nvSpPr>
            <p:cNvPr id="31861" name="Text Box 33"/>
            <p:cNvSpPr txBox="1">
              <a:spLocks noChangeArrowheads="1"/>
            </p:cNvSpPr>
            <p:nvPr/>
          </p:nvSpPr>
          <p:spPr bwMode="auto">
            <a:xfrm>
              <a:off x="4138" y="850"/>
              <a:ext cx="2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III</a:t>
              </a:r>
            </a:p>
          </p:txBody>
        </p:sp>
        <p:sp>
          <p:nvSpPr>
            <p:cNvPr id="31862" name="Text Box 34"/>
            <p:cNvSpPr txBox="1">
              <a:spLocks noChangeArrowheads="1"/>
            </p:cNvSpPr>
            <p:nvPr/>
          </p:nvSpPr>
          <p:spPr bwMode="auto">
            <a:xfrm>
              <a:off x="3983" y="748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</a:t>
              </a:r>
            </a:p>
          </p:txBody>
        </p:sp>
        <p:sp>
          <p:nvSpPr>
            <p:cNvPr id="31863" name="Text Box 35"/>
            <p:cNvSpPr txBox="1">
              <a:spLocks noChangeArrowheads="1"/>
            </p:cNvSpPr>
            <p:nvPr/>
          </p:nvSpPr>
          <p:spPr bwMode="auto">
            <a:xfrm>
              <a:off x="3379" y="74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II</a:t>
              </a:r>
            </a:p>
          </p:txBody>
        </p:sp>
        <p:sp>
          <p:nvSpPr>
            <p:cNvPr id="31864" name="Text Box 36"/>
            <p:cNvSpPr txBox="1">
              <a:spLocks noChangeArrowheads="1"/>
            </p:cNvSpPr>
            <p:nvPr/>
          </p:nvSpPr>
          <p:spPr bwMode="auto">
            <a:xfrm>
              <a:off x="3975" y="1253"/>
              <a:ext cx="2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III</a:t>
              </a:r>
            </a:p>
          </p:txBody>
        </p:sp>
        <p:sp>
          <p:nvSpPr>
            <p:cNvPr id="31865" name="Text Box 37"/>
            <p:cNvSpPr txBox="1">
              <a:spLocks noChangeArrowheads="1"/>
            </p:cNvSpPr>
            <p:nvPr/>
          </p:nvSpPr>
          <p:spPr bwMode="auto">
            <a:xfrm>
              <a:off x="4979" y="759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</a:t>
              </a:r>
            </a:p>
          </p:txBody>
        </p:sp>
        <p:sp>
          <p:nvSpPr>
            <p:cNvPr id="31866" name="Text Box 38"/>
            <p:cNvSpPr txBox="1">
              <a:spLocks noChangeArrowheads="1"/>
            </p:cNvSpPr>
            <p:nvPr/>
          </p:nvSpPr>
          <p:spPr bwMode="auto">
            <a:xfrm>
              <a:off x="4357" y="74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II</a:t>
              </a:r>
            </a:p>
          </p:txBody>
        </p:sp>
        <p:sp>
          <p:nvSpPr>
            <p:cNvPr id="31867" name="Text Box 39"/>
            <p:cNvSpPr txBox="1">
              <a:spLocks noChangeArrowheads="1"/>
            </p:cNvSpPr>
            <p:nvPr/>
          </p:nvSpPr>
          <p:spPr bwMode="auto">
            <a:xfrm>
              <a:off x="4939" y="1242"/>
              <a:ext cx="2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III</a:t>
              </a:r>
            </a:p>
          </p:txBody>
        </p:sp>
      </p:grpSp>
      <p:graphicFrame>
        <p:nvGraphicFramePr>
          <p:cNvPr id="60456" name="Group 40"/>
          <p:cNvGraphicFramePr>
            <a:graphicFrameLocks noGrp="1"/>
          </p:cNvGraphicFramePr>
          <p:nvPr/>
        </p:nvGraphicFramePr>
        <p:xfrm>
          <a:off x="4046538" y="1101725"/>
          <a:ext cx="4849812" cy="1428750"/>
        </p:xfrm>
        <a:graphic>
          <a:graphicData uri="http://schemas.openxmlformats.org/drawingml/2006/table">
            <a:tbl>
              <a:tblPr/>
              <a:tblGrid>
                <a:gridCol w="1074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39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El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rebuchet MS" charset="0"/>
                          <a:ea typeface="ＭＳ Ｐゴシック" charset="-128"/>
                        </a:rPr>
                        <a:t>é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ment 1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El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rebuchet MS" charset="0"/>
                          <a:ea typeface="ＭＳ Ｐゴシック" charset="-128"/>
                        </a:rPr>
                        <a:t>é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ment 2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El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rebuchet MS" charset="0"/>
                          <a:ea typeface="ＭＳ Ｐゴシック" charset="-128"/>
                        </a:rPr>
                        <a:t>é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ment 3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El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rebuchet MS" charset="0"/>
                          <a:ea typeface="ＭＳ Ｐゴシック" charset="-128"/>
                        </a:rPr>
                        <a:t>é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ment 4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Noeud I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Noeud II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Noeud III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781" name="Rectangle 72"/>
          <p:cNvSpPr>
            <a:spLocks noGrp="1" noChangeArrowheads="1"/>
          </p:cNvSpPr>
          <p:nvPr>
            <p:ph type="title"/>
          </p:nvPr>
        </p:nvSpPr>
        <p:spPr>
          <a:xfrm>
            <a:off x="457200" y="165100"/>
            <a:ext cx="8229600" cy="490538"/>
          </a:xfrm>
          <a:noFill/>
        </p:spPr>
        <p:txBody>
          <a:bodyPr/>
          <a:lstStyle/>
          <a:p>
            <a:pPr eaLnBrk="1" hangingPunct="1"/>
            <a:r>
              <a:rPr lang="fr-FR" altLang="en-US" sz="2400" b="1" smtClean="0">
                <a:solidFill>
                  <a:schemeClr val="accent2"/>
                </a:solidFill>
              </a:rPr>
              <a:t>Matrice globale</a:t>
            </a:r>
          </a:p>
        </p:txBody>
      </p:sp>
      <p:grpSp>
        <p:nvGrpSpPr>
          <p:cNvPr id="6" name="Group 73"/>
          <p:cNvGrpSpPr>
            <a:grpSpLocks/>
          </p:cNvGrpSpPr>
          <p:nvPr/>
        </p:nvGrpSpPr>
        <p:grpSpPr bwMode="auto">
          <a:xfrm>
            <a:off x="777875" y="2874963"/>
            <a:ext cx="6799263" cy="3228975"/>
            <a:chOff x="615" y="1834"/>
            <a:chExt cx="4283" cy="2034"/>
          </a:xfrm>
        </p:grpSpPr>
        <p:sp>
          <p:nvSpPr>
            <p:cNvPr id="31783" name="Text Box 74"/>
            <p:cNvSpPr txBox="1">
              <a:spLocks noChangeArrowheads="1"/>
            </p:cNvSpPr>
            <p:nvPr/>
          </p:nvSpPr>
          <p:spPr bwMode="auto">
            <a:xfrm>
              <a:off x="1162" y="1880"/>
              <a:ext cx="4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latin typeface="Trebuchet MS" panose="020B0603020202020204" pitchFamily="34" charset="0"/>
                </a:rPr>
                <a:t>1</a:t>
              </a:r>
              <a:r>
                <a:rPr lang="fr-FR" altLang="en-US" sz="1400">
                  <a:latin typeface="Trebuchet MS" panose="020B0603020202020204" pitchFamily="34" charset="0"/>
                </a:rPr>
                <a:t>(I,I)</a:t>
              </a:r>
            </a:p>
          </p:txBody>
        </p:sp>
        <p:sp>
          <p:nvSpPr>
            <p:cNvPr id="31784" name="Text Box 75"/>
            <p:cNvSpPr txBox="1">
              <a:spLocks noChangeArrowheads="1"/>
            </p:cNvSpPr>
            <p:nvPr/>
          </p:nvSpPr>
          <p:spPr bwMode="auto">
            <a:xfrm>
              <a:off x="1825" y="1887"/>
              <a:ext cx="4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latin typeface="Trebuchet MS" panose="020B0603020202020204" pitchFamily="34" charset="0"/>
                </a:rPr>
                <a:t>1</a:t>
              </a:r>
              <a:r>
                <a:rPr lang="fr-FR" altLang="en-US" sz="1400">
                  <a:latin typeface="Trebuchet MS" panose="020B0603020202020204" pitchFamily="34" charset="0"/>
                </a:rPr>
                <a:t>(I,II)</a:t>
              </a:r>
            </a:p>
          </p:txBody>
        </p:sp>
        <p:sp>
          <p:nvSpPr>
            <p:cNvPr id="31785" name="Text Box 76"/>
            <p:cNvSpPr txBox="1">
              <a:spLocks noChangeArrowheads="1"/>
            </p:cNvSpPr>
            <p:nvPr/>
          </p:nvSpPr>
          <p:spPr bwMode="auto">
            <a:xfrm>
              <a:off x="3004" y="1892"/>
              <a:ext cx="52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latin typeface="Trebuchet MS" panose="020B0603020202020204" pitchFamily="34" charset="0"/>
                </a:rPr>
                <a:t>1</a:t>
              </a:r>
              <a:r>
                <a:rPr lang="fr-FR" altLang="en-US" sz="1400">
                  <a:latin typeface="Trebuchet MS" panose="020B0603020202020204" pitchFamily="34" charset="0"/>
                </a:rPr>
                <a:t>(I,III)</a:t>
              </a:r>
            </a:p>
          </p:txBody>
        </p:sp>
        <p:sp>
          <p:nvSpPr>
            <p:cNvPr id="31786" name="Text Box 77"/>
            <p:cNvSpPr txBox="1">
              <a:spLocks noChangeArrowheads="1"/>
            </p:cNvSpPr>
            <p:nvPr/>
          </p:nvSpPr>
          <p:spPr bwMode="auto">
            <a:xfrm>
              <a:off x="2985" y="2846"/>
              <a:ext cx="64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latin typeface="Trebuchet MS" panose="020B0603020202020204" pitchFamily="34" charset="0"/>
                </a:rPr>
                <a:t>1</a:t>
              </a:r>
              <a:r>
                <a:rPr lang="fr-FR" altLang="en-US" sz="1400">
                  <a:latin typeface="Trebuchet MS" panose="020B0603020202020204" pitchFamily="34" charset="0"/>
                </a:rPr>
                <a:t>(III,III)+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solidFill>
                    <a:schemeClr val="accent2"/>
                  </a:solidFill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solidFill>
                    <a:schemeClr val="accent2"/>
                  </a:solidFill>
                  <a:latin typeface="Trebuchet MS" panose="020B0603020202020204" pitchFamily="34" charset="0"/>
                </a:rPr>
                <a:t>2</a:t>
              </a:r>
              <a:r>
                <a:rPr lang="fr-FR" altLang="en-US" sz="1400">
                  <a:solidFill>
                    <a:schemeClr val="accent2"/>
                  </a:solidFill>
                  <a:latin typeface="Trebuchet MS" panose="020B0603020202020204" pitchFamily="34" charset="0"/>
                </a:rPr>
                <a:t>(II,II)</a:t>
              </a:r>
              <a:endParaRPr lang="fr-FR" altLang="en-US" sz="1400">
                <a:latin typeface="Trebuchet MS" panose="020B0603020202020204" pitchFamily="34" charset="0"/>
              </a:endParaRPr>
            </a:p>
          </p:txBody>
        </p:sp>
        <p:sp>
          <p:nvSpPr>
            <p:cNvPr id="31787" name="Text Box 78"/>
            <p:cNvSpPr txBox="1">
              <a:spLocks noChangeArrowheads="1"/>
            </p:cNvSpPr>
            <p:nvPr/>
          </p:nvSpPr>
          <p:spPr bwMode="auto">
            <a:xfrm>
              <a:off x="2975" y="2173"/>
              <a:ext cx="617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latin typeface="Trebuchet MS" panose="020B0603020202020204" pitchFamily="34" charset="0"/>
                </a:rPr>
                <a:t>1</a:t>
              </a:r>
              <a:r>
                <a:rPr lang="fr-FR" altLang="en-US" sz="1400">
                  <a:latin typeface="Trebuchet MS" panose="020B0603020202020204" pitchFamily="34" charset="0"/>
                </a:rPr>
                <a:t>(II,III)+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solidFill>
                    <a:schemeClr val="accent2"/>
                  </a:solidFill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solidFill>
                    <a:schemeClr val="accent2"/>
                  </a:solidFill>
                  <a:latin typeface="Trebuchet MS" panose="020B0603020202020204" pitchFamily="34" charset="0"/>
                </a:rPr>
                <a:t>2</a:t>
              </a:r>
              <a:r>
                <a:rPr lang="fr-FR" altLang="en-US" sz="1400">
                  <a:solidFill>
                    <a:schemeClr val="accent2"/>
                  </a:solidFill>
                  <a:latin typeface="Trebuchet MS" panose="020B0603020202020204" pitchFamily="34" charset="0"/>
                </a:rPr>
                <a:t>(III,II)</a:t>
              </a:r>
            </a:p>
          </p:txBody>
        </p:sp>
        <p:sp>
          <p:nvSpPr>
            <p:cNvPr id="31788" name="Text Box 79"/>
            <p:cNvSpPr txBox="1">
              <a:spLocks noChangeArrowheads="1"/>
            </p:cNvSpPr>
            <p:nvPr/>
          </p:nvSpPr>
          <p:spPr bwMode="auto">
            <a:xfrm>
              <a:off x="1722" y="2139"/>
              <a:ext cx="575" cy="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200">
                  <a:latin typeface="Trebuchet MS" panose="020B0603020202020204" pitchFamily="34" charset="0"/>
                </a:rPr>
                <a:t>AE</a:t>
              </a:r>
              <a:r>
                <a:rPr lang="fr-FR" altLang="en-US" sz="1200" baseline="30000">
                  <a:latin typeface="Trebuchet MS" panose="020B0603020202020204" pitchFamily="34" charset="0"/>
                </a:rPr>
                <a:t>1</a:t>
              </a:r>
              <a:r>
                <a:rPr lang="fr-FR" altLang="en-US" sz="1200">
                  <a:latin typeface="Trebuchet MS" panose="020B0603020202020204" pitchFamily="34" charset="0"/>
                </a:rPr>
                <a:t>(II,II)+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200">
                  <a:solidFill>
                    <a:schemeClr val="accent2"/>
                  </a:solidFill>
                  <a:latin typeface="Trebuchet MS" panose="020B0603020202020204" pitchFamily="34" charset="0"/>
                </a:rPr>
                <a:t>AE</a:t>
              </a:r>
              <a:r>
                <a:rPr lang="fr-FR" altLang="en-US" sz="1200" baseline="30000">
                  <a:solidFill>
                    <a:schemeClr val="accent2"/>
                  </a:solidFill>
                  <a:latin typeface="Trebuchet MS" panose="020B0603020202020204" pitchFamily="34" charset="0"/>
                </a:rPr>
                <a:t>2</a:t>
              </a:r>
              <a:r>
                <a:rPr lang="fr-FR" altLang="en-US" sz="1200">
                  <a:solidFill>
                    <a:schemeClr val="accent2"/>
                  </a:solidFill>
                  <a:latin typeface="Trebuchet MS" panose="020B0603020202020204" pitchFamily="34" charset="0"/>
                </a:rPr>
                <a:t>(III,III)+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200">
                  <a:solidFill>
                    <a:srgbClr val="FF3300"/>
                  </a:solidFill>
                  <a:latin typeface="Trebuchet MS" panose="020B0603020202020204" pitchFamily="34" charset="0"/>
                </a:rPr>
                <a:t>AE</a:t>
              </a:r>
              <a:r>
                <a:rPr lang="fr-FR" altLang="en-US" sz="1200" baseline="30000">
                  <a:solidFill>
                    <a:srgbClr val="FF3300"/>
                  </a:solidFill>
                  <a:latin typeface="Trebuchet MS" panose="020B0603020202020204" pitchFamily="34" charset="0"/>
                </a:rPr>
                <a:t>3</a:t>
              </a:r>
              <a:r>
                <a:rPr lang="fr-FR" altLang="en-US" sz="1200">
                  <a:solidFill>
                    <a:srgbClr val="FF3300"/>
                  </a:solidFill>
                  <a:latin typeface="Trebuchet MS" panose="020B0603020202020204" pitchFamily="34" charset="0"/>
                </a:rPr>
                <a:t>(I,I)</a:t>
              </a:r>
            </a:p>
          </p:txBody>
        </p:sp>
        <p:sp>
          <p:nvSpPr>
            <p:cNvPr id="31789" name="Text Box 80"/>
            <p:cNvSpPr txBox="1">
              <a:spLocks noChangeArrowheads="1"/>
            </p:cNvSpPr>
            <p:nvPr/>
          </p:nvSpPr>
          <p:spPr bwMode="auto">
            <a:xfrm>
              <a:off x="1149" y="2226"/>
              <a:ext cx="4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latin typeface="Trebuchet MS" panose="020B0603020202020204" pitchFamily="34" charset="0"/>
                </a:rPr>
                <a:t>1</a:t>
              </a:r>
              <a:r>
                <a:rPr lang="fr-FR" altLang="en-US" sz="1400">
                  <a:latin typeface="Trebuchet MS" panose="020B0603020202020204" pitchFamily="34" charset="0"/>
                </a:rPr>
                <a:t>(II,I)</a:t>
              </a:r>
            </a:p>
          </p:txBody>
        </p:sp>
        <p:sp>
          <p:nvSpPr>
            <p:cNvPr id="31790" name="Text Box 81"/>
            <p:cNvSpPr txBox="1">
              <a:spLocks noChangeArrowheads="1"/>
            </p:cNvSpPr>
            <p:nvPr/>
          </p:nvSpPr>
          <p:spPr bwMode="auto">
            <a:xfrm>
              <a:off x="1135" y="2900"/>
              <a:ext cx="52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latin typeface="Trebuchet MS" panose="020B0603020202020204" pitchFamily="34" charset="0"/>
                </a:rPr>
                <a:t>1</a:t>
              </a:r>
              <a:r>
                <a:rPr lang="fr-FR" altLang="en-US" sz="1400">
                  <a:latin typeface="Trebuchet MS" panose="020B0603020202020204" pitchFamily="34" charset="0"/>
                </a:rPr>
                <a:t>(III,I)</a:t>
              </a:r>
            </a:p>
          </p:txBody>
        </p:sp>
        <p:sp>
          <p:nvSpPr>
            <p:cNvPr id="31791" name="Text Box 82"/>
            <p:cNvSpPr txBox="1">
              <a:spLocks noChangeArrowheads="1"/>
            </p:cNvSpPr>
            <p:nvPr/>
          </p:nvSpPr>
          <p:spPr bwMode="auto">
            <a:xfrm>
              <a:off x="1721" y="2852"/>
              <a:ext cx="617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latin typeface="Trebuchet MS" panose="020B0603020202020204" pitchFamily="34" charset="0"/>
                </a:rPr>
                <a:t>1</a:t>
              </a:r>
              <a:r>
                <a:rPr lang="fr-FR" altLang="en-US" sz="1400">
                  <a:latin typeface="Trebuchet MS" panose="020B0603020202020204" pitchFamily="34" charset="0"/>
                </a:rPr>
                <a:t>(III,II)+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solidFill>
                    <a:schemeClr val="accent2"/>
                  </a:solidFill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solidFill>
                    <a:schemeClr val="accent2"/>
                  </a:solidFill>
                  <a:latin typeface="Trebuchet MS" panose="020B0603020202020204" pitchFamily="34" charset="0"/>
                </a:rPr>
                <a:t>2</a:t>
              </a:r>
              <a:r>
                <a:rPr lang="fr-FR" altLang="en-US" sz="1400">
                  <a:solidFill>
                    <a:schemeClr val="accent2"/>
                  </a:solidFill>
                  <a:latin typeface="Trebuchet MS" panose="020B0603020202020204" pitchFamily="34" charset="0"/>
                </a:rPr>
                <a:t>(II,III)</a:t>
              </a:r>
              <a:endParaRPr lang="fr-FR" altLang="en-US" sz="1400">
                <a:latin typeface="Trebuchet MS" panose="020B0603020202020204" pitchFamily="34" charset="0"/>
              </a:endParaRPr>
            </a:p>
          </p:txBody>
        </p:sp>
        <p:sp>
          <p:nvSpPr>
            <p:cNvPr id="31792" name="Text Box 83"/>
            <p:cNvSpPr txBox="1">
              <a:spLocks noChangeArrowheads="1"/>
            </p:cNvSpPr>
            <p:nvPr/>
          </p:nvSpPr>
          <p:spPr bwMode="auto">
            <a:xfrm>
              <a:off x="3631" y="3157"/>
              <a:ext cx="575" cy="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200">
                  <a:solidFill>
                    <a:schemeClr val="accent2"/>
                  </a:solidFill>
                  <a:latin typeface="Trebuchet MS" panose="020B0603020202020204" pitchFamily="34" charset="0"/>
                </a:rPr>
                <a:t>AE</a:t>
              </a:r>
              <a:r>
                <a:rPr lang="fr-FR" altLang="en-US" sz="1200" baseline="30000">
                  <a:solidFill>
                    <a:schemeClr val="accent2"/>
                  </a:solidFill>
                  <a:latin typeface="Trebuchet MS" panose="020B0603020202020204" pitchFamily="34" charset="0"/>
                </a:rPr>
                <a:t>2</a:t>
              </a:r>
              <a:r>
                <a:rPr lang="fr-FR" altLang="en-US" sz="1200">
                  <a:solidFill>
                    <a:schemeClr val="accent2"/>
                  </a:solidFill>
                  <a:latin typeface="Trebuchet MS" panose="020B0603020202020204" pitchFamily="34" charset="0"/>
                </a:rPr>
                <a:t>(I,I)+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200">
                  <a:solidFill>
                    <a:srgbClr val="FF3300"/>
                  </a:solidFill>
                  <a:latin typeface="Trebuchet MS" panose="020B0603020202020204" pitchFamily="34" charset="0"/>
                </a:rPr>
                <a:t>AE</a:t>
              </a:r>
              <a:r>
                <a:rPr lang="fr-FR" altLang="en-US" sz="1200" baseline="30000">
                  <a:solidFill>
                    <a:srgbClr val="FF3300"/>
                  </a:solidFill>
                  <a:latin typeface="Trebuchet MS" panose="020B0603020202020204" pitchFamily="34" charset="0"/>
                </a:rPr>
                <a:t>3</a:t>
              </a:r>
              <a:r>
                <a:rPr lang="fr-FR" altLang="en-US" sz="1200">
                  <a:solidFill>
                    <a:srgbClr val="FF3300"/>
                  </a:solidFill>
                  <a:latin typeface="Trebuchet MS" panose="020B0603020202020204" pitchFamily="34" charset="0"/>
                </a:rPr>
                <a:t>(III,III)+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200">
                  <a:solidFill>
                    <a:srgbClr val="00CC00"/>
                  </a:solidFill>
                  <a:latin typeface="Trebuchet MS" panose="020B0603020202020204" pitchFamily="34" charset="0"/>
                </a:rPr>
                <a:t>AE</a:t>
              </a:r>
              <a:r>
                <a:rPr lang="fr-FR" altLang="en-US" sz="1200" baseline="30000">
                  <a:solidFill>
                    <a:srgbClr val="00CC00"/>
                  </a:solidFill>
                  <a:latin typeface="Trebuchet MS" panose="020B0603020202020204" pitchFamily="34" charset="0"/>
                </a:rPr>
                <a:t>4</a:t>
              </a:r>
              <a:r>
                <a:rPr lang="fr-FR" altLang="en-US" sz="1200">
                  <a:solidFill>
                    <a:srgbClr val="00CC00"/>
                  </a:solidFill>
                  <a:latin typeface="Trebuchet MS" panose="020B0603020202020204" pitchFamily="34" charset="0"/>
                </a:rPr>
                <a:t>(II,II)</a:t>
              </a:r>
            </a:p>
          </p:txBody>
        </p:sp>
        <p:sp>
          <p:nvSpPr>
            <p:cNvPr id="31793" name="Text Box 84"/>
            <p:cNvSpPr txBox="1">
              <a:spLocks noChangeArrowheads="1"/>
            </p:cNvSpPr>
            <p:nvPr/>
          </p:nvSpPr>
          <p:spPr bwMode="auto">
            <a:xfrm>
              <a:off x="1736" y="3186"/>
              <a:ext cx="586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solidFill>
                    <a:schemeClr val="accent2"/>
                  </a:solidFill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solidFill>
                    <a:schemeClr val="accent2"/>
                  </a:solidFill>
                  <a:latin typeface="Trebuchet MS" panose="020B0603020202020204" pitchFamily="34" charset="0"/>
                </a:rPr>
                <a:t>2</a:t>
              </a:r>
              <a:r>
                <a:rPr lang="fr-FR" altLang="en-US" sz="1400">
                  <a:solidFill>
                    <a:schemeClr val="accent2"/>
                  </a:solidFill>
                  <a:latin typeface="Trebuchet MS" panose="020B0603020202020204" pitchFamily="34" charset="0"/>
                </a:rPr>
                <a:t>(I,III)+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solidFill>
                    <a:srgbClr val="FF3300"/>
                  </a:solidFill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solidFill>
                    <a:srgbClr val="FF3300"/>
                  </a:solidFill>
                  <a:latin typeface="Trebuchet MS" panose="020B0603020202020204" pitchFamily="34" charset="0"/>
                </a:rPr>
                <a:t>3</a:t>
              </a:r>
              <a:r>
                <a:rPr lang="fr-FR" altLang="en-US" sz="1400">
                  <a:solidFill>
                    <a:srgbClr val="FF3300"/>
                  </a:solidFill>
                  <a:latin typeface="Trebuchet MS" panose="020B0603020202020204" pitchFamily="34" charset="0"/>
                </a:rPr>
                <a:t>(III,I)</a:t>
              </a:r>
              <a:endParaRPr lang="fr-FR" altLang="en-US" sz="1400">
                <a:solidFill>
                  <a:schemeClr val="accent2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31794" name="Text Box 85"/>
            <p:cNvSpPr txBox="1">
              <a:spLocks noChangeArrowheads="1"/>
            </p:cNvSpPr>
            <p:nvPr/>
          </p:nvSpPr>
          <p:spPr bwMode="auto">
            <a:xfrm>
              <a:off x="3634" y="2173"/>
              <a:ext cx="586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solidFill>
                    <a:schemeClr val="accent2"/>
                  </a:solidFill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solidFill>
                    <a:schemeClr val="accent2"/>
                  </a:solidFill>
                  <a:latin typeface="Trebuchet MS" panose="020B0603020202020204" pitchFamily="34" charset="0"/>
                </a:rPr>
                <a:t>2</a:t>
              </a:r>
              <a:r>
                <a:rPr lang="fr-FR" altLang="en-US" sz="1400">
                  <a:solidFill>
                    <a:schemeClr val="accent2"/>
                  </a:solidFill>
                  <a:latin typeface="Trebuchet MS" panose="020B0603020202020204" pitchFamily="34" charset="0"/>
                </a:rPr>
                <a:t>(III,I)+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solidFill>
                    <a:srgbClr val="FF3300"/>
                  </a:solidFill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solidFill>
                    <a:srgbClr val="FF3300"/>
                  </a:solidFill>
                  <a:latin typeface="Trebuchet MS" panose="020B0603020202020204" pitchFamily="34" charset="0"/>
                </a:rPr>
                <a:t>3</a:t>
              </a:r>
              <a:r>
                <a:rPr lang="fr-FR" altLang="en-US" sz="1400">
                  <a:solidFill>
                    <a:srgbClr val="FF3300"/>
                  </a:solidFill>
                  <a:latin typeface="Trebuchet MS" panose="020B0603020202020204" pitchFamily="34" charset="0"/>
                </a:rPr>
                <a:t>(I,III)</a:t>
              </a:r>
            </a:p>
          </p:txBody>
        </p:sp>
        <p:sp>
          <p:nvSpPr>
            <p:cNvPr id="31795" name="Text Box 86"/>
            <p:cNvSpPr txBox="1">
              <a:spLocks noChangeArrowheads="1"/>
            </p:cNvSpPr>
            <p:nvPr/>
          </p:nvSpPr>
          <p:spPr bwMode="auto">
            <a:xfrm>
              <a:off x="3655" y="2900"/>
              <a:ext cx="4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solidFill>
                    <a:schemeClr val="accent2"/>
                  </a:solidFill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solidFill>
                    <a:schemeClr val="accent2"/>
                  </a:solidFill>
                  <a:latin typeface="Trebuchet MS" panose="020B0603020202020204" pitchFamily="34" charset="0"/>
                </a:rPr>
                <a:t>2</a:t>
              </a:r>
              <a:r>
                <a:rPr lang="fr-FR" altLang="en-US" sz="1400">
                  <a:solidFill>
                    <a:schemeClr val="accent2"/>
                  </a:solidFill>
                  <a:latin typeface="Trebuchet MS" panose="020B0603020202020204" pitchFamily="34" charset="0"/>
                </a:rPr>
                <a:t>(II,I)</a:t>
              </a:r>
            </a:p>
          </p:txBody>
        </p:sp>
        <p:sp>
          <p:nvSpPr>
            <p:cNvPr id="31796" name="Text Box 87"/>
            <p:cNvSpPr txBox="1">
              <a:spLocks noChangeArrowheads="1"/>
            </p:cNvSpPr>
            <p:nvPr/>
          </p:nvSpPr>
          <p:spPr bwMode="auto">
            <a:xfrm>
              <a:off x="3041" y="3214"/>
              <a:ext cx="4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solidFill>
                    <a:schemeClr val="accent2"/>
                  </a:solidFill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solidFill>
                    <a:schemeClr val="accent2"/>
                  </a:solidFill>
                  <a:latin typeface="Trebuchet MS" panose="020B0603020202020204" pitchFamily="34" charset="0"/>
                </a:rPr>
                <a:t>2</a:t>
              </a:r>
              <a:r>
                <a:rPr lang="fr-FR" altLang="en-US" sz="1400">
                  <a:solidFill>
                    <a:schemeClr val="accent2"/>
                  </a:solidFill>
                  <a:latin typeface="Trebuchet MS" panose="020B0603020202020204" pitchFamily="34" charset="0"/>
                </a:rPr>
                <a:t>(I,II)</a:t>
              </a:r>
            </a:p>
          </p:txBody>
        </p:sp>
        <p:sp>
          <p:nvSpPr>
            <p:cNvPr id="31797" name="Text Box 88"/>
            <p:cNvSpPr txBox="1">
              <a:spLocks noChangeArrowheads="1"/>
            </p:cNvSpPr>
            <p:nvPr/>
          </p:nvSpPr>
          <p:spPr bwMode="auto">
            <a:xfrm>
              <a:off x="2423" y="2226"/>
              <a:ext cx="4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solidFill>
                    <a:srgbClr val="FF3300"/>
                  </a:solidFill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solidFill>
                    <a:srgbClr val="FF3300"/>
                  </a:solidFill>
                  <a:latin typeface="Trebuchet MS" panose="020B0603020202020204" pitchFamily="34" charset="0"/>
                </a:rPr>
                <a:t>3</a:t>
              </a:r>
              <a:r>
                <a:rPr lang="fr-FR" altLang="en-US" sz="1400">
                  <a:solidFill>
                    <a:srgbClr val="FF3300"/>
                  </a:solidFill>
                  <a:latin typeface="Trebuchet MS" panose="020B0603020202020204" pitchFamily="34" charset="0"/>
                </a:rPr>
                <a:t>(I,II)</a:t>
              </a:r>
            </a:p>
          </p:txBody>
        </p:sp>
        <p:sp>
          <p:nvSpPr>
            <p:cNvPr id="31798" name="Text Box 89"/>
            <p:cNvSpPr txBox="1">
              <a:spLocks noChangeArrowheads="1"/>
            </p:cNvSpPr>
            <p:nvPr/>
          </p:nvSpPr>
          <p:spPr bwMode="auto">
            <a:xfrm>
              <a:off x="1766" y="2565"/>
              <a:ext cx="4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solidFill>
                    <a:srgbClr val="FF3300"/>
                  </a:solidFill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solidFill>
                    <a:srgbClr val="FF3300"/>
                  </a:solidFill>
                  <a:latin typeface="Trebuchet MS" panose="020B0603020202020204" pitchFamily="34" charset="0"/>
                </a:rPr>
                <a:t>3</a:t>
              </a:r>
              <a:r>
                <a:rPr lang="fr-FR" altLang="en-US" sz="1400">
                  <a:solidFill>
                    <a:srgbClr val="FF3300"/>
                  </a:solidFill>
                  <a:latin typeface="Trebuchet MS" panose="020B0603020202020204" pitchFamily="34" charset="0"/>
                </a:rPr>
                <a:t>(II,I)</a:t>
              </a:r>
            </a:p>
          </p:txBody>
        </p:sp>
        <p:sp>
          <p:nvSpPr>
            <p:cNvPr id="31799" name="Text Box 90"/>
            <p:cNvSpPr txBox="1">
              <a:spLocks noChangeArrowheads="1"/>
            </p:cNvSpPr>
            <p:nvPr/>
          </p:nvSpPr>
          <p:spPr bwMode="auto">
            <a:xfrm>
              <a:off x="2367" y="2507"/>
              <a:ext cx="589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solidFill>
                    <a:srgbClr val="FF3300"/>
                  </a:solidFill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solidFill>
                    <a:srgbClr val="FF3300"/>
                  </a:solidFill>
                  <a:latin typeface="Trebuchet MS" panose="020B0603020202020204" pitchFamily="34" charset="0"/>
                </a:rPr>
                <a:t>3</a:t>
              </a:r>
              <a:r>
                <a:rPr lang="fr-FR" altLang="en-US" sz="1400">
                  <a:solidFill>
                    <a:srgbClr val="FF3300"/>
                  </a:solidFill>
                  <a:latin typeface="Trebuchet MS" panose="020B0603020202020204" pitchFamily="34" charset="0"/>
                </a:rPr>
                <a:t>(II,II)+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solidFill>
                    <a:srgbClr val="00CC00"/>
                  </a:solidFill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solidFill>
                    <a:srgbClr val="00CC00"/>
                  </a:solidFill>
                  <a:latin typeface="Trebuchet MS" panose="020B0603020202020204" pitchFamily="34" charset="0"/>
                </a:rPr>
                <a:t>4</a:t>
              </a:r>
              <a:r>
                <a:rPr lang="fr-FR" altLang="en-US" sz="1400">
                  <a:solidFill>
                    <a:srgbClr val="00CC00"/>
                  </a:solidFill>
                  <a:latin typeface="Trebuchet MS" panose="020B0603020202020204" pitchFamily="34" charset="0"/>
                </a:rPr>
                <a:t>(III,III)</a:t>
              </a:r>
            </a:p>
          </p:txBody>
        </p:sp>
        <p:sp>
          <p:nvSpPr>
            <p:cNvPr id="31800" name="Text Box 91"/>
            <p:cNvSpPr txBox="1">
              <a:spLocks noChangeArrowheads="1"/>
            </p:cNvSpPr>
            <p:nvPr/>
          </p:nvSpPr>
          <p:spPr bwMode="auto">
            <a:xfrm>
              <a:off x="3622" y="2502"/>
              <a:ext cx="617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solidFill>
                    <a:srgbClr val="FF3300"/>
                  </a:solidFill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solidFill>
                    <a:srgbClr val="FF3300"/>
                  </a:solidFill>
                  <a:latin typeface="Trebuchet MS" panose="020B0603020202020204" pitchFamily="34" charset="0"/>
                </a:rPr>
                <a:t>3</a:t>
              </a:r>
              <a:r>
                <a:rPr lang="fr-FR" altLang="en-US" sz="1400">
                  <a:solidFill>
                    <a:srgbClr val="FF3300"/>
                  </a:solidFill>
                  <a:latin typeface="Trebuchet MS" panose="020B0603020202020204" pitchFamily="34" charset="0"/>
                </a:rPr>
                <a:t>(II,III)+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solidFill>
                    <a:srgbClr val="00CC00"/>
                  </a:solidFill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solidFill>
                    <a:srgbClr val="00CC00"/>
                  </a:solidFill>
                  <a:latin typeface="Trebuchet MS" panose="020B0603020202020204" pitchFamily="34" charset="0"/>
                </a:rPr>
                <a:t>4</a:t>
              </a:r>
              <a:r>
                <a:rPr lang="fr-FR" altLang="en-US" sz="1400">
                  <a:solidFill>
                    <a:srgbClr val="00CC00"/>
                  </a:solidFill>
                  <a:latin typeface="Trebuchet MS" panose="020B0603020202020204" pitchFamily="34" charset="0"/>
                </a:rPr>
                <a:t>(III,II)</a:t>
              </a:r>
            </a:p>
          </p:txBody>
        </p:sp>
        <p:sp>
          <p:nvSpPr>
            <p:cNvPr id="31801" name="Text Box 92"/>
            <p:cNvSpPr txBox="1">
              <a:spLocks noChangeArrowheads="1"/>
            </p:cNvSpPr>
            <p:nvPr/>
          </p:nvSpPr>
          <p:spPr bwMode="auto">
            <a:xfrm>
              <a:off x="2359" y="3202"/>
              <a:ext cx="617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solidFill>
                    <a:srgbClr val="FF3300"/>
                  </a:solidFill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solidFill>
                    <a:srgbClr val="FF3300"/>
                  </a:solidFill>
                  <a:latin typeface="Trebuchet MS" panose="020B0603020202020204" pitchFamily="34" charset="0"/>
                </a:rPr>
                <a:t>3</a:t>
              </a:r>
              <a:r>
                <a:rPr lang="fr-FR" altLang="en-US" sz="1400">
                  <a:solidFill>
                    <a:srgbClr val="FF3300"/>
                  </a:solidFill>
                  <a:latin typeface="Trebuchet MS" panose="020B0603020202020204" pitchFamily="34" charset="0"/>
                </a:rPr>
                <a:t>(III,II)+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solidFill>
                    <a:srgbClr val="00CC00"/>
                  </a:solidFill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solidFill>
                    <a:srgbClr val="00CC00"/>
                  </a:solidFill>
                  <a:latin typeface="Trebuchet MS" panose="020B0603020202020204" pitchFamily="34" charset="0"/>
                </a:rPr>
                <a:t>4</a:t>
              </a:r>
              <a:r>
                <a:rPr lang="fr-FR" altLang="en-US" sz="1400">
                  <a:solidFill>
                    <a:srgbClr val="00CC00"/>
                  </a:solidFill>
                  <a:latin typeface="Trebuchet MS" panose="020B0603020202020204" pitchFamily="34" charset="0"/>
                </a:rPr>
                <a:t>(II,III)</a:t>
              </a:r>
            </a:p>
          </p:txBody>
        </p:sp>
        <p:sp>
          <p:nvSpPr>
            <p:cNvPr id="31802" name="Text Box 93"/>
            <p:cNvSpPr txBox="1">
              <a:spLocks noChangeArrowheads="1"/>
            </p:cNvSpPr>
            <p:nvPr/>
          </p:nvSpPr>
          <p:spPr bwMode="auto">
            <a:xfrm>
              <a:off x="4311" y="2559"/>
              <a:ext cx="53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solidFill>
                    <a:srgbClr val="00CC00"/>
                  </a:solidFill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solidFill>
                    <a:srgbClr val="00CC00"/>
                  </a:solidFill>
                  <a:latin typeface="Trebuchet MS" panose="020B0603020202020204" pitchFamily="34" charset="0"/>
                </a:rPr>
                <a:t>4</a:t>
              </a:r>
              <a:r>
                <a:rPr lang="fr-FR" altLang="en-US" sz="1400">
                  <a:solidFill>
                    <a:srgbClr val="00CC00"/>
                  </a:solidFill>
                  <a:latin typeface="Trebuchet MS" panose="020B0603020202020204" pitchFamily="34" charset="0"/>
                </a:rPr>
                <a:t>(III,I)</a:t>
              </a:r>
            </a:p>
          </p:txBody>
        </p:sp>
        <p:sp>
          <p:nvSpPr>
            <p:cNvPr id="31803" name="Text Box 94"/>
            <p:cNvSpPr txBox="1">
              <a:spLocks noChangeArrowheads="1"/>
            </p:cNvSpPr>
            <p:nvPr/>
          </p:nvSpPr>
          <p:spPr bwMode="auto">
            <a:xfrm>
              <a:off x="2386" y="3596"/>
              <a:ext cx="53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solidFill>
                    <a:srgbClr val="00CC00"/>
                  </a:solidFill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solidFill>
                    <a:srgbClr val="00CC00"/>
                  </a:solidFill>
                  <a:latin typeface="Trebuchet MS" panose="020B0603020202020204" pitchFamily="34" charset="0"/>
                </a:rPr>
                <a:t>4</a:t>
              </a:r>
              <a:r>
                <a:rPr lang="fr-FR" altLang="en-US" sz="1400">
                  <a:solidFill>
                    <a:srgbClr val="00CC00"/>
                  </a:solidFill>
                  <a:latin typeface="Trebuchet MS" panose="020B0603020202020204" pitchFamily="34" charset="0"/>
                </a:rPr>
                <a:t>(I,III)</a:t>
              </a:r>
            </a:p>
          </p:txBody>
        </p:sp>
        <p:sp>
          <p:nvSpPr>
            <p:cNvPr id="31804" name="Text Box 95"/>
            <p:cNvSpPr txBox="1">
              <a:spLocks noChangeArrowheads="1"/>
            </p:cNvSpPr>
            <p:nvPr/>
          </p:nvSpPr>
          <p:spPr bwMode="auto">
            <a:xfrm>
              <a:off x="4311" y="3264"/>
              <a:ext cx="4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solidFill>
                    <a:srgbClr val="00CC00"/>
                  </a:solidFill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solidFill>
                    <a:srgbClr val="00CC00"/>
                  </a:solidFill>
                  <a:latin typeface="Trebuchet MS" panose="020B0603020202020204" pitchFamily="34" charset="0"/>
                </a:rPr>
                <a:t>4</a:t>
              </a:r>
              <a:r>
                <a:rPr lang="fr-FR" altLang="en-US" sz="1400">
                  <a:solidFill>
                    <a:srgbClr val="00CC00"/>
                  </a:solidFill>
                  <a:latin typeface="Trebuchet MS" panose="020B0603020202020204" pitchFamily="34" charset="0"/>
                </a:rPr>
                <a:t>(II,I)</a:t>
              </a:r>
            </a:p>
          </p:txBody>
        </p:sp>
        <p:sp>
          <p:nvSpPr>
            <p:cNvPr id="31805" name="Text Box 96"/>
            <p:cNvSpPr txBox="1">
              <a:spLocks noChangeArrowheads="1"/>
            </p:cNvSpPr>
            <p:nvPr/>
          </p:nvSpPr>
          <p:spPr bwMode="auto">
            <a:xfrm>
              <a:off x="3689" y="3588"/>
              <a:ext cx="4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solidFill>
                    <a:srgbClr val="00CC00"/>
                  </a:solidFill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solidFill>
                    <a:srgbClr val="00CC00"/>
                  </a:solidFill>
                  <a:latin typeface="Trebuchet MS" panose="020B0603020202020204" pitchFamily="34" charset="0"/>
                </a:rPr>
                <a:t>4</a:t>
              </a:r>
              <a:r>
                <a:rPr lang="fr-FR" altLang="en-US" sz="1400">
                  <a:solidFill>
                    <a:srgbClr val="00CC00"/>
                  </a:solidFill>
                  <a:latin typeface="Trebuchet MS" panose="020B0603020202020204" pitchFamily="34" charset="0"/>
                </a:rPr>
                <a:t>(I,II)</a:t>
              </a:r>
            </a:p>
          </p:txBody>
        </p:sp>
        <p:sp>
          <p:nvSpPr>
            <p:cNvPr id="31806" name="Text Box 97"/>
            <p:cNvSpPr txBox="1">
              <a:spLocks noChangeArrowheads="1"/>
            </p:cNvSpPr>
            <p:nvPr/>
          </p:nvSpPr>
          <p:spPr bwMode="auto">
            <a:xfrm>
              <a:off x="4345" y="3583"/>
              <a:ext cx="4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solidFill>
                    <a:srgbClr val="00CC00"/>
                  </a:solidFill>
                  <a:latin typeface="Trebuchet MS" panose="020B0603020202020204" pitchFamily="34" charset="0"/>
                </a:rPr>
                <a:t>AE</a:t>
              </a:r>
              <a:r>
                <a:rPr lang="fr-FR" altLang="en-US" sz="1400" baseline="30000">
                  <a:solidFill>
                    <a:srgbClr val="00CC00"/>
                  </a:solidFill>
                  <a:latin typeface="Trebuchet MS" panose="020B0603020202020204" pitchFamily="34" charset="0"/>
                </a:rPr>
                <a:t>4</a:t>
              </a:r>
              <a:r>
                <a:rPr lang="fr-FR" altLang="en-US" sz="1400">
                  <a:solidFill>
                    <a:srgbClr val="00CC00"/>
                  </a:solidFill>
                  <a:latin typeface="Trebuchet MS" panose="020B0603020202020204" pitchFamily="34" charset="0"/>
                </a:rPr>
                <a:t>(I,I)</a:t>
              </a:r>
            </a:p>
          </p:txBody>
        </p:sp>
        <p:sp>
          <p:nvSpPr>
            <p:cNvPr id="31807" name="Text Box 98"/>
            <p:cNvSpPr txBox="1">
              <a:spLocks noChangeArrowheads="1"/>
            </p:cNvSpPr>
            <p:nvPr/>
          </p:nvSpPr>
          <p:spPr bwMode="auto">
            <a:xfrm>
              <a:off x="2618" y="1898"/>
              <a:ext cx="17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latin typeface="Trebuchet MS" panose="020B0603020202020204" pitchFamily="34" charset="0"/>
                </a:rPr>
                <a:t>0</a:t>
              </a:r>
            </a:p>
          </p:txBody>
        </p:sp>
        <p:sp>
          <p:nvSpPr>
            <p:cNvPr id="31808" name="Text Box 99"/>
            <p:cNvSpPr txBox="1">
              <a:spLocks noChangeArrowheads="1"/>
            </p:cNvSpPr>
            <p:nvPr/>
          </p:nvSpPr>
          <p:spPr bwMode="auto">
            <a:xfrm>
              <a:off x="3896" y="1898"/>
              <a:ext cx="17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latin typeface="Trebuchet MS" panose="020B0603020202020204" pitchFamily="34" charset="0"/>
                </a:rPr>
                <a:t>0</a:t>
              </a:r>
            </a:p>
          </p:txBody>
        </p:sp>
        <p:sp>
          <p:nvSpPr>
            <p:cNvPr id="31809" name="Text Box 100"/>
            <p:cNvSpPr txBox="1">
              <a:spLocks noChangeArrowheads="1"/>
            </p:cNvSpPr>
            <p:nvPr/>
          </p:nvSpPr>
          <p:spPr bwMode="auto">
            <a:xfrm>
              <a:off x="4518" y="1898"/>
              <a:ext cx="17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latin typeface="Trebuchet MS" panose="020B0603020202020204" pitchFamily="34" charset="0"/>
                </a:rPr>
                <a:t>0</a:t>
              </a:r>
            </a:p>
          </p:txBody>
        </p:sp>
        <p:sp>
          <p:nvSpPr>
            <p:cNvPr id="31810" name="Text Box 101"/>
            <p:cNvSpPr txBox="1">
              <a:spLocks noChangeArrowheads="1"/>
            </p:cNvSpPr>
            <p:nvPr/>
          </p:nvSpPr>
          <p:spPr bwMode="auto">
            <a:xfrm>
              <a:off x="4518" y="2226"/>
              <a:ext cx="17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latin typeface="Trebuchet MS" panose="020B0603020202020204" pitchFamily="34" charset="0"/>
                </a:rPr>
                <a:t>0</a:t>
              </a:r>
            </a:p>
          </p:txBody>
        </p:sp>
        <p:sp>
          <p:nvSpPr>
            <p:cNvPr id="31811" name="Text Box 102"/>
            <p:cNvSpPr txBox="1">
              <a:spLocks noChangeArrowheads="1"/>
            </p:cNvSpPr>
            <p:nvPr/>
          </p:nvSpPr>
          <p:spPr bwMode="auto">
            <a:xfrm>
              <a:off x="1315" y="2565"/>
              <a:ext cx="17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latin typeface="Trebuchet MS" panose="020B0603020202020204" pitchFamily="34" charset="0"/>
                </a:rPr>
                <a:t>0</a:t>
              </a:r>
            </a:p>
          </p:txBody>
        </p:sp>
        <p:sp>
          <p:nvSpPr>
            <p:cNvPr id="31812" name="Text Box 103"/>
            <p:cNvSpPr txBox="1">
              <a:spLocks noChangeArrowheads="1"/>
            </p:cNvSpPr>
            <p:nvPr/>
          </p:nvSpPr>
          <p:spPr bwMode="auto">
            <a:xfrm>
              <a:off x="3236" y="2555"/>
              <a:ext cx="17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latin typeface="Trebuchet MS" panose="020B0603020202020204" pitchFamily="34" charset="0"/>
                </a:rPr>
                <a:t>0</a:t>
              </a:r>
            </a:p>
          </p:txBody>
        </p:sp>
        <p:sp>
          <p:nvSpPr>
            <p:cNvPr id="31813" name="Text Box 104"/>
            <p:cNvSpPr txBox="1">
              <a:spLocks noChangeArrowheads="1"/>
            </p:cNvSpPr>
            <p:nvPr/>
          </p:nvSpPr>
          <p:spPr bwMode="auto">
            <a:xfrm>
              <a:off x="4518" y="2915"/>
              <a:ext cx="17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latin typeface="Trebuchet MS" panose="020B0603020202020204" pitchFamily="34" charset="0"/>
                </a:rPr>
                <a:t>0</a:t>
              </a:r>
            </a:p>
          </p:txBody>
        </p:sp>
        <p:sp>
          <p:nvSpPr>
            <p:cNvPr id="31814" name="Text Box 105"/>
            <p:cNvSpPr txBox="1">
              <a:spLocks noChangeArrowheads="1"/>
            </p:cNvSpPr>
            <p:nvPr/>
          </p:nvSpPr>
          <p:spPr bwMode="auto">
            <a:xfrm>
              <a:off x="2618" y="2915"/>
              <a:ext cx="17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latin typeface="Trebuchet MS" panose="020B0603020202020204" pitchFamily="34" charset="0"/>
                </a:rPr>
                <a:t>0</a:t>
              </a:r>
            </a:p>
          </p:txBody>
        </p:sp>
        <p:sp>
          <p:nvSpPr>
            <p:cNvPr id="31815" name="Text Box 106"/>
            <p:cNvSpPr txBox="1">
              <a:spLocks noChangeArrowheads="1"/>
            </p:cNvSpPr>
            <p:nvPr/>
          </p:nvSpPr>
          <p:spPr bwMode="auto">
            <a:xfrm>
              <a:off x="1322" y="3245"/>
              <a:ext cx="17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latin typeface="Trebuchet MS" panose="020B0603020202020204" pitchFamily="34" charset="0"/>
                </a:rPr>
                <a:t>0</a:t>
              </a:r>
            </a:p>
          </p:txBody>
        </p:sp>
        <p:sp>
          <p:nvSpPr>
            <p:cNvPr id="31816" name="Text Box 107"/>
            <p:cNvSpPr txBox="1">
              <a:spLocks noChangeArrowheads="1"/>
            </p:cNvSpPr>
            <p:nvPr/>
          </p:nvSpPr>
          <p:spPr bwMode="auto">
            <a:xfrm>
              <a:off x="1325" y="3596"/>
              <a:ext cx="17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latin typeface="Trebuchet MS" panose="020B0603020202020204" pitchFamily="34" charset="0"/>
                </a:rPr>
                <a:t>0</a:t>
              </a:r>
            </a:p>
          </p:txBody>
        </p:sp>
        <p:sp>
          <p:nvSpPr>
            <p:cNvPr id="31817" name="Text Box 108"/>
            <p:cNvSpPr txBox="1">
              <a:spLocks noChangeArrowheads="1"/>
            </p:cNvSpPr>
            <p:nvPr/>
          </p:nvSpPr>
          <p:spPr bwMode="auto">
            <a:xfrm>
              <a:off x="1953" y="3596"/>
              <a:ext cx="17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latin typeface="Trebuchet MS" panose="020B0603020202020204" pitchFamily="34" charset="0"/>
                </a:rPr>
                <a:t>0</a:t>
              </a:r>
            </a:p>
          </p:txBody>
        </p:sp>
        <p:sp>
          <p:nvSpPr>
            <p:cNvPr id="31818" name="Text Box 109"/>
            <p:cNvSpPr txBox="1">
              <a:spLocks noChangeArrowheads="1"/>
            </p:cNvSpPr>
            <p:nvPr/>
          </p:nvSpPr>
          <p:spPr bwMode="auto">
            <a:xfrm>
              <a:off x="3236" y="3596"/>
              <a:ext cx="17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400">
                  <a:latin typeface="Trebuchet MS" panose="020B0603020202020204" pitchFamily="34" charset="0"/>
                </a:rPr>
                <a:t>0</a:t>
              </a:r>
            </a:p>
          </p:txBody>
        </p:sp>
        <p:sp>
          <p:nvSpPr>
            <p:cNvPr id="31819" name="Rectangle 110"/>
            <p:cNvSpPr>
              <a:spLocks noChangeArrowheads="1"/>
            </p:cNvSpPr>
            <p:nvPr/>
          </p:nvSpPr>
          <p:spPr bwMode="auto">
            <a:xfrm>
              <a:off x="1100" y="1834"/>
              <a:ext cx="1266" cy="67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20" name="Rectangle 111"/>
            <p:cNvSpPr>
              <a:spLocks noChangeArrowheads="1"/>
            </p:cNvSpPr>
            <p:nvPr/>
          </p:nvSpPr>
          <p:spPr bwMode="auto">
            <a:xfrm>
              <a:off x="1733" y="1834"/>
              <a:ext cx="1266" cy="67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21" name="Rectangle 112"/>
            <p:cNvSpPr>
              <a:spLocks noChangeArrowheads="1"/>
            </p:cNvSpPr>
            <p:nvPr/>
          </p:nvSpPr>
          <p:spPr bwMode="auto">
            <a:xfrm>
              <a:off x="1100" y="2173"/>
              <a:ext cx="1266" cy="67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22" name="Rectangle 113"/>
            <p:cNvSpPr>
              <a:spLocks noChangeArrowheads="1"/>
            </p:cNvSpPr>
            <p:nvPr/>
          </p:nvSpPr>
          <p:spPr bwMode="auto">
            <a:xfrm>
              <a:off x="1733" y="2173"/>
              <a:ext cx="1266" cy="67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23" name="Rectangle 114"/>
            <p:cNvSpPr>
              <a:spLocks noChangeArrowheads="1"/>
            </p:cNvSpPr>
            <p:nvPr/>
          </p:nvSpPr>
          <p:spPr bwMode="auto">
            <a:xfrm>
              <a:off x="1100" y="2512"/>
              <a:ext cx="1266" cy="67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24" name="Rectangle 115"/>
            <p:cNvSpPr>
              <a:spLocks noChangeArrowheads="1"/>
            </p:cNvSpPr>
            <p:nvPr/>
          </p:nvSpPr>
          <p:spPr bwMode="auto">
            <a:xfrm>
              <a:off x="1733" y="2512"/>
              <a:ext cx="1266" cy="67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25" name="Rectangle 116"/>
            <p:cNvSpPr>
              <a:spLocks noChangeArrowheads="1"/>
            </p:cNvSpPr>
            <p:nvPr/>
          </p:nvSpPr>
          <p:spPr bwMode="auto">
            <a:xfrm>
              <a:off x="1100" y="2851"/>
              <a:ext cx="1266" cy="67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26" name="Rectangle 117"/>
            <p:cNvSpPr>
              <a:spLocks noChangeArrowheads="1"/>
            </p:cNvSpPr>
            <p:nvPr/>
          </p:nvSpPr>
          <p:spPr bwMode="auto">
            <a:xfrm>
              <a:off x="1100" y="2851"/>
              <a:ext cx="1266" cy="67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27" name="Rectangle 118"/>
            <p:cNvSpPr>
              <a:spLocks noChangeArrowheads="1"/>
            </p:cNvSpPr>
            <p:nvPr/>
          </p:nvSpPr>
          <p:spPr bwMode="auto">
            <a:xfrm>
              <a:off x="1733" y="2851"/>
              <a:ext cx="1266" cy="67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28" name="Rectangle 119"/>
            <p:cNvSpPr>
              <a:spLocks noChangeArrowheads="1"/>
            </p:cNvSpPr>
            <p:nvPr/>
          </p:nvSpPr>
          <p:spPr bwMode="auto">
            <a:xfrm>
              <a:off x="2367" y="1834"/>
              <a:ext cx="1265" cy="67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29" name="Rectangle 120"/>
            <p:cNvSpPr>
              <a:spLocks noChangeArrowheads="1"/>
            </p:cNvSpPr>
            <p:nvPr/>
          </p:nvSpPr>
          <p:spPr bwMode="auto">
            <a:xfrm>
              <a:off x="2999" y="1834"/>
              <a:ext cx="1266" cy="67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30" name="Rectangle 121"/>
            <p:cNvSpPr>
              <a:spLocks noChangeArrowheads="1"/>
            </p:cNvSpPr>
            <p:nvPr/>
          </p:nvSpPr>
          <p:spPr bwMode="auto">
            <a:xfrm>
              <a:off x="2999" y="2173"/>
              <a:ext cx="1266" cy="67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31" name="Rectangle 122"/>
            <p:cNvSpPr>
              <a:spLocks noChangeArrowheads="1"/>
            </p:cNvSpPr>
            <p:nvPr/>
          </p:nvSpPr>
          <p:spPr bwMode="auto">
            <a:xfrm>
              <a:off x="2367" y="2512"/>
              <a:ext cx="1265" cy="67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32" name="Rectangle 123"/>
            <p:cNvSpPr>
              <a:spLocks noChangeArrowheads="1"/>
            </p:cNvSpPr>
            <p:nvPr/>
          </p:nvSpPr>
          <p:spPr bwMode="auto">
            <a:xfrm>
              <a:off x="2366" y="2851"/>
              <a:ext cx="1265" cy="67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33" name="Rectangle 124"/>
            <p:cNvSpPr>
              <a:spLocks noChangeArrowheads="1"/>
            </p:cNvSpPr>
            <p:nvPr/>
          </p:nvSpPr>
          <p:spPr bwMode="auto">
            <a:xfrm>
              <a:off x="2366" y="2851"/>
              <a:ext cx="1265" cy="67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34" name="Rectangle 125"/>
            <p:cNvSpPr>
              <a:spLocks noChangeArrowheads="1"/>
            </p:cNvSpPr>
            <p:nvPr/>
          </p:nvSpPr>
          <p:spPr bwMode="auto">
            <a:xfrm>
              <a:off x="2999" y="2851"/>
              <a:ext cx="1266" cy="67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35" name="Rectangle 126"/>
            <p:cNvSpPr>
              <a:spLocks noChangeArrowheads="1"/>
            </p:cNvSpPr>
            <p:nvPr/>
          </p:nvSpPr>
          <p:spPr bwMode="auto">
            <a:xfrm>
              <a:off x="2999" y="2851"/>
              <a:ext cx="1266" cy="67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36" name="Rectangle 127"/>
            <p:cNvSpPr>
              <a:spLocks noChangeArrowheads="1"/>
            </p:cNvSpPr>
            <p:nvPr/>
          </p:nvSpPr>
          <p:spPr bwMode="auto">
            <a:xfrm>
              <a:off x="3632" y="1834"/>
              <a:ext cx="1266" cy="67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37" name="Rectangle 128"/>
            <p:cNvSpPr>
              <a:spLocks noChangeArrowheads="1"/>
            </p:cNvSpPr>
            <p:nvPr/>
          </p:nvSpPr>
          <p:spPr bwMode="auto">
            <a:xfrm>
              <a:off x="3632" y="2173"/>
              <a:ext cx="1266" cy="67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38" name="Rectangle 129"/>
            <p:cNvSpPr>
              <a:spLocks noChangeArrowheads="1"/>
            </p:cNvSpPr>
            <p:nvPr/>
          </p:nvSpPr>
          <p:spPr bwMode="auto">
            <a:xfrm>
              <a:off x="3632" y="2512"/>
              <a:ext cx="1266" cy="67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39" name="Rectangle 130"/>
            <p:cNvSpPr>
              <a:spLocks noChangeArrowheads="1"/>
            </p:cNvSpPr>
            <p:nvPr/>
          </p:nvSpPr>
          <p:spPr bwMode="auto">
            <a:xfrm>
              <a:off x="3632" y="2851"/>
              <a:ext cx="1266" cy="67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40" name="Rectangle 131"/>
            <p:cNvSpPr>
              <a:spLocks noChangeArrowheads="1"/>
            </p:cNvSpPr>
            <p:nvPr/>
          </p:nvSpPr>
          <p:spPr bwMode="auto">
            <a:xfrm>
              <a:off x="3632" y="2851"/>
              <a:ext cx="1266" cy="67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41" name="Rectangle 132"/>
            <p:cNvSpPr>
              <a:spLocks noChangeArrowheads="1"/>
            </p:cNvSpPr>
            <p:nvPr/>
          </p:nvSpPr>
          <p:spPr bwMode="auto">
            <a:xfrm>
              <a:off x="1100" y="3190"/>
              <a:ext cx="1266" cy="67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42" name="Rectangle 133"/>
            <p:cNvSpPr>
              <a:spLocks noChangeArrowheads="1"/>
            </p:cNvSpPr>
            <p:nvPr/>
          </p:nvSpPr>
          <p:spPr bwMode="auto">
            <a:xfrm>
              <a:off x="1733" y="3190"/>
              <a:ext cx="1266" cy="67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43" name="Rectangle 134"/>
            <p:cNvSpPr>
              <a:spLocks noChangeArrowheads="1"/>
            </p:cNvSpPr>
            <p:nvPr/>
          </p:nvSpPr>
          <p:spPr bwMode="auto">
            <a:xfrm>
              <a:off x="2366" y="3190"/>
              <a:ext cx="1265" cy="67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44" name="Rectangle 135"/>
            <p:cNvSpPr>
              <a:spLocks noChangeArrowheads="1"/>
            </p:cNvSpPr>
            <p:nvPr/>
          </p:nvSpPr>
          <p:spPr bwMode="auto">
            <a:xfrm>
              <a:off x="2999" y="3190"/>
              <a:ext cx="1266" cy="67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45" name="Rectangle 136"/>
            <p:cNvSpPr>
              <a:spLocks noChangeArrowheads="1"/>
            </p:cNvSpPr>
            <p:nvPr/>
          </p:nvSpPr>
          <p:spPr bwMode="auto">
            <a:xfrm>
              <a:off x="3632" y="3190"/>
              <a:ext cx="1266" cy="67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46" name="Text Box 137"/>
            <p:cNvSpPr txBox="1">
              <a:spLocks noChangeArrowheads="1"/>
            </p:cNvSpPr>
            <p:nvPr/>
          </p:nvSpPr>
          <p:spPr bwMode="auto">
            <a:xfrm>
              <a:off x="615" y="2730"/>
              <a:ext cx="4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[A</a:t>
              </a:r>
              <a:r>
                <a:rPr lang="fr-FR" altLang="en-US" sz="1800" baseline="-25000"/>
                <a:t>vol</a:t>
              </a:r>
              <a:r>
                <a:rPr lang="fr-FR" altLang="en-US" sz="1800"/>
                <a:t>]=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D48E219-891F-45B8-87FD-A1A06D08216F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fr-FR" altLang="en-US" sz="1400" b="0" smtClean="0"/>
          </a:p>
        </p:txBody>
      </p:sp>
      <p:sp>
        <p:nvSpPr>
          <p:cNvPr id="32771" name="Text Box 2"/>
          <p:cNvSpPr txBox="1">
            <a:spLocks noChangeArrowheads="1"/>
          </p:cNvSpPr>
          <p:nvPr/>
        </p:nvSpPr>
        <p:spPr bwMode="auto">
          <a:xfrm>
            <a:off x="179388" y="1806575"/>
            <a:ext cx="8696325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en-US" sz="2000"/>
              <a:t>Pour ie</a:t>
            </a:r>
            <a:r>
              <a:rPr lang="fr-FR" altLang="en-US" sz="1800"/>
              <a:t>_local</a:t>
            </a:r>
            <a:r>
              <a:rPr lang="fr-FR" altLang="en-US" sz="2000"/>
              <a:t> =I à NBN</a:t>
            </a: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en-US" sz="2000"/>
              <a:t>	i</a:t>
            </a:r>
            <a:r>
              <a:rPr lang="fr-FR" altLang="en-US" sz="1800"/>
              <a:t>_global</a:t>
            </a:r>
            <a:r>
              <a:rPr lang="fr-FR" altLang="en-US" sz="2000"/>
              <a:t> ← e.ind(ie</a:t>
            </a:r>
            <a:r>
              <a:rPr lang="fr-FR" altLang="en-US" sz="1800"/>
              <a:t>_local</a:t>
            </a:r>
            <a:r>
              <a:rPr lang="fr-FR" altLang="en-US" sz="2000"/>
              <a:t>)		// numérotation locale </a:t>
            </a:r>
            <a:r>
              <a:rPr lang="fr-FR" altLang="en-US" sz="2000">
                <a:latin typeface="Wingdings" panose="05000000000000000000" pitchFamily="2" charset="2"/>
                <a:sym typeface="Wingdings" panose="05000000000000000000" pitchFamily="2" charset="2"/>
              </a:rPr>
              <a:t></a:t>
            </a:r>
            <a:r>
              <a:rPr lang="fr-FR" altLang="en-US" sz="2000">
                <a:sym typeface="Symbol" panose="05050102010706020507" pitchFamily="18" charset="2"/>
              </a:rPr>
              <a:t> globale</a:t>
            </a: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en-US" sz="2000"/>
              <a:t>	Pour je</a:t>
            </a:r>
            <a:r>
              <a:rPr lang="fr-FR" altLang="en-US" sz="1800"/>
              <a:t>_local</a:t>
            </a:r>
            <a:r>
              <a:rPr lang="fr-FR" altLang="en-US" sz="2000"/>
              <a:t>=I à NBN		</a:t>
            </a: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en-US" sz="2000"/>
              <a:t>		j</a:t>
            </a:r>
            <a:r>
              <a:rPr lang="fr-FR" altLang="en-US" sz="1800"/>
              <a:t>_global</a:t>
            </a:r>
            <a:r>
              <a:rPr lang="fr-FR" altLang="en-US" sz="2000"/>
              <a:t> ← e.ind(je</a:t>
            </a:r>
            <a:r>
              <a:rPr lang="fr-FR" altLang="en-US" sz="1800"/>
              <a:t>_local</a:t>
            </a:r>
            <a:r>
              <a:rPr lang="fr-FR" altLang="en-US" sz="2000"/>
              <a:t>)</a:t>
            </a: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en-US" sz="2000"/>
              <a:t>		A(i_</a:t>
            </a:r>
            <a:r>
              <a:rPr lang="fr-FR" altLang="en-US" sz="1800"/>
              <a:t>global</a:t>
            </a:r>
            <a:r>
              <a:rPr lang="fr-FR" altLang="en-US" sz="2000"/>
              <a:t>,j</a:t>
            </a:r>
            <a:r>
              <a:rPr lang="fr-FR" altLang="en-US" sz="1800"/>
              <a:t>_global</a:t>
            </a:r>
            <a:r>
              <a:rPr lang="fr-FR" altLang="en-US" sz="2000"/>
              <a:t>) </a:t>
            </a:r>
            <a:r>
              <a:rPr lang="fr-FR" altLang="en-US" sz="1800"/>
              <a:t>← </a:t>
            </a:r>
            <a:r>
              <a:rPr lang="fr-FR" altLang="en-US" sz="2000"/>
              <a:t>A(i</a:t>
            </a:r>
            <a:r>
              <a:rPr lang="fr-FR" altLang="en-US" sz="1800"/>
              <a:t>_global</a:t>
            </a:r>
            <a:r>
              <a:rPr lang="fr-FR" altLang="en-US" sz="2000"/>
              <a:t>,j</a:t>
            </a:r>
            <a:r>
              <a:rPr lang="fr-FR" altLang="en-US" sz="1800"/>
              <a:t>_global</a:t>
            </a:r>
            <a:r>
              <a:rPr lang="fr-FR" altLang="en-US" sz="2000"/>
              <a:t>)+AE(ie</a:t>
            </a:r>
            <a:r>
              <a:rPr lang="fr-FR" altLang="en-US" sz="1800"/>
              <a:t>_local</a:t>
            </a:r>
            <a:r>
              <a:rPr lang="fr-FR" altLang="en-US" sz="2000"/>
              <a:t>,je</a:t>
            </a:r>
            <a:r>
              <a:rPr lang="fr-FR" altLang="en-US" sz="1800"/>
              <a:t>_local</a:t>
            </a:r>
            <a:r>
              <a:rPr lang="fr-FR" altLang="en-US" sz="2000"/>
              <a:t>)</a:t>
            </a: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en-US" sz="2000"/>
              <a:t>	Fin Pour je</a:t>
            </a:r>
            <a:r>
              <a:rPr lang="fr-FR" altLang="en-US" sz="1800"/>
              <a:t>_local</a:t>
            </a: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en-US" sz="2000"/>
              <a:t>Fin Pour ie</a:t>
            </a:r>
            <a:r>
              <a:rPr lang="fr-FR" altLang="en-US" sz="1800"/>
              <a:t>_local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303213" y="882650"/>
            <a:ext cx="873283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/>
              <a:t>On considère un seul élément </a:t>
            </a:r>
            <a:r>
              <a:rPr lang="fr-FR" altLang="en-US" sz="2000" b="1"/>
              <a:t>e</a:t>
            </a:r>
            <a:r>
              <a:rPr lang="fr-FR" altLang="en-US" sz="2000"/>
              <a:t>. On assemble AE dans la matrice globale 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/>
              <a:t>On note 	</a:t>
            </a:r>
            <a:r>
              <a:rPr lang="fr-FR" altLang="en-US" sz="2000" b="1"/>
              <a:t>NBN</a:t>
            </a:r>
            <a:r>
              <a:rPr lang="fr-FR" altLang="en-US" sz="2000"/>
              <a:t> : le nombre de nœuds de l</a:t>
            </a:r>
            <a:r>
              <a:rPr lang="ja-JP" altLang="fr-FR" sz="2000"/>
              <a:t>’</a:t>
            </a:r>
            <a:r>
              <a:rPr lang="fr-FR" altLang="ja-JP" sz="2000"/>
              <a:t>élément </a:t>
            </a:r>
            <a:r>
              <a:rPr lang="fr-FR" altLang="ja-JP" sz="2000" b="1"/>
              <a:t>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/>
              <a:t>		</a:t>
            </a:r>
            <a:r>
              <a:rPr lang="fr-FR" altLang="en-US" sz="2000" b="1"/>
              <a:t>ind</a:t>
            </a:r>
            <a:r>
              <a:rPr lang="fr-FR" altLang="en-US" sz="2000"/>
              <a:t> : la table de connectivité</a:t>
            </a:r>
          </a:p>
        </p:txBody>
      </p:sp>
      <p:sp>
        <p:nvSpPr>
          <p:cNvPr id="32773" name="Line 5"/>
          <p:cNvSpPr>
            <a:spLocks noChangeShapeType="1"/>
          </p:cNvSpPr>
          <p:nvPr/>
        </p:nvSpPr>
        <p:spPr bwMode="auto">
          <a:xfrm>
            <a:off x="323850" y="2349500"/>
            <a:ext cx="0" cy="338455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2774" name="Line 6"/>
          <p:cNvSpPr>
            <a:spLocks noChangeShapeType="1"/>
          </p:cNvSpPr>
          <p:nvPr/>
        </p:nvSpPr>
        <p:spPr bwMode="auto">
          <a:xfrm>
            <a:off x="1258888" y="3573463"/>
            <a:ext cx="0" cy="1584325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250825" y="187325"/>
            <a:ext cx="8469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solidFill>
                  <a:schemeClr val="accent2"/>
                </a:solidFill>
              </a:rPr>
              <a:t>Algorithme d</a:t>
            </a:r>
            <a:r>
              <a:rPr lang="ja-JP" altLang="fr-FR" sz="2400" b="1">
                <a:solidFill>
                  <a:schemeClr val="accent2"/>
                </a:solidFill>
              </a:rPr>
              <a:t>’</a:t>
            </a:r>
            <a:r>
              <a:rPr lang="fr-FR" altLang="ja-JP" sz="2400" b="1">
                <a:solidFill>
                  <a:schemeClr val="accent2"/>
                </a:solidFill>
              </a:rPr>
              <a:t>assemblage d</a:t>
            </a:r>
            <a:r>
              <a:rPr lang="ja-JP" altLang="fr-FR" sz="2400" b="1">
                <a:solidFill>
                  <a:schemeClr val="accent2"/>
                </a:solidFill>
              </a:rPr>
              <a:t>’</a:t>
            </a:r>
            <a:r>
              <a:rPr lang="fr-FR" altLang="ja-JP" sz="2400" b="1">
                <a:solidFill>
                  <a:schemeClr val="accent2"/>
                </a:solidFill>
              </a:rPr>
              <a:t>une matrice élémentaire</a:t>
            </a:r>
            <a:endParaRPr lang="fr-FR" altLang="en-US" sz="2400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5372C2-0B57-4E46-90BB-28084AA6DDC3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fr-FR" altLang="en-US" sz="1400" b="0" smtClean="0"/>
          </a:p>
        </p:txBody>
      </p:sp>
      <p:pic>
        <p:nvPicPr>
          <p:cNvPr id="3379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65" r="9937" b="9909"/>
          <a:stretch>
            <a:fillRect/>
          </a:stretch>
        </p:blipFill>
        <p:spPr bwMode="auto">
          <a:xfrm>
            <a:off x="0" y="838200"/>
            <a:ext cx="8893175" cy="590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6" name="Text Box 3"/>
          <p:cNvSpPr txBox="1">
            <a:spLocks noChangeArrowheads="1"/>
          </p:cNvSpPr>
          <p:nvPr/>
        </p:nvSpPr>
        <p:spPr bwMode="auto">
          <a:xfrm>
            <a:off x="179388" y="115888"/>
            <a:ext cx="6310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Résolution de l</a:t>
            </a:r>
            <a:r>
              <a:rPr lang="en-US" altLang="fr-FR" sz="2400"/>
              <a:t>’</a:t>
            </a:r>
            <a:r>
              <a:rPr lang="en-US" altLang="en-US" sz="2400"/>
              <a:t>équation de l</a:t>
            </a:r>
            <a:r>
              <a:rPr lang="en-US" altLang="fr-FR" sz="2400"/>
              <a:t>’</a:t>
            </a:r>
            <a:r>
              <a:rPr lang="en-US" altLang="en-US" sz="2400"/>
              <a:t>électrocinetique </a:t>
            </a:r>
          </a:p>
        </p:txBody>
      </p:sp>
      <p:sp>
        <p:nvSpPr>
          <p:cNvPr id="33797" name="Rectangle 4"/>
          <p:cNvSpPr>
            <a:spLocks noChangeArrowheads="1"/>
          </p:cNvSpPr>
          <p:nvPr/>
        </p:nvSpPr>
        <p:spPr bwMode="auto">
          <a:xfrm>
            <a:off x="4111625" y="520700"/>
            <a:ext cx="39687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>
                <a:solidFill>
                  <a:schemeClr val="accent2"/>
                </a:solidFill>
              </a:rPr>
              <a:t>/users/commun/respg/phelma_2/10_MEF/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>
                <a:solidFill>
                  <a:schemeClr val="accent2"/>
                </a:solidFill>
              </a:rPr>
              <a:t>MEF_main.m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27CD843-8B76-4ACB-AFE3-0EAAD1C599E5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fr-FR" altLang="en-US" sz="1400" b="0" smtClean="0"/>
          </a:p>
        </p:txBody>
      </p:sp>
      <p:pic>
        <p:nvPicPr>
          <p:cNvPr id="3481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13" y="347663"/>
            <a:ext cx="8105775" cy="616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5268E4-6BB5-4386-AD35-8B2B5680F7E7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fr-FR" altLang="en-US" sz="1400" b="0" smtClean="0"/>
          </a:p>
        </p:txBody>
      </p:sp>
      <p:sp>
        <p:nvSpPr>
          <p:cNvPr id="35843" name="Text Box 2"/>
          <p:cNvSpPr txBox="1">
            <a:spLocks noChangeArrowheads="1"/>
          </p:cNvSpPr>
          <p:nvPr/>
        </p:nvSpPr>
        <p:spPr bwMode="auto">
          <a:xfrm>
            <a:off x="3419475" y="19050"/>
            <a:ext cx="5337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Structure des fichiers de données .pro</a:t>
            </a:r>
          </a:p>
        </p:txBody>
      </p:sp>
      <p:sp>
        <p:nvSpPr>
          <p:cNvPr id="35844" name="Text Box 3"/>
          <p:cNvSpPr txBox="1">
            <a:spLocks noChangeArrowheads="1"/>
          </p:cNvSpPr>
          <p:nvPr/>
        </p:nvSpPr>
        <p:spPr bwMode="auto">
          <a:xfrm>
            <a:off x="250825" y="360363"/>
            <a:ext cx="3817938" cy="634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NOEUDS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 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 1    0.000000        0.000000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 2    0.500000        0.000000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 3    1.000000        0.000000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 4    0.000000        1.000000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 5    0.500000        1.000000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 6    1.000000        1.000000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ELEMENTS_SURFACIQUES_&amp;_LINEIQUES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10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2 3 1    </a:t>
            </a:r>
            <a:r>
              <a:rPr lang="fr-FR" altLang="en-US" sz="1400" b="1">
                <a:solidFill>
                  <a:srgbClr val="CC0000"/>
                </a:solidFill>
              </a:rPr>
              <a:t>1  2  4</a:t>
            </a:r>
            <a:r>
              <a:rPr lang="fr-FR" altLang="en-US" sz="1400"/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2 3 1    </a:t>
            </a:r>
            <a:r>
              <a:rPr lang="fr-FR" altLang="en-US" sz="1400" b="1">
                <a:solidFill>
                  <a:srgbClr val="CC0000"/>
                </a:solidFill>
              </a:rPr>
              <a:t>5  4  2</a:t>
            </a:r>
            <a:r>
              <a:rPr lang="fr-FR" altLang="en-US" sz="1400"/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2 3 1    </a:t>
            </a:r>
            <a:r>
              <a:rPr lang="fr-FR" altLang="en-US" sz="1400" b="1">
                <a:solidFill>
                  <a:srgbClr val="CC0000"/>
                </a:solidFill>
              </a:rPr>
              <a:t>2  3  5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2 3 1    </a:t>
            </a:r>
            <a:r>
              <a:rPr lang="fr-FR" altLang="en-US" sz="1400" b="1">
                <a:solidFill>
                  <a:srgbClr val="CC0000"/>
                </a:solidFill>
              </a:rPr>
              <a:t>6  5  3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1 2 2    </a:t>
            </a:r>
            <a:r>
              <a:rPr lang="fr-FR" altLang="en-US" sz="1400" b="1">
                <a:solidFill>
                  <a:schemeClr val="accent2"/>
                </a:solidFill>
              </a:rPr>
              <a:t>4  5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1 2 2    </a:t>
            </a:r>
            <a:r>
              <a:rPr lang="fr-FR" altLang="en-US" sz="1400" b="1">
                <a:solidFill>
                  <a:schemeClr val="accent2"/>
                </a:solidFill>
              </a:rPr>
              <a:t>5  6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1 2 2    </a:t>
            </a:r>
            <a:r>
              <a:rPr lang="fr-FR" altLang="en-US" sz="1400" b="1">
                <a:solidFill>
                  <a:schemeClr val="accent2"/>
                </a:solidFill>
              </a:rPr>
              <a:t>1  2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1 2 2    </a:t>
            </a:r>
            <a:r>
              <a:rPr lang="fr-FR" altLang="en-US" sz="1400" b="1">
                <a:solidFill>
                  <a:schemeClr val="accent2"/>
                </a:solidFill>
              </a:rPr>
              <a:t>2  3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1 2 3</a:t>
            </a:r>
            <a:r>
              <a:rPr lang="fr-FR" altLang="en-US" sz="1400" b="1">
                <a:solidFill>
                  <a:schemeClr val="accent2"/>
                </a:solidFill>
              </a:rPr>
              <a:t>    </a:t>
            </a:r>
            <a:r>
              <a:rPr lang="fr-FR" altLang="en-US" sz="1400" b="1">
                <a:solidFill>
                  <a:schemeClr val="hlink"/>
                </a:solidFill>
              </a:rPr>
              <a:t>1  4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1 2 3</a:t>
            </a:r>
            <a:r>
              <a:rPr lang="fr-FR" altLang="en-US" sz="1400" b="1">
                <a:solidFill>
                  <a:schemeClr val="accent2"/>
                </a:solidFill>
              </a:rPr>
              <a:t>    </a:t>
            </a:r>
            <a:r>
              <a:rPr lang="fr-FR" altLang="en-US" sz="1400" b="1">
                <a:solidFill>
                  <a:schemeClr val="hlink"/>
                </a:solidFill>
              </a:rPr>
              <a:t>3  6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AFFECTATION_PROPRIETES_PHYSIQUES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    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        </a:t>
            </a:r>
            <a:r>
              <a:rPr lang="fr-FR" altLang="en-US" sz="1400">
                <a:solidFill>
                  <a:srgbClr val="FF0000"/>
                </a:solidFill>
              </a:rPr>
              <a:t>1000000</a:t>
            </a:r>
            <a:r>
              <a:rPr lang="fr-FR" altLang="en-US" sz="1400"/>
              <a:t>       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        0                  </a:t>
            </a:r>
            <a:r>
              <a:rPr lang="fr-FR" altLang="en-US" sz="1400">
                <a:solidFill>
                  <a:srgbClr val="FF0000"/>
                </a:solidFill>
              </a:rPr>
              <a:t> 0.00000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        0                  </a:t>
            </a:r>
            <a:r>
              <a:rPr lang="fr-FR" altLang="en-US" sz="1400">
                <a:solidFill>
                  <a:srgbClr val="FF0000"/>
                </a:solidFill>
              </a:rPr>
              <a:t>-1000000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CONDITIONS_DIRICHLET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 3  0.0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 6  0.0</a:t>
            </a:r>
          </a:p>
        </p:txBody>
      </p:sp>
      <p:sp>
        <p:nvSpPr>
          <p:cNvPr id="35845" name="Text Box 4"/>
          <p:cNvSpPr txBox="1">
            <a:spLocks noChangeArrowheads="1"/>
          </p:cNvSpPr>
          <p:nvPr/>
        </p:nvSpPr>
        <p:spPr bwMode="auto">
          <a:xfrm>
            <a:off x="1743075" y="280988"/>
            <a:ext cx="1123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mail0.pro</a:t>
            </a:r>
          </a:p>
        </p:txBody>
      </p:sp>
      <p:sp>
        <p:nvSpPr>
          <p:cNvPr id="35846" name="Text Box 5"/>
          <p:cNvSpPr txBox="1">
            <a:spLocks noChangeArrowheads="1"/>
          </p:cNvSpPr>
          <p:nvPr/>
        </p:nvSpPr>
        <p:spPr bwMode="auto">
          <a:xfrm>
            <a:off x="3276600" y="1341438"/>
            <a:ext cx="1504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Table des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coordonnées</a:t>
            </a:r>
          </a:p>
        </p:txBody>
      </p:sp>
      <p:grpSp>
        <p:nvGrpSpPr>
          <p:cNvPr id="35847" name="Group 7"/>
          <p:cNvGrpSpPr>
            <a:grpSpLocks/>
          </p:cNvGrpSpPr>
          <p:nvPr/>
        </p:nvGrpSpPr>
        <p:grpSpPr bwMode="auto">
          <a:xfrm>
            <a:off x="5032375" y="620713"/>
            <a:ext cx="4030663" cy="2686050"/>
            <a:chOff x="3669" y="11801"/>
            <a:chExt cx="5508" cy="3668"/>
          </a:xfrm>
        </p:grpSpPr>
        <p:sp>
          <p:nvSpPr>
            <p:cNvPr id="35867" name="AutoShape 8"/>
            <p:cNvSpPr>
              <a:spLocks noChangeArrowheads="1"/>
            </p:cNvSpPr>
            <p:nvPr/>
          </p:nvSpPr>
          <p:spPr bwMode="auto">
            <a:xfrm>
              <a:off x="3870" y="12242"/>
              <a:ext cx="2462" cy="2698"/>
            </a:xfrm>
            <a:prstGeom prst="rtTriangl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868" name="AutoShape 9"/>
            <p:cNvSpPr>
              <a:spLocks noChangeArrowheads="1"/>
            </p:cNvSpPr>
            <p:nvPr/>
          </p:nvSpPr>
          <p:spPr bwMode="auto">
            <a:xfrm>
              <a:off x="6346" y="12223"/>
              <a:ext cx="2462" cy="2736"/>
            </a:xfrm>
            <a:prstGeom prst="rtTriangl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869" name="AutoShape 10"/>
            <p:cNvSpPr>
              <a:spLocks noChangeArrowheads="1"/>
            </p:cNvSpPr>
            <p:nvPr/>
          </p:nvSpPr>
          <p:spPr bwMode="auto">
            <a:xfrm flipH="1" flipV="1">
              <a:off x="3885" y="12245"/>
              <a:ext cx="2462" cy="2736"/>
            </a:xfrm>
            <a:prstGeom prst="rtTriangl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870" name="AutoShape 11"/>
            <p:cNvSpPr>
              <a:spLocks noChangeArrowheads="1"/>
            </p:cNvSpPr>
            <p:nvPr/>
          </p:nvSpPr>
          <p:spPr bwMode="auto">
            <a:xfrm flipH="1" flipV="1">
              <a:off x="6361" y="12235"/>
              <a:ext cx="2462" cy="2736"/>
            </a:xfrm>
            <a:prstGeom prst="rtTriangl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871" name="Text Box 12"/>
            <p:cNvSpPr txBox="1">
              <a:spLocks noChangeArrowheads="1"/>
            </p:cNvSpPr>
            <p:nvPr/>
          </p:nvSpPr>
          <p:spPr bwMode="auto">
            <a:xfrm>
              <a:off x="4269" y="13590"/>
              <a:ext cx="424" cy="5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/>
                <a:t>1</a:t>
              </a:r>
              <a:endParaRPr lang="fr-FR" altLang="en-US" sz="1800"/>
            </a:p>
          </p:txBody>
        </p:sp>
        <p:sp>
          <p:nvSpPr>
            <p:cNvPr id="35872" name="Oval 13"/>
            <p:cNvSpPr>
              <a:spLocks noChangeArrowheads="1"/>
            </p:cNvSpPr>
            <p:nvPr/>
          </p:nvSpPr>
          <p:spPr bwMode="auto">
            <a:xfrm>
              <a:off x="4281" y="13616"/>
              <a:ext cx="425" cy="437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873" name="Text Box 14"/>
            <p:cNvSpPr txBox="1">
              <a:spLocks noChangeArrowheads="1"/>
            </p:cNvSpPr>
            <p:nvPr/>
          </p:nvSpPr>
          <p:spPr bwMode="auto">
            <a:xfrm>
              <a:off x="5254" y="12737"/>
              <a:ext cx="424" cy="5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/>
                <a:t>2</a:t>
              </a:r>
              <a:endParaRPr lang="fr-FR" altLang="en-US" sz="1800"/>
            </a:p>
          </p:txBody>
        </p:sp>
        <p:sp>
          <p:nvSpPr>
            <p:cNvPr id="35874" name="Oval 15"/>
            <p:cNvSpPr>
              <a:spLocks noChangeArrowheads="1"/>
            </p:cNvSpPr>
            <p:nvPr/>
          </p:nvSpPr>
          <p:spPr bwMode="auto">
            <a:xfrm>
              <a:off x="5266" y="12763"/>
              <a:ext cx="425" cy="437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875" name="Text Box 16"/>
            <p:cNvSpPr txBox="1">
              <a:spLocks noChangeArrowheads="1"/>
            </p:cNvSpPr>
            <p:nvPr/>
          </p:nvSpPr>
          <p:spPr bwMode="auto">
            <a:xfrm>
              <a:off x="6862" y="13740"/>
              <a:ext cx="424" cy="5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/>
                <a:t>3</a:t>
              </a:r>
              <a:endParaRPr lang="fr-FR" altLang="en-US" sz="1800"/>
            </a:p>
          </p:txBody>
        </p:sp>
        <p:sp>
          <p:nvSpPr>
            <p:cNvPr id="35876" name="Oval 17"/>
            <p:cNvSpPr>
              <a:spLocks noChangeArrowheads="1"/>
            </p:cNvSpPr>
            <p:nvPr/>
          </p:nvSpPr>
          <p:spPr bwMode="auto">
            <a:xfrm>
              <a:off x="6874" y="13766"/>
              <a:ext cx="425" cy="437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877" name="Text Box 18"/>
            <p:cNvSpPr txBox="1">
              <a:spLocks noChangeArrowheads="1"/>
            </p:cNvSpPr>
            <p:nvPr/>
          </p:nvSpPr>
          <p:spPr bwMode="auto">
            <a:xfrm>
              <a:off x="7878" y="12622"/>
              <a:ext cx="424" cy="5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/>
                <a:t>4</a:t>
              </a:r>
              <a:endParaRPr lang="fr-FR" altLang="en-US" sz="1800"/>
            </a:p>
          </p:txBody>
        </p:sp>
        <p:sp>
          <p:nvSpPr>
            <p:cNvPr id="35878" name="Oval 19"/>
            <p:cNvSpPr>
              <a:spLocks noChangeArrowheads="1"/>
            </p:cNvSpPr>
            <p:nvPr/>
          </p:nvSpPr>
          <p:spPr bwMode="auto">
            <a:xfrm>
              <a:off x="7890" y="12648"/>
              <a:ext cx="425" cy="437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879" name="Text Box 20"/>
            <p:cNvSpPr txBox="1">
              <a:spLocks noChangeArrowheads="1"/>
            </p:cNvSpPr>
            <p:nvPr/>
          </p:nvSpPr>
          <p:spPr bwMode="auto">
            <a:xfrm>
              <a:off x="3857" y="14607"/>
              <a:ext cx="540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/>
                <a:t>I</a:t>
              </a:r>
              <a:endParaRPr lang="fr-FR" altLang="en-US" sz="1800"/>
            </a:p>
          </p:txBody>
        </p:sp>
        <p:sp>
          <p:nvSpPr>
            <p:cNvPr id="35880" name="Text Box 21"/>
            <p:cNvSpPr txBox="1">
              <a:spLocks noChangeArrowheads="1"/>
            </p:cNvSpPr>
            <p:nvPr/>
          </p:nvSpPr>
          <p:spPr bwMode="auto">
            <a:xfrm>
              <a:off x="5670" y="14588"/>
              <a:ext cx="540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/>
                <a:t>II</a:t>
              </a:r>
              <a:endParaRPr lang="fr-FR" altLang="en-US" sz="1800"/>
            </a:p>
          </p:txBody>
        </p:sp>
        <p:sp>
          <p:nvSpPr>
            <p:cNvPr id="35881" name="Text Box 22"/>
            <p:cNvSpPr txBox="1">
              <a:spLocks noChangeArrowheads="1"/>
            </p:cNvSpPr>
            <p:nvPr/>
          </p:nvSpPr>
          <p:spPr bwMode="auto">
            <a:xfrm>
              <a:off x="3788" y="12527"/>
              <a:ext cx="540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000" b="1"/>
                <a:t>III</a:t>
              </a:r>
              <a:endParaRPr lang="fr-FR" altLang="en-US" sz="1800"/>
            </a:p>
          </p:txBody>
        </p:sp>
        <p:sp>
          <p:nvSpPr>
            <p:cNvPr id="35882" name="Text Box 23"/>
            <p:cNvSpPr txBox="1">
              <a:spLocks noChangeArrowheads="1"/>
            </p:cNvSpPr>
            <p:nvPr/>
          </p:nvSpPr>
          <p:spPr bwMode="auto">
            <a:xfrm>
              <a:off x="6334" y="14629"/>
              <a:ext cx="540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/>
                <a:t>I</a:t>
              </a:r>
              <a:endParaRPr lang="fr-FR" altLang="en-US" sz="1800"/>
            </a:p>
          </p:txBody>
        </p:sp>
        <p:sp>
          <p:nvSpPr>
            <p:cNvPr id="35883" name="Text Box 24"/>
            <p:cNvSpPr txBox="1">
              <a:spLocks noChangeArrowheads="1"/>
            </p:cNvSpPr>
            <p:nvPr/>
          </p:nvSpPr>
          <p:spPr bwMode="auto">
            <a:xfrm>
              <a:off x="8147" y="14610"/>
              <a:ext cx="540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/>
                <a:t>II</a:t>
              </a:r>
              <a:endParaRPr lang="fr-FR" altLang="en-US" sz="1800"/>
            </a:p>
          </p:txBody>
        </p:sp>
        <p:sp>
          <p:nvSpPr>
            <p:cNvPr id="35884" name="Text Box 25"/>
            <p:cNvSpPr txBox="1">
              <a:spLocks noChangeArrowheads="1"/>
            </p:cNvSpPr>
            <p:nvPr/>
          </p:nvSpPr>
          <p:spPr bwMode="auto">
            <a:xfrm>
              <a:off x="6265" y="12549"/>
              <a:ext cx="540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000" b="1"/>
                <a:t>III</a:t>
              </a:r>
              <a:endParaRPr lang="fr-FR" altLang="en-US" sz="1800"/>
            </a:p>
          </p:txBody>
        </p:sp>
        <p:sp>
          <p:nvSpPr>
            <p:cNvPr id="35885" name="Text Box 26"/>
            <p:cNvSpPr txBox="1">
              <a:spLocks noChangeArrowheads="1"/>
            </p:cNvSpPr>
            <p:nvPr/>
          </p:nvSpPr>
          <p:spPr bwMode="auto">
            <a:xfrm>
              <a:off x="5872" y="12288"/>
              <a:ext cx="540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/>
                <a:t>I</a:t>
              </a:r>
              <a:endParaRPr lang="fr-FR" altLang="en-US" sz="1800"/>
            </a:p>
          </p:txBody>
        </p:sp>
        <p:sp>
          <p:nvSpPr>
            <p:cNvPr id="35886" name="Text Box 27"/>
            <p:cNvSpPr txBox="1">
              <a:spLocks noChangeArrowheads="1"/>
            </p:cNvSpPr>
            <p:nvPr/>
          </p:nvSpPr>
          <p:spPr bwMode="auto">
            <a:xfrm>
              <a:off x="4124" y="12281"/>
              <a:ext cx="540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/>
                <a:t>II</a:t>
              </a:r>
              <a:endParaRPr lang="fr-FR" altLang="en-US" sz="1800"/>
            </a:p>
          </p:txBody>
        </p:sp>
        <p:sp>
          <p:nvSpPr>
            <p:cNvPr id="35887" name="Text Box 28"/>
            <p:cNvSpPr txBox="1">
              <a:spLocks noChangeArrowheads="1"/>
            </p:cNvSpPr>
            <p:nvPr/>
          </p:nvSpPr>
          <p:spPr bwMode="auto">
            <a:xfrm>
              <a:off x="5854" y="14206"/>
              <a:ext cx="540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000" b="1"/>
                <a:t>III</a:t>
              </a:r>
              <a:endParaRPr lang="fr-FR" altLang="en-US" sz="1800"/>
            </a:p>
          </p:txBody>
        </p:sp>
        <p:sp>
          <p:nvSpPr>
            <p:cNvPr id="35888" name="Text Box 29"/>
            <p:cNvSpPr txBox="1">
              <a:spLocks noChangeArrowheads="1"/>
            </p:cNvSpPr>
            <p:nvPr/>
          </p:nvSpPr>
          <p:spPr bwMode="auto">
            <a:xfrm>
              <a:off x="8426" y="12283"/>
              <a:ext cx="540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/>
                <a:t>I</a:t>
              </a:r>
              <a:endParaRPr lang="fr-FR" altLang="en-US" sz="1800"/>
            </a:p>
          </p:txBody>
        </p:sp>
        <p:sp>
          <p:nvSpPr>
            <p:cNvPr id="35889" name="Text Box 30"/>
            <p:cNvSpPr txBox="1">
              <a:spLocks noChangeArrowheads="1"/>
            </p:cNvSpPr>
            <p:nvPr/>
          </p:nvSpPr>
          <p:spPr bwMode="auto">
            <a:xfrm>
              <a:off x="6627" y="12276"/>
              <a:ext cx="540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/>
                <a:t>II</a:t>
              </a:r>
              <a:endParaRPr lang="fr-FR" altLang="en-US" sz="1800"/>
            </a:p>
          </p:txBody>
        </p:sp>
        <p:sp>
          <p:nvSpPr>
            <p:cNvPr id="35890" name="Text Box 31"/>
            <p:cNvSpPr txBox="1">
              <a:spLocks noChangeArrowheads="1"/>
            </p:cNvSpPr>
            <p:nvPr/>
          </p:nvSpPr>
          <p:spPr bwMode="auto">
            <a:xfrm>
              <a:off x="8357" y="14201"/>
              <a:ext cx="540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000" b="1"/>
                <a:t>III</a:t>
              </a:r>
              <a:endParaRPr lang="fr-FR" altLang="en-US" sz="1800"/>
            </a:p>
          </p:txBody>
        </p:sp>
        <p:sp>
          <p:nvSpPr>
            <p:cNvPr id="35891" name="Text Box 32"/>
            <p:cNvSpPr txBox="1">
              <a:spLocks noChangeArrowheads="1"/>
            </p:cNvSpPr>
            <p:nvPr/>
          </p:nvSpPr>
          <p:spPr bwMode="auto">
            <a:xfrm>
              <a:off x="3678" y="14955"/>
              <a:ext cx="553" cy="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 i="1"/>
                <a:t>1</a:t>
              </a:r>
              <a:endParaRPr lang="fr-FR" altLang="en-US" sz="1800"/>
            </a:p>
          </p:txBody>
        </p:sp>
        <p:sp>
          <p:nvSpPr>
            <p:cNvPr id="35892" name="Text Box 33"/>
            <p:cNvSpPr txBox="1">
              <a:spLocks noChangeArrowheads="1"/>
            </p:cNvSpPr>
            <p:nvPr/>
          </p:nvSpPr>
          <p:spPr bwMode="auto">
            <a:xfrm>
              <a:off x="6155" y="11810"/>
              <a:ext cx="553" cy="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 i="1"/>
                <a:t>5</a:t>
              </a:r>
              <a:endParaRPr lang="fr-FR" altLang="en-US" sz="1800"/>
            </a:p>
          </p:txBody>
        </p:sp>
        <p:sp>
          <p:nvSpPr>
            <p:cNvPr id="35893" name="Text Box 34"/>
            <p:cNvSpPr txBox="1">
              <a:spLocks noChangeArrowheads="1"/>
            </p:cNvSpPr>
            <p:nvPr/>
          </p:nvSpPr>
          <p:spPr bwMode="auto">
            <a:xfrm>
              <a:off x="3669" y="11801"/>
              <a:ext cx="553" cy="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 i="1"/>
                <a:t>4</a:t>
              </a:r>
              <a:endParaRPr lang="fr-FR" altLang="en-US" sz="1800"/>
            </a:p>
          </p:txBody>
        </p:sp>
        <p:sp>
          <p:nvSpPr>
            <p:cNvPr id="35894" name="Text Box 35"/>
            <p:cNvSpPr txBox="1">
              <a:spLocks noChangeArrowheads="1"/>
            </p:cNvSpPr>
            <p:nvPr/>
          </p:nvSpPr>
          <p:spPr bwMode="auto">
            <a:xfrm>
              <a:off x="8615" y="14968"/>
              <a:ext cx="553" cy="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 i="1"/>
                <a:t>3</a:t>
              </a:r>
              <a:endParaRPr lang="fr-FR" altLang="en-US" sz="1800"/>
            </a:p>
          </p:txBody>
        </p:sp>
        <p:sp>
          <p:nvSpPr>
            <p:cNvPr id="35895" name="Text Box 36"/>
            <p:cNvSpPr txBox="1">
              <a:spLocks noChangeArrowheads="1"/>
            </p:cNvSpPr>
            <p:nvPr/>
          </p:nvSpPr>
          <p:spPr bwMode="auto">
            <a:xfrm>
              <a:off x="6118" y="14963"/>
              <a:ext cx="553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 i="1"/>
                <a:t>2</a:t>
              </a:r>
              <a:endParaRPr lang="fr-FR" altLang="en-US" sz="1800"/>
            </a:p>
          </p:txBody>
        </p:sp>
        <p:sp>
          <p:nvSpPr>
            <p:cNvPr id="35896" name="Text Box 37"/>
            <p:cNvSpPr txBox="1">
              <a:spLocks noChangeArrowheads="1"/>
            </p:cNvSpPr>
            <p:nvPr/>
          </p:nvSpPr>
          <p:spPr bwMode="auto">
            <a:xfrm>
              <a:off x="8624" y="11854"/>
              <a:ext cx="553" cy="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200" b="1" i="1"/>
                <a:t>6</a:t>
              </a:r>
              <a:endParaRPr lang="fr-FR" altLang="en-US" sz="1800"/>
            </a:p>
          </p:txBody>
        </p:sp>
        <p:sp>
          <p:nvSpPr>
            <p:cNvPr id="35897" name="Oval 38"/>
            <p:cNvSpPr>
              <a:spLocks noChangeArrowheads="1"/>
            </p:cNvSpPr>
            <p:nvPr/>
          </p:nvSpPr>
          <p:spPr bwMode="auto">
            <a:xfrm>
              <a:off x="3819" y="14889"/>
              <a:ext cx="141" cy="141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898" name="Oval 39"/>
            <p:cNvSpPr>
              <a:spLocks noChangeArrowheads="1"/>
            </p:cNvSpPr>
            <p:nvPr/>
          </p:nvSpPr>
          <p:spPr bwMode="auto">
            <a:xfrm>
              <a:off x="3789" y="12149"/>
              <a:ext cx="141" cy="141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899" name="Oval 40"/>
            <p:cNvSpPr>
              <a:spLocks noChangeArrowheads="1"/>
            </p:cNvSpPr>
            <p:nvPr/>
          </p:nvSpPr>
          <p:spPr bwMode="auto">
            <a:xfrm>
              <a:off x="6266" y="14906"/>
              <a:ext cx="141" cy="141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900" name="Oval 41"/>
            <p:cNvSpPr>
              <a:spLocks noChangeArrowheads="1"/>
            </p:cNvSpPr>
            <p:nvPr/>
          </p:nvSpPr>
          <p:spPr bwMode="auto">
            <a:xfrm>
              <a:off x="6287" y="12192"/>
              <a:ext cx="141" cy="141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901" name="Oval 42"/>
            <p:cNvSpPr>
              <a:spLocks noChangeArrowheads="1"/>
            </p:cNvSpPr>
            <p:nvPr/>
          </p:nvSpPr>
          <p:spPr bwMode="auto">
            <a:xfrm>
              <a:off x="8765" y="14846"/>
              <a:ext cx="141" cy="141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902" name="Oval 43"/>
            <p:cNvSpPr>
              <a:spLocks noChangeArrowheads="1"/>
            </p:cNvSpPr>
            <p:nvPr/>
          </p:nvSpPr>
          <p:spPr bwMode="auto">
            <a:xfrm>
              <a:off x="8760" y="12183"/>
              <a:ext cx="141" cy="141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35848" name="AutoShape 44"/>
          <p:cNvSpPr>
            <a:spLocks noChangeAspect="1" noChangeArrowheads="1"/>
          </p:cNvSpPr>
          <p:nvPr/>
        </p:nvSpPr>
        <p:spPr bwMode="auto">
          <a:xfrm>
            <a:off x="5211763" y="1052513"/>
            <a:ext cx="1620837" cy="1814512"/>
          </a:xfrm>
          <a:prstGeom prst="rtTriangle">
            <a:avLst/>
          </a:prstGeom>
          <a:solidFill>
            <a:srgbClr val="FF0000">
              <a:alpha val="4901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849" name="AutoShape 45"/>
          <p:cNvSpPr>
            <a:spLocks noChangeAspect="1" noChangeArrowheads="1"/>
          </p:cNvSpPr>
          <p:nvPr/>
        </p:nvSpPr>
        <p:spPr bwMode="auto">
          <a:xfrm>
            <a:off x="7048500" y="1052513"/>
            <a:ext cx="1620838" cy="1814512"/>
          </a:xfrm>
          <a:prstGeom prst="rtTriangle">
            <a:avLst/>
          </a:prstGeom>
          <a:solidFill>
            <a:srgbClr val="FF0000">
              <a:alpha val="4901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850" name="AutoShape 46"/>
          <p:cNvSpPr>
            <a:spLocks noChangeAspect="1" noChangeArrowheads="1"/>
          </p:cNvSpPr>
          <p:nvPr/>
        </p:nvSpPr>
        <p:spPr bwMode="auto">
          <a:xfrm rot="10800000">
            <a:off x="5294313" y="1001713"/>
            <a:ext cx="1620837" cy="1814512"/>
          </a:xfrm>
          <a:prstGeom prst="rtTriangle">
            <a:avLst/>
          </a:prstGeom>
          <a:solidFill>
            <a:srgbClr val="FF0000">
              <a:alpha val="4901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851" name="AutoShape 47"/>
          <p:cNvSpPr>
            <a:spLocks noChangeAspect="1" noChangeArrowheads="1"/>
          </p:cNvSpPr>
          <p:nvPr/>
        </p:nvSpPr>
        <p:spPr bwMode="auto">
          <a:xfrm rot="10800000">
            <a:off x="7121525" y="981075"/>
            <a:ext cx="1620838" cy="1814513"/>
          </a:xfrm>
          <a:prstGeom prst="rtTriangle">
            <a:avLst/>
          </a:prstGeom>
          <a:solidFill>
            <a:srgbClr val="FF0000">
              <a:alpha val="4901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852" name="Line 48"/>
          <p:cNvSpPr>
            <a:spLocks noChangeShapeType="1"/>
          </p:cNvSpPr>
          <p:nvPr/>
        </p:nvSpPr>
        <p:spPr bwMode="auto">
          <a:xfrm>
            <a:off x="5248275" y="909638"/>
            <a:ext cx="1655763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5853" name="Line 49"/>
          <p:cNvSpPr>
            <a:spLocks noChangeShapeType="1"/>
          </p:cNvSpPr>
          <p:nvPr/>
        </p:nvSpPr>
        <p:spPr bwMode="auto">
          <a:xfrm>
            <a:off x="7048500" y="909638"/>
            <a:ext cx="1655763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5854" name="Line 50"/>
          <p:cNvSpPr>
            <a:spLocks noChangeShapeType="1"/>
          </p:cNvSpPr>
          <p:nvPr/>
        </p:nvSpPr>
        <p:spPr bwMode="auto">
          <a:xfrm>
            <a:off x="5248275" y="2925763"/>
            <a:ext cx="1655763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5855" name="Line 51"/>
          <p:cNvSpPr>
            <a:spLocks noChangeShapeType="1"/>
          </p:cNvSpPr>
          <p:nvPr/>
        </p:nvSpPr>
        <p:spPr bwMode="auto">
          <a:xfrm>
            <a:off x="7048500" y="2925763"/>
            <a:ext cx="1655763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5856" name="Oval 52"/>
          <p:cNvSpPr>
            <a:spLocks noChangeArrowheads="1"/>
          </p:cNvSpPr>
          <p:nvPr/>
        </p:nvSpPr>
        <p:spPr bwMode="auto">
          <a:xfrm>
            <a:off x="8670925" y="828675"/>
            <a:ext cx="215900" cy="2159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857" name="Oval 53"/>
          <p:cNvSpPr>
            <a:spLocks noChangeArrowheads="1"/>
          </p:cNvSpPr>
          <p:nvPr/>
        </p:nvSpPr>
        <p:spPr bwMode="auto">
          <a:xfrm>
            <a:off x="8696325" y="2787650"/>
            <a:ext cx="215900" cy="2159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858" name="Text Box 54"/>
          <p:cNvSpPr txBox="1">
            <a:spLocks noChangeArrowheads="1"/>
          </p:cNvSpPr>
          <p:nvPr/>
        </p:nvSpPr>
        <p:spPr bwMode="auto">
          <a:xfrm>
            <a:off x="1979613" y="3236913"/>
            <a:ext cx="4191000" cy="944562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TYP	NBN		NREG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2 (surf)	3 (nb de nœuds)	n° de région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1 (lin)	2 (nb de nœuds)	n° de région</a:t>
            </a:r>
          </a:p>
        </p:txBody>
      </p:sp>
      <p:sp>
        <p:nvSpPr>
          <p:cNvPr id="35859" name="Rectangle 55"/>
          <p:cNvSpPr>
            <a:spLocks noChangeArrowheads="1"/>
          </p:cNvSpPr>
          <p:nvPr/>
        </p:nvSpPr>
        <p:spPr bwMode="auto">
          <a:xfrm>
            <a:off x="6300788" y="3236913"/>
            <a:ext cx="2663825" cy="935037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860" name="Text Box 56"/>
          <p:cNvSpPr txBox="1">
            <a:spLocks noChangeArrowheads="1"/>
          </p:cNvSpPr>
          <p:nvPr/>
        </p:nvSpPr>
        <p:spPr bwMode="auto">
          <a:xfrm>
            <a:off x="6443663" y="3544888"/>
            <a:ext cx="2343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Table de connectivité</a:t>
            </a:r>
          </a:p>
        </p:txBody>
      </p:sp>
      <p:sp>
        <p:nvSpPr>
          <p:cNvPr id="35861" name="Rectangle 57"/>
          <p:cNvSpPr>
            <a:spLocks noChangeArrowheads="1"/>
          </p:cNvSpPr>
          <p:nvPr/>
        </p:nvSpPr>
        <p:spPr bwMode="auto">
          <a:xfrm>
            <a:off x="231775" y="2520950"/>
            <a:ext cx="576263" cy="213677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862" name="Rectangle 58"/>
          <p:cNvSpPr>
            <a:spLocks noChangeArrowheads="1"/>
          </p:cNvSpPr>
          <p:nvPr/>
        </p:nvSpPr>
        <p:spPr bwMode="auto">
          <a:xfrm>
            <a:off x="855663" y="2520950"/>
            <a:ext cx="720725" cy="2136775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863" name="Text Box 59"/>
          <p:cNvSpPr txBox="1">
            <a:spLocks noChangeArrowheads="1"/>
          </p:cNvSpPr>
          <p:nvPr/>
        </p:nvSpPr>
        <p:spPr bwMode="auto">
          <a:xfrm>
            <a:off x="5597525" y="4919663"/>
            <a:ext cx="1854200" cy="646112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Nb de regions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sigma	jn</a:t>
            </a:r>
          </a:p>
        </p:txBody>
      </p:sp>
      <p:sp>
        <p:nvSpPr>
          <p:cNvPr id="35864" name="Text Box 60"/>
          <p:cNvSpPr txBox="1">
            <a:spLocks noChangeArrowheads="1"/>
          </p:cNvSpPr>
          <p:nvPr/>
        </p:nvSpPr>
        <p:spPr bwMode="auto">
          <a:xfrm>
            <a:off x="1482725" y="6167438"/>
            <a:ext cx="2943225" cy="395287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N° de nœud	V(nœud)</a:t>
            </a:r>
          </a:p>
        </p:txBody>
      </p:sp>
      <p:sp>
        <p:nvSpPr>
          <p:cNvPr id="35865" name="Line 61"/>
          <p:cNvSpPr>
            <a:spLocks noChangeShapeType="1"/>
          </p:cNvSpPr>
          <p:nvPr/>
        </p:nvSpPr>
        <p:spPr bwMode="auto">
          <a:xfrm flipH="1" flipV="1">
            <a:off x="5110163" y="931863"/>
            <a:ext cx="0" cy="1997075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5866" name="Line 61"/>
          <p:cNvSpPr>
            <a:spLocks noChangeShapeType="1"/>
          </p:cNvSpPr>
          <p:nvPr/>
        </p:nvSpPr>
        <p:spPr bwMode="auto">
          <a:xfrm flipH="1" flipV="1">
            <a:off x="8801100" y="1050925"/>
            <a:ext cx="17463" cy="1736725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1F9C95E-1E43-4F27-9F94-1DD95C827D0E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fr-FR" altLang="en-US" sz="1400" b="0" smtClean="0"/>
          </a:p>
        </p:txBody>
      </p:sp>
      <p:sp>
        <p:nvSpPr>
          <p:cNvPr id="36867" name="Text Box 2"/>
          <p:cNvSpPr txBox="1">
            <a:spLocks noChangeArrowheads="1"/>
          </p:cNvSpPr>
          <p:nvPr/>
        </p:nvSpPr>
        <p:spPr bwMode="auto">
          <a:xfrm>
            <a:off x="611188" y="901700"/>
            <a:ext cx="481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function [fem, err]=lecture_probleme(nomfich)</a:t>
            </a:r>
          </a:p>
        </p:txBody>
      </p:sp>
      <p:sp>
        <p:nvSpPr>
          <p:cNvPr id="36868" name="Text Box 3"/>
          <p:cNvSpPr txBox="1">
            <a:spLocks noChangeArrowheads="1"/>
          </p:cNvSpPr>
          <p:nvPr/>
        </p:nvSpPr>
        <p:spPr bwMode="auto">
          <a:xfrm>
            <a:off x="250825" y="188913"/>
            <a:ext cx="5118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Lecture des fichiers de données .pro</a:t>
            </a:r>
          </a:p>
        </p:txBody>
      </p:sp>
      <p:sp>
        <p:nvSpPr>
          <p:cNvPr id="36869" name="Text Box 4"/>
          <p:cNvSpPr txBox="1">
            <a:spLocks noChangeArrowheads="1"/>
          </p:cNvSpPr>
          <p:nvPr/>
        </p:nvSpPr>
        <p:spPr bwMode="auto">
          <a:xfrm>
            <a:off x="3492500" y="1752600"/>
            <a:ext cx="1482725" cy="6699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x : abscisse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y : ordonnée</a:t>
            </a:r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492500" y="2760663"/>
            <a:ext cx="4505325" cy="1219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TYP	: type linéique 1 ou surfacique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NBN	: nb de nœuds de l</a:t>
            </a:r>
            <a:r>
              <a:rPr lang="ja-JP" altLang="fr-FR" sz="1800"/>
              <a:t>’</a:t>
            </a:r>
            <a:r>
              <a:rPr lang="fr-FR" altLang="ja-JP" sz="1800"/>
              <a:t>élément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NRG	: n° de la région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ind()	: tableau des nœuds de l</a:t>
            </a:r>
            <a:r>
              <a:rPr lang="ja-JP" altLang="fr-FR" sz="1800"/>
              <a:t>’</a:t>
            </a:r>
            <a:r>
              <a:rPr lang="fr-FR" altLang="ja-JP" sz="1800"/>
              <a:t>élément</a:t>
            </a:r>
            <a:endParaRPr lang="fr-FR" altLang="en-US" sz="1800"/>
          </a:p>
        </p:txBody>
      </p:sp>
      <p:sp>
        <p:nvSpPr>
          <p:cNvPr id="36871" name="Text Box 6"/>
          <p:cNvSpPr txBox="1">
            <a:spLocks noChangeArrowheads="1"/>
          </p:cNvSpPr>
          <p:nvPr/>
        </p:nvSpPr>
        <p:spPr bwMode="auto">
          <a:xfrm>
            <a:off x="3492500" y="4465638"/>
            <a:ext cx="4497388" cy="6699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sigma : conductivité électrique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jn : densité de courant normale</a:t>
            </a:r>
          </a:p>
        </p:txBody>
      </p:sp>
      <p:grpSp>
        <p:nvGrpSpPr>
          <p:cNvPr id="36872" name="Group 7"/>
          <p:cNvGrpSpPr>
            <a:grpSpLocks/>
          </p:cNvGrpSpPr>
          <p:nvPr/>
        </p:nvGrpSpPr>
        <p:grpSpPr bwMode="auto">
          <a:xfrm>
            <a:off x="623888" y="1824038"/>
            <a:ext cx="2724150" cy="4464050"/>
            <a:chOff x="113" y="890"/>
            <a:chExt cx="1716" cy="2812"/>
          </a:xfrm>
        </p:grpSpPr>
        <p:sp>
          <p:nvSpPr>
            <p:cNvPr id="36876" name="Text Box 8"/>
            <p:cNvSpPr txBox="1">
              <a:spLocks noChangeArrowheads="1"/>
            </p:cNvSpPr>
            <p:nvPr/>
          </p:nvSpPr>
          <p:spPr bwMode="auto">
            <a:xfrm>
              <a:off x="113" y="2568"/>
              <a:ext cx="171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structure </a:t>
              </a:r>
              <a:r>
                <a:rPr lang="fr-FR" altLang="en-US" sz="1800" b="1"/>
                <a:t>equ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Paramètres de l</a:t>
              </a:r>
              <a:r>
                <a:rPr lang="ja-JP" altLang="fr-FR" sz="1800"/>
                <a:t>’</a:t>
              </a:r>
              <a:r>
                <a:rPr lang="fr-FR" altLang="ja-JP" sz="1800"/>
                <a:t>équation</a:t>
              </a:r>
              <a:endParaRPr lang="fr-FR" altLang="en-US" sz="1800"/>
            </a:p>
          </p:txBody>
        </p:sp>
        <p:sp>
          <p:nvSpPr>
            <p:cNvPr id="36877" name="Text Box 9"/>
            <p:cNvSpPr txBox="1">
              <a:spLocks noChangeArrowheads="1"/>
            </p:cNvSpPr>
            <p:nvPr/>
          </p:nvSpPr>
          <p:spPr bwMode="auto">
            <a:xfrm>
              <a:off x="113" y="890"/>
              <a:ext cx="138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structure </a:t>
              </a:r>
              <a:r>
                <a:rPr lang="fr-FR" altLang="en-US" sz="1800" b="1"/>
                <a:t>nœud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Position d</a:t>
              </a:r>
              <a:r>
                <a:rPr lang="ja-JP" altLang="fr-FR" sz="1800"/>
                <a:t>’</a:t>
              </a:r>
              <a:r>
                <a:rPr lang="fr-FR" altLang="ja-JP" sz="1800"/>
                <a:t>un noeud</a:t>
              </a:r>
              <a:endParaRPr lang="fr-FR" altLang="en-US" sz="1800"/>
            </a:p>
          </p:txBody>
        </p:sp>
        <p:sp>
          <p:nvSpPr>
            <p:cNvPr id="36878" name="Rectangle 10"/>
            <p:cNvSpPr>
              <a:spLocks noChangeArrowheads="1"/>
            </p:cNvSpPr>
            <p:nvPr/>
          </p:nvSpPr>
          <p:spPr bwMode="auto">
            <a:xfrm>
              <a:off x="113" y="1706"/>
              <a:ext cx="170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structure </a:t>
              </a:r>
              <a:r>
                <a:rPr lang="fr-FR" altLang="en-US" sz="1800" b="1"/>
                <a:t>elt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Description d</a:t>
              </a:r>
              <a:r>
                <a:rPr lang="ja-JP" altLang="fr-FR" sz="1800"/>
                <a:t>’</a:t>
              </a:r>
              <a:r>
                <a:rPr lang="fr-FR" altLang="ja-JP" sz="1800"/>
                <a:t>un élément</a:t>
              </a:r>
              <a:endParaRPr lang="fr-FR" altLang="en-US" sz="1800"/>
            </a:p>
          </p:txBody>
        </p:sp>
        <p:sp>
          <p:nvSpPr>
            <p:cNvPr id="36879" name="Text Box 11"/>
            <p:cNvSpPr txBox="1">
              <a:spLocks noChangeArrowheads="1"/>
            </p:cNvSpPr>
            <p:nvPr/>
          </p:nvSpPr>
          <p:spPr bwMode="auto">
            <a:xfrm>
              <a:off x="113" y="3298"/>
              <a:ext cx="135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structure </a:t>
              </a:r>
              <a:r>
                <a:rPr lang="fr-FR" altLang="en-US" sz="1800" b="1"/>
                <a:t>cld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Conditions Dirichlet</a:t>
              </a:r>
            </a:p>
          </p:txBody>
        </p:sp>
      </p:grpSp>
      <p:sp>
        <p:nvSpPr>
          <p:cNvPr id="36873" name="Text Box 12"/>
          <p:cNvSpPr txBox="1">
            <a:spLocks noChangeArrowheads="1"/>
          </p:cNvSpPr>
          <p:nvPr/>
        </p:nvSpPr>
        <p:spPr bwMode="auto">
          <a:xfrm>
            <a:off x="3492500" y="5711825"/>
            <a:ext cx="4319588" cy="6699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ind() : tableau des nœuds de Dirichlet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val() : tableau des valeurs aux noeuds</a:t>
            </a:r>
          </a:p>
        </p:txBody>
      </p:sp>
      <p:sp>
        <p:nvSpPr>
          <p:cNvPr id="36874" name="Rectangle 13"/>
          <p:cNvSpPr>
            <a:spLocks noChangeArrowheads="1"/>
          </p:cNvSpPr>
          <p:nvPr/>
        </p:nvSpPr>
        <p:spPr bwMode="auto">
          <a:xfrm>
            <a:off x="5724525" y="260350"/>
            <a:ext cx="2203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lecture_probleme.m</a:t>
            </a:r>
          </a:p>
        </p:txBody>
      </p:sp>
      <p:sp>
        <p:nvSpPr>
          <p:cNvPr id="36875" name="Text Box 14"/>
          <p:cNvSpPr txBox="1">
            <a:spLocks noChangeArrowheads="1"/>
          </p:cNvSpPr>
          <p:nvPr/>
        </p:nvSpPr>
        <p:spPr bwMode="auto">
          <a:xfrm>
            <a:off x="5724525" y="908050"/>
            <a:ext cx="3143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fem est une structure qui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encapsule plusieurs données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9B0860-9A9D-4F9F-98D8-54B8A072ABE6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fr-FR" altLang="en-US" sz="1400" b="0" smtClean="0"/>
          </a:p>
        </p:txBody>
      </p:sp>
      <p:sp>
        <p:nvSpPr>
          <p:cNvPr id="37891" name="Text Box 2"/>
          <p:cNvSpPr txBox="1">
            <a:spLocks noChangeArrowheads="1"/>
          </p:cNvSpPr>
          <p:nvPr/>
        </p:nvSpPr>
        <p:spPr bwMode="auto">
          <a:xfrm>
            <a:off x="539750" y="2133600"/>
            <a:ext cx="16906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/>
              <a:t>structure </a:t>
            </a:r>
            <a:r>
              <a:rPr lang="fr-FR" altLang="en-US" sz="2000" b="1"/>
              <a:t>fem</a:t>
            </a:r>
          </a:p>
        </p:txBody>
      </p:sp>
      <p:sp>
        <p:nvSpPr>
          <p:cNvPr id="37892" name="Text Box 3"/>
          <p:cNvSpPr txBox="1">
            <a:spLocks noChangeArrowheads="1"/>
          </p:cNvSpPr>
          <p:nvPr/>
        </p:nvSpPr>
        <p:spPr bwMode="auto">
          <a:xfrm>
            <a:off x="2411413" y="549275"/>
            <a:ext cx="5241925" cy="369093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NP : nombre de noeuds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nœud()	: tableau de structure </a:t>
            </a:r>
            <a:r>
              <a:rPr lang="fr-FR" altLang="en-US" sz="1800" b="1"/>
              <a:t>nœud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NE	: nombre d</a:t>
            </a:r>
            <a:r>
              <a:rPr lang="ja-JP" altLang="fr-FR" sz="1800"/>
              <a:t>’</a:t>
            </a:r>
            <a:r>
              <a:rPr lang="fr-FR" altLang="ja-JP" sz="1800"/>
              <a:t>éléments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elt()	: tableau de structure </a:t>
            </a:r>
            <a:r>
              <a:rPr lang="fr-FR" altLang="en-US" sz="1800" b="1"/>
              <a:t>elt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NREG	: nombre de régions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equ()	: tableau de structure </a:t>
            </a:r>
            <a:r>
              <a:rPr lang="fr-FR" altLang="en-US" sz="1800" b="1"/>
              <a:t>equ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NCLD	: nombre de conditions de Dirichlet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cld()	: tableau de structure </a:t>
            </a:r>
            <a:r>
              <a:rPr lang="fr-FR" altLang="en-US" sz="1800" b="1"/>
              <a:t>cld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sol()	: tableau de la solution en chaque noeud</a:t>
            </a:r>
          </a:p>
        </p:txBody>
      </p:sp>
      <p:sp>
        <p:nvSpPr>
          <p:cNvPr id="37893" name="Text Box 4"/>
          <p:cNvSpPr txBox="1">
            <a:spLocks noChangeArrowheads="1"/>
          </p:cNvSpPr>
          <p:nvPr/>
        </p:nvSpPr>
        <p:spPr bwMode="auto">
          <a:xfrm>
            <a:off x="231775" y="4673600"/>
            <a:ext cx="5518150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Exemples d</a:t>
            </a:r>
            <a:r>
              <a:rPr lang="ja-JP" altLang="fr-FR" sz="1800"/>
              <a:t>’</a:t>
            </a:r>
            <a:r>
              <a:rPr lang="fr-FR" altLang="ja-JP" sz="1800"/>
              <a:t>utilisation 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Nœud 1	:	fem</a:t>
            </a:r>
            <a:r>
              <a:rPr lang="fr-FR" altLang="en-US" sz="1000">
                <a:sym typeface="Wingdings" panose="05000000000000000000" pitchFamily="2" charset="2"/>
              </a:rPr>
              <a:t></a:t>
            </a:r>
            <a:r>
              <a:rPr lang="fr-FR" altLang="en-US" sz="1800"/>
              <a:t>noeud(1)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Coordonnées	fem</a:t>
            </a:r>
            <a:r>
              <a:rPr lang="fr-FR" altLang="en-US" sz="1000">
                <a:sym typeface="Wingdings" panose="05000000000000000000" pitchFamily="2" charset="2"/>
              </a:rPr>
              <a:t></a:t>
            </a:r>
            <a:r>
              <a:rPr lang="fr-FR" altLang="en-US" sz="1800"/>
              <a:t>noeud(1)</a:t>
            </a:r>
            <a:r>
              <a:rPr lang="fr-FR" altLang="en-US" sz="1000">
                <a:sym typeface="Wingdings" panose="05000000000000000000" pitchFamily="2" charset="2"/>
              </a:rPr>
              <a:t></a:t>
            </a:r>
            <a:r>
              <a:rPr lang="fr-FR" altLang="en-US" sz="1800"/>
              <a:t>x	fem</a:t>
            </a:r>
            <a:r>
              <a:rPr lang="fr-FR" altLang="en-US" sz="1000">
                <a:sym typeface="Wingdings" panose="05000000000000000000" pitchFamily="2" charset="2"/>
              </a:rPr>
              <a:t></a:t>
            </a:r>
            <a:r>
              <a:rPr lang="fr-FR" altLang="en-US" sz="1800"/>
              <a:t>nœud(1)</a:t>
            </a:r>
            <a:r>
              <a:rPr lang="fr-FR" altLang="en-US" sz="1000">
                <a:sym typeface="Wingdings" panose="05000000000000000000" pitchFamily="2" charset="2"/>
              </a:rPr>
              <a:t></a:t>
            </a:r>
            <a:r>
              <a:rPr lang="fr-FR" altLang="en-US" sz="1800"/>
              <a:t>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Elément 1 :			fem</a:t>
            </a:r>
            <a:r>
              <a:rPr lang="fr-FR" altLang="en-US" sz="1000">
                <a:sym typeface="Wingdings" panose="05000000000000000000" pitchFamily="2" charset="2"/>
              </a:rPr>
              <a:t></a:t>
            </a:r>
            <a:r>
              <a:rPr lang="fr-FR" altLang="en-US" sz="1800"/>
              <a:t>elt(1)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Nœuds de l</a:t>
            </a:r>
            <a:r>
              <a:rPr lang="ja-JP" altLang="fr-FR" sz="1800"/>
              <a:t>’</a:t>
            </a:r>
            <a:r>
              <a:rPr lang="fr-FR" altLang="ja-JP" sz="1800"/>
              <a:t>élément 1		fem</a:t>
            </a:r>
            <a:r>
              <a:rPr lang="fr-FR" altLang="ja-JP" sz="1000">
                <a:sym typeface="Wingdings" panose="05000000000000000000" pitchFamily="2" charset="2"/>
              </a:rPr>
              <a:t></a:t>
            </a:r>
            <a:r>
              <a:rPr lang="fr-FR" altLang="ja-JP" sz="1800"/>
              <a:t>elt(1)</a:t>
            </a:r>
            <a:r>
              <a:rPr lang="fr-FR" altLang="ja-JP" sz="1000">
                <a:sym typeface="Wingdings" panose="05000000000000000000" pitchFamily="2" charset="2"/>
              </a:rPr>
              <a:t></a:t>
            </a:r>
            <a:r>
              <a:rPr lang="fr-FR" altLang="ja-JP" sz="1800"/>
              <a:t>ind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n</a:t>
            </a:r>
            <a:r>
              <a:rPr lang="fr-FR" altLang="en-US" sz="1800" baseline="30000"/>
              <a:t>ème</a:t>
            </a:r>
            <a:r>
              <a:rPr lang="fr-FR" altLang="en-US" sz="1800"/>
              <a:t> nœud de l</a:t>
            </a:r>
            <a:r>
              <a:rPr lang="ja-JP" altLang="fr-FR" sz="1800"/>
              <a:t>’</a:t>
            </a:r>
            <a:r>
              <a:rPr lang="fr-FR" altLang="ja-JP" sz="1800"/>
              <a:t>élément 1		fem</a:t>
            </a:r>
            <a:r>
              <a:rPr lang="fr-FR" altLang="ja-JP" sz="1000">
                <a:sym typeface="Wingdings" panose="05000000000000000000" pitchFamily="2" charset="2"/>
              </a:rPr>
              <a:t></a:t>
            </a:r>
            <a:r>
              <a:rPr lang="fr-FR" altLang="ja-JP" sz="1800"/>
              <a:t>elt(1)</a:t>
            </a:r>
            <a:r>
              <a:rPr lang="fr-FR" altLang="ja-JP" sz="1000">
                <a:sym typeface="Wingdings" panose="05000000000000000000" pitchFamily="2" charset="2"/>
              </a:rPr>
              <a:t></a:t>
            </a:r>
            <a:r>
              <a:rPr lang="fr-FR" altLang="ja-JP" sz="1800"/>
              <a:t>ind(n)</a:t>
            </a:r>
            <a:endParaRPr lang="fr-FR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FCFD8DB-4D5B-49D3-A661-4AFCA5629FC0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fr-FR" altLang="en-US" sz="1400" b="0" smtClean="0"/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3773488" y="2430463"/>
            <a:ext cx="5159375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Récupération du nombre de nœuds de l</a:t>
            </a:r>
            <a:r>
              <a:rPr lang="ja-JP" altLang="fr-FR" sz="1800"/>
              <a:t>’</a:t>
            </a:r>
            <a:r>
              <a:rPr lang="fr-FR" altLang="ja-JP" sz="1800"/>
              <a:t>élément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e=fem.elt(ne)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Initialisation de la matrice AE et du vecteur BE</a:t>
            </a: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3881438" y="5694363"/>
            <a:ext cx="4943475" cy="925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NPI  : nombre de points d</a:t>
            </a:r>
            <a:r>
              <a:rPr lang="ja-JP" altLang="fr-FR" sz="1800"/>
              <a:t>’</a:t>
            </a:r>
            <a:r>
              <a:rPr lang="fr-FR" altLang="ja-JP" sz="1800"/>
              <a:t>intégration de Gauss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pds  : tableau des poids de Gauss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detJ : tableau des déterminants jacobiens</a:t>
            </a:r>
          </a:p>
        </p:txBody>
      </p:sp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250825" y="188913"/>
            <a:ext cx="4849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Calcul des intégrales élémentaires</a:t>
            </a:r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5724525" y="260350"/>
            <a:ext cx="1428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integrales.m</a:t>
            </a:r>
          </a:p>
        </p:txBody>
      </p:sp>
      <p:sp>
        <p:nvSpPr>
          <p:cNvPr id="38919" name="Rectangle 11"/>
          <p:cNvSpPr>
            <a:spLocks noChangeArrowheads="1"/>
          </p:cNvSpPr>
          <p:nvPr/>
        </p:nvSpPr>
        <p:spPr bwMode="auto">
          <a:xfrm>
            <a:off x="347663" y="741363"/>
            <a:ext cx="7834312" cy="592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fr-FR" altLang="en-US" sz="1600" b="1">
                <a:solidFill>
                  <a:srgbClr val="0000FF"/>
                </a:solidFill>
              </a:rPr>
              <a:t>function</a:t>
            </a:r>
            <a:r>
              <a:rPr lang="fr-FR" altLang="en-US" sz="1600" b="1">
                <a:solidFill>
                  <a:srgbClr val="000000"/>
                </a:solidFill>
              </a:rPr>
              <a:t> [AE,BE]= integrales(fem, ne)  </a:t>
            </a:r>
            <a:endParaRPr lang="fr-FR" altLang="en-US" sz="16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</a:rPr>
              <a:t>% fem.elt(ne) : element en cours de traitement</a:t>
            </a:r>
            <a:endParaRPr lang="fr-FR" altLang="en-US" sz="16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</a:rPr>
              <a:t>% recuperer les poids et abscisses en fonction du type d elements</a:t>
            </a:r>
            <a:endParaRPr lang="fr-FR" altLang="en-US" sz="16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</a:rPr>
              <a:t>% polynomes de Lagrange associes a ses noeuds ainsi que leurs</a:t>
            </a:r>
            <a:r>
              <a:rPr lang="fr-FR" altLang="en-US" sz="1600" b="1"/>
              <a:t> </a:t>
            </a:r>
            <a:r>
              <a:rPr lang="fr-FR" altLang="en-US" sz="1600" b="1">
                <a:solidFill>
                  <a:srgbClr val="228B22"/>
                </a:solidFill>
              </a:rPr>
              <a:t>gradients</a:t>
            </a:r>
            <a:endParaRPr lang="fr-FR" altLang="en-US" sz="16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</a:rPr>
              <a:t> </a:t>
            </a:r>
            <a:endParaRPr lang="fr-FR" altLang="en-US" sz="16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</a:rPr>
              <a:t>% traitement de l'element e=fem.elt(ne)</a:t>
            </a:r>
            <a:endParaRPr lang="fr-FR" altLang="en-US" sz="16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</a:rPr>
              <a:t>e=fem.elt(ne);</a:t>
            </a:r>
            <a:endParaRPr lang="fr-FR" altLang="en-US" sz="16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</a:rPr>
              <a:t>NBN=e.NBN;</a:t>
            </a:r>
            <a:endParaRPr lang="fr-FR" altLang="en-US" sz="16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</a:rPr>
              <a:t> </a:t>
            </a:r>
            <a:endParaRPr lang="fr-FR" altLang="en-US" sz="16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</a:rPr>
              <a:t>AE=zeros(NBN,NBN);</a:t>
            </a:r>
            <a:endParaRPr lang="fr-FR" altLang="en-US" sz="16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</a:rPr>
              <a:t>BE=zeros(NBN, 1);</a:t>
            </a:r>
            <a:endParaRPr lang="fr-FR" altLang="en-US" sz="16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</a:rPr>
              <a:t> </a:t>
            </a:r>
            <a:endParaRPr lang="fr-FR" altLang="en-US" sz="16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fr-FR" altLang="en-US" sz="1600" b="1">
                <a:solidFill>
                  <a:srgbClr val="0000FF"/>
                </a:solidFill>
              </a:rPr>
              <a:t>switch</a:t>
            </a:r>
            <a:r>
              <a:rPr lang="fr-FR" altLang="en-US" sz="1600" b="1">
                <a:solidFill>
                  <a:srgbClr val="000000"/>
                </a:solidFill>
              </a:rPr>
              <a:t> (e.TYP)</a:t>
            </a:r>
            <a:endParaRPr lang="fr-FR" altLang="en-US" sz="16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</a:rPr>
              <a:t>       </a:t>
            </a:r>
            <a:r>
              <a:rPr lang="fr-FR" altLang="en-US" sz="1600" b="1">
                <a:solidFill>
                  <a:srgbClr val="0000FF"/>
                </a:solidFill>
              </a:rPr>
              <a:t>case</a:t>
            </a:r>
            <a:r>
              <a:rPr lang="fr-FR" altLang="en-US" sz="1600" b="1">
                <a:solidFill>
                  <a:srgbClr val="000000"/>
                </a:solidFill>
              </a:rPr>
              <a:t> 1 </a:t>
            </a:r>
            <a:r>
              <a:rPr lang="fr-FR" altLang="en-US" sz="1600" b="1">
                <a:solidFill>
                  <a:srgbClr val="228B22"/>
                </a:solidFill>
              </a:rPr>
              <a:t>% cas lineique</a:t>
            </a:r>
            <a:endParaRPr lang="fr-FR" altLang="en-US" sz="16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</a:rPr>
              <a:t>                </a:t>
            </a:r>
            <a:r>
              <a:rPr lang="fr-FR" altLang="en-US" sz="1600" b="1">
                <a:solidFill>
                  <a:srgbClr val="228B22"/>
                </a:solidFill>
              </a:rPr>
              <a:t>% chargement des polynomes de Lagrange pour segment a 2 noeuds </a:t>
            </a:r>
            <a:endParaRPr lang="fr-FR" altLang="en-US" sz="16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</a:rPr>
              <a:t>                [gauss]=polynomes_S2(fem, ne);</a:t>
            </a:r>
            <a:endParaRPr lang="fr-FR" altLang="en-US" sz="16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</a:rPr>
              <a:t>                nrg=e.NRG; </a:t>
            </a:r>
            <a:r>
              <a:rPr lang="fr-FR" altLang="en-US" sz="1600" b="1">
                <a:solidFill>
                  <a:srgbClr val="228B22"/>
                </a:solidFill>
              </a:rPr>
              <a:t>%numero de region de l'element lineique</a:t>
            </a:r>
            <a:endParaRPr lang="fr-FR" altLang="en-US" sz="16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</a:rPr>
              <a:t>                jn=fem.equ.jn(nrg);</a:t>
            </a:r>
            <a:endParaRPr lang="fr-FR" altLang="en-US" sz="16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</a:rPr>
              <a:t>                </a:t>
            </a:r>
            <a:endParaRPr lang="fr-FR" altLang="en-US" sz="16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</a:rPr>
              <a:t>                NPI=gauss.NPI;</a:t>
            </a:r>
            <a:endParaRPr lang="fr-FR" altLang="en-US" sz="16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</a:rPr>
              <a:t>                pds=gauss.pds;</a:t>
            </a:r>
            <a:endParaRPr lang="fr-FR" altLang="en-US" sz="16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</a:rPr>
              <a:t>                detJ=gauss.detJ;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D614B7-8C4D-4332-8D3F-3D5E583FB326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fr-FR" altLang="en-US" sz="1400" b="0" smtClean="0"/>
          </a:p>
        </p:txBody>
      </p:sp>
      <p:sp>
        <p:nvSpPr>
          <p:cNvPr id="39939" name="Rectangle 2"/>
          <p:cNvSpPr>
            <a:spLocks noChangeArrowheads="1"/>
          </p:cNvSpPr>
          <p:nvPr/>
        </p:nvSpPr>
        <p:spPr bwMode="auto">
          <a:xfrm>
            <a:off x="423863" y="2093913"/>
            <a:ext cx="8296275" cy="284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FF"/>
                </a:solidFill>
              </a:rPr>
              <a:t>for</a:t>
            </a:r>
            <a:r>
              <a:rPr lang="fr-FR" altLang="en-US" sz="1800">
                <a:solidFill>
                  <a:srgbClr val="000000"/>
                </a:solidFill>
              </a:rPr>
              <a:t> ie=1:NBN </a:t>
            </a:r>
            <a:endParaRPr lang="fr-FR" altLang="en-US" sz="180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</a:rPr>
              <a:t>	</a:t>
            </a:r>
            <a:r>
              <a:rPr lang="fr-FR" altLang="en-US" sz="1800">
                <a:solidFill>
                  <a:srgbClr val="0000FF"/>
                </a:solidFill>
              </a:rPr>
              <a:t>for</a:t>
            </a:r>
            <a:r>
              <a:rPr lang="fr-FR" altLang="en-US" sz="1800">
                <a:solidFill>
                  <a:srgbClr val="000000"/>
                </a:solidFill>
              </a:rPr>
              <a:t> npi=1:NPI </a:t>
            </a:r>
            <a:endParaRPr lang="fr-FR" altLang="en-US" sz="180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/>
              <a:t>	      </a:t>
            </a:r>
            <a:r>
              <a:rPr lang="fr-FR" altLang="en-US" sz="1800">
                <a:solidFill>
                  <a:srgbClr val="000000"/>
                </a:solidFill>
              </a:rPr>
              <a:t>alphai = gauss.alpha(ie, npi);                       </a:t>
            </a:r>
            <a:endParaRPr lang="fr-FR" altLang="en-US" sz="180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</a:rPr>
              <a:t>                    </a:t>
            </a:r>
            <a:r>
              <a:rPr lang="fr-FR" altLang="en-US" sz="1800">
                <a:solidFill>
                  <a:srgbClr val="228B22"/>
                </a:solidFill>
              </a:rPr>
              <a:t>% EXPRESSIONS INTEGRALES VECTORIELLES</a:t>
            </a:r>
            <a:endParaRPr lang="fr-FR" altLang="en-US" sz="180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</a:rPr>
              <a:t>                    BE(ie) =  BE(ie) - jn * alphai * pds(npi) * detJ(npi);  </a:t>
            </a:r>
            <a:endParaRPr lang="fr-FR" altLang="en-US" sz="180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/>
              <a:t>	</a:t>
            </a:r>
            <a:r>
              <a:rPr lang="fr-FR" altLang="en-US" sz="1800">
                <a:solidFill>
                  <a:srgbClr val="0000FF"/>
                </a:solidFill>
              </a:rPr>
              <a:t>end</a:t>
            </a:r>
            <a:r>
              <a:rPr lang="fr-FR" altLang="en-US" sz="1800">
                <a:solidFill>
                  <a:srgbClr val="000000"/>
                </a:solidFill>
              </a:rPr>
              <a:t>;</a:t>
            </a:r>
            <a:endParaRPr lang="fr-FR" altLang="en-US" sz="180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FF"/>
                </a:solidFill>
              </a:rPr>
              <a:t>end</a:t>
            </a:r>
            <a:r>
              <a:rPr lang="fr-FR" altLang="en-US" sz="1800">
                <a:solidFill>
                  <a:srgbClr val="000000"/>
                </a:solidFill>
              </a:rPr>
              <a:t>;</a:t>
            </a:r>
          </a:p>
        </p:txBody>
      </p:sp>
      <p:sp>
        <p:nvSpPr>
          <p:cNvPr id="39940" name="Text Box 3"/>
          <p:cNvSpPr txBox="1">
            <a:spLocks noChangeArrowheads="1"/>
          </p:cNvSpPr>
          <p:nvPr/>
        </p:nvSpPr>
        <p:spPr bwMode="auto">
          <a:xfrm>
            <a:off x="0" y="188913"/>
            <a:ext cx="90360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Contribution des elements linéiques au </a:t>
            </a:r>
            <a:r>
              <a:rPr lang="fr-FR" altLang="en-US" sz="2400"/>
              <a:t>vecteur</a:t>
            </a:r>
            <a:r>
              <a:rPr lang="en-US" altLang="en-US" sz="2400"/>
              <a:t> élémentaire BE :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  <p:graphicFrame>
        <p:nvGraphicFramePr>
          <p:cNvPr id="39941" name="Object 4"/>
          <p:cNvGraphicFramePr>
            <a:graphicFrameLocks noChangeAspect="1"/>
          </p:cNvGraphicFramePr>
          <p:nvPr/>
        </p:nvGraphicFramePr>
        <p:xfrm>
          <a:off x="4802188" y="4365625"/>
          <a:ext cx="1804987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2" name="Equation" r:id="rId3" imgW="888614" imgH="672808" progId="Equation.DSMT4">
                  <p:embed/>
                </p:oleObj>
              </mc:Choice>
              <mc:Fallback>
                <p:oleObj name="Equation" r:id="rId3" imgW="888614" imgH="67280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2188" y="4365625"/>
                        <a:ext cx="1804987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942" name="Group 5"/>
          <p:cNvGrpSpPr>
            <a:grpSpLocks/>
          </p:cNvGrpSpPr>
          <p:nvPr/>
        </p:nvGrpSpPr>
        <p:grpSpPr bwMode="auto">
          <a:xfrm flipV="1">
            <a:off x="2228850" y="4225925"/>
            <a:ext cx="4197350" cy="431800"/>
            <a:chOff x="3854" y="2659"/>
            <a:chExt cx="1633" cy="272"/>
          </a:xfrm>
        </p:grpSpPr>
        <p:sp>
          <p:nvSpPr>
            <p:cNvPr id="39950" name="Line 6"/>
            <p:cNvSpPr>
              <a:spLocks noChangeShapeType="1"/>
            </p:cNvSpPr>
            <p:nvPr/>
          </p:nvSpPr>
          <p:spPr bwMode="auto">
            <a:xfrm>
              <a:off x="3854" y="2922"/>
              <a:ext cx="1633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9951" name="Line 7"/>
            <p:cNvSpPr>
              <a:spLocks noChangeShapeType="1"/>
            </p:cNvSpPr>
            <p:nvPr/>
          </p:nvSpPr>
          <p:spPr bwMode="auto">
            <a:xfrm flipV="1">
              <a:off x="5193" y="2659"/>
              <a:ext cx="0" cy="27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9943" name="Text Box 8"/>
          <p:cNvSpPr txBox="1">
            <a:spLocks noChangeArrowheads="1"/>
          </p:cNvSpPr>
          <p:nvPr/>
        </p:nvSpPr>
        <p:spPr bwMode="auto">
          <a:xfrm>
            <a:off x="285750" y="1557338"/>
            <a:ext cx="1549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Cas e.TYP=1</a:t>
            </a:r>
          </a:p>
        </p:txBody>
      </p:sp>
      <p:sp>
        <p:nvSpPr>
          <p:cNvPr id="39944" name="Oval 9"/>
          <p:cNvSpPr>
            <a:spLocks noChangeArrowheads="1"/>
          </p:cNvSpPr>
          <p:nvPr/>
        </p:nvSpPr>
        <p:spPr bwMode="auto">
          <a:xfrm>
            <a:off x="231775" y="1508125"/>
            <a:ext cx="1800225" cy="422275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9945" name="Line 10"/>
          <p:cNvSpPr>
            <a:spLocks noChangeShapeType="1"/>
          </p:cNvSpPr>
          <p:nvPr/>
        </p:nvSpPr>
        <p:spPr bwMode="auto">
          <a:xfrm flipH="1">
            <a:off x="693738" y="2506663"/>
            <a:ext cx="0" cy="2112962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9946" name="Line 11"/>
          <p:cNvSpPr>
            <a:spLocks noChangeShapeType="1"/>
          </p:cNvSpPr>
          <p:nvPr/>
        </p:nvSpPr>
        <p:spPr bwMode="auto">
          <a:xfrm>
            <a:off x="1576388" y="2852738"/>
            <a:ext cx="0" cy="1306512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39947" name="Group 4"/>
          <p:cNvGrpSpPr>
            <a:grpSpLocks/>
          </p:cNvGrpSpPr>
          <p:nvPr/>
        </p:nvGrpSpPr>
        <p:grpSpPr bwMode="auto">
          <a:xfrm>
            <a:off x="4384675" y="4865688"/>
            <a:ext cx="422275" cy="368300"/>
            <a:chOff x="3381445" y="4937125"/>
            <a:chExt cx="422455" cy="369332"/>
          </a:xfrm>
        </p:grpSpPr>
        <p:sp>
          <p:nvSpPr>
            <p:cNvPr id="39948" name="TextBox 1"/>
            <p:cNvSpPr txBox="1">
              <a:spLocks noChangeArrowheads="1"/>
            </p:cNvSpPr>
            <p:nvPr/>
          </p:nvSpPr>
          <p:spPr bwMode="auto">
            <a:xfrm>
              <a:off x="3458255" y="4937125"/>
              <a:ext cx="26161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fr-FR" sz="1800"/>
                <a:t>-</a:t>
              </a:r>
            </a:p>
          </p:txBody>
        </p:sp>
        <p:sp>
          <p:nvSpPr>
            <p:cNvPr id="4" name="Oval 3"/>
            <p:cNvSpPr/>
            <p:nvPr/>
          </p:nvSpPr>
          <p:spPr>
            <a:xfrm>
              <a:off x="3381445" y="5042194"/>
              <a:ext cx="422455" cy="26426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ysClr val="windowText" lastClr="000000"/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8095A0-E366-4845-B23F-5519C79EA79B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fr-FR" altLang="en-US" sz="1400" b="0" smtClean="0"/>
          </a:p>
        </p:txBody>
      </p:sp>
      <p:sp>
        <p:nvSpPr>
          <p:cNvPr id="40963" name="Rectangle 5"/>
          <p:cNvSpPr>
            <a:spLocks noChangeArrowheads="1"/>
          </p:cNvSpPr>
          <p:nvPr/>
        </p:nvSpPr>
        <p:spPr bwMode="auto">
          <a:xfrm>
            <a:off x="385763" y="1239838"/>
            <a:ext cx="8410575" cy="408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</a:rPr>
              <a:t> </a:t>
            </a:r>
            <a:r>
              <a:rPr lang="fr-FR" altLang="en-US" sz="1800">
                <a:solidFill>
                  <a:srgbClr val="0000FF"/>
                </a:solidFill>
              </a:rPr>
              <a:t>case</a:t>
            </a:r>
            <a:r>
              <a:rPr lang="fr-FR" altLang="en-US" sz="1800">
                <a:solidFill>
                  <a:srgbClr val="000000"/>
                </a:solidFill>
              </a:rPr>
              <a:t> 2 </a:t>
            </a:r>
            <a:r>
              <a:rPr lang="fr-FR" altLang="en-US" sz="1800">
                <a:solidFill>
                  <a:srgbClr val="228B22"/>
                </a:solidFill>
              </a:rPr>
              <a:t>% cas surfacique</a:t>
            </a:r>
            <a:endParaRPr lang="fr-FR" altLang="en-US" sz="180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</a:rPr>
              <a:t>                </a:t>
            </a:r>
            <a:r>
              <a:rPr lang="fr-FR" altLang="en-US" sz="1800">
                <a:solidFill>
                  <a:srgbClr val="228B22"/>
                </a:solidFill>
              </a:rPr>
              <a:t>% chargement des polynomes de Lagrange pour triangle a 3 noeuds</a:t>
            </a:r>
            <a:endParaRPr lang="fr-FR" altLang="en-US" sz="180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</a:rPr>
              <a:t>                [gauss]=polynomes_T3(fem, ne);</a:t>
            </a:r>
            <a:endParaRPr lang="fr-FR" altLang="en-US" sz="180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</a:rPr>
              <a:t> </a:t>
            </a:r>
            <a:endParaRPr lang="fr-FR" altLang="en-US" sz="180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</a:rPr>
              <a:t>                nrg=e.NRG; </a:t>
            </a:r>
            <a:r>
              <a:rPr lang="fr-FR" altLang="en-US" sz="1800">
                <a:solidFill>
                  <a:srgbClr val="228B22"/>
                </a:solidFill>
              </a:rPr>
              <a:t>%numero de region de l'element surfacique e=fem.elt(ne)</a:t>
            </a:r>
            <a:endParaRPr lang="fr-FR" altLang="en-US" sz="180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</a:rPr>
              <a:t>                sigma=fem.equ.sigma(nrg);</a:t>
            </a:r>
            <a:endParaRPr lang="fr-FR" altLang="en-US" sz="180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</a:rPr>
              <a:t> </a:t>
            </a:r>
            <a:endParaRPr lang="fr-FR" altLang="en-US" sz="180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</a:rPr>
              <a:t>                NPI=gauss.NPI;</a:t>
            </a:r>
            <a:endParaRPr lang="fr-FR" altLang="en-US" sz="180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</a:rPr>
              <a:t>                pds=gauss.pds;</a:t>
            </a:r>
            <a:endParaRPr lang="fr-FR" altLang="en-US" sz="180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</a:rPr>
              <a:t>                detJ=gauss.detJ;</a:t>
            </a:r>
          </a:p>
        </p:txBody>
      </p:sp>
      <p:sp>
        <p:nvSpPr>
          <p:cNvPr id="40964" name="Text Box 2"/>
          <p:cNvSpPr txBox="1">
            <a:spLocks noChangeArrowheads="1"/>
          </p:cNvSpPr>
          <p:nvPr/>
        </p:nvSpPr>
        <p:spPr bwMode="auto">
          <a:xfrm>
            <a:off x="250825" y="188913"/>
            <a:ext cx="87979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Contribution des éléments surfaciques à la matrice élémentaire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AE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3727450" y="4311650"/>
            <a:ext cx="4943475" cy="925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NPI  : nombre de points d</a:t>
            </a:r>
            <a:r>
              <a:rPr lang="ja-JP" altLang="fr-FR" sz="1800"/>
              <a:t>’</a:t>
            </a:r>
            <a:r>
              <a:rPr lang="fr-FR" altLang="ja-JP" sz="1800"/>
              <a:t>intégration de Gauss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pds  : tableau des poids de Gauss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detJ : tableau des déterminants jacobiens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0C96D0-6A3C-4310-8F03-96357D1E1C7A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fr-FR" altLang="en-US" sz="1400" b="0" smtClean="0"/>
          </a:p>
        </p:txBody>
      </p:sp>
      <p:sp>
        <p:nvSpPr>
          <p:cNvPr id="41987" name="Rectangle 2"/>
          <p:cNvSpPr>
            <a:spLocks noChangeArrowheads="1"/>
          </p:cNvSpPr>
          <p:nvPr/>
        </p:nvSpPr>
        <p:spPr bwMode="auto">
          <a:xfrm>
            <a:off x="117475" y="392113"/>
            <a:ext cx="8909050" cy="581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FF"/>
                </a:solidFill>
              </a:rPr>
              <a:t>for</a:t>
            </a:r>
            <a:r>
              <a:rPr lang="fr-FR" altLang="en-US" sz="1800">
                <a:solidFill>
                  <a:srgbClr val="000000"/>
                </a:solidFill>
              </a:rPr>
              <a:t> ie=1:NBN    </a:t>
            </a:r>
            <a:endParaRPr lang="fr-FR" altLang="en-US" sz="1800"/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</a:rPr>
              <a:t>	</a:t>
            </a:r>
            <a:r>
              <a:rPr lang="fr-FR" altLang="en-US" sz="1800">
                <a:solidFill>
                  <a:srgbClr val="0000FF"/>
                </a:solidFill>
              </a:rPr>
              <a:t>for</a:t>
            </a:r>
            <a:r>
              <a:rPr lang="fr-FR" altLang="en-US" sz="1800">
                <a:solidFill>
                  <a:srgbClr val="000000"/>
                </a:solidFill>
              </a:rPr>
              <a:t> je=1:NBN</a:t>
            </a:r>
            <a:endParaRPr lang="fr-FR" altLang="en-US" sz="1800"/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</a:rPr>
              <a:t>              	      </a:t>
            </a:r>
            <a:r>
              <a:rPr lang="fr-FR" altLang="en-US" sz="1800">
                <a:solidFill>
                  <a:srgbClr val="0000FF"/>
                </a:solidFill>
              </a:rPr>
              <a:t>for</a:t>
            </a:r>
            <a:r>
              <a:rPr lang="fr-FR" altLang="en-US" sz="1800">
                <a:solidFill>
                  <a:srgbClr val="000000"/>
                </a:solidFill>
              </a:rPr>
              <a:t> npi=1:NPI</a:t>
            </a:r>
            <a:endParaRPr lang="fr-FR" altLang="en-US" sz="1800"/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</a:rPr>
              <a:t>                            alphai = gauss.alpha(ie, npi);</a:t>
            </a:r>
            <a:endParaRPr lang="fr-FR" altLang="en-US" sz="1800"/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</a:rPr>
              <a:t>                            dalphai_dx = gauss.dalpha_dx(ie, npi);</a:t>
            </a:r>
            <a:endParaRPr lang="fr-FR" altLang="en-US" sz="1800"/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</a:rPr>
              <a:t>                            dalphai_dy = gauss.dalpha_dy(ie, npi);</a:t>
            </a:r>
            <a:endParaRPr lang="fr-FR" altLang="en-US" sz="1800"/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</a:rPr>
              <a:t>                            </a:t>
            </a:r>
            <a:endParaRPr lang="fr-FR" altLang="en-US" sz="1800"/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</a:rPr>
              <a:t>                            alphaj = gauss.alpha(je, npi);</a:t>
            </a:r>
            <a:endParaRPr lang="fr-FR" altLang="en-US" sz="1800"/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</a:rPr>
              <a:t>                            dalphaj_dx = gauss.dalpha_dx(je, npi);</a:t>
            </a:r>
            <a:endParaRPr lang="fr-FR" altLang="en-US" sz="1800"/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</a:rPr>
              <a:t>                            dalphaj_dy = gauss.dalpha_dy(je, npi);</a:t>
            </a:r>
            <a:endParaRPr lang="fr-FR" altLang="en-US" sz="1800"/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</a:rPr>
              <a:t>                       </a:t>
            </a:r>
            <a:endParaRPr lang="fr-FR" altLang="en-US" sz="1800"/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</a:rPr>
              <a:t>                            </a:t>
            </a:r>
            <a:r>
              <a:rPr lang="fr-FR" altLang="en-US" sz="1800">
                <a:solidFill>
                  <a:srgbClr val="228B22"/>
                </a:solidFill>
              </a:rPr>
              <a:t>%EXPRESSIONS INTEGRALES MATRICIELLES</a:t>
            </a:r>
            <a:endParaRPr lang="fr-FR" altLang="en-US" sz="1800"/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</a:rPr>
              <a:t>                            gradai_gradaj=dalphai_dx*dalphaj_dx + dalphai_dy*dalphaj_dy;</a:t>
            </a:r>
            <a:endParaRPr lang="fr-FR" altLang="en-US" sz="1800"/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</a:rPr>
              <a:t>                            AE(ie,je) = AE(ie,je) + sigma*gradai_gradaj * pds(npi)*detJ(npi); </a:t>
            </a:r>
            <a:endParaRPr lang="fr-FR" altLang="en-US" sz="1800"/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</a:rPr>
              <a:t>                     </a:t>
            </a:r>
            <a:r>
              <a:rPr lang="fr-FR" altLang="en-US" sz="1800">
                <a:solidFill>
                  <a:srgbClr val="0000FF"/>
                </a:solidFill>
              </a:rPr>
              <a:t>end</a:t>
            </a:r>
            <a:r>
              <a:rPr lang="fr-FR" altLang="en-US" sz="1800">
                <a:solidFill>
                  <a:srgbClr val="000000"/>
                </a:solidFill>
              </a:rPr>
              <a:t>;</a:t>
            </a:r>
            <a:endParaRPr lang="fr-FR" altLang="en-US" sz="1800"/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</a:rPr>
              <a:t>	</a:t>
            </a:r>
            <a:r>
              <a:rPr lang="fr-FR" altLang="en-US" sz="1800">
                <a:solidFill>
                  <a:srgbClr val="0000FF"/>
                </a:solidFill>
              </a:rPr>
              <a:t>end</a:t>
            </a:r>
            <a:r>
              <a:rPr lang="fr-FR" altLang="en-US" sz="1800">
                <a:solidFill>
                  <a:srgbClr val="000000"/>
                </a:solidFill>
              </a:rPr>
              <a:t>;</a:t>
            </a:r>
            <a:endParaRPr lang="fr-FR" altLang="en-US" sz="1800"/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fr-FR" altLang="en-US" sz="1800">
                <a:solidFill>
                  <a:srgbClr val="0000FF"/>
                </a:solidFill>
              </a:rPr>
              <a:t>end</a:t>
            </a:r>
            <a:r>
              <a:rPr lang="fr-FR" altLang="en-US" sz="1800">
                <a:solidFill>
                  <a:srgbClr val="000000"/>
                </a:solidFill>
              </a:rPr>
              <a:t>;    </a:t>
            </a:r>
          </a:p>
        </p:txBody>
      </p:sp>
      <p:graphicFrame>
        <p:nvGraphicFramePr>
          <p:cNvPr id="41988" name="Object 3"/>
          <p:cNvGraphicFramePr>
            <a:graphicFrameLocks noChangeAspect="1"/>
          </p:cNvGraphicFramePr>
          <p:nvPr/>
        </p:nvGraphicFramePr>
        <p:xfrm>
          <a:off x="5005388" y="5345113"/>
          <a:ext cx="28702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6" name="Equation" r:id="rId3" imgW="1930400" imgH="723900" progId="Equation.DSMT4">
                  <p:embed/>
                </p:oleObj>
              </mc:Choice>
              <mc:Fallback>
                <p:oleObj name="Equation" r:id="rId3" imgW="1930400" imgH="723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5388" y="5345113"/>
                        <a:ext cx="28702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9" name="Line 4"/>
          <p:cNvSpPr>
            <a:spLocks noChangeShapeType="1"/>
          </p:cNvSpPr>
          <p:nvPr/>
        </p:nvSpPr>
        <p:spPr bwMode="auto">
          <a:xfrm>
            <a:off x="4303713" y="5334000"/>
            <a:ext cx="3960812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990" name="Line 5"/>
          <p:cNvSpPr>
            <a:spLocks noChangeShapeType="1"/>
          </p:cNvSpPr>
          <p:nvPr/>
        </p:nvSpPr>
        <p:spPr bwMode="auto">
          <a:xfrm flipV="1">
            <a:off x="6448425" y="5118100"/>
            <a:ext cx="0" cy="2159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991" name="Line 6"/>
          <p:cNvSpPr>
            <a:spLocks noChangeShapeType="1"/>
          </p:cNvSpPr>
          <p:nvPr/>
        </p:nvSpPr>
        <p:spPr bwMode="auto">
          <a:xfrm>
            <a:off x="1730375" y="1390650"/>
            <a:ext cx="0" cy="38020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992" name="Oval 7"/>
          <p:cNvSpPr>
            <a:spLocks noChangeArrowheads="1"/>
          </p:cNvSpPr>
          <p:nvPr/>
        </p:nvSpPr>
        <p:spPr bwMode="auto">
          <a:xfrm>
            <a:off x="1384300" y="968375"/>
            <a:ext cx="1647825" cy="460375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993" name="Line 8"/>
          <p:cNvSpPr>
            <a:spLocks noChangeShapeType="1"/>
          </p:cNvSpPr>
          <p:nvPr/>
        </p:nvSpPr>
        <p:spPr bwMode="auto">
          <a:xfrm>
            <a:off x="1346200" y="1120775"/>
            <a:ext cx="0" cy="4418013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994" name="Line 9"/>
          <p:cNvSpPr>
            <a:spLocks noChangeShapeType="1"/>
          </p:cNvSpPr>
          <p:nvPr/>
        </p:nvSpPr>
        <p:spPr bwMode="auto">
          <a:xfrm>
            <a:off x="385763" y="698500"/>
            <a:ext cx="0" cy="5184775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995" name="Text Box 10"/>
          <p:cNvSpPr txBox="1">
            <a:spLocks noChangeArrowheads="1"/>
          </p:cNvSpPr>
          <p:nvPr/>
        </p:nvSpPr>
        <p:spPr bwMode="auto">
          <a:xfrm>
            <a:off x="6415088" y="1449388"/>
            <a:ext cx="2506662" cy="101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>
                <a:latin typeface="Symbol" panose="05050102010706020507" pitchFamily="18" charset="2"/>
              </a:rPr>
              <a:t>a</a:t>
            </a:r>
            <a:r>
              <a:rPr lang="fr-FR" altLang="en-US" sz="2000" baseline="-25000"/>
              <a:t>i</a:t>
            </a:r>
            <a:r>
              <a:rPr lang="fr-FR" altLang="en-US" sz="2000"/>
              <a:t> et son gradient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>
                <a:sym typeface="Symbol" panose="05050102010706020507" pitchFamily="18" charset="2"/>
              </a:rPr>
              <a:t>∂</a:t>
            </a:r>
            <a:r>
              <a:rPr lang="fr-FR" altLang="en-US" sz="2000" baseline="-25000">
                <a:sym typeface="Symbol" panose="05050102010706020507" pitchFamily="18" charset="2"/>
              </a:rPr>
              <a:t>x</a:t>
            </a:r>
            <a:r>
              <a:rPr lang="fr-FR" altLang="en-US" sz="2000">
                <a:latin typeface="Symbol" panose="05050102010706020507" pitchFamily="18" charset="2"/>
              </a:rPr>
              <a:t>a</a:t>
            </a:r>
            <a:r>
              <a:rPr lang="fr-FR" altLang="en-US" sz="2000" baseline="-25000"/>
              <a:t>i</a:t>
            </a:r>
            <a:r>
              <a:rPr lang="fr-FR" altLang="en-US" sz="2000"/>
              <a:t> et </a:t>
            </a:r>
            <a:r>
              <a:rPr lang="fr-FR" altLang="en-US" sz="2000">
                <a:sym typeface="Symbol" panose="05050102010706020507" pitchFamily="18" charset="2"/>
              </a:rPr>
              <a:t>∂</a:t>
            </a:r>
            <a:r>
              <a:rPr lang="fr-FR" altLang="en-US" sz="2000" baseline="-25000">
                <a:sym typeface="Symbol" panose="05050102010706020507" pitchFamily="18" charset="2"/>
              </a:rPr>
              <a:t>y</a:t>
            </a:r>
            <a:r>
              <a:rPr lang="fr-FR" altLang="en-US" sz="2000">
                <a:latin typeface="Symbol" panose="05050102010706020507" pitchFamily="18" charset="2"/>
              </a:rPr>
              <a:t>a</a:t>
            </a:r>
            <a:r>
              <a:rPr lang="fr-FR" altLang="en-US" sz="2000" baseline="-25000"/>
              <a:t>i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/>
              <a:t>aux points de Gauss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14653F-604E-4D52-AE6D-D47BBDB73E8D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fr-FR" altLang="en-US" sz="1400" b="0" smtClean="0"/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250825" y="188913"/>
            <a:ext cx="5508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Assemblage des matrices élémentaires</a:t>
            </a: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7031038" y="260350"/>
            <a:ext cx="1670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assemblage.m</a:t>
            </a:r>
          </a:p>
        </p:txBody>
      </p:sp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369888" y="971550"/>
            <a:ext cx="7829550" cy="585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 </a:t>
            </a:r>
            <a:r>
              <a:rPr lang="fr-FR" altLang="en-US" sz="1800" b="1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[A,B]=assemblage(fem ,ne, AE, BE, A, B)  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228B22"/>
                </a:solidFill>
                <a:latin typeface="Courier New" panose="02070309020205020404" pitchFamily="49" charset="0"/>
              </a:rPr>
              <a:t>% traitement de l'element e=fem.elt(ne)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e=fem.elt(ne);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NBN=e.NBN;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ie=1:NBN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en-US" sz="1800" b="1">
                <a:solidFill>
                  <a:srgbClr val="228B22"/>
                </a:solidFill>
                <a:latin typeface="Courier New" panose="02070309020205020404" pitchFamily="49" charset="0"/>
              </a:rPr>
              <a:t>%numero global du ie(eme) noeud de l'element ne 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i=e.ind(ie);    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en-US" sz="1800" b="1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je=1:NBN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fr-FR" altLang="en-US" sz="1800" b="1">
                <a:solidFill>
                  <a:srgbClr val="228B22"/>
                </a:solidFill>
                <a:latin typeface="Courier New" panose="02070309020205020404" pitchFamily="49" charset="0"/>
              </a:rPr>
              <a:t>%numero global du je(eme) noeud de l'element ne 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j = e.ind(je);  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fr-FR" altLang="en-US" sz="1800" b="1">
                <a:solidFill>
                  <a:srgbClr val="228B22"/>
                </a:solidFill>
                <a:latin typeface="Courier New" panose="02070309020205020404" pitchFamily="49" charset="0"/>
              </a:rPr>
              <a:t>%On met a jour la matrice A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A(i,j) = A(i,j) + AE(ie,je);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fr-FR" altLang="en-US" sz="18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fr-FR" altLang="en-US" sz="1800" b="1">
                <a:solidFill>
                  <a:srgbClr val="228B22"/>
                </a:solidFill>
                <a:latin typeface="Courier New" panose="02070309020205020404" pitchFamily="49" charset="0"/>
              </a:rPr>
              <a:t>%on met a jour le second membre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B(i) =  B(i) + BE(ie);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133B39-0F29-423F-8581-70345E09A9EC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fr-FR" altLang="en-US" sz="1400" b="0" smtClean="0"/>
          </a:p>
        </p:txBody>
      </p:sp>
      <p:sp>
        <p:nvSpPr>
          <p:cNvPr id="44035" name="Text Box 6"/>
          <p:cNvSpPr txBox="1">
            <a:spLocks noChangeArrowheads="1"/>
          </p:cNvSpPr>
          <p:nvPr/>
        </p:nvSpPr>
        <p:spPr bwMode="auto">
          <a:xfrm>
            <a:off x="309563" y="833438"/>
            <a:ext cx="8239125" cy="58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val=0;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grad_val_x=0;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grad_val_y=0;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228B22"/>
                </a:solidFill>
                <a:latin typeface="Courier New" panose="02070309020205020404" pitchFamily="49" charset="0"/>
              </a:rPr>
              <a:t>% recherche des polynomes et des gradients au point (x0,y0)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gauss=ai_gradai_T3(fem,ne,x0,y0);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228B22"/>
                </a:solidFill>
                <a:latin typeface="Courier New" panose="02070309020205020404" pitchFamily="49" charset="0"/>
              </a:rPr>
              <a:t>% calcul de l inconnue et des gradients au point (x0,y0)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ie=1:NBN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alphai = gauss.alpha(ie,1);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dalphai_dx = gauss.dalpha_dx(ie,1);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dalphai_dy = gauss.dalpha_dy(ie,1);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i=e.ind(ie); </a:t>
            </a:r>
            <a:r>
              <a:rPr lang="fr-FR" altLang="en-US" sz="1800" b="1">
                <a:solidFill>
                  <a:srgbClr val="228B22"/>
                </a:solidFill>
                <a:latin typeface="Courier New" panose="02070309020205020404" pitchFamily="49" charset="0"/>
              </a:rPr>
              <a:t>% e = fem.elt(ne)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val=val+alphai*fem.sol(i);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grad_val_x=grad_val_x+dalphai_dx*fem.sol(i);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grad_val_y=grad_val_y+dalphai_dy*fem.sol(i);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</p:txBody>
      </p:sp>
      <p:sp>
        <p:nvSpPr>
          <p:cNvPr id="44036" name="Text Box 3"/>
          <p:cNvSpPr txBox="1">
            <a:spLocks noChangeArrowheads="1"/>
          </p:cNvSpPr>
          <p:nvPr/>
        </p:nvSpPr>
        <p:spPr bwMode="auto">
          <a:xfrm>
            <a:off x="250825" y="188913"/>
            <a:ext cx="3816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Fonction d</a:t>
            </a:r>
            <a:r>
              <a:rPr lang="en-US" altLang="fr-FR" sz="2400"/>
              <a:t>’</a:t>
            </a:r>
            <a:r>
              <a:rPr lang="en-US" altLang="en-US" sz="2400"/>
              <a:t>échantillonnage</a:t>
            </a:r>
          </a:p>
        </p:txBody>
      </p:sp>
      <p:sp>
        <p:nvSpPr>
          <p:cNvPr id="44037" name="Rectangle 4"/>
          <p:cNvSpPr>
            <a:spLocks noChangeArrowheads="1"/>
          </p:cNvSpPr>
          <p:nvPr/>
        </p:nvSpPr>
        <p:spPr bwMode="auto">
          <a:xfrm>
            <a:off x="7031038" y="260350"/>
            <a:ext cx="9175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/>
              <a:t>pick.m</a:t>
            </a:r>
          </a:p>
        </p:txBody>
      </p:sp>
      <p:graphicFrame>
        <p:nvGraphicFramePr>
          <p:cNvPr id="44038" name="Object 4"/>
          <p:cNvGraphicFramePr>
            <a:graphicFrameLocks noChangeAspect="1"/>
          </p:cNvGraphicFramePr>
          <p:nvPr/>
        </p:nvGraphicFramePr>
        <p:xfrm>
          <a:off x="5532438" y="3198813"/>
          <a:ext cx="34353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9" name="Equation" r:id="rId3" imgW="1778000" imgH="266700" progId="Equation.DSMT4">
                  <p:embed/>
                </p:oleObj>
              </mc:Choice>
              <mc:Fallback>
                <p:oleObj name="Equation" r:id="rId3" imgW="1778000" imgH="266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2438" y="3198813"/>
                        <a:ext cx="343535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A79E30-CC16-498C-9A11-C5047D50D000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fr-FR" altLang="en-US" sz="1400" b="0" smtClean="0"/>
          </a:p>
        </p:txBody>
      </p:sp>
      <p:pic>
        <p:nvPicPr>
          <p:cNvPr id="4505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944563"/>
            <a:ext cx="7143750" cy="572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0" name="Line 3"/>
          <p:cNvSpPr>
            <a:spLocks noChangeShapeType="1"/>
          </p:cNvSpPr>
          <p:nvPr/>
        </p:nvSpPr>
        <p:spPr bwMode="auto">
          <a:xfrm flipV="1">
            <a:off x="7019925" y="3357563"/>
            <a:ext cx="0" cy="12239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5061" name="Rectangle 4"/>
          <p:cNvSpPr>
            <a:spLocks noChangeArrowheads="1"/>
          </p:cNvSpPr>
          <p:nvPr/>
        </p:nvSpPr>
        <p:spPr bwMode="auto">
          <a:xfrm>
            <a:off x="6870700" y="260350"/>
            <a:ext cx="19589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polynomes_S2.m</a:t>
            </a:r>
          </a:p>
        </p:txBody>
      </p:sp>
      <p:sp>
        <p:nvSpPr>
          <p:cNvPr id="45062" name="Text Box 5"/>
          <p:cNvSpPr txBox="1">
            <a:spLocks noChangeArrowheads="1"/>
          </p:cNvSpPr>
          <p:nvPr/>
        </p:nvSpPr>
        <p:spPr bwMode="auto">
          <a:xfrm>
            <a:off x="179388" y="44450"/>
            <a:ext cx="54260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Calcul des polynômes de Lagrange P1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Sur segment à deux noeuds</a:t>
            </a:r>
          </a:p>
        </p:txBody>
      </p:sp>
      <p:grpSp>
        <p:nvGrpSpPr>
          <p:cNvPr id="45063" name="Group 6"/>
          <p:cNvGrpSpPr>
            <a:grpSpLocks/>
          </p:cNvGrpSpPr>
          <p:nvPr/>
        </p:nvGrpSpPr>
        <p:grpSpPr bwMode="auto">
          <a:xfrm>
            <a:off x="4260850" y="3357563"/>
            <a:ext cx="4919663" cy="1800225"/>
            <a:chOff x="2562" y="2251"/>
            <a:chExt cx="3099" cy="1134"/>
          </a:xfrm>
        </p:grpSpPr>
        <p:sp>
          <p:nvSpPr>
            <p:cNvPr id="45066" name="Line 7"/>
            <p:cNvSpPr>
              <a:spLocks noChangeShapeType="1"/>
            </p:cNvSpPr>
            <p:nvPr/>
          </p:nvSpPr>
          <p:spPr bwMode="auto">
            <a:xfrm>
              <a:off x="3742" y="3385"/>
              <a:ext cx="1361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5067" name="Line 8"/>
            <p:cNvSpPr>
              <a:spLocks noChangeShapeType="1"/>
            </p:cNvSpPr>
            <p:nvPr/>
          </p:nvSpPr>
          <p:spPr bwMode="auto">
            <a:xfrm flipV="1">
              <a:off x="5103" y="3067"/>
              <a:ext cx="0" cy="31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45068" name="Group 9"/>
            <p:cNvGrpSpPr>
              <a:grpSpLocks/>
            </p:cNvGrpSpPr>
            <p:nvPr/>
          </p:nvGrpSpPr>
          <p:grpSpPr bwMode="auto">
            <a:xfrm>
              <a:off x="4195" y="2251"/>
              <a:ext cx="1466" cy="1093"/>
              <a:chOff x="4195" y="2477"/>
              <a:chExt cx="1466" cy="1093"/>
            </a:xfrm>
          </p:grpSpPr>
          <p:sp>
            <p:nvSpPr>
              <p:cNvPr id="45072" name="Text Box 10"/>
              <p:cNvSpPr txBox="1">
                <a:spLocks noChangeArrowheads="1"/>
              </p:cNvSpPr>
              <p:nvPr/>
            </p:nvSpPr>
            <p:spPr bwMode="auto">
              <a:xfrm>
                <a:off x="5465" y="3022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fr-FR" altLang="en-US" sz="2000">
                    <a:latin typeface="Times New Roman" panose="02020603050405020304" pitchFamily="18" charset="0"/>
                  </a:rPr>
                  <a:t>u</a:t>
                </a:r>
              </a:p>
            </p:txBody>
          </p:sp>
          <p:sp>
            <p:nvSpPr>
              <p:cNvPr id="45073" name="Oval 11"/>
              <p:cNvSpPr>
                <a:spLocks noChangeArrowheads="1"/>
              </p:cNvSpPr>
              <p:nvPr/>
            </p:nvSpPr>
            <p:spPr bwMode="auto">
              <a:xfrm>
                <a:off x="4286" y="3203"/>
                <a:ext cx="90" cy="9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45074" name="Oval 12"/>
              <p:cNvSpPr>
                <a:spLocks noChangeArrowheads="1"/>
              </p:cNvSpPr>
              <p:nvPr/>
            </p:nvSpPr>
            <p:spPr bwMode="auto">
              <a:xfrm>
                <a:off x="5329" y="3203"/>
                <a:ext cx="90" cy="9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45075" name="Text Box 13"/>
              <p:cNvSpPr txBox="1">
                <a:spLocks noChangeArrowheads="1"/>
              </p:cNvSpPr>
              <p:nvPr/>
            </p:nvSpPr>
            <p:spPr bwMode="auto">
              <a:xfrm>
                <a:off x="4195" y="3339"/>
                <a:ext cx="1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/>
                  <a:t>-1                      +1</a:t>
                </a:r>
              </a:p>
            </p:txBody>
          </p:sp>
          <p:sp>
            <p:nvSpPr>
              <p:cNvPr id="45076" name="Line 14"/>
              <p:cNvSpPr>
                <a:spLocks noChangeShapeType="1"/>
              </p:cNvSpPr>
              <p:nvPr/>
            </p:nvSpPr>
            <p:spPr bwMode="auto">
              <a:xfrm flipH="1">
                <a:off x="4332" y="2671"/>
                <a:ext cx="998" cy="577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5077" name="Line 15"/>
              <p:cNvSpPr>
                <a:spLocks noChangeShapeType="1"/>
              </p:cNvSpPr>
              <p:nvPr/>
            </p:nvSpPr>
            <p:spPr bwMode="auto">
              <a:xfrm flipH="1" flipV="1">
                <a:off x="4330" y="2659"/>
                <a:ext cx="1043" cy="60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5078" name="Text Box 16"/>
              <p:cNvSpPr txBox="1">
                <a:spLocks noChangeArrowheads="1"/>
              </p:cNvSpPr>
              <p:nvPr/>
            </p:nvSpPr>
            <p:spPr bwMode="auto">
              <a:xfrm>
                <a:off x="4740" y="3018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/>
                  <a:t>e</a:t>
                </a:r>
              </a:p>
            </p:txBody>
          </p:sp>
          <p:sp>
            <p:nvSpPr>
              <p:cNvPr id="45079" name="Text Box 17"/>
              <p:cNvSpPr txBox="1">
                <a:spLocks noChangeArrowheads="1"/>
              </p:cNvSpPr>
              <p:nvPr/>
            </p:nvSpPr>
            <p:spPr bwMode="auto">
              <a:xfrm>
                <a:off x="5056" y="2477"/>
                <a:ext cx="2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rgbClr val="CC0000"/>
                    </a:solidFill>
                    <a:latin typeface="Symbol" panose="05050102010706020507" pitchFamily="18" charset="2"/>
                  </a:rPr>
                  <a:t>a</a:t>
                </a:r>
                <a:r>
                  <a:rPr lang="en-US" altLang="en-US" sz="1800" baseline="-25000">
                    <a:solidFill>
                      <a:srgbClr val="CC0000"/>
                    </a:solidFill>
                  </a:rPr>
                  <a:t>2</a:t>
                </a:r>
                <a:endParaRPr lang="en-US" altLang="en-US" sz="1800" baseline="30000">
                  <a:solidFill>
                    <a:srgbClr val="CC0000"/>
                  </a:solidFill>
                </a:endParaRPr>
              </a:p>
            </p:txBody>
          </p:sp>
          <p:sp>
            <p:nvSpPr>
              <p:cNvPr id="45080" name="Text Box 18"/>
              <p:cNvSpPr txBox="1">
                <a:spLocks noChangeArrowheads="1"/>
              </p:cNvSpPr>
              <p:nvPr/>
            </p:nvSpPr>
            <p:spPr bwMode="auto">
              <a:xfrm>
                <a:off x="4330" y="2477"/>
                <a:ext cx="2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Symbol" panose="05050102010706020507" pitchFamily="18" charset="2"/>
                  </a:rPr>
                  <a:t>a</a:t>
                </a:r>
                <a:r>
                  <a:rPr lang="en-US" altLang="en-US" sz="1800" baseline="-25000"/>
                  <a:t>1</a:t>
                </a:r>
                <a:endParaRPr lang="en-US" altLang="en-US" sz="1800" baseline="30000"/>
              </a:p>
            </p:txBody>
          </p:sp>
          <p:sp>
            <p:nvSpPr>
              <p:cNvPr id="45081" name="Text Box 19"/>
              <p:cNvSpPr txBox="1">
                <a:spLocks noChangeArrowheads="1"/>
              </p:cNvSpPr>
              <p:nvPr/>
            </p:nvSpPr>
            <p:spPr bwMode="auto">
              <a:xfrm>
                <a:off x="4195" y="2930"/>
                <a:ext cx="28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400">
                    <a:sym typeface="Wingdings" panose="05000000000000000000" pitchFamily="2" charset="2"/>
                  </a:rPr>
                  <a:t></a:t>
                </a:r>
              </a:p>
            </p:txBody>
          </p:sp>
          <p:sp>
            <p:nvSpPr>
              <p:cNvPr id="45082" name="Text Box 20"/>
              <p:cNvSpPr txBox="1">
                <a:spLocks noChangeArrowheads="1"/>
              </p:cNvSpPr>
              <p:nvPr/>
            </p:nvSpPr>
            <p:spPr bwMode="auto">
              <a:xfrm>
                <a:off x="5224" y="2931"/>
                <a:ext cx="28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400">
                    <a:sym typeface="Wingdings" panose="05000000000000000000" pitchFamily="2" charset="2"/>
                  </a:rPr>
                  <a:t></a:t>
                </a:r>
              </a:p>
            </p:txBody>
          </p:sp>
          <p:grpSp>
            <p:nvGrpSpPr>
              <p:cNvPr id="45083" name="Group 21"/>
              <p:cNvGrpSpPr>
                <a:grpSpLocks/>
              </p:cNvGrpSpPr>
              <p:nvPr/>
            </p:nvGrpSpPr>
            <p:grpSpPr bwMode="auto">
              <a:xfrm>
                <a:off x="4332" y="3226"/>
                <a:ext cx="1179" cy="68"/>
                <a:chOff x="4332" y="3226"/>
                <a:chExt cx="1179" cy="68"/>
              </a:xfrm>
            </p:grpSpPr>
            <p:sp>
              <p:nvSpPr>
                <p:cNvPr id="45084" name="Line 22"/>
                <p:cNvSpPr>
                  <a:spLocks noChangeShapeType="1"/>
                </p:cNvSpPr>
                <p:nvPr/>
              </p:nvSpPr>
              <p:spPr bwMode="auto">
                <a:xfrm>
                  <a:off x="4332" y="3249"/>
                  <a:ext cx="1179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5085" name="Oval 23"/>
                <p:cNvSpPr>
                  <a:spLocks noChangeArrowheads="1"/>
                </p:cNvSpPr>
                <p:nvPr/>
              </p:nvSpPr>
              <p:spPr bwMode="auto">
                <a:xfrm>
                  <a:off x="4557" y="3226"/>
                  <a:ext cx="68" cy="68"/>
                </a:xfrm>
                <a:prstGeom prst="ellipse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45086" name="Oval 24"/>
                <p:cNvSpPr>
                  <a:spLocks noChangeArrowheads="1"/>
                </p:cNvSpPr>
                <p:nvPr/>
              </p:nvSpPr>
              <p:spPr bwMode="auto">
                <a:xfrm>
                  <a:off x="5080" y="3226"/>
                  <a:ext cx="68" cy="68"/>
                </a:xfrm>
                <a:prstGeom prst="ellipse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</p:grpSp>
        <p:sp>
          <p:nvSpPr>
            <p:cNvPr id="45069" name="Line 25"/>
            <p:cNvSpPr>
              <a:spLocks noChangeShapeType="1"/>
            </p:cNvSpPr>
            <p:nvPr/>
          </p:nvSpPr>
          <p:spPr bwMode="auto">
            <a:xfrm flipV="1">
              <a:off x="4604" y="3067"/>
              <a:ext cx="0" cy="31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5070" name="Line 26"/>
            <p:cNvSpPr>
              <a:spLocks noChangeShapeType="1"/>
            </p:cNvSpPr>
            <p:nvPr/>
          </p:nvSpPr>
          <p:spPr bwMode="auto">
            <a:xfrm>
              <a:off x="3288" y="2341"/>
              <a:ext cx="454" cy="104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5071" name="Line 27"/>
            <p:cNvSpPr>
              <a:spLocks noChangeShapeType="1"/>
            </p:cNvSpPr>
            <p:nvPr/>
          </p:nvSpPr>
          <p:spPr bwMode="auto">
            <a:xfrm>
              <a:off x="2562" y="2341"/>
              <a:ext cx="726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5064" name="Text Box 28"/>
          <p:cNvSpPr txBox="1">
            <a:spLocks noChangeArrowheads="1"/>
          </p:cNvSpPr>
          <p:nvPr/>
        </p:nvSpPr>
        <p:spPr bwMode="auto">
          <a:xfrm>
            <a:off x="2771775" y="5956300"/>
            <a:ext cx="6192838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Stockage des polynômes alpha et des poids de Gauss,  calculés aux points de Gauss dans la structure gauss</a:t>
            </a:r>
          </a:p>
        </p:txBody>
      </p:sp>
      <p:sp>
        <p:nvSpPr>
          <p:cNvPr id="45065" name="Text Box 29"/>
          <p:cNvSpPr txBox="1">
            <a:spLocks noChangeArrowheads="1"/>
          </p:cNvSpPr>
          <p:nvPr/>
        </p:nvSpPr>
        <p:spPr bwMode="auto">
          <a:xfrm>
            <a:off x="67818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D749F5-9FC9-4A88-9E01-C1D1E341E7CE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fr-FR" altLang="en-US" sz="1400" b="0" smtClean="0"/>
          </a:p>
        </p:txBody>
      </p:sp>
      <p:pic>
        <p:nvPicPr>
          <p:cNvPr id="4608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125538"/>
            <a:ext cx="7419975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4" name="Text Box 3"/>
          <p:cNvSpPr txBox="1">
            <a:spLocks noChangeArrowheads="1"/>
          </p:cNvSpPr>
          <p:nvPr/>
        </p:nvSpPr>
        <p:spPr bwMode="auto">
          <a:xfrm>
            <a:off x="3689350" y="4159250"/>
            <a:ext cx="4967288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Numero global du (ie)</a:t>
            </a:r>
            <a:r>
              <a:rPr lang="fr-FR" altLang="en-US" sz="1800" baseline="30000"/>
              <a:t>ième</a:t>
            </a:r>
            <a:r>
              <a:rPr lang="fr-FR" altLang="en-US" sz="1800"/>
              <a:t> nœud de l</a:t>
            </a:r>
            <a:r>
              <a:rPr lang="ja-JP" altLang="fr-FR" sz="1800"/>
              <a:t>’</a:t>
            </a:r>
            <a:r>
              <a:rPr lang="fr-FR" altLang="ja-JP" sz="1800"/>
              <a:t>élément 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et ses coordonnées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2BF814-2BD6-4FA8-81A2-43EC78AFBB90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fr-FR" altLang="en-US" sz="1400" b="0" smtClean="0"/>
          </a:p>
        </p:txBody>
      </p:sp>
      <p:pic>
        <p:nvPicPr>
          <p:cNvPr id="4710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264"/>
          <a:stretch>
            <a:fillRect/>
          </a:stretch>
        </p:blipFill>
        <p:spPr bwMode="auto">
          <a:xfrm>
            <a:off x="395288" y="260350"/>
            <a:ext cx="7515225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7108" name="Object 3"/>
          <p:cNvGraphicFramePr>
            <a:graphicFrameLocks noChangeAspect="1"/>
          </p:cNvGraphicFramePr>
          <p:nvPr/>
        </p:nvGraphicFramePr>
        <p:xfrm>
          <a:off x="3276600" y="1284288"/>
          <a:ext cx="476250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5" name="Equation" r:id="rId4" imgW="2641600" imgH="431800" progId="Equation.3">
                  <p:embed/>
                </p:oleObj>
              </mc:Choice>
              <mc:Fallback>
                <p:oleObj name="Equation" r:id="rId4" imgW="26416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284288"/>
                        <a:ext cx="4762500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4"/>
          <p:cNvGraphicFramePr>
            <a:graphicFrameLocks noChangeAspect="1"/>
          </p:cNvGraphicFramePr>
          <p:nvPr/>
        </p:nvGraphicFramePr>
        <p:xfrm>
          <a:off x="2339975" y="2205038"/>
          <a:ext cx="6618288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6" name="Equation" r:id="rId6" imgW="3670300" imgH="431800" progId="Equation.3">
                  <p:embed/>
                </p:oleObj>
              </mc:Choice>
              <mc:Fallback>
                <p:oleObj name="Equation" r:id="rId6" imgW="36703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205038"/>
                        <a:ext cx="6618288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711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36" b="30341"/>
          <a:stretch>
            <a:fillRect/>
          </a:stretch>
        </p:blipFill>
        <p:spPr bwMode="auto">
          <a:xfrm>
            <a:off x="395288" y="2998788"/>
            <a:ext cx="7515225" cy="136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7111" name="Object 6"/>
          <p:cNvGraphicFramePr>
            <a:graphicFrameLocks noChangeAspect="1"/>
          </p:cNvGraphicFramePr>
          <p:nvPr/>
        </p:nvGraphicFramePr>
        <p:xfrm>
          <a:off x="2351088" y="4365625"/>
          <a:ext cx="5680075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7" name="Equation" r:id="rId8" imgW="3149600" imgH="508000" progId="Equation.3">
                  <p:embed/>
                </p:oleObj>
              </mc:Choice>
              <mc:Fallback>
                <p:oleObj name="Equation" r:id="rId8" imgW="3149600" imgH="508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4365625"/>
                        <a:ext cx="5680075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7112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512" b="-1219"/>
          <a:stretch>
            <a:fillRect/>
          </a:stretch>
        </p:blipFill>
        <p:spPr bwMode="auto">
          <a:xfrm>
            <a:off x="441325" y="5445125"/>
            <a:ext cx="7515225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3" name="Line 8"/>
          <p:cNvSpPr>
            <a:spLocks noChangeShapeType="1"/>
          </p:cNvSpPr>
          <p:nvPr/>
        </p:nvSpPr>
        <p:spPr bwMode="auto">
          <a:xfrm>
            <a:off x="1187450" y="1196975"/>
            <a:ext cx="3175" cy="4752975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7114" name="Oval 9"/>
          <p:cNvSpPr>
            <a:spLocks noChangeArrowheads="1"/>
          </p:cNvSpPr>
          <p:nvPr/>
        </p:nvSpPr>
        <p:spPr bwMode="auto">
          <a:xfrm>
            <a:off x="919163" y="942975"/>
            <a:ext cx="1800225" cy="287338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1A40300-B8A4-43C4-B59D-90F0F1E26156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fr-FR" altLang="en-US" sz="1400" b="0" smtClean="0"/>
          </a:p>
        </p:txBody>
      </p:sp>
      <p:sp>
        <p:nvSpPr>
          <p:cNvPr id="48131" name="Text Box 2"/>
          <p:cNvSpPr txBox="1">
            <a:spLocks noChangeArrowheads="1"/>
          </p:cNvSpPr>
          <p:nvPr/>
        </p:nvSpPr>
        <p:spPr bwMode="auto">
          <a:xfrm>
            <a:off x="179388" y="-26988"/>
            <a:ext cx="5426075" cy="822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/>
              <a:t>Calcul des polynômes de Lagrange P1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/>
              <a:t>Sur triangle à 3 noeuds</a:t>
            </a:r>
          </a:p>
        </p:txBody>
      </p:sp>
      <p:sp>
        <p:nvSpPr>
          <p:cNvPr id="48132" name="Rectangle 3"/>
          <p:cNvSpPr>
            <a:spLocks noChangeArrowheads="1"/>
          </p:cNvSpPr>
          <p:nvPr/>
        </p:nvSpPr>
        <p:spPr bwMode="auto">
          <a:xfrm>
            <a:off x="6870700" y="260350"/>
            <a:ext cx="193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polynomes_T3.m</a:t>
            </a:r>
          </a:p>
        </p:txBody>
      </p:sp>
      <p:pic>
        <p:nvPicPr>
          <p:cNvPr id="4813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8" y="765175"/>
            <a:ext cx="6692900" cy="605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4" name="Text Box 5"/>
          <p:cNvSpPr txBox="1">
            <a:spLocks noChangeArrowheads="1"/>
          </p:cNvSpPr>
          <p:nvPr/>
        </p:nvSpPr>
        <p:spPr bwMode="auto">
          <a:xfrm>
            <a:off x="2771775" y="6172200"/>
            <a:ext cx="61928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Stockage des polynomes alpha et des poids de Gauss,  calculés aux points de Gauss dans la structure gauss</a:t>
            </a:r>
          </a:p>
        </p:txBody>
      </p:sp>
      <p:sp>
        <p:nvSpPr>
          <p:cNvPr id="48135" name="Text Box 6"/>
          <p:cNvSpPr txBox="1">
            <a:spLocks noChangeArrowheads="1"/>
          </p:cNvSpPr>
          <p:nvPr/>
        </p:nvSpPr>
        <p:spPr bwMode="auto">
          <a:xfrm>
            <a:off x="6167438" y="21336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en-US" sz="2000">
                <a:latin typeface="Times New Roman" panose="02020603050405020304" pitchFamily="18" charset="0"/>
              </a:rPr>
              <a:t>v</a:t>
            </a:r>
          </a:p>
        </p:txBody>
      </p:sp>
      <p:grpSp>
        <p:nvGrpSpPr>
          <p:cNvPr id="48136" name="Group 7"/>
          <p:cNvGrpSpPr>
            <a:grpSpLocks/>
          </p:cNvGrpSpPr>
          <p:nvPr/>
        </p:nvGrpSpPr>
        <p:grpSpPr bwMode="auto">
          <a:xfrm>
            <a:off x="5867400" y="2420938"/>
            <a:ext cx="2360613" cy="1598612"/>
            <a:chOff x="3652" y="1570"/>
            <a:chExt cx="1487" cy="1007"/>
          </a:xfrm>
        </p:grpSpPr>
        <p:sp>
          <p:nvSpPr>
            <p:cNvPr id="48138" name="Line 8"/>
            <p:cNvSpPr>
              <a:spLocks noChangeShapeType="1"/>
            </p:cNvSpPr>
            <p:nvPr/>
          </p:nvSpPr>
          <p:spPr bwMode="auto">
            <a:xfrm flipV="1">
              <a:off x="4024" y="1595"/>
              <a:ext cx="0" cy="7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8139" name="Line 9"/>
            <p:cNvSpPr>
              <a:spLocks noChangeShapeType="1"/>
            </p:cNvSpPr>
            <p:nvPr/>
          </p:nvSpPr>
          <p:spPr bwMode="auto">
            <a:xfrm rot="5400000" flipV="1">
              <a:off x="4451" y="1899"/>
              <a:ext cx="6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8140" name="Freeform 10"/>
            <p:cNvSpPr>
              <a:spLocks/>
            </p:cNvSpPr>
            <p:nvPr/>
          </p:nvSpPr>
          <p:spPr bwMode="auto">
            <a:xfrm rot="5400000" flipH="1">
              <a:off x="4026" y="1773"/>
              <a:ext cx="571" cy="563"/>
            </a:xfrm>
            <a:custGeom>
              <a:avLst/>
              <a:gdLst>
                <a:gd name="T0" fmla="*/ 0 w 563"/>
                <a:gd name="T1" fmla="*/ 25369 h 450"/>
                <a:gd name="T2" fmla="*/ 0 w 563"/>
                <a:gd name="T3" fmla="*/ 0 h 450"/>
                <a:gd name="T4" fmla="*/ 725 w 563"/>
                <a:gd name="T5" fmla="*/ 25369 h 450"/>
                <a:gd name="T6" fmla="*/ 0 w 563"/>
                <a:gd name="T7" fmla="*/ 25369 h 4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3"/>
                <a:gd name="T13" fmla="*/ 0 h 450"/>
                <a:gd name="T14" fmla="*/ 563 w 563"/>
                <a:gd name="T15" fmla="*/ 450 h 4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3" h="450">
                  <a:moveTo>
                    <a:pt x="0" y="450"/>
                  </a:moveTo>
                  <a:lnTo>
                    <a:pt x="0" y="0"/>
                  </a:lnTo>
                  <a:lnTo>
                    <a:pt x="563" y="450"/>
                  </a:lnTo>
                  <a:lnTo>
                    <a:pt x="0" y="450"/>
                  </a:ln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8141" name="Text Box 11"/>
            <p:cNvSpPr txBox="1">
              <a:spLocks noChangeArrowheads="1"/>
            </p:cNvSpPr>
            <p:nvPr/>
          </p:nvSpPr>
          <p:spPr bwMode="auto">
            <a:xfrm>
              <a:off x="4943" y="2185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2000"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48142" name="Text Box 12"/>
            <p:cNvSpPr txBox="1">
              <a:spLocks noChangeArrowheads="1"/>
            </p:cNvSpPr>
            <p:nvPr/>
          </p:nvSpPr>
          <p:spPr bwMode="auto">
            <a:xfrm>
              <a:off x="4377" y="2365"/>
              <a:ext cx="3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600">
                  <a:latin typeface="Times New Roman" panose="02020603050405020304" pitchFamily="18" charset="0"/>
                </a:rPr>
                <a:t>(1,0)</a:t>
              </a:r>
            </a:p>
          </p:txBody>
        </p:sp>
        <p:sp>
          <p:nvSpPr>
            <p:cNvPr id="48143" name="Text Box 13"/>
            <p:cNvSpPr txBox="1">
              <a:spLocks noChangeArrowheads="1"/>
            </p:cNvSpPr>
            <p:nvPr/>
          </p:nvSpPr>
          <p:spPr bwMode="auto">
            <a:xfrm>
              <a:off x="3652" y="1646"/>
              <a:ext cx="3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en-US" sz="1600">
                  <a:latin typeface="Times New Roman" panose="02020603050405020304" pitchFamily="18" charset="0"/>
                </a:rPr>
                <a:t>(0,1)</a:t>
              </a:r>
            </a:p>
          </p:txBody>
        </p:sp>
        <p:sp>
          <p:nvSpPr>
            <p:cNvPr id="48144" name="Oval 14"/>
            <p:cNvSpPr>
              <a:spLocks noChangeArrowheads="1"/>
            </p:cNvSpPr>
            <p:nvPr/>
          </p:nvSpPr>
          <p:spPr bwMode="auto">
            <a:xfrm>
              <a:off x="3974" y="1730"/>
              <a:ext cx="90" cy="9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8145" name="Oval 15"/>
            <p:cNvSpPr>
              <a:spLocks noChangeArrowheads="1"/>
            </p:cNvSpPr>
            <p:nvPr/>
          </p:nvSpPr>
          <p:spPr bwMode="auto">
            <a:xfrm>
              <a:off x="3974" y="2278"/>
              <a:ext cx="90" cy="9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8146" name="Oval 16"/>
            <p:cNvSpPr>
              <a:spLocks noChangeArrowheads="1"/>
            </p:cNvSpPr>
            <p:nvPr/>
          </p:nvSpPr>
          <p:spPr bwMode="auto">
            <a:xfrm>
              <a:off x="4514" y="2278"/>
              <a:ext cx="90" cy="9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8147" name="Oval 17"/>
            <p:cNvSpPr>
              <a:spLocks noChangeArrowheads="1"/>
            </p:cNvSpPr>
            <p:nvPr/>
          </p:nvSpPr>
          <p:spPr bwMode="auto">
            <a:xfrm>
              <a:off x="4319" y="2203"/>
              <a:ext cx="68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8148" name="Oval 18"/>
            <p:cNvSpPr>
              <a:spLocks noChangeArrowheads="1"/>
            </p:cNvSpPr>
            <p:nvPr/>
          </p:nvSpPr>
          <p:spPr bwMode="auto">
            <a:xfrm>
              <a:off x="4101" y="2201"/>
              <a:ext cx="68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8149" name="Oval 19"/>
            <p:cNvSpPr>
              <a:spLocks noChangeArrowheads="1"/>
            </p:cNvSpPr>
            <p:nvPr/>
          </p:nvSpPr>
          <p:spPr bwMode="auto">
            <a:xfrm>
              <a:off x="4094" y="1993"/>
              <a:ext cx="68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8150" name="Text Box 20"/>
            <p:cNvSpPr txBox="1">
              <a:spLocks noChangeArrowheads="1"/>
            </p:cNvSpPr>
            <p:nvPr/>
          </p:nvSpPr>
          <p:spPr bwMode="auto">
            <a:xfrm>
              <a:off x="3850" y="2292"/>
              <a:ext cx="1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>
                  <a:solidFill>
                    <a:schemeClr val="hlink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48151" name="Rectangle 21"/>
            <p:cNvSpPr>
              <a:spLocks noChangeArrowheads="1"/>
            </p:cNvSpPr>
            <p:nvPr/>
          </p:nvSpPr>
          <p:spPr bwMode="auto">
            <a:xfrm>
              <a:off x="4558" y="2116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>
                  <a:solidFill>
                    <a:schemeClr val="hlink"/>
                  </a:solidFill>
                  <a:latin typeface="Times New Roman" panose="02020603050405020304" pitchFamily="18" charset="0"/>
                </a:rPr>
                <a:t>II</a:t>
              </a:r>
            </a:p>
          </p:txBody>
        </p:sp>
        <p:sp>
          <p:nvSpPr>
            <p:cNvPr id="48152" name="Rectangle 22"/>
            <p:cNvSpPr>
              <a:spLocks noChangeArrowheads="1"/>
            </p:cNvSpPr>
            <p:nvPr/>
          </p:nvSpPr>
          <p:spPr bwMode="auto">
            <a:xfrm>
              <a:off x="4059" y="1570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>
                  <a:solidFill>
                    <a:schemeClr val="hlink"/>
                  </a:solidFill>
                  <a:latin typeface="Times New Roman" panose="02020603050405020304" pitchFamily="18" charset="0"/>
                </a:rPr>
                <a:t>III</a:t>
              </a:r>
            </a:p>
          </p:txBody>
        </p:sp>
      </p:grpSp>
      <p:sp>
        <p:nvSpPr>
          <p:cNvPr id="48137" name="Text Box 23"/>
          <p:cNvSpPr txBox="1">
            <a:spLocks noChangeArrowheads="1"/>
          </p:cNvSpPr>
          <p:nvPr/>
        </p:nvSpPr>
        <p:spPr bwMode="auto">
          <a:xfrm>
            <a:off x="6011863" y="1844675"/>
            <a:ext cx="2368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Elément de référence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360F34-0A16-4142-A841-F7B602EC41BD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fr-FR" altLang="en-US" sz="1400" b="0" smtClean="0"/>
          </a:p>
        </p:txBody>
      </p:sp>
      <p:pic>
        <p:nvPicPr>
          <p:cNvPr id="4915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04788"/>
            <a:ext cx="7439025" cy="644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6" name="Text Box 3"/>
          <p:cNvSpPr txBox="1">
            <a:spLocks noChangeArrowheads="1"/>
          </p:cNvSpPr>
          <p:nvPr/>
        </p:nvSpPr>
        <p:spPr bwMode="auto">
          <a:xfrm>
            <a:off x="4356100" y="5811838"/>
            <a:ext cx="49672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Numero global du (ie)</a:t>
            </a:r>
            <a:r>
              <a:rPr lang="fr-FR" altLang="en-US" sz="1800" baseline="30000"/>
              <a:t>ième</a:t>
            </a:r>
            <a:r>
              <a:rPr lang="fr-FR" altLang="en-US" sz="1800"/>
              <a:t> nœud de l</a:t>
            </a:r>
            <a:r>
              <a:rPr lang="ja-JP" altLang="fr-FR" sz="1800"/>
              <a:t>’</a:t>
            </a:r>
            <a:r>
              <a:rPr lang="fr-FR" altLang="ja-JP" sz="1800"/>
              <a:t>élément 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et ses coordonnées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41C94B-1648-4FE2-90CC-BF37BB7E7876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fr-FR" altLang="en-US" sz="1400" b="0" smtClean="0"/>
          </a:p>
        </p:txBody>
      </p:sp>
      <p:pic>
        <p:nvPicPr>
          <p:cNvPr id="5017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0"/>
            <a:ext cx="6769100" cy="676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0180" name="Object 3"/>
          <p:cNvGraphicFramePr>
            <a:graphicFrameLocks noChangeAspect="1"/>
          </p:cNvGraphicFramePr>
          <p:nvPr/>
        </p:nvGraphicFramePr>
        <p:xfrm>
          <a:off x="3419475" y="333375"/>
          <a:ext cx="5656263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9" name="Equation" r:id="rId4" imgW="3136900" imgH="431800" progId="Equation.3">
                  <p:embed/>
                </p:oleObj>
              </mc:Choice>
              <mc:Fallback>
                <p:oleObj name="Equation" r:id="rId4" imgW="31369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333375"/>
                        <a:ext cx="5656263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1" name="Object 4"/>
          <p:cNvGraphicFramePr>
            <a:graphicFrameLocks noChangeAspect="1"/>
          </p:cNvGraphicFramePr>
          <p:nvPr/>
        </p:nvGraphicFramePr>
        <p:xfrm>
          <a:off x="5446713" y="2206625"/>
          <a:ext cx="3722687" cy="148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0" name="Equation" r:id="rId6" imgW="2222500" imgH="889000" progId="Equation.DSMT4">
                  <p:embed/>
                </p:oleObj>
              </mc:Choice>
              <mc:Fallback>
                <p:oleObj name="Equation" r:id="rId6" imgW="2222500" imgH="889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6713" y="2206625"/>
                        <a:ext cx="3722687" cy="1487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2" name="Object 5"/>
          <p:cNvGraphicFramePr>
            <a:graphicFrameLocks noChangeAspect="1"/>
          </p:cNvGraphicFramePr>
          <p:nvPr/>
        </p:nvGraphicFramePr>
        <p:xfrm>
          <a:off x="4011613" y="4392613"/>
          <a:ext cx="4781550" cy="187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1" name="Equation" r:id="rId8" imgW="2717800" imgH="1066800" progId="Equation.DSMT4">
                  <p:embed/>
                </p:oleObj>
              </mc:Choice>
              <mc:Fallback>
                <p:oleObj name="Equation" r:id="rId8" imgW="2717800" imgH="1066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1613" y="4392613"/>
                        <a:ext cx="4781550" cy="187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3" name="Line 6"/>
          <p:cNvSpPr>
            <a:spLocks noChangeShapeType="1"/>
          </p:cNvSpPr>
          <p:nvPr/>
        </p:nvSpPr>
        <p:spPr bwMode="auto">
          <a:xfrm>
            <a:off x="900113" y="1628775"/>
            <a:ext cx="1587" cy="515778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84" name="Oval 7"/>
          <p:cNvSpPr>
            <a:spLocks noChangeArrowheads="1"/>
          </p:cNvSpPr>
          <p:nvPr/>
        </p:nvSpPr>
        <p:spPr bwMode="auto">
          <a:xfrm>
            <a:off x="539750" y="1341438"/>
            <a:ext cx="1871663" cy="287337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185" name="Text Box 8"/>
          <p:cNvSpPr txBox="1">
            <a:spLocks noChangeArrowheads="1"/>
          </p:cNvSpPr>
          <p:nvPr/>
        </p:nvSpPr>
        <p:spPr bwMode="auto">
          <a:xfrm>
            <a:off x="2484438" y="1289050"/>
            <a:ext cx="53276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Pour chaque point de Gauss, on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calcule la matrice jacobienne 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transformation géométrique</a:t>
            </a:r>
          </a:p>
        </p:txBody>
      </p:sp>
      <p:sp>
        <p:nvSpPr>
          <p:cNvPr id="50186" name="Text Box 9"/>
          <p:cNvSpPr txBox="1">
            <a:spLocks noChangeArrowheads="1"/>
          </p:cNvSpPr>
          <p:nvPr/>
        </p:nvSpPr>
        <p:spPr bwMode="auto">
          <a:xfrm>
            <a:off x="3111500" y="5583238"/>
            <a:ext cx="12604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ym typeface="Symbol" panose="05050102010706020507" pitchFamily="18" charset="2"/>
              </a:rPr>
              <a:t>det J ≠ 0 ?</a:t>
            </a:r>
          </a:p>
        </p:txBody>
      </p:sp>
      <p:sp>
        <p:nvSpPr>
          <p:cNvPr id="50187" name="Text Box 10"/>
          <p:cNvSpPr txBox="1">
            <a:spLocks noChangeArrowheads="1"/>
          </p:cNvSpPr>
          <p:nvPr/>
        </p:nvSpPr>
        <p:spPr bwMode="auto">
          <a:xfrm>
            <a:off x="2916238" y="4652963"/>
            <a:ext cx="2025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Attention notation </a:t>
            </a:r>
          </a:p>
        </p:txBody>
      </p:sp>
      <p:sp>
        <p:nvSpPr>
          <p:cNvPr id="2" name="Rectangle 1"/>
          <p:cNvSpPr/>
          <p:nvPr/>
        </p:nvSpPr>
        <p:spPr>
          <a:xfrm>
            <a:off x="769938" y="241300"/>
            <a:ext cx="1920875" cy="23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6BF975-8671-41B8-9B5F-4DFF244677CE}" type="slidenum">
              <a:rPr lang="fr-FR" altLang="en-US" sz="1400" smtClean="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fr-FR" altLang="en-US" sz="1400" b="0" smtClean="0"/>
          </a:p>
        </p:txBody>
      </p:sp>
      <p:pic>
        <p:nvPicPr>
          <p:cNvPr id="5120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632"/>
          <a:stretch>
            <a:fillRect/>
          </a:stretch>
        </p:blipFill>
        <p:spPr bwMode="auto">
          <a:xfrm>
            <a:off x="323850" y="260350"/>
            <a:ext cx="5476875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1204" name="Object 3"/>
          <p:cNvGraphicFramePr>
            <a:graphicFrameLocks noChangeAspect="1"/>
          </p:cNvGraphicFramePr>
          <p:nvPr/>
        </p:nvGraphicFramePr>
        <p:xfrm>
          <a:off x="1819275" y="1981200"/>
          <a:ext cx="5499100" cy="151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7" name="Equation" r:id="rId4" imgW="3124200" imgH="863600" progId="Equation.DSMT4">
                  <p:embed/>
                </p:oleObj>
              </mc:Choice>
              <mc:Fallback>
                <p:oleObj name="Equation" r:id="rId4" imgW="3124200" imgH="863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9275" y="1981200"/>
                        <a:ext cx="5499100" cy="151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05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67"/>
          <a:stretch>
            <a:fillRect/>
          </a:stretch>
        </p:blipFill>
        <p:spPr bwMode="auto">
          <a:xfrm>
            <a:off x="319088" y="3933825"/>
            <a:ext cx="5476875" cy="2557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6" name="Line 5"/>
          <p:cNvSpPr>
            <a:spLocks noChangeShapeType="1"/>
          </p:cNvSpPr>
          <p:nvPr/>
        </p:nvSpPr>
        <p:spPr bwMode="auto">
          <a:xfrm>
            <a:off x="1114425" y="260350"/>
            <a:ext cx="3175" cy="5040313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512</TotalTime>
  <Words>1957</Words>
  <Application>Microsoft Office PowerPoint</Application>
  <PresentationFormat>Affichage à l'écran (4:3)</PresentationFormat>
  <Paragraphs>662</Paragraphs>
  <Slides>31</Slides>
  <Notes>5</Notes>
  <HiddenSlides>0</HiddenSlides>
  <MMClips>0</MMClips>
  <ScaleCrop>false</ScaleCrop>
  <HeadingPairs>
    <vt:vector size="8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31</vt:i4>
      </vt:variant>
    </vt:vector>
  </HeadingPairs>
  <TitlesOfParts>
    <vt:vector size="42" baseType="lpstr">
      <vt:lpstr>Arial</vt:lpstr>
      <vt:lpstr>MS PGothic</vt:lpstr>
      <vt:lpstr>Symbol</vt:lpstr>
      <vt:lpstr>Wingdings</vt:lpstr>
      <vt:lpstr>Times New Roman</vt:lpstr>
      <vt:lpstr>ZapfDingbats</vt:lpstr>
      <vt:lpstr>Trebuchet MS</vt:lpstr>
      <vt:lpstr>Courier New</vt:lpstr>
      <vt:lpstr>Modèle par défaut</vt:lpstr>
      <vt:lpstr>MathType 6.0 Equation</vt:lpstr>
      <vt:lpstr>Microsoft Equation 3.0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Assemblage des matrices élémentaires</vt:lpstr>
      <vt:lpstr>Assemblage des matrices élémentaires</vt:lpstr>
      <vt:lpstr>Matrice globale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toussaij</cp:lastModifiedBy>
  <cp:revision>38</cp:revision>
  <cp:lastPrinted>1601-01-01T00:00:00Z</cp:lastPrinted>
  <dcterms:created xsi:type="dcterms:W3CDTF">2018-12-06T14:39:34Z</dcterms:created>
  <dcterms:modified xsi:type="dcterms:W3CDTF">2024-12-03T09:57:25Z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