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96" r:id="rId2"/>
    <p:sldId id="292" r:id="rId3"/>
    <p:sldId id="283" r:id="rId4"/>
    <p:sldId id="271" r:id="rId5"/>
    <p:sldId id="270" r:id="rId6"/>
    <p:sldId id="295" r:id="rId7"/>
    <p:sldId id="293" r:id="rId8"/>
    <p:sldId id="297" r:id="rId9"/>
    <p:sldId id="298" r:id="rId10"/>
    <p:sldId id="299" r:id="rId11"/>
    <p:sldId id="300" r:id="rId12"/>
    <p:sldId id="287" r:id="rId13"/>
    <p:sldId id="281" r:id="rId14"/>
    <p:sldId id="282" r:id="rId15"/>
    <p:sldId id="286" r:id="rId16"/>
    <p:sldId id="275" r:id="rId17"/>
    <p:sldId id="284" r:id="rId18"/>
    <p:sldId id="285" r:id="rId19"/>
    <p:sldId id="274" r:id="rId20"/>
    <p:sldId id="288" r:id="rId21"/>
    <p:sldId id="277" r:id="rId22"/>
    <p:sldId id="289" r:id="rId23"/>
    <p:sldId id="272" r:id="rId24"/>
  </p:sldIdLst>
  <p:sldSz cx="9144000" cy="6858000" type="screen4x3"/>
  <p:notesSz cx="10234613" cy="70993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CC00"/>
    <a:srgbClr val="66FF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1157" y="-72"/>
      </p:cViewPr>
      <p:guideLst>
        <p:guide orient="horz" pos="2236"/>
        <p:guide pos="32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t" anchorCtr="0" compatLnSpc="1">
            <a:prstTxWarp prst="textNoShape">
              <a:avLst/>
            </a:prstTxWarp>
          </a:bodyPr>
          <a:lstStyle>
            <a:lvl1pPr defTabSz="915988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b" anchorCtr="0" compatLnSpc="1">
            <a:prstTxWarp prst="textNoShape">
              <a:avLst/>
            </a:prstTxWarp>
          </a:bodyPr>
          <a:lstStyle>
            <a:lvl1pPr defTabSz="915988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7" tIns="45778" rIns="91557" bIns="4577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/>
            </a:lvl1pPr>
          </a:lstStyle>
          <a:p>
            <a:fld id="{3E4A42D3-420E-4681-B2E3-162A2383D891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B46F7E6-C78D-4574-95BE-C1B0DEA2C6CC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9C9A59-3985-4262-B7FC-D58394CCB374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242095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A863C8-B5B3-4BCE-8810-850F097FE278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10374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7F77BA-53C6-40B0-A0DD-A9816B395197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89941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850215-BC40-4AC4-B676-500294DCA186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63277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8DAA32-F397-4D8A-983B-349E83B1F2AE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311775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5EB2D-1AFB-41A6-B886-28DF77AC1D69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350328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26D288-7DAB-4889-A1B7-035EF4EF5CA9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87513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1805C-EE62-4021-888C-A559D8EB71C5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77943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D9D07-3FD7-4E91-8F35-109289BE74CF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4588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61F497-D8F5-4D6C-8DF3-3775A09BF061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08304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9B37F4-7B18-4B96-BF10-B8EEC84E6B11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04779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89700"/>
            <a:ext cx="21336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fld id="{10ABA261-4DCA-4B6B-8BFA-FC318B1F21C0}" type="slidenum">
              <a:rPr lang="fr-FR" altLang="fr-FR"/>
              <a:pPr/>
              <a:t>‹N°›</a:t>
            </a:fld>
            <a:r>
              <a:rPr lang="fr-FR" altLang="fr-FR" b="0"/>
              <a:t>/23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0.bin"/><Relationship Id="rId18" Type="http://schemas.openxmlformats.org/officeDocument/2006/relationships/oleObject" Target="../embeddings/oleObject42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53.wmf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image" Target="../media/image57.png"/><Relationship Id="rId10" Type="http://schemas.openxmlformats.org/officeDocument/2006/relationships/image" Target="../media/image52.wmf"/><Relationship Id="rId19" Type="http://schemas.openxmlformats.org/officeDocument/2006/relationships/image" Target="../media/image56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EB157A5-7960-497F-8B4C-A9079421DD69}" type="slidenum">
              <a:rPr lang="fr-FR" altLang="fr-FR" sz="1200"/>
              <a:pPr eaLnBrk="1" hangingPunct="1"/>
              <a:t>1</a:t>
            </a:fld>
            <a:r>
              <a:rPr lang="fr-FR" altLang="fr-FR" sz="1200" b="0"/>
              <a:t>/23</a:t>
            </a:r>
          </a:p>
        </p:txBody>
      </p:sp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051050" y="115888"/>
            <a:ext cx="463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Méthode des différences finies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23850" y="703263"/>
            <a:ext cx="8770938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Méthode de résolution d</a:t>
            </a:r>
            <a:r>
              <a:rPr lang="ja-JP" altLang="fr-FR" sz="2000"/>
              <a:t>’</a:t>
            </a:r>
            <a:r>
              <a:rPr lang="fr-FR" altLang="ja-JP" sz="2000"/>
              <a:t>équations aux dérivées partielles statiques ou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temporelles (chaleur, mécanique, fluide, propagation d</a:t>
            </a:r>
            <a:r>
              <a:rPr lang="ja-JP" altLang="fr-FR" sz="2000"/>
              <a:t>’</a:t>
            </a:r>
            <a:r>
              <a:rPr lang="fr-FR" altLang="ja-JP" sz="2000"/>
              <a:t>onde)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</a:t>
            </a:r>
            <a:r>
              <a:rPr lang="ja-JP" altLang="fr-FR" sz="2000"/>
              <a:t>’</a:t>
            </a:r>
            <a:r>
              <a:rPr lang="fr-FR" altLang="ja-JP" sz="2000"/>
              <a:t>inconnue et  les grandeurs physiques sont échantillonnées sur un ens.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de points d</a:t>
            </a:r>
            <a:r>
              <a:rPr lang="ja-JP" altLang="fr-FR" sz="2000"/>
              <a:t>’</a:t>
            </a:r>
            <a:r>
              <a:rPr lang="fr-FR" altLang="ja-JP" sz="2000"/>
              <a:t>un réseau le plus souvent régulier.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La discrétisation de l</a:t>
            </a:r>
            <a:r>
              <a:rPr lang="ja-JP" altLang="fr-FR" sz="2000"/>
              <a:t>’</a:t>
            </a:r>
            <a:r>
              <a:rPr lang="fr-FR" altLang="ja-JP" sz="2000"/>
              <a:t>équation consiste à remplacer les dérivées partielles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par leur accroissement. Cette estimation en un nœud donné est obtenue par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un </a:t>
            </a:r>
            <a:r>
              <a:rPr lang="fr-FR" altLang="fr-FR" sz="2000">
                <a:solidFill>
                  <a:srgbClr val="FF0000"/>
                </a:solidFill>
              </a:rPr>
              <a:t>développement de Taylor de l</a:t>
            </a:r>
            <a:r>
              <a:rPr lang="ja-JP" altLang="fr-FR" sz="2000">
                <a:solidFill>
                  <a:srgbClr val="FF0000"/>
                </a:solidFill>
              </a:rPr>
              <a:t>’</a:t>
            </a:r>
            <a:r>
              <a:rPr lang="fr-FR" altLang="ja-JP" sz="2000">
                <a:solidFill>
                  <a:srgbClr val="FF0000"/>
                </a:solidFill>
              </a:rPr>
              <a:t>inconnue à partir des nœuds voisins</a:t>
            </a:r>
            <a:r>
              <a:rPr lang="fr-FR" altLang="ja-JP" sz="2000"/>
              <a:t>. 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Lorsque l</a:t>
            </a:r>
            <a:r>
              <a:rPr lang="ja-JP" altLang="fr-FR" sz="2000"/>
              <a:t>’</a:t>
            </a:r>
            <a:r>
              <a:rPr lang="fr-FR" altLang="ja-JP" sz="2000"/>
              <a:t>inconnue est invariante selon une direction z (translation) ou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par rotation autour de Oz (axisymétrie), le domaine de calcul peut être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restreint à un domaine 2D. </a:t>
            </a:r>
          </a:p>
          <a:p>
            <a:pPr eaLnBrk="1" hangingPunct="1">
              <a:lnSpc>
                <a:spcPct val="120000"/>
              </a:lnSpc>
            </a:pPr>
            <a:endParaRPr lang="fr-FR" altLang="fr-FR" sz="800"/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2000"/>
              <a:t> Lorsque l</a:t>
            </a:r>
            <a:r>
              <a:rPr lang="ja-JP" altLang="fr-FR" sz="2000"/>
              <a:t>’</a:t>
            </a:r>
            <a:r>
              <a:rPr lang="fr-FR" altLang="ja-JP" sz="2000"/>
              <a:t>inconnue ne varie que selon une direction x ou selon r (radiale),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le domaine de calcul se réduit à un segment de droite.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966ED5E-30A1-4862-B793-34653D0A1146}" type="slidenum">
              <a:rPr lang="fr-FR" altLang="fr-FR" sz="1200"/>
              <a:pPr eaLnBrk="1" hangingPunct="1"/>
              <a:t>2</a:t>
            </a:fld>
            <a:r>
              <a:rPr lang="fr-FR" altLang="fr-FR" sz="1200" b="0"/>
              <a:t>/23</a:t>
            </a:r>
          </a:p>
        </p:txBody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11188" y="115888"/>
            <a:ext cx="755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Discrétisation de la géométrie en différences finies</a:t>
            </a:r>
          </a:p>
        </p:txBody>
      </p:sp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2708275"/>
            <a:ext cx="3130550" cy="27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73350"/>
            <a:ext cx="2670175" cy="27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519113" y="666750"/>
            <a:ext cx="8266112" cy="186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1D,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réseau simple de noeuds</a:t>
            </a:r>
          </a:p>
          <a:p>
            <a:pPr eaLnBrk="1" hangingPunct="1"/>
            <a:r>
              <a:rPr lang="fr-FR" altLang="fr-FR" sz="1800"/>
              <a:t>En 2D,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réseau carré, rectangulaire ou sur un réseau hexagonal régulier. </a:t>
            </a:r>
          </a:p>
          <a:p>
            <a:pPr eaLnBrk="1" hangingPunct="1"/>
            <a:r>
              <a:rPr lang="fr-FR" altLang="fr-FR" sz="1800"/>
              <a:t>En 3D, l</a:t>
            </a:r>
            <a:r>
              <a:rPr lang="ja-JP" altLang="fr-FR" sz="1800"/>
              <a:t>’</a:t>
            </a:r>
            <a:r>
              <a:rPr lang="fr-FR" altLang="ja-JP" sz="1800"/>
              <a:t>inconnue est discrétisée sur un sur un réseau orthorhombique ou </a:t>
            </a:r>
          </a:p>
          <a:p>
            <a:pPr eaLnBrk="1" hangingPunct="1"/>
            <a:r>
              <a:rPr lang="fr-FR" altLang="fr-FR" sz="1800"/>
              <a:t>à base hexagonale = réseaux 2D extrudés selon Oz. 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800"/>
              <a:t>En 2D et 3D, grandes difficultés pour décrire des surfaces curvilignes!</a:t>
            </a: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79425" y="5661025"/>
            <a:ext cx="7872413" cy="10350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Les différences finies sont bien adaptées pour résoudre les EDP sur</a:t>
            </a:r>
          </a:p>
          <a:p>
            <a:pPr eaLnBrk="1" hangingPunct="1"/>
            <a:r>
              <a:rPr lang="fr-FR" altLang="fr-FR" sz="2000"/>
              <a:t>des segments de droites, des domaines rectangulaires en 2D ou </a:t>
            </a:r>
          </a:p>
          <a:p>
            <a:pPr eaLnBrk="1" hangingPunct="1"/>
            <a:r>
              <a:rPr lang="fr-FR" altLang="fr-FR" sz="2000"/>
              <a:t>des pavés en 3D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8E5A308-C985-43E0-87AD-75E52B1F2076}" type="slidenum">
              <a:rPr lang="fr-FR" altLang="fr-FR" sz="1200"/>
              <a:pPr eaLnBrk="1" hangingPunct="1"/>
              <a:t>3</a:t>
            </a:fld>
            <a:r>
              <a:rPr lang="fr-FR" altLang="fr-FR" sz="1200" b="0"/>
              <a:t>/23</a:t>
            </a: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3563938" y="765175"/>
            <a:ext cx="442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Flux local de chaleur par unité de surface </a:t>
            </a:r>
          </a:p>
        </p:txBody>
      </p:sp>
      <p:sp>
        <p:nvSpPr>
          <p:cNvPr id="38951" name="Text Box 39"/>
          <p:cNvSpPr txBox="1">
            <a:spLocks noChangeArrowheads="1"/>
          </p:cNvSpPr>
          <p:nvPr/>
        </p:nvSpPr>
        <p:spPr bwMode="auto">
          <a:xfrm>
            <a:off x="3563938" y="2368550"/>
            <a:ext cx="53784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signe </a:t>
            </a:r>
            <a:r>
              <a:rPr lang="fr-FR" altLang="fr-FR" sz="1800" b="1">
                <a:solidFill>
                  <a:srgbClr val="FF0000"/>
                </a:solidFill>
              </a:rPr>
              <a:t>opposé à la convention thermodynamique</a:t>
            </a:r>
          </a:p>
          <a:p>
            <a:pPr lvl="1" eaLnBrk="1" hangingPunct="1">
              <a:buFontTx/>
              <a:buChar char="•"/>
            </a:pPr>
            <a:r>
              <a:rPr lang="fr-FR" altLang="fr-FR" sz="1800"/>
              <a:t> positif si flux de chaleur sortant</a:t>
            </a:r>
          </a:p>
          <a:p>
            <a:pPr lvl="1" eaLnBrk="1" hangingPunct="1">
              <a:buFontTx/>
              <a:buChar char="•"/>
            </a:pPr>
            <a:r>
              <a:rPr lang="fr-FR" altLang="fr-FR" sz="1800"/>
              <a:t> négatif si entrant </a:t>
            </a:r>
          </a:p>
        </p:txBody>
      </p:sp>
      <p:graphicFrame>
        <p:nvGraphicFramePr>
          <p:cNvPr id="6148" name="Object 36"/>
          <p:cNvGraphicFramePr>
            <a:graphicFrameLocks noChangeAspect="1"/>
          </p:cNvGraphicFramePr>
          <p:nvPr/>
        </p:nvGraphicFramePr>
        <p:xfrm>
          <a:off x="4381500" y="1055688"/>
          <a:ext cx="1141413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Equation" r:id="rId3" imgW="634725" imgH="393529" progId="Equation.3">
                  <p:embed/>
                </p:oleObj>
              </mc:Choice>
              <mc:Fallback>
                <p:oleObj name="Equation" r:id="rId3" imgW="634725" imgH="39352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1055688"/>
                        <a:ext cx="1141413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40"/>
          <p:cNvGraphicFramePr>
            <a:graphicFrameLocks noChangeAspect="1"/>
          </p:cNvGraphicFramePr>
          <p:nvPr/>
        </p:nvGraphicFramePr>
        <p:xfrm>
          <a:off x="6804025" y="1196975"/>
          <a:ext cx="13255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5" imgW="736600" imgH="228600" progId="Equation.3">
                  <p:embed/>
                </p:oleObj>
              </mc:Choice>
              <mc:Fallback>
                <p:oleObj name="Equation" r:id="rId5" imgW="73660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196975"/>
                        <a:ext cx="13255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3" name="Text Box 41"/>
          <p:cNvSpPr txBox="1">
            <a:spLocks noChangeArrowheads="1"/>
          </p:cNvSpPr>
          <p:nvPr/>
        </p:nvSpPr>
        <p:spPr bwMode="auto">
          <a:xfrm>
            <a:off x="5724525" y="119697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avec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4427538" y="188913"/>
            <a:ext cx="335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>
                <a:latin typeface="Arial" charset="0"/>
                <a:ea typeface="ＭＳ Ｐゴシック" charset="0"/>
              </a:rPr>
              <a:t>Echanges thermiques</a:t>
            </a:r>
          </a:p>
        </p:txBody>
      </p:sp>
      <p:grpSp>
        <p:nvGrpSpPr>
          <p:cNvPr id="6152" name="Group 63"/>
          <p:cNvGrpSpPr>
            <a:grpSpLocks/>
          </p:cNvGrpSpPr>
          <p:nvPr/>
        </p:nvGrpSpPr>
        <p:grpSpPr bwMode="auto">
          <a:xfrm>
            <a:off x="611188" y="260350"/>
            <a:ext cx="2787650" cy="2881313"/>
            <a:chOff x="385" y="0"/>
            <a:chExt cx="1756" cy="1815"/>
          </a:xfrm>
        </p:grpSpPr>
        <p:sp>
          <p:nvSpPr>
            <p:cNvPr id="38923" name="Freeform 11"/>
            <p:cNvSpPr>
              <a:spLocks/>
            </p:cNvSpPr>
            <p:nvPr/>
          </p:nvSpPr>
          <p:spPr bwMode="auto">
            <a:xfrm rot="654853">
              <a:off x="431" y="0"/>
              <a:ext cx="1251" cy="1815"/>
            </a:xfrm>
            <a:custGeom>
              <a:avLst/>
              <a:gdLst>
                <a:gd name="T0" fmla="*/ 1247 w 1144"/>
                <a:gd name="T1" fmla="*/ 946 h 1660"/>
                <a:gd name="T2" fmla="*/ 1049 w 1144"/>
                <a:gd name="T3" fmla="*/ 177 h 1660"/>
                <a:gd name="T4" fmla="*/ 506 w 1144"/>
                <a:gd name="T5" fmla="*/ 47 h 1660"/>
                <a:gd name="T6" fmla="*/ 217 w 1144"/>
                <a:gd name="T7" fmla="*/ 457 h 1660"/>
                <a:gd name="T8" fmla="*/ 528 w 1144"/>
                <a:gd name="T9" fmla="*/ 946 h 1660"/>
                <a:gd name="T10" fmla="*/ 147 w 1144"/>
                <a:gd name="T11" fmla="*/ 1137 h 1660"/>
                <a:gd name="T12" fmla="*/ 47 w 1144"/>
                <a:gd name="T13" fmla="*/ 1507 h 1660"/>
                <a:gd name="T14" fmla="*/ 429 w 1144"/>
                <a:gd name="T15" fmla="*/ 1814 h 1660"/>
                <a:gd name="T16" fmla="*/ 1024 w 1144"/>
                <a:gd name="T17" fmla="*/ 1517 h 1660"/>
                <a:gd name="T18" fmla="*/ 1247 w 1144"/>
                <a:gd name="T19" fmla="*/ 946 h 16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44" h="1660">
                  <a:moveTo>
                    <a:pt x="1140" y="865"/>
                  </a:moveTo>
                  <a:cubicBezTo>
                    <a:pt x="1144" y="661"/>
                    <a:pt x="1072" y="299"/>
                    <a:pt x="959" y="162"/>
                  </a:cubicBezTo>
                  <a:cubicBezTo>
                    <a:pt x="846" y="25"/>
                    <a:pt x="590" y="0"/>
                    <a:pt x="463" y="43"/>
                  </a:cubicBezTo>
                  <a:cubicBezTo>
                    <a:pt x="336" y="86"/>
                    <a:pt x="195" y="281"/>
                    <a:pt x="198" y="418"/>
                  </a:cubicBezTo>
                  <a:cubicBezTo>
                    <a:pt x="201" y="555"/>
                    <a:pt x="494" y="761"/>
                    <a:pt x="483" y="865"/>
                  </a:cubicBezTo>
                  <a:cubicBezTo>
                    <a:pt x="472" y="969"/>
                    <a:pt x="207" y="954"/>
                    <a:pt x="134" y="1040"/>
                  </a:cubicBezTo>
                  <a:cubicBezTo>
                    <a:pt x="61" y="1126"/>
                    <a:pt x="0" y="1275"/>
                    <a:pt x="43" y="1378"/>
                  </a:cubicBezTo>
                  <a:cubicBezTo>
                    <a:pt x="86" y="1481"/>
                    <a:pt x="243" y="1658"/>
                    <a:pt x="392" y="1659"/>
                  </a:cubicBezTo>
                  <a:cubicBezTo>
                    <a:pt x="541" y="1660"/>
                    <a:pt x="811" y="1519"/>
                    <a:pt x="936" y="1387"/>
                  </a:cubicBezTo>
                  <a:cubicBezTo>
                    <a:pt x="1061" y="1255"/>
                    <a:pt x="1136" y="1069"/>
                    <a:pt x="1140" y="865"/>
                  </a:cubicBez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rgbClr val="0099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1733" y="767"/>
              <a:ext cx="238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fr-FR" sz="2500" b="1" smtClean="0">
                  <a:solidFill>
                    <a:srgbClr val="FF3300"/>
                  </a:solidFill>
                </a:rPr>
                <a:t>n</a:t>
              </a:r>
            </a:p>
          </p:txBody>
        </p:sp>
        <p:sp>
          <p:nvSpPr>
            <p:cNvPr id="38945" name="Text Box 33"/>
            <p:cNvSpPr txBox="1">
              <a:spLocks noChangeArrowheads="1"/>
            </p:cNvSpPr>
            <p:nvPr/>
          </p:nvSpPr>
          <p:spPr bwMode="auto">
            <a:xfrm>
              <a:off x="1778" y="351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800" b="1">
                  <a:latin typeface="Arial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38955" name="Line 43"/>
            <p:cNvSpPr>
              <a:spLocks noChangeShapeType="1"/>
            </p:cNvSpPr>
            <p:nvPr/>
          </p:nvSpPr>
          <p:spPr bwMode="auto">
            <a:xfrm>
              <a:off x="1688" y="793"/>
              <a:ext cx="3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57" name="Text Box 45"/>
            <p:cNvSpPr txBox="1">
              <a:spLocks noChangeArrowheads="1"/>
            </p:cNvSpPr>
            <p:nvPr/>
          </p:nvSpPr>
          <p:spPr bwMode="auto">
            <a:xfrm>
              <a:off x="385" y="72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400" b="1">
                  <a:solidFill>
                    <a:srgbClr val="0099FF"/>
                  </a:solidFill>
                  <a:latin typeface="Arial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 flipV="1">
              <a:off x="1688" y="585"/>
              <a:ext cx="453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49" name="Text Box 37"/>
            <p:cNvSpPr txBox="1">
              <a:spLocks noChangeArrowheads="1"/>
            </p:cNvSpPr>
            <p:nvPr/>
          </p:nvSpPr>
          <p:spPr bwMode="auto">
            <a:xfrm>
              <a:off x="1343" y="676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2000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dS</a:t>
              </a:r>
            </a:p>
          </p:txBody>
        </p:sp>
        <p:sp>
          <p:nvSpPr>
            <p:cNvPr id="38954" name="Line 42"/>
            <p:cNvSpPr>
              <a:spLocks noChangeShapeType="1"/>
            </p:cNvSpPr>
            <p:nvPr/>
          </p:nvSpPr>
          <p:spPr bwMode="auto">
            <a:xfrm>
              <a:off x="1688" y="631"/>
              <a:ext cx="0" cy="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8962" name="Text Box 50"/>
            <p:cNvSpPr txBox="1">
              <a:spLocks noChangeArrowheads="1"/>
            </p:cNvSpPr>
            <p:nvPr/>
          </p:nvSpPr>
          <p:spPr bwMode="auto">
            <a:xfrm>
              <a:off x="1020" y="993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3200">
                  <a:latin typeface="Arial" charset="0"/>
                  <a:ea typeface="ＭＳ Ｐゴシック" charset="0"/>
                </a:rPr>
                <a:t>Q</a:t>
              </a:r>
            </a:p>
          </p:txBody>
        </p:sp>
      </p:grpSp>
      <p:sp>
        <p:nvSpPr>
          <p:cNvPr id="38965" name="Text Box 53"/>
          <p:cNvSpPr txBox="1">
            <a:spLocks noChangeArrowheads="1"/>
          </p:cNvSpPr>
          <p:nvPr/>
        </p:nvSpPr>
        <p:spPr bwMode="auto">
          <a:xfrm>
            <a:off x="611188" y="3697288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154" name="Object 54"/>
          <p:cNvGraphicFramePr>
            <a:graphicFrameLocks noChangeAspect="1"/>
          </p:cNvGraphicFramePr>
          <p:nvPr/>
        </p:nvGraphicFramePr>
        <p:xfrm>
          <a:off x="644525" y="4327525"/>
          <a:ext cx="2127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7" imgW="1180588" imgH="380835" progId="Equation.3">
                  <p:embed/>
                </p:oleObj>
              </mc:Choice>
              <mc:Fallback>
                <p:oleObj name="Equation" r:id="rId7" imgW="1180588" imgH="380835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4327525"/>
                        <a:ext cx="21272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7" name="Text Box 55"/>
          <p:cNvSpPr txBox="1">
            <a:spLocks noChangeArrowheads="1"/>
          </p:cNvSpPr>
          <p:nvPr/>
        </p:nvSpPr>
        <p:spPr bwMode="auto">
          <a:xfrm>
            <a:off x="468313" y="3435350"/>
            <a:ext cx="837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u="sng"/>
              <a:t>Bilan énergétique à l</a:t>
            </a:r>
            <a:r>
              <a:rPr lang="ja-JP" altLang="fr-FR" sz="1800" u="sng"/>
              <a:t>’</a:t>
            </a:r>
            <a:r>
              <a:rPr lang="fr-FR" altLang="ja-JP" sz="1800" u="sng"/>
              <a:t>équilibre thermodynamique</a:t>
            </a:r>
            <a:r>
              <a:rPr lang="fr-FR" altLang="ja-JP" sz="1800"/>
              <a:t> : soit une distribution interne de </a:t>
            </a:r>
          </a:p>
          <a:p>
            <a:pPr eaLnBrk="1" hangingPunct="1"/>
            <a:r>
              <a:rPr lang="fr-FR" altLang="fr-FR" sz="1800"/>
              <a:t>sources de chaleur Q(</a:t>
            </a:r>
            <a:r>
              <a:rPr lang="fr-FR" altLang="fr-FR" sz="1800" b="1"/>
              <a:t>r</a:t>
            </a:r>
            <a:r>
              <a:rPr lang="fr-FR" altLang="fr-FR" sz="1800"/>
              <a:t>) (unité [W].[m</a:t>
            </a:r>
            <a:r>
              <a:rPr lang="fr-FR" altLang="fr-FR" sz="1800" baseline="30000"/>
              <a:t>-3</a:t>
            </a:r>
            <a:r>
              <a:rPr lang="fr-FR" altLang="fr-FR" sz="1800"/>
              <a:t>])  , l</a:t>
            </a:r>
            <a:r>
              <a:rPr lang="ja-JP" altLang="fr-FR" sz="1800"/>
              <a:t>’</a:t>
            </a:r>
            <a:r>
              <a:rPr lang="fr-FR" altLang="ja-JP" sz="1800"/>
              <a:t>équilibre s</a:t>
            </a:r>
            <a:r>
              <a:rPr lang="ja-JP" altLang="fr-FR" sz="1800"/>
              <a:t>’</a:t>
            </a:r>
            <a:r>
              <a:rPr lang="fr-FR" altLang="ja-JP" sz="1800"/>
              <a:t>écrit :</a:t>
            </a:r>
            <a:endParaRPr lang="fr-FR" altLang="fr-FR" sz="1800"/>
          </a:p>
        </p:txBody>
      </p:sp>
      <p:sp>
        <p:nvSpPr>
          <p:cNvPr id="38968" name="Text Box 56"/>
          <p:cNvSpPr txBox="1">
            <a:spLocks noChangeArrowheads="1"/>
          </p:cNvSpPr>
          <p:nvPr/>
        </p:nvSpPr>
        <p:spPr bwMode="auto">
          <a:xfrm>
            <a:off x="547688" y="5119688"/>
            <a:ext cx="409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u="sng"/>
              <a:t>Bilan énergétique hors d</a:t>
            </a:r>
            <a:r>
              <a:rPr lang="ja-JP" altLang="fr-FR" sz="2000" u="sng"/>
              <a:t>’</a:t>
            </a:r>
            <a:r>
              <a:rPr lang="fr-FR" altLang="ja-JP" sz="2000" u="sng"/>
              <a:t>équilibre</a:t>
            </a:r>
            <a:r>
              <a:rPr lang="fr-FR" altLang="ja-JP" sz="2000"/>
              <a:t> :</a:t>
            </a:r>
            <a:endParaRPr lang="fr-FR" altLang="fr-FR" sz="2000"/>
          </a:p>
        </p:txBody>
      </p:sp>
      <p:sp>
        <p:nvSpPr>
          <p:cNvPr id="38969" name="Text Box 57"/>
          <p:cNvSpPr txBox="1">
            <a:spLocks noChangeArrowheads="1"/>
          </p:cNvSpPr>
          <p:nvPr/>
        </p:nvSpPr>
        <p:spPr bwMode="auto">
          <a:xfrm>
            <a:off x="3563938" y="4221163"/>
            <a:ext cx="4730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puissance dissipée s</a:t>
            </a:r>
            <a:r>
              <a:rPr lang="ja-JP" altLang="fr-FR" sz="1800"/>
              <a:t>’</a:t>
            </a:r>
            <a:r>
              <a:rPr lang="fr-FR" altLang="ja-JP" sz="1800"/>
              <a:t>équilibre avec le flux</a:t>
            </a:r>
          </a:p>
          <a:p>
            <a:pPr eaLnBrk="1" hangingPunct="1"/>
            <a:r>
              <a:rPr lang="fr-FR" altLang="fr-FR" sz="1800"/>
              <a:t>À travers la surface du domaine D</a:t>
            </a:r>
          </a:p>
        </p:txBody>
      </p:sp>
      <p:graphicFrame>
        <p:nvGraphicFramePr>
          <p:cNvPr id="6158" name="Object 58"/>
          <p:cNvGraphicFramePr>
            <a:graphicFrameLocks noChangeAspect="1"/>
          </p:cNvGraphicFramePr>
          <p:nvPr/>
        </p:nvGraphicFramePr>
        <p:xfrm>
          <a:off x="611188" y="5734050"/>
          <a:ext cx="38655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9" imgW="2145369" imgH="444307" progId="Equation.3">
                  <p:embed/>
                </p:oleObj>
              </mc:Choice>
              <mc:Fallback>
                <p:oleObj name="Equation" r:id="rId9" imgW="2145369" imgH="44430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734050"/>
                        <a:ext cx="3865562" cy="800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72" name="Text Box 60"/>
          <p:cNvSpPr txBox="1">
            <a:spLocks noChangeArrowheads="1"/>
          </p:cNvSpPr>
          <p:nvPr/>
        </p:nvSpPr>
        <p:spPr bwMode="auto">
          <a:xfrm>
            <a:off x="4572000" y="5661025"/>
            <a:ext cx="4360863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buFont typeface="Symbol" panose="05050102010706020507" pitchFamily="18" charset="2"/>
              <a:buNone/>
            </a:pPr>
            <a:r>
              <a:rPr lang="fr-FR" altLang="fr-FR" sz="1800">
                <a:latin typeface="Symbol" panose="05050102010706020507" pitchFamily="18" charset="2"/>
              </a:rPr>
              <a:t>r</a:t>
            </a:r>
            <a:r>
              <a:rPr lang="fr-FR" altLang="fr-FR" sz="1800"/>
              <a:t> la masse volumique [kg].[m</a:t>
            </a:r>
            <a:r>
              <a:rPr lang="fr-FR" altLang="fr-FR" sz="1800" baseline="30000"/>
              <a:t>-3</a:t>
            </a:r>
            <a:r>
              <a:rPr lang="fr-FR" altLang="fr-FR" sz="1800"/>
              <a:t>]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c</a:t>
            </a:r>
            <a:r>
              <a:rPr lang="fr-FR" altLang="fr-FR" sz="1800" baseline="-25000"/>
              <a:t>p</a:t>
            </a:r>
            <a:r>
              <a:rPr lang="fr-FR" altLang="fr-FR" sz="1800"/>
              <a:t> est la capacité calorifique [J].[kg</a:t>
            </a:r>
            <a:r>
              <a:rPr lang="fr-FR" altLang="fr-FR" sz="1800" baseline="30000"/>
              <a:t>-1</a:t>
            </a:r>
            <a:r>
              <a:rPr lang="fr-FR" altLang="fr-FR" sz="1800"/>
              <a:t>].[K</a:t>
            </a:r>
            <a:r>
              <a:rPr lang="fr-FR" altLang="fr-FR" sz="1800" baseline="30000"/>
              <a:t>-1</a:t>
            </a:r>
            <a:r>
              <a:rPr lang="fr-FR" altLang="fr-FR" sz="1800"/>
              <a:t>]</a:t>
            </a:r>
          </a:p>
        </p:txBody>
      </p:sp>
      <p:sp>
        <p:nvSpPr>
          <p:cNvPr id="38973" name="Text Box 61"/>
          <p:cNvSpPr txBox="1">
            <a:spLocks noChangeArrowheads="1"/>
          </p:cNvSpPr>
          <p:nvPr/>
        </p:nvSpPr>
        <p:spPr bwMode="auto">
          <a:xfrm>
            <a:off x="3563938" y="1628775"/>
            <a:ext cx="5280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Unité de d</a:t>
            </a:r>
            <a:r>
              <a:rPr lang="fr-FR" altLang="fr-FR" sz="1800">
                <a:latin typeface="Symbol" panose="05050102010706020507" pitchFamily="18" charset="2"/>
              </a:rPr>
              <a:t>f/</a:t>
            </a:r>
            <a:r>
              <a:rPr lang="fr-FR" altLang="fr-FR" sz="1800"/>
              <a:t>dS [W].[m</a:t>
            </a:r>
            <a:r>
              <a:rPr lang="fr-FR" altLang="fr-FR" sz="1800" baseline="30000"/>
              <a:t>-2</a:t>
            </a:r>
            <a:r>
              <a:rPr lang="fr-FR" altLang="fr-FR" sz="1800"/>
              <a:t>] , </a:t>
            </a:r>
          </a:p>
          <a:p>
            <a:pPr eaLnBrk="1" hangingPunct="1"/>
            <a:r>
              <a:rPr lang="fr-FR" altLang="fr-FR" sz="1800"/>
              <a:t>	kth conductivité thermique [</a:t>
            </a:r>
            <a:r>
              <a:rPr lang="fr-FR" altLang="fr-FR" sz="1800">
                <a:solidFill>
                  <a:srgbClr val="000000"/>
                </a:solidFill>
              </a:rPr>
              <a:t>W].[m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].[K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 ]</a:t>
            </a:r>
            <a:r>
              <a:rPr lang="fr-FR" altLang="fr-FR" sz="18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85D972A-26C6-4748-98BB-976BE8B7C2BB}" type="slidenum">
              <a:rPr lang="fr-FR" altLang="fr-FR" sz="1200"/>
              <a:pPr eaLnBrk="1" hangingPunct="1"/>
              <a:t>4</a:t>
            </a:fld>
            <a:r>
              <a:rPr lang="fr-FR" altLang="fr-FR" sz="1200" b="0"/>
              <a:t>/23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51050" y="115888"/>
            <a:ext cx="555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/>
              <a:t>Méthode des différences finies en 1D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95288" y="598488"/>
            <a:ext cx="867092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La grandeur recherchée est échantillonnée en un ensemble de points d</a:t>
            </a:r>
            <a:r>
              <a:rPr lang="ja-JP" altLang="fr-FR" sz="1800"/>
              <a:t>’</a:t>
            </a:r>
            <a:r>
              <a:rPr lang="fr-FR" altLang="ja-JP" sz="1800"/>
              <a:t>un réseau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 plus souvent régulier.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La discrétisation de l</a:t>
            </a:r>
            <a:r>
              <a:rPr lang="ja-JP" altLang="fr-FR" sz="1800"/>
              <a:t>’</a:t>
            </a:r>
            <a:r>
              <a:rPr lang="fr-FR" altLang="ja-JP" sz="1800"/>
              <a:t>équation consiste à remplacer les dérivées partielles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par leur accroissement. Cette estimation en un nœud donné est obtenue par un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développement de Taylor de l</a:t>
            </a:r>
            <a:r>
              <a:rPr lang="ja-JP" altLang="fr-FR" sz="1800"/>
              <a:t>’</a:t>
            </a:r>
            <a:r>
              <a:rPr lang="fr-FR" altLang="ja-JP" sz="1800"/>
              <a:t>inconnue à partir des nœuds voisins. </a:t>
            </a:r>
            <a:endParaRPr lang="fr-FR" altLang="fr-FR" sz="1800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539750" y="4430713"/>
            <a:ext cx="610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Bilan énergétique pour l</a:t>
            </a:r>
            <a:r>
              <a:rPr lang="ja-JP" altLang="fr-FR" sz="1800"/>
              <a:t>’</a:t>
            </a:r>
            <a:r>
              <a:rPr lang="fr-FR" altLang="ja-JP" sz="1800"/>
              <a:t>élément dx et par unité de surface</a:t>
            </a:r>
            <a:endParaRPr lang="fr-FR" altLang="fr-FR" sz="1800"/>
          </a:p>
        </p:txBody>
      </p:sp>
      <p:graphicFrame>
        <p:nvGraphicFramePr>
          <p:cNvPr id="7173" name="Object 7"/>
          <p:cNvGraphicFramePr>
            <a:graphicFrameLocks noChangeAspect="1"/>
          </p:cNvGraphicFramePr>
          <p:nvPr/>
        </p:nvGraphicFramePr>
        <p:xfrm>
          <a:off x="323850" y="4919663"/>
          <a:ext cx="670718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3" imgW="3733800" imgH="863600" progId="Equation.3">
                  <p:embed/>
                </p:oleObj>
              </mc:Choice>
              <mc:Fallback>
                <p:oleObj name="Equation" r:id="rId3" imgW="37338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919663"/>
                        <a:ext cx="6707188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73075" y="2565400"/>
            <a:ext cx="418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Exemple : équation de la chaleur en 1D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4716463" y="2708275"/>
            <a:ext cx="4360862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buFont typeface="Symbol" panose="05050102010706020507" pitchFamily="18" charset="2"/>
              <a:buNone/>
            </a:pPr>
            <a:r>
              <a:rPr lang="fr-FR" altLang="fr-FR" sz="1800">
                <a:latin typeface="Symbol" panose="05050102010706020507" pitchFamily="18" charset="2"/>
              </a:rPr>
              <a:t>r</a:t>
            </a:r>
            <a:r>
              <a:rPr lang="fr-FR" altLang="fr-FR" sz="1800"/>
              <a:t> la masse volumique [kg].[m</a:t>
            </a:r>
            <a:r>
              <a:rPr lang="fr-FR" altLang="fr-FR" sz="1800" baseline="30000"/>
              <a:t>-3</a:t>
            </a:r>
            <a:r>
              <a:rPr lang="fr-FR" altLang="fr-FR" sz="1800"/>
              <a:t>]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c</a:t>
            </a:r>
            <a:r>
              <a:rPr lang="fr-FR" altLang="fr-FR" sz="1800" baseline="-25000"/>
              <a:t>p</a:t>
            </a:r>
            <a:r>
              <a:rPr lang="fr-FR" altLang="fr-FR" sz="1800"/>
              <a:t> est la capacité calorifique [J].[kg</a:t>
            </a:r>
            <a:r>
              <a:rPr lang="fr-FR" altLang="fr-FR" sz="1800" baseline="30000"/>
              <a:t>-1</a:t>
            </a:r>
            <a:r>
              <a:rPr lang="fr-FR" altLang="fr-FR" sz="1800"/>
              <a:t>].[K</a:t>
            </a:r>
            <a:r>
              <a:rPr lang="fr-FR" altLang="fr-FR" sz="1800" baseline="30000"/>
              <a:t>-1</a:t>
            </a:r>
            <a:r>
              <a:rPr lang="fr-FR" altLang="fr-FR" sz="1800"/>
              <a:t>]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k</a:t>
            </a:r>
            <a:r>
              <a:rPr lang="fr-FR" altLang="fr-FR" sz="1800" baseline="-25000"/>
              <a:t>th</a:t>
            </a:r>
            <a:r>
              <a:rPr lang="fr-FR" altLang="fr-FR" sz="1800"/>
              <a:t> conductivité thermique [</a:t>
            </a:r>
            <a:r>
              <a:rPr lang="fr-FR" altLang="fr-FR" sz="1800">
                <a:solidFill>
                  <a:srgbClr val="000000"/>
                </a:solidFill>
              </a:rPr>
              <a:t>W].[m</a:t>
            </a:r>
            <a:r>
              <a:rPr lang="fr-FR" altLang="fr-FR" sz="1800" baseline="30000">
                <a:solidFill>
                  <a:srgbClr val="000000"/>
                </a:solidFill>
              </a:rPr>
              <a:t>-1</a:t>
            </a:r>
            <a:r>
              <a:rPr lang="fr-FR" altLang="fr-FR" sz="1800">
                <a:solidFill>
                  <a:srgbClr val="000000"/>
                </a:solidFill>
              </a:rPr>
              <a:t>].[K</a:t>
            </a:r>
            <a:r>
              <a:rPr lang="fr-FR" altLang="fr-FR" sz="1800" baseline="30000">
                <a:solidFill>
                  <a:srgbClr val="000000"/>
                </a:solidFill>
              </a:rPr>
              <a:t>-1 </a:t>
            </a:r>
            <a:r>
              <a:rPr lang="fr-FR" altLang="fr-FR" sz="1800">
                <a:solidFill>
                  <a:srgbClr val="000000"/>
                </a:solidFill>
              </a:rPr>
              <a:t>]</a:t>
            </a:r>
            <a:r>
              <a:rPr lang="fr-FR" altLang="fr-FR" sz="1800"/>
              <a:t>  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/>
              <a:t>Q source de chaleur [W].[m</a:t>
            </a:r>
            <a:r>
              <a:rPr lang="fr-FR" altLang="fr-FR" sz="1800" baseline="30000"/>
              <a:t>-1</a:t>
            </a:r>
            <a:r>
              <a:rPr lang="fr-FR" altLang="fr-FR" sz="1800"/>
              <a:t>] </a:t>
            </a:r>
          </a:p>
        </p:txBody>
      </p:sp>
      <p:graphicFrame>
        <p:nvGraphicFramePr>
          <p:cNvPr id="7176" name="Object 24"/>
          <p:cNvGraphicFramePr>
            <a:graphicFrameLocks noChangeAspect="1"/>
          </p:cNvGraphicFramePr>
          <p:nvPr/>
        </p:nvGraphicFramePr>
        <p:xfrm>
          <a:off x="4724400" y="5734050"/>
          <a:ext cx="40608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5" imgW="2260600" imgH="431800" progId="Equation.3">
                  <p:embed/>
                </p:oleObj>
              </mc:Choice>
              <mc:Fallback>
                <p:oleObj name="Equation" r:id="rId5" imgW="2260600" imgH="431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34050"/>
                        <a:ext cx="4060825" cy="774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AutoShape 26"/>
          <p:cNvSpPr>
            <a:spLocks noChangeArrowheads="1"/>
          </p:cNvSpPr>
          <p:nvPr/>
        </p:nvSpPr>
        <p:spPr bwMode="auto">
          <a:xfrm>
            <a:off x="3492500" y="5951538"/>
            <a:ext cx="865188" cy="430212"/>
          </a:xfrm>
          <a:prstGeom prst="rightArrow">
            <a:avLst>
              <a:gd name="adj1" fmla="val 50000"/>
              <a:gd name="adj2" fmla="val 502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7178" name="Group 30"/>
          <p:cNvGrpSpPr>
            <a:grpSpLocks/>
          </p:cNvGrpSpPr>
          <p:nvPr/>
        </p:nvGrpSpPr>
        <p:grpSpPr bwMode="auto">
          <a:xfrm>
            <a:off x="250825" y="2990850"/>
            <a:ext cx="3240088" cy="1236663"/>
            <a:chOff x="158" y="1884"/>
            <a:chExt cx="2041" cy="779"/>
          </a:xfrm>
        </p:grpSpPr>
        <p:graphicFrame>
          <p:nvGraphicFramePr>
            <p:cNvPr id="7179" name="Object 11"/>
            <p:cNvGraphicFramePr>
              <a:graphicFrameLocks noChangeAspect="1"/>
            </p:cNvGraphicFramePr>
            <p:nvPr/>
          </p:nvGraphicFramePr>
          <p:xfrm>
            <a:off x="1568" y="2269"/>
            <a:ext cx="6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3" name="Equation" r:id="rId7" imgW="114151" imgH="215619" progId="Equation.3">
                    <p:embed/>
                  </p:oleObj>
                </mc:Choice>
                <mc:Fallback>
                  <p:oleObj name="Equation" r:id="rId7" imgW="114151" imgH="21561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269"/>
                          <a:ext cx="6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0" name="Object 12"/>
            <p:cNvGraphicFramePr>
              <a:graphicFrameLocks noChangeAspect="1"/>
            </p:cNvGraphicFramePr>
            <p:nvPr/>
          </p:nvGraphicFramePr>
          <p:xfrm>
            <a:off x="1568" y="2269"/>
            <a:ext cx="6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4" name="Equation" r:id="rId9" imgW="114151" imgH="215619" progId="Equation.3">
                    <p:embed/>
                  </p:oleObj>
                </mc:Choice>
                <mc:Fallback>
                  <p:oleObj name="Equation" r:id="rId9" imgW="114151" imgH="21561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269"/>
                          <a:ext cx="6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204" y="2201"/>
              <a:ext cx="18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1020" y="243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</a:t>
              </a:r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 flipV="1">
              <a:off x="1111" y="2118"/>
              <a:ext cx="0" cy="2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V="1">
              <a:off x="1791" y="1979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1655" y="2432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x+dx/2</a:t>
              </a:r>
            </a:p>
          </p:txBody>
        </p:sp>
        <p:sp>
          <p:nvSpPr>
            <p:cNvPr id="18453" name="Text Box 21"/>
            <p:cNvSpPr txBox="1">
              <a:spLocks noChangeArrowheads="1"/>
            </p:cNvSpPr>
            <p:nvPr/>
          </p:nvSpPr>
          <p:spPr bwMode="auto">
            <a:xfrm>
              <a:off x="249" y="197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1769" y="197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18459" name="Line 27"/>
            <p:cNvSpPr>
              <a:spLocks noChangeShapeType="1"/>
            </p:cNvSpPr>
            <p:nvPr/>
          </p:nvSpPr>
          <p:spPr bwMode="auto">
            <a:xfrm flipV="1">
              <a:off x="431" y="1979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8460" name="Text Box 28"/>
            <p:cNvSpPr txBox="1">
              <a:spLocks noChangeArrowheads="1"/>
            </p:cNvSpPr>
            <p:nvPr/>
          </p:nvSpPr>
          <p:spPr bwMode="auto">
            <a:xfrm>
              <a:off x="793" y="1884"/>
              <a:ext cx="8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T(x,t), Q(x,t)</a:t>
              </a: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158" y="2432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x-dx/2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36AF10B-3BE1-44B0-99E3-058B7D27BFAE}" type="slidenum">
              <a:rPr lang="fr-FR" altLang="fr-FR" sz="1200"/>
              <a:pPr eaLnBrk="1" hangingPunct="1"/>
              <a:t>5</a:t>
            </a:fld>
            <a:r>
              <a:rPr lang="fr-FR" altLang="fr-FR" sz="1200" b="0"/>
              <a:t>/23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331913" y="19050"/>
            <a:ext cx="673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Equation de la chaleur 1D discrétisée en espace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71475" y="1550988"/>
            <a:ext cx="4575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Simplification : k</a:t>
            </a:r>
            <a:r>
              <a:rPr lang="fr-FR" baseline="-25000">
                <a:latin typeface="Arial" charset="0"/>
                <a:ea typeface="ＭＳ Ｐゴシック" charset="0"/>
              </a:rPr>
              <a:t>th</a:t>
            </a:r>
            <a:r>
              <a:rPr lang="fr-FR">
                <a:latin typeface="Arial" charset="0"/>
                <a:ea typeface="ＭＳ Ｐゴシック" charset="0"/>
              </a:rPr>
              <a:t> constant par domaine </a:t>
            </a:r>
            <a:r>
              <a:rPr lang="fr-FR">
                <a:latin typeface="Arial" charset="0"/>
                <a:ea typeface="ＭＳ Ｐゴシック" charset="0"/>
                <a:sym typeface="Symbol" charset="0"/>
              </a:rPr>
              <a:t> </a:t>
            </a:r>
          </a:p>
        </p:txBody>
      </p:sp>
      <p:graphicFrame>
        <p:nvGraphicFramePr>
          <p:cNvPr id="8196" name="Object 7"/>
          <p:cNvGraphicFramePr>
            <a:graphicFrameLocks noChangeAspect="1"/>
          </p:cNvGraphicFramePr>
          <p:nvPr/>
        </p:nvGraphicFramePr>
        <p:xfrm>
          <a:off x="4808538" y="1390650"/>
          <a:ext cx="42640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3" imgW="2844800" imgH="444500" progId="Equation.DSMT4">
                  <p:embed/>
                </p:oleObj>
              </mc:Choice>
              <mc:Fallback>
                <p:oleObj name="Equation" r:id="rId3" imgW="2844800" imgH="444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390650"/>
                        <a:ext cx="42640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34963" y="765175"/>
            <a:ext cx="290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Discrétisation de l</a:t>
            </a:r>
            <a:r>
              <a:rPr lang="ja-JP" altLang="fr-FR" sz="1800"/>
              <a:t>’</a:t>
            </a:r>
            <a:r>
              <a:rPr lang="fr-FR" altLang="ja-JP" sz="1800"/>
              <a:t>espace :</a:t>
            </a:r>
            <a:endParaRPr lang="fr-FR" altLang="fr-FR" sz="1800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3522663" y="960438"/>
            <a:ext cx="3095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8199" name="Group 19"/>
          <p:cNvGrpSpPr>
            <a:grpSpLocks/>
          </p:cNvGrpSpPr>
          <p:nvPr/>
        </p:nvGrpSpPr>
        <p:grpSpPr bwMode="auto">
          <a:xfrm>
            <a:off x="3767138" y="855663"/>
            <a:ext cx="2376487" cy="215900"/>
            <a:chOff x="2336" y="1570"/>
            <a:chExt cx="408" cy="136"/>
          </a:xfrm>
        </p:grpSpPr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2336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2472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2608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2744" y="157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4405313" y="482600"/>
            <a:ext cx="1316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x</a:t>
            </a:r>
            <a:r>
              <a:rPr lang="en-US" baseline="-25000">
                <a:latin typeface="Arial" charset="0"/>
                <a:ea typeface="ＭＳ Ｐゴシック" charset="0"/>
              </a:rPr>
              <a:t>p</a:t>
            </a:r>
            <a:r>
              <a:rPr lang="en-US">
                <a:latin typeface="Arial" charset="0"/>
                <a:ea typeface="ＭＳ Ｐゴシック" charset="0"/>
              </a:rPr>
              <a:t>=(p-1).</a:t>
            </a:r>
            <a:r>
              <a:rPr lang="en-US">
                <a:latin typeface="Symbol" charset="0"/>
                <a:ea typeface="ＭＳ Ｐゴシック" charset="0"/>
              </a:rPr>
              <a:t>D</a:t>
            </a:r>
            <a:r>
              <a:rPr lang="en-US">
                <a:latin typeface="Arial" charset="0"/>
                <a:ea typeface="ＭＳ Ｐゴシック" charset="0"/>
              </a:rPr>
              <a:t>x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3613150" y="4762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5989638" y="482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L</a:t>
            </a: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376238" y="2276475"/>
            <a:ext cx="781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Approximation des dérivées spatiales en différences finies à partir des D.L. </a:t>
            </a:r>
          </a:p>
          <a:p>
            <a:pPr eaLnBrk="1" hangingPunct="1"/>
            <a:r>
              <a:rPr lang="fr-FR" altLang="fr-FR" sz="1800"/>
              <a:t>Au voisinage de x</a:t>
            </a:r>
            <a:r>
              <a:rPr lang="fr-FR" altLang="fr-FR" sz="1800" baseline="-25000"/>
              <a:t>p</a:t>
            </a:r>
            <a:r>
              <a:rPr lang="fr-FR" altLang="fr-FR" sz="1800"/>
              <a:t> </a:t>
            </a:r>
          </a:p>
        </p:txBody>
      </p:sp>
      <p:graphicFrame>
        <p:nvGraphicFramePr>
          <p:cNvPr id="8204" name="Object 47"/>
          <p:cNvGraphicFramePr>
            <a:graphicFrameLocks noChangeAspect="1"/>
          </p:cNvGraphicFramePr>
          <p:nvPr/>
        </p:nvGraphicFramePr>
        <p:xfrm>
          <a:off x="1403350" y="2813050"/>
          <a:ext cx="5891213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5" imgW="3860800" imgH="1092200" progId="Equation.DSMT4">
                  <p:embed/>
                </p:oleObj>
              </mc:Choice>
              <mc:Fallback>
                <p:oleObj name="Equation" r:id="rId5" imgW="3860800" imgH="10922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13050"/>
                        <a:ext cx="5891213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48"/>
          <p:cNvGraphicFramePr>
            <a:graphicFrameLocks noChangeAspect="1"/>
          </p:cNvGraphicFramePr>
          <p:nvPr/>
        </p:nvGraphicFramePr>
        <p:xfrm>
          <a:off x="1439863" y="5013325"/>
          <a:ext cx="32781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7" imgW="2209800" imgH="1066800" progId="Equation.DSMT4">
                  <p:embed/>
                </p:oleObj>
              </mc:Choice>
              <mc:Fallback>
                <p:oleObj name="Equation" r:id="rId7" imgW="2209800" imgH="10668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5013325"/>
                        <a:ext cx="3278187" cy="15843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5" name="Text Box 57"/>
          <p:cNvSpPr txBox="1">
            <a:spLocks noChangeArrowheads="1"/>
          </p:cNvSpPr>
          <p:nvPr/>
        </p:nvSpPr>
        <p:spPr bwMode="auto">
          <a:xfrm>
            <a:off x="363538" y="4581525"/>
            <a:ext cx="636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Exercice : montrer qu</a:t>
            </a:r>
            <a:r>
              <a:rPr lang="ja-JP" altLang="fr-FR" sz="1800"/>
              <a:t>’</a:t>
            </a:r>
            <a:r>
              <a:rPr lang="fr-FR" altLang="ja-JP" sz="1800"/>
              <a:t>à partir des relations précédentes, on a</a:t>
            </a:r>
            <a:endParaRPr lang="fr-FR" altLang="fr-FR" sz="1800"/>
          </a:p>
        </p:txBody>
      </p:sp>
      <p:sp>
        <p:nvSpPr>
          <p:cNvPr id="17469" name="Text Box 61"/>
          <p:cNvSpPr txBox="1">
            <a:spLocks noChangeArrowheads="1"/>
          </p:cNvSpPr>
          <p:nvPr/>
        </p:nvSpPr>
        <p:spPr bwMode="auto">
          <a:xfrm>
            <a:off x="3600450" y="1000125"/>
            <a:ext cx="276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1           p                       N</a:t>
            </a:r>
          </a:p>
        </p:txBody>
      </p:sp>
      <p:sp>
        <p:nvSpPr>
          <p:cNvPr id="17470" name="Text Box 62"/>
          <p:cNvSpPr txBox="1">
            <a:spLocks noChangeArrowheads="1"/>
          </p:cNvSpPr>
          <p:nvPr/>
        </p:nvSpPr>
        <p:spPr bwMode="auto">
          <a:xfrm>
            <a:off x="5056188" y="5284788"/>
            <a:ext cx="3143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dit que ces dérivées sont </a:t>
            </a:r>
          </a:p>
          <a:p>
            <a:pPr eaLnBrk="1" hangingPunct="1"/>
            <a:r>
              <a:rPr lang="fr-FR" altLang="fr-FR" sz="1800"/>
              <a:t>centrées au point 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62E0C7B-FAC1-4E5F-83EF-ED4F79F9C955}" type="slidenum">
              <a:rPr lang="fr-FR" altLang="fr-FR" sz="1200"/>
              <a:pPr eaLnBrk="1" hangingPunct="1"/>
              <a:t>6</a:t>
            </a:fld>
            <a:r>
              <a:rPr lang="fr-FR" altLang="fr-FR" sz="1200" b="0"/>
              <a:t>/23</a:t>
            </a:r>
          </a:p>
        </p:txBody>
      </p:sp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511300" y="19050"/>
            <a:ext cx="613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Schéma explicite de l</a:t>
            </a:r>
            <a:r>
              <a:rPr lang="ja-JP" altLang="fr-FR"/>
              <a:t>’</a:t>
            </a:r>
            <a:r>
              <a:rPr lang="fr-FR" altLang="ja-JP"/>
              <a:t>équation de la chaleur</a:t>
            </a:r>
            <a:endParaRPr lang="fr-FR" altLang="fr-FR"/>
          </a:p>
        </p:txBody>
      </p:sp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323850" y="981075"/>
            <a:ext cx="340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Discrétisation du temps : t=n.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 </a:t>
            </a:r>
          </a:p>
        </p:txBody>
      </p:sp>
      <p:sp>
        <p:nvSpPr>
          <p:cNvPr id="59410" name="Text Box 18"/>
          <p:cNvSpPr txBox="1">
            <a:spLocks noChangeArrowheads="1"/>
          </p:cNvSpPr>
          <p:nvPr/>
        </p:nvSpPr>
        <p:spPr bwMode="auto">
          <a:xfrm>
            <a:off x="323850" y="2744788"/>
            <a:ext cx="8553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l</a:t>
            </a:r>
            <a:r>
              <a:rPr lang="ja-JP" altLang="fr-FR" sz="1800"/>
              <a:t>’</a:t>
            </a:r>
            <a:r>
              <a:rPr lang="fr-FR" altLang="ja-JP" sz="1800"/>
              <a:t>approche explicite, les dérivées spatiales sont évaluées à l</a:t>
            </a:r>
            <a:r>
              <a:rPr lang="ja-JP" altLang="fr-FR" sz="1800"/>
              <a:t>’</a:t>
            </a:r>
            <a:r>
              <a:rPr lang="fr-FR" altLang="ja-JP" sz="1800"/>
              <a:t>instant courant n</a:t>
            </a:r>
            <a:endParaRPr lang="fr-FR" altLang="fr-FR" sz="1800"/>
          </a:p>
        </p:txBody>
      </p:sp>
      <p:graphicFrame>
        <p:nvGraphicFramePr>
          <p:cNvPr id="9221" name="Object 21"/>
          <p:cNvGraphicFramePr>
            <a:graphicFrameLocks noChangeAspect="1"/>
          </p:cNvGraphicFramePr>
          <p:nvPr/>
        </p:nvGraphicFramePr>
        <p:xfrm>
          <a:off x="1150938" y="3392488"/>
          <a:ext cx="3914775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3" imgW="2184400" imgH="1066800" progId="Equation.3">
                  <p:embed/>
                </p:oleObj>
              </mc:Choice>
              <mc:Fallback>
                <p:oleObj name="Equation" r:id="rId3" imgW="2184400" imgH="1066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392488"/>
                        <a:ext cx="3914775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2" name="Group 23"/>
          <p:cNvGrpSpPr>
            <a:grpSpLocks/>
          </p:cNvGrpSpPr>
          <p:nvPr/>
        </p:nvGrpSpPr>
        <p:grpSpPr bwMode="auto">
          <a:xfrm>
            <a:off x="5616575" y="3176588"/>
            <a:ext cx="2530475" cy="1879600"/>
            <a:chOff x="3962" y="2972"/>
            <a:chExt cx="1594" cy="1184"/>
          </a:xfrm>
        </p:grpSpPr>
        <p:grpSp>
          <p:nvGrpSpPr>
            <p:cNvPr id="9240" name="Group 24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59417" name="Line 25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18" name="Line 26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19" name="Line 27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0" name="Line 28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1" name="Line 29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2" name="Line 30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3" name="Line 31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4" name="Text Box 32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9425" name="Text Box 33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t=(n+1).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9426" name="Line 34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27" name="Text Box 35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9428" name="Text Box 36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9429" name="Line 37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9430" name="Text Box 38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59431" name="Text Box 39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59432" name="Text Box 40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  <p:grpSp>
        <p:nvGrpSpPr>
          <p:cNvPr id="9223" name="Group 44"/>
          <p:cNvGrpSpPr>
            <a:grpSpLocks/>
          </p:cNvGrpSpPr>
          <p:nvPr/>
        </p:nvGrpSpPr>
        <p:grpSpPr bwMode="auto">
          <a:xfrm>
            <a:off x="3997325" y="692150"/>
            <a:ext cx="3095625" cy="936625"/>
            <a:chOff x="2518" y="663"/>
            <a:chExt cx="1950" cy="590"/>
          </a:xfrm>
        </p:grpSpPr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>
              <a:off x="2518" y="968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230" name="Group 9"/>
            <p:cNvGrpSpPr>
              <a:grpSpLocks/>
            </p:cNvGrpSpPr>
            <p:nvPr/>
          </p:nvGrpSpPr>
          <p:grpSpPr bwMode="auto">
            <a:xfrm>
              <a:off x="2672" y="902"/>
              <a:ext cx="1497" cy="136"/>
              <a:chOff x="2336" y="1570"/>
              <a:chExt cx="408" cy="136"/>
            </a:xfrm>
          </p:grpSpPr>
          <p:sp>
            <p:nvSpPr>
              <p:cNvPr id="59402" name="Line 10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3" name="Line 11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4" name="Line 12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5" name="Line 13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9231" name="Group 42"/>
            <p:cNvGrpSpPr>
              <a:grpSpLocks/>
            </p:cNvGrpSpPr>
            <p:nvPr/>
          </p:nvGrpSpPr>
          <p:grpSpPr bwMode="auto">
            <a:xfrm>
              <a:off x="2563" y="663"/>
              <a:ext cx="1754" cy="235"/>
              <a:chOff x="2563" y="1010"/>
              <a:chExt cx="1754" cy="235"/>
            </a:xfrm>
          </p:grpSpPr>
          <p:sp>
            <p:nvSpPr>
              <p:cNvPr id="59406" name="Text Box 14"/>
              <p:cNvSpPr txBox="1">
                <a:spLocks noChangeArrowheads="1"/>
              </p:cNvSpPr>
              <p:nvPr/>
            </p:nvSpPr>
            <p:spPr bwMode="auto">
              <a:xfrm>
                <a:off x="3062" y="1014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>
                    <a:latin typeface="Arial" charset="0"/>
                    <a:ea typeface="ＭＳ Ｐゴシック" charset="0"/>
                  </a:rPr>
                  <a:t>t=n.</a:t>
                </a:r>
                <a:r>
                  <a:rPr lang="en-US">
                    <a:latin typeface="Symbol" charset="0"/>
                    <a:ea typeface="ＭＳ Ｐゴシック" charset="0"/>
                  </a:rPr>
                  <a:t>D</a:t>
                </a:r>
                <a:r>
                  <a:rPr lang="en-US">
                    <a:latin typeface="Arial" charset="0"/>
                    <a:ea typeface="ＭＳ Ｐゴシック" charset="0"/>
                  </a:rPr>
                  <a:t>t</a:t>
                </a: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407" name="Text Box 15"/>
              <p:cNvSpPr txBox="1">
                <a:spLocks noChangeArrowheads="1"/>
              </p:cNvSpPr>
              <p:nvPr/>
            </p:nvSpPr>
            <p:spPr bwMode="auto">
              <a:xfrm>
                <a:off x="2563" y="101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0</a:t>
                </a:r>
              </a:p>
            </p:txBody>
          </p:sp>
          <p:sp>
            <p:nvSpPr>
              <p:cNvPr id="59408" name="Text Box 16"/>
              <p:cNvSpPr txBox="1">
                <a:spLocks noChangeArrowheads="1"/>
              </p:cNvSpPr>
              <p:nvPr/>
            </p:nvSpPr>
            <p:spPr bwMode="auto">
              <a:xfrm>
                <a:off x="4060" y="1014"/>
                <a:ext cx="25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  <a:r>
                  <a:rPr lang="fr-FR" baseline="-25000">
                    <a:latin typeface="Arial" charset="0"/>
                    <a:ea typeface="ＭＳ Ｐゴシック" charset="0"/>
                  </a:rPr>
                  <a:t>fin</a:t>
                </a: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9435" name="Text Box 43"/>
            <p:cNvSpPr txBox="1">
              <a:spLocks noChangeArrowheads="1"/>
            </p:cNvSpPr>
            <p:nvPr/>
          </p:nvSpPr>
          <p:spPr bwMode="auto">
            <a:xfrm>
              <a:off x="2562" y="1022"/>
              <a:ext cx="18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0           n                       NT</a:t>
              </a:r>
            </a:p>
          </p:txBody>
        </p:sp>
      </p:grpSp>
      <p:graphicFrame>
        <p:nvGraphicFramePr>
          <p:cNvPr id="9224" name="Object 5"/>
          <p:cNvGraphicFramePr>
            <a:graphicFrameLocks noChangeAspect="1"/>
          </p:cNvGraphicFramePr>
          <p:nvPr/>
        </p:nvGraphicFramePr>
        <p:xfrm>
          <a:off x="4824413" y="1684338"/>
          <a:ext cx="28495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5" imgW="1574800" imgH="482600" progId="Equation.DSMT4">
                  <p:embed/>
                </p:oleObj>
              </mc:Choice>
              <mc:Fallback>
                <p:oleObj name="Equation" r:id="rId5" imgW="1574800" imgH="482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1684338"/>
                        <a:ext cx="284956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8" name="Text Box 46"/>
          <p:cNvSpPr txBox="1">
            <a:spLocks noChangeArrowheads="1"/>
          </p:cNvSpPr>
          <p:nvPr/>
        </p:nvSpPr>
        <p:spPr bwMode="auto">
          <a:xfrm>
            <a:off x="323850" y="1909763"/>
            <a:ext cx="440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dérivée temporelle est approximée par</a:t>
            </a:r>
            <a:endParaRPr lang="fr-FR" altLang="fr-FR" sz="1800">
              <a:sym typeface="Euclid Symbol" panose="05050102010706020507" pitchFamily="18" charset="2"/>
            </a:endParaRPr>
          </a:p>
        </p:txBody>
      </p:sp>
      <p:grpSp>
        <p:nvGrpSpPr>
          <p:cNvPr id="9226" name="Group 50"/>
          <p:cNvGrpSpPr>
            <a:grpSpLocks/>
          </p:cNvGrpSpPr>
          <p:nvPr/>
        </p:nvGrpSpPr>
        <p:grpSpPr bwMode="auto">
          <a:xfrm>
            <a:off x="395288" y="5378450"/>
            <a:ext cx="7427912" cy="463550"/>
            <a:chOff x="249" y="3231"/>
            <a:chExt cx="4679" cy="292"/>
          </a:xfrm>
        </p:grpSpPr>
        <p:sp>
          <p:nvSpPr>
            <p:cNvPr id="59439" name="Text Box 47"/>
            <p:cNvSpPr txBox="1">
              <a:spLocks noChangeArrowheads="1"/>
            </p:cNvSpPr>
            <p:nvPr/>
          </p:nvSpPr>
          <p:spPr bwMode="auto">
            <a:xfrm>
              <a:off x="249" y="3253"/>
              <a:ext cx="44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De même pour les autres grandeurs, comme les sources de chaleur</a:t>
              </a:r>
            </a:p>
          </p:txBody>
        </p:sp>
        <p:graphicFrame>
          <p:nvGraphicFramePr>
            <p:cNvPr id="9228" name="Object 49"/>
            <p:cNvGraphicFramePr>
              <a:graphicFrameLocks noChangeAspect="1"/>
            </p:cNvGraphicFramePr>
            <p:nvPr/>
          </p:nvGraphicFramePr>
          <p:xfrm>
            <a:off x="4694" y="3231"/>
            <a:ext cx="23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4" name="Equation" r:id="rId7" imgW="203024" imgH="253780" progId="Equation.DSMT4">
                    <p:embed/>
                  </p:oleObj>
                </mc:Choice>
                <mc:Fallback>
                  <p:oleObj name="Equation" r:id="rId7" imgW="203024" imgH="25378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3231"/>
                          <a:ext cx="234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16A55BA-7D30-4738-9962-FD6487144E2C}" type="slidenum">
              <a:rPr lang="fr-FR" altLang="fr-FR" sz="1200"/>
              <a:pPr eaLnBrk="1" hangingPunct="1"/>
              <a:t>7</a:t>
            </a:fld>
            <a:r>
              <a:rPr lang="fr-FR" altLang="fr-FR" sz="1200" b="0"/>
              <a:t>/23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758825" y="4041775"/>
          <a:ext cx="385603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Equation" r:id="rId3" imgW="2108200" imgH="444500" progId="Equation.DSMT4">
                  <p:embed/>
                </p:oleObj>
              </mc:Choice>
              <mc:Fallback>
                <p:oleObj name="Equation" r:id="rId3" imgW="21082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041775"/>
                        <a:ext cx="3856038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1662113" y="1581150"/>
          <a:ext cx="47466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Equation" r:id="rId5" imgW="2641600" imgH="508000" progId="Equation.DSMT4">
                  <p:embed/>
                </p:oleObj>
              </mc:Choice>
              <mc:Fallback>
                <p:oleObj name="Equation" r:id="rId5" imgW="2641600" imgH="50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1581150"/>
                        <a:ext cx="4746625" cy="9112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4090988" y="2492375"/>
          <a:ext cx="33766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Equation" r:id="rId7" imgW="1879600" imgH="508000" progId="Equation.DSMT4">
                  <p:embed/>
                </p:oleObj>
              </mc:Choice>
              <mc:Fallback>
                <p:oleObj name="Equation" r:id="rId7" imgW="18796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2492375"/>
                        <a:ext cx="33766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511300" y="19050"/>
            <a:ext cx="613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Schéma explicite de l</a:t>
            </a:r>
            <a:r>
              <a:rPr lang="ja-JP" altLang="fr-FR"/>
              <a:t>’</a:t>
            </a:r>
            <a:r>
              <a:rPr lang="fr-FR" altLang="ja-JP"/>
              <a:t>équation de la chaleur</a:t>
            </a:r>
            <a:endParaRPr lang="fr-FR" altLang="fr-FR"/>
          </a:p>
        </p:txBody>
      </p:sp>
      <p:graphicFrame>
        <p:nvGraphicFramePr>
          <p:cNvPr id="10246" name="Object 8"/>
          <p:cNvGraphicFramePr>
            <a:graphicFrameLocks noChangeAspect="1"/>
          </p:cNvGraphicFramePr>
          <p:nvPr/>
        </p:nvGraphicFramePr>
        <p:xfrm>
          <a:off x="3024188" y="584200"/>
          <a:ext cx="31480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Equation" r:id="rId9" imgW="1752600" imgH="419100" progId="Equation.DSMT4">
                  <p:embed/>
                </p:oleObj>
              </mc:Choice>
              <mc:Fallback>
                <p:oleObj name="Equation" r:id="rId9" imgW="17526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584200"/>
                        <a:ext cx="314801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323850" y="765175"/>
            <a:ext cx="702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équation de la chaleur                                                        devient :</a:t>
            </a:r>
            <a:endParaRPr lang="fr-FR" altLang="fr-FR" sz="1800"/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39725" y="2728913"/>
            <a:ext cx="3486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définissant la conduction par 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395288" y="3429000"/>
            <a:ext cx="297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explicite s</a:t>
            </a:r>
            <a:r>
              <a:rPr lang="ja-JP" altLang="fr-FR" sz="1800"/>
              <a:t>’</a:t>
            </a:r>
            <a:r>
              <a:rPr lang="fr-FR" altLang="ja-JP" sz="1800"/>
              <a:t>écrit :</a:t>
            </a:r>
            <a:endParaRPr lang="fr-FR" altLang="fr-FR" sz="1800"/>
          </a:p>
        </p:txBody>
      </p:sp>
      <p:grpSp>
        <p:nvGrpSpPr>
          <p:cNvPr id="10250" name="Group 12"/>
          <p:cNvGrpSpPr>
            <a:grpSpLocks/>
          </p:cNvGrpSpPr>
          <p:nvPr/>
        </p:nvGrpSpPr>
        <p:grpSpPr bwMode="auto">
          <a:xfrm>
            <a:off x="5616575" y="3421063"/>
            <a:ext cx="2530475" cy="1879600"/>
            <a:chOff x="3962" y="2972"/>
            <a:chExt cx="1594" cy="1184"/>
          </a:xfrm>
        </p:grpSpPr>
        <p:grpSp>
          <p:nvGrpSpPr>
            <p:cNvPr id="10252" name="Group 13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57358" name="Line 14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59" name="Line 15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0" name="Line 16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1" name="Line 17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2" name="Line 18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3" name="Line 19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4" name="Line 20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5" name="Text Box 21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7366" name="Text Box 22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t=(n+1).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57367" name="Line 23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68" name="Text Box 24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7369" name="Text Box 25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7371" name="Text Box 27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57372" name="Text Box 28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57373" name="Text Box 29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339725" y="5507038"/>
            <a:ext cx="8518525" cy="7302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Une simple relation arithmétique permet donc de connaître la température</a:t>
            </a:r>
          </a:p>
          <a:p>
            <a:pPr eaLnBrk="1" hangingPunct="1"/>
            <a:r>
              <a:rPr lang="fr-FR" altLang="fr-FR" sz="2000"/>
              <a:t>à l</a:t>
            </a:r>
            <a:r>
              <a:rPr lang="ja-JP" altLang="fr-FR" sz="2000"/>
              <a:t>’</a:t>
            </a:r>
            <a:r>
              <a:rPr lang="fr-FR" altLang="ja-JP" sz="2000"/>
              <a:t>instant n+1 à partir de celle à l</a:t>
            </a:r>
            <a:r>
              <a:rPr lang="ja-JP" altLang="fr-FR" sz="2000"/>
              <a:t>’</a:t>
            </a:r>
            <a:r>
              <a:rPr lang="fr-FR" altLang="ja-JP" sz="2000"/>
              <a:t>instant n !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FEDDC55-5D69-4597-B65E-1D3D385BCDBE}" type="slidenum">
              <a:rPr lang="fr-FR" altLang="fr-FR" sz="1200"/>
              <a:pPr eaLnBrk="1" hangingPunct="1"/>
              <a:t>8</a:t>
            </a:fld>
            <a:r>
              <a:rPr lang="fr-FR" altLang="fr-FR" sz="1200" b="0"/>
              <a:t>/23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387475" y="152400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Exemple simple d</a:t>
            </a:r>
            <a:r>
              <a:rPr lang="ja-JP" altLang="fr-FR"/>
              <a:t>’</a:t>
            </a:r>
            <a:r>
              <a:rPr lang="fr-FR" altLang="ja-JP"/>
              <a:t>Algorithme sous Matlab</a:t>
            </a:r>
            <a:endParaRPr lang="fr-FR" altLang="fr-FR"/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411163" y="2435225"/>
            <a:ext cx="3484562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paramatres materiaux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kth=401;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Cu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rho=8933;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 =385;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geometrie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longueur=0.1;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deltax=0.005;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nombre de noeuds d'espace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N=round(longueur/deltax+1);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abscisses des noeuds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xp=(0:N-1)*deltax;</a:t>
            </a:r>
          </a:p>
          <a:p>
            <a:pPr>
              <a:defRPr/>
            </a:pPr>
            <a:endParaRPr lang="fr-FR" sz="1600" b="1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...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4500563" y="2568575"/>
            <a:ext cx="360680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...</a:t>
            </a:r>
          </a:p>
          <a:p>
            <a:pPr>
              <a:defRPr/>
            </a:pP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duree et pas de temps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duree=1;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deltat=0.001;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NT=round(duree/deltat+1);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conditions de Dirichlet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  =300;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Tdd  =300;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temperatures a l'instant 0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Tprec=zeros(N,1);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Tprec(:)=500;</a:t>
            </a:r>
            <a:endParaRPr lang="fr-FR" sz="1600">
              <a:latin typeface="Arial" charset="0"/>
              <a:ea typeface="ＭＳ Ｐゴシック" charset="0"/>
            </a:endParaRP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2232025" y="1233488"/>
            <a:ext cx="41767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2232025" y="908050"/>
            <a:ext cx="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6408738" y="944563"/>
            <a:ext cx="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3687763" y="132397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0.1 m</a:t>
            </a: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935038" y="1016000"/>
            <a:ext cx="1222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dg</a:t>
            </a:r>
            <a:r>
              <a:rPr lang="fr-FR">
                <a:latin typeface="Arial" charset="0"/>
                <a:ea typeface="ＭＳ Ｐゴシック" charset="0"/>
              </a:rPr>
              <a:t>=300 K</a:t>
            </a: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6588125" y="1016000"/>
            <a:ext cx="1222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dd</a:t>
            </a:r>
            <a:r>
              <a:rPr lang="fr-FR">
                <a:latin typeface="Arial" charset="0"/>
                <a:ea typeface="ＭＳ Ｐゴシック" charset="0"/>
              </a:rPr>
              <a:t>=300 K</a:t>
            </a:r>
          </a:p>
        </p:txBody>
      </p:sp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3419475" y="800100"/>
            <a:ext cx="1247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init</a:t>
            </a:r>
            <a:r>
              <a:rPr lang="fr-FR">
                <a:latin typeface="Arial" charset="0"/>
                <a:ea typeface="ＭＳ Ｐゴシック" charset="0"/>
              </a:rPr>
              <a:t>=500 K</a:t>
            </a:r>
          </a:p>
        </p:txBody>
      </p:sp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5724525" y="836613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>
                <a:latin typeface="Arial" charset="0"/>
                <a:ea typeface="ＭＳ Ｐゴシック" charset="0"/>
              </a:rPr>
              <a:t>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FC19247-ABB1-4011-94F7-653AC608F50D}" type="slidenum">
              <a:rPr lang="fr-FR" altLang="fr-FR" sz="1200"/>
              <a:pPr eaLnBrk="1" hangingPunct="1"/>
              <a:t>9</a:t>
            </a:fld>
            <a:r>
              <a:rPr lang="fr-FR" altLang="fr-FR" sz="1200" b="0"/>
              <a:t>/23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503238" y="476250"/>
            <a:ext cx="7885112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T=zeros(N,1);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nt=1:NT	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%boucle sur le temps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%conditions de Dirichlet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T(1)=Tdg;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T(N)=Tdd;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p=2:N-1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d2T_dx2=(Tprec(p+1)-2.*Tprec(p)+Tprec(p-1))/(deltax^2);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conduction=-kth*d2T_dx2;</a:t>
            </a:r>
          </a:p>
          <a:p>
            <a:pPr>
              <a:defRPr/>
            </a:pP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temperature a l'instant n+1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T(p)=Tprec(p)-deltat/(rho*cp)*conduction;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Tprec(:)=T(:);   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plot(xp, T)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sz="1600">
              <a:latin typeface="Arial" charset="0"/>
              <a:ea typeface="ＭＳ Ｐゴシック" charset="0"/>
            </a:endParaRP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3716338"/>
            <a:ext cx="4752975" cy="282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12292" name="Object 7"/>
          <p:cNvGraphicFramePr>
            <a:graphicFrameLocks noChangeAspect="1"/>
          </p:cNvGraphicFramePr>
          <p:nvPr/>
        </p:nvGraphicFramePr>
        <p:xfrm>
          <a:off x="5297488" y="1304925"/>
          <a:ext cx="269398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4" imgW="1473200" imgH="444500" progId="Equation.DSMT4">
                  <p:embed/>
                </p:oleObj>
              </mc:Choice>
              <mc:Fallback>
                <p:oleObj name="Equation" r:id="rId4" imgW="1473200" imgH="444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1304925"/>
                        <a:ext cx="2693987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E1ECCA5-1F21-4DC8-AF9F-84F0CB49B876}" type="slidenum">
              <a:rPr lang="fr-FR" altLang="fr-FR" sz="1200"/>
              <a:pPr eaLnBrk="1" hangingPunct="1"/>
              <a:t>10</a:t>
            </a:fld>
            <a:r>
              <a:rPr lang="fr-FR" altLang="fr-FR" sz="1200" b="0"/>
              <a:t>/23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555875" y="0"/>
            <a:ext cx="425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Conditions aux limites à droite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454025" y="701675"/>
            <a:ext cx="1152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Dirichlet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3986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1627188" y="657225"/>
          <a:ext cx="857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Equation" r:id="rId3" imgW="482391" imgH="253890" progId="Equation.DSMT4">
                  <p:embed/>
                </p:oleObj>
              </mc:Choice>
              <mc:Fallback>
                <p:oleObj name="Equation" r:id="rId3" imgW="482391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657225"/>
                        <a:ext cx="857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0" y="4000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1924050" y="1312863"/>
          <a:ext cx="405288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6" name="Equation" r:id="rId5" imgW="2260600" imgH="914400" progId="Equation.DSMT4">
                  <p:embed/>
                </p:oleObj>
              </mc:Choice>
              <mc:Fallback>
                <p:oleObj name="Equation" r:id="rId5" imgW="2260600" imgH="914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312863"/>
                        <a:ext cx="4052888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395288" y="3040063"/>
            <a:ext cx="8693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 nœud N+1 n</a:t>
            </a:r>
            <a:r>
              <a:rPr lang="ja-JP" altLang="fr-FR" sz="1800"/>
              <a:t>’</a:t>
            </a:r>
            <a:r>
              <a:rPr lang="fr-FR" altLang="ja-JP" sz="1800"/>
              <a:t>existe pas, l</a:t>
            </a:r>
            <a:r>
              <a:rPr lang="ja-JP" altLang="fr-FR" sz="1800"/>
              <a:t>’</a:t>
            </a:r>
            <a:r>
              <a:rPr lang="fr-FR" altLang="ja-JP" sz="1800"/>
              <a:t>expression de la condition aux limites de </a:t>
            </a:r>
          </a:p>
          <a:p>
            <a:pPr eaLnBrk="1" hangingPunct="1"/>
            <a:r>
              <a:rPr lang="fr-FR" altLang="fr-FR" sz="1800"/>
              <a:t>Neumann à droite permet d</a:t>
            </a:r>
            <a:r>
              <a:rPr lang="ja-JP" altLang="fr-FR" sz="1800"/>
              <a:t>’</a:t>
            </a:r>
            <a:r>
              <a:rPr lang="fr-FR" altLang="ja-JP" sz="1800"/>
              <a:t>obtenir une 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</a:t>
            </a:r>
            <a:endParaRPr lang="fr-FR" altLang="fr-FR" sz="1800"/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0" y="3814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2268538" y="4149725"/>
          <a:ext cx="38512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7" name="Equation" r:id="rId7" imgW="2146300" imgH="508000" progId="Equation.DSMT4">
                  <p:embed/>
                </p:oleObj>
              </mc:Choice>
              <mc:Fallback>
                <p:oleObj name="Equation" r:id="rId7" imgW="2146300" imgH="508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149725"/>
                        <a:ext cx="38512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468313" y="3824288"/>
            <a:ext cx="452913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A partir du D.L. à gauche du nœud N,</a:t>
            </a:r>
          </a:p>
          <a:p>
            <a:pPr eaLnBrk="1" hangingPunct="1"/>
            <a:endParaRPr lang="fr-FR" altLang="fr-FR" sz="2000"/>
          </a:p>
          <a:p>
            <a:pPr eaLnBrk="1" hangingPunct="1"/>
            <a:endParaRPr lang="fr-FR" altLang="fr-FR" sz="2000"/>
          </a:p>
          <a:p>
            <a:pPr eaLnBrk="1" hangingPunct="1"/>
            <a:endParaRPr lang="fr-FR" altLang="fr-FR" sz="2000"/>
          </a:p>
          <a:p>
            <a:pPr eaLnBrk="1" hangingPunct="1"/>
            <a:r>
              <a:rPr lang="fr-FR" altLang="fr-FR" sz="2000"/>
              <a:t>la dérivée seconde au nœud N s</a:t>
            </a:r>
            <a:r>
              <a:rPr lang="ja-JP" altLang="fr-FR" sz="2000"/>
              <a:t>’</a:t>
            </a:r>
            <a:r>
              <a:rPr lang="fr-FR" altLang="ja-JP" sz="2000"/>
              <a:t>écrit  </a:t>
            </a:r>
            <a:endParaRPr lang="fr-FR" altLang="fr-FR" sz="2000"/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733425" y="5624513"/>
          <a:ext cx="76184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Equation" r:id="rId9" imgW="4241800" imgH="520700" progId="Equation.DSMT4">
                  <p:embed/>
                </p:oleObj>
              </mc:Choice>
              <mc:Fallback>
                <p:oleObj name="Equation" r:id="rId9" imgW="4241800" imgH="520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5624513"/>
                        <a:ext cx="7618413" cy="936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pSp>
        <p:nvGrpSpPr>
          <p:cNvPr id="13326" name="Group 14"/>
          <p:cNvGrpSpPr>
            <a:grpSpLocks/>
          </p:cNvGrpSpPr>
          <p:nvPr/>
        </p:nvGrpSpPr>
        <p:grpSpPr bwMode="auto">
          <a:xfrm>
            <a:off x="6119813" y="1636713"/>
            <a:ext cx="1582737" cy="820737"/>
            <a:chOff x="4223" y="33"/>
            <a:chExt cx="997" cy="517"/>
          </a:xfrm>
        </p:grpSpPr>
        <p:sp>
          <p:nvSpPr>
            <p:cNvPr id="64527" name="Line 15"/>
            <p:cNvSpPr>
              <a:spLocks noChangeShapeType="1"/>
            </p:cNvSpPr>
            <p:nvPr/>
          </p:nvSpPr>
          <p:spPr bwMode="auto">
            <a:xfrm>
              <a:off x="4722" y="306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28" name="Line 16"/>
            <p:cNvSpPr>
              <a:spLocks noChangeShapeType="1"/>
            </p:cNvSpPr>
            <p:nvPr/>
          </p:nvSpPr>
          <p:spPr bwMode="auto">
            <a:xfrm flipV="1">
              <a:off x="4721" y="79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29" name="Text Box 17"/>
            <p:cNvSpPr txBox="1">
              <a:spLocks noChangeArrowheads="1"/>
            </p:cNvSpPr>
            <p:nvPr/>
          </p:nvSpPr>
          <p:spPr bwMode="auto">
            <a:xfrm>
              <a:off x="4404" y="33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64530" name="Text Box 18"/>
            <p:cNvSpPr txBox="1">
              <a:spLocks noChangeArrowheads="1"/>
            </p:cNvSpPr>
            <p:nvPr/>
          </p:nvSpPr>
          <p:spPr bwMode="auto">
            <a:xfrm>
              <a:off x="4830" y="47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31" name="Line 19"/>
            <p:cNvSpPr>
              <a:spLocks noChangeShapeType="1"/>
            </p:cNvSpPr>
            <p:nvPr/>
          </p:nvSpPr>
          <p:spPr bwMode="auto">
            <a:xfrm flipH="1">
              <a:off x="4223" y="306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4532" name="Text Box 20"/>
            <p:cNvSpPr txBox="1">
              <a:spLocks noChangeArrowheads="1"/>
            </p:cNvSpPr>
            <p:nvPr/>
          </p:nvSpPr>
          <p:spPr bwMode="auto">
            <a:xfrm>
              <a:off x="4694" y="319"/>
              <a:ext cx="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p=N</a:t>
              </a:r>
            </a:p>
          </p:txBody>
        </p:sp>
      </p:grpSp>
      <p:sp>
        <p:nvSpPr>
          <p:cNvPr id="64533" name="Text Box 21"/>
          <p:cNvSpPr txBox="1">
            <a:spLocks noChangeArrowheads="1"/>
          </p:cNvSpPr>
          <p:nvPr/>
        </p:nvSpPr>
        <p:spPr bwMode="auto">
          <a:xfrm>
            <a:off x="360363" y="1960563"/>
            <a:ext cx="1254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Neumann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2771775" y="620713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Température </a:t>
            </a:r>
          </a:p>
          <a:p>
            <a:pPr eaLnBrk="1" hangingPunct="1"/>
            <a:r>
              <a:rPr lang="fr-FR" altLang="fr-FR" sz="1800"/>
              <a:t>imposée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E914F34-36A6-4D4B-85AD-894D096AB604}" type="slidenum">
              <a:rPr lang="fr-FR" altLang="fr-FR" sz="1200"/>
              <a:pPr eaLnBrk="1" hangingPunct="1"/>
              <a:t>11</a:t>
            </a:fld>
            <a:r>
              <a:rPr lang="fr-FR" altLang="fr-FR" sz="1200" b="0"/>
              <a:t>/23</a:t>
            </a:r>
          </a:p>
        </p:txBody>
      </p:sp>
      <p:graphicFrame>
        <p:nvGraphicFramePr>
          <p:cNvPr id="14338" name="Object 23"/>
          <p:cNvGraphicFramePr>
            <a:graphicFrameLocks noChangeAspect="1"/>
          </p:cNvGraphicFramePr>
          <p:nvPr/>
        </p:nvGraphicFramePr>
        <p:xfrm>
          <a:off x="5256213" y="1233488"/>
          <a:ext cx="223361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3" imgW="1244600" imgH="508000" progId="Equation.DSMT4">
                  <p:embed/>
                </p:oleObj>
              </mc:Choice>
              <mc:Fallback>
                <p:oleObj name="Equation" r:id="rId3" imgW="1244600" imgH="508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1233488"/>
                        <a:ext cx="2233612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24"/>
          <p:cNvGraphicFramePr>
            <a:graphicFrameLocks noChangeAspect="1"/>
          </p:cNvGraphicFramePr>
          <p:nvPr/>
        </p:nvGraphicFramePr>
        <p:xfrm>
          <a:off x="2987675" y="2097088"/>
          <a:ext cx="31718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5" imgW="1765300" imgH="508000" progId="Equation.DSMT4">
                  <p:embed/>
                </p:oleObj>
              </mc:Choice>
              <mc:Fallback>
                <p:oleObj name="Equation" r:id="rId5" imgW="1765300" imgH="508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097088"/>
                        <a:ext cx="31718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25"/>
          <p:cNvGraphicFramePr>
            <a:graphicFrameLocks noChangeAspect="1"/>
          </p:cNvGraphicFramePr>
          <p:nvPr/>
        </p:nvGraphicFramePr>
        <p:xfrm>
          <a:off x="2303463" y="3213100"/>
          <a:ext cx="385603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7" imgW="2108200" imgH="444500" progId="Equation.DSMT4">
                  <p:embed/>
                </p:oleObj>
              </mc:Choice>
              <mc:Fallback>
                <p:oleObj name="Equation" r:id="rId7" imgW="2108200" imgH="4445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213100"/>
                        <a:ext cx="3856037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2" name="Text Box 26"/>
          <p:cNvSpPr txBox="1">
            <a:spLocks noChangeArrowheads="1"/>
          </p:cNvSpPr>
          <p:nvPr/>
        </p:nvSpPr>
        <p:spPr bwMode="auto">
          <a:xfrm>
            <a:off x="485775" y="1504950"/>
            <a:ext cx="475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définissant la conduction au nœud N par :</a:t>
            </a:r>
          </a:p>
        </p:txBody>
      </p:sp>
      <p:sp>
        <p:nvSpPr>
          <p:cNvPr id="65563" name="Text Box 27"/>
          <p:cNvSpPr txBox="1">
            <a:spLocks noChangeArrowheads="1"/>
          </p:cNvSpPr>
          <p:nvPr/>
        </p:nvSpPr>
        <p:spPr bwMode="auto">
          <a:xfrm>
            <a:off x="539750" y="2384425"/>
            <a:ext cx="7702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équation de chaleur                                                         se discrétise en :</a:t>
            </a:r>
            <a:endParaRPr lang="fr-FR" altLang="fr-FR" sz="1800"/>
          </a:p>
        </p:txBody>
      </p:sp>
      <p:graphicFrame>
        <p:nvGraphicFramePr>
          <p:cNvPr id="14343" name="Object 29"/>
          <p:cNvGraphicFramePr>
            <a:graphicFrameLocks noChangeAspect="1"/>
          </p:cNvGraphicFramePr>
          <p:nvPr/>
        </p:nvGraphicFramePr>
        <p:xfrm>
          <a:off x="719138" y="5013325"/>
          <a:ext cx="80581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9" imgW="4495800" imgH="508000" progId="Equation.DSMT4">
                  <p:embed/>
                </p:oleObj>
              </mc:Choice>
              <mc:Fallback>
                <p:oleObj name="Equation" r:id="rId9" imgW="4495800" imgH="5080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013325"/>
                        <a:ext cx="8058150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6" name="Text Box 30"/>
          <p:cNvSpPr txBox="1">
            <a:spLocks noChangeArrowheads="1"/>
          </p:cNvSpPr>
          <p:nvPr/>
        </p:nvSpPr>
        <p:spPr bwMode="auto">
          <a:xfrm>
            <a:off x="684213" y="4437063"/>
            <a:ext cx="413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 sous une forme développée</a:t>
            </a:r>
          </a:p>
        </p:txBody>
      </p:sp>
      <p:graphicFrame>
        <p:nvGraphicFramePr>
          <p:cNvPr id="14345" name="Object 31"/>
          <p:cNvGraphicFramePr>
            <a:graphicFrameLocks noChangeAspect="1"/>
          </p:cNvGraphicFramePr>
          <p:nvPr/>
        </p:nvGraphicFramePr>
        <p:xfrm>
          <a:off x="2339975" y="296863"/>
          <a:ext cx="45164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tion" r:id="rId11" imgW="2514600" imgH="508000" progId="Equation.DSMT4">
                  <p:embed/>
                </p:oleObj>
              </mc:Choice>
              <mc:Fallback>
                <p:oleObj name="Equation" r:id="rId11" imgW="2514600" imgH="508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96863"/>
                        <a:ext cx="451643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8" name="Text Box 32"/>
          <p:cNvSpPr txBox="1">
            <a:spLocks noChangeArrowheads="1"/>
          </p:cNvSpPr>
          <p:nvPr/>
        </p:nvSpPr>
        <p:spPr bwMode="auto">
          <a:xfrm>
            <a:off x="606425" y="6221413"/>
            <a:ext cx="630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Laquelle des 2 formes encadrées allons-nous implémenter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1BB9534-7988-4E1A-9E45-6069DCA062C6}" type="slidenum">
              <a:rPr lang="fr-FR" altLang="fr-FR" sz="1200"/>
              <a:pPr eaLnBrk="1" hangingPunct="1"/>
              <a:t>12</a:t>
            </a:fld>
            <a:r>
              <a:rPr lang="fr-FR" altLang="fr-FR" sz="1200" b="0"/>
              <a:t>/23</a:t>
            </a:r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411413" y="0"/>
            <a:ext cx="449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Conditions aux limites à gauche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5102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511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5365" name="Object 7"/>
          <p:cNvGraphicFramePr>
            <a:graphicFrameLocks noChangeAspect="1"/>
          </p:cNvGraphicFramePr>
          <p:nvPr/>
        </p:nvGraphicFramePr>
        <p:xfrm>
          <a:off x="1871663" y="942975"/>
          <a:ext cx="37973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Equation" r:id="rId3" imgW="2120900" imgH="914400" progId="Equation.DSMT4">
                  <p:embed/>
                </p:oleObj>
              </mc:Choice>
              <mc:Fallback>
                <p:oleObj name="Equation" r:id="rId3" imgW="2120900" imgH="914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942975"/>
                        <a:ext cx="3797300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395288" y="2708275"/>
            <a:ext cx="8039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 nœud N+1 n</a:t>
            </a:r>
            <a:r>
              <a:rPr lang="ja-JP" altLang="fr-FR" sz="1800"/>
              <a:t>’</a:t>
            </a:r>
            <a:r>
              <a:rPr lang="fr-FR" altLang="ja-JP" sz="1800"/>
              <a:t>existe pas, D.L. de la température à droite du nœud 1</a:t>
            </a:r>
            <a:endParaRPr lang="fr-FR" altLang="fr-FR" sz="1800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0" y="493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468313" y="3968750"/>
            <a:ext cx="405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dérivée seconde au nœud 1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fr-FR" sz="1800"/>
          </a:p>
        </p:txBody>
      </p:sp>
      <p:graphicFrame>
        <p:nvGraphicFramePr>
          <p:cNvPr id="15369" name="Object 16"/>
          <p:cNvGraphicFramePr>
            <a:graphicFrameLocks noChangeAspect="1"/>
          </p:cNvGraphicFramePr>
          <p:nvPr/>
        </p:nvGraphicFramePr>
        <p:xfrm>
          <a:off x="611188" y="4329113"/>
          <a:ext cx="73374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Equation" r:id="rId5" imgW="4076700" imgH="520700" progId="Equation.DSMT4">
                  <p:embed/>
                </p:oleObj>
              </mc:Choice>
              <mc:Fallback>
                <p:oleObj name="Equation" r:id="rId5" imgW="4076700" imgH="520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329113"/>
                        <a:ext cx="73374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30"/>
          <p:cNvGraphicFramePr>
            <a:graphicFrameLocks noChangeAspect="1"/>
          </p:cNvGraphicFramePr>
          <p:nvPr/>
        </p:nvGraphicFramePr>
        <p:xfrm>
          <a:off x="2195513" y="3140075"/>
          <a:ext cx="3800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Equation" r:id="rId7" imgW="2108200" imgH="508000" progId="Equation.DSMT4">
                  <p:embed/>
                </p:oleObj>
              </mc:Choice>
              <mc:Fallback>
                <p:oleObj name="Equation" r:id="rId7" imgW="2108200" imgH="5080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140075"/>
                        <a:ext cx="3800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37"/>
          <p:cNvGraphicFramePr>
            <a:graphicFrameLocks noChangeAspect="1"/>
          </p:cNvGraphicFramePr>
          <p:nvPr/>
        </p:nvGraphicFramePr>
        <p:xfrm>
          <a:off x="1511300" y="495300"/>
          <a:ext cx="860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Equation" r:id="rId9" imgW="482391" imgH="253890" progId="Equation.DSMT4">
                  <p:embed/>
                </p:oleObj>
              </mc:Choice>
              <mc:Fallback>
                <p:oleObj name="Equation" r:id="rId9" imgW="482391" imgH="25389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95300"/>
                        <a:ext cx="860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6" name="Text Box 38"/>
          <p:cNvSpPr txBox="1">
            <a:spLocks noChangeArrowheads="1"/>
          </p:cNvSpPr>
          <p:nvPr/>
        </p:nvSpPr>
        <p:spPr bwMode="auto">
          <a:xfrm>
            <a:off x="287338" y="512763"/>
            <a:ext cx="1152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Dirichlet</a:t>
            </a:r>
          </a:p>
        </p:txBody>
      </p:sp>
      <p:grpSp>
        <p:nvGrpSpPr>
          <p:cNvPr id="15373" name="Group 42"/>
          <p:cNvGrpSpPr>
            <a:grpSpLocks/>
          </p:cNvGrpSpPr>
          <p:nvPr/>
        </p:nvGrpSpPr>
        <p:grpSpPr bwMode="auto">
          <a:xfrm>
            <a:off x="5256213" y="908050"/>
            <a:ext cx="1582737" cy="852488"/>
            <a:chOff x="3765" y="811"/>
            <a:chExt cx="997" cy="537"/>
          </a:xfrm>
        </p:grpSpPr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>
              <a:off x="3765" y="1106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 flipV="1">
              <a:off x="4263" y="86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4" name="Text Box 26"/>
            <p:cNvSpPr txBox="1">
              <a:spLocks noChangeArrowheads="1"/>
            </p:cNvSpPr>
            <p:nvPr/>
          </p:nvSpPr>
          <p:spPr bwMode="auto">
            <a:xfrm>
              <a:off x="4286" y="811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8155" name="Text Box 27"/>
            <p:cNvSpPr txBox="1">
              <a:spLocks noChangeArrowheads="1"/>
            </p:cNvSpPr>
            <p:nvPr/>
          </p:nvSpPr>
          <p:spPr bwMode="auto">
            <a:xfrm>
              <a:off x="3923" y="811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56" name="Text Box 28"/>
            <p:cNvSpPr txBox="1">
              <a:spLocks noChangeArrowheads="1"/>
            </p:cNvSpPr>
            <p:nvPr/>
          </p:nvSpPr>
          <p:spPr bwMode="auto">
            <a:xfrm>
              <a:off x="3901" y="1084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48157" name="Line 29"/>
            <p:cNvSpPr>
              <a:spLocks noChangeShapeType="1"/>
            </p:cNvSpPr>
            <p:nvPr/>
          </p:nvSpPr>
          <p:spPr bwMode="auto">
            <a:xfrm flipH="1">
              <a:off x="4263" y="1106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8167" name="Text Box 39"/>
            <p:cNvSpPr txBox="1">
              <a:spLocks noChangeArrowheads="1"/>
            </p:cNvSpPr>
            <p:nvPr/>
          </p:nvSpPr>
          <p:spPr bwMode="auto">
            <a:xfrm>
              <a:off x="4286" y="1117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p=1</a:t>
              </a:r>
            </a:p>
          </p:txBody>
        </p:sp>
      </p:grpSp>
      <p:sp>
        <p:nvSpPr>
          <p:cNvPr id="48168" name="Text Box 4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8169" name="Text Box 41"/>
          <p:cNvSpPr txBox="1">
            <a:spLocks noChangeArrowheads="1"/>
          </p:cNvSpPr>
          <p:nvPr/>
        </p:nvSpPr>
        <p:spPr bwMode="auto">
          <a:xfrm>
            <a:off x="360363" y="1455738"/>
            <a:ext cx="1317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Neumann</a:t>
            </a:r>
          </a:p>
        </p:txBody>
      </p:sp>
      <p:graphicFrame>
        <p:nvGraphicFramePr>
          <p:cNvPr id="15376" name="Object 43"/>
          <p:cNvGraphicFramePr>
            <a:graphicFrameLocks noChangeAspect="1"/>
          </p:cNvGraphicFramePr>
          <p:nvPr/>
        </p:nvGraphicFramePr>
        <p:xfrm>
          <a:off x="647700" y="5183188"/>
          <a:ext cx="251142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0" name="Equation" r:id="rId11" imgW="1562100" imgH="1016000" progId="Equation.DSMT4">
                  <p:embed/>
                </p:oleObj>
              </mc:Choice>
              <mc:Fallback>
                <p:oleObj name="Equation" r:id="rId11" imgW="1562100" imgH="10160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5183188"/>
                        <a:ext cx="2511425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44"/>
          <p:cNvGraphicFramePr>
            <a:graphicFrameLocks noChangeAspect="1"/>
          </p:cNvGraphicFramePr>
          <p:nvPr/>
        </p:nvGraphicFramePr>
        <p:xfrm>
          <a:off x="4184650" y="5661025"/>
          <a:ext cx="38084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13" imgW="2082800" imgH="444500" progId="Equation.DSMT4">
                  <p:embed/>
                </p:oleObj>
              </mc:Choice>
              <mc:Fallback>
                <p:oleObj name="Equation" r:id="rId13" imgW="2082800" imgH="4445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661025"/>
                        <a:ext cx="3808413" cy="8112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73" name="AutoShape 45"/>
          <p:cNvSpPr>
            <a:spLocks noChangeArrowheads="1"/>
          </p:cNvSpPr>
          <p:nvPr/>
        </p:nvSpPr>
        <p:spPr bwMode="auto">
          <a:xfrm>
            <a:off x="3384550" y="5913438"/>
            <a:ext cx="574675" cy="285750"/>
          </a:xfrm>
          <a:prstGeom prst="rightArrow">
            <a:avLst>
              <a:gd name="adj1" fmla="val 50000"/>
              <a:gd name="adj2" fmla="val 502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0CBE6D6-381F-49DC-B85F-7DE8B92349D7}" type="slidenum">
              <a:rPr lang="fr-FR" altLang="fr-FR" sz="1200"/>
              <a:pPr eaLnBrk="1" hangingPunct="1"/>
              <a:t>13</a:t>
            </a:fld>
            <a:r>
              <a:rPr lang="fr-FR" altLang="fr-FR" sz="1200" b="0"/>
              <a:t>/23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31775" y="136525"/>
            <a:ext cx="7321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Explicite : Le programme MDFE_main</a:t>
            </a:r>
          </a:p>
        </p:txBody>
      </p:sp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10" b="78850"/>
          <a:stretch>
            <a:fillRect/>
          </a:stretch>
        </p:blipFill>
        <p:spPr bwMode="auto">
          <a:xfrm>
            <a:off x="468313" y="549275"/>
            <a:ext cx="266382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687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0" b="3201"/>
          <a:stretch>
            <a:fillRect/>
          </a:stretch>
        </p:blipFill>
        <p:spPr bwMode="auto">
          <a:xfrm>
            <a:off x="468313" y="981075"/>
            <a:ext cx="7343775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6948488" y="2781300"/>
            <a:ext cx="170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phys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877050" y="5942013"/>
            <a:ext cx="177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simul</a:t>
            </a:r>
          </a:p>
        </p:txBody>
      </p:sp>
      <p:sp>
        <p:nvSpPr>
          <p:cNvPr id="36877" name="AutoShape 13"/>
          <p:cNvSpPr>
            <a:spLocks/>
          </p:cNvSpPr>
          <p:nvPr/>
        </p:nvSpPr>
        <p:spPr bwMode="auto">
          <a:xfrm>
            <a:off x="6516688" y="1628775"/>
            <a:ext cx="360362" cy="2663825"/>
          </a:xfrm>
          <a:prstGeom prst="rightBrace">
            <a:avLst>
              <a:gd name="adj1" fmla="val 61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878" name="AutoShape 14"/>
          <p:cNvSpPr>
            <a:spLocks/>
          </p:cNvSpPr>
          <p:nvPr/>
        </p:nvSpPr>
        <p:spPr bwMode="auto">
          <a:xfrm>
            <a:off x="6516688" y="5553075"/>
            <a:ext cx="360362" cy="1152525"/>
          </a:xfrm>
          <a:prstGeom prst="rightBrace">
            <a:avLst>
              <a:gd name="adj1" fmla="val 266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6C0708F-F557-413D-917F-AEAA3EB6FAF0}" type="slidenum">
              <a:rPr lang="fr-FR" altLang="fr-FR" sz="1200"/>
              <a:pPr eaLnBrk="1" hangingPunct="1"/>
              <a:t>14</a:t>
            </a:fld>
            <a:r>
              <a:rPr lang="fr-FR" altLang="fr-FR" sz="1200" b="0"/>
              <a:t>/23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339975" y="188913"/>
            <a:ext cx="423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MDFE_main.m : </a:t>
            </a:r>
            <a:r>
              <a:rPr lang="fr-FR" altLang="fr-FR" sz="1800" b="1"/>
              <a:t>les fonctions définies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250825" y="512763"/>
            <a:ext cx="8374063" cy="647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MDFE_main  : Programme principal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lecture_probleme : Lecture des proprietes physiques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lecture_simul    : Lecture des parametres de la simulation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explicite        : Algorithme de résolution transitoire explicite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source           : Fonction permettant de calculer la source en un point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   définie par son abscisse sur le barreau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affichage_solution : affichage graphique de la solution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rgb           : Fonction permettant d'associer une couleur en fonction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d'un index de manière à colorier les courbes résultats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en fonction du temps.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PROPRIETES PHYSIQUES DU MATERIAU et CONDITIONS AUX LIMITES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[phys]=lecture_probleme;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PARAMETRES DE LA SIMULATION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Parametres de la simulation et tests sur la stabilite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[simul]=lecture_simul(phys);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 RESOLUTION TRANSITOIRE DU PROBLEME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[x,Tn]=explicite(phys,simul);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 AFFICHAGE DU RESULTAT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Representation graphique              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affichage_solution(x,Tn,simul);</a:t>
            </a:r>
            <a:endParaRPr lang="fr-FR" altLang="fr-FR" sz="1400">
              <a:latin typeface="Courier New" panose="02070309020205020404" pitchFamily="49" charset="0"/>
            </a:endParaRPr>
          </a:p>
          <a:p>
            <a:pPr eaLnBrk="1" hangingPunct="1"/>
            <a:endParaRPr lang="fr-FR" altLang="fr-FR" sz="14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9B3542E-F756-4475-98C8-724C51D675EC}" type="slidenum">
              <a:rPr lang="fr-FR" altLang="fr-FR" sz="1200"/>
              <a:pPr eaLnBrk="1" hangingPunct="1"/>
              <a:t>15</a:t>
            </a:fld>
            <a:r>
              <a:rPr lang="fr-FR" altLang="fr-FR" sz="1200" b="0"/>
              <a:t>/23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358775" y="115888"/>
            <a:ext cx="7632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solidFill>
                  <a:schemeClr val="tx2"/>
                </a:solidFill>
                <a:latin typeface="Arial" charset="0"/>
                <a:ea typeface="ＭＳ Ｐゴシック" charset="0"/>
              </a:rPr>
              <a:t>Programmation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42875" y="820738"/>
            <a:ext cx="8718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Résoudre l</a:t>
            </a:r>
            <a:r>
              <a:rPr lang="ja-JP" altLang="fr-FR" sz="2000"/>
              <a:t>’</a:t>
            </a:r>
            <a:r>
              <a:rPr lang="fr-FR" altLang="ja-JP" sz="2000"/>
              <a:t>EDP de transfert de chaleur en régime transitoire permettant </a:t>
            </a:r>
          </a:p>
          <a:p>
            <a:pPr eaLnBrk="1" hangingPunct="1"/>
            <a:r>
              <a:rPr lang="fr-FR" altLang="fr-FR" sz="2000"/>
              <a:t>de calculer la répartition de température dans un mur dans les conditions suivantes : T</a:t>
            </a:r>
            <a:r>
              <a:rPr lang="fr-FR" altLang="fr-FR" sz="2000" baseline="-25000"/>
              <a:t>initiale</a:t>
            </a:r>
            <a:r>
              <a:rPr lang="fr-FR" altLang="fr-FR" sz="2000"/>
              <a:t>=273K. On calculera la solution analytique en régime permanent pour comparer à la solution numérique.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2698750" y="3440113"/>
            <a:ext cx="140493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</a:t>
            </a:r>
          </a:p>
          <a:p>
            <a:pPr eaLnBrk="1" hangingPunct="1"/>
            <a:r>
              <a:rPr lang="fr-FR" altLang="fr-FR" sz="1800"/>
              <a:t>extérieure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273K</a:t>
            </a:r>
          </a:p>
          <a:p>
            <a:pPr eaLnBrk="1" hangingPunct="1"/>
            <a:endParaRPr lang="fr-FR" altLang="fr-FR" sz="1800"/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871663" y="6308725"/>
            <a:ext cx="6091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-25000">
                <a:latin typeface="Arial" charset="0"/>
                <a:ea typeface="ＭＳ Ｐゴシック" charset="0"/>
              </a:rPr>
              <a:t>mur</a:t>
            </a:r>
            <a:r>
              <a:rPr lang="fr-FR">
                <a:latin typeface="Arial" charset="0"/>
                <a:ea typeface="ＭＳ Ｐゴシック" charset="0"/>
              </a:rPr>
              <a:t>=1.65 Wm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      </a:t>
            </a:r>
            <a:r>
              <a:rPr lang="fr-FR">
                <a:latin typeface="Symbol" charset="0"/>
                <a:ea typeface="ＭＳ Ｐゴシック" charset="0"/>
              </a:rPr>
              <a:t>r</a:t>
            </a:r>
            <a:r>
              <a:rPr lang="fr-FR">
                <a:latin typeface="Arial" charset="0"/>
                <a:ea typeface="ＭＳ Ｐゴシック" charset="0"/>
              </a:rPr>
              <a:t>=2150 kg.m</a:t>
            </a:r>
            <a:r>
              <a:rPr lang="fr-FR" baseline="30000">
                <a:latin typeface="Arial" charset="0"/>
                <a:ea typeface="ＭＳ Ｐゴシック" charset="0"/>
              </a:rPr>
              <a:t>-3</a:t>
            </a:r>
            <a:r>
              <a:rPr lang="fr-FR">
                <a:latin typeface="Arial" charset="0"/>
                <a:ea typeface="ＭＳ Ｐゴシック" charset="0"/>
              </a:rPr>
              <a:t>     C</a:t>
            </a:r>
            <a:r>
              <a:rPr lang="fr-FR" baseline="-25000">
                <a:latin typeface="Arial" charset="0"/>
                <a:ea typeface="ＭＳ Ｐゴシック" charset="0"/>
              </a:rPr>
              <a:t>p</a:t>
            </a:r>
            <a:r>
              <a:rPr lang="fr-FR">
                <a:latin typeface="Arial" charset="0"/>
                <a:ea typeface="ＭＳ Ｐゴシック" charset="0"/>
              </a:rPr>
              <a:t>=1000 J.kg</a:t>
            </a:r>
            <a:r>
              <a:rPr lang="fr-FR" baseline="30000">
                <a:latin typeface="Arial" charset="0"/>
                <a:ea typeface="ＭＳ Ｐゴシック" charset="0"/>
              </a:rPr>
              <a:t> -1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</p:txBody>
      </p:sp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250825" y="2270125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1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7127875" y="3608388"/>
            <a:ext cx="226853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 h = 10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amb</a:t>
            </a:r>
            <a:r>
              <a:rPr lang="fr-FR">
                <a:latin typeface="Arial" charset="0"/>
                <a:ea typeface="ＭＳ Ｐゴシック" charset="0"/>
              </a:rPr>
              <a:t>=273K</a:t>
            </a: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4932363" y="224155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2</a:t>
            </a:r>
          </a:p>
        </p:txBody>
      </p:sp>
      <p:grpSp>
        <p:nvGrpSpPr>
          <p:cNvPr id="18442" name="Group 33"/>
          <p:cNvGrpSpPr>
            <a:grpSpLocks/>
          </p:cNvGrpSpPr>
          <p:nvPr/>
        </p:nvGrpSpPr>
        <p:grpSpPr bwMode="auto">
          <a:xfrm>
            <a:off x="6119813" y="2312988"/>
            <a:ext cx="1546225" cy="3130550"/>
            <a:chOff x="3765" y="1843"/>
            <a:chExt cx="974" cy="1972"/>
          </a:xfrm>
        </p:grpSpPr>
        <p:sp>
          <p:nvSpPr>
            <p:cNvPr id="47120" name="Rectangle 16"/>
            <p:cNvSpPr>
              <a:spLocks noChangeArrowheads="1"/>
            </p:cNvSpPr>
            <p:nvPr/>
          </p:nvSpPr>
          <p:spPr bwMode="auto">
            <a:xfrm>
              <a:off x="3833" y="2092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3765" y="1843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3833" y="3498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7" name="AutoShape 23"/>
            <p:cNvSpPr>
              <a:spLocks noChangeArrowheads="1"/>
            </p:cNvSpPr>
            <p:nvPr/>
          </p:nvSpPr>
          <p:spPr bwMode="auto">
            <a:xfrm>
              <a:off x="4308" y="2364"/>
              <a:ext cx="431" cy="227"/>
            </a:xfrm>
            <a:custGeom>
              <a:avLst/>
              <a:gdLst>
                <a:gd name="T0" fmla="*/ 323 w 21600"/>
                <a:gd name="T1" fmla="*/ 0 h 21600"/>
                <a:gd name="T2" fmla="*/ 0 w 21600"/>
                <a:gd name="T3" fmla="*/ 114 h 21600"/>
                <a:gd name="T4" fmla="*/ 323 w 21600"/>
                <a:gd name="T5" fmla="*/ 227 h 21600"/>
                <a:gd name="T6" fmla="*/ 431 w 21600"/>
                <a:gd name="T7" fmla="*/ 11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8 w 21600"/>
                <a:gd name="T13" fmla="*/ 5424 h 21600"/>
                <a:gd name="T14" fmla="*/ 18894 w 21600"/>
                <a:gd name="T15" fmla="*/ 161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3832" y="2092"/>
              <a:ext cx="0" cy="154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443" name="Group 32"/>
          <p:cNvGrpSpPr>
            <a:grpSpLocks/>
          </p:cNvGrpSpPr>
          <p:nvPr/>
        </p:nvGrpSpPr>
        <p:grpSpPr bwMode="auto">
          <a:xfrm>
            <a:off x="1368425" y="2349500"/>
            <a:ext cx="1620838" cy="3201988"/>
            <a:chOff x="1088" y="1640"/>
            <a:chExt cx="1021" cy="2017"/>
          </a:xfrm>
        </p:grpSpPr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1360" y="1889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1292" y="1640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1088" y="3295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1814" y="1956"/>
              <a:ext cx="0" cy="1406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1360" y="1888"/>
              <a:ext cx="0" cy="142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1360" y="3589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2" name="Line 28"/>
            <p:cNvSpPr>
              <a:spLocks noChangeShapeType="1"/>
            </p:cNvSpPr>
            <p:nvPr/>
          </p:nvSpPr>
          <p:spPr bwMode="auto">
            <a:xfrm>
              <a:off x="1360" y="3317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3" name="Line 29"/>
            <p:cNvSpPr>
              <a:spLocks noChangeShapeType="1"/>
            </p:cNvSpPr>
            <p:nvPr/>
          </p:nvSpPr>
          <p:spPr bwMode="auto">
            <a:xfrm>
              <a:off x="1814" y="3317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4" name="Text Box 30"/>
            <p:cNvSpPr txBox="1">
              <a:spLocks noChangeArrowheads="1"/>
            </p:cNvSpPr>
            <p:nvPr/>
          </p:nvSpPr>
          <p:spPr bwMode="auto">
            <a:xfrm>
              <a:off x="1406" y="3407"/>
              <a:ext cx="38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sz="1400">
                  <a:latin typeface="Arial" charset="0"/>
                  <a:ea typeface="ＭＳ Ｐゴシック" charset="0"/>
                </a:rPr>
                <a:t>20cm</a:t>
              </a:r>
            </a:p>
          </p:txBody>
        </p:sp>
      </p:grpSp>
      <p:sp>
        <p:nvSpPr>
          <p:cNvPr id="47138" name="Line 34"/>
          <p:cNvSpPr>
            <a:spLocks noChangeShapeType="1"/>
          </p:cNvSpPr>
          <p:nvPr/>
        </p:nvSpPr>
        <p:spPr bwMode="auto">
          <a:xfrm>
            <a:off x="4572000" y="2060575"/>
            <a:ext cx="0" cy="3421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358775" y="3465513"/>
            <a:ext cx="13684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 intérieure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293K</a:t>
            </a:r>
          </a:p>
        </p:txBody>
      </p:sp>
      <p:sp>
        <p:nvSpPr>
          <p:cNvPr id="47139" name="Text Box 35"/>
          <p:cNvSpPr txBox="1">
            <a:spLocks noChangeArrowheads="1"/>
          </p:cNvSpPr>
          <p:nvPr/>
        </p:nvSpPr>
        <p:spPr bwMode="auto">
          <a:xfrm>
            <a:off x="4714875" y="3429000"/>
            <a:ext cx="13684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Surface intérieure</a:t>
            </a:r>
          </a:p>
          <a:p>
            <a:pPr eaLnBrk="1" hangingPunct="1"/>
            <a:r>
              <a:rPr lang="fr-FR" altLang="fr-FR" sz="1800"/>
              <a:t>thermalisée</a:t>
            </a:r>
          </a:p>
          <a:p>
            <a:pPr eaLnBrk="1" hangingPunct="1"/>
            <a:r>
              <a:rPr lang="fr-FR" altLang="fr-FR" sz="1800"/>
              <a:t>à 293K</a:t>
            </a:r>
          </a:p>
        </p:txBody>
      </p:sp>
      <p:sp>
        <p:nvSpPr>
          <p:cNvPr id="47141" name="Text Box 37"/>
          <p:cNvSpPr txBox="1">
            <a:spLocks noChangeArrowheads="1"/>
          </p:cNvSpPr>
          <p:nvPr/>
        </p:nvSpPr>
        <p:spPr bwMode="auto">
          <a:xfrm>
            <a:off x="266700" y="5861050"/>
            <a:ext cx="335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Paramètres physiques du mur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0BC7047-8ABB-4001-9FA6-6177170B0673}" type="slidenum">
              <a:rPr lang="fr-FR" altLang="fr-FR" sz="1200"/>
              <a:pPr eaLnBrk="1" hangingPunct="1"/>
              <a:t>16</a:t>
            </a:fld>
            <a:r>
              <a:rPr lang="fr-FR" altLang="fr-FR" sz="1200" b="0"/>
              <a:t>/23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231775" y="182563"/>
            <a:ext cx="5192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Implémentation du schéma explicite pour les</a:t>
            </a:r>
          </a:p>
          <a:p>
            <a:pPr eaLnBrk="1" hangingPunct="1"/>
            <a:r>
              <a:rPr lang="fr-FR" altLang="fr-FR" sz="2000" b="1"/>
              <a:t>points intérieurs</a:t>
            </a:r>
            <a:r>
              <a:rPr lang="fr-FR" altLang="fr-FR" sz="2000"/>
              <a:t> 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303213" y="1216025"/>
            <a:ext cx="6216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Schéma centré avec terme source dépendant de la position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142875" y="1989138"/>
            <a:ext cx="88697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Points </a:t>
            </a:r>
            <a:r>
              <a:rPr lang="fr-FR" b="1" dirty="0" err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interieurs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du maillage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p=2:N-1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x(p)=(p-1)*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d2T_dx2=(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(p+1)-2.*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(p)+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(p-1))/(deltax^2);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conduction=-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*d2T_dx2;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T(p)=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(p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)-</a:t>
            </a:r>
            <a:r>
              <a:rPr lang="fr-FR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/(rho*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)*conduction;  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A4BA39B-60B0-438F-BB7F-F8738B298FC4}" type="slidenum">
              <a:rPr lang="fr-FR" altLang="fr-FR" sz="1200"/>
              <a:pPr eaLnBrk="1" hangingPunct="1"/>
              <a:t>17</a:t>
            </a:fld>
            <a:r>
              <a:rPr lang="fr-FR" altLang="fr-FR" sz="1200" b="0"/>
              <a:t>/23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34925" y="908050"/>
            <a:ext cx="9194800" cy="531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Initialisation : CAL a gauche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phys.type_cl_gauche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==</a:t>
            </a:r>
            <a:r>
              <a:rPr lang="fr-FR" b="1" dirty="0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 =0;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T(1)=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Tdg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 a gauche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hg 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phys.hg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Tag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phys.Tag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x(1)=0;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dT_dx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=(hg/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)*(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(1)-Tag);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d2T_dx2=(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(2)-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(1)-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dT_dx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)*2./(deltax^2);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conduction=-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*d2T_dx2;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T(1)=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(1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)-</a:t>
            </a:r>
            <a:r>
              <a:rPr lang="fr-FR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/(rho*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)*conduction;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31775" y="207963"/>
            <a:ext cx="381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Conditions aux limites à gauche :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8" r="10428" b="15427"/>
          <a:stretch>
            <a:fillRect/>
          </a:stretch>
        </p:blipFill>
        <p:spPr bwMode="auto">
          <a:xfrm>
            <a:off x="6192838" y="1016000"/>
            <a:ext cx="2735262" cy="1479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F18B922-D827-47A0-9979-6177235038F2}" type="slidenum">
              <a:rPr lang="fr-FR" altLang="fr-FR" sz="1200"/>
              <a:pPr eaLnBrk="1" hangingPunct="1"/>
              <a:t>18</a:t>
            </a:fld>
            <a:r>
              <a:rPr lang="fr-FR" altLang="fr-FR" sz="1200" b="0"/>
              <a:t>/23</a:t>
            </a: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34925" y="908050"/>
            <a:ext cx="983474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Initialisation : CAL a droite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phys.type_cl_droite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==</a:t>
            </a:r>
            <a:r>
              <a:rPr lang="fr-FR" b="1" dirty="0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Tdd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phys.Tdd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x(N)=(N-1)*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T(N)=Tdd;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 a droite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hd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phys.hd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Tad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=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phys.Tad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x(N)=(N-1)*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dT_dx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=(-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hd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/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)*(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(N)-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Tad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);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d2T_dx2=(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(N-1)-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(N)+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dT_dx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)*2/deltax^2;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conduction=-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kth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*d2T_dx2;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T(N)=</a:t>
            </a:r>
            <a:r>
              <a:rPr lang="fr-FR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Tprec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(N)-</a:t>
            </a:r>
            <a:r>
              <a:rPr lang="fr-FR" b="1" dirty="0" err="1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deltat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/(rho*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cp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)*conduction;          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dirty="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31775" y="207963"/>
            <a:ext cx="365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Conditions aux limites à droite :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explicite.m</a:t>
            </a:r>
          </a:p>
        </p:txBody>
      </p: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8" r="4649" b="14156"/>
          <a:stretch>
            <a:fillRect/>
          </a:stretch>
        </p:blipFill>
        <p:spPr bwMode="auto">
          <a:xfrm>
            <a:off x="5867400" y="1160463"/>
            <a:ext cx="3276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58EA402-A05B-4AB7-AC21-34A7E74E6D34}" type="slidenum">
              <a:rPr lang="fr-FR" altLang="fr-FR" sz="1200"/>
              <a:pPr eaLnBrk="1" hangingPunct="1"/>
              <a:t>19</a:t>
            </a:fld>
            <a:r>
              <a:rPr lang="fr-FR" altLang="fr-FR" sz="1200" b="0"/>
              <a:t>/23</a:t>
            </a:r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323850" y="72866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1</a:t>
            </a: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4716463" y="72866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latin typeface="Arial" charset="0"/>
                <a:ea typeface="ＭＳ Ｐゴシック" charset="0"/>
              </a:rPr>
              <a:t>Cas 2</a:t>
            </a:r>
          </a:p>
        </p:txBody>
      </p: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1871663" y="801688"/>
            <a:ext cx="720725" cy="2411412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37" name="Oval 33"/>
          <p:cNvSpPr>
            <a:spLocks noChangeArrowheads="1"/>
          </p:cNvSpPr>
          <p:nvPr/>
        </p:nvSpPr>
        <p:spPr bwMode="auto">
          <a:xfrm>
            <a:off x="1727200" y="3033713"/>
            <a:ext cx="1296988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431800" y="1844675"/>
            <a:ext cx="1404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Tdg = 293K</a:t>
            </a:r>
          </a:p>
        </p:txBody>
      </p:sp>
      <p:sp>
        <p:nvSpPr>
          <p:cNvPr id="21539" name="Text Box 35"/>
          <p:cNvSpPr txBox="1">
            <a:spLocks noChangeArrowheads="1"/>
          </p:cNvSpPr>
          <p:nvPr/>
        </p:nvSpPr>
        <p:spPr bwMode="auto">
          <a:xfrm>
            <a:off x="2700338" y="1844675"/>
            <a:ext cx="1476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Tdd = 273K</a:t>
            </a:r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6084888" y="908050"/>
            <a:ext cx="720725" cy="241141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1" name="Oval 37"/>
          <p:cNvSpPr>
            <a:spLocks noChangeArrowheads="1"/>
          </p:cNvSpPr>
          <p:nvPr/>
        </p:nvSpPr>
        <p:spPr bwMode="auto">
          <a:xfrm>
            <a:off x="5976938" y="550863"/>
            <a:ext cx="1296987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2" name="Oval 38"/>
          <p:cNvSpPr>
            <a:spLocks noChangeArrowheads="1"/>
          </p:cNvSpPr>
          <p:nvPr/>
        </p:nvSpPr>
        <p:spPr bwMode="auto">
          <a:xfrm>
            <a:off x="6084888" y="3178175"/>
            <a:ext cx="1296987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4572000" y="1844675"/>
            <a:ext cx="1476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Tdg = 293K</a:t>
            </a: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6804025" y="1722438"/>
            <a:ext cx="22685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hd = 10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ad</a:t>
            </a:r>
            <a:r>
              <a:rPr lang="fr-FR">
                <a:latin typeface="Arial" charset="0"/>
                <a:ea typeface="ＭＳ Ｐゴシック" charset="0"/>
              </a:rPr>
              <a:t>=273K</a:t>
            </a:r>
          </a:p>
        </p:txBody>
      </p:sp>
      <p:sp>
        <p:nvSpPr>
          <p:cNvPr id="21546" name="AutoShape 42"/>
          <p:cNvSpPr>
            <a:spLocks noChangeArrowheads="1"/>
          </p:cNvSpPr>
          <p:nvPr/>
        </p:nvSpPr>
        <p:spPr bwMode="auto">
          <a:xfrm>
            <a:off x="6838950" y="1377950"/>
            <a:ext cx="684213" cy="360363"/>
          </a:xfrm>
          <a:custGeom>
            <a:avLst/>
            <a:gdLst>
              <a:gd name="T0" fmla="*/ 513160 w 21600"/>
              <a:gd name="T1" fmla="*/ 0 h 21600"/>
              <a:gd name="T2" fmla="*/ 0 w 21600"/>
              <a:gd name="T3" fmla="*/ 180182 h 21600"/>
              <a:gd name="T4" fmla="*/ 513160 w 21600"/>
              <a:gd name="T5" fmla="*/ 360363 h 21600"/>
              <a:gd name="T6" fmla="*/ 68421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47" name="Line 43"/>
          <p:cNvSpPr>
            <a:spLocks noChangeShapeType="1"/>
          </p:cNvSpPr>
          <p:nvPr/>
        </p:nvSpPr>
        <p:spPr bwMode="auto">
          <a:xfrm>
            <a:off x="2592388" y="800100"/>
            <a:ext cx="0" cy="230505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8" name="Line 44"/>
          <p:cNvSpPr>
            <a:spLocks noChangeShapeType="1"/>
          </p:cNvSpPr>
          <p:nvPr/>
        </p:nvSpPr>
        <p:spPr bwMode="auto">
          <a:xfrm>
            <a:off x="1871663" y="800100"/>
            <a:ext cx="0" cy="23764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49" name="Line 45"/>
          <p:cNvSpPr>
            <a:spLocks noChangeShapeType="1"/>
          </p:cNvSpPr>
          <p:nvPr/>
        </p:nvSpPr>
        <p:spPr bwMode="auto">
          <a:xfrm>
            <a:off x="6083300" y="946150"/>
            <a:ext cx="0" cy="2447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0" name="Line 46"/>
          <p:cNvSpPr>
            <a:spLocks noChangeShapeType="1"/>
          </p:cNvSpPr>
          <p:nvPr/>
        </p:nvSpPr>
        <p:spPr bwMode="auto">
          <a:xfrm>
            <a:off x="1871663" y="350043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1" name="Line 47"/>
          <p:cNvSpPr>
            <a:spLocks noChangeShapeType="1"/>
          </p:cNvSpPr>
          <p:nvPr/>
        </p:nvSpPr>
        <p:spPr bwMode="auto">
          <a:xfrm>
            <a:off x="1871663" y="306863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2" name="Line 48"/>
          <p:cNvSpPr>
            <a:spLocks noChangeShapeType="1"/>
          </p:cNvSpPr>
          <p:nvPr/>
        </p:nvSpPr>
        <p:spPr bwMode="auto">
          <a:xfrm>
            <a:off x="2592388" y="306863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53" name="Text Box 49"/>
          <p:cNvSpPr txBox="1">
            <a:spLocks noChangeArrowheads="1"/>
          </p:cNvSpPr>
          <p:nvPr/>
        </p:nvSpPr>
        <p:spPr bwMode="auto">
          <a:xfrm>
            <a:off x="1944688" y="3211513"/>
            <a:ext cx="6175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20cm</a:t>
            </a:r>
          </a:p>
        </p:txBody>
      </p:sp>
      <p:sp>
        <p:nvSpPr>
          <p:cNvPr id="21554" name="Oval 50"/>
          <p:cNvSpPr>
            <a:spLocks noChangeArrowheads="1"/>
          </p:cNvSpPr>
          <p:nvPr/>
        </p:nvSpPr>
        <p:spPr bwMode="auto">
          <a:xfrm>
            <a:off x="1584325" y="441325"/>
            <a:ext cx="1296988" cy="5032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694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Explicite : exemple de simulations</a:t>
            </a:r>
          </a:p>
        </p:txBody>
      </p:sp>
      <p:sp>
        <p:nvSpPr>
          <p:cNvPr id="21556" name="Line 52"/>
          <p:cNvSpPr>
            <a:spLocks noChangeShapeType="1"/>
          </p:cNvSpPr>
          <p:nvPr/>
        </p:nvSpPr>
        <p:spPr bwMode="auto">
          <a:xfrm flipV="1">
            <a:off x="4356100" y="692150"/>
            <a:ext cx="0" cy="5940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pic>
        <p:nvPicPr>
          <p:cNvPr id="22552" name="Picture 54" descr="TdgT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2988"/>
            <a:ext cx="42116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3" name="Picture 55" descr="Tdg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3608388"/>
            <a:ext cx="42116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5644330-AB72-468E-A471-2CBE52E12AB4}" type="slidenum">
              <a:rPr lang="fr-FR" altLang="fr-FR" sz="1200"/>
              <a:pPr eaLnBrk="1" hangingPunct="1"/>
              <a:t>20</a:t>
            </a:fld>
            <a:r>
              <a:rPr lang="fr-FR" altLang="fr-FR" sz="1200" b="0"/>
              <a:t>/23</a:t>
            </a:r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58775" y="115888"/>
            <a:ext cx="7632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fr-FR" sz="2400" b="1">
                <a:solidFill>
                  <a:schemeClr val="tx2"/>
                </a:solidFill>
                <a:latin typeface="Arial" charset="0"/>
                <a:ea typeface="ＭＳ Ｐゴシック" charset="0"/>
              </a:rPr>
              <a:t>Programmation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79388" y="944563"/>
            <a:ext cx="87185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Soit le dispositif ci-dessous, constitué d</a:t>
            </a:r>
            <a:r>
              <a:rPr lang="ja-JP" altLang="fr-FR" sz="1800"/>
              <a:t>’</a:t>
            </a:r>
            <a:r>
              <a:rPr lang="fr-FR" altLang="ja-JP" sz="1800"/>
              <a:t>une dalle de béton de 20cm d</a:t>
            </a:r>
            <a:r>
              <a:rPr lang="ja-JP" altLang="fr-FR" sz="1800"/>
              <a:t>’</a:t>
            </a:r>
            <a:r>
              <a:rPr lang="fr-FR" altLang="ja-JP" sz="1800"/>
              <a:t>épaisseur et d</a:t>
            </a:r>
            <a:r>
              <a:rPr lang="ja-JP" altLang="fr-FR" sz="1800"/>
              <a:t>’</a:t>
            </a:r>
            <a:r>
              <a:rPr lang="fr-FR" altLang="ja-JP" sz="1800"/>
              <a:t>un système de chauffage. Calculer la distribution de température dans l</a:t>
            </a:r>
            <a:r>
              <a:rPr lang="ja-JP" altLang="fr-FR" sz="1800"/>
              <a:t>’</a:t>
            </a:r>
            <a:r>
              <a:rPr lang="fr-FR" altLang="ja-JP" sz="1800"/>
              <a:t>épaisseur de la dalle, sachant que le système chauffant délivre une densité de puissance de 4000W.m</a:t>
            </a:r>
            <a:r>
              <a:rPr lang="fr-FR" altLang="ja-JP" sz="1800" baseline="30000"/>
              <a:t>-3</a:t>
            </a:r>
            <a:r>
              <a:rPr lang="fr-FR" altLang="ja-JP" sz="1800"/>
              <a:t>. Quelle est la température atteinte sur la surface d</a:t>
            </a:r>
            <a:r>
              <a:rPr lang="ja-JP" altLang="fr-FR" sz="1800"/>
              <a:t>’</a:t>
            </a:r>
            <a:r>
              <a:rPr lang="fr-FR" altLang="ja-JP" sz="1800"/>
              <a:t>échange convectif au bout de 2 heures, sachant que la température initiale de la dalle est de 2°C.</a:t>
            </a:r>
            <a:endParaRPr lang="fr-FR" altLang="fr-FR" sz="1800" baseline="30000"/>
          </a:p>
        </p:txBody>
      </p:sp>
      <p:grpSp>
        <p:nvGrpSpPr>
          <p:cNvPr id="23557" name="Group 27"/>
          <p:cNvGrpSpPr>
            <a:grpSpLocks/>
          </p:cNvGrpSpPr>
          <p:nvPr/>
        </p:nvGrpSpPr>
        <p:grpSpPr bwMode="auto">
          <a:xfrm rot="-5400000">
            <a:off x="3148807" y="2367756"/>
            <a:ext cx="1333500" cy="4103687"/>
            <a:chOff x="3129" y="1253"/>
            <a:chExt cx="840" cy="2040"/>
          </a:xfrm>
        </p:grpSpPr>
        <p:sp>
          <p:nvSpPr>
            <p:cNvPr id="49157" name="Rectangle 5"/>
            <p:cNvSpPr>
              <a:spLocks noChangeArrowheads="1"/>
            </p:cNvSpPr>
            <p:nvPr/>
          </p:nvSpPr>
          <p:spPr bwMode="auto">
            <a:xfrm>
              <a:off x="3333" y="1527"/>
              <a:ext cx="454" cy="151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9158" name="Oval 6"/>
            <p:cNvSpPr>
              <a:spLocks noChangeArrowheads="1"/>
            </p:cNvSpPr>
            <p:nvPr/>
          </p:nvSpPr>
          <p:spPr bwMode="auto">
            <a:xfrm>
              <a:off x="3153" y="1253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49159" name="Oval 7"/>
            <p:cNvSpPr>
              <a:spLocks noChangeArrowheads="1"/>
            </p:cNvSpPr>
            <p:nvPr/>
          </p:nvSpPr>
          <p:spPr bwMode="auto">
            <a:xfrm>
              <a:off x="3130" y="2976"/>
              <a:ext cx="817" cy="31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166" name="Oval 14"/>
          <p:cNvSpPr>
            <a:spLocks noChangeArrowheads="1"/>
          </p:cNvSpPr>
          <p:nvPr/>
        </p:nvSpPr>
        <p:spPr bwMode="auto">
          <a:xfrm>
            <a:off x="6013450" y="5805488"/>
            <a:ext cx="1296988" cy="503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69" name="Text Box 17"/>
          <p:cNvSpPr txBox="1">
            <a:spLocks noChangeArrowheads="1"/>
          </p:cNvSpPr>
          <p:nvPr/>
        </p:nvSpPr>
        <p:spPr bwMode="auto">
          <a:xfrm>
            <a:off x="4248150" y="2997200"/>
            <a:ext cx="22685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 h = 15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amb</a:t>
            </a:r>
            <a:r>
              <a:rPr lang="fr-FR">
                <a:latin typeface="Arial" charset="0"/>
                <a:ea typeface="ＭＳ Ｐゴシック" charset="0"/>
              </a:rPr>
              <a:t>=294K</a:t>
            </a:r>
          </a:p>
        </p:txBody>
      </p:sp>
      <p:sp>
        <p:nvSpPr>
          <p:cNvPr id="49171" name="AutoShape 19"/>
          <p:cNvSpPr>
            <a:spLocks noChangeArrowheads="1"/>
          </p:cNvSpPr>
          <p:nvPr/>
        </p:nvSpPr>
        <p:spPr bwMode="auto">
          <a:xfrm rot="-5400000">
            <a:off x="3438525" y="3482975"/>
            <a:ext cx="684213" cy="360363"/>
          </a:xfrm>
          <a:custGeom>
            <a:avLst/>
            <a:gdLst>
              <a:gd name="T0" fmla="*/ 513160 w 21600"/>
              <a:gd name="T1" fmla="*/ 0 h 21600"/>
              <a:gd name="T2" fmla="*/ 0 w 21600"/>
              <a:gd name="T3" fmla="*/ 180182 h 21600"/>
              <a:gd name="T4" fmla="*/ 513160 w 21600"/>
              <a:gd name="T5" fmla="*/ 360363 h 21600"/>
              <a:gd name="T6" fmla="*/ 684213 w 21600"/>
              <a:gd name="T7" fmla="*/ 18018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6300788" y="4184650"/>
            <a:ext cx="6175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20cm</a:t>
            </a:r>
          </a:p>
        </p:txBody>
      </p:sp>
      <p:sp>
        <p:nvSpPr>
          <p:cNvPr id="49180" name="Rectangle 28"/>
          <p:cNvSpPr>
            <a:spLocks noChangeArrowheads="1"/>
          </p:cNvSpPr>
          <p:nvPr/>
        </p:nvSpPr>
        <p:spPr bwMode="auto">
          <a:xfrm>
            <a:off x="2411413" y="4184650"/>
            <a:ext cx="2844800" cy="180975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2" name="Line 30"/>
          <p:cNvSpPr>
            <a:spLocks noChangeShapeType="1"/>
          </p:cNvSpPr>
          <p:nvPr/>
        </p:nvSpPr>
        <p:spPr bwMode="auto">
          <a:xfrm>
            <a:off x="5256213" y="476091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5219700" y="4365625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5219700" y="418465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5" name="Line 33"/>
          <p:cNvSpPr>
            <a:spLocks noChangeShapeType="1"/>
          </p:cNvSpPr>
          <p:nvPr/>
        </p:nvSpPr>
        <p:spPr bwMode="auto">
          <a:xfrm>
            <a:off x="5256213" y="4041775"/>
            <a:ext cx="118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6335713" y="4041775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867400" y="41846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5364163" y="4365625"/>
            <a:ext cx="0" cy="395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5791200" y="4329113"/>
            <a:ext cx="6175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15cm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5286375" y="4384675"/>
            <a:ext cx="6175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>
                <a:latin typeface="Arial" charset="0"/>
                <a:ea typeface="ＭＳ Ｐゴシック" charset="0"/>
              </a:rPr>
              <a:t>10cm</a:t>
            </a:r>
          </a:p>
        </p:txBody>
      </p:sp>
      <p:sp>
        <p:nvSpPr>
          <p:cNvPr id="49191" name="Rectangle 39"/>
          <p:cNvSpPr>
            <a:spLocks noChangeArrowheads="1"/>
          </p:cNvSpPr>
          <p:nvPr/>
        </p:nvSpPr>
        <p:spPr bwMode="auto">
          <a:xfrm>
            <a:off x="2376488" y="4760913"/>
            <a:ext cx="2879725" cy="11525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2339975" y="5084763"/>
            <a:ext cx="3059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chemeClr val="bg1"/>
                </a:solidFill>
              </a:rPr>
              <a:t>Température du sol = 275K</a:t>
            </a:r>
          </a:p>
        </p:txBody>
      </p:sp>
      <p:sp>
        <p:nvSpPr>
          <p:cNvPr id="49197" name="Text Box 45"/>
          <p:cNvSpPr txBox="1">
            <a:spLocks noChangeArrowheads="1"/>
          </p:cNvSpPr>
          <p:nvPr/>
        </p:nvSpPr>
        <p:spPr bwMode="auto">
          <a:xfrm>
            <a:off x="179388" y="3824288"/>
            <a:ext cx="20859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-25000">
                <a:latin typeface="Arial" charset="0"/>
                <a:ea typeface="ＭＳ Ｐゴシック" charset="0"/>
              </a:rPr>
              <a:t>mur</a:t>
            </a:r>
            <a:r>
              <a:rPr lang="fr-FR">
                <a:latin typeface="Arial" charset="0"/>
                <a:ea typeface="ＭＳ Ｐゴシック" charset="0"/>
              </a:rPr>
              <a:t>=1.65 Wm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  <a:r>
              <a:rPr lang="fr-FR">
                <a:latin typeface="Arial" charset="0"/>
                <a:ea typeface="ＭＳ Ｐゴシック" charset="0"/>
              </a:rPr>
              <a:t>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Symbol" charset="0"/>
                <a:ea typeface="ＭＳ Ｐゴシック" charset="0"/>
              </a:rPr>
              <a:t>r</a:t>
            </a:r>
            <a:r>
              <a:rPr lang="fr-FR">
                <a:latin typeface="Arial" charset="0"/>
                <a:ea typeface="ＭＳ Ｐゴシック" charset="0"/>
              </a:rPr>
              <a:t>=2150 kg.m</a:t>
            </a:r>
            <a:r>
              <a:rPr lang="fr-FR" baseline="30000">
                <a:latin typeface="Arial" charset="0"/>
                <a:ea typeface="ＭＳ Ｐゴシック" charset="0"/>
              </a:rPr>
              <a:t>-3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C</a:t>
            </a:r>
            <a:r>
              <a:rPr lang="fr-FR" baseline="-25000">
                <a:latin typeface="Arial" charset="0"/>
                <a:ea typeface="ＭＳ Ｐゴシック" charset="0"/>
              </a:rPr>
              <a:t>p</a:t>
            </a:r>
            <a:r>
              <a:rPr lang="fr-FR">
                <a:latin typeface="Arial" charset="0"/>
                <a:ea typeface="ＭＳ Ｐゴシック" charset="0"/>
              </a:rPr>
              <a:t>=1000 J.kg</a:t>
            </a:r>
            <a:r>
              <a:rPr lang="fr-FR" baseline="30000">
                <a:latin typeface="Arial" charset="0"/>
                <a:ea typeface="ＭＳ Ｐゴシック" charset="0"/>
              </a:rPr>
              <a:t> -1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04A2035-62A4-442E-ABB5-E25897AB3350}" type="slidenum">
              <a:rPr lang="fr-FR" altLang="fr-FR" sz="1200"/>
              <a:pPr eaLnBrk="1" hangingPunct="1"/>
              <a:t>21</a:t>
            </a:fld>
            <a:r>
              <a:rPr lang="fr-FR" altLang="fr-FR" sz="1200" b="0"/>
              <a:t>/23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31775" y="280988"/>
            <a:ext cx="421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Introduction d</a:t>
            </a:r>
            <a:r>
              <a:rPr lang="ja-JP" altLang="fr-FR" sz="1800" b="1"/>
              <a:t>’</a:t>
            </a:r>
            <a:r>
              <a:rPr lang="fr-FR" altLang="ja-JP" sz="1800" b="1"/>
              <a:t>une source de chaleur</a:t>
            </a:r>
            <a:endParaRPr lang="fr-FR" altLang="fr-FR" sz="1800"/>
          </a:p>
        </p:txBody>
      </p:sp>
      <p:grpSp>
        <p:nvGrpSpPr>
          <p:cNvPr id="24579" name="Group 22"/>
          <p:cNvGrpSpPr>
            <a:grpSpLocks/>
          </p:cNvGrpSpPr>
          <p:nvPr/>
        </p:nvGrpSpPr>
        <p:grpSpPr bwMode="auto">
          <a:xfrm rot="5400000">
            <a:off x="-504825" y="1663700"/>
            <a:ext cx="4103688" cy="2592388"/>
            <a:chOff x="0" y="2410"/>
            <a:chExt cx="2585" cy="1633"/>
          </a:xfrm>
        </p:grpSpPr>
        <p:grpSp>
          <p:nvGrpSpPr>
            <p:cNvPr id="24585" name="Group 18"/>
            <p:cNvGrpSpPr>
              <a:grpSpLocks/>
            </p:cNvGrpSpPr>
            <p:nvPr/>
          </p:nvGrpSpPr>
          <p:grpSpPr bwMode="auto">
            <a:xfrm rot="-5400000">
              <a:off x="873" y="1809"/>
              <a:ext cx="840" cy="2585"/>
              <a:chOff x="3129" y="1253"/>
              <a:chExt cx="840" cy="2040"/>
            </a:xfrm>
          </p:grpSpPr>
          <p:sp>
            <p:nvSpPr>
              <p:cNvPr id="24595" name="Rectangle 19"/>
              <p:cNvSpPr>
                <a:spLocks noChangeArrowheads="1"/>
              </p:cNvSpPr>
              <p:nvPr/>
            </p:nvSpPr>
            <p:spPr bwMode="auto">
              <a:xfrm>
                <a:off x="3334" y="1526"/>
                <a:ext cx="454" cy="1519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96" name="Oval 20"/>
              <p:cNvSpPr>
                <a:spLocks noChangeArrowheads="1"/>
              </p:cNvSpPr>
              <p:nvPr/>
            </p:nvSpPr>
            <p:spPr bwMode="auto">
              <a:xfrm>
                <a:off x="3153" y="1253"/>
                <a:ext cx="817" cy="31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97" name="Oval 21"/>
              <p:cNvSpPr>
                <a:spLocks noChangeArrowheads="1"/>
              </p:cNvSpPr>
              <p:nvPr/>
            </p:nvSpPr>
            <p:spPr bwMode="auto">
              <a:xfrm>
                <a:off x="3130" y="2975"/>
                <a:ext cx="817" cy="31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4587" name="AutoShape 11"/>
            <p:cNvSpPr>
              <a:spLocks noChangeArrowheads="1"/>
            </p:cNvSpPr>
            <p:nvPr/>
          </p:nvSpPr>
          <p:spPr bwMode="auto">
            <a:xfrm rot="-5400000">
              <a:off x="1055" y="2512"/>
              <a:ext cx="431" cy="227"/>
            </a:xfrm>
            <a:custGeom>
              <a:avLst/>
              <a:gdLst>
                <a:gd name="T0" fmla="*/ 323 w 21600"/>
                <a:gd name="T1" fmla="*/ 0 h 21600"/>
                <a:gd name="T2" fmla="*/ 0 w 21600"/>
                <a:gd name="T3" fmla="*/ 114 h 21600"/>
                <a:gd name="T4" fmla="*/ 323 w 21600"/>
                <a:gd name="T5" fmla="*/ 227 h 21600"/>
                <a:gd name="T6" fmla="*/ 431 w 21600"/>
                <a:gd name="T7" fmla="*/ 114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8 w 21600"/>
                <a:gd name="T13" fmla="*/ 5424 h 21600"/>
                <a:gd name="T14" fmla="*/ 18894 w 21600"/>
                <a:gd name="T15" fmla="*/ 161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408" y="2953"/>
              <a:ext cx="1792" cy="114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386" y="3316"/>
              <a:ext cx="1814" cy="726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2458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4833938"/>
            <a:ext cx="2522537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142875" y="2312988"/>
            <a:ext cx="151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Arial" charset="0"/>
                <a:ea typeface="ＭＳ Ｐゴシック" charset="0"/>
              </a:rPr>
              <a:t>Tdg = 275K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2124075" y="1808163"/>
            <a:ext cx="226853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Echange convectif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h</a:t>
            </a:r>
            <a:r>
              <a:rPr lang="fr-FR" baseline="-25000">
                <a:latin typeface="Arial" charset="0"/>
                <a:ea typeface="ＭＳ Ｐゴシック" charset="0"/>
              </a:rPr>
              <a:t>d</a:t>
            </a:r>
            <a:r>
              <a:rPr lang="fr-FR">
                <a:latin typeface="Arial" charset="0"/>
                <a:ea typeface="ＭＳ Ｐゴシック" charset="0"/>
              </a:rPr>
              <a:t> = 15 W.m</a:t>
            </a:r>
            <a:r>
              <a:rPr lang="fr-FR" baseline="30000">
                <a:latin typeface="Arial" charset="0"/>
                <a:ea typeface="ＭＳ Ｐゴシック" charset="0"/>
              </a:rPr>
              <a:t>-2</a:t>
            </a:r>
            <a:r>
              <a:rPr lang="fr-FR">
                <a:latin typeface="Arial" charset="0"/>
                <a:ea typeface="ＭＳ Ｐゴシック" charset="0"/>
              </a:rPr>
              <a:t>.K</a:t>
            </a:r>
            <a:r>
              <a:rPr lang="fr-FR" baseline="30000">
                <a:latin typeface="Arial" charset="0"/>
                <a:ea typeface="ＭＳ Ｐゴシック" charset="0"/>
              </a:rPr>
              <a:t>-1</a:t>
            </a:r>
          </a:p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T</a:t>
            </a:r>
            <a:r>
              <a:rPr lang="fr-FR" baseline="-25000">
                <a:latin typeface="Arial" charset="0"/>
                <a:ea typeface="ＭＳ Ｐゴシック" charset="0"/>
              </a:rPr>
              <a:t>ag</a:t>
            </a:r>
            <a:r>
              <a:rPr lang="fr-FR">
                <a:latin typeface="Arial" charset="0"/>
                <a:ea typeface="ＭＳ Ｐゴシック" charset="0"/>
              </a:rPr>
              <a:t>=294K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50825" y="836613"/>
            <a:ext cx="495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Source située dans la dalle de x=0.1m à 0.15m</a:t>
            </a:r>
          </a:p>
        </p:txBody>
      </p:sp>
      <p:pic>
        <p:nvPicPr>
          <p:cNvPr id="24584" name="Picture 26" descr="TdgNd_chauff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492375"/>
            <a:ext cx="5256213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13074C3-DA77-4985-966A-09E707140713}" type="slidenum">
              <a:rPr lang="fr-FR" altLang="fr-FR" sz="1200"/>
              <a:pPr eaLnBrk="1" hangingPunct="1"/>
              <a:t>22</a:t>
            </a:fld>
            <a:r>
              <a:rPr lang="fr-FR" altLang="fr-FR" sz="1200" b="0"/>
              <a:t>/23</a:t>
            </a: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395288" y="188913"/>
            <a:ext cx="330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Stabilité du schéma explicite</a:t>
            </a: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411163" y="952500"/>
            <a:ext cx="713105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Sur l</a:t>
            </a:r>
            <a:r>
              <a:rPr lang="ja-JP" altLang="fr-FR" sz="1800"/>
              <a:t>’</a:t>
            </a:r>
            <a:r>
              <a:rPr lang="fr-FR" altLang="ja-JP" sz="1800"/>
              <a:t>exemple précédent nous avions par défaut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x=5mm et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t=10s :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altLang="fr-FR" sz="1800"/>
              <a:t>	On garde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x=5mm et on impose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t=20s, que se passe t-il ?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altLang="fr-FR" sz="1800"/>
              <a:t>	On garde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t=10s et on impose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x=3mm, que se passe t-il ?</a:t>
            </a: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2268538" y="6015038"/>
            <a:ext cx="4857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Instabilité numérique du schéma explicite !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647700" y="2168525"/>
            <a:ext cx="336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x=5mm</a:t>
            </a:r>
            <a:r>
              <a:rPr lang="fr-FR" altLang="fr-FR" sz="1800">
                <a:sym typeface="Wingdings 3" panose="05040102010807070707" pitchFamily="18" charset="2"/>
              </a:rPr>
              <a:t> &amp;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t=20s</a:t>
            </a:r>
            <a:r>
              <a:rPr lang="fr-FR" altLang="fr-FR" sz="1800">
                <a:sym typeface="Wingdings 3" panose="05040102010807070707" pitchFamily="18" charset="2"/>
              </a:rPr>
              <a:t> </a:t>
            </a:r>
            <a:r>
              <a:rPr lang="fr-FR" altLang="fr-FR" sz="1800">
                <a:sym typeface="Symbol" panose="05050102010706020507" pitchFamily="18" charset="2"/>
              </a:rPr>
              <a:t> </a:t>
            </a:r>
            <a:r>
              <a:rPr lang="fr-FR" altLang="fr-FR" sz="1800">
                <a:sym typeface="Wingdings" panose="05000000000000000000" pitchFamily="2" charset="2"/>
              </a:rPr>
              <a:t>instabilité</a:t>
            </a:r>
          </a:p>
        </p:txBody>
      </p:sp>
      <p:sp>
        <p:nvSpPr>
          <p:cNvPr id="50191" name="Text Box 15"/>
          <p:cNvSpPr txBox="1">
            <a:spLocks noChangeArrowheads="1"/>
          </p:cNvSpPr>
          <p:nvPr/>
        </p:nvSpPr>
        <p:spPr bwMode="auto">
          <a:xfrm>
            <a:off x="4967288" y="2165350"/>
            <a:ext cx="336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x=3mm</a:t>
            </a:r>
            <a:r>
              <a:rPr lang="fr-FR" altLang="fr-FR" sz="1800">
                <a:sym typeface="Wingdings 3" panose="05040102010807070707" pitchFamily="18" charset="2"/>
              </a:rPr>
              <a:t> &amp;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t=10s</a:t>
            </a:r>
            <a:r>
              <a:rPr lang="fr-FR" altLang="fr-FR" sz="1800">
                <a:sym typeface="Wingdings 3" panose="05040102010807070707" pitchFamily="18" charset="2"/>
              </a:rPr>
              <a:t> </a:t>
            </a:r>
            <a:r>
              <a:rPr lang="fr-FR" altLang="fr-FR" sz="1800">
                <a:sym typeface="Symbol" panose="05050102010706020507" pitchFamily="18" charset="2"/>
              </a:rPr>
              <a:t></a:t>
            </a:r>
            <a:r>
              <a:rPr lang="fr-FR" altLang="fr-FR" sz="1800">
                <a:sym typeface="Wingdings" panose="05000000000000000000" pitchFamily="2" charset="2"/>
              </a:rPr>
              <a:t> instabilité</a:t>
            </a:r>
          </a:p>
        </p:txBody>
      </p:sp>
      <p:pic>
        <p:nvPicPr>
          <p:cNvPr id="25608" name="Picture 17" descr="TdgNd_chauffage_instable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2636838"/>
            <a:ext cx="446405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9" name="Picture 18" descr="TdgNd_chauffage_instable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636838"/>
            <a:ext cx="446405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49B83A9-F7B6-4A9F-AC4B-6A045FA6BF5A}" type="slidenum">
              <a:rPr lang="fr-FR" altLang="fr-FR" sz="1200"/>
              <a:pPr eaLnBrk="1" hangingPunct="1"/>
              <a:t>23</a:t>
            </a:fld>
            <a:r>
              <a:rPr lang="fr-FR" altLang="fr-FR" sz="1200" b="0"/>
              <a:t>/23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6850" y="188913"/>
            <a:ext cx="3448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A50021"/>
                </a:solidFill>
              </a:rPr>
              <a:t>Stabilité du schéma explicite :</a:t>
            </a:r>
          </a:p>
        </p:txBody>
      </p:sp>
      <p:graphicFrame>
        <p:nvGraphicFramePr>
          <p:cNvPr id="26627" name="Object 5"/>
          <p:cNvGraphicFramePr>
            <a:graphicFrameLocks noChangeAspect="1"/>
          </p:cNvGraphicFramePr>
          <p:nvPr/>
        </p:nvGraphicFramePr>
        <p:xfrm>
          <a:off x="3600450" y="44450"/>
          <a:ext cx="5099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name="Equation" r:id="rId3" imgW="3149600" imgH="444500" progId="Equation.3">
                  <p:embed/>
                </p:oleObj>
              </mc:Choice>
              <mc:Fallback>
                <p:oleObj name="Equation" r:id="rId3" imgW="31496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44450"/>
                        <a:ext cx="50990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79388" y="1089025"/>
            <a:ext cx="649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Propagation d</a:t>
            </a:r>
            <a:r>
              <a:rPr lang="ja-JP" altLang="fr-FR" sz="1800"/>
              <a:t>’</a:t>
            </a:r>
            <a:r>
              <a:rPr lang="fr-FR" altLang="ja-JP" sz="1800"/>
              <a:t>une erreur numérique dans l</a:t>
            </a:r>
            <a:r>
              <a:rPr lang="ja-JP" altLang="fr-FR" sz="1800"/>
              <a:t>’</a:t>
            </a:r>
            <a:r>
              <a:rPr lang="fr-FR" altLang="ja-JP" sz="1800"/>
              <a:t>espace et le temps</a:t>
            </a:r>
            <a:endParaRPr lang="fr-FR" altLang="fr-FR" sz="1800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6630" name="Object 7"/>
          <p:cNvGraphicFramePr>
            <a:graphicFrameLocks noChangeAspect="1"/>
          </p:cNvGraphicFramePr>
          <p:nvPr/>
        </p:nvGraphicFramePr>
        <p:xfrm>
          <a:off x="6607175" y="2709863"/>
          <a:ext cx="2338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name="Equation" r:id="rId5" imgW="1574800" imgH="342900" progId="Equation.3">
                  <p:embed/>
                </p:oleObj>
              </mc:Choice>
              <mc:Fallback>
                <p:oleObj name="Equation" r:id="rId5" imgW="15748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2709863"/>
                        <a:ext cx="23383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3624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6632" name="Object 10"/>
          <p:cNvGraphicFramePr>
            <a:graphicFrameLocks noChangeAspect="1"/>
          </p:cNvGraphicFramePr>
          <p:nvPr/>
        </p:nvGraphicFramePr>
        <p:xfrm>
          <a:off x="6769100" y="1074738"/>
          <a:ext cx="154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Equation" r:id="rId7" imgW="952087" imgH="253890" progId="Equation.3">
                  <p:embed/>
                </p:oleObj>
              </mc:Choice>
              <mc:Fallback>
                <p:oleObj name="Equation" r:id="rId7" imgW="952087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074738"/>
                        <a:ext cx="154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11"/>
          <p:cNvGraphicFramePr>
            <a:graphicFrameLocks noChangeAspect="1"/>
          </p:cNvGraphicFramePr>
          <p:nvPr/>
        </p:nvGraphicFramePr>
        <p:xfrm>
          <a:off x="3960813" y="1703388"/>
          <a:ext cx="4708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0" name="Equation" r:id="rId9" imgW="2908300" imgH="444500" progId="Equation.3">
                  <p:embed/>
                </p:oleObj>
              </mc:Choice>
              <mc:Fallback>
                <p:oleObj name="Equation" r:id="rId9" imgW="29083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703388"/>
                        <a:ext cx="47085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68288" y="1719263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Variation de l</a:t>
            </a:r>
            <a:r>
              <a:rPr lang="ja-JP" altLang="fr-FR" sz="1800"/>
              <a:t>’</a:t>
            </a:r>
            <a:r>
              <a:rPr lang="fr-FR" altLang="ja-JP" sz="1800"/>
              <a:t>équation discrétisée</a:t>
            </a:r>
          </a:p>
          <a:p>
            <a:pPr eaLnBrk="1" hangingPunct="1"/>
            <a:r>
              <a:rPr lang="fr-FR" altLang="fr-FR" sz="1800"/>
              <a:t>avec </a:t>
            </a:r>
            <a:r>
              <a:rPr lang="fr-FR" altLang="fr-FR" sz="1800">
                <a:latin typeface="Symbol" panose="05050102010706020507" pitchFamily="18" charset="2"/>
              </a:rPr>
              <a:t>d</a:t>
            </a:r>
            <a:r>
              <a:rPr lang="fr-FR" altLang="fr-FR" sz="1800"/>
              <a:t>Q=0 car imposée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268288" y="2705100"/>
            <a:ext cx="6343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fr-FR" sz="1800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6637" name="Object 14"/>
          <p:cNvGraphicFramePr>
            <a:graphicFrameLocks noChangeAspect="1"/>
          </p:cNvGraphicFramePr>
          <p:nvPr/>
        </p:nvGraphicFramePr>
        <p:xfrm>
          <a:off x="539750" y="3429000"/>
          <a:ext cx="46085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Equation" r:id="rId11" imgW="2908300" imgH="736600" progId="Equation.3">
                  <p:embed/>
                </p:oleObj>
              </mc:Choice>
              <mc:Fallback>
                <p:oleObj name="Equation" r:id="rId11" imgW="2908300" imgH="736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429000"/>
                        <a:ext cx="4608513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0" y="3671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26639" name="Group 19"/>
          <p:cNvGrpSpPr>
            <a:grpSpLocks/>
          </p:cNvGrpSpPr>
          <p:nvPr/>
        </p:nvGrpSpPr>
        <p:grpSpPr bwMode="auto">
          <a:xfrm>
            <a:off x="468313" y="4941888"/>
            <a:ext cx="4210050" cy="374650"/>
            <a:chOff x="249" y="2382"/>
            <a:chExt cx="2652" cy="236"/>
          </a:xfrm>
        </p:grpSpPr>
        <p:sp>
          <p:nvSpPr>
            <p:cNvPr id="19473" name="Text Box 17"/>
            <p:cNvSpPr txBox="1">
              <a:spLocks noChangeArrowheads="1"/>
            </p:cNvSpPr>
            <p:nvPr/>
          </p:nvSpPr>
          <p:spPr bwMode="auto">
            <a:xfrm>
              <a:off x="249" y="2387"/>
              <a:ext cx="17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Le schéma reste stable si</a:t>
              </a:r>
            </a:p>
          </p:txBody>
        </p:sp>
        <p:graphicFrame>
          <p:nvGraphicFramePr>
            <p:cNvPr id="26646" name="Object 18"/>
            <p:cNvGraphicFramePr>
              <a:graphicFrameLocks noChangeAspect="1"/>
            </p:cNvGraphicFramePr>
            <p:nvPr/>
          </p:nvGraphicFramePr>
          <p:xfrm>
            <a:off x="2040" y="2382"/>
            <a:ext cx="86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2" name="Equation" r:id="rId13" imgW="926698" imgH="253890" progId="Equation.3">
                    <p:embed/>
                  </p:oleObj>
                </mc:Choice>
                <mc:Fallback>
                  <p:oleObj name="Equation" r:id="rId13" imgW="926698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382"/>
                          <a:ext cx="861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476" name="Picture 20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6" t="5397" r="17648" b="15396"/>
          <a:stretch>
            <a:fillRect/>
          </a:stretch>
        </p:blipFill>
        <p:spPr bwMode="auto">
          <a:xfrm>
            <a:off x="5364163" y="3573463"/>
            <a:ext cx="2533650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26641" name="Object 21"/>
          <p:cNvGraphicFramePr>
            <a:graphicFrameLocks noChangeAspect="1"/>
          </p:cNvGraphicFramePr>
          <p:nvPr/>
        </p:nvGraphicFramePr>
        <p:xfrm>
          <a:off x="2268538" y="5589588"/>
          <a:ext cx="11668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name="Equation" r:id="rId16" imgW="736600" imgH="457200" progId="Equation.DSMT4">
                  <p:embed/>
                </p:oleObj>
              </mc:Choice>
              <mc:Fallback>
                <p:oleObj name="Equation" r:id="rId16" imgW="7366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589588"/>
                        <a:ext cx="1166812" cy="730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2" name="Object 22"/>
          <p:cNvGraphicFramePr>
            <a:graphicFrameLocks noChangeAspect="1"/>
          </p:cNvGraphicFramePr>
          <p:nvPr/>
        </p:nvGraphicFramePr>
        <p:xfrm>
          <a:off x="7667625" y="3716338"/>
          <a:ext cx="1287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4" name="Equation" r:id="rId18" imgW="812447" imgH="444307" progId="Equation.3">
                  <p:embed/>
                </p:oleObj>
              </mc:Choice>
              <mc:Fallback>
                <p:oleObj name="Equation" r:id="rId18" imgW="812447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3716338"/>
                        <a:ext cx="1287463" cy="708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7524750" y="4437063"/>
            <a:ext cx="142875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7812088" y="4652963"/>
            <a:ext cx="117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Limite de </a:t>
            </a:r>
          </a:p>
          <a:p>
            <a:pPr eaLnBrk="1" hangingPunct="1"/>
            <a:r>
              <a:rPr lang="fr-FR" altLang="fr-FR" sz="1800"/>
              <a:t>stabilité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1880</Words>
  <Application>Microsoft Office PowerPoint</Application>
  <PresentationFormat>Affichage à l'écran (4:3)</PresentationFormat>
  <Paragraphs>364</Paragraphs>
  <Slides>23</Slides>
  <Notes>0</Notes>
  <HiddenSlides>1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ＭＳ Ｐゴシック</vt:lpstr>
      <vt:lpstr>ＭＳ Ｐゴシック</vt:lpstr>
      <vt:lpstr>Arial</vt:lpstr>
      <vt:lpstr>Comic Sans MS</vt:lpstr>
      <vt:lpstr>Courier New</vt:lpstr>
      <vt:lpstr>Euclid Symbol</vt:lpstr>
      <vt:lpstr>Symbol</vt:lpstr>
      <vt:lpstr>Wingdings</vt:lpstr>
      <vt:lpstr>Wingdings 3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toussain</dc:creator>
  <cp:lastModifiedBy>jean-christophe toussaint</cp:lastModifiedBy>
  <cp:revision>317</cp:revision>
  <dcterms:created xsi:type="dcterms:W3CDTF">2004-10-09T08:23:16Z</dcterms:created>
  <dcterms:modified xsi:type="dcterms:W3CDTF">2020-10-09T10:59:40Z</dcterms:modified>
</cp:coreProperties>
</file>