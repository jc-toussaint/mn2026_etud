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8" r:id="rId3"/>
    <p:sldId id="257" r:id="rId4"/>
    <p:sldId id="258" r:id="rId5"/>
  </p:sldIdLst>
  <p:sldSz cx="9144000" cy="6858000" type="screen4x3"/>
  <p:notesSz cx="7099300" cy="10234613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37033A-DBC6-4B81-8E0E-E2DD62CAB696}" type="datetimeFigureOut">
              <a:rPr lang="fr-FR" altLang="fr-FR"/>
              <a:pPr/>
              <a:t>07/07/2019</a:t>
            </a:fld>
            <a:endParaRPr lang="fr-FR" alt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A5799CD-BEEF-4FF1-B93F-1EA972230AAF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D7CDEB-E619-4E79-895C-23B5D526A81E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69944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0B3CFC-CEC4-485C-89E4-515901FD4F1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6900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D94817-BBE4-4F02-9E11-6C7CE1D34ED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4408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7BF446-4A1E-4E5E-86C8-0F823F378AD7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1249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A2027-E967-4B7D-B6E3-939E025344A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6916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4C6286-9D17-4A32-A4F6-6E8997D6457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030870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0F5C01-8AA2-4B72-BE9A-3DC621DF5DE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1312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07FDD9-4CA3-4C2A-B43A-D4001F719F1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0354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9AF764-ACF6-45DE-80A5-796834DF3A2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0584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B8F03D-CD33-40FF-9797-463E438DB90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5612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361E53-1BE2-48D9-A7DF-ABEB4A97E81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50362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1A6EB1-9905-4CA5-850E-E5C28742AF22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2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8.wmf"/><Relationship Id="rId9" Type="http://schemas.openxmlformats.org/officeDocument/2006/relationships/image" Target="../media/image14.emf"/><Relationship Id="rId14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-1714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Distribution de température dans une ailette de radiateur</a:t>
            </a:r>
          </a:p>
        </p:txBody>
      </p:sp>
      <p:sp>
        <p:nvSpPr>
          <p:cNvPr id="14338" name="Text Box 7"/>
          <p:cNvSpPr txBox="1">
            <a:spLocks noChangeArrowheads="1"/>
          </p:cNvSpPr>
          <p:nvPr/>
        </p:nvSpPr>
        <p:spPr bwMode="auto">
          <a:xfrm>
            <a:off x="827088" y="1406525"/>
            <a:ext cx="151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T(x=0)=320K</a:t>
            </a:r>
          </a:p>
        </p:txBody>
      </p:sp>
      <p:sp>
        <p:nvSpPr>
          <p:cNvPr id="14339" name="Text Box 8"/>
          <p:cNvSpPr txBox="1">
            <a:spLocks noChangeArrowheads="1"/>
          </p:cNvSpPr>
          <p:nvPr/>
        </p:nvSpPr>
        <p:spPr bwMode="auto">
          <a:xfrm>
            <a:off x="3763963" y="981075"/>
            <a:ext cx="1074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</a:t>
            </a:r>
            <a:r>
              <a:rPr lang="fr-FR" altLang="fr-FR" sz="1800" baseline="-25000"/>
              <a:t>a</a:t>
            </a:r>
            <a:r>
              <a:rPr lang="fr-FR" altLang="fr-FR" sz="1800"/>
              <a:t>=300K</a:t>
            </a:r>
          </a:p>
        </p:txBody>
      </p:sp>
      <p:sp>
        <p:nvSpPr>
          <p:cNvPr id="14340" name="Text Box 9"/>
          <p:cNvSpPr txBox="1">
            <a:spLocks noChangeArrowheads="1"/>
          </p:cNvSpPr>
          <p:nvPr/>
        </p:nvSpPr>
        <p:spPr bwMode="auto">
          <a:xfrm>
            <a:off x="755650" y="5084763"/>
            <a:ext cx="76644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Simplification</a:t>
            </a:r>
            <a:r>
              <a:rPr lang="fr-FR" altLang="fr-FR" sz="1800"/>
              <a:t> : système 3D sera traité dans une approche 1D </a:t>
            </a:r>
            <a:r>
              <a:rPr lang="fr-FR" altLang="fr-FR" sz="1800">
                <a:sym typeface="Symbol" panose="05050102010706020507" pitchFamily="18" charset="2"/>
              </a:rPr>
              <a:t>selon Ox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  distribution de température selon Oy et Oz invariante selon Oy et Oz !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Vraie si les flux de chaleur à travers les petites surfaces sont négligeables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En toute rigueur, il faut que e &lt;&lt; L &lt;&lt; d</a:t>
            </a:r>
          </a:p>
        </p:txBody>
      </p:sp>
      <p:sp>
        <p:nvSpPr>
          <p:cNvPr id="14341" name="Text Box 10"/>
          <p:cNvSpPr txBox="1">
            <a:spLocks noChangeArrowheads="1"/>
          </p:cNvSpPr>
          <p:nvPr/>
        </p:nvSpPr>
        <p:spPr bwMode="auto">
          <a:xfrm>
            <a:off x="735013" y="3284538"/>
            <a:ext cx="75247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b="1"/>
              <a:t>Description du système</a:t>
            </a:r>
            <a:r>
              <a:rPr lang="fr-FR" altLang="fr-FR" sz="1800"/>
              <a:t> : une des ailettes d</a:t>
            </a:r>
            <a:r>
              <a:rPr lang="ja-JP" altLang="fr-FR" sz="1800"/>
              <a:t>’</a:t>
            </a:r>
            <a:r>
              <a:rPr lang="fr-FR" altLang="ja-JP" sz="1800"/>
              <a:t>un radiateur de processeur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fabriqué en aluminium caractérisé par un conductivité thermique k</a:t>
            </a:r>
            <a:r>
              <a:rPr lang="fr-FR" altLang="fr-FR" sz="1800" baseline="-25000"/>
              <a:t>th</a:t>
            </a:r>
            <a:r>
              <a:rPr lang="fr-FR" altLang="fr-FR" sz="1800"/>
              <a:t>, une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masse volumique </a:t>
            </a:r>
            <a:r>
              <a:rPr lang="fr-FR" altLang="fr-FR" sz="1800">
                <a:sym typeface="Symbol" panose="05050102010706020507" pitchFamily="18" charset="2"/>
              </a:rPr>
              <a:t></a:t>
            </a:r>
            <a:r>
              <a:rPr lang="fr-FR" altLang="fr-FR" sz="1800"/>
              <a:t> et une capacité calorifique C.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Le système échange de la chaleur avec l</a:t>
            </a:r>
            <a:r>
              <a:rPr lang="ja-JP" altLang="fr-FR" sz="1800"/>
              <a:t>’</a:t>
            </a:r>
            <a:r>
              <a:rPr lang="fr-FR" altLang="ja-JP" sz="1800"/>
              <a:t>air par convection (h, T</a:t>
            </a:r>
            <a:r>
              <a:rPr lang="fr-FR" altLang="ja-JP" sz="1800" baseline="-25000"/>
              <a:t>a</a:t>
            </a:r>
            <a:r>
              <a:rPr lang="fr-FR" altLang="ja-JP" sz="1800"/>
              <a:t>) </a:t>
            </a:r>
            <a:endParaRPr lang="fr-FR" altLang="fr-FR" sz="1800"/>
          </a:p>
        </p:txBody>
      </p:sp>
      <p:pic>
        <p:nvPicPr>
          <p:cNvPr id="14342" name="Picture 11" descr="ailett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74" t="44102" r="42722" b="43744"/>
          <a:stretch>
            <a:fillRect/>
          </a:stretch>
        </p:blipFill>
        <p:spPr bwMode="auto">
          <a:xfrm>
            <a:off x="1408113" y="1125538"/>
            <a:ext cx="5545137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43" name="Group 21"/>
          <p:cNvGrpSpPr>
            <a:grpSpLocks/>
          </p:cNvGrpSpPr>
          <p:nvPr/>
        </p:nvGrpSpPr>
        <p:grpSpPr bwMode="auto">
          <a:xfrm>
            <a:off x="7308850" y="1289050"/>
            <a:ext cx="1162050" cy="1374775"/>
            <a:chOff x="4604" y="812"/>
            <a:chExt cx="732" cy="866"/>
          </a:xfrm>
        </p:grpSpPr>
        <p:sp>
          <p:nvSpPr>
            <p:cNvPr id="14345" name="Line 13"/>
            <p:cNvSpPr>
              <a:spLocks noChangeShapeType="1"/>
            </p:cNvSpPr>
            <p:nvPr/>
          </p:nvSpPr>
          <p:spPr bwMode="auto">
            <a:xfrm>
              <a:off x="4616" y="1525"/>
              <a:ext cx="5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46" name="Line 14"/>
            <p:cNvSpPr>
              <a:spLocks noChangeShapeType="1"/>
            </p:cNvSpPr>
            <p:nvPr/>
          </p:nvSpPr>
          <p:spPr bwMode="auto">
            <a:xfrm flipV="1">
              <a:off x="4616" y="1026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47" name="Line 15"/>
            <p:cNvSpPr>
              <a:spLocks noChangeShapeType="1"/>
            </p:cNvSpPr>
            <p:nvPr/>
          </p:nvSpPr>
          <p:spPr bwMode="auto">
            <a:xfrm flipV="1">
              <a:off x="4610" y="1303"/>
              <a:ext cx="411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348" name="Text Box 16"/>
            <p:cNvSpPr txBox="1">
              <a:spLocks noChangeArrowheads="1"/>
            </p:cNvSpPr>
            <p:nvPr/>
          </p:nvSpPr>
          <p:spPr bwMode="auto">
            <a:xfrm>
              <a:off x="5148" y="144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x</a:t>
              </a:r>
            </a:p>
          </p:txBody>
        </p:sp>
        <p:sp>
          <p:nvSpPr>
            <p:cNvPr id="14349" name="Text Box 17"/>
            <p:cNvSpPr txBox="1">
              <a:spLocks noChangeArrowheads="1"/>
            </p:cNvSpPr>
            <p:nvPr/>
          </p:nvSpPr>
          <p:spPr bwMode="auto">
            <a:xfrm>
              <a:off x="4604" y="812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y</a:t>
              </a:r>
            </a:p>
          </p:txBody>
        </p:sp>
        <p:sp>
          <p:nvSpPr>
            <p:cNvPr id="14350" name="Text Box 18"/>
            <p:cNvSpPr txBox="1">
              <a:spLocks noChangeArrowheads="1"/>
            </p:cNvSpPr>
            <p:nvPr/>
          </p:nvSpPr>
          <p:spPr bwMode="auto">
            <a:xfrm>
              <a:off x="4967" y="1084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z</a:t>
              </a:r>
            </a:p>
          </p:txBody>
        </p:sp>
      </p:grpSp>
      <p:sp>
        <p:nvSpPr>
          <p:cNvPr id="14344" name="Espace réservé du numéro de diapositive 1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1F7909D-54AD-4EAC-9E9B-AE09606FDAC3}" type="slidenum">
              <a:rPr lang="fr-FR" altLang="fr-FR" sz="1400"/>
              <a:pPr eaLnBrk="1" hangingPunct="1"/>
              <a:t>1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4"/>
          <p:cNvSpPr>
            <a:spLocks noChangeArrowheads="1"/>
          </p:cNvSpPr>
          <p:nvPr/>
        </p:nvSpPr>
        <p:spPr bwMode="auto">
          <a:xfrm>
            <a:off x="457200" y="-1714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Modèle simplifié</a:t>
            </a:r>
          </a:p>
        </p:txBody>
      </p:sp>
      <p:sp>
        <p:nvSpPr>
          <p:cNvPr id="15362" name="Text Box 5"/>
          <p:cNvSpPr txBox="1">
            <a:spLocks noChangeArrowheads="1"/>
          </p:cNvSpPr>
          <p:nvPr/>
        </p:nvSpPr>
        <p:spPr bwMode="auto">
          <a:xfrm>
            <a:off x="533400" y="836613"/>
            <a:ext cx="50736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En x donné, un D.L. à l</a:t>
            </a:r>
            <a:r>
              <a:rPr lang="ja-JP" altLang="fr-FR" sz="1800">
                <a:sym typeface="Symbol" panose="05050102010706020507" pitchFamily="18" charset="2"/>
              </a:rPr>
              <a:t>’</a:t>
            </a:r>
            <a:r>
              <a:rPr lang="fr-FR" altLang="ja-JP" sz="1800">
                <a:sym typeface="Symbol" panose="05050102010706020507" pitchFamily="18" charset="2"/>
              </a:rPr>
              <a:t>ordre 1 de la distribution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de température  selon Oy donne:</a:t>
            </a:r>
          </a:p>
        </p:txBody>
      </p:sp>
      <p:graphicFrame>
        <p:nvGraphicFramePr>
          <p:cNvPr id="15363" name="Object 19"/>
          <p:cNvGraphicFramePr>
            <a:graphicFrameLocks noChangeAspect="1"/>
          </p:cNvGraphicFramePr>
          <p:nvPr/>
        </p:nvGraphicFramePr>
        <p:xfrm>
          <a:off x="2124075" y="1628775"/>
          <a:ext cx="4535488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1" name="Equation" r:id="rId3" imgW="2514600" imgH="431800" progId="Equation.DSMT4">
                  <p:embed/>
                </p:oleObj>
              </mc:Choice>
              <mc:Fallback>
                <p:oleObj name="Equation" r:id="rId3" imgW="2514600" imgH="4318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628775"/>
                        <a:ext cx="4535488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4" name="Group 26"/>
          <p:cNvGrpSpPr>
            <a:grpSpLocks/>
          </p:cNvGrpSpPr>
          <p:nvPr/>
        </p:nvGrpSpPr>
        <p:grpSpPr bwMode="auto">
          <a:xfrm>
            <a:off x="6011863" y="188913"/>
            <a:ext cx="2808287" cy="1447800"/>
            <a:chOff x="1882" y="935"/>
            <a:chExt cx="1769" cy="912"/>
          </a:xfrm>
        </p:grpSpPr>
        <p:sp>
          <p:nvSpPr>
            <p:cNvPr id="15378" name="Rectangle 7"/>
            <p:cNvSpPr>
              <a:spLocks noChangeArrowheads="1"/>
            </p:cNvSpPr>
            <p:nvPr/>
          </p:nvSpPr>
          <p:spPr bwMode="auto">
            <a:xfrm>
              <a:off x="1882" y="1389"/>
              <a:ext cx="1769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sp>
          <p:nvSpPr>
            <p:cNvPr id="15379" name="Line 10"/>
            <p:cNvSpPr>
              <a:spLocks noChangeShapeType="1"/>
            </p:cNvSpPr>
            <p:nvPr/>
          </p:nvSpPr>
          <p:spPr bwMode="auto">
            <a:xfrm flipV="1">
              <a:off x="2608" y="1026"/>
              <a:ext cx="0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0" name="Text Box 12"/>
            <p:cNvSpPr txBox="1">
              <a:spLocks noChangeArrowheads="1"/>
            </p:cNvSpPr>
            <p:nvPr/>
          </p:nvSpPr>
          <p:spPr bwMode="auto">
            <a:xfrm>
              <a:off x="3152" y="138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x</a:t>
              </a:r>
            </a:p>
          </p:txBody>
        </p:sp>
        <p:sp>
          <p:nvSpPr>
            <p:cNvPr id="15381" name="Text Box 13"/>
            <p:cNvSpPr txBox="1">
              <a:spLocks noChangeArrowheads="1"/>
            </p:cNvSpPr>
            <p:nvPr/>
          </p:nvSpPr>
          <p:spPr bwMode="auto">
            <a:xfrm>
              <a:off x="2608" y="93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y</a:t>
              </a:r>
            </a:p>
          </p:txBody>
        </p:sp>
        <p:sp>
          <p:nvSpPr>
            <p:cNvPr id="15382" name="Line 17"/>
            <p:cNvSpPr>
              <a:spLocks noChangeShapeType="1"/>
            </p:cNvSpPr>
            <p:nvPr/>
          </p:nvSpPr>
          <p:spPr bwMode="auto">
            <a:xfrm>
              <a:off x="2608" y="1525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3" name="Text Box 21"/>
            <p:cNvSpPr txBox="1">
              <a:spLocks noChangeArrowheads="1"/>
            </p:cNvSpPr>
            <p:nvPr/>
          </p:nvSpPr>
          <p:spPr bwMode="auto">
            <a:xfrm>
              <a:off x="2109" y="1207"/>
              <a:ext cx="5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y=+e/2</a:t>
              </a:r>
            </a:p>
          </p:txBody>
        </p:sp>
        <p:sp>
          <p:nvSpPr>
            <p:cNvPr id="15384" name="Text Box 22"/>
            <p:cNvSpPr txBox="1">
              <a:spLocks noChangeArrowheads="1"/>
            </p:cNvSpPr>
            <p:nvPr/>
          </p:nvSpPr>
          <p:spPr bwMode="auto">
            <a:xfrm>
              <a:off x="2109" y="1616"/>
              <a:ext cx="5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y=-e/2</a:t>
              </a:r>
            </a:p>
          </p:txBody>
        </p:sp>
      </p:grpSp>
      <p:sp>
        <p:nvSpPr>
          <p:cNvPr id="15365" name="Text Box 24"/>
          <p:cNvSpPr txBox="1">
            <a:spLocks noChangeArrowheads="1"/>
          </p:cNvSpPr>
          <p:nvPr/>
        </p:nvSpPr>
        <p:spPr bwMode="auto">
          <a:xfrm>
            <a:off x="533400" y="2708275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or</a:t>
            </a:r>
          </a:p>
        </p:txBody>
      </p:sp>
      <p:grpSp>
        <p:nvGrpSpPr>
          <p:cNvPr id="15366" name="Group 29"/>
          <p:cNvGrpSpPr>
            <a:grpSpLocks/>
          </p:cNvGrpSpPr>
          <p:nvPr/>
        </p:nvGrpSpPr>
        <p:grpSpPr bwMode="auto">
          <a:xfrm>
            <a:off x="1116013" y="2565400"/>
            <a:ext cx="7473950" cy="733425"/>
            <a:chOff x="508" y="2614"/>
            <a:chExt cx="4708" cy="462"/>
          </a:xfrm>
        </p:grpSpPr>
        <p:graphicFrame>
          <p:nvGraphicFramePr>
            <p:cNvPr id="15375" name="Object 25"/>
            <p:cNvGraphicFramePr>
              <a:graphicFrameLocks noChangeAspect="1"/>
            </p:cNvGraphicFramePr>
            <p:nvPr/>
          </p:nvGraphicFramePr>
          <p:xfrm>
            <a:off x="508" y="2614"/>
            <a:ext cx="2417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2" name="Equation" r:id="rId5" imgW="2387600" imgH="457200" progId="Equation.DSMT4">
                    <p:embed/>
                  </p:oleObj>
                </mc:Choice>
                <mc:Fallback>
                  <p:oleObj name="Equation" r:id="rId5" imgW="2387600" imgH="4572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" y="2614"/>
                          <a:ext cx="2417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Object 27"/>
            <p:cNvGraphicFramePr>
              <a:graphicFrameLocks noChangeAspect="1"/>
            </p:cNvGraphicFramePr>
            <p:nvPr/>
          </p:nvGraphicFramePr>
          <p:xfrm>
            <a:off x="3602" y="2641"/>
            <a:ext cx="1614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23" name="Equation" r:id="rId7" imgW="1600200" imgH="431800" progId="Equation.DSMT4">
                    <p:embed/>
                  </p:oleObj>
                </mc:Choice>
                <mc:Fallback>
                  <p:oleObj name="Equation" r:id="rId7" imgW="1600200" imgH="4318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2" y="2641"/>
                          <a:ext cx="1614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7" name="Text Box 28"/>
            <p:cNvSpPr txBox="1">
              <a:spLocks noChangeArrowheads="1"/>
            </p:cNvSpPr>
            <p:nvPr/>
          </p:nvSpPr>
          <p:spPr bwMode="auto">
            <a:xfrm>
              <a:off x="3050" y="2745"/>
              <a:ext cx="4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avec</a:t>
              </a:r>
            </a:p>
          </p:txBody>
        </p:sp>
      </p:grpSp>
      <p:graphicFrame>
        <p:nvGraphicFramePr>
          <p:cNvPr id="15367" name="Object 31"/>
          <p:cNvGraphicFramePr>
            <a:graphicFrameLocks noChangeAspect="1"/>
          </p:cNvGraphicFramePr>
          <p:nvPr/>
        </p:nvGraphicFramePr>
        <p:xfrm>
          <a:off x="2843213" y="3357563"/>
          <a:ext cx="32861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4" name="Equation" r:id="rId9" imgW="2044700" imgH="457200" progId="Equation.DSMT4">
                  <p:embed/>
                </p:oleObj>
              </mc:Choice>
              <mc:Fallback>
                <p:oleObj name="Equation" r:id="rId9" imgW="2044700" imgH="4572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357563"/>
                        <a:ext cx="32861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34"/>
          <p:cNvGraphicFramePr>
            <a:graphicFrameLocks noChangeAspect="1"/>
          </p:cNvGraphicFramePr>
          <p:nvPr/>
        </p:nvGraphicFramePr>
        <p:xfrm>
          <a:off x="2216150" y="4365625"/>
          <a:ext cx="54514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5" name="Equation" r:id="rId11" imgW="3022600" imgH="457200" progId="Equation.DSMT4">
                  <p:embed/>
                </p:oleObj>
              </mc:Choice>
              <mc:Fallback>
                <p:oleObj name="Equation" r:id="rId11" imgW="3022600" imgH="4572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4365625"/>
                        <a:ext cx="54514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33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35"/>
          <p:cNvSpPr txBox="1">
            <a:spLocks noChangeArrowheads="1"/>
          </p:cNvSpPr>
          <p:nvPr/>
        </p:nvSpPr>
        <p:spPr bwMode="auto">
          <a:xfrm>
            <a:off x="533400" y="3500438"/>
            <a:ext cx="1250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Ou encore</a:t>
            </a:r>
          </a:p>
        </p:txBody>
      </p:sp>
      <p:sp>
        <p:nvSpPr>
          <p:cNvPr id="15370" name="Text Box 36"/>
          <p:cNvSpPr txBox="1">
            <a:spLocks noChangeArrowheads="1"/>
          </p:cNvSpPr>
          <p:nvPr/>
        </p:nvSpPr>
        <p:spPr bwMode="auto">
          <a:xfrm>
            <a:off x="533400" y="4575175"/>
            <a:ext cx="1441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Dans le D.L.</a:t>
            </a:r>
          </a:p>
        </p:txBody>
      </p:sp>
      <p:sp>
        <p:nvSpPr>
          <p:cNvPr id="15371" name="Text Box 37"/>
          <p:cNvSpPr txBox="1">
            <a:spLocks noChangeArrowheads="1"/>
          </p:cNvSpPr>
          <p:nvPr/>
        </p:nvSpPr>
        <p:spPr bwMode="auto">
          <a:xfrm>
            <a:off x="533400" y="5294313"/>
            <a:ext cx="5213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hypothèse d</a:t>
            </a:r>
            <a:r>
              <a:rPr lang="ja-JP" altLang="fr-FR" sz="1800"/>
              <a:t>’</a:t>
            </a:r>
            <a:r>
              <a:rPr lang="fr-FR" altLang="ja-JP" sz="1800"/>
              <a:t>invariance selon Oy est justifiée ssi</a:t>
            </a:r>
            <a:endParaRPr lang="fr-FR" altLang="fr-FR" sz="1800"/>
          </a:p>
        </p:txBody>
      </p:sp>
      <p:graphicFrame>
        <p:nvGraphicFramePr>
          <p:cNvPr id="15372" name="Object 38"/>
          <p:cNvGraphicFramePr>
            <a:graphicFrameLocks noChangeAspect="1"/>
          </p:cNvGraphicFramePr>
          <p:nvPr/>
        </p:nvGraphicFramePr>
        <p:xfrm>
          <a:off x="3998913" y="5683250"/>
          <a:ext cx="1671637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6" name="Equation" r:id="rId13" imgW="927100" imgH="431800" progId="Equation.DSMT4">
                  <p:embed/>
                </p:oleObj>
              </mc:Choice>
              <mc:Fallback>
                <p:oleObj name="Equation" r:id="rId13" imgW="927100" imgH="4318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5683250"/>
                        <a:ext cx="1671637" cy="7794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Text Box 39"/>
          <p:cNvSpPr txBox="1">
            <a:spLocks noChangeArrowheads="1"/>
          </p:cNvSpPr>
          <p:nvPr/>
        </p:nvSpPr>
        <p:spPr bwMode="auto">
          <a:xfrm>
            <a:off x="1512888" y="5870575"/>
            <a:ext cx="2051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nombre de Biot</a:t>
            </a:r>
          </a:p>
        </p:txBody>
      </p:sp>
      <p:sp>
        <p:nvSpPr>
          <p:cNvPr id="15374" name="Espace réservé du numéro de diapositive 2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9F5B0ED-4F94-4282-8045-5E44CD07CE59}" type="slidenum">
              <a:rPr lang="fr-FR" altLang="fr-FR" sz="1400"/>
              <a:pPr eaLnBrk="1" hangingPunct="1"/>
              <a:t>2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"/>
          <p:cNvSpPr>
            <a:spLocks noChangeArrowheads="1"/>
          </p:cNvSpPr>
          <p:nvPr/>
        </p:nvSpPr>
        <p:spPr bwMode="auto">
          <a:xfrm>
            <a:off x="457200" y="-269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 dirty="0">
                <a:solidFill>
                  <a:schemeClr val="tx2"/>
                </a:solidFill>
              </a:rPr>
              <a:t>Equation de la </a:t>
            </a:r>
            <a:r>
              <a:rPr lang="fr-FR" altLang="fr-FR" dirty="0" smtClean="0">
                <a:solidFill>
                  <a:schemeClr val="tx2"/>
                </a:solidFill>
              </a:rPr>
              <a:t>chaleur hors équilibre</a:t>
            </a:r>
            <a:r>
              <a:rPr lang="fr-FR" altLang="fr-FR" dirty="0">
                <a:solidFill>
                  <a:schemeClr val="tx2"/>
                </a:solidFill>
              </a:rPr>
              <a:t/>
            </a:r>
            <a:br>
              <a:rPr lang="fr-FR" altLang="fr-FR" dirty="0">
                <a:solidFill>
                  <a:schemeClr val="tx2"/>
                </a:solidFill>
              </a:rPr>
            </a:br>
            <a:r>
              <a:rPr lang="fr-FR" altLang="fr-FR" dirty="0">
                <a:solidFill>
                  <a:schemeClr val="tx2"/>
                </a:solidFill>
              </a:rPr>
              <a:t>pour le problème de </a:t>
            </a:r>
            <a:r>
              <a:rPr lang="fr-FR" altLang="fr-FR" dirty="0" smtClean="0">
                <a:solidFill>
                  <a:schemeClr val="tx2"/>
                </a:solidFill>
              </a:rPr>
              <a:t>l’</a:t>
            </a:r>
            <a:r>
              <a:rPr lang="fr-FR" altLang="ja-JP" dirty="0" smtClean="0">
                <a:solidFill>
                  <a:schemeClr val="tx2"/>
                </a:solidFill>
              </a:rPr>
              <a:t>ailette</a:t>
            </a:r>
            <a:endParaRPr lang="fr-FR" altLang="fr-FR" dirty="0">
              <a:solidFill>
                <a:schemeClr val="tx2"/>
              </a:solidFill>
            </a:endParaRPr>
          </a:p>
        </p:txBody>
      </p:sp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6156176" y="1414536"/>
            <a:ext cx="201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p est le périmètre </a:t>
            </a:r>
          </a:p>
        </p:txBody>
      </p:sp>
      <p:graphicFrame>
        <p:nvGraphicFramePr>
          <p:cNvPr id="163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994538"/>
              </p:ext>
            </p:extLst>
          </p:nvPr>
        </p:nvGraphicFramePr>
        <p:xfrm>
          <a:off x="6173788" y="1819275"/>
          <a:ext cx="20780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1" name="Equation" r:id="rId3" imgW="1155600" imgH="253800" progId="Equation.DSMT4">
                  <p:embed/>
                </p:oleObj>
              </mc:Choice>
              <mc:Fallback>
                <p:oleObj name="Equation" r:id="rId3" imgW="1155600" imgH="253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1819275"/>
                        <a:ext cx="20780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10"/>
          <p:cNvSpPr txBox="1">
            <a:spLocks noChangeArrowheads="1"/>
          </p:cNvSpPr>
          <p:nvPr/>
        </p:nvSpPr>
        <p:spPr bwMode="auto">
          <a:xfrm>
            <a:off x="663575" y="2728913"/>
            <a:ext cx="8312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écrit la conservation des flux de chaleur dans un petit volume de longueur dx</a:t>
            </a:r>
          </a:p>
        </p:txBody>
      </p:sp>
      <p:graphicFrame>
        <p:nvGraphicFramePr>
          <p:cNvPr id="16390" name="Object 11"/>
          <p:cNvGraphicFramePr>
            <a:graphicFrameLocks noChangeAspect="1"/>
          </p:cNvGraphicFramePr>
          <p:nvPr/>
        </p:nvGraphicFramePr>
        <p:xfrm>
          <a:off x="1692275" y="4338638"/>
          <a:ext cx="31527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2" name="Equation" r:id="rId5" imgW="1752600" imgH="254000" progId="Equation.DSMT4">
                  <p:embed/>
                </p:oleObj>
              </mc:Choice>
              <mc:Fallback>
                <p:oleObj name="Equation" r:id="rId5" imgW="1752600" imgH="254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338638"/>
                        <a:ext cx="31527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12"/>
          <p:cNvSpPr txBox="1">
            <a:spLocks noChangeArrowheads="1"/>
          </p:cNvSpPr>
          <p:nvPr/>
        </p:nvSpPr>
        <p:spPr bwMode="auto">
          <a:xfrm>
            <a:off x="683568" y="4365625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Comme</a:t>
            </a:r>
          </a:p>
        </p:txBody>
      </p:sp>
      <p:graphicFrame>
        <p:nvGraphicFramePr>
          <p:cNvPr id="1639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395730"/>
              </p:ext>
            </p:extLst>
          </p:nvPr>
        </p:nvGraphicFramePr>
        <p:xfrm>
          <a:off x="1080293" y="4848187"/>
          <a:ext cx="6583363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Equation" r:id="rId7" imgW="3657600" imgH="482400" progId="Equation.DSMT4">
                  <p:embed/>
                </p:oleObj>
              </mc:Choice>
              <mc:Fallback>
                <p:oleObj name="Equation" r:id="rId7" imgW="3657600" imgH="482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293" y="4848187"/>
                        <a:ext cx="6583363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4" name="Group 17"/>
          <p:cNvGrpSpPr>
            <a:grpSpLocks/>
          </p:cNvGrpSpPr>
          <p:nvPr/>
        </p:nvGrpSpPr>
        <p:grpSpPr bwMode="auto">
          <a:xfrm>
            <a:off x="827584" y="1125538"/>
            <a:ext cx="4978400" cy="1444625"/>
            <a:chOff x="1292" y="709"/>
            <a:chExt cx="3136" cy="910"/>
          </a:xfrm>
        </p:grpSpPr>
        <p:pic>
          <p:nvPicPr>
            <p:cNvPr id="16396" name="Picture 9" descr="ailette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00" t="44589" r="45526" b="46390"/>
            <a:stretch>
              <a:fillRect/>
            </a:stretch>
          </p:blipFill>
          <p:spPr bwMode="auto">
            <a:xfrm>
              <a:off x="1338" y="709"/>
              <a:ext cx="3090" cy="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7" name="Text Box 15"/>
            <p:cNvSpPr txBox="1">
              <a:spLocks noChangeArrowheads="1"/>
            </p:cNvSpPr>
            <p:nvPr/>
          </p:nvSpPr>
          <p:spPr bwMode="auto">
            <a:xfrm>
              <a:off x="1292" y="12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0</a:t>
              </a:r>
            </a:p>
          </p:txBody>
        </p:sp>
        <p:sp>
          <p:nvSpPr>
            <p:cNvPr id="16398" name="Text Box 16"/>
            <p:cNvSpPr txBox="1">
              <a:spLocks noChangeArrowheads="1"/>
            </p:cNvSpPr>
            <p:nvPr/>
          </p:nvSpPr>
          <p:spPr bwMode="auto">
            <a:xfrm>
              <a:off x="3334" y="12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L</a:t>
              </a:r>
            </a:p>
          </p:txBody>
        </p:sp>
      </p:grpSp>
      <p:sp>
        <p:nvSpPr>
          <p:cNvPr id="16395" name="Espace réservé du numéro de diapositive 1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099D78A-E8A0-477D-8DD6-5A36BB71DBF2}" type="slidenum">
              <a:rPr lang="fr-FR" altLang="fr-FR" sz="1400"/>
              <a:pPr eaLnBrk="1" hangingPunct="1"/>
              <a:t>3</a:t>
            </a:fld>
            <a:endParaRPr lang="fr-FR" altLang="fr-FR" sz="1400"/>
          </a:p>
        </p:txBody>
      </p:sp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870578"/>
              </p:ext>
            </p:extLst>
          </p:nvPr>
        </p:nvGraphicFramePr>
        <p:xfrm>
          <a:off x="717550" y="3114386"/>
          <a:ext cx="730885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4" name="Equation" r:id="rId10" imgW="4064000" imgH="685800" progId="Equation.DSMT4">
                  <p:embed/>
                </p:oleObj>
              </mc:Choice>
              <mc:Fallback>
                <p:oleObj name="Equation" r:id="rId10" imgW="4064000" imgH="685800" progId="Equation.DSMT4">
                  <p:embed/>
                  <p:pic>
                    <p:nvPicPr>
                      <p:cNvPr id="184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114386"/>
                        <a:ext cx="730885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237520"/>
              </p:ext>
            </p:extLst>
          </p:nvPr>
        </p:nvGraphicFramePr>
        <p:xfrm>
          <a:off x="6513279" y="6014382"/>
          <a:ext cx="118586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5" name="Equation" r:id="rId12" imgW="660113" imgH="241195" progId="Equation.DSMT4">
                  <p:embed/>
                </p:oleObj>
              </mc:Choice>
              <mc:Fallback>
                <p:oleObj name="Equation" r:id="rId12" imgW="660113" imgH="241195" progId="Equation.DSMT4">
                  <p:embed/>
                  <p:pic>
                    <p:nvPicPr>
                      <p:cNvPr id="1843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279" y="6014382"/>
                        <a:ext cx="1185862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261240"/>
              </p:ext>
            </p:extLst>
          </p:nvPr>
        </p:nvGraphicFramePr>
        <p:xfrm>
          <a:off x="752241" y="5860394"/>
          <a:ext cx="552926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6" name="Equation" r:id="rId14" imgW="3073400" imgH="419100" progId="Equation.DSMT4">
                  <p:embed/>
                </p:oleObj>
              </mc:Choice>
              <mc:Fallback>
                <p:oleObj name="Equation" r:id="rId14" imgW="3073400" imgH="419100" progId="Equation.DSMT4">
                  <p:embed/>
                  <p:pic>
                    <p:nvPicPr>
                      <p:cNvPr id="1843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241" y="5860394"/>
                        <a:ext cx="5529263" cy="7540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ChangeArrowheads="1"/>
          </p:cNvSpPr>
          <p:nvPr/>
        </p:nvSpPr>
        <p:spPr bwMode="auto">
          <a:xfrm>
            <a:off x="457200" y="-904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Approche analytique</a:t>
            </a:r>
          </a:p>
        </p:txBody>
      </p:sp>
      <p:sp>
        <p:nvSpPr>
          <p:cNvPr id="17410" name="Text Box 5"/>
          <p:cNvSpPr txBox="1">
            <a:spLocks noChangeArrowheads="1"/>
          </p:cNvSpPr>
          <p:nvPr/>
        </p:nvSpPr>
        <p:spPr bwMode="auto">
          <a:xfrm>
            <a:off x="303213" y="908050"/>
            <a:ext cx="79565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les flux de chaleur sont négligeables à travers les petites faces, on a</a:t>
            </a:r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Autrement dit, une condition de Neumann homogène en x=L :</a:t>
            </a:r>
          </a:p>
        </p:txBody>
      </p:sp>
      <p:graphicFrame>
        <p:nvGraphicFramePr>
          <p:cNvPr id="17411" name="Object 6"/>
          <p:cNvGraphicFramePr>
            <a:graphicFrameLocks noChangeAspect="1"/>
          </p:cNvGraphicFramePr>
          <p:nvPr/>
        </p:nvGraphicFramePr>
        <p:xfrm>
          <a:off x="1558925" y="1320800"/>
          <a:ext cx="47720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0" name="Equation" r:id="rId3" imgW="2654300" imgH="444500" progId="Equation.DSMT4">
                  <p:embed/>
                </p:oleObj>
              </mc:Choice>
              <mc:Fallback>
                <p:oleObj name="Equation" r:id="rId3" imgW="2654300" imgH="444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1320800"/>
                        <a:ext cx="47720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7"/>
          <p:cNvGraphicFramePr>
            <a:graphicFrameLocks noChangeAspect="1"/>
          </p:cNvGraphicFramePr>
          <p:nvPr/>
        </p:nvGraphicFramePr>
        <p:xfrm>
          <a:off x="6732588" y="2039938"/>
          <a:ext cx="102711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1" name="Equation" r:id="rId5" imgW="571252" imgH="444307" progId="Equation.DSMT4">
                  <p:embed/>
                </p:oleObj>
              </mc:Choice>
              <mc:Fallback>
                <p:oleObj name="Equation" r:id="rId5" imgW="571252" imgH="44430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2039938"/>
                        <a:ext cx="102711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8"/>
          <p:cNvSpPr txBox="1">
            <a:spLocks noChangeArrowheads="1"/>
          </p:cNvSpPr>
          <p:nvPr/>
        </p:nvSpPr>
        <p:spPr bwMode="auto">
          <a:xfrm>
            <a:off x="303213" y="3068638"/>
            <a:ext cx="7880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En supposant que la température est fixée à gauche (condition de Dirichlet),</a:t>
            </a:r>
          </a:p>
          <a:p>
            <a:pPr eaLnBrk="1" hangingPunct="1"/>
            <a:r>
              <a:rPr lang="fr-FR" altLang="fr-FR" sz="1800" dirty="0"/>
              <a:t>montrer que la distribution de température à l</a:t>
            </a:r>
            <a:r>
              <a:rPr lang="ja-JP" altLang="fr-FR" sz="1800" dirty="0"/>
              <a:t>’</a:t>
            </a:r>
            <a:r>
              <a:rPr lang="fr-FR" altLang="ja-JP" sz="1800" b="1" dirty="0"/>
              <a:t>équilibre</a:t>
            </a:r>
            <a:r>
              <a:rPr lang="fr-FR" altLang="ja-JP" sz="1800" dirty="0"/>
              <a:t> est décrite par : </a:t>
            </a:r>
            <a:endParaRPr lang="fr-FR" altLang="fr-FR" sz="1800" dirty="0"/>
          </a:p>
        </p:txBody>
      </p:sp>
      <p:graphicFrame>
        <p:nvGraphicFramePr>
          <p:cNvPr id="17414" name="Object 9"/>
          <p:cNvGraphicFramePr>
            <a:graphicFrameLocks noChangeAspect="1"/>
          </p:cNvGraphicFramePr>
          <p:nvPr/>
        </p:nvGraphicFramePr>
        <p:xfrm>
          <a:off x="1325563" y="3789363"/>
          <a:ext cx="59372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2" name="Equation" r:id="rId7" imgW="3302000" imgH="495300" progId="Equation.DSMT4">
                  <p:embed/>
                </p:oleObj>
              </mc:Choice>
              <mc:Fallback>
                <p:oleObj name="Equation" r:id="rId7" imgW="3302000" imgH="495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3789363"/>
                        <a:ext cx="5937250" cy="8921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10"/>
          <p:cNvSpPr txBox="1">
            <a:spLocks noChangeArrowheads="1"/>
          </p:cNvSpPr>
          <p:nvPr/>
        </p:nvSpPr>
        <p:spPr bwMode="auto">
          <a:xfrm>
            <a:off x="323850" y="4873625"/>
            <a:ext cx="7245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Tracer cette distribution avec Matlab en prenant comme paramètres : </a:t>
            </a:r>
          </a:p>
        </p:txBody>
      </p:sp>
      <p:graphicFrame>
        <p:nvGraphicFramePr>
          <p:cNvPr id="17416" name="Object 11"/>
          <p:cNvGraphicFramePr>
            <a:graphicFrameLocks noChangeAspect="1"/>
          </p:cNvGraphicFramePr>
          <p:nvPr/>
        </p:nvGraphicFramePr>
        <p:xfrm>
          <a:off x="1835150" y="5299075"/>
          <a:ext cx="48402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3" name="Equation" r:id="rId9" imgW="2692400" imgH="241300" progId="Equation.DSMT4">
                  <p:embed/>
                </p:oleObj>
              </mc:Choice>
              <mc:Fallback>
                <p:oleObj name="Equation" r:id="rId9" imgW="26924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299075"/>
                        <a:ext cx="484028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12"/>
          <p:cNvGraphicFramePr>
            <a:graphicFrameLocks noChangeAspect="1"/>
          </p:cNvGraphicFramePr>
          <p:nvPr/>
        </p:nvGraphicFramePr>
        <p:xfrm>
          <a:off x="4787900" y="6165850"/>
          <a:ext cx="253523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4" name="Equation" r:id="rId11" imgW="1409088" imgH="241195" progId="Equation.DSMT4">
                  <p:embed/>
                </p:oleObj>
              </mc:Choice>
              <mc:Fallback>
                <p:oleObj name="Equation" r:id="rId11" imgW="1409088" imgH="24119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6165850"/>
                        <a:ext cx="2535238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Text Box 13"/>
          <p:cNvSpPr txBox="1">
            <a:spLocks noChangeArrowheads="1"/>
          </p:cNvSpPr>
          <p:nvPr/>
        </p:nvSpPr>
        <p:spPr bwMode="auto">
          <a:xfrm>
            <a:off x="395288" y="5805488"/>
            <a:ext cx="626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Puis dans le cas d</a:t>
            </a:r>
            <a:r>
              <a:rPr lang="ja-JP" altLang="fr-FR" sz="1800"/>
              <a:t>’</a:t>
            </a:r>
            <a:r>
              <a:rPr lang="fr-FR" altLang="ja-JP" sz="1800"/>
              <a:t>un flux de convection forcée (ventilateur) </a:t>
            </a:r>
            <a:endParaRPr lang="fr-FR" altLang="fr-FR" sz="1800"/>
          </a:p>
        </p:txBody>
      </p:sp>
      <p:sp>
        <p:nvSpPr>
          <p:cNvPr id="17419" name="Espace réservé du numéro de diapositive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BAEE4F2-E526-4B6A-AFBD-0EC68A9A4369}" type="slidenum">
              <a:rPr lang="fr-FR" altLang="fr-FR" sz="1400"/>
              <a:pPr eaLnBrk="1" hangingPunct="1"/>
              <a:t>4</a:t>
            </a:fld>
            <a:endParaRPr lang="fr-FR" altLang="fr-FR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282</Words>
  <Application>Microsoft Office PowerPoint</Application>
  <PresentationFormat>Affichage à l'écran (4:3)</PresentationFormat>
  <Paragraphs>48</Paragraphs>
  <Slides>4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MS PGothic</vt:lpstr>
      <vt:lpstr>Arial</vt:lpstr>
      <vt:lpstr>Calibri</vt:lpstr>
      <vt:lpstr>Symbol</vt:lpstr>
      <vt:lpstr>Modèle par défaut</vt:lpstr>
      <vt:lpstr>MathType 6.0 Equation</vt:lpstr>
      <vt:lpstr>Equation</vt:lpstr>
      <vt:lpstr>Distribution de température dans une ailette de radiateur</vt:lpstr>
      <vt:lpstr>Présentation PowerPoint</vt:lpstr>
      <vt:lpstr>Présentation PowerPoint</vt:lpstr>
      <vt:lpstr>Présentation PowerPoint</vt:lpstr>
    </vt:vector>
  </TitlesOfParts>
  <Company>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Distribution de température dans une ailette de radiateur</dc:title>
  <dc:creator>jc.toussaint</dc:creator>
  <cp:lastModifiedBy>jean-christophe toussaint</cp:lastModifiedBy>
  <cp:revision>92</cp:revision>
  <dcterms:created xsi:type="dcterms:W3CDTF">2008-08-21T11:27:14Z</dcterms:created>
  <dcterms:modified xsi:type="dcterms:W3CDTF">2019-07-07T14:23:13Z</dcterms:modified>
</cp:coreProperties>
</file>