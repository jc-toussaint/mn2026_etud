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68" r:id="rId3"/>
    <p:sldId id="269" r:id="rId4"/>
    <p:sldId id="270" r:id="rId5"/>
    <p:sldId id="258" r:id="rId6"/>
    <p:sldId id="260" r:id="rId7"/>
    <p:sldId id="262" r:id="rId8"/>
    <p:sldId id="263" r:id="rId9"/>
    <p:sldId id="265" r:id="rId10"/>
    <p:sldId id="266" r:id="rId11"/>
    <p:sldId id="267" r:id="rId12"/>
  </p:sldIdLst>
  <p:sldSz cx="9144000" cy="6858000" type="screen4x3"/>
  <p:notesSz cx="7099300" cy="10234613"/>
  <p:defaultTextStyle>
    <a:defPPr>
      <a:defRPr lang="fr-FR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00"/>
    <a:srgbClr val="FF3300"/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1450" y="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wmf"/><Relationship Id="rId1" Type="http://schemas.openxmlformats.org/officeDocument/2006/relationships/image" Target="../media/image2.wmf"/><Relationship Id="rId6" Type="http://schemas.openxmlformats.org/officeDocument/2006/relationships/image" Target="../media/image7.wmf"/><Relationship Id="rId5" Type="http://schemas.openxmlformats.org/officeDocument/2006/relationships/image" Target="../media/image6.wmf"/><Relationship Id="rId4" Type="http://schemas.openxmlformats.org/officeDocument/2006/relationships/image" Target="../media/image5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image" Target="../media/image9.wmf"/><Relationship Id="rId1" Type="http://schemas.openxmlformats.org/officeDocument/2006/relationships/image" Target="../media/image8.wmf"/><Relationship Id="rId6" Type="http://schemas.openxmlformats.org/officeDocument/2006/relationships/image" Target="../media/image13.wmf"/><Relationship Id="rId5" Type="http://schemas.openxmlformats.org/officeDocument/2006/relationships/image" Target="../media/image12.wmf"/><Relationship Id="rId4" Type="http://schemas.openxmlformats.org/officeDocument/2006/relationships/image" Target="../media/image11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image" Target="../media/image16.wmf"/><Relationship Id="rId1" Type="http://schemas.openxmlformats.org/officeDocument/2006/relationships/image" Target="../media/image15.wmf"/><Relationship Id="rId5" Type="http://schemas.openxmlformats.org/officeDocument/2006/relationships/image" Target="../media/image19.wmf"/><Relationship Id="rId4" Type="http://schemas.openxmlformats.org/officeDocument/2006/relationships/image" Target="../media/image18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image" Target="../media/image16.wmf"/><Relationship Id="rId1" Type="http://schemas.openxmlformats.org/officeDocument/2006/relationships/image" Target="../media/image15.wmf"/><Relationship Id="rId5" Type="http://schemas.openxmlformats.org/officeDocument/2006/relationships/image" Target="../media/image19.wmf"/><Relationship Id="rId4" Type="http://schemas.openxmlformats.org/officeDocument/2006/relationships/image" Target="../media/image18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image" Target="../media/image21.wmf"/><Relationship Id="rId1" Type="http://schemas.openxmlformats.org/officeDocument/2006/relationships/image" Target="../media/image20.wmf"/><Relationship Id="rId4" Type="http://schemas.openxmlformats.org/officeDocument/2006/relationships/image" Target="../media/image22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4.wmf"/><Relationship Id="rId2" Type="http://schemas.openxmlformats.org/officeDocument/2006/relationships/image" Target="../media/image23.wmf"/><Relationship Id="rId1" Type="http://schemas.openxmlformats.org/officeDocument/2006/relationships/image" Target="../media/image22.wmf"/><Relationship Id="rId5" Type="http://schemas.openxmlformats.org/officeDocument/2006/relationships/image" Target="../media/image26.wmf"/><Relationship Id="rId4" Type="http://schemas.openxmlformats.org/officeDocument/2006/relationships/image" Target="../media/image25.wmf"/></Relationships>
</file>

<file path=ppt/drawings/_rels/vmlDrawing7.vml.rels><?xml version="1.0" encoding="UTF-8" standalone="yes"?>
<Relationships xmlns="http://schemas.openxmlformats.org/package/2006/relationships"><Relationship Id="rId8" Type="http://schemas.openxmlformats.org/officeDocument/2006/relationships/image" Target="../media/image34.wmf"/><Relationship Id="rId3" Type="http://schemas.openxmlformats.org/officeDocument/2006/relationships/image" Target="../media/image29.wmf"/><Relationship Id="rId7" Type="http://schemas.openxmlformats.org/officeDocument/2006/relationships/image" Target="../media/image33.wmf"/><Relationship Id="rId2" Type="http://schemas.openxmlformats.org/officeDocument/2006/relationships/image" Target="../media/image28.wmf"/><Relationship Id="rId1" Type="http://schemas.openxmlformats.org/officeDocument/2006/relationships/image" Target="../media/image27.wmf"/><Relationship Id="rId6" Type="http://schemas.openxmlformats.org/officeDocument/2006/relationships/image" Target="../media/image32.wmf"/><Relationship Id="rId5" Type="http://schemas.openxmlformats.org/officeDocument/2006/relationships/image" Target="../media/image31.wmf"/><Relationship Id="rId10" Type="http://schemas.openxmlformats.org/officeDocument/2006/relationships/image" Target="../media/image36.wmf"/><Relationship Id="rId4" Type="http://schemas.openxmlformats.org/officeDocument/2006/relationships/image" Target="../media/image30.wmf"/><Relationship Id="rId9" Type="http://schemas.openxmlformats.org/officeDocument/2006/relationships/image" Target="../media/image35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4021138" y="0"/>
            <a:ext cx="3076575" cy="5111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32AC5A44-DE0F-42CB-A312-B158D8DE6486}" type="datetimeFigureOut">
              <a:rPr lang="fr-FR" altLang="fr-FR"/>
              <a:pPr>
                <a:defRPr/>
              </a:pPr>
              <a:t>07/07/2019</a:t>
            </a:fld>
            <a:endParaRPr lang="fr-FR" alt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fr-FR" altLang="fr-FR" noProof="0" smtClean="0"/>
              <a:t>Cliquez pour modifier les styles du texte du masque</a:t>
            </a:r>
          </a:p>
          <a:p>
            <a:pPr lvl="1"/>
            <a:r>
              <a:rPr lang="fr-FR" altLang="fr-FR" noProof="0" smtClean="0"/>
              <a:t>Deuxième niveau</a:t>
            </a:r>
          </a:p>
          <a:p>
            <a:pPr lvl="2"/>
            <a:r>
              <a:rPr lang="fr-FR" altLang="fr-FR" noProof="0" smtClean="0"/>
              <a:t>Troisième niveau</a:t>
            </a:r>
          </a:p>
          <a:p>
            <a:pPr lvl="3"/>
            <a:r>
              <a:rPr lang="fr-FR" altLang="fr-FR" noProof="0" smtClean="0"/>
              <a:t>Quatrième niveau</a:t>
            </a:r>
          </a:p>
          <a:p>
            <a:pPr lvl="4"/>
            <a:r>
              <a:rPr lang="fr-FR" alt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6575" cy="511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6B03498B-34F9-4960-B43C-5636EB1E67C2}" type="slidenum">
              <a:rPr lang="fr-FR" altLang="fr-FR"/>
              <a:pPr>
                <a:defRPr/>
              </a:pPr>
              <a:t>‹N°›</a:t>
            </a:fld>
            <a:endParaRPr lang="fr-FR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02E79C-1885-4973-963C-0BC2DBEAB442}" type="slidenum">
              <a:rPr lang="fr-FR" altLang="fr-FR"/>
              <a:pPr>
                <a:defRPr/>
              </a:pPr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13378882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3F60C1-B939-48AF-8626-182A511A4066}" type="slidenum">
              <a:rPr lang="fr-FR" altLang="fr-FR"/>
              <a:pPr>
                <a:defRPr/>
              </a:pPr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4969049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C75C73-736D-4E91-84F4-28171AB3884F}" type="slidenum">
              <a:rPr lang="fr-FR" altLang="fr-FR"/>
              <a:pPr>
                <a:defRPr/>
              </a:pPr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10966245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82974E-CC03-488F-9A7F-7D78FA43E59B}" type="slidenum">
              <a:rPr lang="fr-FR" altLang="fr-FR"/>
              <a:pPr>
                <a:defRPr/>
              </a:pPr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1057739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79F4879-3FFA-41FD-8343-41DEE62FCC38}" type="slidenum">
              <a:rPr lang="fr-FR" altLang="fr-FR"/>
              <a:pPr>
                <a:defRPr/>
              </a:pPr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8570362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A14B5F-7239-4C44-8CD7-950AB1FB5FD3}" type="slidenum">
              <a:rPr lang="fr-FR" altLang="fr-FR"/>
              <a:pPr>
                <a:defRPr/>
              </a:pPr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8796130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4E4FC0-09C6-4EFE-82DD-974764CF2350}" type="slidenum">
              <a:rPr lang="fr-FR" altLang="fr-FR"/>
              <a:pPr>
                <a:defRPr/>
              </a:pPr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38122388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E596D18-769E-4EC2-821B-18C37EF86963}" type="slidenum">
              <a:rPr lang="fr-FR" altLang="fr-FR"/>
              <a:pPr>
                <a:defRPr/>
              </a:pPr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225952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7143F5-9C22-4FBE-AB3F-FC702E631124}" type="slidenum">
              <a:rPr lang="fr-FR" altLang="fr-FR"/>
              <a:pPr>
                <a:defRPr/>
              </a:pPr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30471735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C020A13-A8F5-4AB1-B8AD-61CE495C7EA6}" type="slidenum">
              <a:rPr lang="fr-FR" altLang="fr-FR"/>
              <a:pPr>
                <a:defRPr/>
              </a:pPr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37459227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ACA293-71AB-4383-9496-5BCE6013E9BA}" type="slidenum">
              <a:rPr lang="fr-FR" altLang="fr-FR"/>
              <a:pPr>
                <a:defRPr/>
              </a:pPr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2669894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 smtClean="0"/>
              <a:t>Cliquez pour modifier le style du titre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 smtClean="0"/>
              <a:t>Cliquez pour modifier les styles du texte du masque</a:t>
            </a:r>
          </a:p>
          <a:p>
            <a:pPr lvl="1"/>
            <a:r>
              <a:rPr lang="fr-FR" altLang="fr-FR" smtClean="0"/>
              <a:t>Deuxième niveau</a:t>
            </a:r>
          </a:p>
          <a:p>
            <a:pPr lvl="2"/>
            <a:r>
              <a:rPr lang="fr-FR" altLang="fr-FR" smtClean="0"/>
              <a:t>Troisième niveau</a:t>
            </a:r>
          </a:p>
          <a:p>
            <a:pPr lvl="3"/>
            <a:r>
              <a:rPr lang="fr-FR" altLang="fr-FR" smtClean="0"/>
              <a:t>Quatrième niveau</a:t>
            </a:r>
          </a:p>
          <a:p>
            <a:pPr lvl="4"/>
            <a:r>
              <a:rPr lang="fr-FR" altLang="fr-FR" smtClean="0"/>
              <a:t>Cinquième niveau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smtClean="0"/>
            </a:lvl1pPr>
          </a:lstStyle>
          <a:p>
            <a:pPr>
              <a:defRPr/>
            </a:pPr>
            <a:fld id="{6A7EF9C7-CDB6-4ED5-BA22-56D7608952DB}" type="slidenum">
              <a:rPr lang="fr-FR" altLang="fr-FR"/>
              <a:pPr>
                <a:defRPr/>
              </a:pPr>
              <a:t>‹N°›</a:t>
            </a:fld>
            <a:endParaRPr lang="fr-FR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MS PGothic" panose="020B0600070205080204" pitchFamily="34" charset="-128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MS PGothic" panose="020B0600070205080204" pitchFamily="34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MS PGothic" panose="020B0600070205080204" pitchFamily="34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MS PGothic" panose="020B0600070205080204" pitchFamily="34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MS PGothic" panose="020B0600070205080204" pitchFamily="34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MS PGothic" panose="020B0600070205080204" pitchFamily="34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MS PGothic" panose="020B0600070205080204" pitchFamily="34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MS PGothic" panose="020B0600070205080204" pitchFamily="34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MS PGothic" panose="020B0600070205080204" pitchFamily="34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13" Type="http://schemas.openxmlformats.org/officeDocument/2006/relationships/oleObject" Target="../embeddings/oleObject6.bin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6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3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0" Type="http://schemas.openxmlformats.org/officeDocument/2006/relationships/image" Target="../media/image5.wmf"/><Relationship Id="rId4" Type="http://schemas.openxmlformats.org/officeDocument/2006/relationships/image" Target="../media/image2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7.w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wmf"/><Relationship Id="rId13" Type="http://schemas.openxmlformats.org/officeDocument/2006/relationships/image" Target="../media/image12.wmf"/><Relationship Id="rId3" Type="http://schemas.openxmlformats.org/officeDocument/2006/relationships/oleObject" Target="../embeddings/oleObject7.bin"/><Relationship Id="rId7" Type="http://schemas.openxmlformats.org/officeDocument/2006/relationships/oleObject" Target="../embeddings/oleObject9.bin"/><Relationship Id="rId12" Type="http://schemas.openxmlformats.org/officeDocument/2006/relationships/oleObject" Target="../embeddings/oleObject1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9.wmf"/><Relationship Id="rId11" Type="http://schemas.openxmlformats.org/officeDocument/2006/relationships/image" Target="../media/image11.wmf"/><Relationship Id="rId5" Type="http://schemas.openxmlformats.org/officeDocument/2006/relationships/oleObject" Target="../embeddings/oleObject8.bin"/><Relationship Id="rId15" Type="http://schemas.openxmlformats.org/officeDocument/2006/relationships/image" Target="../media/image13.wmf"/><Relationship Id="rId10" Type="http://schemas.openxmlformats.org/officeDocument/2006/relationships/oleObject" Target="../embeddings/oleObject10.bin"/><Relationship Id="rId4" Type="http://schemas.openxmlformats.org/officeDocument/2006/relationships/image" Target="../media/image8.wmf"/><Relationship Id="rId9" Type="http://schemas.openxmlformats.org/officeDocument/2006/relationships/image" Target="../media/image14.emf"/><Relationship Id="rId14" Type="http://schemas.openxmlformats.org/officeDocument/2006/relationships/oleObject" Target="../embeddings/oleObject12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wmf"/><Relationship Id="rId3" Type="http://schemas.openxmlformats.org/officeDocument/2006/relationships/oleObject" Target="../embeddings/oleObject13.bin"/><Relationship Id="rId7" Type="http://schemas.openxmlformats.org/officeDocument/2006/relationships/oleObject" Target="../embeddings/oleObject15.bin"/><Relationship Id="rId12" Type="http://schemas.openxmlformats.org/officeDocument/2006/relationships/image" Target="../media/image19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6.wmf"/><Relationship Id="rId11" Type="http://schemas.openxmlformats.org/officeDocument/2006/relationships/oleObject" Target="../embeddings/oleObject17.bin"/><Relationship Id="rId5" Type="http://schemas.openxmlformats.org/officeDocument/2006/relationships/oleObject" Target="../embeddings/oleObject14.bin"/><Relationship Id="rId10" Type="http://schemas.openxmlformats.org/officeDocument/2006/relationships/image" Target="../media/image18.wmf"/><Relationship Id="rId4" Type="http://schemas.openxmlformats.org/officeDocument/2006/relationships/image" Target="../media/image15.wmf"/><Relationship Id="rId9" Type="http://schemas.openxmlformats.org/officeDocument/2006/relationships/oleObject" Target="../embeddings/oleObject16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wmf"/><Relationship Id="rId3" Type="http://schemas.openxmlformats.org/officeDocument/2006/relationships/oleObject" Target="../embeddings/oleObject18.bin"/><Relationship Id="rId7" Type="http://schemas.openxmlformats.org/officeDocument/2006/relationships/oleObject" Target="../embeddings/oleObject20.bin"/><Relationship Id="rId12" Type="http://schemas.openxmlformats.org/officeDocument/2006/relationships/image" Target="../media/image19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6.wmf"/><Relationship Id="rId11" Type="http://schemas.openxmlformats.org/officeDocument/2006/relationships/oleObject" Target="../embeddings/oleObject22.bin"/><Relationship Id="rId5" Type="http://schemas.openxmlformats.org/officeDocument/2006/relationships/oleObject" Target="../embeddings/oleObject19.bin"/><Relationship Id="rId10" Type="http://schemas.openxmlformats.org/officeDocument/2006/relationships/image" Target="../media/image18.wmf"/><Relationship Id="rId4" Type="http://schemas.openxmlformats.org/officeDocument/2006/relationships/image" Target="../media/image15.wmf"/><Relationship Id="rId9" Type="http://schemas.openxmlformats.org/officeDocument/2006/relationships/oleObject" Target="../embeddings/oleObject21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wmf"/><Relationship Id="rId3" Type="http://schemas.openxmlformats.org/officeDocument/2006/relationships/oleObject" Target="../embeddings/oleObject23.bin"/><Relationship Id="rId7" Type="http://schemas.openxmlformats.org/officeDocument/2006/relationships/oleObject" Target="../embeddings/oleObject2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21.wmf"/><Relationship Id="rId5" Type="http://schemas.openxmlformats.org/officeDocument/2006/relationships/oleObject" Target="../embeddings/oleObject24.bin"/><Relationship Id="rId10" Type="http://schemas.openxmlformats.org/officeDocument/2006/relationships/image" Target="../media/image22.wmf"/><Relationship Id="rId4" Type="http://schemas.openxmlformats.org/officeDocument/2006/relationships/image" Target="../media/image20.wmf"/><Relationship Id="rId9" Type="http://schemas.openxmlformats.org/officeDocument/2006/relationships/oleObject" Target="../embeddings/oleObject26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wmf"/><Relationship Id="rId3" Type="http://schemas.openxmlformats.org/officeDocument/2006/relationships/oleObject" Target="../embeddings/oleObject27.bin"/><Relationship Id="rId7" Type="http://schemas.openxmlformats.org/officeDocument/2006/relationships/oleObject" Target="../embeddings/oleObject29.bin"/><Relationship Id="rId12" Type="http://schemas.openxmlformats.org/officeDocument/2006/relationships/image" Target="../media/image26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23.wmf"/><Relationship Id="rId11" Type="http://schemas.openxmlformats.org/officeDocument/2006/relationships/oleObject" Target="../embeddings/oleObject31.bin"/><Relationship Id="rId5" Type="http://schemas.openxmlformats.org/officeDocument/2006/relationships/oleObject" Target="../embeddings/oleObject28.bin"/><Relationship Id="rId10" Type="http://schemas.openxmlformats.org/officeDocument/2006/relationships/image" Target="../media/image25.wmf"/><Relationship Id="rId4" Type="http://schemas.openxmlformats.org/officeDocument/2006/relationships/image" Target="../media/image22.wmf"/><Relationship Id="rId9" Type="http://schemas.openxmlformats.org/officeDocument/2006/relationships/oleObject" Target="../embeddings/oleObject30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wmf"/><Relationship Id="rId13" Type="http://schemas.openxmlformats.org/officeDocument/2006/relationships/oleObject" Target="../embeddings/oleObject37.bin"/><Relationship Id="rId18" Type="http://schemas.openxmlformats.org/officeDocument/2006/relationships/image" Target="../media/image34.wmf"/><Relationship Id="rId3" Type="http://schemas.openxmlformats.org/officeDocument/2006/relationships/oleObject" Target="../embeddings/oleObject32.bin"/><Relationship Id="rId21" Type="http://schemas.openxmlformats.org/officeDocument/2006/relationships/oleObject" Target="../embeddings/oleObject41.bin"/><Relationship Id="rId7" Type="http://schemas.openxmlformats.org/officeDocument/2006/relationships/oleObject" Target="../embeddings/oleObject34.bin"/><Relationship Id="rId12" Type="http://schemas.openxmlformats.org/officeDocument/2006/relationships/image" Target="../media/image31.wmf"/><Relationship Id="rId17" Type="http://schemas.openxmlformats.org/officeDocument/2006/relationships/oleObject" Target="../embeddings/oleObject39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3.wmf"/><Relationship Id="rId20" Type="http://schemas.openxmlformats.org/officeDocument/2006/relationships/image" Target="../media/image35.wmf"/><Relationship Id="rId1" Type="http://schemas.openxmlformats.org/officeDocument/2006/relationships/vmlDrawing" Target="../drawings/vmlDrawing7.vml"/><Relationship Id="rId6" Type="http://schemas.openxmlformats.org/officeDocument/2006/relationships/image" Target="../media/image28.wmf"/><Relationship Id="rId11" Type="http://schemas.openxmlformats.org/officeDocument/2006/relationships/oleObject" Target="../embeddings/oleObject36.bin"/><Relationship Id="rId5" Type="http://schemas.openxmlformats.org/officeDocument/2006/relationships/oleObject" Target="../embeddings/oleObject33.bin"/><Relationship Id="rId15" Type="http://schemas.openxmlformats.org/officeDocument/2006/relationships/oleObject" Target="../embeddings/oleObject38.bin"/><Relationship Id="rId10" Type="http://schemas.openxmlformats.org/officeDocument/2006/relationships/image" Target="../media/image30.wmf"/><Relationship Id="rId19" Type="http://schemas.openxmlformats.org/officeDocument/2006/relationships/oleObject" Target="../embeddings/oleObject40.bin"/><Relationship Id="rId4" Type="http://schemas.openxmlformats.org/officeDocument/2006/relationships/image" Target="../media/image27.wmf"/><Relationship Id="rId9" Type="http://schemas.openxmlformats.org/officeDocument/2006/relationships/oleObject" Target="../embeddings/oleObject35.bin"/><Relationship Id="rId14" Type="http://schemas.openxmlformats.org/officeDocument/2006/relationships/image" Target="../media/image32.wmf"/><Relationship Id="rId22" Type="http://schemas.openxmlformats.org/officeDocument/2006/relationships/image" Target="../media/image36.wmf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6"/>
          <p:cNvSpPr>
            <a:spLocks noGrp="1" noChangeArrowheads="1"/>
          </p:cNvSpPr>
          <p:nvPr>
            <p:ph type="title"/>
          </p:nvPr>
        </p:nvSpPr>
        <p:spPr>
          <a:xfrm>
            <a:off x="457200" y="-171450"/>
            <a:ext cx="8229600" cy="1143000"/>
          </a:xfrm>
        </p:spPr>
        <p:txBody>
          <a:bodyPr/>
          <a:lstStyle/>
          <a:p>
            <a:pPr eaLnBrk="1" hangingPunct="1"/>
            <a:r>
              <a:rPr lang="fr-FR" altLang="fr-FR" sz="2400" smtClean="0"/>
              <a:t>Distribution de température dans une ailette de radiateur</a:t>
            </a:r>
          </a:p>
        </p:txBody>
      </p:sp>
      <p:sp>
        <p:nvSpPr>
          <p:cNvPr id="3075" name="Text Box 7"/>
          <p:cNvSpPr txBox="1">
            <a:spLocks noChangeArrowheads="1"/>
          </p:cNvSpPr>
          <p:nvPr/>
        </p:nvSpPr>
        <p:spPr bwMode="auto">
          <a:xfrm>
            <a:off x="827088" y="1406525"/>
            <a:ext cx="15176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/>
              <a:t>T(x=0)=320K</a:t>
            </a:r>
          </a:p>
        </p:txBody>
      </p:sp>
      <p:sp>
        <p:nvSpPr>
          <p:cNvPr id="3076" name="Text Box 8"/>
          <p:cNvSpPr txBox="1">
            <a:spLocks noChangeArrowheads="1"/>
          </p:cNvSpPr>
          <p:nvPr/>
        </p:nvSpPr>
        <p:spPr bwMode="auto">
          <a:xfrm>
            <a:off x="3763963" y="981075"/>
            <a:ext cx="1074737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/>
              <a:t>T</a:t>
            </a:r>
            <a:r>
              <a:rPr lang="fr-FR" altLang="fr-FR" sz="1800" baseline="-25000"/>
              <a:t>a</a:t>
            </a:r>
            <a:r>
              <a:rPr lang="fr-FR" altLang="fr-FR" sz="1800"/>
              <a:t>=300K</a:t>
            </a:r>
          </a:p>
        </p:txBody>
      </p:sp>
      <p:sp>
        <p:nvSpPr>
          <p:cNvPr id="3077" name="Text Box 9"/>
          <p:cNvSpPr txBox="1">
            <a:spLocks noChangeArrowheads="1"/>
          </p:cNvSpPr>
          <p:nvPr/>
        </p:nvSpPr>
        <p:spPr bwMode="auto">
          <a:xfrm>
            <a:off x="755650" y="5084763"/>
            <a:ext cx="7664450" cy="1412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fr-FR" altLang="fr-FR" sz="1800" b="1"/>
              <a:t>Simplification</a:t>
            </a:r>
            <a:r>
              <a:rPr lang="fr-FR" altLang="fr-FR" sz="1800"/>
              <a:t> : système 3D sera traité dans une approche 1D </a:t>
            </a:r>
            <a:r>
              <a:rPr lang="fr-FR" altLang="fr-FR" sz="1800">
                <a:sym typeface="Symbol" panose="05050102010706020507" pitchFamily="18" charset="2"/>
              </a:rPr>
              <a:t>selon Ox 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fr-FR" altLang="fr-FR" sz="1800">
                <a:sym typeface="Symbol" panose="05050102010706020507" pitchFamily="18" charset="2"/>
              </a:rPr>
              <a:t>  distribution de température selon Oy et Oz invariante selon Oy et Oz !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fr-FR" altLang="fr-FR" sz="1800">
                <a:sym typeface="Symbol" panose="05050102010706020507" pitchFamily="18" charset="2"/>
              </a:rPr>
              <a:t>Vraie si les flux de chaleur à travers les petites surfaces sont négligeables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fr-FR" altLang="fr-FR" sz="1800">
                <a:sym typeface="Symbol" panose="05050102010706020507" pitchFamily="18" charset="2"/>
              </a:rPr>
              <a:t>En toute rigueur, il faut que e &lt;&lt; L &lt;&lt; d</a:t>
            </a:r>
          </a:p>
        </p:txBody>
      </p:sp>
      <p:sp>
        <p:nvSpPr>
          <p:cNvPr id="3078" name="Text Box 10"/>
          <p:cNvSpPr txBox="1">
            <a:spLocks noChangeArrowheads="1"/>
          </p:cNvSpPr>
          <p:nvPr/>
        </p:nvSpPr>
        <p:spPr bwMode="auto">
          <a:xfrm>
            <a:off x="735013" y="3284538"/>
            <a:ext cx="7524750" cy="1412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fr-FR" altLang="fr-FR" sz="1800" b="1"/>
              <a:t>Description du système</a:t>
            </a:r>
            <a:r>
              <a:rPr lang="fr-FR" altLang="fr-FR" sz="1800"/>
              <a:t> : une des ailettes d</a:t>
            </a:r>
            <a:r>
              <a:rPr lang="ja-JP" altLang="fr-FR" sz="1800"/>
              <a:t>’</a:t>
            </a:r>
            <a:r>
              <a:rPr lang="fr-FR" altLang="ja-JP" sz="1800"/>
              <a:t>un radiateur de processeur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fr-FR" altLang="fr-FR" sz="1800"/>
              <a:t>fabriqué en aluminium caractérisé par un conductivité thermique k</a:t>
            </a:r>
            <a:r>
              <a:rPr lang="fr-FR" altLang="fr-FR" sz="1800" baseline="-25000"/>
              <a:t>th</a:t>
            </a:r>
            <a:r>
              <a:rPr lang="fr-FR" altLang="fr-FR" sz="1800"/>
              <a:t>, une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fr-FR" altLang="fr-FR" sz="1800"/>
              <a:t>masse volumique </a:t>
            </a:r>
            <a:r>
              <a:rPr lang="fr-FR" altLang="fr-FR" sz="1800">
                <a:sym typeface="Symbol" panose="05050102010706020507" pitchFamily="18" charset="2"/>
              </a:rPr>
              <a:t></a:t>
            </a:r>
            <a:r>
              <a:rPr lang="fr-FR" altLang="fr-FR" sz="1800"/>
              <a:t> et une capacité calorifique C.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fr-FR" altLang="fr-FR" sz="1800"/>
              <a:t>Le système échange de la chaleur avec l</a:t>
            </a:r>
            <a:r>
              <a:rPr lang="ja-JP" altLang="fr-FR" sz="1800"/>
              <a:t>’</a:t>
            </a:r>
            <a:r>
              <a:rPr lang="fr-FR" altLang="ja-JP" sz="1800"/>
              <a:t>air par convection (h, T</a:t>
            </a:r>
            <a:r>
              <a:rPr lang="fr-FR" altLang="ja-JP" sz="1800" baseline="-25000"/>
              <a:t>a</a:t>
            </a:r>
            <a:r>
              <a:rPr lang="fr-FR" altLang="ja-JP" sz="1800"/>
              <a:t>) </a:t>
            </a:r>
            <a:endParaRPr lang="fr-FR" altLang="fr-FR" sz="1800"/>
          </a:p>
        </p:txBody>
      </p:sp>
      <p:pic>
        <p:nvPicPr>
          <p:cNvPr id="3079" name="Picture 11" descr="ailette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774" t="44102" r="42722" b="43744"/>
          <a:stretch>
            <a:fillRect/>
          </a:stretch>
        </p:blipFill>
        <p:spPr bwMode="auto">
          <a:xfrm>
            <a:off x="1408113" y="1125538"/>
            <a:ext cx="5545137" cy="1944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080" name="Group 21"/>
          <p:cNvGrpSpPr>
            <a:grpSpLocks/>
          </p:cNvGrpSpPr>
          <p:nvPr/>
        </p:nvGrpSpPr>
        <p:grpSpPr bwMode="auto">
          <a:xfrm>
            <a:off x="7308850" y="1289050"/>
            <a:ext cx="1162050" cy="1374775"/>
            <a:chOff x="4604" y="812"/>
            <a:chExt cx="732" cy="866"/>
          </a:xfrm>
        </p:grpSpPr>
        <p:sp>
          <p:nvSpPr>
            <p:cNvPr id="3082" name="Line 13"/>
            <p:cNvSpPr>
              <a:spLocks noChangeShapeType="1"/>
            </p:cNvSpPr>
            <p:nvPr/>
          </p:nvSpPr>
          <p:spPr bwMode="auto">
            <a:xfrm>
              <a:off x="4616" y="1525"/>
              <a:ext cx="54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083" name="Line 14"/>
            <p:cNvSpPr>
              <a:spLocks noChangeShapeType="1"/>
            </p:cNvSpPr>
            <p:nvPr/>
          </p:nvSpPr>
          <p:spPr bwMode="auto">
            <a:xfrm flipV="1">
              <a:off x="4616" y="1026"/>
              <a:ext cx="0" cy="49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084" name="Line 15"/>
            <p:cNvSpPr>
              <a:spLocks noChangeShapeType="1"/>
            </p:cNvSpPr>
            <p:nvPr/>
          </p:nvSpPr>
          <p:spPr bwMode="auto">
            <a:xfrm flipV="1">
              <a:off x="4610" y="1303"/>
              <a:ext cx="411" cy="22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085" name="Text Box 16"/>
            <p:cNvSpPr txBox="1">
              <a:spLocks noChangeArrowheads="1"/>
            </p:cNvSpPr>
            <p:nvPr/>
          </p:nvSpPr>
          <p:spPr bwMode="auto">
            <a:xfrm>
              <a:off x="5148" y="1447"/>
              <a:ext cx="1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1800"/>
                <a:t>x</a:t>
              </a:r>
            </a:p>
          </p:txBody>
        </p:sp>
        <p:sp>
          <p:nvSpPr>
            <p:cNvPr id="3086" name="Text Box 17"/>
            <p:cNvSpPr txBox="1">
              <a:spLocks noChangeArrowheads="1"/>
            </p:cNvSpPr>
            <p:nvPr/>
          </p:nvSpPr>
          <p:spPr bwMode="auto">
            <a:xfrm>
              <a:off x="4604" y="812"/>
              <a:ext cx="1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1800"/>
                <a:t>y</a:t>
              </a:r>
            </a:p>
          </p:txBody>
        </p:sp>
        <p:sp>
          <p:nvSpPr>
            <p:cNvPr id="3087" name="Text Box 18"/>
            <p:cNvSpPr txBox="1">
              <a:spLocks noChangeArrowheads="1"/>
            </p:cNvSpPr>
            <p:nvPr/>
          </p:nvSpPr>
          <p:spPr bwMode="auto">
            <a:xfrm>
              <a:off x="4967" y="1084"/>
              <a:ext cx="1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1800"/>
                <a:t>z</a:t>
              </a:r>
            </a:p>
          </p:txBody>
        </p:sp>
      </p:grpSp>
      <p:sp>
        <p:nvSpPr>
          <p:cNvPr id="3081" name="Espace réservé du numéro de diapositive 1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821831E-6D00-4B78-9A8F-0E88F870E331}" type="slidenum">
              <a:rPr lang="fr-FR" altLang="fr-FR" sz="1400"/>
              <a:pPr>
                <a:spcBef>
                  <a:spcPct val="0"/>
                </a:spcBef>
                <a:buFontTx/>
                <a:buNone/>
              </a:pPr>
              <a:t>1</a:t>
            </a:fld>
            <a:endParaRPr lang="fr-FR" altLang="fr-FR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4"/>
          <p:cNvSpPr>
            <a:spLocks noChangeArrowheads="1"/>
          </p:cNvSpPr>
          <p:nvPr/>
        </p:nvSpPr>
        <p:spPr bwMode="auto">
          <a:xfrm>
            <a:off x="457200" y="-171450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fr-FR" altLang="fr-FR" sz="2400">
                <a:solidFill>
                  <a:schemeClr val="tx2"/>
                </a:solidFill>
              </a:rPr>
              <a:t>Modèle simplifié</a:t>
            </a:r>
          </a:p>
        </p:txBody>
      </p:sp>
      <p:sp>
        <p:nvSpPr>
          <p:cNvPr id="4099" name="Text Box 5"/>
          <p:cNvSpPr txBox="1">
            <a:spLocks noChangeArrowheads="1"/>
          </p:cNvSpPr>
          <p:nvPr/>
        </p:nvSpPr>
        <p:spPr bwMode="auto">
          <a:xfrm>
            <a:off x="533400" y="836613"/>
            <a:ext cx="5073650" cy="75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fr-FR" altLang="fr-FR" sz="1800">
                <a:sym typeface="Symbol" panose="05050102010706020507" pitchFamily="18" charset="2"/>
              </a:rPr>
              <a:t>En x donné, un D.L. à l</a:t>
            </a:r>
            <a:r>
              <a:rPr lang="ja-JP" altLang="fr-FR" sz="1800">
                <a:sym typeface="Symbol" panose="05050102010706020507" pitchFamily="18" charset="2"/>
              </a:rPr>
              <a:t>’</a:t>
            </a:r>
            <a:r>
              <a:rPr lang="fr-FR" altLang="ja-JP" sz="1800">
                <a:sym typeface="Symbol" panose="05050102010706020507" pitchFamily="18" charset="2"/>
              </a:rPr>
              <a:t>ordre 1 de la distribution 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fr-FR" altLang="fr-FR" sz="1800">
                <a:sym typeface="Symbol" panose="05050102010706020507" pitchFamily="18" charset="2"/>
              </a:rPr>
              <a:t>de température  selon Oy donne:</a:t>
            </a:r>
          </a:p>
        </p:txBody>
      </p:sp>
      <p:graphicFrame>
        <p:nvGraphicFramePr>
          <p:cNvPr id="4100" name="Object 19"/>
          <p:cNvGraphicFramePr>
            <a:graphicFrameLocks noChangeAspect="1"/>
          </p:cNvGraphicFramePr>
          <p:nvPr/>
        </p:nvGraphicFramePr>
        <p:xfrm>
          <a:off x="2124075" y="1628775"/>
          <a:ext cx="4535488" cy="779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8" name="Equation" r:id="rId3" imgW="2514600" imgH="431800" progId="Equation.DSMT4">
                  <p:embed/>
                </p:oleObj>
              </mc:Choice>
              <mc:Fallback>
                <p:oleObj name="Equation" r:id="rId3" imgW="2514600" imgH="431800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4075" y="1628775"/>
                        <a:ext cx="4535488" cy="779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101" name="Group 26"/>
          <p:cNvGrpSpPr>
            <a:grpSpLocks/>
          </p:cNvGrpSpPr>
          <p:nvPr/>
        </p:nvGrpSpPr>
        <p:grpSpPr bwMode="auto">
          <a:xfrm>
            <a:off x="6011863" y="188913"/>
            <a:ext cx="2808287" cy="1447800"/>
            <a:chOff x="1882" y="935"/>
            <a:chExt cx="1769" cy="912"/>
          </a:xfrm>
        </p:grpSpPr>
        <p:sp>
          <p:nvSpPr>
            <p:cNvPr id="4115" name="Rectangle 7"/>
            <p:cNvSpPr>
              <a:spLocks noChangeArrowheads="1"/>
            </p:cNvSpPr>
            <p:nvPr/>
          </p:nvSpPr>
          <p:spPr bwMode="auto">
            <a:xfrm>
              <a:off x="1882" y="1389"/>
              <a:ext cx="1769" cy="27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fr-FR" altLang="fr-FR" sz="1800"/>
            </a:p>
          </p:txBody>
        </p:sp>
        <p:sp>
          <p:nvSpPr>
            <p:cNvPr id="4116" name="Line 10"/>
            <p:cNvSpPr>
              <a:spLocks noChangeShapeType="1"/>
            </p:cNvSpPr>
            <p:nvPr/>
          </p:nvSpPr>
          <p:spPr bwMode="auto">
            <a:xfrm flipV="1">
              <a:off x="2608" y="1026"/>
              <a:ext cx="0" cy="72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4117" name="Text Box 12"/>
            <p:cNvSpPr txBox="1">
              <a:spLocks noChangeArrowheads="1"/>
            </p:cNvSpPr>
            <p:nvPr/>
          </p:nvSpPr>
          <p:spPr bwMode="auto">
            <a:xfrm>
              <a:off x="3152" y="1389"/>
              <a:ext cx="1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1800"/>
                <a:t>x</a:t>
              </a:r>
            </a:p>
          </p:txBody>
        </p:sp>
        <p:sp>
          <p:nvSpPr>
            <p:cNvPr id="4118" name="Text Box 13"/>
            <p:cNvSpPr txBox="1">
              <a:spLocks noChangeArrowheads="1"/>
            </p:cNvSpPr>
            <p:nvPr/>
          </p:nvSpPr>
          <p:spPr bwMode="auto">
            <a:xfrm>
              <a:off x="2608" y="935"/>
              <a:ext cx="1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1800"/>
                <a:t>y</a:t>
              </a:r>
            </a:p>
          </p:txBody>
        </p:sp>
        <p:sp>
          <p:nvSpPr>
            <p:cNvPr id="4119" name="Line 17"/>
            <p:cNvSpPr>
              <a:spLocks noChangeShapeType="1"/>
            </p:cNvSpPr>
            <p:nvPr/>
          </p:nvSpPr>
          <p:spPr bwMode="auto">
            <a:xfrm>
              <a:off x="2608" y="1525"/>
              <a:ext cx="5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4120" name="Text Box 21"/>
            <p:cNvSpPr txBox="1">
              <a:spLocks noChangeArrowheads="1"/>
            </p:cNvSpPr>
            <p:nvPr/>
          </p:nvSpPr>
          <p:spPr bwMode="auto">
            <a:xfrm>
              <a:off x="2109" y="1207"/>
              <a:ext cx="55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1800"/>
                <a:t>y=+e/2</a:t>
              </a:r>
            </a:p>
          </p:txBody>
        </p:sp>
        <p:sp>
          <p:nvSpPr>
            <p:cNvPr id="4121" name="Text Box 22"/>
            <p:cNvSpPr txBox="1">
              <a:spLocks noChangeArrowheads="1"/>
            </p:cNvSpPr>
            <p:nvPr/>
          </p:nvSpPr>
          <p:spPr bwMode="auto">
            <a:xfrm>
              <a:off x="2109" y="1616"/>
              <a:ext cx="5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1800"/>
                <a:t>y=-e/2</a:t>
              </a:r>
            </a:p>
          </p:txBody>
        </p:sp>
      </p:grpSp>
      <p:sp>
        <p:nvSpPr>
          <p:cNvPr id="4102" name="Text Box 24"/>
          <p:cNvSpPr txBox="1">
            <a:spLocks noChangeArrowheads="1"/>
          </p:cNvSpPr>
          <p:nvPr/>
        </p:nvSpPr>
        <p:spPr bwMode="auto">
          <a:xfrm>
            <a:off x="533400" y="2708275"/>
            <a:ext cx="3873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/>
              <a:t>or</a:t>
            </a:r>
          </a:p>
        </p:txBody>
      </p:sp>
      <p:grpSp>
        <p:nvGrpSpPr>
          <p:cNvPr id="4103" name="Group 29"/>
          <p:cNvGrpSpPr>
            <a:grpSpLocks/>
          </p:cNvGrpSpPr>
          <p:nvPr/>
        </p:nvGrpSpPr>
        <p:grpSpPr bwMode="auto">
          <a:xfrm>
            <a:off x="1116013" y="2565400"/>
            <a:ext cx="7473950" cy="733425"/>
            <a:chOff x="508" y="2614"/>
            <a:chExt cx="4708" cy="462"/>
          </a:xfrm>
        </p:grpSpPr>
        <p:graphicFrame>
          <p:nvGraphicFramePr>
            <p:cNvPr id="4112" name="Object 25"/>
            <p:cNvGraphicFramePr>
              <a:graphicFrameLocks noChangeAspect="1"/>
            </p:cNvGraphicFramePr>
            <p:nvPr/>
          </p:nvGraphicFramePr>
          <p:xfrm>
            <a:off x="508" y="2614"/>
            <a:ext cx="2417" cy="4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29" name="Equation" r:id="rId5" imgW="2387600" imgH="457200" progId="Equation.DSMT4">
                    <p:embed/>
                  </p:oleObj>
                </mc:Choice>
                <mc:Fallback>
                  <p:oleObj name="Equation" r:id="rId5" imgW="2387600" imgH="457200" progId="Equation.DSMT4">
                    <p:embed/>
                    <p:pic>
                      <p:nvPicPr>
                        <p:cNvPr id="0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8" y="2614"/>
                          <a:ext cx="2417" cy="4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113" name="Object 27"/>
            <p:cNvGraphicFramePr>
              <a:graphicFrameLocks noChangeAspect="1"/>
            </p:cNvGraphicFramePr>
            <p:nvPr/>
          </p:nvGraphicFramePr>
          <p:xfrm>
            <a:off x="3602" y="2641"/>
            <a:ext cx="1614" cy="4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30" name="Equation" r:id="rId7" imgW="1600200" imgH="431800" progId="Equation.DSMT4">
                    <p:embed/>
                  </p:oleObj>
                </mc:Choice>
                <mc:Fallback>
                  <p:oleObj name="Equation" r:id="rId7" imgW="1600200" imgH="431800" progId="Equation.DSMT4">
                    <p:embed/>
                    <p:pic>
                      <p:nvPicPr>
                        <p:cNvPr id="0" name="Object 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02" y="2641"/>
                          <a:ext cx="1614" cy="4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114" name="Text Box 28"/>
            <p:cNvSpPr txBox="1">
              <a:spLocks noChangeArrowheads="1"/>
            </p:cNvSpPr>
            <p:nvPr/>
          </p:nvSpPr>
          <p:spPr bwMode="auto">
            <a:xfrm>
              <a:off x="3050" y="2745"/>
              <a:ext cx="4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1800"/>
                <a:t>avec</a:t>
              </a:r>
            </a:p>
          </p:txBody>
        </p:sp>
      </p:grpSp>
      <p:graphicFrame>
        <p:nvGraphicFramePr>
          <p:cNvPr id="4104" name="Object 31"/>
          <p:cNvGraphicFramePr>
            <a:graphicFrameLocks noChangeAspect="1"/>
          </p:cNvGraphicFramePr>
          <p:nvPr/>
        </p:nvGraphicFramePr>
        <p:xfrm>
          <a:off x="2843213" y="3357563"/>
          <a:ext cx="3286125" cy="733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31" name="Equation" r:id="rId9" imgW="2044700" imgH="457200" progId="Equation.DSMT4">
                  <p:embed/>
                </p:oleObj>
              </mc:Choice>
              <mc:Fallback>
                <p:oleObj name="Equation" r:id="rId9" imgW="2044700" imgH="457200" progId="Equation.DSMT4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3213" y="3357563"/>
                        <a:ext cx="3286125" cy="733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5" name="Object 34"/>
          <p:cNvGraphicFramePr>
            <a:graphicFrameLocks noChangeAspect="1"/>
          </p:cNvGraphicFramePr>
          <p:nvPr/>
        </p:nvGraphicFramePr>
        <p:xfrm>
          <a:off x="2216150" y="4365625"/>
          <a:ext cx="5451475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32" name="Equation" r:id="rId11" imgW="3022600" imgH="457200" progId="Equation.DSMT4">
                  <p:embed/>
                </p:oleObj>
              </mc:Choice>
              <mc:Fallback>
                <p:oleObj name="Equation" r:id="rId11" imgW="3022600" imgH="457200" progId="Equation.DSMT4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6150" y="4365625"/>
                        <a:ext cx="5451475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33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FF33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6" name="Text Box 35"/>
          <p:cNvSpPr txBox="1">
            <a:spLocks noChangeArrowheads="1"/>
          </p:cNvSpPr>
          <p:nvPr/>
        </p:nvSpPr>
        <p:spPr bwMode="auto">
          <a:xfrm>
            <a:off x="533400" y="3500438"/>
            <a:ext cx="12509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/>
              <a:t>Ou encore</a:t>
            </a:r>
          </a:p>
        </p:txBody>
      </p:sp>
      <p:sp>
        <p:nvSpPr>
          <p:cNvPr id="4107" name="Text Box 36"/>
          <p:cNvSpPr txBox="1">
            <a:spLocks noChangeArrowheads="1"/>
          </p:cNvSpPr>
          <p:nvPr/>
        </p:nvSpPr>
        <p:spPr bwMode="auto">
          <a:xfrm>
            <a:off x="533400" y="4575175"/>
            <a:ext cx="1441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/>
              <a:t>Dans le D.L.</a:t>
            </a:r>
          </a:p>
        </p:txBody>
      </p:sp>
      <p:sp>
        <p:nvSpPr>
          <p:cNvPr id="4108" name="Text Box 37"/>
          <p:cNvSpPr txBox="1">
            <a:spLocks noChangeArrowheads="1"/>
          </p:cNvSpPr>
          <p:nvPr/>
        </p:nvSpPr>
        <p:spPr bwMode="auto">
          <a:xfrm>
            <a:off x="533400" y="5294313"/>
            <a:ext cx="52133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/>
              <a:t>L</a:t>
            </a:r>
            <a:r>
              <a:rPr lang="ja-JP" altLang="fr-FR" sz="1800"/>
              <a:t>’</a:t>
            </a:r>
            <a:r>
              <a:rPr lang="fr-FR" altLang="ja-JP" sz="1800"/>
              <a:t>hypothèse d</a:t>
            </a:r>
            <a:r>
              <a:rPr lang="ja-JP" altLang="fr-FR" sz="1800"/>
              <a:t>’</a:t>
            </a:r>
            <a:r>
              <a:rPr lang="fr-FR" altLang="ja-JP" sz="1800"/>
              <a:t>invariance selon Oy est justifiée ssi</a:t>
            </a:r>
            <a:endParaRPr lang="fr-FR" altLang="fr-FR" sz="1800"/>
          </a:p>
        </p:txBody>
      </p:sp>
      <p:graphicFrame>
        <p:nvGraphicFramePr>
          <p:cNvPr id="4109" name="Object 38"/>
          <p:cNvGraphicFramePr>
            <a:graphicFrameLocks noChangeAspect="1"/>
          </p:cNvGraphicFramePr>
          <p:nvPr/>
        </p:nvGraphicFramePr>
        <p:xfrm>
          <a:off x="3998913" y="5683250"/>
          <a:ext cx="1671637" cy="779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33" name="Equation" r:id="rId13" imgW="927100" imgH="431800" progId="Equation.DSMT4">
                  <p:embed/>
                </p:oleObj>
              </mc:Choice>
              <mc:Fallback>
                <p:oleObj name="Equation" r:id="rId13" imgW="927100" imgH="431800" progId="Equation.DSMT4">
                  <p:embed/>
                  <p:pic>
                    <p:nvPicPr>
                      <p:cNvPr id="0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8913" y="5683250"/>
                        <a:ext cx="1671637" cy="779463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33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10" name="Text Box 39"/>
          <p:cNvSpPr txBox="1">
            <a:spLocks noChangeArrowheads="1"/>
          </p:cNvSpPr>
          <p:nvPr/>
        </p:nvSpPr>
        <p:spPr bwMode="auto">
          <a:xfrm>
            <a:off x="1512888" y="5870575"/>
            <a:ext cx="20510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/>
              <a:t>Le nombre de Biot</a:t>
            </a:r>
          </a:p>
        </p:txBody>
      </p:sp>
      <p:sp>
        <p:nvSpPr>
          <p:cNvPr id="4111" name="Espace réservé du numéro de diapositive 2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9EDE1FD-1AEF-417A-AF6F-9D9F666A30E8}" type="slidenum">
              <a:rPr lang="fr-FR" altLang="fr-FR" sz="1400"/>
              <a:pPr>
                <a:spcBef>
                  <a:spcPct val="0"/>
                </a:spcBef>
                <a:buFontTx/>
                <a:buNone/>
              </a:pPr>
              <a:t>2</a:t>
            </a:fld>
            <a:endParaRPr lang="fr-FR" altLang="fr-FR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4"/>
          <p:cNvSpPr>
            <a:spLocks noChangeArrowheads="1"/>
          </p:cNvSpPr>
          <p:nvPr/>
        </p:nvSpPr>
        <p:spPr bwMode="auto">
          <a:xfrm>
            <a:off x="457200" y="-26988"/>
            <a:ext cx="8229600" cy="1143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fr-FR" altLang="fr-FR" dirty="0">
                <a:solidFill>
                  <a:schemeClr val="tx2"/>
                </a:solidFill>
              </a:rPr>
              <a:t>Equation de la </a:t>
            </a:r>
            <a:r>
              <a:rPr lang="fr-FR" altLang="fr-FR" dirty="0" smtClean="0">
                <a:solidFill>
                  <a:schemeClr val="tx2"/>
                </a:solidFill>
              </a:rPr>
              <a:t>chaleur hors équilibre</a:t>
            </a:r>
            <a:r>
              <a:rPr lang="fr-FR" altLang="fr-FR" dirty="0">
                <a:solidFill>
                  <a:schemeClr val="tx2"/>
                </a:solidFill>
              </a:rPr>
              <a:t/>
            </a:r>
            <a:br>
              <a:rPr lang="fr-FR" altLang="fr-FR" dirty="0">
                <a:solidFill>
                  <a:schemeClr val="tx2"/>
                </a:solidFill>
              </a:rPr>
            </a:br>
            <a:r>
              <a:rPr lang="fr-FR" altLang="fr-FR" dirty="0">
                <a:solidFill>
                  <a:schemeClr val="tx2"/>
                </a:solidFill>
              </a:rPr>
              <a:t>pour le problème de </a:t>
            </a:r>
            <a:r>
              <a:rPr lang="fr-FR" altLang="fr-FR" dirty="0" smtClean="0">
                <a:solidFill>
                  <a:schemeClr val="tx2"/>
                </a:solidFill>
              </a:rPr>
              <a:t>l</a:t>
            </a:r>
            <a:r>
              <a:rPr lang="fr-FR" altLang="fr-FR" dirty="0" smtClean="0">
                <a:solidFill>
                  <a:schemeClr val="tx2"/>
                </a:solidFill>
              </a:rPr>
              <a:t>’</a:t>
            </a:r>
            <a:r>
              <a:rPr lang="fr-FR" altLang="ja-JP" dirty="0" smtClean="0">
                <a:solidFill>
                  <a:schemeClr val="tx2"/>
                </a:solidFill>
              </a:rPr>
              <a:t>ailette</a:t>
            </a:r>
            <a:endParaRPr lang="fr-FR" altLang="fr-FR" dirty="0">
              <a:solidFill>
                <a:schemeClr val="tx2"/>
              </a:solidFill>
            </a:endParaRPr>
          </a:p>
        </p:txBody>
      </p:sp>
      <p:sp>
        <p:nvSpPr>
          <p:cNvPr id="16387" name="Text Box 7"/>
          <p:cNvSpPr txBox="1">
            <a:spLocks noChangeArrowheads="1"/>
          </p:cNvSpPr>
          <p:nvPr/>
        </p:nvSpPr>
        <p:spPr bwMode="auto">
          <a:xfrm>
            <a:off x="6156176" y="1414536"/>
            <a:ext cx="20129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 dirty="0"/>
              <a:t>p est le périmètre </a:t>
            </a:r>
          </a:p>
        </p:txBody>
      </p:sp>
      <p:graphicFrame>
        <p:nvGraphicFramePr>
          <p:cNvPr id="16388" name="Object 8"/>
          <p:cNvGraphicFramePr>
            <a:graphicFrameLocks noChangeAspect="1"/>
          </p:cNvGraphicFramePr>
          <p:nvPr>
            <p:extLst/>
          </p:nvPr>
        </p:nvGraphicFramePr>
        <p:xfrm>
          <a:off x="6195410" y="1819672"/>
          <a:ext cx="2033588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6" name="Equation" r:id="rId3" imgW="1130040" imgH="253800" progId="Equation.DSMT4">
                  <p:embed/>
                </p:oleObj>
              </mc:Choice>
              <mc:Fallback>
                <p:oleObj name="Equation" r:id="rId3" imgW="1130040" imgH="253800" progId="Equation.DSMT4">
                  <p:embed/>
                  <p:pic>
                    <p:nvPicPr>
                      <p:cNvPr id="16388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95410" y="1819672"/>
                        <a:ext cx="2033588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89" name="Text Box 10"/>
          <p:cNvSpPr txBox="1">
            <a:spLocks noChangeArrowheads="1"/>
          </p:cNvSpPr>
          <p:nvPr/>
        </p:nvSpPr>
        <p:spPr bwMode="auto">
          <a:xfrm>
            <a:off x="663575" y="2728913"/>
            <a:ext cx="8312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On écrit la conservation des flux de chaleur dans un petit volume de longueur dx</a:t>
            </a:r>
          </a:p>
        </p:txBody>
      </p:sp>
      <p:graphicFrame>
        <p:nvGraphicFramePr>
          <p:cNvPr id="16390" name="Object 11"/>
          <p:cNvGraphicFramePr>
            <a:graphicFrameLocks noChangeAspect="1"/>
          </p:cNvGraphicFramePr>
          <p:nvPr/>
        </p:nvGraphicFramePr>
        <p:xfrm>
          <a:off x="1692275" y="4338638"/>
          <a:ext cx="3152775" cy="458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7" name="Equation" r:id="rId5" imgW="1752600" imgH="254000" progId="Equation.DSMT4">
                  <p:embed/>
                </p:oleObj>
              </mc:Choice>
              <mc:Fallback>
                <p:oleObj name="Equation" r:id="rId5" imgW="1752600" imgH="254000" progId="Equation.DSMT4">
                  <p:embed/>
                  <p:pic>
                    <p:nvPicPr>
                      <p:cNvPr id="1639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2275" y="4338638"/>
                        <a:ext cx="3152775" cy="458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91" name="Text Box 12"/>
          <p:cNvSpPr txBox="1">
            <a:spLocks noChangeArrowheads="1"/>
          </p:cNvSpPr>
          <p:nvPr/>
        </p:nvSpPr>
        <p:spPr bwMode="auto">
          <a:xfrm>
            <a:off x="683568" y="4365625"/>
            <a:ext cx="9842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 dirty="0"/>
              <a:t>Comme</a:t>
            </a:r>
          </a:p>
        </p:txBody>
      </p:sp>
      <p:graphicFrame>
        <p:nvGraphicFramePr>
          <p:cNvPr id="16392" name="Object 13"/>
          <p:cNvGraphicFramePr>
            <a:graphicFrameLocks noChangeAspect="1"/>
          </p:cNvGraphicFramePr>
          <p:nvPr/>
        </p:nvGraphicFramePr>
        <p:xfrm>
          <a:off x="1080293" y="4848187"/>
          <a:ext cx="6583363" cy="868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8" name="Equation" r:id="rId7" imgW="3657600" imgH="482400" progId="Equation.DSMT4">
                  <p:embed/>
                </p:oleObj>
              </mc:Choice>
              <mc:Fallback>
                <p:oleObj name="Equation" r:id="rId7" imgW="3657600" imgH="482400" progId="Equation.DSMT4">
                  <p:embed/>
                  <p:pic>
                    <p:nvPicPr>
                      <p:cNvPr id="16392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80293" y="4848187"/>
                        <a:ext cx="6583363" cy="868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6394" name="Group 17"/>
          <p:cNvGrpSpPr>
            <a:grpSpLocks/>
          </p:cNvGrpSpPr>
          <p:nvPr/>
        </p:nvGrpSpPr>
        <p:grpSpPr bwMode="auto">
          <a:xfrm>
            <a:off x="827584" y="1125538"/>
            <a:ext cx="4978400" cy="1444625"/>
            <a:chOff x="1292" y="709"/>
            <a:chExt cx="3136" cy="910"/>
          </a:xfrm>
        </p:grpSpPr>
        <p:pic>
          <p:nvPicPr>
            <p:cNvPr id="16396" name="Picture 9" descr="ailette2"/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800" t="44589" r="45526" b="46390"/>
            <a:stretch>
              <a:fillRect/>
            </a:stretch>
          </p:blipFill>
          <p:spPr bwMode="auto">
            <a:xfrm>
              <a:off x="1338" y="709"/>
              <a:ext cx="3090" cy="9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397" name="Text Box 15"/>
            <p:cNvSpPr txBox="1">
              <a:spLocks noChangeArrowheads="1"/>
            </p:cNvSpPr>
            <p:nvPr/>
          </p:nvSpPr>
          <p:spPr bwMode="auto">
            <a:xfrm>
              <a:off x="1292" y="1253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fr-FR" altLang="fr-FR" sz="1800"/>
                <a:t>0</a:t>
              </a:r>
            </a:p>
          </p:txBody>
        </p:sp>
        <p:sp>
          <p:nvSpPr>
            <p:cNvPr id="16398" name="Text Box 16"/>
            <p:cNvSpPr txBox="1">
              <a:spLocks noChangeArrowheads="1"/>
            </p:cNvSpPr>
            <p:nvPr/>
          </p:nvSpPr>
          <p:spPr bwMode="auto">
            <a:xfrm>
              <a:off x="3334" y="1253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fr-FR" altLang="fr-FR" sz="1800"/>
                <a:t>L</a:t>
              </a:r>
            </a:p>
          </p:txBody>
        </p:sp>
      </p:grpSp>
      <p:sp>
        <p:nvSpPr>
          <p:cNvPr id="16395" name="Espace réservé du numéro de diapositive 1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9099D78A-E8A0-477D-8DD6-5A36BB71DBF2}" type="slidenum">
              <a:rPr lang="fr-FR" altLang="fr-FR" sz="1400"/>
              <a:pPr eaLnBrk="1" hangingPunct="1"/>
              <a:t>3</a:t>
            </a:fld>
            <a:endParaRPr lang="fr-FR" altLang="fr-FR" sz="1400"/>
          </a:p>
        </p:txBody>
      </p:sp>
      <p:graphicFrame>
        <p:nvGraphicFramePr>
          <p:cNvPr id="16" name="Object 7"/>
          <p:cNvGraphicFramePr>
            <a:graphicFrameLocks noChangeAspect="1"/>
          </p:cNvGraphicFramePr>
          <p:nvPr/>
        </p:nvGraphicFramePr>
        <p:xfrm>
          <a:off x="717550" y="3114386"/>
          <a:ext cx="7308850" cy="1235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9" name="Equation" r:id="rId10" imgW="4064000" imgH="685800" progId="Equation.DSMT4">
                  <p:embed/>
                </p:oleObj>
              </mc:Choice>
              <mc:Fallback>
                <p:oleObj name="Equation" r:id="rId10" imgW="4064000" imgH="685800" progId="Equation.DSMT4">
                  <p:embed/>
                  <p:pic>
                    <p:nvPicPr>
                      <p:cNvPr id="16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7550" y="3114386"/>
                        <a:ext cx="7308850" cy="1235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2"/>
          <p:cNvGraphicFramePr>
            <a:graphicFrameLocks noChangeAspect="1"/>
          </p:cNvGraphicFramePr>
          <p:nvPr/>
        </p:nvGraphicFramePr>
        <p:xfrm>
          <a:off x="6513279" y="6014382"/>
          <a:ext cx="1185862" cy="433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0" name="Equation" r:id="rId12" imgW="660113" imgH="241195" progId="Equation.DSMT4">
                  <p:embed/>
                </p:oleObj>
              </mc:Choice>
              <mc:Fallback>
                <p:oleObj name="Equation" r:id="rId12" imgW="660113" imgH="241195" progId="Equation.DSMT4">
                  <p:embed/>
                  <p:pic>
                    <p:nvPicPr>
                      <p:cNvPr id="18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13279" y="6014382"/>
                        <a:ext cx="1185862" cy="433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CC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13"/>
          <p:cNvGraphicFramePr>
            <a:graphicFrameLocks noChangeAspect="1"/>
          </p:cNvGraphicFramePr>
          <p:nvPr/>
        </p:nvGraphicFramePr>
        <p:xfrm>
          <a:off x="752241" y="5860394"/>
          <a:ext cx="5529263" cy="754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1" name="Equation" r:id="rId14" imgW="3073400" imgH="419100" progId="Equation.DSMT4">
                  <p:embed/>
                </p:oleObj>
              </mc:Choice>
              <mc:Fallback>
                <p:oleObj name="Equation" r:id="rId14" imgW="3073400" imgH="419100" progId="Equation.DSMT4">
                  <p:embed/>
                  <p:pic>
                    <p:nvPicPr>
                      <p:cNvPr id="19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2241" y="5860394"/>
                        <a:ext cx="5529263" cy="754063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33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CC00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20564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4"/>
          <p:cNvSpPr>
            <a:spLocks noChangeArrowheads="1"/>
          </p:cNvSpPr>
          <p:nvPr/>
        </p:nvSpPr>
        <p:spPr bwMode="auto">
          <a:xfrm>
            <a:off x="457200" y="-90488"/>
            <a:ext cx="8229600" cy="1143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fr-FR" altLang="fr-FR">
                <a:solidFill>
                  <a:schemeClr val="tx2"/>
                </a:solidFill>
              </a:rPr>
              <a:t>Approche analytique</a:t>
            </a:r>
          </a:p>
        </p:txBody>
      </p:sp>
      <p:sp>
        <p:nvSpPr>
          <p:cNvPr id="17410" name="Text Box 5"/>
          <p:cNvSpPr txBox="1">
            <a:spLocks noChangeArrowheads="1"/>
          </p:cNvSpPr>
          <p:nvPr/>
        </p:nvSpPr>
        <p:spPr bwMode="auto">
          <a:xfrm>
            <a:off x="303213" y="908050"/>
            <a:ext cx="7956550" cy="173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Comme les flux de chaleur sont négligeables à travers les petites faces, on a</a:t>
            </a:r>
          </a:p>
          <a:p>
            <a:pPr eaLnBrk="1" hangingPunct="1"/>
            <a:endParaRPr lang="fr-FR" altLang="fr-FR" sz="1800"/>
          </a:p>
          <a:p>
            <a:pPr eaLnBrk="1" hangingPunct="1"/>
            <a:endParaRPr lang="fr-FR" altLang="fr-FR" sz="1800"/>
          </a:p>
          <a:p>
            <a:pPr eaLnBrk="1" hangingPunct="1"/>
            <a:endParaRPr lang="fr-FR" altLang="fr-FR" sz="1800"/>
          </a:p>
          <a:p>
            <a:pPr eaLnBrk="1" hangingPunct="1"/>
            <a:endParaRPr lang="fr-FR" altLang="fr-FR" sz="1800"/>
          </a:p>
          <a:p>
            <a:pPr eaLnBrk="1" hangingPunct="1"/>
            <a:r>
              <a:rPr lang="fr-FR" altLang="fr-FR" sz="1800"/>
              <a:t>Autrement dit, une condition de Neumann homogène en x=L :</a:t>
            </a:r>
          </a:p>
        </p:txBody>
      </p:sp>
      <p:graphicFrame>
        <p:nvGraphicFramePr>
          <p:cNvPr id="17411" name="Object 6"/>
          <p:cNvGraphicFramePr>
            <a:graphicFrameLocks noChangeAspect="1"/>
          </p:cNvGraphicFramePr>
          <p:nvPr/>
        </p:nvGraphicFramePr>
        <p:xfrm>
          <a:off x="1558925" y="1320800"/>
          <a:ext cx="4772025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0" name="Equation" r:id="rId3" imgW="2654300" imgH="444500" progId="Equation.DSMT4">
                  <p:embed/>
                </p:oleObj>
              </mc:Choice>
              <mc:Fallback>
                <p:oleObj name="Equation" r:id="rId3" imgW="2654300" imgH="444500" progId="Equation.DSMT4">
                  <p:embed/>
                  <p:pic>
                    <p:nvPicPr>
                      <p:cNvPr id="17411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8925" y="1320800"/>
                        <a:ext cx="4772025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2" name="Object 7"/>
          <p:cNvGraphicFramePr>
            <a:graphicFrameLocks noChangeAspect="1"/>
          </p:cNvGraphicFramePr>
          <p:nvPr/>
        </p:nvGraphicFramePr>
        <p:xfrm>
          <a:off x="6732588" y="2039938"/>
          <a:ext cx="1027112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1" name="Equation" r:id="rId5" imgW="571252" imgH="444307" progId="Equation.DSMT4">
                  <p:embed/>
                </p:oleObj>
              </mc:Choice>
              <mc:Fallback>
                <p:oleObj name="Equation" r:id="rId5" imgW="571252" imgH="444307" progId="Equation.DSMT4">
                  <p:embed/>
                  <p:pic>
                    <p:nvPicPr>
                      <p:cNvPr id="17412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32588" y="2039938"/>
                        <a:ext cx="1027112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3" name="Text Box 8"/>
          <p:cNvSpPr txBox="1">
            <a:spLocks noChangeArrowheads="1"/>
          </p:cNvSpPr>
          <p:nvPr/>
        </p:nvSpPr>
        <p:spPr bwMode="auto">
          <a:xfrm>
            <a:off x="303213" y="3068638"/>
            <a:ext cx="78803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 dirty="0"/>
              <a:t>En supposant que la température est fixée à gauche (condition de Dirichlet),</a:t>
            </a:r>
          </a:p>
          <a:p>
            <a:pPr eaLnBrk="1" hangingPunct="1"/>
            <a:r>
              <a:rPr lang="fr-FR" altLang="fr-FR" sz="1800" dirty="0"/>
              <a:t>montrer que la distribution de température à l</a:t>
            </a:r>
            <a:r>
              <a:rPr lang="ja-JP" altLang="fr-FR" sz="1800" dirty="0"/>
              <a:t>’</a:t>
            </a:r>
            <a:r>
              <a:rPr lang="fr-FR" altLang="ja-JP" sz="1800" b="1" dirty="0"/>
              <a:t>équilibre</a:t>
            </a:r>
            <a:r>
              <a:rPr lang="fr-FR" altLang="ja-JP" sz="1800" dirty="0"/>
              <a:t> est décrite par : </a:t>
            </a:r>
            <a:endParaRPr lang="fr-FR" altLang="fr-FR" sz="1800" dirty="0"/>
          </a:p>
        </p:txBody>
      </p:sp>
      <p:graphicFrame>
        <p:nvGraphicFramePr>
          <p:cNvPr id="17414" name="Object 9"/>
          <p:cNvGraphicFramePr>
            <a:graphicFrameLocks noChangeAspect="1"/>
          </p:cNvGraphicFramePr>
          <p:nvPr/>
        </p:nvGraphicFramePr>
        <p:xfrm>
          <a:off x="1325563" y="3789363"/>
          <a:ext cx="5937250" cy="892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2" name="Equation" r:id="rId7" imgW="3302000" imgH="495300" progId="Equation.DSMT4">
                  <p:embed/>
                </p:oleObj>
              </mc:Choice>
              <mc:Fallback>
                <p:oleObj name="Equation" r:id="rId7" imgW="3302000" imgH="495300" progId="Equation.DSMT4">
                  <p:embed/>
                  <p:pic>
                    <p:nvPicPr>
                      <p:cNvPr id="17414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25563" y="3789363"/>
                        <a:ext cx="5937250" cy="892175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33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CC00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5" name="Text Box 10"/>
          <p:cNvSpPr txBox="1">
            <a:spLocks noChangeArrowheads="1"/>
          </p:cNvSpPr>
          <p:nvPr/>
        </p:nvSpPr>
        <p:spPr bwMode="auto">
          <a:xfrm>
            <a:off x="323850" y="4873625"/>
            <a:ext cx="72453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Tracer cette distribution avec Matlab en prenant comme paramètres : </a:t>
            </a:r>
          </a:p>
        </p:txBody>
      </p:sp>
      <p:graphicFrame>
        <p:nvGraphicFramePr>
          <p:cNvPr id="17416" name="Object 11"/>
          <p:cNvGraphicFramePr>
            <a:graphicFrameLocks noChangeAspect="1"/>
          </p:cNvGraphicFramePr>
          <p:nvPr/>
        </p:nvGraphicFramePr>
        <p:xfrm>
          <a:off x="1835150" y="5299075"/>
          <a:ext cx="4840288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3" name="Equation" r:id="rId9" imgW="2692400" imgH="241300" progId="Equation.DSMT4">
                  <p:embed/>
                </p:oleObj>
              </mc:Choice>
              <mc:Fallback>
                <p:oleObj name="Equation" r:id="rId9" imgW="2692400" imgH="241300" progId="Equation.DSMT4">
                  <p:embed/>
                  <p:pic>
                    <p:nvPicPr>
                      <p:cNvPr id="17416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150" y="5299075"/>
                        <a:ext cx="4840288" cy="434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7" name="Object 12"/>
          <p:cNvGraphicFramePr>
            <a:graphicFrameLocks noChangeAspect="1"/>
          </p:cNvGraphicFramePr>
          <p:nvPr/>
        </p:nvGraphicFramePr>
        <p:xfrm>
          <a:off x="4787900" y="6165850"/>
          <a:ext cx="2535238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4" name="Equation" r:id="rId11" imgW="1409088" imgH="241195" progId="Equation.DSMT4">
                  <p:embed/>
                </p:oleObj>
              </mc:Choice>
              <mc:Fallback>
                <p:oleObj name="Equation" r:id="rId11" imgW="1409088" imgH="241195" progId="Equation.DSMT4">
                  <p:embed/>
                  <p:pic>
                    <p:nvPicPr>
                      <p:cNvPr id="17417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7900" y="6165850"/>
                        <a:ext cx="2535238" cy="434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8" name="Text Box 13"/>
          <p:cNvSpPr txBox="1">
            <a:spLocks noChangeArrowheads="1"/>
          </p:cNvSpPr>
          <p:nvPr/>
        </p:nvSpPr>
        <p:spPr bwMode="auto">
          <a:xfrm>
            <a:off x="395288" y="5805488"/>
            <a:ext cx="6267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Puis dans le cas d</a:t>
            </a:r>
            <a:r>
              <a:rPr lang="ja-JP" altLang="fr-FR" sz="1800"/>
              <a:t>’</a:t>
            </a:r>
            <a:r>
              <a:rPr lang="fr-FR" altLang="ja-JP" sz="1800"/>
              <a:t>un flux de convection forcée (ventilateur) </a:t>
            </a:r>
            <a:endParaRPr lang="fr-FR" altLang="fr-FR" sz="1800"/>
          </a:p>
        </p:txBody>
      </p:sp>
      <p:sp>
        <p:nvSpPr>
          <p:cNvPr id="17419" name="Espace réservé du numéro de diapositive 1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EBAEE4F2-E526-4B6A-AFBD-0EC68A9A4369}" type="slidenum">
              <a:rPr lang="fr-FR" altLang="fr-FR" sz="1400"/>
              <a:pPr eaLnBrk="1" hangingPunct="1"/>
              <a:t>4</a:t>
            </a:fld>
            <a:endParaRPr lang="fr-FR" altLang="fr-FR" sz="1400"/>
          </a:p>
        </p:txBody>
      </p:sp>
    </p:spTree>
    <p:extLst>
      <p:ext uri="{BB962C8B-B14F-4D97-AF65-F5344CB8AC3E}">
        <p14:creationId xmlns:p14="http://schemas.microsoft.com/office/powerpoint/2010/main" val="7387433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4"/>
          <p:cNvSpPr>
            <a:spLocks noChangeArrowheads="1"/>
          </p:cNvSpPr>
          <p:nvPr/>
        </p:nvSpPr>
        <p:spPr bwMode="auto">
          <a:xfrm>
            <a:off x="457200" y="-90488"/>
            <a:ext cx="8229600" cy="1143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fr-FR" altLang="fr-FR" sz="2400">
                <a:solidFill>
                  <a:schemeClr val="tx2"/>
                </a:solidFill>
              </a:rPr>
              <a:t>Approche analytique</a:t>
            </a:r>
          </a:p>
        </p:txBody>
      </p:sp>
      <p:sp>
        <p:nvSpPr>
          <p:cNvPr id="6147" name="Text Box 5"/>
          <p:cNvSpPr txBox="1">
            <a:spLocks noChangeArrowheads="1"/>
          </p:cNvSpPr>
          <p:nvPr/>
        </p:nvSpPr>
        <p:spPr bwMode="auto">
          <a:xfrm>
            <a:off x="303213" y="908050"/>
            <a:ext cx="7956550" cy="173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/>
              <a:t>Comme les flux de chaleur sont négligeables à travers les petites faces, on a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/>
              <a:t>Autrement dit, une condition de Neumann homogène en x=L :</a:t>
            </a:r>
          </a:p>
        </p:txBody>
      </p:sp>
      <p:graphicFrame>
        <p:nvGraphicFramePr>
          <p:cNvPr id="6148" name="Object 6"/>
          <p:cNvGraphicFramePr>
            <a:graphicFrameLocks noChangeAspect="1"/>
          </p:cNvGraphicFramePr>
          <p:nvPr/>
        </p:nvGraphicFramePr>
        <p:xfrm>
          <a:off x="1558925" y="1320800"/>
          <a:ext cx="4772025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2" name="Equation" r:id="rId3" imgW="2654300" imgH="444500" progId="Equation.DSMT4">
                  <p:embed/>
                </p:oleObj>
              </mc:Choice>
              <mc:Fallback>
                <p:oleObj name="Equation" r:id="rId3" imgW="2654300" imgH="4445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8925" y="1320800"/>
                        <a:ext cx="4772025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9" name="Object 7"/>
          <p:cNvGraphicFramePr>
            <a:graphicFrameLocks noChangeAspect="1"/>
          </p:cNvGraphicFramePr>
          <p:nvPr/>
        </p:nvGraphicFramePr>
        <p:xfrm>
          <a:off x="6732588" y="2039938"/>
          <a:ext cx="1027112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3" name="Equation" r:id="rId5" imgW="571252" imgH="444307" progId="Equation.DSMT4">
                  <p:embed/>
                </p:oleObj>
              </mc:Choice>
              <mc:Fallback>
                <p:oleObj name="Equation" r:id="rId5" imgW="571252" imgH="444307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32588" y="2039938"/>
                        <a:ext cx="1027112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50" name="Text Box 8"/>
          <p:cNvSpPr txBox="1">
            <a:spLocks noChangeArrowheads="1"/>
          </p:cNvSpPr>
          <p:nvPr/>
        </p:nvSpPr>
        <p:spPr bwMode="auto">
          <a:xfrm>
            <a:off x="303213" y="3068638"/>
            <a:ext cx="78803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/>
              <a:t>En supposant que la température est fixée à gauche (condition de Dirichlet),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/>
              <a:t>montrer que la distribution de température à l</a:t>
            </a:r>
            <a:r>
              <a:rPr lang="ja-JP" altLang="fr-FR" sz="1800"/>
              <a:t>’</a:t>
            </a:r>
            <a:r>
              <a:rPr lang="fr-FR" altLang="ja-JP" sz="1800"/>
              <a:t>équilibre est décrite par : </a:t>
            </a:r>
            <a:endParaRPr lang="fr-FR" altLang="fr-FR" sz="1800"/>
          </a:p>
        </p:txBody>
      </p:sp>
      <p:graphicFrame>
        <p:nvGraphicFramePr>
          <p:cNvPr id="6151" name="Object 9"/>
          <p:cNvGraphicFramePr>
            <a:graphicFrameLocks noChangeAspect="1"/>
          </p:cNvGraphicFramePr>
          <p:nvPr/>
        </p:nvGraphicFramePr>
        <p:xfrm>
          <a:off x="1325563" y="3789363"/>
          <a:ext cx="5937250" cy="892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4" name="Equation" r:id="rId7" imgW="3302000" imgH="495300" progId="Equation.DSMT4">
                  <p:embed/>
                </p:oleObj>
              </mc:Choice>
              <mc:Fallback>
                <p:oleObj name="Equation" r:id="rId7" imgW="3302000" imgH="4953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25563" y="3789363"/>
                        <a:ext cx="5937250" cy="892175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33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CC00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52" name="Text Box 10"/>
          <p:cNvSpPr txBox="1">
            <a:spLocks noChangeArrowheads="1"/>
          </p:cNvSpPr>
          <p:nvPr/>
        </p:nvSpPr>
        <p:spPr bwMode="auto">
          <a:xfrm>
            <a:off x="323850" y="4873625"/>
            <a:ext cx="72453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/>
              <a:t>Tracer cette distribution avec Matlab en prenant comme paramètres : </a:t>
            </a:r>
          </a:p>
        </p:txBody>
      </p:sp>
      <p:graphicFrame>
        <p:nvGraphicFramePr>
          <p:cNvPr id="6153" name="Object 11"/>
          <p:cNvGraphicFramePr>
            <a:graphicFrameLocks noChangeAspect="1"/>
          </p:cNvGraphicFramePr>
          <p:nvPr/>
        </p:nvGraphicFramePr>
        <p:xfrm>
          <a:off x="1835150" y="5299075"/>
          <a:ext cx="4840288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5" name="Equation" r:id="rId9" imgW="2692400" imgH="241300" progId="Equation.DSMT4">
                  <p:embed/>
                </p:oleObj>
              </mc:Choice>
              <mc:Fallback>
                <p:oleObj name="Equation" r:id="rId9" imgW="2692400" imgH="2413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150" y="5299075"/>
                        <a:ext cx="4840288" cy="434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54" name="Object 12"/>
          <p:cNvGraphicFramePr>
            <a:graphicFrameLocks noChangeAspect="1"/>
          </p:cNvGraphicFramePr>
          <p:nvPr/>
        </p:nvGraphicFramePr>
        <p:xfrm>
          <a:off x="4787900" y="6165850"/>
          <a:ext cx="2535238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6" name="Equation" r:id="rId11" imgW="1409088" imgH="241195" progId="Equation.DSMT4">
                  <p:embed/>
                </p:oleObj>
              </mc:Choice>
              <mc:Fallback>
                <p:oleObj name="Equation" r:id="rId11" imgW="1409088" imgH="241195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7900" y="6165850"/>
                        <a:ext cx="2535238" cy="434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55" name="Text Box 13"/>
          <p:cNvSpPr txBox="1">
            <a:spLocks noChangeArrowheads="1"/>
          </p:cNvSpPr>
          <p:nvPr/>
        </p:nvSpPr>
        <p:spPr bwMode="auto">
          <a:xfrm>
            <a:off x="395288" y="5805488"/>
            <a:ext cx="6267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/>
              <a:t>Puis dans le cas d</a:t>
            </a:r>
            <a:r>
              <a:rPr lang="ja-JP" altLang="fr-FR" sz="1800"/>
              <a:t>’</a:t>
            </a:r>
            <a:r>
              <a:rPr lang="fr-FR" altLang="ja-JP" sz="1800"/>
              <a:t>un flux de convection forcée (ventilateur) </a:t>
            </a:r>
            <a:endParaRPr lang="fr-FR" altLang="fr-FR" sz="1800"/>
          </a:p>
        </p:txBody>
      </p:sp>
      <p:sp>
        <p:nvSpPr>
          <p:cNvPr id="6156" name="Espace réservé du numéro de diapositive 1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4AFE0CE-CAC2-4738-85BF-52624615C2EF}" type="slidenum">
              <a:rPr lang="fr-FR" altLang="fr-FR" sz="1400"/>
              <a:pPr>
                <a:spcBef>
                  <a:spcPct val="0"/>
                </a:spcBef>
                <a:buFontTx/>
                <a:buNone/>
              </a:pPr>
              <a:t>5</a:t>
            </a:fld>
            <a:endParaRPr lang="fr-FR" altLang="fr-FR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4"/>
          <p:cNvSpPr>
            <a:spLocks noChangeArrowheads="1"/>
          </p:cNvSpPr>
          <p:nvPr/>
        </p:nvSpPr>
        <p:spPr bwMode="auto">
          <a:xfrm>
            <a:off x="457200" y="53975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fr-FR" altLang="fr-FR" sz="2400">
                <a:solidFill>
                  <a:schemeClr val="tx2"/>
                </a:solidFill>
              </a:rPr>
              <a:t>Discrétisation de l</a:t>
            </a:r>
            <a:r>
              <a:rPr lang="ja-JP" altLang="fr-FR" sz="2400">
                <a:solidFill>
                  <a:schemeClr val="tx2"/>
                </a:solidFill>
              </a:rPr>
              <a:t>’</a:t>
            </a:r>
            <a:r>
              <a:rPr lang="fr-FR" altLang="ja-JP" sz="2400">
                <a:solidFill>
                  <a:schemeClr val="tx2"/>
                </a:solidFill>
              </a:rPr>
              <a:t>équation de la chaleur hors d</a:t>
            </a:r>
            <a:r>
              <a:rPr lang="ja-JP" altLang="fr-FR" sz="2400">
                <a:solidFill>
                  <a:schemeClr val="tx2"/>
                </a:solidFill>
              </a:rPr>
              <a:t>’</a:t>
            </a:r>
            <a:r>
              <a:rPr lang="fr-FR" altLang="ja-JP" sz="2400">
                <a:solidFill>
                  <a:schemeClr val="tx2"/>
                </a:solidFill>
              </a:rPr>
              <a:t>équilibre</a:t>
            </a:r>
            <a:br>
              <a:rPr lang="fr-FR" altLang="ja-JP" sz="2400">
                <a:solidFill>
                  <a:schemeClr val="tx2"/>
                </a:solidFill>
              </a:rPr>
            </a:br>
            <a:r>
              <a:rPr lang="fr-FR" altLang="ja-JP" sz="2400">
                <a:solidFill>
                  <a:schemeClr val="tx2"/>
                </a:solidFill>
              </a:rPr>
              <a:t>par une méthode explicite</a:t>
            </a:r>
            <a:endParaRPr lang="fr-FR" altLang="fr-FR" sz="2400">
              <a:solidFill>
                <a:schemeClr val="tx2"/>
              </a:solidFill>
            </a:endParaRPr>
          </a:p>
        </p:txBody>
      </p:sp>
      <p:grpSp>
        <p:nvGrpSpPr>
          <p:cNvPr id="8195" name="Group 5"/>
          <p:cNvGrpSpPr>
            <a:grpSpLocks/>
          </p:cNvGrpSpPr>
          <p:nvPr/>
        </p:nvGrpSpPr>
        <p:grpSpPr bwMode="auto">
          <a:xfrm>
            <a:off x="323850" y="1341438"/>
            <a:ext cx="6294438" cy="841375"/>
            <a:chOff x="230" y="1084"/>
            <a:chExt cx="3965" cy="530"/>
          </a:xfrm>
        </p:grpSpPr>
        <p:sp>
          <p:nvSpPr>
            <p:cNvPr id="8205" name="Text Box 6"/>
            <p:cNvSpPr txBox="1">
              <a:spLocks noChangeArrowheads="1"/>
            </p:cNvSpPr>
            <p:nvPr/>
          </p:nvSpPr>
          <p:spPr bwMode="auto">
            <a:xfrm>
              <a:off x="237" y="1084"/>
              <a:ext cx="182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1800"/>
                <a:t>Discrétisation de l</a:t>
              </a:r>
              <a:r>
                <a:rPr lang="ja-JP" altLang="fr-FR" sz="1800"/>
                <a:t>’</a:t>
              </a:r>
              <a:r>
                <a:rPr lang="fr-FR" altLang="ja-JP" sz="1800"/>
                <a:t>espace :</a:t>
              </a:r>
              <a:endParaRPr lang="fr-FR" altLang="fr-FR" sz="1800"/>
            </a:p>
          </p:txBody>
        </p:sp>
        <p:sp>
          <p:nvSpPr>
            <p:cNvPr id="8206" name="Line 7"/>
            <p:cNvSpPr>
              <a:spLocks noChangeShapeType="1"/>
            </p:cNvSpPr>
            <p:nvPr/>
          </p:nvSpPr>
          <p:spPr bwMode="auto">
            <a:xfrm>
              <a:off x="2245" y="1207"/>
              <a:ext cx="195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grpSp>
          <p:nvGrpSpPr>
            <p:cNvPr id="8207" name="Group 8"/>
            <p:cNvGrpSpPr>
              <a:grpSpLocks/>
            </p:cNvGrpSpPr>
            <p:nvPr/>
          </p:nvGrpSpPr>
          <p:grpSpPr bwMode="auto">
            <a:xfrm>
              <a:off x="2399" y="1141"/>
              <a:ext cx="1497" cy="136"/>
              <a:chOff x="2336" y="1570"/>
              <a:chExt cx="408" cy="136"/>
            </a:xfrm>
          </p:grpSpPr>
          <p:sp>
            <p:nvSpPr>
              <p:cNvPr id="8212" name="Line 9"/>
              <p:cNvSpPr>
                <a:spLocks noChangeShapeType="1"/>
              </p:cNvSpPr>
              <p:nvPr/>
            </p:nvSpPr>
            <p:spPr bwMode="auto">
              <a:xfrm>
                <a:off x="2336" y="1570"/>
                <a:ext cx="0" cy="13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8213" name="Line 10"/>
              <p:cNvSpPr>
                <a:spLocks noChangeShapeType="1"/>
              </p:cNvSpPr>
              <p:nvPr/>
            </p:nvSpPr>
            <p:spPr bwMode="auto">
              <a:xfrm>
                <a:off x="2472" y="1570"/>
                <a:ext cx="0" cy="13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8214" name="Line 11"/>
              <p:cNvSpPr>
                <a:spLocks noChangeShapeType="1"/>
              </p:cNvSpPr>
              <p:nvPr/>
            </p:nvSpPr>
            <p:spPr bwMode="auto">
              <a:xfrm>
                <a:off x="2608" y="1570"/>
                <a:ext cx="0" cy="13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8215" name="Line 12"/>
              <p:cNvSpPr>
                <a:spLocks noChangeShapeType="1"/>
              </p:cNvSpPr>
              <p:nvPr/>
            </p:nvSpPr>
            <p:spPr bwMode="auto">
              <a:xfrm>
                <a:off x="2744" y="1570"/>
                <a:ext cx="0" cy="13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</p:grpSp>
        <p:sp>
          <p:nvSpPr>
            <p:cNvPr id="8208" name="Text Box 13"/>
            <p:cNvSpPr txBox="1">
              <a:spLocks noChangeArrowheads="1"/>
            </p:cNvSpPr>
            <p:nvPr/>
          </p:nvSpPr>
          <p:spPr bwMode="auto">
            <a:xfrm>
              <a:off x="2789" y="1253"/>
              <a:ext cx="77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fr-FR" sz="1800"/>
                <a:t>x=(p-1).</a:t>
              </a:r>
              <a:r>
                <a:rPr lang="en-US" altLang="fr-FR" sz="1800">
                  <a:latin typeface="Symbol" panose="05050102010706020507" pitchFamily="18" charset="2"/>
                </a:rPr>
                <a:t>D</a:t>
              </a:r>
              <a:r>
                <a:rPr lang="en-US" altLang="fr-FR" sz="1800"/>
                <a:t>x</a:t>
              </a:r>
              <a:endParaRPr lang="fr-FR" altLang="fr-FR" sz="1800"/>
            </a:p>
          </p:txBody>
        </p:sp>
        <p:sp>
          <p:nvSpPr>
            <p:cNvPr id="8209" name="Text Box 14"/>
            <p:cNvSpPr txBox="1">
              <a:spLocks noChangeArrowheads="1"/>
            </p:cNvSpPr>
            <p:nvPr/>
          </p:nvSpPr>
          <p:spPr bwMode="auto">
            <a:xfrm>
              <a:off x="2290" y="1249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1800"/>
                <a:t>0</a:t>
              </a:r>
            </a:p>
          </p:txBody>
        </p:sp>
        <p:sp>
          <p:nvSpPr>
            <p:cNvPr id="8210" name="Text Box 15"/>
            <p:cNvSpPr txBox="1">
              <a:spLocks noChangeArrowheads="1"/>
            </p:cNvSpPr>
            <p:nvPr/>
          </p:nvSpPr>
          <p:spPr bwMode="auto">
            <a:xfrm>
              <a:off x="3787" y="1253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1800"/>
                <a:t>L</a:t>
              </a:r>
            </a:p>
          </p:txBody>
        </p:sp>
        <p:sp>
          <p:nvSpPr>
            <p:cNvPr id="8211" name="Text Box 16"/>
            <p:cNvSpPr txBox="1">
              <a:spLocks noChangeArrowheads="1"/>
            </p:cNvSpPr>
            <p:nvPr/>
          </p:nvSpPr>
          <p:spPr bwMode="auto">
            <a:xfrm>
              <a:off x="230" y="1383"/>
              <a:ext cx="214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1800"/>
                <a:t>Discrétisation du temps : t=n.</a:t>
              </a:r>
              <a:r>
                <a:rPr lang="fr-FR" altLang="fr-FR" sz="1800">
                  <a:latin typeface="Symbol" panose="05050102010706020507" pitchFamily="18" charset="2"/>
                </a:rPr>
                <a:t>D</a:t>
              </a:r>
              <a:r>
                <a:rPr lang="fr-FR" altLang="fr-FR" sz="1800"/>
                <a:t>t </a:t>
              </a:r>
            </a:p>
          </p:txBody>
        </p:sp>
      </p:grpSp>
      <p:sp>
        <p:nvSpPr>
          <p:cNvPr id="8196" name="Text Box 17"/>
          <p:cNvSpPr txBox="1">
            <a:spLocks noChangeArrowheads="1"/>
          </p:cNvSpPr>
          <p:nvPr/>
        </p:nvSpPr>
        <p:spPr bwMode="auto">
          <a:xfrm>
            <a:off x="376238" y="2492375"/>
            <a:ext cx="5886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/>
              <a:t>Schéma explicite centré de l</a:t>
            </a:r>
            <a:r>
              <a:rPr lang="ja-JP" altLang="fr-FR" sz="1800"/>
              <a:t>’</a:t>
            </a:r>
            <a:r>
              <a:rPr lang="fr-FR" altLang="ja-JP" sz="1800"/>
              <a:t>équation de la chaleur 1D : </a:t>
            </a:r>
            <a:endParaRPr lang="fr-FR" altLang="fr-FR" sz="1800"/>
          </a:p>
        </p:txBody>
      </p:sp>
      <p:graphicFrame>
        <p:nvGraphicFramePr>
          <p:cNvPr id="8197" name="Object 19"/>
          <p:cNvGraphicFramePr>
            <a:graphicFrameLocks noChangeAspect="1"/>
          </p:cNvGraphicFramePr>
          <p:nvPr/>
        </p:nvGraphicFramePr>
        <p:xfrm>
          <a:off x="4356100" y="2997200"/>
          <a:ext cx="3914775" cy="1914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20" name="Equation" r:id="rId3" imgW="2184400" imgH="1066800" progId="Equation.3">
                  <p:embed/>
                </p:oleObj>
              </mc:Choice>
              <mc:Fallback>
                <p:oleObj name="Equation" r:id="rId3" imgW="2184400" imgH="1066800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6100" y="2997200"/>
                        <a:ext cx="3914775" cy="1914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8" name="Object 41"/>
          <p:cNvGraphicFramePr>
            <a:graphicFrameLocks noChangeAspect="1"/>
          </p:cNvGraphicFramePr>
          <p:nvPr/>
        </p:nvGraphicFramePr>
        <p:xfrm>
          <a:off x="468313" y="3357563"/>
          <a:ext cx="2787650" cy="890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21" name="Equation" r:id="rId5" imgW="1548728" imgH="495085" progId="Equation.DSMT4">
                  <p:embed/>
                </p:oleObj>
              </mc:Choice>
              <mc:Fallback>
                <p:oleObj name="Equation" r:id="rId5" imgW="1548728" imgH="495085" progId="Equation.DSMT4">
                  <p:embed/>
                  <p:pic>
                    <p:nvPicPr>
                      <p:cNvPr id="0" name="Object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3" y="3357563"/>
                        <a:ext cx="2787650" cy="890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CC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9" name="Text Box 42"/>
          <p:cNvSpPr txBox="1">
            <a:spLocks noChangeArrowheads="1"/>
          </p:cNvSpPr>
          <p:nvPr/>
        </p:nvSpPr>
        <p:spPr bwMode="auto">
          <a:xfrm>
            <a:off x="3616325" y="3521075"/>
            <a:ext cx="3746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/>
              <a:t>et</a:t>
            </a:r>
          </a:p>
        </p:txBody>
      </p:sp>
      <p:graphicFrame>
        <p:nvGraphicFramePr>
          <p:cNvPr id="8200" name="Object 43"/>
          <p:cNvGraphicFramePr>
            <a:graphicFrameLocks noChangeAspect="1"/>
          </p:cNvGraphicFramePr>
          <p:nvPr/>
        </p:nvGraphicFramePr>
        <p:xfrm>
          <a:off x="2916238" y="4941888"/>
          <a:ext cx="5529262" cy="754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22" name="Equation" r:id="rId7" imgW="3073400" imgH="419100" progId="Equation.DSMT4">
                  <p:embed/>
                </p:oleObj>
              </mc:Choice>
              <mc:Fallback>
                <p:oleObj name="Equation" r:id="rId7" imgW="3073400" imgH="419100" progId="Equation.DSMT4">
                  <p:embed/>
                  <p:pic>
                    <p:nvPicPr>
                      <p:cNvPr id="0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6238" y="4941888"/>
                        <a:ext cx="5529262" cy="754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CC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01" name="Object 44"/>
          <p:cNvGraphicFramePr>
            <a:graphicFrameLocks noChangeAspect="1"/>
          </p:cNvGraphicFramePr>
          <p:nvPr/>
        </p:nvGraphicFramePr>
        <p:xfrm>
          <a:off x="2660650" y="5734050"/>
          <a:ext cx="5872163" cy="958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23" name="Equation" r:id="rId9" imgW="3263900" imgH="533400" progId="Equation.DSMT4">
                  <p:embed/>
                </p:oleObj>
              </mc:Choice>
              <mc:Fallback>
                <p:oleObj name="Equation" r:id="rId9" imgW="3263900" imgH="533400" progId="Equation.DSMT4">
                  <p:embed/>
                  <p:pic>
                    <p:nvPicPr>
                      <p:cNvPr id="0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0650" y="5734050"/>
                        <a:ext cx="5872163" cy="958850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33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CC00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02" name="Text Box 45"/>
          <p:cNvSpPr txBox="1">
            <a:spLocks noChangeArrowheads="1"/>
          </p:cNvSpPr>
          <p:nvPr/>
        </p:nvSpPr>
        <p:spPr bwMode="auto">
          <a:xfrm>
            <a:off x="323850" y="5157788"/>
            <a:ext cx="2470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/>
              <a:t>Discrétiser en explicite</a:t>
            </a:r>
          </a:p>
        </p:txBody>
      </p:sp>
      <p:sp>
        <p:nvSpPr>
          <p:cNvPr id="8203" name="Text Box 46"/>
          <p:cNvSpPr txBox="1">
            <a:spLocks noChangeArrowheads="1"/>
          </p:cNvSpPr>
          <p:nvPr/>
        </p:nvSpPr>
        <p:spPr bwMode="auto">
          <a:xfrm>
            <a:off x="323850" y="5870575"/>
            <a:ext cx="18351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/>
              <a:t>Montrer que l</a:t>
            </a:r>
            <a:r>
              <a:rPr lang="ja-JP" altLang="fr-FR" sz="1800"/>
              <a:t>’</a:t>
            </a:r>
            <a:r>
              <a:rPr lang="fr-FR" altLang="ja-JP" sz="1800"/>
              <a:t>on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/>
              <a:t>obtient :</a:t>
            </a:r>
          </a:p>
        </p:txBody>
      </p:sp>
      <p:sp>
        <p:nvSpPr>
          <p:cNvPr id="8204" name="Espace réservé du numéro de diapositive 2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5F4C270-5532-4FCD-ABD4-D1F7F8D93AF8}" type="slidenum">
              <a:rPr lang="fr-FR" altLang="fr-FR" sz="1400"/>
              <a:pPr>
                <a:spcBef>
                  <a:spcPct val="0"/>
                </a:spcBef>
                <a:buFontTx/>
                <a:buNone/>
              </a:pPr>
              <a:t>6</a:t>
            </a:fld>
            <a:endParaRPr lang="fr-FR" altLang="fr-FR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4"/>
          <p:cNvSpPr>
            <a:spLocks noChangeArrowheads="1"/>
          </p:cNvSpPr>
          <p:nvPr/>
        </p:nvSpPr>
        <p:spPr bwMode="auto">
          <a:xfrm>
            <a:off x="457200" y="53975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fr-FR" altLang="fr-FR" sz="2400">
                <a:solidFill>
                  <a:schemeClr val="tx2"/>
                </a:solidFill>
              </a:rPr>
              <a:t>Analyse de la stabilité du schéma explicite </a:t>
            </a:r>
            <a:br>
              <a:rPr lang="fr-FR" altLang="fr-FR" sz="2400">
                <a:solidFill>
                  <a:schemeClr val="tx2"/>
                </a:solidFill>
              </a:rPr>
            </a:br>
            <a:r>
              <a:rPr lang="fr-FR" altLang="fr-FR" sz="2400">
                <a:solidFill>
                  <a:schemeClr val="tx2"/>
                </a:solidFill>
              </a:rPr>
              <a:t>par la méthode de Von Neumann</a:t>
            </a:r>
          </a:p>
        </p:txBody>
      </p:sp>
      <p:sp>
        <p:nvSpPr>
          <p:cNvPr id="9219" name="Text Box 5"/>
          <p:cNvSpPr txBox="1">
            <a:spLocks noChangeArrowheads="1"/>
          </p:cNvSpPr>
          <p:nvPr/>
        </p:nvSpPr>
        <p:spPr bwMode="auto">
          <a:xfrm>
            <a:off x="196850" y="1238250"/>
            <a:ext cx="31940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/>
              <a:t>Stabilité du schéma explicite :</a:t>
            </a:r>
          </a:p>
        </p:txBody>
      </p:sp>
      <p:graphicFrame>
        <p:nvGraphicFramePr>
          <p:cNvPr id="9220" name="Object 6"/>
          <p:cNvGraphicFramePr>
            <a:graphicFrameLocks noChangeAspect="1"/>
          </p:cNvGraphicFramePr>
          <p:nvPr/>
        </p:nvGraphicFramePr>
        <p:xfrm>
          <a:off x="3379788" y="957263"/>
          <a:ext cx="5872162" cy="958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2" name="Equation" r:id="rId3" imgW="3263900" imgH="533400" progId="Equation.DSMT4">
                  <p:embed/>
                </p:oleObj>
              </mc:Choice>
              <mc:Fallback>
                <p:oleObj name="Equation" r:id="rId3" imgW="3263900" imgH="5334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79788" y="957263"/>
                        <a:ext cx="5872162" cy="958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CC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1" name="Text Box 7"/>
          <p:cNvSpPr txBox="1">
            <a:spLocks noChangeArrowheads="1"/>
          </p:cNvSpPr>
          <p:nvPr/>
        </p:nvSpPr>
        <p:spPr bwMode="auto">
          <a:xfrm>
            <a:off x="196850" y="2205038"/>
            <a:ext cx="4591050" cy="119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/>
              <a:t>Propagation des erreurs numériques       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/>
              <a:t>de l</a:t>
            </a:r>
            <a:r>
              <a:rPr lang="ja-JP" altLang="fr-FR" sz="1800"/>
              <a:t>’</a:t>
            </a:r>
            <a:r>
              <a:rPr lang="fr-FR" altLang="ja-JP" sz="1800"/>
              <a:t>itération n à l</a:t>
            </a:r>
            <a:r>
              <a:rPr lang="ja-JP" altLang="fr-FR" sz="1800"/>
              <a:t>’</a:t>
            </a:r>
            <a:r>
              <a:rPr lang="fr-FR" altLang="ja-JP" sz="1800"/>
              <a:t>itération n+1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/>
              <a:t>Calcul de variation (</a:t>
            </a:r>
            <a:r>
              <a:rPr lang="fr-FR" altLang="fr-FR" sz="1800">
                <a:cs typeface="Arial" panose="020B0604020202020204" pitchFamily="34" charset="0"/>
              </a:rPr>
              <a:t>≈ différentielle)</a:t>
            </a:r>
          </a:p>
        </p:txBody>
      </p:sp>
      <p:graphicFrame>
        <p:nvGraphicFramePr>
          <p:cNvPr id="9222" name="Object 8"/>
          <p:cNvGraphicFramePr>
            <a:graphicFrameLocks noChangeAspect="1"/>
          </p:cNvGraphicFramePr>
          <p:nvPr/>
        </p:nvGraphicFramePr>
        <p:xfrm>
          <a:off x="4067175" y="2157413"/>
          <a:ext cx="2125663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3" name="Equation" r:id="rId5" imgW="1180588" imgH="279279" progId="Equation.DSMT4">
                  <p:embed/>
                </p:oleObj>
              </mc:Choice>
              <mc:Fallback>
                <p:oleObj name="Equation" r:id="rId5" imgW="1180588" imgH="279279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7175" y="2157413"/>
                        <a:ext cx="2125663" cy="503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CC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3" name="Object 9"/>
          <p:cNvGraphicFramePr>
            <a:graphicFrameLocks noChangeAspect="1"/>
          </p:cNvGraphicFramePr>
          <p:nvPr/>
        </p:nvGraphicFramePr>
        <p:xfrm>
          <a:off x="1042988" y="4557713"/>
          <a:ext cx="6122987" cy="958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4" name="Equation" r:id="rId7" imgW="3403600" imgH="533400" progId="Equation.DSMT4">
                  <p:embed/>
                </p:oleObj>
              </mc:Choice>
              <mc:Fallback>
                <p:oleObj name="Equation" r:id="rId7" imgW="3403600" imgH="5334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4557713"/>
                        <a:ext cx="6122987" cy="958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CC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4" name="Object 10"/>
          <p:cNvGraphicFramePr>
            <a:graphicFrameLocks noChangeAspect="1"/>
          </p:cNvGraphicFramePr>
          <p:nvPr/>
        </p:nvGraphicFramePr>
        <p:xfrm>
          <a:off x="1116013" y="3429000"/>
          <a:ext cx="6511925" cy="1004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5" name="Equation" r:id="rId9" imgW="3619500" imgH="558800" progId="Equation.DSMT4">
                  <p:embed/>
                </p:oleObj>
              </mc:Choice>
              <mc:Fallback>
                <p:oleObj name="Equation" r:id="rId9" imgW="3619500" imgH="5588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3429000"/>
                        <a:ext cx="6511925" cy="1004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CC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5" name="Object 11"/>
          <p:cNvGraphicFramePr>
            <a:graphicFrameLocks noChangeAspect="1"/>
          </p:cNvGraphicFramePr>
          <p:nvPr/>
        </p:nvGraphicFramePr>
        <p:xfrm>
          <a:off x="1069975" y="5589588"/>
          <a:ext cx="6215063" cy="958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6" name="Equation" r:id="rId11" imgW="3454400" imgH="533400" progId="Equation.DSMT4">
                  <p:embed/>
                </p:oleObj>
              </mc:Choice>
              <mc:Fallback>
                <p:oleObj name="Equation" r:id="rId11" imgW="3454400" imgH="5334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9975" y="5589588"/>
                        <a:ext cx="6215063" cy="958850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33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CC00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6" name="Espace réservé du numéro de diapositive 1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162E05B-CCE4-4A5F-8930-E3DFA000FC23}" type="slidenum">
              <a:rPr lang="fr-FR" altLang="fr-FR" sz="1400"/>
              <a:pPr>
                <a:spcBef>
                  <a:spcPct val="0"/>
                </a:spcBef>
                <a:buFontTx/>
                <a:buNone/>
              </a:pPr>
              <a:t>7</a:t>
            </a:fld>
            <a:endParaRPr lang="fr-FR" altLang="fr-FR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42" name="Object 4"/>
          <p:cNvGraphicFramePr>
            <a:graphicFrameLocks noChangeAspect="1"/>
          </p:cNvGraphicFramePr>
          <p:nvPr/>
        </p:nvGraphicFramePr>
        <p:xfrm>
          <a:off x="6518275" y="409575"/>
          <a:ext cx="2338388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9" name="Equation" r:id="rId3" imgW="1574800" imgH="342900" progId="Equation.3">
                  <p:embed/>
                </p:oleObj>
              </mc:Choice>
              <mc:Fallback>
                <p:oleObj name="Equation" r:id="rId3" imgW="1574800" imgH="3429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18275" y="409575"/>
                        <a:ext cx="2338388" cy="503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3" name="Text Box 5"/>
          <p:cNvSpPr txBox="1">
            <a:spLocks noChangeArrowheads="1"/>
          </p:cNvSpPr>
          <p:nvPr/>
        </p:nvSpPr>
        <p:spPr bwMode="auto">
          <a:xfrm>
            <a:off x="179388" y="404813"/>
            <a:ext cx="63436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/>
              <a:t>L</a:t>
            </a:r>
            <a:r>
              <a:rPr lang="ja-JP" altLang="fr-FR" sz="1800"/>
              <a:t>’</a:t>
            </a:r>
            <a:r>
              <a:rPr lang="fr-FR" altLang="ja-JP" sz="1800"/>
              <a:t>analyse de Von Neuman se place dans l</a:t>
            </a:r>
            <a:r>
              <a:rPr lang="ja-JP" altLang="fr-FR" sz="1800"/>
              <a:t>’</a:t>
            </a:r>
            <a:r>
              <a:rPr lang="fr-FR" altLang="ja-JP" sz="1800"/>
              <a:t>espace de Fourier</a:t>
            </a:r>
            <a:endParaRPr lang="fr-FR" altLang="fr-FR" sz="1800"/>
          </a:p>
        </p:txBody>
      </p:sp>
      <p:graphicFrame>
        <p:nvGraphicFramePr>
          <p:cNvPr id="10244" name="Object 6"/>
          <p:cNvGraphicFramePr>
            <a:graphicFrameLocks noChangeAspect="1"/>
          </p:cNvGraphicFramePr>
          <p:nvPr/>
        </p:nvGraphicFramePr>
        <p:xfrm>
          <a:off x="1298575" y="1052513"/>
          <a:ext cx="5494338" cy="1131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0" name="Equation" r:id="rId5" imgW="3467100" imgH="711200" progId="Equation.DSMT4">
                  <p:embed/>
                </p:oleObj>
              </mc:Choice>
              <mc:Fallback>
                <p:oleObj name="Equation" r:id="rId5" imgW="3467100" imgH="7112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8575" y="1052513"/>
                        <a:ext cx="5494338" cy="1131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5" name="Text Box 8"/>
          <p:cNvSpPr txBox="1">
            <a:spLocks noChangeArrowheads="1"/>
          </p:cNvSpPr>
          <p:nvPr/>
        </p:nvSpPr>
        <p:spPr bwMode="auto">
          <a:xfrm>
            <a:off x="323850" y="2357438"/>
            <a:ext cx="27749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/>
              <a:t>Le schéma reste stable si</a:t>
            </a:r>
          </a:p>
        </p:txBody>
      </p:sp>
      <p:graphicFrame>
        <p:nvGraphicFramePr>
          <p:cNvPr id="10246" name="Object 9"/>
          <p:cNvGraphicFramePr>
            <a:graphicFrameLocks noChangeAspect="1"/>
          </p:cNvGraphicFramePr>
          <p:nvPr/>
        </p:nvGraphicFramePr>
        <p:xfrm>
          <a:off x="3136900" y="2212975"/>
          <a:ext cx="4530725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1" name="Equation" r:id="rId7" imgW="3073400" imgH="482600" progId="Equation.DSMT4">
                  <p:embed/>
                </p:oleObj>
              </mc:Choice>
              <mc:Fallback>
                <p:oleObj name="Equation" r:id="rId7" imgW="3073400" imgH="4826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6900" y="2212975"/>
                        <a:ext cx="4530725" cy="711200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33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7" name="Object 10"/>
          <p:cNvGraphicFramePr>
            <a:graphicFrameLocks noChangeAspect="1"/>
          </p:cNvGraphicFramePr>
          <p:nvPr/>
        </p:nvGraphicFramePr>
        <p:xfrm>
          <a:off x="395288" y="3500438"/>
          <a:ext cx="1692275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2" name="Equation" r:id="rId9" imgW="1066337" imgH="253890" progId="Equation.DSMT4">
                  <p:embed/>
                </p:oleObj>
              </mc:Choice>
              <mc:Fallback>
                <p:oleObj name="Equation" r:id="rId9" imgW="1066337" imgH="25389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3500438"/>
                        <a:ext cx="1692275" cy="403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8" name="Text Box 11"/>
          <p:cNvSpPr txBox="1">
            <a:spLocks noChangeArrowheads="1"/>
          </p:cNvSpPr>
          <p:nvPr/>
        </p:nvSpPr>
        <p:spPr bwMode="auto">
          <a:xfrm>
            <a:off x="303213" y="3016250"/>
            <a:ext cx="17335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/>
              <a:t>Autrement écrit</a:t>
            </a:r>
          </a:p>
        </p:txBody>
      </p:sp>
      <p:graphicFrame>
        <p:nvGraphicFramePr>
          <p:cNvPr id="10249" name="Object 12"/>
          <p:cNvGraphicFramePr>
            <a:graphicFrameLocks noChangeAspect="1"/>
          </p:cNvGraphicFramePr>
          <p:nvPr/>
        </p:nvGraphicFramePr>
        <p:xfrm>
          <a:off x="2916238" y="2997200"/>
          <a:ext cx="4651375" cy="1411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3" name="Equation" r:id="rId11" imgW="2933700" imgH="889000" progId="Equation.DSMT4">
                  <p:embed/>
                </p:oleObj>
              </mc:Choice>
              <mc:Fallback>
                <p:oleObj name="Equation" r:id="rId11" imgW="2933700" imgH="88900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6238" y="2997200"/>
                        <a:ext cx="4651375" cy="1411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50" name="Text Box 13"/>
          <p:cNvSpPr txBox="1">
            <a:spLocks noChangeArrowheads="1"/>
          </p:cNvSpPr>
          <p:nvPr/>
        </p:nvSpPr>
        <p:spPr bwMode="auto">
          <a:xfrm>
            <a:off x="376238" y="4759325"/>
            <a:ext cx="51498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/>
              <a:t>Stabilité si                                                     alors </a:t>
            </a:r>
          </a:p>
        </p:txBody>
      </p:sp>
      <p:graphicFrame>
        <p:nvGraphicFramePr>
          <p:cNvPr id="10251" name="Object 14"/>
          <p:cNvGraphicFramePr>
            <a:graphicFrameLocks noChangeAspect="1"/>
          </p:cNvGraphicFramePr>
          <p:nvPr/>
        </p:nvGraphicFramePr>
        <p:xfrm>
          <a:off x="1763713" y="4597400"/>
          <a:ext cx="2925762" cy="776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4" name="Equation" r:id="rId13" imgW="1625600" imgH="431800" progId="Equation.DSMT4">
                  <p:embed/>
                </p:oleObj>
              </mc:Choice>
              <mc:Fallback>
                <p:oleObj name="Equation" r:id="rId13" imgW="1625600" imgH="43180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713" y="4597400"/>
                        <a:ext cx="2925762" cy="776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52" name="Object 15"/>
          <p:cNvGraphicFramePr>
            <a:graphicFrameLocks noChangeAspect="1"/>
          </p:cNvGraphicFramePr>
          <p:nvPr/>
        </p:nvGraphicFramePr>
        <p:xfrm>
          <a:off x="5726113" y="4541838"/>
          <a:ext cx="2446337" cy="1119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5" name="Equation" r:id="rId15" imgW="1358310" imgH="622030" progId="Equation.DSMT4">
                  <p:embed/>
                </p:oleObj>
              </mc:Choice>
              <mc:Fallback>
                <p:oleObj name="Equation" r:id="rId15" imgW="1358310" imgH="622030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26113" y="4541838"/>
                        <a:ext cx="2446337" cy="1119187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33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53" name="Text Box 16"/>
          <p:cNvSpPr txBox="1">
            <a:spLocks noChangeArrowheads="1"/>
          </p:cNvSpPr>
          <p:nvPr/>
        </p:nvSpPr>
        <p:spPr bwMode="auto">
          <a:xfrm>
            <a:off x="376238" y="5681663"/>
            <a:ext cx="36258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/>
              <a:t>Même en prenant                ,  on a</a:t>
            </a:r>
          </a:p>
        </p:txBody>
      </p:sp>
      <p:graphicFrame>
        <p:nvGraphicFramePr>
          <p:cNvPr id="10254" name="Object 17"/>
          <p:cNvGraphicFramePr>
            <a:graphicFrameLocks noChangeAspect="1"/>
          </p:cNvGraphicFramePr>
          <p:nvPr/>
        </p:nvGraphicFramePr>
        <p:xfrm>
          <a:off x="2411413" y="5702300"/>
          <a:ext cx="823912" cy="319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6" name="Equation" r:id="rId17" imgW="457002" imgH="177723" progId="Equation.DSMT4">
                  <p:embed/>
                </p:oleObj>
              </mc:Choice>
              <mc:Fallback>
                <p:oleObj name="Equation" r:id="rId17" imgW="457002" imgH="177723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1413" y="5702300"/>
                        <a:ext cx="823912" cy="319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55" name="Object 18"/>
          <p:cNvGraphicFramePr>
            <a:graphicFrameLocks noChangeAspect="1"/>
          </p:cNvGraphicFramePr>
          <p:nvPr/>
        </p:nvGraphicFramePr>
        <p:xfrm>
          <a:off x="4140200" y="5529263"/>
          <a:ext cx="1508125" cy="708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7" name="Equation" r:id="rId19" imgW="837836" imgH="393529" progId="Equation.DSMT4">
                  <p:embed/>
                </p:oleObj>
              </mc:Choice>
              <mc:Fallback>
                <p:oleObj name="Equation" r:id="rId19" imgW="837836" imgH="393529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40200" y="5529263"/>
                        <a:ext cx="1508125" cy="708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56" name="Object 19"/>
          <p:cNvGraphicFramePr>
            <a:graphicFrameLocks noChangeAspect="1"/>
          </p:cNvGraphicFramePr>
          <p:nvPr/>
        </p:nvGraphicFramePr>
        <p:xfrm>
          <a:off x="6948488" y="6021388"/>
          <a:ext cx="1301750" cy="776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8" name="Equation" r:id="rId21" imgW="723586" imgH="431613" progId="Equation.DSMT4">
                  <p:embed/>
                </p:oleObj>
              </mc:Choice>
              <mc:Fallback>
                <p:oleObj name="Equation" r:id="rId21" imgW="723586" imgH="431613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48488" y="6021388"/>
                        <a:ext cx="1301750" cy="776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57" name="Text Box 20"/>
          <p:cNvSpPr txBox="1">
            <a:spLocks noChangeArrowheads="1"/>
          </p:cNvSpPr>
          <p:nvPr/>
        </p:nvSpPr>
        <p:spPr bwMode="auto">
          <a:xfrm>
            <a:off x="376238" y="6256338"/>
            <a:ext cx="65468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/>
              <a:t>Une bonne estimation de la condition de stabilité est obtenue : </a:t>
            </a:r>
          </a:p>
        </p:txBody>
      </p:sp>
      <p:sp>
        <p:nvSpPr>
          <p:cNvPr id="10258" name="Espace réservé du numéro de diapositive 19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E3C7E98-A631-405D-9149-A35FA5536E3A}" type="slidenum">
              <a:rPr lang="fr-FR" altLang="fr-FR" sz="1400"/>
              <a:pPr>
                <a:spcBef>
                  <a:spcPct val="0"/>
                </a:spcBef>
                <a:buFontTx/>
                <a:buNone/>
              </a:pPr>
              <a:t>8</a:t>
            </a:fld>
            <a:endParaRPr lang="fr-FR" altLang="fr-FR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ext Box 6"/>
          <p:cNvSpPr txBox="1">
            <a:spLocks noChangeArrowheads="1"/>
          </p:cNvSpPr>
          <p:nvPr/>
        </p:nvSpPr>
        <p:spPr bwMode="auto">
          <a:xfrm>
            <a:off x="171450" y="1849438"/>
            <a:ext cx="8934450" cy="421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>
                <a:latin typeface="Courier New" panose="02070309020205020404" pitchFamily="49" charset="0"/>
              </a:rPr>
              <a:t> </a:t>
            </a:r>
            <a:r>
              <a:rPr lang="fr-FR" altLang="fr-FR" sz="1800" b="1">
                <a:solidFill>
                  <a:srgbClr val="228B22"/>
                </a:solidFill>
                <a:latin typeface="Courier New" panose="02070309020205020404" pitchFamily="49" charset="0"/>
              </a:rPr>
              <a:t>  % Points interieurs du maillage</a:t>
            </a:r>
            <a:endParaRPr lang="fr-FR" altLang="fr-FR" sz="1800">
              <a:latin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 b="1">
                <a:solidFill>
                  <a:srgbClr val="000000"/>
                </a:solidFill>
                <a:latin typeface="Courier New" panose="02070309020205020404" pitchFamily="49" charset="0"/>
              </a:rPr>
              <a:t>   </a:t>
            </a:r>
            <a:r>
              <a:rPr lang="fr-FR" altLang="fr-FR" sz="1800" b="1">
                <a:solidFill>
                  <a:srgbClr val="0000FF"/>
                </a:solidFill>
                <a:latin typeface="Courier New" panose="02070309020205020404" pitchFamily="49" charset="0"/>
              </a:rPr>
              <a:t>for</a:t>
            </a:r>
            <a:r>
              <a:rPr lang="fr-FR" altLang="fr-FR" sz="1800" b="1">
                <a:solidFill>
                  <a:srgbClr val="000000"/>
                </a:solidFill>
                <a:latin typeface="Courier New" panose="02070309020205020404" pitchFamily="49" charset="0"/>
              </a:rPr>
              <a:t> p=2:N-1</a:t>
            </a:r>
            <a:endParaRPr lang="fr-FR" altLang="fr-FR" sz="1800">
              <a:latin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 b="1">
                <a:solidFill>
                  <a:srgbClr val="000000"/>
                </a:solidFill>
                <a:latin typeface="Courier New" panose="02070309020205020404" pitchFamily="49" charset="0"/>
              </a:rPr>
              <a:t>       x(p)=(p-1)*deltax;</a:t>
            </a:r>
            <a:endParaRPr lang="fr-FR" altLang="fr-FR" sz="1800">
              <a:latin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 b="1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fr-FR" altLang="fr-FR" sz="1800">
              <a:latin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 b="1">
                <a:solidFill>
                  <a:srgbClr val="000000"/>
                </a:solidFill>
                <a:latin typeface="Courier New" panose="02070309020205020404" pitchFamily="49" charset="0"/>
              </a:rPr>
              <a:t>       d2T_dx2=(Tprec(p+1)-2.*Tprec(p)+Tprec(p-1))/(deltax^2);</a:t>
            </a:r>
            <a:endParaRPr lang="fr-FR" altLang="fr-FR" sz="1800">
              <a:latin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 b="1">
                <a:solidFill>
                  <a:srgbClr val="000000"/>
                </a:solidFill>
                <a:latin typeface="Courier New" panose="02070309020205020404" pitchFamily="49" charset="0"/>
              </a:rPr>
              <a:t>       conduction=-kth*d2T_dx2;</a:t>
            </a:r>
            <a:endParaRPr lang="fr-FR" altLang="fr-FR" sz="1800">
              <a:latin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 b="1">
                <a:solidFill>
                  <a:srgbClr val="000000"/>
                </a:solidFill>
                <a:latin typeface="Courier New" panose="02070309020205020404" pitchFamily="49" charset="0"/>
              </a:rPr>
              <a:t>       </a:t>
            </a:r>
            <a:endParaRPr lang="fr-FR" altLang="fr-FR" sz="1800">
              <a:latin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 b="1">
                <a:solidFill>
                  <a:srgbClr val="000000"/>
                </a:solidFill>
                <a:latin typeface="Courier New" panose="02070309020205020404" pitchFamily="49" charset="0"/>
              </a:rPr>
              <a:t>       </a:t>
            </a:r>
            <a:r>
              <a:rPr lang="fr-FR" altLang="fr-FR" sz="1800" b="1">
                <a:solidFill>
                  <a:srgbClr val="228B22"/>
                </a:solidFill>
                <a:latin typeface="Courier New" panose="02070309020205020404" pitchFamily="49" charset="0"/>
              </a:rPr>
              <a:t>% convection par les faces laterales</a:t>
            </a:r>
            <a:endParaRPr lang="fr-FR" altLang="fr-FR" sz="1800">
              <a:latin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 b="1">
                <a:solidFill>
                  <a:srgbClr val="000000"/>
                </a:solidFill>
                <a:latin typeface="Courier New" panose="02070309020205020404" pitchFamily="49" charset="0"/>
              </a:rPr>
              <a:t>       convection_laterale=2*hc/epais*(Tprec(p)-Ta);</a:t>
            </a:r>
            <a:endParaRPr lang="fr-FR" altLang="fr-FR" sz="1800">
              <a:latin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 b="1">
                <a:solidFill>
                  <a:srgbClr val="000000"/>
                </a:solidFill>
                <a:latin typeface="Courier New" panose="02070309020205020404" pitchFamily="49" charset="0"/>
              </a:rPr>
              <a:t>       </a:t>
            </a:r>
            <a:endParaRPr lang="fr-FR" altLang="fr-FR" sz="1800">
              <a:latin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 b="1">
                <a:solidFill>
                  <a:srgbClr val="000000"/>
                </a:solidFill>
                <a:latin typeface="Courier New" panose="02070309020205020404" pitchFamily="49" charset="0"/>
              </a:rPr>
              <a:t>       T(p)=Tprec(p)+(deltat/(rho*cp))* ...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 b="1">
                <a:solidFill>
                  <a:srgbClr val="000000"/>
                </a:solidFill>
                <a:latin typeface="Courier New" panose="02070309020205020404" pitchFamily="49" charset="0"/>
              </a:rPr>
              <a:t>			(-conduction-convection_laterale);          </a:t>
            </a:r>
            <a:endParaRPr lang="fr-FR" altLang="fr-FR" sz="1800">
              <a:latin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 b="1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fr-FR" altLang="fr-FR" sz="1800">
              <a:latin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 b="1">
                <a:solidFill>
                  <a:srgbClr val="000000"/>
                </a:solidFill>
                <a:latin typeface="Courier New" panose="02070309020205020404" pitchFamily="49" charset="0"/>
              </a:rPr>
              <a:t>   </a:t>
            </a:r>
            <a:r>
              <a:rPr lang="fr-FR" altLang="fr-FR" sz="1800" b="1">
                <a:solidFill>
                  <a:srgbClr val="0000FF"/>
                </a:solidFill>
                <a:latin typeface="Courier New" panose="02070309020205020404" pitchFamily="49" charset="0"/>
              </a:rPr>
              <a:t>end</a:t>
            </a:r>
            <a:endParaRPr lang="fr-FR" altLang="fr-FR" sz="1800">
              <a:latin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latin typeface="Courier New" panose="02070309020205020404" pitchFamily="49" charset="0"/>
            </a:endParaRPr>
          </a:p>
        </p:txBody>
      </p:sp>
      <p:sp>
        <p:nvSpPr>
          <p:cNvPr id="11267" name="Text Box 2"/>
          <p:cNvSpPr txBox="1">
            <a:spLocks noChangeArrowheads="1"/>
          </p:cNvSpPr>
          <p:nvPr/>
        </p:nvSpPr>
        <p:spPr bwMode="auto">
          <a:xfrm>
            <a:off x="231775" y="182563"/>
            <a:ext cx="71247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2000"/>
              <a:t>Implémentation du schéma explicite pour les points intérieurs </a:t>
            </a:r>
          </a:p>
        </p:txBody>
      </p:sp>
      <p:sp>
        <p:nvSpPr>
          <p:cNvPr id="11268" name="Text Box 3"/>
          <p:cNvSpPr txBox="1">
            <a:spLocks noChangeArrowheads="1"/>
          </p:cNvSpPr>
          <p:nvPr/>
        </p:nvSpPr>
        <p:spPr bwMode="auto">
          <a:xfrm>
            <a:off x="6659563" y="549275"/>
            <a:ext cx="2232025" cy="395288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/>
              <a:t>Fonction explicite.m</a:t>
            </a:r>
          </a:p>
        </p:txBody>
      </p:sp>
      <p:sp>
        <p:nvSpPr>
          <p:cNvPr id="11269" name="Text Box 4"/>
          <p:cNvSpPr txBox="1">
            <a:spLocks noChangeArrowheads="1"/>
          </p:cNvSpPr>
          <p:nvPr/>
        </p:nvSpPr>
        <p:spPr bwMode="auto">
          <a:xfrm>
            <a:off x="303213" y="1216025"/>
            <a:ext cx="17208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/>
              <a:t>Schéma centré</a:t>
            </a:r>
          </a:p>
        </p:txBody>
      </p:sp>
      <p:sp>
        <p:nvSpPr>
          <p:cNvPr id="11270" name="Espace réservé du numéro de diapositive 7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C9CC8B8-DE41-4C07-B23D-D63DDADD553F}" type="slidenum">
              <a:rPr lang="fr-FR" altLang="fr-FR" sz="1400"/>
              <a:pPr>
                <a:spcBef>
                  <a:spcPct val="0"/>
                </a:spcBef>
                <a:buFontTx/>
                <a:buNone/>
              </a:pPr>
              <a:t>9</a:t>
            </a:fld>
            <a:endParaRPr lang="fr-FR" altLang="fr-FR" sz="140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 Box 4"/>
          <p:cNvSpPr txBox="1">
            <a:spLocks noChangeArrowheads="1"/>
          </p:cNvSpPr>
          <p:nvPr/>
        </p:nvSpPr>
        <p:spPr bwMode="auto">
          <a:xfrm>
            <a:off x="231775" y="182563"/>
            <a:ext cx="39100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2000"/>
              <a:t>Conditions aux limites à gauche :</a:t>
            </a:r>
          </a:p>
        </p:txBody>
      </p:sp>
      <p:sp>
        <p:nvSpPr>
          <p:cNvPr id="12291" name="Text Box 6"/>
          <p:cNvSpPr txBox="1">
            <a:spLocks noChangeArrowheads="1"/>
          </p:cNvSpPr>
          <p:nvPr/>
        </p:nvSpPr>
        <p:spPr bwMode="auto">
          <a:xfrm>
            <a:off x="179388" y="836613"/>
            <a:ext cx="8785225" cy="558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/>
              <a:t> </a:t>
            </a:r>
            <a:r>
              <a:rPr lang="fr-FR" altLang="fr-FR" sz="1800" b="1">
                <a:solidFill>
                  <a:srgbClr val="228B22"/>
                </a:solidFill>
                <a:latin typeface="Courier New" panose="02070309020205020404" pitchFamily="49" charset="0"/>
              </a:rPr>
              <a:t>  % Initialisation : CAL a gauche</a:t>
            </a:r>
            <a:endParaRPr lang="fr-FR" altLang="fr-FR" sz="18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 b="1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fr-FR" altLang="fr-FR" sz="1800" b="1">
                <a:solidFill>
                  <a:srgbClr val="0000FF"/>
                </a:solidFill>
                <a:latin typeface="Courier New" panose="02070309020205020404" pitchFamily="49" charset="0"/>
              </a:rPr>
              <a:t>if</a:t>
            </a:r>
            <a:r>
              <a:rPr lang="fr-FR" altLang="fr-FR" sz="1800" b="1">
                <a:solidFill>
                  <a:srgbClr val="000000"/>
                </a:solidFill>
                <a:latin typeface="Courier New" panose="02070309020205020404" pitchFamily="49" charset="0"/>
              </a:rPr>
              <a:t> phys.type_cl_gauche==</a:t>
            </a:r>
            <a:r>
              <a:rPr lang="fr-FR" altLang="fr-FR" sz="1800" b="1">
                <a:solidFill>
                  <a:srgbClr val="A020F0"/>
                </a:solidFill>
                <a:latin typeface="Courier New" panose="02070309020205020404" pitchFamily="49" charset="0"/>
              </a:rPr>
              <a:t>'DIRICHLET'</a:t>
            </a:r>
            <a:r>
              <a:rPr lang="fr-FR" altLang="fr-FR" sz="1800" b="1">
                <a:solidFill>
                  <a:srgbClr val="000000"/>
                </a:solidFill>
                <a:latin typeface="Courier New" panose="02070309020205020404" pitchFamily="49" charset="0"/>
              </a:rPr>
              <a:t>     </a:t>
            </a:r>
            <a:endParaRPr lang="fr-FR" altLang="fr-FR" sz="18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 b="1">
                <a:solidFill>
                  <a:srgbClr val="000000"/>
                </a:solidFill>
                <a:latin typeface="Courier New" panose="02070309020205020404" pitchFamily="49" charset="0"/>
              </a:rPr>
              <a:t>        </a:t>
            </a:r>
            <a:r>
              <a:rPr lang="fr-FR" altLang="fr-FR" sz="1800" b="1">
                <a:solidFill>
                  <a:srgbClr val="228B22"/>
                </a:solidFill>
                <a:latin typeface="Courier New" panose="02070309020205020404" pitchFamily="49" charset="0"/>
              </a:rPr>
              <a:t>% CAL de Dirichlet</a:t>
            </a:r>
            <a:endParaRPr lang="fr-FR" altLang="fr-FR" sz="18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 b="1">
                <a:solidFill>
                  <a:srgbClr val="000000"/>
                </a:solidFill>
                <a:latin typeface="Courier New" panose="02070309020205020404" pitchFamily="49" charset="0"/>
              </a:rPr>
              <a:t>        Tdg = phys.Tdg;</a:t>
            </a:r>
            <a:endParaRPr lang="fr-FR" altLang="fr-FR" sz="18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 b="1">
                <a:solidFill>
                  <a:srgbClr val="000000"/>
                </a:solidFill>
                <a:latin typeface="Courier New" panose="02070309020205020404" pitchFamily="49" charset="0"/>
              </a:rPr>
              <a:t>        x(1) =0;</a:t>
            </a:r>
            <a:endParaRPr lang="fr-FR" altLang="fr-FR" sz="18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 b="1">
                <a:solidFill>
                  <a:srgbClr val="000000"/>
                </a:solidFill>
                <a:latin typeface="Courier New" panose="02070309020205020404" pitchFamily="49" charset="0"/>
              </a:rPr>
              <a:t>        T(1)=Tdg;</a:t>
            </a:r>
            <a:endParaRPr lang="fr-FR" altLang="fr-FR" sz="18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 b="1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fr-FR" altLang="fr-FR" sz="1800" b="1">
                <a:solidFill>
                  <a:srgbClr val="0000FF"/>
                </a:solidFill>
                <a:latin typeface="Courier New" panose="02070309020205020404" pitchFamily="49" charset="0"/>
              </a:rPr>
              <a:t>else</a:t>
            </a:r>
            <a:r>
              <a:rPr lang="fr-FR" altLang="fr-FR" sz="1800" b="1">
                <a:solidFill>
                  <a:srgbClr val="000000"/>
                </a:solidFill>
                <a:latin typeface="Courier New" panose="02070309020205020404" pitchFamily="49" charset="0"/>
              </a:rPr>
              <a:t>                </a:t>
            </a:r>
            <a:endParaRPr lang="fr-FR" altLang="fr-FR" sz="18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 b="1">
                <a:solidFill>
                  <a:srgbClr val="000000"/>
                </a:solidFill>
                <a:latin typeface="Courier New" panose="02070309020205020404" pitchFamily="49" charset="0"/>
              </a:rPr>
              <a:t>        </a:t>
            </a:r>
            <a:r>
              <a:rPr lang="fr-FR" altLang="fr-FR" sz="1800" b="1">
                <a:solidFill>
                  <a:srgbClr val="228B22"/>
                </a:solidFill>
                <a:latin typeface="Courier New" panose="02070309020205020404" pitchFamily="49" charset="0"/>
              </a:rPr>
              <a:t>% CAL de Neumann a gauche</a:t>
            </a:r>
            <a:endParaRPr lang="fr-FR" altLang="fr-FR" sz="18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 b="1">
                <a:solidFill>
                  <a:srgbClr val="000000"/>
                </a:solidFill>
                <a:latin typeface="Courier New" panose="02070309020205020404" pitchFamily="49" charset="0"/>
              </a:rPr>
              <a:t>        x(1)=0;</a:t>
            </a:r>
            <a:endParaRPr lang="fr-FR" altLang="fr-FR" sz="18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 b="1">
                <a:solidFill>
                  <a:srgbClr val="000000"/>
                </a:solidFill>
                <a:latin typeface="Courier New" panose="02070309020205020404" pitchFamily="49" charset="0"/>
              </a:rPr>
              <a:t>        dT_dx=0;</a:t>
            </a:r>
            <a:endParaRPr lang="fr-FR" altLang="fr-FR" sz="18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 b="1">
                <a:solidFill>
                  <a:srgbClr val="000000"/>
                </a:solidFill>
                <a:latin typeface="Courier New" panose="02070309020205020404" pitchFamily="49" charset="0"/>
              </a:rPr>
              <a:t>        d2T_dx2=(Tprec(2)-Tprec(1)-deltax*dT_dx)*2./(deltax^2);</a:t>
            </a:r>
            <a:endParaRPr lang="fr-FR" altLang="fr-FR" sz="18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 b="1">
                <a:solidFill>
                  <a:srgbClr val="000000"/>
                </a:solidFill>
                <a:latin typeface="Courier New" panose="02070309020205020404" pitchFamily="49" charset="0"/>
              </a:rPr>
              <a:t>        </a:t>
            </a:r>
            <a:endParaRPr lang="fr-FR" altLang="fr-FR" sz="18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 b="1">
                <a:solidFill>
                  <a:srgbClr val="000000"/>
                </a:solidFill>
                <a:latin typeface="Courier New" panose="02070309020205020404" pitchFamily="49" charset="0"/>
              </a:rPr>
              <a:t>        conduction=-kth*d2T_dx2;</a:t>
            </a:r>
            <a:endParaRPr lang="fr-FR" altLang="fr-FR" sz="18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 b="1">
                <a:solidFill>
                  <a:srgbClr val="000000"/>
                </a:solidFill>
                <a:latin typeface="Courier New" panose="02070309020205020404" pitchFamily="49" charset="0"/>
              </a:rPr>
              <a:t>        </a:t>
            </a:r>
            <a:r>
              <a:rPr lang="fr-FR" altLang="fr-FR" sz="1800" b="1">
                <a:solidFill>
                  <a:srgbClr val="228B22"/>
                </a:solidFill>
                <a:latin typeface="Courier New" panose="02070309020205020404" pitchFamily="49" charset="0"/>
              </a:rPr>
              <a:t>% convection par les faces laterales</a:t>
            </a:r>
            <a:endParaRPr lang="fr-FR" altLang="fr-FR" sz="18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 b="1">
                <a:solidFill>
                  <a:srgbClr val="000000"/>
                </a:solidFill>
                <a:latin typeface="Courier New" panose="02070309020205020404" pitchFamily="49" charset="0"/>
              </a:rPr>
              <a:t>        convection_laterale =2*hc/epais*(Tprec(1)-Ta);</a:t>
            </a:r>
            <a:endParaRPr lang="fr-FR" altLang="fr-FR" sz="18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 b="1">
                <a:solidFill>
                  <a:srgbClr val="000000"/>
                </a:solidFill>
                <a:latin typeface="Courier New" panose="02070309020205020404" pitchFamily="49" charset="0"/>
              </a:rPr>
              <a:t>        </a:t>
            </a:r>
            <a:endParaRPr lang="fr-FR" altLang="fr-FR" sz="18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 b="1">
                <a:solidFill>
                  <a:srgbClr val="000000"/>
                </a:solidFill>
                <a:latin typeface="Courier New" panose="02070309020205020404" pitchFamily="49" charset="0"/>
              </a:rPr>
              <a:t>        T(1)=Tprec(1)+(deltat/(rho*cp))* </a:t>
            </a:r>
            <a:r>
              <a:rPr lang="fr-FR" altLang="fr-FR" sz="1800" b="1">
                <a:solidFill>
                  <a:srgbClr val="0000FF"/>
                </a:solidFill>
                <a:latin typeface="Courier New" panose="02070309020205020404" pitchFamily="49" charset="0"/>
              </a:rPr>
              <a:t>...</a:t>
            </a:r>
            <a:endParaRPr lang="fr-FR" altLang="fr-FR" sz="18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 b="1">
                <a:solidFill>
                  <a:srgbClr val="000000"/>
                </a:solidFill>
                <a:latin typeface="Courier New" panose="02070309020205020404" pitchFamily="49" charset="0"/>
              </a:rPr>
              <a:t>            (-conduction-convection_laterale);</a:t>
            </a:r>
            <a:endParaRPr lang="fr-FR" altLang="fr-FR" sz="18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 b="1">
                <a:solidFill>
                  <a:srgbClr val="000000"/>
                </a:solidFill>
                <a:latin typeface="Courier New" panose="02070309020205020404" pitchFamily="49" charset="0"/>
              </a:rPr>
              <a:t>   </a:t>
            </a:r>
            <a:r>
              <a:rPr lang="fr-FR" altLang="fr-FR" sz="1800" b="1">
                <a:solidFill>
                  <a:srgbClr val="0000FF"/>
                </a:solidFill>
                <a:latin typeface="Courier New" panose="02070309020205020404" pitchFamily="49" charset="0"/>
              </a:rPr>
              <a:t>end</a:t>
            </a:r>
            <a:endParaRPr lang="fr-FR" altLang="fr-FR" sz="180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/>
          </a:p>
        </p:txBody>
      </p:sp>
      <p:sp>
        <p:nvSpPr>
          <p:cNvPr id="12292" name="Text Box 7"/>
          <p:cNvSpPr txBox="1">
            <a:spLocks noChangeArrowheads="1"/>
          </p:cNvSpPr>
          <p:nvPr/>
        </p:nvSpPr>
        <p:spPr bwMode="auto">
          <a:xfrm>
            <a:off x="6732588" y="188913"/>
            <a:ext cx="2232025" cy="395287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/>
              <a:t>Fonction explicite.m</a:t>
            </a:r>
          </a:p>
        </p:txBody>
      </p:sp>
      <p:sp>
        <p:nvSpPr>
          <p:cNvPr id="12293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89C904F-1551-4339-B0C1-3C1272667D50}" type="slidenum">
              <a:rPr lang="fr-FR" altLang="fr-FR" sz="1400"/>
              <a:pPr>
                <a:spcBef>
                  <a:spcPct val="0"/>
                </a:spcBef>
                <a:buFontTx/>
                <a:buNone/>
              </a:pPr>
              <a:t>10</a:t>
            </a:fld>
            <a:endParaRPr lang="fr-FR" altLang="fr-FR" sz="140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 Box 5"/>
          <p:cNvSpPr txBox="1">
            <a:spLocks noChangeArrowheads="1"/>
          </p:cNvSpPr>
          <p:nvPr/>
        </p:nvSpPr>
        <p:spPr bwMode="auto">
          <a:xfrm>
            <a:off x="179388" y="908050"/>
            <a:ext cx="8934450" cy="558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/>
              <a:t> </a:t>
            </a:r>
            <a:r>
              <a:rPr lang="fr-FR" altLang="fr-FR" sz="1800" b="1">
                <a:solidFill>
                  <a:srgbClr val="228B22"/>
                </a:solidFill>
                <a:latin typeface="Courier New" panose="02070309020205020404" pitchFamily="49" charset="0"/>
              </a:rPr>
              <a:t>  % Initialisation : CAL a droite</a:t>
            </a:r>
            <a:endParaRPr lang="fr-FR" altLang="fr-FR" sz="18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 b="1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fr-FR" altLang="fr-FR" sz="1800" b="1">
                <a:solidFill>
                  <a:srgbClr val="0000FF"/>
                </a:solidFill>
                <a:latin typeface="Courier New" panose="02070309020205020404" pitchFamily="49" charset="0"/>
              </a:rPr>
              <a:t>if</a:t>
            </a:r>
            <a:r>
              <a:rPr lang="fr-FR" altLang="fr-FR" sz="1800" b="1">
                <a:solidFill>
                  <a:srgbClr val="000000"/>
                </a:solidFill>
                <a:latin typeface="Courier New" panose="02070309020205020404" pitchFamily="49" charset="0"/>
              </a:rPr>
              <a:t> phys.type_cl_droite==</a:t>
            </a:r>
            <a:r>
              <a:rPr lang="fr-FR" altLang="fr-FR" sz="1800" b="1">
                <a:solidFill>
                  <a:srgbClr val="A020F0"/>
                </a:solidFill>
                <a:latin typeface="Courier New" panose="02070309020205020404" pitchFamily="49" charset="0"/>
              </a:rPr>
              <a:t>'DIRICHLET'</a:t>
            </a:r>
            <a:r>
              <a:rPr lang="fr-FR" altLang="fr-FR" sz="1800" b="1">
                <a:solidFill>
                  <a:srgbClr val="000000"/>
                </a:solidFill>
                <a:latin typeface="Courier New" panose="02070309020205020404" pitchFamily="49" charset="0"/>
              </a:rPr>
              <a:t>  </a:t>
            </a:r>
            <a:endParaRPr lang="fr-FR" altLang="fr-FR" sz="18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 b="1">
                <a:solidFill>
                  <a:srgbClr val="000000"/>
                </a:solidFill>
                <a:latin typeface="Courier New" panose="02070309020205020404" pitchFamily="49" charset="0"/>
              </a:rPr>
              <a:t>        </a:t>
            </a:r>
            <a:r>
              <a:rPr lang="fr-FR" altLang="fr-FR" sz="1800" b="1">
                <a:solidFill>
                  <a:srgbClr val="228B22"/>
                </a:solidFill>
                <a:latin typeface="Courier New" panose="02070309020205020404" pitchFamily="49" charset="0"/>
              </a:rPr>
              <a:t>% CAL de Dirichlet</a:t>
            </a:r>
            <a:endParaRPr lang="fr-FR" altLang="fr-FR" sz="18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 b="1">
                <a:solidFill>
                  <a:srgbClr val="000000"/>
                </a:solidFill>
                <a:latin typeface="Courier New" panose="02070309020205020404" pitchFamily="49" charset="0"/>
              </a:rPr>
              <a:t>        Tdd = phys.Tdd;</a:t>
            </a:r>
            <a:endParaRPr lang="fr-FR" altLang="fr-FR" sz="18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 b="1">
                <a:solidFill>
                  <a:srgbClr val="000000"/>
                </a:solidFill>
                <a:latin typeface="Courier New" panose="02070309020205020404" pitchFamily="49" charset="0"/>
              </a:rPr>
              <a:t>        x(N)=(N-1)*deltax;</a:t>
            </a:r>
            <a:endParaRPr lang="fr-FR" altLang="fr-FR" sz="18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 b="1">
                <a:solidFill>
                  <a:srgbClr val="000000"/>
                </a:solidFill>
                <a:latin typeface="Courier New" panose="02070309020205020404" pitchFamily="49" charset="0"/>
              </a:rPr>
              <a:t>        T(N)=Tdd;</a:t>
            </a:r>
            <a:endParaRPr lang="fr-FR" altLang="fr-FR" sz="18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 b="1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fr-FR" altLang="fr-FR" sz="1800" b="1">
                <a:solidFill>
                  <a:srgbClr val="0000FF"/>
                </a:solidFill>
                <a:latin typeface="Courier New" panose="02070309020205020404" pitchFamily="49" charset="0"/>
              </a:rPr>
              <a:t>else</a:t>
            </a:r>
            <a:endParaRPr lang="fr-FR" altLang="fr-FR" sz="18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 b="1">
                <a:solidFill>
                  <a:srgbClr val="000000"/>
                </a:solidFill>
                <a:latin typeface="Courier New" panose="02070309020205020404" pitchFamily="49" charset="0"/>
              </a:rPr>
              <a:t>        </a:t>
            </a:r>
            <a:r>
              <a:rPr lang="fr-FR" altLang="fr-FR" sz="1800" b="1">
                <a:solidFill>
                  <a:srgbClr val="228B22"/>
                </a:solidFill>
                <a:latin typeface="Courier New" panose="02070309020205020404" pitchFamily="49" charset="0"/>
              </a:rPr>
              <a:t>% CAL de Neumann a droite       </a:t>
            </a:r>
            <a:endParaRPr lang="fr-FR" altLang="fr-FR" sz="18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 b="1">
                <a:solidFill>
                  <a:srgbClr val="000000"/>
                </a:solidFill>
                <a:latin typeface="Courier New" panose="02070309020205020404" pitchFamily="49" charset="0"/>
              </a:rPr>
              <a:t>        x(N)=(N-1)*deltax;</a:t>
            </a:r>
            <a:endParaRPr lang="fr-FR" altLang="fr-FR" sz="18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 b="1">
                <a:solidFill>
                  <a:srgbClr val="000000"/>
                </a:solidFill>
                <a:latin typeface="Courier New" panose="02070309020205020404" pitchFamily="49" charset="0"/>
              </a:rPr>
              <a:t>        dT_dx=0;</a:t>
            </a:r>
            <a:endParaRPr lang="fr-FR" altLang="fr-FR" sz="18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 b="1">
                <a:solidFill>
                  <a:srgbClr val="000000"/>
                </a:solidFill>
                <a:latin typeface="Courier New" panose="02070309020205020404" pitchFamily="49" charset="0"/>
              </a:rPr>
              <a:t>        d2T_dx2=(Tprec(N-1)-Tprec(N)+deltax*dT_dx)*2/(deltax^2);</a:t>
            </a:r>
            <a:endParaRPr lang="fr-FR" altLang="fr-FR" sz="18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 b="1">
                <a:solidFill>
                  <a:srgbClr val="000000"/>
                </a:solidFill>
                <a:latin typeface="Courier New" panose="02070309020205020404" pitchFamily="49" charset="0"/>
              </a:rPr>
              <a:t>        </a:t>
            </a:r>
            <a:endParaRPr lang="fr-FR" altLang="fr-FR" sz="18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 b="1">
                <a:solidFill>
                  <a:srgbClr val="000000"/>
                </a:solidFill>
                <a:latin typeface="Courier New" panose="02070309020205020404" pitchFamily="49" charset="0"/>
              </a:rPr>
              <a:t>        conduction=-kth*d2T_dx2;</a:t>
            </a:r>
            <a:endParaRPr lang="fr-FR" altLang="fr-FR" sz="18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 b="1">
                <a:solidFill>
                  <a:srgbClr val="000000"/>
                </a:solidFill>
                <a:latin typeface="Courier New" panose="02070309020205020404" pitchFamily="49" charset="0"/>
              </a:rPr>
              <a:t>       </a:t>
            </a:r>
            <a:r>
              <a:rPr lang="fr-FR" altLang="fr-FR" sz="1800" b="1">
                <a:solidFill>
                  <a:srgbClr val="228B22"/>
                </a:solidFill>
                <a:latin typeface="Courier New" panose="02070309020205020404" pitchFamily="49" charset="0"/>
              </a:rPr>
              <a:t>% convection par les faces laterales</a:t>
            </a:r>
            <a:endParaRPr lang="fr-FR" altLang="fr-FR" sz="18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 b="1">
                <a:solidFill>
                  <a:srgbClr val="000000"/>
                </a:solidFill>
                <a:latin typeface="Courier New" panose="02070309020205020404" pitchFamily="49" charset="0"/>
              </a:rPr>
              <a:t>        convection_laterale=2*hc/epais*(Tprec(N)-Ta);</a:t>
            </a:r>
            <a:endParaRPr lang="fr-FR" altLang="fr-FR" sz="18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 b="1">
                <a:solidFill>
                  <a:srgbClr val="000000"/>
                </a:solidFill>
                <a:latin typeface="Courier New" panose="02070309020205020404" pitchFamily="49" charset="0"/>
              </a:rPr>
              <a:t>                </a:t>
            </a:r>
            <a:endParaRPr lang="fr-FR" altLang="fr-FR" sz="18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 b="1">
                <a:solidFill>
                  <a:srgbClr val="000000"/>
                </a:solidFill>
                <a:latin typeface="Courier New" panose="02070309020205020404" pitchFamily="49" charset="0"/>
              </a:rPr>
              <a:t>        T(N)=Tprec(N)+(deltat/(rho*cp))* ...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 b="1">
                <a:solidFill>
                  <a:srgbClr val="000000"/>
                </a:solidFill>
                <a:latin typeface="Courier New" panose="02070309020205020404" pitchFamily="49" charset="0"/>
              </a:rPr>
              <a:t>			(-conduction-convection_laterale);          </a:t>
            </a:r>
            <a:endParaRPr lang="fr-FR" altLang="fr-FR" sz="18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 b="1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fr-FR" altLang="fr-FR" sz="1800" b="1">
                <a:solidFill>
                  <a:srgbClr val="0000FF"/>
                </a:solidFill>
                <a:latin typeface="Courier New" panose="02070309020205020404" pitchFamily="49" charset="0"/>
              </a:rPr>
              <a:t>end</a:t>
            </a:r>
            <a:endParaRPr lang="fr-FR" altLang="fr-FR" sz="180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/>
          </a:p>
        </p:txBody>
      </p:sp>
      <p:sp>
        <p:nvSpPr>
          <p:cNvPr id="13315" name="Text Box 6"/>
          <p:cNvSpPr txBox="1">
            <a:spLocks noChangeArrowheads="1"/>
          </p:cNvSpPr>
          <p:nvPr/>
        </p:nvSpPr>
        <p:spPr bwMode="auto">
          <a:xfrm>
            <a:off x="231775" y="182563"/>
            <a:ext cx="37115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2000"/>
              <a:t>Conditions aux limites à droite :</a:t>
            </a:r>
          </a:p>
        </p:txBody>
      </p:sp>
      <p:sp>
        <p:nvSpPr>
          <p:cNvPr id="13316" name="Text Box 7"/>
          <p:cNvSpPr txBox="1">
            <a:spLocks noChangeArrowheads="1"/>
          </p:cNvSpPr>
          <p:nvPr/>
        </p:nvSpPr>
        <p:spPr bwMode="auto">
          <a:xfrm>
            <a:off x="6804025" y="153988"/>
            <a:ext cx="2232025" cy="395287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/>
              <a:t>Fonction explicite.m</a:t>
            </a:r>
          </a:p>
        </p:txBody>
      </p:sp>
      <p:sp>
        <p:nvSpPr>
          <p:cNvPr id="1331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5DADDEA-A8E9-49B5-883A-174DD489D64F}" type="slidenum">
              <a:rPr lang="fr-FR" altLang="fr-FR" sz="1400"/>
              <a:pPr>
                <a:spcBef>
                  <a:spcPct val="0"/>
                </a:spcBef>
                <a:buFontTx/>
                <a:buNone/>
              </a:pPr>
              <a:t>11</a:t>
            </a:fld>
            <a:endParaRPr lang="fr-FR" altLang="fr-FR" sz="140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odèle par défaut">
  <a:themeElements>
    <a:clrScheme name="Modèle par défau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Modèle par défau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Modèle par défau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446</TotalTime>
  <Words>786</Words>
  <Application>Microsoft Office PowerPoint</Application>
  <PresentationFormat>Affichage à l'écran (4:3)</PresentationFormat>
  <Paragraphs>148</Paragraphs>
  <Slides>11</Slides>
  <Notes>0</Notes>
  <HiddenSlides>0</HiddenSlides>
  <MMClips>0</MMClips>
  <ScaleCrop>false</ScaleCrop>
  <HeadingPairs>
    <vt:vector size="8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Serveurs OLE incorporés</vt:lpstr>
      </vt:variant>
      <vt:variant>
        <vt:i4>2</vt:i4>
      </vt:variant>
      <vt:variant>
        <vt:lpstr>Titres des diapositives</vt:lpstr>
      </vt:variant>
      <vt:variant>
        <vt:i4>11</vt:i4>
      </vt:variant>
    </vt:vector>
  </HeadingPairs>
  <TitlesOfParts>
    <vt:vector size="19" baseType="lpstr">
      <vt:lpstr>MS PGothic</vt:lpstr>
      <vt:lpstr>Arial</vt:lpstr>
      <vt:lpstr>Calibri</vt:lpstr>
      <vt:lpstr>Courier New</vt:lpstr>
      <vt:lpstr>Symbol</vt:lpstr>
      <vt:lpstr>Modèle par défaut</vt:lpstr>
      <vt:lpstr>Equation</vt:lpstr>
      <vt:lpstr>MathType 6.0 Equation</vt:lpstr>
      <vt:lpstr>Distribution de température dans une ailette de radiateur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cnrs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Distribution de température dans une ailette de radiateur</dc:title>
  <dc:creator>jc.toussaint</dc:creator>
  <cp:lastModifiedBy>jean-christophe toussaint</cp:lastModifiedBy>
  <cp:revision>86</cp:revision>
  <dcterms:created xsi:type="dcterms:W3CDTF">2008-08-21T11:27:14Z</dcterms:created>
  <dcterms:modified xsi:type="dcterms:W3CDTF">2019-07-07T14:20:06Z</dcterms:modified>
</cp:coreProperties>
</file>