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96" r:id="rId2"/>
    <p:sldId id="292" r:id="rId3"/>
    <p:sldId id="283" r:id="rId4"/>
    <p:sldId id="271" r:id="rId5"/>
    <p:sldId id="270" r:id="rId6"/>
    <p:sldId id="295" r:id="rId7"/>
    <p:sldId id="293" r:id="rId8"/>
    <p:sldId id="301" r:id="rId9"/>
    <p:sldId id="302" r:id="rId10"/>
    <p:sldId id="299" r:id="rId11"/>
    <p:sldId id="300" r:id="rId12"/>
    <p:sldId id="287" r:id="rId13"/>
    <p:sldId id="281" r:id="rId14"/>
    <p:sldId id="282" r:id="rId15"/>
    <p:sldId id="286" r:id="rId16"/>
    <p:sldId id="275" r:id="rId17"/>
    <p:sldId id="284" r:id="rId18"/>
    <p:sldId id="285" r:id="rId19"/>
    <p:sldId id="274" r:id="rId20"/>
    <p:sldId id="288" r:id="rId21"/>
    <p:sldId id="277" r:id="rId22"/>
    <p:sldId id="289" r:id="rId23"/>
    <p:sldId id="272" r:id="rId24"/>
  </p:sldIdLst>
  <p:sldSz cx="9144000" cy="6858000" type="screen4x3"/>
  <p:notesSz cx="9601200" cy="73152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99FF"/>
    <a:srgbClr val="00CC00"/>
    <a:srgbClr val="66FF33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1157" y="-72"/>
      </p:cViewPr>
      <p:guideLst>
        <p:guide orient="horz" pos="2304"/>
        <p:guide pos="30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8775" y="0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/>
            </a:lvl1pPr>
          </a:lstStyle>
          <a:p>
            <a:fld id="{70EA258F-0E48-44A0-A7F4-66340914E9CD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8775" y="0"/>
            <a:ext cx="416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3388" y="547688"/>
            <a:ext cx="36576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3475038"/>
            <a:ext cx="768032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F5A6894-189A-4A68-852C-812F48F82EAA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E09FA4-C85E-43E4-AC43-D13C4567A58F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92639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2DECF-36C1-4306-BF54-E3CDA30F3E0E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46156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561E2-3378-4117-B599-CF2321D79494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23594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845B7B-57DE-4A4F-8655-05A7D62A2187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45271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0F4A02-C9CF-4733-8585-3E850B5E684A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16583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5578AD-A5C7-4A31-8B73-B07A84EA0D63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28740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8DAF9C-E244-432E-8B28-F63F531C6528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36275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5E0BFD-C485-4FCE-BCBB-D82CB0F73AC9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83311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F01FE-E78C-4874-A9AD-824D5C65F854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6287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EF4405-9570-4D0C-938F-892295D31EBE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73876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7ECB75-91AD-476B-A880-54B0BD79785A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46103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8600"/>
            <a:ext cx="21336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fld id="{BA7721FE-E9FC-4DAA-9E19-E30E30BEA504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4.w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38.bin"/><Relationship Id="rId18" Type="http://schemas.openxmlformats.org/officeDocument/2006/relationships/oleObject" Target="../embeddings/oleObject40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51.wmf"/><Relationship Id="rId17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image" Target="../media/image55.png"/><Relationship Id="rId10" Type="http://schemas.openxmlformats.org/officeDocument/2006/relationships/image" Target="../media/image50.wmf"/><Relationship Id="rId19" Type="http://schemas.openxmlformats.org/officeDocument/2006/relationships/image" Target="../media/image54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F837A27-F700-40F9-9B6C-32F1307376EF}" type="slidenum">
              <a:rPr lang="fr-FR" altLang="fr-FR" sz="1200"/>
              <a:pPr eaLnBrk="1" hangingPunct="1"/>
              <a:t>1</a:t>
            </a:fld>
            <a:endParaRPr lang="fr-FR" altLang="fr-FR" sz="1200" b="0"/>
          </a:p>
        </p:txBody>
      </p:sp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2051050" y="115888"/>
            <a:ext cx="463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/>
              <a:t>Méthode des différences finies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323850" y="703263"/>
            <a:ext cx="8770938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Méthode de résolution d</a:t>
            </a:r>
            <a:r>
              <a:rPr lang="ja-JP" altLang="fr-FR" sz="2000"/>
              <a:t>’</a:t>
            </a:r>
            <a:r>
              <a:rPr lang="fr-FR" altLang="ja-JP" sz="2000"/>
              <a:t>équations aux dérivées partielles statiques ou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temporelles (chaleur, mécanique, fluide, propagation d</a:t>
            </a:r>
            <a:r>
              <a:rPr lang="ja-JP" altLang="fr-FR" sz="2000"/>
              <a:t>’</a:t>
            </a:r>
            <a:r>
              <a:rPr lang="fr-FR" altLang="ja-JP" sz="2000"/>
              <a:t>onde)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</a:t>
            </a:r>
            <a:r>
              <a:rPr lang="ja-JP" altLang="fr-FR" sz="2000"/>
              <a:t>’</a:t>
            </a:r>
            <a:r>
              <a:rPr lang="fr-FR" altLang="ja-JP" sz="2000"/>
              <a:t>inconnue et  les grandeurs physiques sont échantillonnées sur un ens.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de points d</a:t>
            </a:r>
            <a:r>
              <a:rPr lang="ja-JP" altLang="fr-FR" sz="2000"/>
              <a:t>’</a:t>
            </a:r>
            <a:r>
              <a:rPr lang="fr-FR" altLang="ja-JP" sz="2000"/>
              <a:t>un réseau le plus souvent régulier.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La discrétisation de l</a:t>
            </a:r>
            <a:r>
              <a:rPr lang="ja-JP" altLang="fr-FR" sz="2000"/>
              <a:t>’</a:t>
            </a:r>
            <a:r>
              <a:rPr lang="fr-FR" altLang="ja-JP" sz="2000"/>
              <a:t>équation consiste à remplacer les dérivées partielles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par leur accroissement. Cette estimation en un nœud donné est obtenue par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un </a:t>
            </a:r>
            <a:r>
              <a:rPr lang="fr-FR" altLang="fr-FR" sz="2000">
                <a:solidFill>
                  <a:srgbClr val="FF0000"/>
                </a:solidFill>
              </a:rPr>
              <a:t>développement de Taylor de l</a:t>
            </a:r>
            <a:r>
              <a:rPr lang="ja-JP" altLang="fr-FR" sz="2000">
                <a:solidFill>
                  <a:srgbClr val="FF0000"/>
                </a:solidFill>
              </a:rPr>
              <a:t>’</a:t>
            </a:r>
            <a:r>
              <a:rPr lang="fr-FR" altLang="ja-JP" sz="2000">
                <a:solidFill>
                  <a:srgbClr val="FF0000"/>
                </a:solidFill>
              </a:rPr>
              <a:t>inconnue à partir des nœuds voisins</a:t>
            </a:r>
            <a:r>
              <a:rPr lang="fr-FR" altLang="ja-JP" sz="2000"/>
              <a:t>. 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Lorsque l</a:t>
            </a:r>
            <a:r>
              <a:rPr lang="ja-JP" altLang="fr-FR" sz="2000"/>
              <a:t>’</a:t>
            </a:r>
            <a:r>
              <a:rPr lang="fr-FR" altLang="ja-JP" sz="2000"/>
              <a:t>inconnue est invariante selon une direction z (translation) ou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par rotation autour de Oz (axisymétrie), le domaine de calcul peut être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restreint à un domaine 2D. </a:t>
            </a:r>
          </a:p>
          <a:p>
            <a:pPr eaLnBrk="1" hangingPunct="1">
              <a:lnSpc>
                <a:spcPct val="120000"/>
              </a:lnSpc>
            </a:pPr>
            <a:endParaRPr lang="fr-FR" altLang="fr-FR" sz="8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Lorsque l</a:t>
            </a:r>
            <a:r>
              <a:rPr lang="ja-JP" altLang="fr-FR" sz="2000"/>
              <a:t>’</a:t>
            </a:r>
            <a:r>
              <a:rPr lang="fr-FR" altLang="ja-JP" sz="2000"/>
              <a:t>inconnue ne varie que selon une direction x ou selon r (radiale),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le domaine de calcul se réduit à un segment de droite.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8EFFB14-1C3F-4DF7-AF9C-8A921C1B2FA1}" type="slidenum">
              <a:rPr lang="fr-FR" altLang="fr-FR" sz="1200"/>
              <a:pPr eaLnBrk="1" hangingPunct="1"/>
              <a:t>2</a:t>
            </a:fld>
            <a:endParaRPr lang="fr-FR" altLang="fr-FR" sz="1200" b="0"/>
          </a:p>
        </p:txBody>
      </p:sp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11188" y="115888"/>
            <a:ext cx="755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/>
              <a:t>Discrétisation de la géométrie en différences finies</a:t>
            </a:r>
          </a:p>
        </p:txBody>
      </p:sp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2708275"/>
            <a:ext cx="3130550" cy="273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53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73350"/>
            <a:ext cx="2670175" cy="270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519113" y="666750"/>
            <a:ext cx="8266112" cy="186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1D, l</a:t>
            </a:r>
            <a:r>
              <a:rPr lang="ja-JP" altLang="fr-FR" sz="1800"/>
              <a:t>’</a:t>
            </a:r>
            <a:r>
              <a:rPr lang="fr-FR" altLang="ja-JP" sz="1800"/>
              <a:t>inconnue est discrétisée sur un réseau simple de noeuds</a:t>
            </a:r>
          </a:p>
          <a:p>
            <a:pPr eaLnBrk="1" hangingPunct="1"/>
            <a:r>
              <a:rPr lang="fr-FR" altLang="fr-FR" sz="1800"/>
              <a:t>En 2D, l</a:t>
            </a:r>
            <a:r>
              <a:rPr lang="ja-JP" altLang="fr-FR" sz="1800"/>
              <a:t>’</a:t>
            </a:r>
            <a:r>
              <a:rPr lang="fr-FR" altLang="ja-JP" sz="1800"/>
              <a:t>inconnue est discrétisée sur un réseau carré, rectangulaire ou sur un réseau hexagonal régulier. </a:t>
            </a:r>
          </a:p>
          <a:p>
            <a:pPr eaLnBrk="1" hangingPunct="1"/>
            <a:r>
              <a:rPr lang="fr-FR" altLang="fr-FR" sz="1800"/>
              <a:t>En 3D, l</a:t>
            </a:r>
            <a:r>
              <a:rPr lang="ja-JP" altLang="fr-FR" sz="1800"/>
              <a:t>’</a:t>
            </a:r>
            <a:r>
              <a:rPr lang="fr-FR" altLang="ja-JP" sz="1800"/>
              <a:t>inconnue est discrétisée sur un sur un réseau orthorhombique ou </a:t>
            </a:r>
          </a:p>
          <a:p>
            <a:pPr eaLnBrk="1" hangingPunct="1"/>
            <a:r>
              <a:rPr lang="fr-FR" altLang="fr-FR" sz="1800"/>
              <a:t>à base hexagonale = réseaux 2D extrudés selon Oz. 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800"/>
              <a:t>En 2D et 3D, grandes difficultés pour décrire des surfaces curvilignes!</a:t>
            </a: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79425" y="5661025"/>
            <a:ext cx="7872413" cy="10350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Les différences finies sont bien adaptées pour résoudre les EDP sur</a:t>
            </a:r>
          </a:p>
          <a:p>
            <a:pPr eaLnBrk="1" hangingPunct="1"/>
            <a:r>
              <a:rPr lang="fr-FR" altLang="fr-FR" sz="2000"/>
              <a:t>des segments de droites, des domaines rectangulaires en 2D ou </a:t>
            </a:r>
          </a:p>
          <a:p>
            <a:pPr eaLnBrk="1" hangingPunct="1"/>
            <a:r>
              <a:rPr lang="fr-FR" altLang="fr-FR" sz="2000"/>
              <a:t>des pavés en 3D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51C506E-02E6-4A12-91EE-7A880FE4F5DB}" type="slidenum">
              <a:rPr lang="fr-FR" altLang="fr-FR" sz="1200"/>
              <a:pPr eaLnBrk="1" hangingPunct="1"/>
              <a:t>3</a:t>
            </a:fld>
            <a:endParaRPr lang="fr-FR" altLang="fr-FR" sz="1200" b="0"/>
          </a:p>
        </p:txBody>
      </p:sp>
      <p:sp>
        <p:nvSpPr>
          <p:cNvPr id="38947" name="Text Box 35"/>
          <p:cNvSpPr txBox="1">
            <a:spLocks noChangeArrowheads="1"/>
          </p:cNvSpPr>
          <p:nvPr/>
        </p:nvSpPr>
        <p:spPr bwMode="auto">
          <a:xfrm>
            <a:off x="3563938" y="765175"/>
            <a:ext cx="442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Flux local de chaleur par unité de surface </a:t>
            </a:r>
          </a:p>
        </p:txBody>
      </p:sp>
      <p:sp>
        <p:nvSpPr>
          <p:cNvPr id="38951" name="Text Box 39"/>
          <p:cNvSpPr txBox="1">
            <a:spLocks noChangeArrowheads="1"/>
          </p:cNvSpPr>
          <p:nvPr/>
        </p:nvSpPr>
        <p:spPr bwMode="auto">
          <a:xfrm>
            <a:off x="3563938" y="2368550"/>
            <a:ext cx="53784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signe </a:t>
            </a:r>
            <a:r>
              <a:rPr lang="fr-FR" altLang="fr-FR" sz="1800" b="1">
                <a:solidFill>
                  <a:srgbClr val="FF0000"/>
                </a:solidFill>
              </a:rPr>
              <a:t>opposé à la convention thermodynamique</a:t>
            </a:r>
          </a:p>
          <a:p>
            <a:pPr lvl="1" eaLnBrk="1" hangingPunct="1">
              <a:buFontTx/>
              <a:buChar char="•"/>
            </a:pPr>
            <a:r>
              <a:rPr lang="fr-FR" altLang="fr-FR" sz="1800"/>
              <a:t> positif si flux de chaleur sortant</a:t>
            </a:r>
          </a:p>
          <a:p>
            <a:pPr lvl="1" eaLnBrk="1" hangingPunct="1">
              <a:buFontTx/>
              <a:buChar char="•"/>
            </a:pPr>
            <a:r>
              <a:rPr lang="fr-FR" altLang="fr-FR" sz="1800"/>
              <a:t> négatif si entrant </a:t>
            </a:r>
          </a:p>
        </p:txBody>
      </p:sp>
      <p:graphicFrame>
        <p:nvGraphicFramePr>
          <p:cNvPr id="17412" name="Object 36"/>
          <p:cNvGraphicFramePr>
            <a:graphicFrameLocks noChangeAspect="1"/>
          </p:cNvGraphicFramePr>
          <p:nvPr/>
        </p:nvGraphicFramePr>
        <p:xfrm>
          <a:off x="4381500" y="1055688"/>
          <a:ext cx="1141413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4" name="Equation" r:id="rId3" imgW="634725" imgH="393529" progId="Equation.3">
                  <p:embed/>
                </p:oleObj>
              </mc:Choice>
              <mc:Fallback>
                <p:oleObj name="Equation" r:id="rId3" imgW="634725" imgH="39352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1055688"/>
                        <a:ext cx="1141413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40"/>
          <p:cNvGraphicFramePr>
            <a:graphicFrameLocks noChangeAspect="1"/>
          </p:cNvGraphicFramePr>
          <p:nvPr/>
        </p:nvGraphicFramePr>
        <p:xfrm>
          <a:off x="6804025" y="1196975"/>
          <a:ext cx="13255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5" name="Equation" r:id="rId5" imgW="736600" imgH="228600" progId="Equation.3">
                  <p:embed/>
                </p:oleObj>
              </mc:Choice>
              <mc:Fallback>
                <p:oleObj name="Equation" r:id="rId5" imgW="736600" imgH="228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196975"/>
                        <a:ext cx="132556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3" name="Text Box 41"/>
          <p:cNvSpPr txBox="1">
            <a:spLocks noChangeArrowheads="1"/>
          </p:cNvSpPr>
          <p:nvPr/>
        </p:nvSpPr>
        <p:spPr bwMode="auto">
          <a:xfrm>
            <a:off x="5724525" y="1196975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avec</a:t>
            </a:r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4427538" y="188913"/>
            <a:ext cx="3351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>
                <a:latin typeface="Arial" charset="0"/>
                <a:ea typeface="ＭＳ Ｐゴシック" charset="0"/>
              </a:rPr>
              <a:t>Echanges thermiques</a:t>
            </a:r>
          </a:p>
        </p:txBody>
      </p:sp>
      <p:grpSp>
        <p:nvGrpSpPr>
          <p:cNvPr id="17416" name="Group 63"/>
          <p:cNvGrpSpPr>
            <a:grpSpLocks/>
          </p:cNvGrpSpPr>
          <p:nvPr/>
        </p:nvGrpSpPr>
        <p:grpSpPr bwMode="auto">
          <a:xfrm>
            <a:off x="611188" y="260350"/>
            <a:ext cx="2787650" cy="2881313"/>
            <a:chOff x="385" y="0"/>
            <a:chExt cx="1756" cy="1815"/>
          </a:xfrm>
        </p:grpSpPr>
        <p:sp>
          <p:nvSpPr>
            <p:cNvPr id="38923" name="Freeform 11"/>
            <p:cNvSpPr>
              <a:spLocks/>
            </p:cNvSpPr>
            <p:nvPr/>
          </p:nvSpPr>
          <p:spPr bwMode="auto">
            <a:xfrm rot="654853">
              <a:off x="431" y="0"/>
              <a:ext cx="1251" cy="1815"/>
            </a:xfrm>
            <a:custGeom>
              <a:avLst/>
              <a:gdLst>
                <a:gd name="T0" fmla="*/ 1247 w 1144"/>
                <a:gd name="T1" fmla="*/ 946 h 1660"/>
                <a:gd name="T2" fmla="*/ 1049 w 1144"/>
                <a:gd name="T3" fmla="*/ 177 h 1660"/>
                <a:gd name="T4" fmla="*/ 506 w 1144"/>
                <a:gd name="T5" fmla="*/ 47 h 1660"/>
                <a:gd name="T6" fmla="*/ 217 w 1144"/>
                <a:gd name="T7" fmla="*/ 457 h 1660"/>
                <a:gd name="T8" fmla="*/ 528 w 1144"/>
                <a:gd name="T9" fmla="*/ 946 h 1660"/>
                <a:gd name="T10" fmla="*/ 147 w 1144"/>
                <a:gd name="T11" fmla="*/ 1137 h 1660"/>
                <a:gd name="T12" fmla="*/ 47 w 1144"/>
                <a:gd name="T13" fmla="*/ 1507 h 1660"/>
                <a:gd name="T14" fmla="*/ 429 w 1144"/>
                <a:gd name="T15" fmla="*/ 1814 h 1660"/>
                <a:gd name="T16" fmla="*/ 1024 w 1144"/>
                <a:gd name="T17" fmla="*/ 1517 h 1660"/>
                <a:gd name="T18" fmla="*/ 1247 w 1144"/>
                <a:gd name="T19" fmla="*/ 946 h 16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44" h="1660">
                  <a:moveTo>
                    <a:pt x="1140" y="865"/>
                  </a:moveTo>
                  <a:cubicBezTo>
                    <a:pt x="1144" y="661"/>
                    <a:pt x="1072" y="299"/>
                    <a:pt x="959" y="162"/>
                  </a:cubicBezTo>
                  <a:cubicBezTo>
                    <a:pt x="846" y="25"/>
                    <a:pt x="590" y="0"/>
                    <a:pt x="463" y="43"/>
                  </a:cubicBezTo>
                  <a:cubicBezTo>
                    <a:pt x="336" y="86"/>
                    <a:pt x="195" y="281"/>
                    <a:pt x="198" y="418"/>
                  </a:cubicBezTo>
                  <a:cubicBezTo>
                    <a:pt x="201" y="555"/>
                    <a:pt x="494" y="761"/>
                    <a:pt x="483" y="865"/>
                  </a:cubicBezTo>
                  <a:cubicBezTo>
                    <a:pt x="472" y="969"/>
                    <a:pt x="207" y="954"/>
                    <a:pt x="134" y="1040"/>
                  </a:cubicBezTo>
                  <a:cubicBezTo>
                    <a:pt x="61" y="1126"/>
                    <a:pt x="0" y="1275"/>
                    <a:pt x="43" y="1378"/>
                  </a:cubicBezTo>
                  <a:cubicBezTo>
                    <a:pt x="86" y="1481"/>
                    <a:pt x="243" y="1658"/>
                    <a:pt x="392" y="1659"/>
                  </a:cubicBezTo>
                  <a:cubicBezTo>
                    <a:pt x="541" y="1660"/>
                    <a:pt x="811" y="1519"/>
                    <a:pt x="936" y="1387"/>
                  </a:cubicBezTo>
                  <a:cubicBezTo>
                    <a:pt x="1061" y="1255"/>
                    <a:pt x="1136" y="1069"/>
                    <a:pt x="1140" y="865"/>
                  </a:cubicBezTo>
                  <a:close/>
                </a:path>
              </a:pathLst>
            </a:custGeom>
            <a:solidFill>
              <a:schemeClr val="bg1"/>
            </a:solidFill>
            <a:ln w="38100" cap="flat" cmpd="sng">
              <a:solidFill>
                <a:srgbClr val="0099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>
              <a:off x="1733" y="767"/>
              <a:ext cx="238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fr-FR" sz="2500" b="1" smtClean="0">
                  <a:solidFill>
                    <a:srgbClr val="FF3300"/>
                  </a:solidFill>
                </a:rPr>
                <a:t>n</a:t>
              </a:r>
            </a:p>
          </p:txBody>
        </p:sp>
        <p:sp>
          <p:nvSpPr>
            <p:cNvPr id="38945" name="Text Box 33"/>
            <p:cNvSpPr txBox="1">
              <a:spLocks noChangeArrowheads="1"/>
            </p:cNvSpPr>
            <p:nvPr/>
          </p:nvSpPr>
          <p:spPr bwMode="auto">
            <a:xfrm>
              <a:off x="1778" y="351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2800" b="1">
                  <a:latin typeface="Arial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38955" name="Line 43"/>
            <p:cNvSpPr>
              <a:spLocks noChangeShapeType="1"/>
            </p:cNvSpPr>
            <p:nvPr/>
          </p:nvSpPr>
          <p:spPr bwMode="auto">
            <a:xfrm>
              <a:off x="1688" y="793"/>
              <a:ext cx="3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8957" name="Text Box 45"/>
            <p:cNvSpPr txBox="1">
              <a:spLocks noChangeArrowheads="1"/>
            </p:cNvSpPr>
            <p:nvPr/>
          </p:nvSpPr>
          <p:spPr bwMode="auto">
            <a:xfrm>
              <a:off x="385" y="72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2400" b="1">
                  <a:solidFill>
                    <a:srgbClr val="0099FF"/>
                  </a:solidFill>
                  <a:latin typeface="Arial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38938" name="Line 26"/>
            <p:cNvSpPr>
              <a:spLocks noChangeShapeType="1"/>
            </p:cNvSpPr>
            <p:nvPr/>
          </p:nvSpPr>
          <p:spPr bwMode="auto">
            <a:xfrm flipV="1">
              <a:off x="1688" y="585"/>
              <a:ext cx="453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8949" name="Text Box 37"/>
            <p:cNvSpPr txBox="1">
              <a:spLocks noChangeArrowheads="1"/>
            </p:cNvSpPr>
            <p:nvPr/>
          </p:nvSpPr>
          <p:spPr bwMode="auto">
            <a:xfrm>
              <a:off x="1343" y="676"/>
              <a:ext cx="3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2000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dS</a:t>
              </a:r>
            </a:p>
          </p:txBody>
        </p:sp>
        <p:sp>
          <p:nvSpPr>
            <p:cNvPr id="38954" name="Line 42"/>
            <p:cNvSpPr>
              <a:spLocks noChangeShapeType="1"/>
            </p:cNvSpPr>
            <p:nvPr/>
          </p:nvSpPr>
          <p:spPr bwMode="auto">
            <a:xfrm>
              <a:off x="1688" y="631"/>
              <a:ext cx="0" cy="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8962" name="Text Box 50"/>
            <p:cNvSpPr txBox="1">
              <a:spLocks noChangeArrowheads="1"/>
            </p:cNvSpPr>
            <p:nvPr/>
          </p:nvSpPr>
          <p:spPr bwMode="auto">
            <a:xfrm>
              <a:off x="1020" y="993"/>
              <a:ext cx="3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3200">
                  <a:latin typeface="Arial" charset="0"/>
                  <a:ea typeface="ＭＳ Ｐゴシック" charset="0"/>
                </a:rPr>
                <a:t>Q</a:t>
              </a:r>
            </a:p>
          </p:txBody>
        </p:sp>
      </p:grpSp>
      <p:sp>
        <p:nvSpPr>
          <p:cNvPr id="38965" name="Text Box 53"/>
          <p:cNvSpPr txBox="1">
            <a:spLocks noChangeArrowheads="1"/>
          </p:cNvSpPr>
          <p:nvPr/>
        </p:nvSpPr>
        <p:spPr bwMode="auto">
          <a:xfrm>
            <a:off x="611188" y="3697288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7418" name="Object 54"/>
          <p:cNvGraphicFramePr>
            <a:graphicFrameLocks noChangeAspect="1"/>
          </p:cNvGraphicFramePr>
          <p:nvPr/>
        </p:nvGraphicFramePr>
        <p:xfrm>
          <a:off x="644525" y="4327525"/>
          <a:ext cx="2127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Equation" r:id="rId7" imgW="1180588" imgH="380835" progId="Equation.3">
                  <p:embed/>
                </p:oleObj>
              </mc:Choice>
              <mc:Fallback>
                <p:oleObj name="Equation" r:id="rId7" imgW="1180588" imgH="380835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4327525"/>
                        <a:ext cx="21272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67" name="Text Box 55"/>
          <p:cNvSpPr txBox="1">
            <a:spLocks noChangeArrowheads="1"/>
          </p:cNvSpPr>
          <p:nvPr/>
        </p:nvSpPr>
        <p:spPr bwMode="auto">
          <a:xfrm>
            <a:off x="468313" y="3435350"/>
            <a:ext cx="8375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u="sng"/>
              <a:t>Bilan énergétique à l</a:t>
            </a:r>
            <a:r>
              <a:rPr lang="ja-JP" altLang="fr-FR" sz="1800" u="sng"/>
              <a:t>’</a:t>
            </a:r>
            <a:r>
              <a:rPr lang="fr-FR" altLang="ja-JP" sz="1800" u="sng"/>
              <a:t>équilibre thermodynamique</a:t>
            </a:r>
            <a:r>
              <a:rPr lang="fr-FR" altLang="ja-JP" sz="1800"/>
              <a:t> : soit une distribution interne de </a:t>
            </a:r>
          </a:p>
          <a:p>
            <a:pPr eaLnBrk="1" hangingPunct="1"/>
            <a:r>
              <a:rPr lang="fr-FR" altLang="fr-FR" sz="1800"/>
              <a:t>sources de chaleur Q(</a:t>
            </a:r>
            <a:r>
              <a:rPr lang="fr-FR" altLang="fr-FR" sz="1800" b="1"/>
              <a:t>r</a:t>
            </a:r>
            <a:r>
              <a:rPr lang="fr-FR" altLang="fr-FR" sz="1800"/>
              <a:t>) (unité [W].[m</a:t>
            </a:r>
            <a:r>
              <a:rPr lang="fr-FR" altLang="fr-FR" sz="1800" baseline="30000"/>
              <a:t>-3</a:t>
            </a:r>
            <a:r>
              <a:rPr lang="fr-FR" altLang="fr-FR" sz="1800"/>
              <a:t>])  , l</a:t>
            </a:r>
            <a:r>
              <a:rPr lang="ja-JP" altLang="fr-FR" sz="1800"/>
              <a:t>’</a:t>
            </a:r>
            <a:r>
              <a:rPr lang="fr-FR" altLang="ja-JP" sz="1800"/>
              <a:t>équilibre s</a:t>
            </a:r>
            <a:r>
              <a:rPr lang="ja-JP" altLang="fr-FR" sz="1800"/>
              <a:t>’</a:t>
            </a:r>
            <a:r>
              <a:rPr lang="fr-FR" altLang="ja-JP" sz="1800"/>
              <a:t>écrit :</a:t>
            </a:r>
            <a:endParaRPr lang="fr-FR" altLang="fr-FR" sz="1800"/>
          </a:p>
        </p:txBody>
      </p:sp>
      <p:sp>
        <p:nvSpPr>
          <p:cNvPr id="38968" name="Text Box 56"/>
          <p:cNvSpPr txBox="1">
            <a:spLocks noChangeArrowheads="1"/>
          </p:cNvSpPr>
          <p:nvPr/>
        </p:nvSpPr>
        <p:spPr bwMode="auto">
          <a:xfrm>
            <a:off x="547688" y="5119688"/>
            <a:ext cx="409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u="sng"/>
              <a:t>Bilan énergétique hors d</a:t>
            </a:r>
            <a:r>
              <a:rPr lang="ja-JP" altLang="fr-FR" sz="2000" u="sng"/>
              <a:t>’</a:t>
            </a:r>
            <a:r>
              <a:rPr lang="fr-FR" altLang="ja-JP" sz="2000" u="sng"/>
              <a:t>équilibre</a:t>
            </a:r>
            <a:r>
              <a:rPr lang="fr-FR" altLang="ja-JP" sz="2000"/>
              <a:t> :</a:t>
            </a:r>
            <a:endParaRPr lang="fr-FR" altLang="fr-FR" sz="2000"/>
          </a:p>
        </p:txBody>
      </p:sp>
      <p:sp>
        <p:nvSpPr>
          <p:cNvPr id="38969" name="Text Box 57"/>
          <p:cNvSpPr txBox="1">
            <a:spLocks noChangeArrowheads="1"/>
          </p:cNvSpPr>
          <p:nvPr/>
        </p:nvSpPr>
        <p:spPr bwMode="auto">
          <a:xfrm>
            <a:off x="3563938" y="4221163"/>
            <a:ext cx="4730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 puissance dissipée s</a:t>
            </a:r>
            <a:r>
              <a:rPr lang="ja-JP" altLang="fr-FR" sz="1800"/>
              <a:t>’</a:t>
            </a:r>
            <a:r>
              <a:rPr lang="fr-FR" altLang="ja-JP" sz="1800"/>
              <a:t>équilibre avec le flux</a:t>
            </a:r>
          </a:p>
          <a:p>
            <a:pPr eaLnBrk="1" hangingPunct="1"/>
            <a:r>
              <a:rPr lang="fr-FR" altLang="fr-FR" sz="1800"/>
              <a:t>À travers la surface du domaine D</a:t>
            </a:r>
          </a:p>
        </p:txBody>
      </p:sp>
      <p:graphicFrame>
        <p:nvGraphicFramePr>
          <p:cNvPr id="17422" name="Object 58"/>
          <p:cNvGraphicFramePr>
            <a:graphicFrameLocks noChangeAspect="1"/>
          </p:cNvGraphicFramePr>
          <p:nvPr/>
        </p:nvGraphicFramePr>
        <p:xfrm>
          <a:off x="611188" y="5734050"/>
          <a:ext cx="38655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7" name="Equation" r:id="rId9" imgW="2145369" imgH="444307" progId="Equation.3">
                  <p:embed/>
                </p:oleObj>
              </mc:Choice>
              <mc:Fallback>
                <p:oleObj name="Equation" r:id="rId9" imgW="2145369" imgH="444307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734050"/>
                        <a:ext cx="3865562" cy="8001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72" name="Text Box 60"/>
          <p:cNvSpPr txBox="1">
            <a:spLocks noChangeArrowheads="1"/>
          </p:cNvSpPr>
          <p:nvPr/>
        </p:nvSpPr>
        <p:spPr bwMode="auto">
          <a:xfrm>
            <a:off x="4572000" y="5661025"/>
            <a:ext cx="4360863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buFont typeface="Symbol" panose="05050102010706020507" pitchFamily="18" charset="2"/>
              <a:buNone/>
            </a:pPr>
            <a:r>
              <a:rPr lang="fr-FR" altLang="fr-FR" sz="1800">
                <a:latin typeface="Symbol" panose="05050102010706020507" pitchFamily="18" charset="2"/>
              </a:rPr>
              <a:t>r</a:t>
            </a:r>
            <a:r>
              <a:rPr lang="fr-FR" altLang="fr-FR" sz="1800"/>
              <a:t> la masse volumique [kg].[m</a:t>
            </a:r>
            <a:r>
              <a:rPr lang="fr-FR" altLang="fr-FR" sz="1800" baseline="30000"/>
              <a:t>-3</a:t>
            </a:r>
            <a:r>
              <a:rPr lang="fr-FR" altLang="fr-FR" sz="1800"/>
              <a:t>] 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c</a:t>
            </a:r>
            <a:r>
              <a:rPr lang="fr-FR" altLang="fr-FR" sz="1800" baseline="-25000"/>
              <a:t>p</a:t>
            </a:r>
            <a:r>
              <a:rPr lang="fr-FR" altLang="fr-FR" sz="1800"/>
              <a:t> est la capacité calorifique [J].[kg</a:t>
            </a:r>
            <a:r>
              <a:rPr lang="fr-FR" altLang="fr-FR" sz="1800" baseline="30000"/>
              <a:t>-1</a:t>
            </a:r>
            <a:r>
              <a:rPr lang="fr-FR" altLang="fr-FR" sz="1800"/>
              <a:t>].[K</a:t>
            </a:r>
            <a:r>
              <a:rPr lang="fr-FR" altLang="fr-FR" sz="1800" baseline="30000"/>
              <a:t>-1</a:t>
            </a:r>
            <a:r>
              <a:rPr lang="fr-FR" altLang="fr-FR" sz="1800"/>
              <a:t>]</a:t>
            </a:r>
          </a:p>
        </p:txBody>
      </p:sp>
      <p:sp>
        <p:nvSpPr>
          <p:cNvPr id="38973" name="Text Box 61"/>
          <p:cNvSpPr txBox="1">
            <a:spLocks noChangeArrowheads="1"/>
          </p:cNvSpPr>
          <p:nvPr/>
        </p:nvSpPr>
        <p:spPr bwMode="auto">
          <a:xfrm>
            <a:off x="3563938" y="1628775"/>
            <a:ext cx="5280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Unité de d</a:t>
            </a:r>
            <a:r>
              <a:rPr lang="fr-FR" altLang="fr-FR" sz="1800">
                <a:latin typeface="Symbol" panose="05050102010706020507" pitchFamily="18" charset="2"/>
              </a:rPr>
              <a:t>f/</a:t>
            </a:r>
            <a:r>
              <a:rPr lang="fr-FR" altLang="fr-FR" sz="1800"/>
              <a:t>dS [W].[m</a:t>
            </a:r>
            <a:r>
              <a:rPr lang="fr-FR" altLang="fr-FR" sz="1800" baseline="30000"/>
              <a:t>-2</a:t>
            </a:r>
            <a:r>
              <a:rPr lang="fr-FR" altLang="fr-FR" sz="1800"/>
              <a:t>] , </a:t>
            </a:r>
          </a:p>
          <a:p>
            <a:pPr eaLnBrk="1" hangingPunct="1"/>
            <a:r>
              <a:rPr lang="fr-FR" altLang="fr-FR" sz="1800"/>
              <a:t>	kth conductivité thermique [</a:t>
            </a:r>
            <a:r>
              <a:rPr lang="fr-FR" altLang="fr-FR" sz="1800">
                <a:solidFill>
                  <a:srgbClr val="000000"/>
                </a:solidFill>
              </a:rPr>
              <a:t>W].[m</a:t>
            </a:r>
            <a:r>
              <a:rPr lang="fr-FR" altLang="fr-FR" sz="1800" baseline="30000">
                <a:solidFill>
                  <a:srgbClr val="000000"/>
                </a:solidFill>
              </a:rPr>
              <a:t>-1</a:t>
            </a:r>
            <a:r>
              <a:rPr lang="fr-FR" altLang="fr-FR" sz="1800">
                <a:solidFill>
                  <a:srgbClr val="000000"/>
                </a:solidFill>
              </a:rPr>
              <a:t>].[K</a:t>
            </a:r>
            <a:r>
              <a:rPr lang="fr-FR" altLang="fr-FR" sz="1800" baseline="30000">
                <a:solidFill>
                  <a:srgbClr val="000000"/>
                </a:solidFill>
              </a:rPr>
              <a:t>-1</a:t>
            </a:r>
            <a:r>
              <a:rPr lang="fr-FR" altLang="fr-FR" sz="1800">
                <a:solidFill>
                  <a:srgbClr val="000000"/>
                </a:solidFill>
              </a:rPr>
              <a:t> ]</a:t>
            </a:r>
            <a:r>
              <a:rPr lang="fr-FR" altLang="fr-FR" sz="18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D47E29E-EC2F-4B93-A622-C125666C1B0C}" type="slidenum">
              <a:rPr lang="fr-FR" altLang="fr-FR" sz="1200"/>
              <a:pPr eaLnBrk="1" hangingPunct="1"/>
              <a:t>4</a:t>
            </a:fld>
            <a:endParaRPr lang="fr-FR" altLang="fr-FR" sz="1200" b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051050" y="115888"/>
            <a:ext cx="5551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/>
              <a:t>Méthode des différences finies en 1D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95288" y="598488"/>
            <a:ext cx="867092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La grandeur recherchée est échantillonnée en un ensemble de points d</a:t>
            </a:r>
            <a:r>
              <a:rPr lang="ja-JP" altLang="fr-FR" sz="1800"/>
              <a:t>’</a:t>
            </a:r>
            <a:r>
              <a:rPr lang="fr-FR" altLang="ja-JP" sz="1800"/>
              <a:t>un réseau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le plus souvent régulier.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La discrétisation de l</a:t>
            </a:r>
            <a:r>
              <a:rPr lang="ja-JP" altLang="fr-FR" sz="1800"/>
              <a:t>’</a:t>
            </a:r>
            <a:r>
              <a:rPr lang="fr-FR" altLang="ja-JP" sz="1800"/>
              <a:t>équation consiste à remplacer les dérivées partielles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par leur accroissement. Cette estimation en un nœud donné est obtenue par un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développement de Taylor de l</a:t>
            </a:r>
            <a:r>
              <a:rPr lang="ja-JP" altLang="fr-FR" sz="1800"/>
              <a:t>’</a:t>
            </a:r>
            <a:r>
              <a:rPr lang="fr-FR" altLang="ja-JP" sz="1800"/>
              <a:t>inconnue à partir des nœuds voisins. </a:t>
            </a:r>
            <a:endParaRPr lang="fr-FR" altLang="fr-FR" sz="1800"/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539750" y="4430713"/>
            <a:ext cx="610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Bilan énergétique pour l</a:t>
            </a:r>
            <a:r>
              <a:rPr lang="ja-JP" altLang="fr-FR" sz="1800"/>
              <a:t>’</a:t>
            </a:r>
            <a:r>
              <a:rPr lang="fr-FR" altLang="ja-JP" sz="1800"/>
              <a:t>élément dx et par unité de surface</a:t>
            </a:r>
            <a:endParaRPr lang="fr-FR" altLang="fr-FR" sz="1800"/>
          </a:p>
        </p:txBody>
      </p:sp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323850" y="4919663"/>
          <a:ext cx="6707188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Equation" r:id="rId3" imgW="3733800" imgH="863600" progId="Equation.3">
                  <p:embed/>
                </p:oleObj>
              </mc:Choice>
              <mc:Fallback>
                <p:oleObj name="Equation" r:id="rId3" imgW="3733800" imgH="86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919663"/>
                        <a:ext cx="6707188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473075" y="2565400"/>
            <a:ext cx="418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Exemple : équation de la chaleur en 1D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4716463" y="2708275"/>
            <a:ext cx="4360862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buFont typeface="Symbol" panose="05050102010706020507" pitchFamily="18" charset="2"/>
              <a:buNone/>
            </a:pPr>
            <a:r>
              <a:rPr lang="fr-FR" altLang="fr-FR" sz="1800">
                <a:latin typeface="Symbol" panose="05050102010706020507" pitchFamily="18" charset="2"/>
              </a:rPr>
              <a:t>r</a:t>
            </a:r>
            <a:r>
              <a:rPr lang="fr-FR" altLang="fr-FR" sz="1800"/>
              <a:t> la masse volumique [kg].[m</a:t>
            </a:r>
            <a:r>
              <a:rPr lang="fr-FR" altLang="fr-FR" sz="1800" baseline="30000"/>
              <a:t>-3</a:t>
            </a:r>
            <a:r>
              <a:rPr lang="fr-FR" altLang="fr-FR" sz="1800"/>
              <a:t>] 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c</a:t>
            </a:r>
            <a:r>
              <a:rPr lang="fr-FR" altLang="fr-FR" sz="1800" baseline="-25000"/>
              <a:t>p</a:t>
            </a:r>
            <a:r>
              <a:rPr lang="fr-FR" altLang="fr-FR" sz="1800"/>
              <a:t> est la capacité calorifique [J].[kg</a:t>
            </a:r>
            <a:r>
              <a:rPr lang="fr-FR" altLang="fr-FR" sz="1800" baseline="30000"/>
              <a:t>-1</a:t>
            </a:r>
            <a:r>
              <a:rPr lang="fr-FR" altLang="fr-FR" sz="1800"/>
              <a:t>].[K</a:t>
            </a:r>
            <a:r>
              <a:rPr lang="fr-FR" altLang="fr-FR" sz="1800" baseline="30000"/>
              <a:t>-1</a:t>
            </a:r>
            <a:r>
              <a:rPr lang="fr-FR" altLang="fr-FR" sz="1800"/>
              <a:t>]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k</a:t>
            </a:r>
            <a:r>
              <a:rPr lang="fr-FR" altLang="fr-FR" sz="1800" baseline="-25000"/>
              <a:t>th</a:t>
            </a:r>
            <a:r>
              <a:rPr lang="fr-FR" altLang="fr-FR" sz="1800"/>
              <a:t> conductivité thermique [</a:t>
            </a:r>
            <a:r>
              <a:rPr lang="fr-FR" altLang="fr-FR" sz="1800">
                <a:solidFill>
                  <a:srgbClr val="000000"/>
                </a:solidFill>
              </a:rPr>
              <a:t>W].[m</a:t>
            </a:r>
            <a:r>
              <a:rPr lang="fr-FR" altLang="fr-FR" sz="1800" baseline="30000">
                <a:solidFill>
                  <a:srgbClr val="000000"/>
                </a:solidFill>
              </a:rPr>
              <a:t>-1</a:t>
            </a:r>
            <a:r>
              <a:rPr lang="fr-FR" altLang="fr-FR" sz="1800">
                <a:solidFill>
                  <a:srgbClr val="000000"/>
                </a:solidFill>
              </a:rPr>
              <a:t>].[K</a:t>
            </a:r>
            <a:r>
              <a:rPr lang="fr-FR" altLang="fr-FR" sz="1800" baseline="30000">
                <a:solidFill>
                  <a:srgbClr val="000000"/>
                </a:solidFill>
              </a:rPr>
              <a:t>-1 </a:t>
            </a:r>
            <a:r>
              <a:rPr lang="fr-FR" altLang="fr-FR" sz="1800">
                <a:solidFill>
                  <a:srgbClr val="000000"/>
                </a:solidFill>
              </a:rPr>
              <a:t>]</a:t>
            </a:r>
            <a:r>
              <a:rPr lang="fr-FR" altLang="fr-FR" sz="1800"/>
              <a:t>  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Q source de chaleur [W].[m</a:t>
            </a:r>
            <a:r>
              <a:rPr lang="fr-FR" altLang="fr-FR" sz="1800" baseline="30000"/>
              <a:t>-1</a:t>
            </a:r>
            <a:r>
              <a:rPr lang="fr-FR" altLang="fr-FR" sz="1800"/>
              <a:t>] </a:t>
            </a:r>
          </a:p>
        </p:txBody>
      </p:sp>
      <p:sp>
        <p:nvSpPr>
          <p:cNvPr id="18458" name="AutoShape 26"/>
          <p:cNvSpPr>
            <a:spLocks noChangeArrowheads="1"/>
          </p:cNvSpPr>
          <p:nvPr/>
        </p:nvSpPr>
        <p:spPr bwMode="auto">
          <a:xfrm>
            <a:off x="3347864" y="5987120"/>
            <a:ext cx="865188" cy="430212"/>
          </a:xfrm>
          <a:prstGeom prst="rightArrow">
            <a:avLst>
              <a:gd name="adj1" fmla="val 50000"/>
              <a:gd name="adj2" fmla="val 502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18442" name="Group 30"/>
          <p:cNvGrpSpPr>
            <a:grpSpLocks/>
          </p:cNvGrpSpPr>
          <p:nvPr/>
        </p:nvGrpSpPr>
        <p:grpSpPr bwMode="auto">
          <a:xfrm>
            <a:off x="250825" y="2990850"/>
            <a:ext cx="3240088" cy="1236663"/>
            <a:chOff x="158" y="1884"/>
            <a:chExt cx="2041" cy="779"/>
          </a:xfrm>
        </p:grpSpPr>
        <p:graphicFrame>
          <p:nvGraphicFramePr>
            <p:cNvPr id="18443" name="Object 11"/>
            <p:cNvGraphicFramePr>
              <a:graphicFrameLocks noChangeAspect="1"/>
            </p:cNvGraphicFramePr>
            <p:nvPr/>
          </p:nvGraphicFramePr>
          <p:xfrm>
            <a:off x="1568" y="2269"/>
            <a:ext cx="6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4" name="Equation" r:id="rId5" imgW="114151" imgH="215619" progId="Equation.3">
                    <p:embed/>
                  </p:oleObj>
                </mc:Choice>
                <mc:Fallback>
                  <p:oleObj name="Equation" r:id="rId5" imgW="114151" imgH="21561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2269"/>
                          <a:ext cx="6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4" name="Object 12"/>
            <p:cNvGraphicFramePr>
              <a:graphicFrameLocks noChangeAspect="1"/>
            </p:cNvGraphicFramePr>
            <p:nvPr/>
          </p:nvGraphicFramePr>
          <p:xfrm>
            <a:off x="1568" y="2269"/>
            <a:ext cx="6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5" name="Equation" r:id="rId7" imgW="114151" imgH="215619" progId="Equation.3">
                    <p:embed/>
                  </p:oleObj>
                </mc:Choice>
                <mc:Fallback>
                  <p:oleObj name="Equation" r:id="rId7" imgW="114151" imgH="21561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2269"/>
                          <a:ext cx="6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204" y="2201"/>
              <a:ext cx="18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46" name="Text Box 14"/>
            <p:cNvSpPr txBox="1">
              <a:spLocks noChangeArrowheads="1"/>
            </p:cNvSpPr>
            <p:nvPr/>
          </p:nvSpPr>
          <p:spPr bwMode="auto">
            <a:xfrm>
              <a:off x="1020" y="243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x</a:t>
              </a:r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 flipV="1">
              <a:off x="1111" y="2118"/>
              <a:ext cx="0" cy="2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V="1">
              <a:off x="1791" y="1979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49" name="Text Box 17"/>
            <p:cNvSpPr txBox="1">
              <a:spLocks noChangeArrowheads="1"/>
            </p:cNvSpPr>
            <p:nvPr/>
          </p:nvSpPr>
          <p:spPr bwMode="auto">
            <a:xfrm>
              <a:off x="1655" y="2432"/>
              <a:ext cx="5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x+dx/2</a:t>
              </a:r>
            </a:p>
          </p:txBody>
        </p:sp>
        <p:sp>
          <p:nvSpPr>
            <p:cNvPr id="18453" name="Text Box 21"/>
            <p:cNvSpPr txBox="1">
              <a:spLocks noChangeArrowheads="1"/>
            </p:cNvSpPr>
            <p:nvPr/>
          </p:nvSpPr>
          <p:spPr bwMode="auto">
            <a:xfrm>
              <a:off x="249" y="1979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18454" name="Text Box 22"/>
            <p:cNvSpPr txBox="1">
              <a:spLocks noChangeArrowheads="1"/>
            </p:cNvSpPr>
            <p:nvPr/>
          </p:nvSpPr>
          <p:spPr bwMode="auto">
            <a:xfrm>
              <a:off x="1769" y="1979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18459" name="Line 27"/>
            <p:cNvSpPr>
              <a:spLocks noChangeShapeType="1"/>
            </p:cNvSpPr>
            <p:nvPr/>
          </p:nvSpPr>
          <p:spPr bwMode="auto">
            <a:xfrm flipV="1">
              <a:off x="431" y="1979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60" name="Text Box 28"/>
            <p:cNvSpPr txBox="1">
              <a:spLocks noChangeArrowheads="1"/>
            </p:cNvSpPr>
            <p:nvPr/>
          </p:nvSpPr>
          <p:spPr bwMode="auto">
            <a:xfrm>
              <a:off x="793" y="1884"/>
              <a:ext cx="8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T(x,t), Q(x,t)</a:t>
              </a:r>
            </a:p>
          </p:txBody>
        </p:sp>
        <p:sp>
          <p:nvSpPr>
            <p:cNvPr id="18461" name="Text Box 29"/>
            <p:cNvSpPr txBox="1">
              <a:spLocks noChangeArrowheads="1"/>
            </p:cNvSpPr>
            <p:nvPr/>
          </p:nvSpPr>
          <p:spPr bwMode="auto">
            <a:xfrm>
              <a:off x="158" y="2432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x-dx/2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4375040" y="5688130"/>
            <a:ext cx="4481435" cy="108924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AE787A9-03F5-4A19-9B34-9483B9DDFCDB}" type="slidenum">
              <a:rPr lang="fr-FR" altLang="fr-FR" sz="1200"/>
              <a:pPr eaLnBrk="1" hangingPunct="1"/>
              <a:t>5</a:t>
            </a:fld>
            <a:endParaRPr lang="fr-FR" altLang="fr-FR" sz="1200" b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331913" y="19050"/>
            <a:ext cx="673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Equation de la chaleur 1D discrétisée en espace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371475" y="1550988"/>
            <a:ext cx="4575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Simplification : k</a:t>
            </a:r>
            <a:r>
              <a:rPr lang="fr-FR" baseline="-25000">
                <a:latin typeface="Arial" charset="0"/>
                <a:ea typeface="ＭＳ Ｐゴシック" charset="0"/>
              </a:rPr>
              <a:t>th</a:t>
            </a:r>
            <a:r>
              <a:rPr lang="fr-FR">
                <a:latin typeface="Arial" charset="0"/>
                <a:ea typeface="ＭＳ Ｐゴシック" charset="0"/>
              </a:rPr>
              <a:t> constant par domaine </a:t>
            </a:r>
            <a:r>
              <a:rPr lang="fr-FR">
                <a:latin typeface="Arial" charset="0"/>
                <a:ea typeface="ＭＳ Ｐゴシック" charset="0"/>
                <a:sym typeface="Symbol" charset="0"/>
              </a:rPr>
              <a:t> </a:t>
            </a:r>
          </a:p>
        </p:txBody>
      </p:sp>
      <p:graphicFrame>
        <p:nvGraphicFramePr>
          <p:cNvPr id="19460" name="Object 7"/>
          <p:cNvGraphicFramePr>
            <a:graphicFrameLocks noChangeAspect="1"/>
          </p:cNvGraphicFramePr>
          <p:nvPr/>
        </p:nvGraphicFramePr>
        <p:xfrm>
          <a:off x="4808538" y="1390650"/>
          <a:ext cx="42640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Equation" r:id="rId3" imgW="2844800" imgH="444500" progId="Equation.DSMT4">
                  <p:embed/>
                </p:oleObj>
              </mc:Choice>
              <mc:Fallback>
                <p:oleObj name="Equation" r:id="rId3" imgW="2844800" imgH="444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1390650"/>
                        <a:ext cx="42640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34963" y="765175"/>
            <a:ext cx="290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Discrétisation de l</a:t>
            </a:r>
            <a:r>
              <a:rPr lang="ja-JP" altLang="fr-FR" sz="1800"/>
              <a:t>’</a:t>
            </a:r>
            <a:r>
              <a:rPr lang="fr-FR" altLang="ja-JP" sz="1800"/>
              <a:t>espace :</a:t>
            </a:r>
            <a:endParaRPr lang="fr-FR" altLang="fr-FR" sz="1800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3522663" y="960438"/>
            <a:ext cx="3095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19463" name="Group 19"/>
          <p:cNvGrpSpPr>
            <a:grpSpLocks/>
          </p:cNvGrpSpPr>
          <p:nvPr/>
        </p:nvGrpSpPr>
        <p:grpSpPr bwMode="auto">
          <a:xfrm>
            <a:off x="3767138" y="855663"/>
            <a:ext cx="2376487" cy="215900"/>
            <a:chOff x="2336" y="1570"/>
            <a:chExt cx="408" cy="136"/>
          </a:xfrm>
        </p:grpSpPr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2336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2472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2608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2744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4405313" y="482600"/>
            <a:ext cx="13160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ea typeface="ＭＳ Ｐゴシック" charset="0"/>
              </a:rPr>
              <a:t>x</a:t>
            </a:r>
            <a:r>
              <a:rPr lang="en-US" baseline="-25000">
                <a:latin typeface="Arial" charset="0"/>
                <a:ea typeface="ＭＳ Ｐゴシック" charset="0"/>
              </a:rPr>
              <a:t>p</a:t>
            </a:r>
            <a:r>
              <a:rPr lang="en-US">
                <a:latin typeface="Arial" charset="0"/>
                <a:ea typeface="ＭＳ Ｐゴシック" charset="0"/>
              </a:rPr>
              <a:t>=(p-1).</a:t>
            </a:r>
            <a:r>
              <a:rPr lang="en-US">
                <a:latin typeface="Symbol" charset="0"/>
                <a:ea typeface="ＭＳ Ｐゴシック" charset="0"/>
              </a:rPr>
              <a:t>D</a:t>
            </a:r>
            <a:r>
              <a:rPr lang="en-US">
                <a:latin typeface="Arial" charset="0"/>
                <a:ea typeface="ＭＳ Ｐゴシック" charset="0"/>
              </a:rPr>
              <a:t>x</a:t>
            </a: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3613150" y="4762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5989638" y="4826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L</a:t>
            </a: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376238" y="2276475"/>
            <a:ext cx="781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Approximation des dérivées spatiales en différences finies à partir des D.L. </a:t>
            </a:r>
          </a:p>
          <a:p>
            <a:pPr eaLnBrk="1" hangingPunct="1"/>
            <a:r>
              <a:rPr lang="fr-FR" altLang="fr-FR" sz="1800"/>
              <a:t>Au voisinage de x</a:t>
            </a:r>
            <a:r>
              <a:rPr lang="fr-FR" altLang="fr-FR" sz="1800" baseline="-25000"/>
              <a:t>p</a:t>
            </a:r>
            <a:r>
              <a:rPr lang="fr-FR" altLang="fr-FR" sz="1800"/>
              <a:t> </a:t>
            </a:r>
          </a:p>
        </p:txBody>
      </p:sp>
      <p:graphicFrame>
        <p:nvGraphicFramePr>
          <p:cNvPr id="19468" name="Object 47"/>
          <p:cNvGraphicFramePr>
            <a:graphicFrameLocks noChangeAspect="1"/>
          </p:cNvGraphicFramePr>
          <p:nvPr/>
        </p:nvGraphicFramePr>
        <p:xfrm>
          <a:off x="1403350" y="2813050"/>
          <a:ext cx="5891213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Equation" r:id="rId5" imgW="3860800" imgH="1092200" progId="Equation.DSMT4">
                  <p:embed/>
                </p:oleObj>
              </mc:Choice>
              <mc:Fallback>
                <p:oleObj name="Equation" r:id="rId5" imgW="3860800" imgH="10922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813050"/>
                        <a:ext cx="5891213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45643"/>
              </p:ext>
            </p:extLst>
          </p:nvPr>
        </p:nvGraphicFramePr>
        <p:xfrm>
          <a:off x="1403350" y="4994275"/>
          <a:ext cx="329723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name="Equation" r:id="rId7" imgW="2222280" imgH="1066680" progId="Equation.DSMT4">
                  <p:embed/>
                </p:oleObj>
              </mc:Choice>
              <mc:Fallback>
                <p:oleObj name="Equation" r:id="rId7" imgW="2222280" imgH="10666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994275"/>
                        <a:ext cx="3297237" cy="15843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5" name="Text Box 57"/>
          <p:cNvSpPr txBox="1">
            <a:spLocks noChangeArrowheads="1"/>
          </p:cNvSpPr>
          <p:nvPr/>
        </p:nvSpPr>
        <p:spPr bwMode="auto">
          <a:xfrm>
            <a:off x="363538" y="4581525"/>
            <a:ext cx="636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Exercice : montrer qu</a:t>
            </a:r>
            <a:r>
              <a:rPr lang="ja-JP" altLang="fr-FR" sz="1800"/>
              <a:t>’</a:t>
            </a:r>
            <a:r>
              <a:rPr lang="fr-FR" altLang="ja-JP" sz="1800"/>
              <a:t>à partir des relations précédentes, on a</a:t>
            </a:r>
            <a:endParaRPr lang="fr-FR" altLang="fr-FR" sz="1800"/>
          </a:p>
        </p:txBody>
      </p:sp>
      <p:sp>
        <p:nvSpPr>
          <p:cNvPr id="17469" name="Text Box 61"/>
          <p:cNvSpPr txBox="1">
            <a:spLocks noChangeArrowheads="1"/>
          </p:cNvSpPr>
          <p:nvPr/>
        </p:nvSpPr>
        <p:spPr bwMode="auto">
          <a:xfrm>
            <a:off x="3600450" y="1000125"/>
            <a:ext cx="29384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>
                <a:latin typeface="Arial" charset="0"/>
                <a:ea typeface="ＭＳ Ｐゴシック" charset="0"/>
              </a:rPr>
              <a:t>1           p                       NP</a:t>
            </a:r>
          </a:p>
        </p:txBody>
      </p:sp>
      <p:sp>
        <p:nvSpPr>
          <p:cNvPr id="17470" name="Text Box 62"/>
          <p:cNvSpPr txBox="1">
            <a:spLocks noChangeArrowheads="1"/>
          </p:cNvSpPr>
          <p:nvPr/>
        </p:nvSpPr>
        <p:spPr bwMode="auto">
          <a:xfrm>
            <a:off x="5056188" y="5284788"/>
            <a:ext cx="3143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dit que ces dérivées sont </a:t>
            </a:r>
          </a:p>
          <a:p>
            <a:pPr eaLnBrk="1" hangingPunct="1"/>
            <a:r>
              <a:rPr lang="fr-FR" altLang="fr-FR" sz="1800"/>
              <a:t>centrées au point 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593B654-45B3-4130-A8D4-F63B3595F5D8}" type="slidenum">
              <a:rPr lang="fr-FR" altLang="fr-FR" sz="1200"/>
              <a:pPr eaLnBrk="1" hangingPunct="1"/>
              <a:t>6</a:t>
            </a:fld>
            <a:endParaRPr lang="fr-FR" altLang="fr-FR" sz="1200" b="0"/>
          </a:p>
        </p:txBody>
      </p:sp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511300" y="19050"/>
            <a:ext cx="613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Schéma explicite de l</a:t>
            </a:r>
            <a:r>
              <a:rPr lang="ja-JP" altLang="fr-FR"/>
              <a:t>’</a:t>
            </a:r>
            <a:r>
              <a:rPr lang="fr-FR" altLang="ja-JP"/>
              <a:t>équation de la chaleur</a:t>
            </a:r>
            <a:endParaRPr lang="fr-FR" altLang="fr-FR"/>
          </a:p>
        </p:txBody>
      </p:sp>
      <p:sp>
        <p:nvSpPr>
          <p:cNvPr id="59409" name="Text Box 17"/>
          <p:cNvSpPr txBox="1">
            <a:spLocks noChangeArrowheads="1"/>
          </p:cNvSpPr>
          <p:nvPr/>
        </p:nvSpPr>
        <p:spPr bwMode="auto">
          <a:xfrm>
            <a:off x="323850" y="981075"/>
            <a:ext cx="340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Discrétisation du temps : t=n.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 </a:t>
            </a:r>
          </a:p>
        </p:txBody>
      </p:sp>
      <p:sp>
        <p:nvSpPr>
          <p:cNvPr id="59410" name="Text Box 18"/>
          <p:cNvSpPr txBox="1">
            <a:spLocks noChangeArrowheads="1"/>
          </p:cNvSpPr>
          <p:nvPr/>
        </p:nvSpPr>
        <p:spPr bwMode="auto">
          <a:xfrm>
            <a:off x="323850" y="2744788"/>
            <a:ext cx="8553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Dans l</a:t>
            </a:r>
            <a:r>
              <a:rPr lang="ja-JP" altLang="fr-FR" sz="1800"/>
              <a:t>’</a:t>
            </a:r>
            <a:r>
              <a:rPr lang="fr-FR" altLang="ja-JP" sz="1800"/>
              <a:t>approche explicite, les dérivées spatiales sont évaluées à l</a:t>
            </a:r>
            <a:r>
              <a:rPr lang="ja-JP" altLang="fr-FR" sz="1800"/>
              <a:t>’</a:t>
            </a:r>
            <a:r>
              <a:rPr lang="fr-FR" altLang="ja-JP" sz="1800"/>
              <a:t>instant courant n</a:t>
            </a:r>
            <a:endParaRPr lang="fr-FR" altLang="fr-FR" sz="1800"/>
          </a:p>
        </p:txBody>
      </p:sp>
      <p:graphicFrame>
        <p:nvGraphicFramePr>
          <p:cNvPr id="20485" name="Object 21"/>
          <p:cNvGraphicFramePr>
            <a:graphicFrameLocks noChangeAspect="1"/>
          </p:cNvGraphicFramePr>
          <p:nvPr/>
        </p:nvGraphicFramePr>
        <p:xfrm>
          <a:off x="1150938" y="3392488"/>
          <a:ext cx="3914775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name="Equation" r:id="rId3" imgW="2184400" imgH="1066800" progId="Equation.3">
                  <p:embed/>
                </p:oleObj>
              </mc:Choice>
              <mc:Fallback>
                <p:oleObj name="Equation" r:id="rId3" imgW="2184400" imgH="10668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3392488"/>
                        <a:ext cx="3914775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6" name="Group 23"/>
          <p:cNvGrpSpPr>
            <a:grpSpLocks/>
          </p:cNvGrpSpPr>
          <p:nvPr/>
        </p:nvGrpSpPr>
        <p:grpSpPr bwMode="auto">
          <a:xfrm>
            <a:off x="5616575" y="3176588"/>
            <a:ext cx="2530475" cy="1879600"/>
            <a:chOff x="3962" y="2972"/>
            <a:chExt cx="1594" cy="1184"/>
          </a:xfrm>
        </p:grpSpPr>
        <p:grpSp>
          <p:nvGrpSpPr>
            <p:cNvPr id="20504" name="Group 24"/>
            <p:cNvGrpSpPr>
              <a:grpSpLocks/>
            </p:cNvGrpSpPr>
            <p:nvPr/>
          </p:nvGrpSpPr>
          <p:grpSpPr bwMode="auto">
            <a:xfrm>
              <a:off x="3962" y="2972"/>
              <a:ext cx="1594" cy="1184"/>
              <a:chOff x="4014" y="1434"/>
              <a:chExt cx="1594" cy="1184"/>
            </a:xfrm>
          </p:grpSpPr>
          <p:sp>
            <p:nvSpPr>
              <p:cNvPr id="59417" name="Line 25"/>
              <p:cNvSpPr>
                <a:spLocks noChangeShapeType="1"/>
              </p:cNvSpPr>
              <p:nvPr/>
            </p:nvSpPr>
            <p:spPr bwMode="auto">
              <a:xfrm>
                <a:off x="4014" y="2362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18" name="Line 26"/>
              <p:cNvSpPr>
                <a:spLocks noChangeShapeType="1"/>
              </p:cNvSpPr>
              <p:nvPr/>
            </p:nvSpPr>
            <p:spPr bwMode="auto">
              <a:xfrm>
                <a:off x="4168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19" name="Line 27"/>
              <p:cNvSpPr>
                <a:spLocks noChangeShapeType="1"/>
              </p:cNvSpPr>
              <p:nvPr/>
            </p:nvSpPr>
            <p:spPr bwMode="auto">
              <a:xfrm>
                <a:off x="4667" y="1759"/>
                <a:ext cx="0" cy="6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0" name="Line 28"/>
              <p:cNvSpPr>
                <a:spLocks noChangeShapeType="1"/>
              </p:cNvSpPr>
              <p:nvPr/>
            </p:nvSpPr>
            <p:spPr bwMode="auto">
              <a:xfrm>
                <a:off x="5166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1" name="Line 29"/>
              <p:cNvSpPr>
                <a:spLocks noChangeShapeType="1"/>
              </p:cNvSpPr>
              <p:nvPr/>
            </p:nvSpPr>
            <p:spPr bwMode="auto">
              <a:xfrm flipV="1">
                <a:off x="4165" y="1743"/>
                <a:ext cx="438" cy="6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2" name="Line 30"/>
              <p:cNvSpPr>
                <a:spLocks noChangeShapeType="1"/>
              </p:cNvSpPr>
              <p:nvPr/>
            </p:nvSpPr>
            <p:spPr bwMode="auto">
              <a:xfrm>
                <a:off x="4739" y="1748"/>
                <a:ext cx="425" cy="6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3" name="Line 31"/>
              <p:cNvSpPr>
                <a:spLocks noChangeShapeType="1"/>
              </p:cNvSpPr>
              <p:nvPr/>
            </p:nvSpPr>
            <p:spPr bwMode="auto">
              <a:xfrm>
                <a:off x="4664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4" name="Text Box 32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t=n.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9425" name="Text Box 33"/>
              <p:cNvSpPr txBox="1">
                <a:spLocks noChangeArrowheads="1"/>
              </p:cNvSpPr>
              <p:nvPr/>
            </p:nvSpPr>
            <p:spPr bwMode="auto">
              <a:xfrm>
                <a:off x="4332" y="1434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t=(n+1).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9426" name="Line 34"/>
              <p:cNvSpPr>
                <a:spLocks noChangeShapeType="1"/>
              </p:cNvSpPr>
              <p:nvPr/>
            </p:nvSpPr>
            <p:spPr bwMode="auto">
              <a:xfrm>
                <a:off x="4014" y="1661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7" name="Text Box 35"/>
              <p:cNvSpPr txBox="1">
                <a:spLocks noChangeArrowheads="1"/>
              </p:cNvSpPr>
              <p:nvPr/>
            </p:nvSpPr>
            <p:spPr bwMode="auto">
              <a:xfrm>
                <a:off x="542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9428" name="Text Box 36"/>
              <p:cNvSpPr txBox="1">
                <a:spLocks noChangeArrowheads="1"/>
              </p:cNvSpPr>
              <p:nvPr/>
            </p:nvSpPr>
            <p:spPr bwMode="auto">
              <a:xfrm>
                <a:off x="5420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9429" name="Line 37"/>
              <p:cNvSpPr>
                <a:spLocks noChangeShapeType="1"/>
              </p:cNvSpPr>
              <p:nvPr/>
            </p:nvSpPr>
            <p:spPr bwMode="auto">
              <a:xfrm>
                <a:off x="4665" y="161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9430" name="Text Box 38"/>
            <p:cNvSpPr txBox="1">
              <a:spLocks noChangeArrowheads="1"/>
            </p:cNvSpPr>
            <p:nvPr/>
          </p:nvSpPr>
          <p:spPr bwMode="auto">
            <a:xfrm>
              <a:off x="4604" y="366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</a:t>
              </a:r>
            </a:p>
          </p:txBody>
        </p:sp>
        <p:sp>
          <p:nvSpPr>
            <p:cNvPr id="59431" name="Text Box 39"/>
            <p:cNvSpPr txBox="1">
              <a:spLocks noChangeArrowheads="1"/>
            </p:cNvSpPr>
            <p:nvPr/>
          </p:nvSpPr>
          <p:spPr bwMode="auto">
            <a:xfrm>
              <a:off x="4170" y="3677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p-1</a:t>
              </a:r>
            </a:p>
          </p:txBody>
        </p:sp>
        <p:sp>
          <p:nvSpPr>
            <p:cNvPr id="59432" name="Text Box 40"/>
            <p:cNvSpPr txBox="1">
              <a:spLocks noChangeArrowheads="1"/>
            </p:cNvSpPr>
            <p:nvPr/>
          </p:nvSpPr>
          <p:spPr bwMode="auto">
            <a:xfrm>
              <a:off x="5073" y="3666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p+1</a:t>
              </a:r>
            </a:p>
          </p:txBody>
        </p:sp>
      </p:grpSp>
      <p:grpSp>
        <p:nvGrpSpPr>
          <p:cNvPr id="20487" name="Group 44"/>
          <p:cNvGrpSpPr>
            <a:grpSpLocks/>
          </p:cNvGrpSpPr>
          <p:nvPr/>
        </p:nvGrpSpPr>
        <p:grpSpPr bwMode="auto">
          <a:xfrm>
            <a:off x="3997325" y="692150"/>
            <a:ext cx="3095625" cy="936625"/>
            <a:chOff x="2518" y="663"/>
            <a:chExt cx="1950" cy="590"/>
          </a:xfrm>
        </p:grpSpPr>
        <p:sp>
          <p:nvSpPr>
            <p:cNvPr id="59400" name="Line 8"/>
            <p:cNvSpPr>
              <a:spLocks noChangeShapeType="1"/>
            </p:cNvSpPr>
            <p:nvPr/>
          </p:nvSpPr>
          <p:spPr bwMode="auto">
            <a:xfrm>
              <a:off x="2518" y="968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0494" name="Group 9"/>
            <p:cNvGrpSpPr>
              <a:grpSpLocks/>
            </p:cNvGrpSpPr>
            <p:nvPr/>
          </p:nvGrpSpPr>
          <p:grpSpPr bwMode="auto">
            <a:xfrm>
              <a:off x="2672" y="902"/>
              <a:ext cx="1497" cy="136"/>
              <a:chOff x="2336" y="1570"/>
              <a:chExt cx="408" cy="136"/>
            </a:xfrm>
          </p:grpSpPr>
          <p:sp>
            <p:nvSpPr>
              <p:cNvPr id="59402" name="Line 10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3" name="Line 11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4" name="Line 12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5" name="Line 13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0495" name="Group 42"/>
            <p:cNvGrpSpPr>
              <a:grpSpLocks/>
            </p:cNvGrpSpPr>
            <p:nvPr/>
          </p:nvGrpSpPr>
          <p:grpSpPr bwMode="auto">
            <a:xfrm>
              <a:off x="2563" y="663"/>
              <a:ext cx="1754" cy="235"/>
              <a:chOff x="2563" y="1010"/>
              <a:chExt cx="1754" cy="235"/>
            </a:xfrm>
          </p:grpSpPr>
          <p:sp>
            <p:nvSpPr>
              <p:cNvPr id="59406" name="Text Box 14"/>
              <p:cNvSpPr txBox="1">
                <a:spLocks noChangeArrowheads="1"/>
              </p:cNvSpPr>
              <p:nvPr/>
            </p:nvSpPr>
            <p:spPr bwMode="auto">
              <a:xfrm>
                <a:off x="3062" y="1014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>
                    <a:latin typeface="Arial" charset="0"/>
                    <a:ea typeface="ＭＳ Ｐゴシック" charset="0"/>
                  </a:rPr>
                  <a:t>t=n.</a:t>
                </a:r>
                <a:r>
                  <a:rPr lang="en-US">
                    <a:latin typeface="Symbol" charset="0"/>
                    <a:ea typeface="ＭＳ Ｐゴシック" charset="0"/>
                  </a:rPr>
                  <a:t>D</a:t>
                </a:r>
                <a:r>
                  <a:rPr lang="en-US">
                    <a:latin typeface="Arial" charset="0"/>
                    <a:ea typeface="ＭＳ Ｐゴシック" charset="0"/>
                  </a:rPr>
                  <a:t>t</a:t>
                </a: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7" name="Text Box 15"/>
              <p:cNvSpPr txBox="1">
                <a:spLocks noChangeArrowheads="1"/>
              </p:cNvSpPr>
              <p:nvPr/>
            </p:nvSpPr>
            <p:spPr bwMode="auto">
              <a:xfrm>
                <a:off x="2563" y="101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0</a:t>
                </a:r>
              </a:p>
            </p:txBody>
          </p:sp>
          <p:sp>
            <p:nvSpPr>
              <p:cNvPr id="59408" name="Text Box 16"/>
              <p:cNvSpPr txBox="1">
                <a:spLocks noChangeArrowheads="1"/>
              </p:cNvSpPr>
              <p:nvPr/>
            </p:nvSpPr>
            <p:spPr bwMode="auto">
              <a:xfrm>
                <a:off x="4060" y="1014"/>
                <a:ext cx="25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  <a:r>
                  <a:rPr lang="fr-FR" baseline="-25000">
                    <a:latin typeface="Arial" charset="0"/>
                    <a:ea typeface="ＭＳ Ｐゴシック" charset="0"/>
                  </a:rPr>
                  <a:t>fin</a:t>
                </a: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9435" name="Text Box 43"/>
            <p:cNvSpPr txBox="1">
              <a:spLocks noChangeArrowheads="1"/>
            </p:cNvSpPr>
            <p:nvPr/>
          </p:nvSpPr>
          <p:spPr bwMode="auto">
            <a:xfrm>
              <a:off x="2562" y="1022"/>
              <a:ext cx="18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0           n                       NT</a:t>
              </a:r>
            </a:p>
          </p:txBody>
        </p:sp>
      </p:grpSp>
      <p:graphicFrame>
        <p:nvGraphicFramePr>
          <p:cNvPr id="20488" name="Object 5"/>
          <p:cNvGraphicFramePr>
            <a:graphicFrameLocks noChangeAspect="1"/>
          </p:cNvGraphicFramePr>
          <p:nvPr/>
        </p:nvGraphicFramePr>
        <p:xfrm>
          <a:off x="4824413" y="1684338"/>
          <a:ext cx="28495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7" name="Equation" r:id="rId5" imgW="1574800" imgH="482600" progId="Equation.DSMT4">
                  <p:embed/>
                </p:oleObj>
              </mc:Choice>
              <mc:Fallback>
                <p:oleObj name="Equation" r:id="rId5" imgW="1574800" imgH="482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1684338"/>
                        <a:ext cx="284956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8" name="Text Box 46"/>
          <p:cNvSpPr txBox="1">
            <a:spLocks noChangeArrowheads="1"/>
          </p:cNvSpPr>
          <p:nvPr/>
        </p:nvSpPr>
        <p:spPr bwMode="auto">
          <a:xfrm>
            <a:off x="323850" y="1909763"/>
            <a:ext cx="440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 dérivée temporelle est approximée par</a:t>
            </a:r>
            <a:endParaRPr lang="fr-FR" altLang="fr-FR" sz="1800">
              <a:sym typeface="Euclid Symbol" panose="05050102010706020507" pitchFamily="18" charset="2"/>
            </a:endParaRPr>
          </a:p>
        </p:txBody>
      </p:sp>
      <p:grpSp>
        <p:nvGrpSpPr>
          <p:cNvPr id="20490" name="Group 50"/>
          <p:cNvGrpSpPr>
            <a:grpSpLocks/>
          </p:cNvGrpSpPr>
          <p:nvPr/>
        </p:nvGrpSpPr>
        <p:grpSpPr bwMode="auto">
          <a:xfrm>
            <a:off x="395288" y="5378450"/>
            <a:ext cx="7427912" cy="463550"/>
            <a:chOff x="249" y="3231"/>
            <a:chExt cx="4679" cy="292"/>
          </a:xfrm>
        </p:grpSpPr>
        <p:sp>
          <p:nvSpPr>
            <p:cNvPr id="59439" name="Text Box 47"/>
            <p:cNvSpPr txBox="1">
              <a:spLocks noChangeArrowheads="1"/>
            </p:cNvSpPr>
            <p:nvPr/>
          </p:nvSpPr>
          <p:spPr bwMode="auto">
            <a:xfrm>
              <a:off x="249" y="3253"/>
              <a:ext cx="44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De même pour les autres grandeurs, comme les sources de chaleur</a:t>
              </a:r>
            </a:p>
          </p:txBody>
        </p:sp>
        <p:graphicFrame>
          <p:nvGraphicFramePr>
            <p:cNvPr id="20492" name="Object 49"/>
            <p:cNvGraphicFramePr>
              <a:graphicFrameLocks noChangeAspect="1"/>
            </p:cNvGraphicFramePr>
            <p:nvPr/>
          </p:nvGraphicFramePr>
          <p:xfrm>
            <a:off x="4694" y="3231"/>
            <a:ext cx="23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8" name="Equation" r:id="rId7" imgW="203024" imgH="253780" progId="Equation.DSMT4">
                    <p:embed/>
                  </p:oleObj>
                </mc:Choice>
                <mc:Fallback>
                  <p:oleObj name="Equation" r:id="rId7" imgW="203024" imgH="25378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3231"/>
                          <a:ext cx="234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927ADE4-188A-424F-A6E8-10BE715B4FCB}" type="slidenum">
              <a:rPr lang="fr-FR" altLang="fr-FR" sz="1200"/>
              <a:pPr eaLnBrk="1" hangingPunct="1"/>
              <a:t>7</a:t>
            </a:fld>
            <a:endParaRPr lang="fr-FR" altLang="fr-FR" sz="1200" b="0"/>
          </a:p>
        </p:txBody>
      </p:sp>
      <p:graphicFrame>
        <p:nvGraphicFramePr>
          <p:cNvPr id="21506" name="Object 4"/>
          <p:cNvGraphicFramePr>
            <a:graphicFrameLocks noChangeAspect="1"/>
          </p:cNvGraphicFramePr>
          <p:nvPr/>
        </p:nvGraphicFramePr>
        <p:xfrm>
          <a:off x="758825" y="4041775"/>
          <a:ext cx="385603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Equation" r:id="rId3" imgW="2108200" imgH="444500" progId="Equation.DSMT4">
                  <p:embed/>
                </p:oleObj>
              </mc:Choice>
              <mc:Fallback>
                <p:oleObj name="Equation" r:id="rId3" imgW="21082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4041775"/>
                        <a:ext cx="3856038" cy="8112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5"/>
          <p:cNvGraphicFramePr>
            <a:graphicFrameLocks noChangeAspect="1"/>
          </p:cNvGraphicFramePr>
          <p:nvPr/>
        </p:nvGraphicFramePr>
        <p:xfrm>
          <a:off x="1662113" y="1581150"/>
          <a:ext cx="47466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4" name="Equation" r:id="rId5" imgW="2641600" imgH="508000" progId="Equation.DSMT4">
                  <p:embed/>
                </p:oleObj>
              </mc:Choice>
              <mc:Fallback>
                <p:oleObj name="Equation" r:id="rId5" imgW="2641600" imgH="50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113" y="1581150"/>
                        <a:ext cx="4746625" cy="9112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6"/>
          <p:cNvGraphicFramePr>
            <a:graphicFrameLocks noChangeAspect="1"/>
          </p:cNvGraphicFramePr>
          <p:nvPr/>
        </p:nvGraphicFramePr>
        <p:xfrm>
          <a:off x="4090988" y="2492375"/>
          <a:ext cx="33766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name="Equation" r:id="rId7" imgW="1879600" imgH="508000" progId="Equation.DSMT4">
                  <p:embed/>
                </p:oleObj>
              </mc:Choice>
              <mc:Fallback>
                <p:oleObj name="Equation" r:id="rId7" imgW="1879600" imgH="50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2492375"/>
                        <a:ext cx="33766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511300" y="19050"/>
            <a:ext cx="613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Schéma explicite de l</a:t>
            </a:r>
            <a:r>
              <a:rPr lang="ja-JP" altLang="fr-FR"/>
              <a:t>’</a:t>
            </a:r>
            <a:r>
              <a:rPr lang="fr-FR" altLang="ja-JP"/>
              <a:t>équation de la chaleur</a:t>
            </a:r>
            <a:endParaRPr lang="fr-FR" altLang="fr-FR"/>
          </a:p>
        </p:txBody>
      </p:sp>
      <p:graphicFrame>
        <p:nvGraphicFramePr>
          <p:cNvPr id="21510" name="Object 8"/>
          <p:cNvGraphicFramePr>
            <a:graphicFrameLocks noChangeAspect="1"/>
          </p:cNvGraphicFramePr>
          <p:nvPr/>
        </p:nvGraphicFramePr>
        <p:xfrm>
          <a:off x="3024188" y="584200"/>
          <a:ext cx="314801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name="Equation" r:id="rId9" imgW="1752600" imgH="419100" progId="Equation.DSMT4">
                  <p:embed/>
                </p:oleObj>
              </mc:Choice>
              <mc:Fallback>
                <p:oleObj name="Equation" r:id="rId9" imgW="17526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584200"/>
                        <a:ext cx="3148012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323850" y="765175"/>
            <a:ext cx="702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équation de la chaleur                                                        devient :</a:t>
            </a:r>
            <a:endParaRPr lang="fr-FR" altLang="fr-FR" sz="1800"/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339725" y="2728913"/>
            <a:ext cx="3486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définissant la conduction par 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395288" y="3429000"/>
            <a:ext cx="297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explicite s</a:t>
            </a:r>
            <a:r>
              <a:rPr lang="ja-JP" altLang="fr-FR" sz="1800"/>
              <a:t>’</a:t>
            </a:r>
            <a:r>
              <a:rPr lang="fr-FR" altLang="ja-JP" sz="1800"/>
              <a:t>écrit :</a:t>
            </a:r>
            <a:endParaRPr lang="fr-FR" altLang="fr-FR" sz="1800"/>
          </a:p>
        </p:txBody>
      </p:sp>
      <p:grpSp>
        <p:nvGrpSpPr>
          <p:cNvPr id="21514" name="Group 12"/>
          <p:cNvGrpSpPr>
            <a:grpSpLocks/>
          </p:cNvGrpSpPr>
          <p:nvPr/>
        </p:nvGrpSpPr>
        <p:grpSpPr bwMode="auto">
          <a:xfrm>
            <a:off x="5616575" y="3421063"/>
            <a:ext cx="2530475" cy="1879600"/>
            <a:chOff x="3962" y="2972"/>
            <a:chExt cx="1594" cy="1184"/>
          </a:xfrm>
        </p:grpSpPr>
        <p:grpSp>
          <p:nvGrpSpPr>
            <p:cNvPr id="21516" name="Group 13"/>
            <p:cNvGrpSpPr>
              <a:grpSpLocks/>
            </p:cNvGrpSpPr>
            <p:nvPr/>
          </p:nvGrpSpPr>
          <p:grpSpPr bwMode="auto">
            <a:xfrm>
              <a:off x="3962" y="2972"/>
              <a:ext cx="1594" cy="1184"/>
              <a:chOff x="4014" y="1434"/>
              <a:chExt cx="1594" cy="1184"/>
            </a:xfrm>
          </p:grpSpPr>
          <p:sp>
            <p:nvSpPr>
              <p:cNvPr id="57358" name="Line 14"/>
              <p:cNvSpPr>
                <a:spLocks noChangeShapeType="1"/>
              </p:cNvSpPr>
              <p:nvPr/>
            </p:nvSpPr>
            <p:spPr bwMode="auto">
              <a:xfrm>
                <a:off x="4014" y="2362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59" name="Line 15"/>
              <p:cNvSpPr>
                <a:spLocks noChangeShapeType="1"/>
              </p:cNvSpPr>
              <p:nvPr/>
            </p:nvSpPr>
            <p:spPr bwMode="auto">
              <a:xfrm>
                <a:off x="4168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0" name="Line 16"/>
              <p:cNvSpPr>
                <a:spLocks noChangeShapeType="1"/>
              </p:cNvSpPr>
              <p:nvPr/>
            </p:nvSpPr>
            <p:spPr bwMode="auto">
              <a:xfrm>
                <a:off x="4667" y="1759"/>
                <a:ext cx="0" cy="6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1" name="Line 17"/>
              <p:cNvSpPr>
                <a:spLocks noChangeShapeType="1"/>
              </p:cNvSpPr>
              <p:nvPr/>
            </p:nvSpPr>
            <p:spPr bwMode="auto">
              <a:xfrm>
                <a:off x="5166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2" name="Line 18"/>
              <p:cNvSpPr>
                <a:spLocks noChangeShapeType="1"/>
              </p:cNvSpPr>
              <p:nvPr/>
            </p:nvSpPr>
            <p:spPr bwMode="auto">
              <a:xfrm flipV="1">
                <a:off x="4165" y="1743"/>
                <a:ext cx="438" cy="6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3" name="Line 19"/>
              <p:cNvSpPr>
                <a:spLocks noChangeShapeType="1"/>
              </p:cNvSpPr>
              <p:nvPr/>
            </p:nvSpPr>
            <p:spPr bwMode="auto">
              <a:xfrm>
                <a:off x="4739" y="1748"/>
                <a:ext cx="425" cy="6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4" name="Line 20"/>
              <p:cNvSpPr>
                <a:spLocks noChangeShapeType="1"/>
              </p:cNvSpPr>
              <p:nvPr/>
            </p:nvSpPr>
            <p:spPr bwMode="auto">
              <a:xfrm>
                <a:off x="4664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5" name="Text Box 21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t=n.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7366" name="Text Box 22"/>
              <p:cNvSpPr txBox="1">
                <a:spLocks noChangeArrowheads="1"/>
              </p:cNvSpPr>
              <p:nvPr/>
            </p:nvSpPr>
            <p:spPr bwMode="auto">
              <a:xfrm>
                <a:off x="4332" y="1434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t=(n+1).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7367" name="Line 23"/>
              <p:cNvSpPr>
                <a:spLocks noChangeShapeType="1"/>
              </p:cNvSpPr>
              <p:nvPr/>
            </p:nvSpPr>
            <p:spPr bwMode="auto">
              <a:xfrm>
                <a:off x="4014" y="1661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8" name="Text Box 24"/>
              <p:cNvSpPr txBox="1">
                <a:spLocks noChangeArrowheads="1"/>
              </p:cNvSpPr>
              <p:nvPr/>
            </p:nvSpPr>
            <p:spPr bwMode="auto">
              <a:xfrm>
                <a:off x="542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7369" name="Text Box 25"/>
              <p:cNvSpPr txBox="1">
                <a:spLocks noChangeArrowheads="1"/>
              </p:cNvSpPr>
              <p:nvPr/>
            </p:nvSpPr>
            <p:spPr bwMode="auto">
              <a:xfrm>
                <a:off x="5420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7370" name="Line 26"/>
              <p:cNvSpPr>
                <a:spLocks noChangeShapeType="1"/>
              </p:cNvSpPr>
              <p:nvPr/>
            </p:nvSpPr>
            <p:spPr bwMode="auto">
              <a:xfrm>
                <a:off x="4665" y="161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7371" name="Text Box 27"/>
            <p:cNvSpPr txBox="1">
              <a:spLocks noChangeArrowheads="1"/>
            </p:cNvSpPr>
            <p:nvPr/>
          </p:nvSpPr>
          <p:spPr bwMode="auto">
            <a:xfrm>
              <a:off x="4604" y="366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</a:t>
              </a:r>
            </a:p>
          </p:txBody>
        </p:sp>
        <p:sp>
          <p:nvSpPr>
            <p:cNvPr id="57372" name="Text Box 28"/>
            <p:cNvSpPr txBox="1">
              <a:spLocks noChangeArrowheads="1"/>
            </p:cNvSpPr>
            <p:nvPr/>
          </p:nvSpPr>
          <p:spPr bwMode="auto">
            <a:xfrm>
              <a:off x="4170" y="3677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p-1</a:t>
              </a:r>
            </a:p>
          </p:txBody>
        </p:sp>
        <p:sp>
          <p:nvSpPr>
            <p:cNvPr id="57373" name="Text Box 29"/>
            <p:cNvSpPr txBox="1">
              <a:spLocks noChangeArrowheads="1"/>
            </p:cNvSpPr>
            <p:nvPr/>
          </p:nvSpPr>
          <p:spPr bwMode="auto">
            <a:xfrm>
              <a:off x="5073" y="3666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p+1</a:t>
              </a:r>
            </a:p>
          </p:txBody>
        </p:sp>
      </p:grp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339725" y="5507038"/>
            <a:ext cx="8518525" cy="7302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Une simple relation arithmétique permet donc de connaître la température</a:t>
            </a:r>
          </a:p>
          <a:p>
            <a:pPr eaLnBrk="1" hangingPunct="1"/>
            <a:r>
              <a:rPr lang="fr-FR" altLang="fr-FR" sz="2000"/>
              <a:t>à l</a:t>
            </a:r>
            <a:r>
              <a:rPr lang="ja-JP" altLang="fr-FR" sz="2000"/>
              <a:t>’</a:t>
            </a:r>
            <a:r>
              <a:rPr lang="fr-FR" altLang="ja-JP" sz="2000"/>
              <a:t>instant n+1 à partir de celle à l</a:t>
            </a:r>
            <a:r>
              <a:rPr lang="ja-JP" altLang="fr-FR" sz="2000"/>
              <a:t>’</a:t>
            </a:r>
            <a:r>
              <a:rPr lang="fr-FR" altLang="ja-JP" sz="2000"/>
              <a:t>instant n !</a:t>
            </a: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FEDDC55-5D69-4597-B65E-1D3D385BCDBE}" type="slidenum">
              <a:rPr lang="fr-FR" altLang="fr-FR" sz="1200"/>
              <a:pPr eaLnBrk="1" hangingPunct="1"/>
              <a:t>8</a:t>
            </a:fld>
            <a:r>
              <a:rPr lang="fr-FR" altLang="fr-FR" sz="1200" b="0"/>
              <a:t>/23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1387475" y="152400"/>
            <a:ext cx="584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Exemple simple d</a:t>
            </a:r>
            <a:r>
              <a:rPr lang="ja-JP" altLang="fr-FR"/>
              <a:t>’</a:t>
            </a:r>
            <a:r>
              <a:rPr lang="fr-FR" altLang="ja-JP"/>
              <a:t>Algorithme sous Matlab</a:t>
            </a:r>
            <a:endParaRPr lang="fr-FR" altLang="fr-FR"/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411163" y="2435225"/>
            <a:ext cx="351731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paramatres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materiaux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=401;   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Cu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rho=8933;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cp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=385;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geometrie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longueur=0.1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</a:p>
          <a:p>
            <a:pPr>
              <a:defRPr/>
            </a:pPr>
            <a:endParaRPr lang="fr-FR" sz="1600" b="1" dirty="0" smtClean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nombre de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noeuds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fr-FR" sz="1600" b="1" dirty="0" smtClean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d'espace</a:t>
            </a:r>
            <a:endParaRPr lang="fr-FR" sz="1600" b="1" dirty="0" smtClean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N = 100;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=longueur/(N-1);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smtClean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abscisses des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noeuds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xp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=(0:N-1)*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</a:p>
          <a:p>
            <a:pPr>
              <a:defRPr/>
            </a:pPr>
            <a:endParaRPr lang="fr-FR" sz="1600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...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 dirty="0">
              <a:latin typeface="Arial" charset="0"/>
              <a:ea typeface="ＭＳ Ｐゴシック" charset="0"/>
            </a:endParaRP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4500563" y="2568575"/>
            <a:ext cx="364074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...</a:t>
            </a:r>
          </a:p>
          <a:p>
            <a:pPr>
              <a:defRPr/>
            </a:pP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duree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et pas de temps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duree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=1;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deltat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=0.001;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conditions de Dirichlet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Tdg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=300;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Tdd  =300;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temperatures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a l'instant 0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zeros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(N,1);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(:)=500;</a:t>
            </a:r>
            <a:endParaRPr lang="fr-FR" sz="1600" dirty="0">
              <a:latin typeface="Arial" charset="0"/>
              <a:ea typeface="ＭＳ Ｐゴシック" charset="0"/>
            </a:endParaRPr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2232025" y="1233488"/>
            <a:ext cx="41767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2232025" y="908050"/>
            <a:ext cx="0" cy="612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6408738" y="944563"/>
            <a:ext cx="0" cy="612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3687763" y="1323975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0.1 m</a:t>
            </a:r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935038" y="1016000"/>
            <a:ext cx="1222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dg</a:t>
            </a:r>
            <a:r>
              <a:rPr lang="fr-FR">
                <a:latin typeface="Arial" charset="0"/>
                <a:ea typeface="ＭＳ Ｐゴシック" charset="0"/>
              </a:rPr>
              <a:t>=300 K</a:t>
            </a:r>
          </a:p>
        </p:txBody>
      </p:sp>
      <p:sp>
        <p:nvSpPr>
          <p:cNvPr id="61453" name="Text Box 13"/>
          <p:cNvSpPr txBox="1">
            <a:spLocks noChangeArrowheads="1"/>
          </p:cNvSpPr>
          <p:nvPr/>
        </p:nvSpPr>
        <p:spPr bwMode="auto">
          <a:xfrm>
            <a:off x="6588125" y="1016000"/>
            <a:ext cx="1222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dd</a:t>
            </a:r>
            <a:r>
              <a:rPr lang="fr-FR">
                <a:latin typeface="Arial" charset="0"/>
                <a:ea typeface="ＭＳ Ｐゴシック" charset="0"/>
              </a:rPr>
              <a:t>=300 K</a:t>
            </a:r>
          </a:p>
        </p:txBody>
      </p:sp>
      <p:sp>
        <p:nvSpPr>
          <p:cNvPr id="61454" name="Text Box 14"/>
          <p:cNvSpPr txBox="1">
            <a:spLocks noChangeArrowheads="1"/>
          </p:cNvSpPr>
          <p:nvPr/>
        </p:nvSpPr>
        <p:spPr bwMode="auto">
          <a:xfrm>
            <a:off x="3419475" y="800100"/>
            <a:ext cx="1247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init</a:t>
            </a:r>
            <a:r>
              <a:rPr lang="fr-FR">
                <a:latin typeface="Arial" charset="0"/>
                <a:ea typeface="ＭＳ Ｐゴシック" charset="0"/>
              </a:rPr>
              <a:t>=500 K</a:t>
            </a:r>
          </a:p>
        </p:txBody>
      </p:sp>
      <p:sp>
        <p:nvSpPr>
          <p:cNvPr id="61455" name="Text Box 15"/>
          <p:cNvSpPr txBox="1">
            <a:spLocks noChangeArrowheads="1"/>
          </p:cNvSpPr>
          <p:nvPr/>
        </p:nvSpPr>
        <p:spPr bwMode="auto">
          <a:xfrm>
            <a:off x="5724525" y="836613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000">
                <a:latin typeface="Arial" charset="0"/>
                <a:ea typeface="ＭＳ Ｐゴシック" charset="0"/>
              </a:rPr>
              <a:t>Cu</a:t>
            </a:r>
          </a:p>
        </p:txBody>
      </p:sp>
    </p:spTree>
    <p:extLst>
      <p:ext uri="{BB962C8B-B14F-4D97-AF65-F5344CB8AC3E}">
        <p14:creationId xmlns:p14="http://schemas.microsoft.com/office/powerpoint/2010/main" val="108046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FC19247-ABB1-4011-94F7-653AC608F50D}" type="slidenum">
              <a:rPr lang="fr-FR" altLang="fr-FR" sz="1200"/>
              <a:pPr eaLnBrk="1" hangingPunct="1"/>
              <a:t>9</a:t>
            </a:fld>
            <a:r>
              <a:rPr lang="fr-FR" altLang="fr-FR" sz="1200" b="0"/>
              <a:t>/23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503238" y="476250"/>
            <a:ext cx="796083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T=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zeros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(N,1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);</a:t>
            </a: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= 0;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 smtClean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while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t&lt;</a:t>
            </a:r>
            <a:r>
              <a:rPr lang="fr-FR" sz="1600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duree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%boucle sur le </a:t>
            </a:r>
            <a:r>
              <a:rPr lang="fr-FR" sz="1600" b="1" dirty="0" smtClean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temps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%conditions de Dirichlet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T(1)=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Tdg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T(N)=Tdd;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for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p=2:N-1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d2T_dx2=(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(p+1)-2.*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(p)+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(p-1))/(deltax^2);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temperature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a l'instant n+1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T(p)=</a:t>
            </a:r>
            <a:r>
              <a:rPr lang="fr-FR" sz="1600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(p)+</a:t>
            </a:r>
            <a:r>
              <a:rPr lang="fr-FR" sz="1600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deltat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*</a:t>
            </a:r>
            <a:r>
              <a:rPr lang="fr-FR" sz="1600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/(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rho*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cp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)*d2T_dx2;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(:)=T(:); </a:t>
            </a:r>
            <a:endParaRPr lang="fr-FR" sz="1600" b="1" dirty="0" smtClean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t = t + </a:t>
            </a:r>
            <a:r>
              <a:rPr lang="fr-FR" sz="1600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deltat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r>
              <a:rPr lang="fr-FR" sz="1600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   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plot(</a:t>
            </a:r>
            <a:r>
              <a:rPr lang="fr-FR" sz="1600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xp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, T)</a:t>
            </a:r>
            <a:endParaRPr lang="fr-FR" sz="1600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sz="1600" dirty="0">
              <a:latin typeface="Arial" charset="0"/>
              <a:ea typeface="ＭＳ Ｐゴシック" charset="0"/>
            </a:endParaRP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8" y="3716338"/>
            <a:ext cx="4752975" cy="282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aphicFrame>
        <p:nvGraphicFramePr>
          <p:cNvPr id="12292" name="Object 7"/>
          <p:cNvGraphicFramePr>
            <a:graphicFrameLocks noChangeAspect="1"/>
          </p:cNvGraphicFramePr>
          <p:nvPr/>
        </p:nvGraphicFramePr>
        <p:xfrm>
          <a:off x="3671888" y="1505390"/>
          <a:ext cx="4922837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Equation" r:id="rId4" imgW="2692080" imgH="520560" progId="Equation.DSMT4">
                  <p:embed/>
                </p:oleObj>
              </mc:Choice>
              <mc:Fallback>
                <p:oleObj name="Equation" r:id="rId4" imgW="2692080" imgH="520560" progId="Equation.DSMT4">
                  <p:embed/>
                  <p:pic>
                    <p:nvPicPr>
                      <p:cNvPr id="1229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1505390"/>
                        <a:ext cx="4922837" cy="9509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491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43A7BFF-56AF-48B9-9841-840F8AA91079}" type="slidenum">
              <a:rPr lang="fr-FR" altLang="fr-FR" sz="1200"/>
              <a:pPr eaLnBrk="1" hangingPunct="1"/>
              <a:t>10</a:t>
            </a:fld>
            <a:endParaRPr lang="fr-FR" altLang="fr-FR" sz="1200" b="0"/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2555875" y="0"/>
            <a:ext cx="425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Conditions aux limites à droite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454025" y="701675"/>
            <a:ext cx="1152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 Dirichlet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0" y="3986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1604963" y="623888"/>
          <a:ext cx="9017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3" name="Equation" r:id="rId3" imgW="508000" imgH="292100" progId="Equation.DSMT4">
                  <p:embed/>
                </p:oleObj>
              </mc:Choice>
              <mc:Fallback>
                <p:oleObj name="Equation" r:id="rId3" imgW="508000" imgH="292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623888"/>
                        <a:ext cx="9017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0" y="4000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144933"/>
              </p:ext>
            </p:extLst>
          </p:nvPr>
        </p:nvGraphicFramePr>
        <p:xfrm>
          <a:off x="1855788" y="1209675"/>
          <a:ext cx="41894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name="Equation" r:id="rId5" imgW="2336760" imgH="1028520" progId="Equation.DSMT4">
                  <p:embed/>
                </p:oleObj>
              </mc:Choice>
              <mc:Fallback>
                <p:oleObj name="Equation" r:id="rId5" imgW="2336760" imgH="1028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1209675"/>
                        <a:ext cx="41894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395288" y="3040063"/>
            <a:ext cx="8910637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le nœud NP+1 n</a:t>
            </a:r>
            <a:r>
              <a:rPr lang="ja-JP" altLang="fr-FR" sz="1800"/>
              <a:t>’</a:t>
            </a:r>
            <a:r>
              <a:rPr lang="fr-FR" altLang="ja-JP" sz="1800"/>
              <a:t>existe pas, l</a:t>
            </a:r>
            <a:r>
              <a:rPr lang="ja-JP" altLang="fr-FR" sz="1800"/>
              <a:t>’</a:t>
            </a:r>
            <a:r>
              <a:rPr lang="fr-FR" altLang="ja-JP" sz="1800"/>
              <a:t>expression de la condition aux limites de </a:t>
            </a:r>
          </a:p>
          <a:p>
            <a:pPr eaLnBrk="1" hangingPunct="1"/>
            <a:r>
              <a:rPr lang="fr-FR" altLang="fr-FR" sz="1800"/>
              <a:t>Neumann à droite permet d</a:t>
            </a:r>
            <a:r>
              <a:rPr lang="ja-JP" altLang="fr-FR" sz="1800"/>
              <a:t>’</a:t>
            </a:r>
            <a:r>
              <a:rPr lang="fr-FR" altLang="ja-JP" sz="1800"/>
              <a:t>obtenir une 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</a:t>
            </a:r>
            <a:endParaRPr lang="fr-FR" altLang="fr-FR" sz="1800"/>
          </a:p>
        </p:txBody>
      </p:sp>
      <p:sp>
        <p:nvSpPr>
          <p:cNvPr id="64521" name="Rectangle 9"/>
          <p:cNvSpPr>
            <a:spLocks noChangeArrowheads="1"/>
          </p:cNvSpPr>
          <p:nvPr/>
        </p:nvSpPr>
        <p:spPr bwMode="auto">
          <a:xfrm>
            <a:off x="0" y="381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5885"/>
              </p:ext>
            </p:extLst>
          </p:nvPr>
        </p:nvGraphicFramePr>
        <p:xfrm>
          <a:off x="2132013" y="4149725"/>
          <a:ext cx="41243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5" name="Equation" r:id="rId7" imgW="2298600" imgH="507960" progId="Equation.DSMT4">
                  <p:embed/>
                </p:oleObj>
              </mc:Choice>
              <mc:Fallback>
                <p:oleObj name="Equation" r:id="rId7" imgW="2298600" imgH="5079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4149725"/>
                        <a:ext cx="41243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468313" y="3824288"/>
            <a:ext cx="4598987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A partir du D.L. à gauche du nœud NP,</a:t>
            </a:r>
          </a:p>
          <a:p>
            <a:pPr eaLnBrk="1" hangingPunct="1"/>
            <a:endParaRPr lang="fr-FR" altLang="fr-FR" sz="2000"/>
          </a:p>
          <a:p>
            <a:pPr eaLnBrk="1" hangingPunct="1"/>
            <a:endParaRPr lang="fr-FR" altLang="fr-FR" sz="2000"/>
          </a:p>
          <a:p>
            <a:pPr eaLnBrk="1" hangingPunct="1"/>
            <a:endParaRPr lang="fr-FR" altLang="fr-FR" sz="2000"/>
          </a:p>
          <a:p>
            <a:pPr eaLnBrk="1" hangingPunct="1"/>
            <a:r>
              <a:rPr lang="fr-FR" altLang="fr-FR" sz="2000"/>
              <a:t>la dérivée seconde au nœud N s</a:t>
            </a:r>
            <a:r>
              <a:rPr lang="ja-JP" altLang="fr-FR" sz="2000"/>
              <a:t>’</a:t>
            </a:r>
            <a:r>
              <a:rPr lang="fr-FR" altLang="ja-JP" sz="2000"/>
              <a:t>écrit  </a:t>
            </a:r>
            <a:endParaRPr lang="fr-FR" altLang="fr-FR" sz="2000"/>
          </a:p>
        </p:txBody>
      </p:sp>
      <p:graphicFrame>
        <p:nvGraphicFramePr>
          <p:cNvPr id="256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937960"/>
              </p:ext>
            </p:extLst>
          </p:nvPr>
        </p:nvGraphicFramePr>
        <p:xfrm>
          <a:off x="517525" y="5626100"/>
          <a:ext cx="80518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name="Equation" r:id="rId9" imgW="4483080" imgH="520560" progId="Equation.DSMT4">
                  <p:embed/>
                </p:oleObj>
              </mc:Choice>
              <mc:Fallback>
                <p:oleObj name="Equation" r:id="rId9" imgW="4483080" imgH="5205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5626100"/>
                        <a:ext cx="8051800" cy="9350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grpSp>
        <p:nvGrpSpPr>
          <p:cNvPr id="25614" name="Group 14"/>
          <p:cNvGrpSpPr>
            <a:grpSpLocks/>
          </p:cNvGrpSpPr>
          <p:nvPr/>
        </p:nvGrpSpPr>
        <p:grpSpPr bwMode="auto">
          <a:xfrm>
            <a:off x="6119813" y="1636713"/>
            <a:ext cx="1582737" cy="823912"/>
            <a:chOff x="4223" y="33"/>
            <a:chExt cx="997" cy="519"/>
          </a:xfrm>
        </p:grpSpPr>
        <p:sp>
          <p:nvSpPr>
            <p:cNvPr id="64527" name="Line 15"/>
            <p:cNvSpPr>
              <a:spLocks noChangeShapeType="1"/>
            </p:cNvSpPr>
            <p:nvPr/>
          </p:nvSpPr>
          <p:spPr bwMode="auto">
            <a:xfrm>
              <a:off x="4722" y="306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28" name="Line 16"/>
            <p:cNvSpPr>
              <a:spLocks noChangeShapeType="1"/>
            </p:cNvSpPr>
            <p:nvPr/>
          </p:nvSpPr>
          <p:spPr bwMode="auto">
            <a:xfrm flipV="1">
              <a:off x="4721" y="79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29" name="Text Box 17"/>
            <p:cNvSpPr txBox="1">
              <a:spLocks noChangeArrowheads="1"/>
            </p:cNvSpPr>
            <p:nvPr/>
          </p:nvSpPr>
          <p:spPr bwMode="auto">
            <a:xfrm>
              <a:off x="4404" y="33"/>
              <a:ext cx="2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64530" name="Text Box 18"/>
            <p:cNvSpPr txBox="1">
              <a:spLocks noChangeArrowheads="1"/>
            </p:cNvSpPr>
            <p:nvPr/>
          </p:nvSpPr>
          <p:spPr bwMode="auto">
            <a:xfrm>
              <a:off x="4830" y="47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a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31" name="Line 19"/>
            <p:cNvSpPr>
              <a:spLocks noChangeShapeType="1"/>
            </p:cNvSpPr>
            <p:nvPr/>
          </p:nvSpPr>
          <p:spPr bwMode="auto">
            <a:xfrm flipH="1">
              <a:off x="4223" y="306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32" name="Text Box 20"/>
            <p:cNvSpPr txBox="1">
              <a:spLocks noChangeArrowheads="1"/>
            </p:cNvSpPr>
            <p:nvPr/>
          </p:nvSpPr>
          <p:spPr bwMode="auto">
            <a:xfrm>
              <a:off x="4694" y="319"/>
              <a:ext cx="4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 dirty="0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p=NP</a:t>
              </a:r>
            </a:p>
          </p:txBody>
        </p:sp>
      </p:grpSp>
      <p:sp>
        <p:nvSpPr>
          <p:cNvPr id="64533" name="Text Box 21"/>
          <p:cNvSpPr txBox="1">
            <a:spLocks noChangeArrowheads="1"/>
          </p:cNvSpPr>
          <p:nvPr/>
        </p:nvSpPr>
        <p:spPr bwMode="auto">
          <a:xfrm>
            <a:off x="360363" y="1960563"/>
            <a:ext cx="1254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Neumann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2771775" y="620713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Température </a:t>
            </a:r>
          </a:p>
          <a:p>
            <a:pPr eaLnBrk="1" hangingPunct="1"/>
            <a:r>
              <a:rPr lang="fr-FR" altLang="fr-FR" sz="1800"/>
              <a:t>imposée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A00BDFB-E157-4D82-B962-E92D60A74A2E}" type="slidenum">
              <a:rPr lang="fr-FR" altLang="fr-FR" sz="1200"/>
              <a:pPr eaLnBrk="1" hangingPunct="1"/>
              <a:t>11</a:t>
            </a:fld>
            <a:endParaRPr lang="fr-FR" altLang="fr-FR" sz="1200" b="0"/>
          </a:p>
        </p:txBody>
      </p:sp>
      <p:graphicFrame>
        <p:nvGraphicFramePr>
          <p:cNvPr id="2662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594441"/>
              </p:ext>
            </p:extLst>
          </p:nvPr>
        </p:nvGraphicFramePr>
        <p:xfrm>
          <a:off x="5176838" y="1233488"/>
          <a:ext cx="2392362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0" name="Equation" r:id="rId3" imgW="1333440" imgH="507960" progId="Equation.DSMT4">
                  <p:embed/>
                </p:oleObj>
              </mc:Choice>
              <mc:Fallback>
                <p:oleObj name="Equation" r:id="rId3" imgW="1333440" imgH="5079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1233488"/>
                        <a:ext cx="2392362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643247"/>
              </p:ext>
            </p:extLst>
          </p:nvPr>
        </p:nvGraphicFramePr>
        <p:xfrm>
          <a:off x="2862263" y="2097088"/>
          <a:ext cx="34226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1" name="Equation" r:id="rId5" imgW="1904760" imgH="507960" progId="Equation.DSMT4">
                  <p:embed/>
                </p:oleObj>
              </mc:Choice>
              <mc:Fallback>
                <p:oleObj name="Equation" r:id="rId5" imgW="1904760" imgH="50796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2097088"/>
                        <a:ext cx="34226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320808"/>
              </p:ext>
            </p:extLst>
          </p:nvPr>
        </p:nvGraphicFramePr>
        <p:xfrm>
          <a:off x="2187575" y="3213100"/>
          <a:ext cx="40909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2" name="Equation" r:id="rId7" imgW="2234880" imgH="444240" progId="Equation.DSMT4">
                  <p:embed/>
                </p:oleObj>
              </mc:Choice>
              <mc:Fallback>
                <p:oleObj name="Equation" r:id="rId7" imgW="2234880" imgH="4442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3213100"/>
                        <a:ext cx="4090988" cy="8112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2" name="Text Box 26"/>
          <p:cNvSpPr txBox="1">
            <a:spLocks noChangeArrowheads="1"/>
          </p:cNvSpPr>
          <p:nvPr/>
        </p:nvSpPr>
        <p:spPr bwMode="auto">
          <a:xfrm>
            <a:off x="485775" y="1504950"/>
            <a:ext cx="4756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définissant la conduction au nœud N par :</a:t>
            </a:r>
          </a:p>
        </p:txBody>
      </p:sp>
      <p:sp>
        <p:nvSpPr>
          <p:cNvPr id="65563" name="Text Box 27"/>
          <p:cNvSpPr txBox="1">
            <a:spLocks noChangeArrowheads="1"/>
          </p:cNvSpPr>
          <p:nvPr/>
        </p:nvSpPr>
        <p:spPr bwMode="auto">
          <a:xfrm>
            <a:off x="539750" y="2384425"/>
            <a:ext cx="7702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L</a:t>
            </a:r>
            <a:r>
              <a:rPr lang="ja-JP" altLang="fr-FR" sz="1800" dirty="0"/>
              <a:t>’</a:t>
            </a:r>
            <a:r>
              <a:rPr lang="fr-FR" altLang="ja-JP" sz="1800" dirty="0"/>
              <a:t>équation de chaleur                                                         se discrétise en :</a:t>
            </a:r>
            <a:endParaRPr lang="fr-FR" altLang="fr-FR" sz="1800" dirty="0"/>
          </a:p>
        </p:txBody>
      </p:sp>
      <p:graphicFrame>
        <p:nvGraphicFramePr>
          <p:cNvPr id="2663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200027"/>
              </p:ext>
            </p:extLst>
          </p:nvPr>
        </p:nvGraphicFramePr>
        <p:xfrm>
          <a:off x="639763" y="5013325"/>
          <a:ext cx="82200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3" name="Equation" r:id="rId9" imgW="4584600" imgH="507960" progId="Equation.DSMT4">
                  <p:embed/>
                </p:oleObj>
              </mc:Choice>
              <mc:Fallback>
                <p:oleObj name="Equation" r:id="rId9" imgW="4584600" imgH="50796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5013325"/>
                        <a:ext cx="8220075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6" name="Text Box 30"/>
          <p:cNvSpPr txBox="1">
            <a:spLocks noChangeArrowheads="1"/>
          </p:cNvSpPr>
          <p:nvPr/>
        </p:nvSpPr>
        <p:spPr bwMode="auto">
          <a:xfrm>
            <a:off x="684213" y="4437063"/>
            <a:ext cx="413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Ou encore sous une forme développée</a:t>
            </a:r>
          </a:p>
        </p:txBody>
      </p:sp>
      <p:graphicFrame>
        <p:nvGraphicFramePr>
          <p:cNvPr id="2663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790610"/>
              </p:ext>
            </p:extLst>
          </p:nvPr>
        </p:nvGraphicFramePr>
        <p:xfrm>
          <a:off x="2227263" y="296863"/>
          <a:ext cx="474345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4" name="Equation" r:id="rId11" imgW="2641320" imgH="507960" progId="Equation.DSMT4">
                  <p:embed/>
                </p:oleObj>
              </mc:Choice>
              <mc:Fallback>
                <p:oleObj name="Equation" r:id="rId11" imgW="2641320" imgH="50796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296863"/>
                        <a:ext cx="4743450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8" name="Text Box 32"/>
          <p:cNvSpPr txBox="1">
            <a:spLocks noChangeArrowheads="1"/>
          </p:cNvSpPr>
          <p:nvPr/>
        </p:nvSpPr>
        <p:spPr bwMode="auto">
          <a:xfrm>
            <a:off x="606425" y="6221413"/>
            <a:ext cx="6305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Laquelle des 2 formes encadrées allons-nous implémenter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83FFA26-0DE3-43CC-B9C7-8F87FFAD0847}" type="slidenum">
              <a:rPr lang="fr-FR" altLang="fr-FR" sz="1200"/>
              <a:pPr eaLnBrk="1" hangingPunct="1"/>
              <a:t>12</a:t>
            </a:fld>
            <a:endParaRPr lang="fr-FR" altLang="fr-FR" sz="1200" b="0"/>
          </a:p>
        </p:txBody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411413" y="0"/>
            <a:ext cx="449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Conditions aux limites à gauche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5102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11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7653" name="Object 7"/>
          <p:cNvGraphicFramePr>
            <a:graphicFrameLocks noChangeAspect="1"/>
          </p:cNvGraphicFramePr>
          <p:nvPr/>
        </p:nvGraphicFramePr>
        <p:xfrm>
          <a:off x="1871663" y="942975"/>
          <a:ext cx="379730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1" name="Equation" r:id="rId3" imgW="2120900" imgH="914400" progId="Equation.DSMT4">
                  <p:embed/>
                </p:oleObj>
              </mc:Choice>
              <mc:Fallback>
                <p:oleObj name="Equation" r:id="rId3" imgW="2120900" imgH="914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942975"/>
                        <a:ext cx="3797300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9" name="Text Box 11"/>
          <p:cNvSpPr txBox="1">
            <a:spLocks noChangeArrowheads="1"/>
          </p:cNvSpPr>
          <p:nvPr/>
        </p:nvSpPr>
        <p:spPr bwMode="auto">
          <a:xfrm>
            <a:off x="395288" y="2708275"/>
            <a:ext cx="8039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le nœud N+1 n</a:t>
            </a:r>
            <a:r>
              <a:rPr lang="ja-JP" altLang="fr-FR" sz="1800"/>
              <a:t>’</a:t>
            </a:r>
            <a:r>
              <a:rPr lang="fr-FR" altLang="ja-JP" sz="1800"/>
              <a:t>existe pas, D.L. de la température à droite du nœud 1</a:t>
            </a:r>
            <a:endParaRPr lang="fr-FR" altLang="fr-FR" sz="1800"/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0" y="4930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468313" y="3968750"/>
            <a:ext cx="405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 dérivée seconde au nœud 1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fr-FR" sz="1800"/>
          </a:p>
        </p:txBody>
      </p:sp>
      <p:graphicFrame>
        <p:nvGraphicFramePr>
          <p:cNvPr id="2765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535874"/>
              </p:ext>
            </p:extLst>
          </p:nvPr>
        </p:nvGraphicFramePr>
        <p:xfrm>
          <a:off x="647700" y="4316412"/>
          <a:ext cx="9144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2" name="Equation" r:id="rId5" imgW="507960" imgH="507960" progId="Equation.DSMT4">
                  <p:embed/>
                </p:oleObj>
              </mc:Choice>
              <mc:Fallback>
                <p:oleObj name="Equation" r:id="rId5" imgW="507960" imgH="5079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4316412"/>
                        <a:ext cx="9144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30"/>
          <p:cNvGraphicFramePr>
            <a:graphicFrameLocks noChangeAspect="1"/>
          </p:cNvGraphicFramePr>
          <p:nvPr/>
        </p:nvGraphicFramePr>
        <p:xfrm>
          <a:off x="2195513" y="3140075"/>
          <a:ext cx="38004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3" name="Equation" r:id="rId7" imgW="2108200" imgH="508000" progId="Equation.DSMT4">
                  <p:embed/>
                </p:oleObj>
              </mc:Choice>
              <mc:Fallback>
                <p:oleObj name="Equation" r:id="rId7" imgW="2108200" imgH="5080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140075"/>
                        <a:ext cx="38004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37"/>
          <p:cNvGraphicFramePr>
            <a:graphicFrameLocks noChangeAspect="1"/>
          </p:cNvGraphicFramePr>
          <p:nvPr/>
        </p:nvGraphicFramePr>
        <p:xfrm>
          <a:off x="1511300" y="495300"/>
          <a:ext cx="860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4" name="Equation" r:id="rId9" imgW="482391" imgH="253890" progId="Equation.DSMT4">
                  <p:embed/>
                </p:oleObj>
              </mc:Choice>
              <mc:Fallback>
                <p:oleObj name="Equation" r:id="rId9" imgW="482391" imgH="25389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95300"/>
                        <a:ext cx="860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66" name="Text Box 38"/>
          <p:cNvSpPr txBox="1">
            <a:spLocks noChangeArrowheads="1"/>
          </p:cNvSpPr>
          <p:nvPr/>
        </p:nvSpPr>
        <p:spPr bwMode="auto">
          <a:xfrm>
            <a:off x="287338" y="512763"/>
            <a:ext cx="1152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 Dirichlet</a:t>
            </a:r>
          </a:p>
        </p:txBody>
      </p:sp>
      <p:grpSp>
        <p:nvGrpSpPr>
          <p:cNvPr id="27661" name="Group 42"/>
          <p:cNvGrpSpPr>
            <a:grpSpLocks/>
          </p:cNvGrpSpPr>
          <p:nvPr/>
        </p:nvGrpSpPr>
        <p:grpSpPr bwMode="auto">
          <a:xfrm>
            <a:off x="5256213" y="908050"/>
            <a:ext cx="1582737" cy="852488"/>
            <a:chOff x="3765" y="811"/>
            <a:chExt cx="997" cy="537"/>
          </a:xfrm>
        </p:grpSpPr>
        <p:sp>
          <p:nvSpPr>
            <p:cNvPr id="48152" name="Line 24"/>
            <p:cNvSpPr>
              <a:spLocks noChangeShapeType="1"/>
            </p:cNvSpPr>
            <p:nvPr/>
          </p:nvSpPr>
          <p:spPr bwMode="auto">
            <a:xfrm>
              <a:off x="3765" y="1106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53" name="Line 25"/>
            <p:cNvSpPr>
              <a:spLocks noChangeShapeType="1"/>
            </p:cNvSpPr>
            <p:nvPr/>
          </p:nvSpPr>
          <p:spPr bwMode="auto">
            <a:xfrm flipV="1">
              <a:off x="4263" y="868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54" name="Text Box 26"/>
            <p:cNvSpPr txBox="1">
              <a:spLocks noChangeArrowheads="1"/>
            </p:cNvSpPr>
            <p:nvPr/>
          </p:nvSpPr>
          <p:spPr bwMode="auto">
            <a:xfrm>
              <a:off x="4286" y="811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48155" name="Text Box 27"/>
            <p:cNvSpPr txBox="1">
              <a:spLocks noChangeArrowheads="1"/>
            </p:cNvSpPr>
            <p:nvPr/>
          </p:nvSpPr>
          <p:spPr bwMode="auto">
            <a:xfrm>
              <a:off x="3923" y="811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a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56" name="Text Box 28"/>
            <p:cNvSpPr txBox="1">
              <a:spLocks noChangeArrowheads="1"/>
            </p:cNvSpPr>
            <p:nvPr/>
          </p:nvSpPr>
          <p:spPr bwMode="auto">
            <a:xfrm>
              <a:off x="3901" y="1084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48157" name="Line 29"/>
            <p:cNvSpPr>
              <a:spLocks noChangeShapeType="1"/>
            </p:cNvSpPr>
            <p:nvPr/>
          </p:nvSpPr>
          <p:spPr bwMode="auto">
            <a:xfrm flipH="1">
              <a:off x="4263" y="1106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67" name="Text Box 39"/>
            <p:cNvSpPr txBox="1">
              <a:spLocks noChangeArrowheads="1"/>
            </p:cNvSpPr>
            <p:nvPr/>
          </p:nvSpPr>
          <p:spPr bwMode="auto">
            <a:xfrm>
              <a:off x="4286" y="1117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p=1</a:t>
              </a:r>
            </a:p>
          </p:txBody>
        </p:sp>
      </p:grpSp>
      <p:sp>
        <p:nvSpPr>
          <p:cNvPr id="48168" name="Text Box 40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48169" name="Text Box 41"/>
          <p:cNvSpPr txBox="1">
            <a:spLocks noChangeArrowheads="1"/>
          </p:cNvSpPr>
          <p:nvPr/>
        </p:nvSpPr>
        <p:spPr bwMode="auto">
          <a:xfrm>
            <a:off x="360363" y="1455738"/>
            <a:ext cx="1317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 Neumann</a:t>
            </a:r>
          </a:p>
        </p:txBody>
      </p:sp>
      <p:graphicFrame>
        <p:nvGraphicFramePr>
          <p:cNvPr id="27665" name="Object 44"/>
          <p:cNvGraphicFramePr>
            <a:graphicFrameLocks noChangeAspect="1"/>
          </p:cNvGraphicFramePr>
          <p:nvPr/>
        </p:nvGraphicFramePr>
        <p:xfrm>
          <a:off x="4184650" y="5661025"/>
          <a:ext cx="38084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5" name="Equation" r:id="rId11" imgW="2082800" imgH="444500" progId="Equation.DSMT4">
                  <p:embed/>
                </p:oleObj>
              </mc:Choice>
              <mc:Fallback>
                <p:oleObj name="Equation" r:id="rId11" imgW="2082800" imgH="4445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5661025"/>
                        <a:ext cx="3808413" cy="8112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73" name="AutoShape 45"/>
          <p:cNvSpPr>
            <a:spLocks noChangeArrowheads="1"/>
          </p:cNvSpPr>
          <p:nvPr/>
        </p:nvSpPr>
        <p:spPr bwMode="auto">
          <a:xfrm>
            <a:off x="3384550" y="5913438"/>
            <a:ext cx="574675" cy="285750"/>
          </a:xfrm>
          <a:prstGeom prst="rightArrow">
            <a:avLst>
              <a:gd name="adj1" fmla="val 50000"/>
              <a:gd name="adj2" fmla="val 502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A28C9C6-B6AE-4251-AD54-C079B270226E}" type="slidenum">
              <a:rPr lang="fr-FR" altLang="fr-FR" sz="1200"/>
              <a:pPr eaLnBrk="1" hangingPunct="1"/>
              <a:t>13</a:t>
            </a:fld>
            <a:endParaRPr lang="fr-FR" altLang="fr-FR" sz="1200" b="0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31775" y="136525"/>
            <a:ext cx="7321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Différences Finies Méthode Explicite : Le programme MDFE_main</a:t>
            </a:r>
          </a:p>
        </p:txBody>
      </p:sp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10" b="78850"/>
          <a:stretch>
            <a:fillRect/>
          </a:stretch>
        </p:blipFill>
        <p:spPr bwMode="auto">
          <a:xfrm>
            <a:off x="468313" y="549275"/>
            <a:ext cx="266382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687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0" b="3201"/>
          <a:stretch>
            <a:fillRect/>
          </a:stretch>
        </p:blipFill>
        <p:spPr bwMode="auto">
          <a:xfrm>
            <a:off x="468313" y="981075"/>
            <a:ext cx="7343775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6948488" y="2781300"/>
            <a:ext cx="170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Structure</a:t>
            </a:r>
            <a:r>
              <a:rPr lang="fr-FR" b="1">
                <a:latin typeface="Arial" charset="0"/>
                <a:ea typeface="ＭＳ Ｐゴシック" charset="0"/>
              </a:rPr>
              <a:t> phys</a:t>
            </a:r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6877050" y="5942013"/>
            <a:ext cx="177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Structure</a:t>
            </a:r>
            <a:r>
              <a:rPr lang="fr-FR" b="1">
                <a:latin typeface="Arial" charset="0"/>
                <a:ea typeface="ＭＳ Ｐゴシック" charset="0"/>
              </a:rPr>
              <a:t> simul</a:t>
            </a:r>
          </a:p>
        </p:txBody>
      </p:sp>
      <p:sp>
        <p:nvSpPr>
          <p:cNvPr id="36877" name="AutoShape 13"/>
          <p:cNvSpPr>
            <a:spLocks/>
          </p:cNvSpPr>
          <p:nvPr/>
        </p:nvSpPr>
        <p:spPr bwMode="auto">
          <a:xfrm>
            <a:off x="6516688" y="1628775"/>
            <a:ext cx="360362" cy="2663825"/>
          </a:xfrm>
          <a:prstGeom prst="rightBrace">
            <a:avLst>
              <a:gd name="adj1" fmla="val 616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6878" name="AutoShape 14"/>
          <p:cNvSpPr>
            <a:spLocks/>
          </p:cNvSpPr>
          <p:nvPr/>
        </p:nvSpPr>
        <p:spPr bwMode="auto">
          <a:xfrm>
            <a:off x="6516688" y="5553075"/>
            <a:ext cx="360362" cy="1152525"/>
          </a:xfrm>
          <a:prstGeom prst="rightBrace">
            <a:avLst>
              <a:gd name="adj1" fmla="val 266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A116362-7DCA-435C-A435-F24B2248F4D3}" type="slidenum">
              <a:rPr lang="fr-FR" altLang="fr-FR" sz="1200"/>
              <a:pPr eaLnBrk="1" hangingPunct="1"/>
              <a:t>14</a:t>
            </a:fld>
            <a:endParaRPr lang="fr-FR" altLang="fr-FR" sz="1200" b="0"/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2339975" y="188913"/>
            <a:ext cx="423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MDFE_main.m : </a:t>
            </a:r>
            <a:r>
              <a:rPr lang="fr-FR" altLang="fr-FR" sz="1800" b="1"/>
              <a:t>les fonctions définies</a:t>
            </a: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250825" y="512763"/>
            <a:ext cx="8374063" cy="647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MDFE_main  : Programme principal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lecture_probleme : Lecture des proprietes physiques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lecture_simul    : Lecture des parametres de la simulation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explicite        : Algorithme de résolution transitoire explicite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source           : Fonction permettant de calculer la source en un point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   définie par son abscisse sur le barreau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affichage_solution : affichage graphique de la solution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rgb           : Fonction permettant d'associer une couleur en fonction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d'un index de manière à colorier les courbes résultats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en fonction du temps.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PROPRIETES PHYSIQUES DU MATERIAU et CONDITIONS AUX LIMITES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[phys]=lecture_probleme;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PARAMETRES DE LA SIMULATION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Parametres de la simulation et tests sur la stabilite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[simul]=lecture_simul(phys);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RESOLUTION TRANSITOIRE DU PROBLEME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[x,Tn]=explicite(phys,simul);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AFFICHAGE DU RESULTAT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Representation graphique             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affichage_solution(x,Tn,simul);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endParaRPr lang="fr-FR" altLang="fr-FR" sz="14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AD0450F-3BEF-4E53-81C2-22412AA8A081}" type="slidenum">
              <a:rPr lang="fr-FR" altLang="fr-FR" sz="1200"/>
              <a:pPr eaLnBrk="1" hangingPunct="1"/>
              <a:t>15</a:t>
            </a:fld>
            <a:endParaRPr lang="fr-FR" altLang="fr-FR" sz="1200" b="0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358775" y="115888"/>
            <a:ext cx="7632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solidFill>
                  <a:schemeClr val="tx2"/>
                </a:solidFill>
                <a:latin typeface="Arial" charset="0"/>
                <a:ea typeface="ＭＳ Ｐゴシック" charset="0"/>
              </a:rPr>
              <a:t>Programmation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142875" y="820738"/>
            <a:ext cx="87185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Résoudre l</a:t>
            </a:r>
            <a:r>
              <a:rPr lang="ja-JP" altLang="fr-FR" sz="2000"/>
              <a:t>’</a:t>
            </a:r>
            <a:r>
              <a:rPr lang="fr-FR" altLang="ja-JP" sz="2000"/>
              <a:t>EDP de transfert de chaleur en régime transitoire permettant </a:t>
            </a:r>
          </a:p>
          <a:p>
            <a:pPr eaLnBrk="1" hangingPunct="1"/>
            <a:r>
              <a:rPr lang="fr-FR" altLang="fr-FR" sz="2000"/>
              <a:t>de calculer la répartition de température dans un mur dans les conditions suivantes : T</a:t>
            </a:r>
            <a:r>
              <a:rPr lang="fr-FR" altLang="fr-FR" sz="2000" baseline="-25000"/>
              <a:t>initiale</a:t>
            </a:r>
            <a:r>
              <a:rPr lang="fr-FR" altLang="fr-FR" sz="2000"/>
              <a:t>=273K. On calculera la solution analytique en régime permanent pour comparer à la solution numérique.</a:t>
            </a:r>
          </a:p>
        </p:txBody>
      </p:sp>
      <p:sp>
        <p:nvSpPr>
          <p:cNvPr id="47116" name="Text Box 12"/>
          <p:cNvSpPr txBox="1">
            <a:spLocks noChangeArrowheads="1"/>
          </p:cNvSpPr>
          <p:nvPr/>
        </p:nvSpPr>
        <p:spPr bwMode="auto">
          <a:xfrm>
            <a:off x="2698750" y="3440113"/>
            <a:ext cx="1404938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Surface</a:t>
            </a:r>
          </a:p>
          <a:p>
            <a:pPr eaLnBrk="1" hangingPunct="1"/>
            <a:r>
              <a:rPr lang="fr-FR" altLang="fr-FR" sz="1800"/>
              <a:t>extérieure</a:t>
            </a:r>
          </a:p>
          <a:p>
            <a:pPr eaLnBrk="1" hangingPunct="1"/>
            <a:r>
              <a:rPr lang="fr-FR" altLang="fr-FR" sz="1800"/>
              <a:t>thermalisée</a:t>
            </a:r>
          </a:p>
          <a:p>
            <a:pPr eaLnBrk="1" hangingPunct="1"/>
            <a:r>
              <a:rPr lang="fr-FR" altLang="fr-FR" sz="1800"/>
              <a:t>à 273K</a:t>
            </a:r>
          </a:p>
          <a:p>
            <a:pPr eaLnBrk="1" hangingPunct="1"/>
            <a:endParaRPr lang="fr-FR" altLang="fr-FR" sz="1800"/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1871663" y="6308725"/>
            <a:ext cx="6091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-25000">
                <a:latin typeface="Arial" charset="0"/>
                <a:ea typeface="ＭＳ Ｐゴシック" charset="0"/>
              </a:rPr>
              <a:t>mur</a:t>
            </a:r>
            <a:r>
              <a:rPr lang="fr-FR">
                <a:latin typeface="Arial" charset="0"/>
                <a:ea typeface="ＭＳ Ｐゴシック" charset="0"/>
              </a:rPr>
              <a:t>=1.65 Wm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  <a:r>
              <a:rPr lang="fr-FR">
                <a:latin typeface="Arial" charset="0"/>
                <a:ea typeface="ＭＳ Ｐゴシック" charset="0"/>
              </a:rPr>
              <a:t>      </a:t>
            </a:r>
            <a:r>
              <a:rPr lang="fr-FR">
                <a:latin typeface="Symbol" charset="0"/>
                <a:ea typeface="ＭＳ Ｐゴシック" charset="0"/>
              </a:rPr>
              <a:t>r</a:t>
            </a:r>
            <a:r>
              <a:rPr lang="fr-FR">
                <a:latin typeface="Arial" charset="0"/>
                <a:ea typeface="ＭＳ Ｐゴシック" charset="0"/>
              </a:rPr>
              <a:t>=2150 kg.m</a:t>
            </a:r>
            <a:r>
              <a:rPr lang="fr-FR" baseline="30000">
                <a:latin typeface="Arial" charset="0"/>
                <a:ea typeface="ＭＳ Ｐゴシック" charset="0"/>
              </a:rPr>
              <a:t>-3</a:t>
            </a:r>
            <a:r>
              <a:rPr lang="fr-FR">
                <a:latin typeface="Arial" charset="0"/>
                <a:ea typeface="ＭＳ Ｐゴシック" charset="0"/>
              </a:rPr>
              <a:t>     C</a:t>
            </a:r>
            <a:r>
              <a:rPr lang="fr-FR" baseline="-25000">
                <a:latin typeface="Arial" charset="0"/>
                <a:ea typeface="ＭＳ Ｐゴシック" charset="0"/>
              </a:rPr>
              <a:t>p</a:t>
            </a:r>
            <a:r>
              <a:rPr lang="fr-FR">
                <a:latin typeface="Arial" charset="0"/>
                <a:ea typeface="ＭＳ Ｐゴシック" charset="0"/>
              </a:rPr>
              <a:t>=1000 J.kg</a:t>
            </a:r>
            <a:r>
              <a:rPr lang="fr-FR" baseline="30000">
                <a:latin typeface="Arial" charset="0"/>
                <a:ea typeface="ＭＳ Ｐゴシック" charset="0"/>
              </a:rPr>
              <a:t> -1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</p:txBody>
      </p:sp>
      <p:sp>
        <p:nvSpPr>
          <p:cNvPr id="47118" name="Text Box 14"/>
          <p:cNvSpPr txBox="1">
            <a:spLocks noChangeArrowheads="1"/>
          </p:cNvSpPr>
          <p:nvPr/>
        </p:nvSpPr>
        <p:spPr bwMode="auto">
          <a:xfrm>
            <a:off x="250825" y="2270125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1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7127875" y="3608388"/>
            <a:ext cx="2268538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Echange convectif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 h = 10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amb</a:t>
            </a:r>
            <a:r>
              <a:rPr lang="fr-FR">
                <a:latin typeface="Arial" charset="0"/>
                <a:ea typeface="ＭＳ Ｐゴシック" charset="0"/>
              </a:rPr>
              <a:t>=273K</a:t>
            </a: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4932363" y="2241550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2</a:t>
            </a:r>
          </a:p>
        </p:txBody>
      </p:sp>
      <p:grpSp>
        <p:nvGrpSpPr>
          <p:cNvPr id="30730" name="Group 33"/>
          <p:cNvGrpSpPr>
            <a:grpSpLocks/>
          </p:cNvGrpSpPr>
          <p:nvPr/>
        </p:nvGrpSpPr>
        <p:grpSpPr bwMode="auto">
          <a:xfrm>
            <a:off x="6119813" y="2312988"/>
            <a:ext cx="1546225" cy="3130550"/>
            <a:chOff x="3765" y="1843"/>
            <a:chExt cx="974" cy="1972"/>
          </a:xfrm>
        </p:grpSpPr>
        <p:sp>
          <p:nvSpPr>
            <p:cNvPr id="47120" name="Rectangle 16"/>
            <p:cNvSpPr>
              <a:spLocks noChangeArrowheads="1"/>
            </p:cNvSpPr>
            <p:nvPr/>
          </p:nvSpPr>
          <p:spPr bwMode="auto">
            <a:xfrm>
              <a:off x="3833" y="2092"/>
              <a:ext cx="454" cy="151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3765" y="1843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3833" y="3498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7" name="AutoShape 23"/>
            <p:cNvSpPr>
              <a:spLocks noChangeArrowheads="1"/>
            </p:cNvSpPr>
            <p:nvPr/>
          </p:nvSpPr>
          <p:spPr bwMode="auto">
            <a:xfrm>
              <a:off x="4308" y="2364"/>
              <a:ext cx="431" cy="227"/>
            </a:xfrm>
            <a:custGeom>
              <a:avLst/>
              <a:gdLst>
                <a:gd name="T0" fmla="*/ 323 w 21600"/>
                <a:gd name="T1" fmla="*/ 0 h 21600"/>
                <a:gd name="T2" fmla="*/ 0 w 21600"/>
                <a:gd name="T3" fmla="*/ 114 h 21600"/>
                <a:gd name="T4" fmla="*/ 323 w 21600"/>
                <a:gd name="T5" fmla="*/ 227 h 21600"/>
                <a:gd name="T6" fmla="*/ 431 w 21600"/>
                <a:gd name="T7" fmla="*/ 11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58 w 21600"/>
                <a:gd name="T13" fmla="*/ 5424 h 21600"/>
                <a:gd name="T14" fmla="*/ 18894 w 21600"/>
                <a:gd name="T15" fmla="*/ 1617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>
              <a:off x="3832" y="2092"/>
              <a:ext cx="0" cy="154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0731" name="Group 32"/>
          <p:cNvGrpSpPr>
            <a:grpSpLocks/>
          </p:cNvGrpSpPr>
          <p:nvPr/>
        </p:nvGrpSpPr>
        <p:grpSpPr bwMode="auto">
          <a:xfrm>
            <a:off x="1368425" y="2349500"/>
            <a:ext cx="1620838" cy="3201988"/>
            <a:chOff x="1088" y="1640"/>
            <a:chExt cx="1021" cy="2017"/>
          </a:xfrm>
        </p:grpSpPr>
        <p:sp>
          <p:nvSpPr>
            <p:cNvPr id="47112" name="Rectangle 8"/>
            <p:cNvSpPr>
              <a:spLocks noChangeArrowheads="1"/>
            </p:cNvSpPr>
            <p:nvPr/>
          </p:nvSpPr>
          <p:spPr bwMode="auto">
            <a:xfrm>
              <a:off x="1360" y="1889"/>
              <a:ext cx="454" cy="151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1292" y="1640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1088" y="3295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8" name="Line 24"/>
            <p:cNvSpPr>
              <a:spLocks noChangeShapeType="1"/>
            </p:cNvSpPr>
            <p:nvPr/>
          </p:nvSpPr>
          <p:spPr bwMode="auto">
            <a:xfrm>
              <a:off x="1814" y="1956"/>
              <a:ext cx="0" cy="1406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>
              <a:off x="1360" y="1888"/>
              <a:ext cx="0" cy="142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1" name="Line 27"/>
            <p:cNvSpPr>
              <a:spLocks noChangeShapeType="1"/>
            </p:cNvSpPr>
            <p:nvPr/>
          </p:nvSpPr>
          <p:spPr bwMode="auto">
            <a:xfrm>
              <a:off x="1360" y="3589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2" name="Line 28"/>
            <p:cNvSpPr>
              <a:spLocks noChangeShapeType="1"/>
            </p:cNvSpPr>
            <p:nvPr/>
          </p:nvSpPr>
          <p:spPr bwMode="auto">
            <a:xfrm>
              <a:off x="1360" y="3317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3" name="Line 29"/>
            <p:cNvSpPr>
              <a:spLocks noChangeShapeType="1"/>
            </p:cNvSpPr>
            <p:nvPr/>
          </p:nvSpPr>
          <p:spPr bwMode="auto">
            <a:xfrm>
              <a:off x="1814" y="3317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4" name="Text Box 30"/>
            <p:cNvSpPr txBox="1">
              <a:spLocks noChangeArrowheads="1"/>
            </p:cNvSpPr>
            <p:nvPr/>
          </p:nvSpPr>
          <p:spPr bwMode="auto">
            <a:xfrm>
              <a:off x="1406" y="3407"/>
              <a:ext cx="38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1400">
                  <a:latin typeface="Arial" charset="0"/>
                  <a:ea typeface="ＭＳ Ｐゴシック" charset="0"/>
                </a:rPr>
                <a:t>20cm</a:t>
              </a:r>
            </a:p>
          </p:txBody>
        </p:sp>
      </p:grpSp>
      <p:sp>
        <p:nvSpPr>
          <p:cNvPr id="47138" name="Line 34"/>
          <p:cNvSpPr>
            <a:spLocks noChangeShapeType="1"/>
          </p:cNvSpPr>
          <p:nvPr/>
        </p:nvSpPr>
        <p:spPr bwMode="auto">
          <a:xfrm>
            <a:off x="4572000" y="2060575"/>
            <a:ext cx="0" cy="3421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358775" y="3465513"/>
            <a:ext cx="13684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Surface intérieure</a:t>
            </a:r>
          </a:p>
          <a:p>
            <a:pPr eaLnBrk="1" hangingPunct="1"/>
            <a:r>
              <a:rPr lang="fr-FR" altLang="fr-FR" sz="1800"/>
              <a:t>thermalisée</a:t>
            </a:r>
          </a:p>
          <a:p>
            <a:pPr eaLnBrk="1" hangingPunct="1"/>
            <a:r>
              <a:rPr lang="fr-FR" altLang="fr-FR" sz="1800"/>
              <a:t>à 293K</a:t>
            </a:r>
          </a:p>
        </p:txBody>
      </p:sp>
      <p:sp>
        <p:nvSpPr>
          <p:cNvPr id="47139" name="Text Box 35"/>
          <p:cNvSpPr txBox="1">
            <a:spLocks noChangeArrowheads="1"/>
          </p:cNvSpPr>
          <p:nvPr/>
        </p:nvSpPr>
        <p:spPr bwMode="auto">
          <a:xfrm>
            <a:off x="4714875" y="3429000"/>
            <a:ext cx="13684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Surface intérieure</a:t>
            </a:r>
          </a:p>
          <a:p>
            <a:pPr eaLnBrk="1" hangingPunct="1"/>
            <a:r>
              <a:rPr lang="fr-FR" altLang="fr-FR" sz="1800"/>
              <a:t>thermalisée</a:t>
            </a:r>
          </a:p>
          <a:p>
            <a:pPr eaLnBrk="1" hangingPunct="1"/>
            <a:r>
              <a:rPr lang="fr-FR" altLang="fr-FR" sz="1800"/>
              <a:t>à 293K</a:t>
            </a:r>
          </a:p>
        </p:txBody>
      </p:sp>
      <p:sp>
        <p:nvSpPr>
          <p:cNvPr id="47141" name="Text Box 37"/>
          <p:cNvSpPr txBox="1">
            <a:spLocks noChangeArrowheads="1"/>
          </p:cNvSpPr>
          <p:nvPr/>
        </p:nvSpPr>
        <p:spPr bwMode="auto">
          <a:xfrm>
            <a:off x="266700" y="5861050"/>
            <a:ext cx="335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Paramètres physiques du mur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3632F45-4391-4728-83C2-CEEB6C2BF21C}" type="slidenum">
              <a:rPr lang="fr-FR" altLang="fr-FR" sz="1200"/>
              <a:pPr eaLnBrk="1" hangingPunct="1"/>
              <a:t>16</a:t>
            </a:fld>
            <a:endParaRPr lang="fr-FR" altLang="fr-FR" sz="1200" b="0"/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231775" y="182563"/>
            <a:ext cx="5192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Implémentation du schéma explicite pour les</a:t>
            </a:r>
          </a:p>
          <a:p>
            <a:pPr eaLnBrk="1" hangingPunct="1"/>
            <a:r>
              <a:rPr lang="fr-FR" altLang="fr-FR" sz="2000" b="1"/>
              <a:t>points intérieurs</a:t>
            </a:r>
            <a:r>
              <a:rPr lang="fr-FR" altLang="fr-FR" sz="2000"/>
              <a:t> 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Fonction explicite.m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303213" y="1216025"/>
            <a:ext cx="6216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Schéma centré avec terme source dépendant de la position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142875" y="1989138"/>
            <a:ext cx="6140450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Points </a:t>
            </a:r>
            <a:r>
              <a:rPr lang="fr-FR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interieurs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du maillage A COMPLETER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for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p=2:NP-1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x(p)=(p-1)*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FA31A40-B607-4341-BEED-85BB1EDE8C8E}" type="slidenum">
              <a:rPr lang="fr-FR" altLang="fr-FR" sz="1200"/>
              <a:pPr eaLnBrk="1" hangingPunct="1"/>
              <a:t>17</a:t>
            </a:fld>
            <a:endParaRPr lang="fr-FR" altLang="fr-FR" sz="1200" b="0"/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34925" y="908050"/>
            <a:ext cx="6327775" cy="613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>
                <a:latin typeface="Arial" charset="0"/>
                <a:ea typeface="ＭＳ Ｐゴシック" charset="0"/>
              </a:rPr>
              <a:t>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Initialisation : CAL a gauche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phys.type_cl_gauche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==</a:t>
            </a:r>
            <a:r>
              <a:rPr lang="fr-FR" b="1" dirty="0">
                <a:solidFill>
                  <a:srgbClr val="A020F0"/>
                </a:solidFill>
                <a:latin typeface="Courier New" charset="0"/>
                <a:ea typeface="ＭＳ Ｐゴシック" charset="0"/>
              </a:rPr>
              <a:t>'DIRICHLET'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Dirichlet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phys.Tdg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x(1)= 0;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T(1)=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else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Neumann a gauche A COMPLETER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hg 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phys.hg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Tag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phys.Tag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x(1)=0;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 </a:t>
            </a: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231775" y="207963"/>
            <a:ext cx="381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Conditions aux limites à gauche :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Fonction explicite.m</a:t>
            </a:r>
          </a:p>
        </p:txBody>
      </p:sp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8" r="10428" b="15427"/>
          <a:stretch>
            <a:fillRect/>
          </a:stretch>
        </p:blipFill>
        <p:spPr bwMode="auto">
          <a:xfrm>
            <a:off x="6192838" y="1016000"/>
            <a:ext cx="2735262" cy="1479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F043126-EECF-428C-AECC-64727563DA66}" type="slidenum">
              <a:rPr lang="fr-FR" altLang="fr-FR" sz="1200"/>
              <a:pPr eaLnBrk="1" hangingPunct="1"/>
              <a:t>18</a:t>
            </a:fld>
            <a:endParaRPr lang="fr-FR" altLang="fr-FR" sz="1200" b="0"/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34925" y="908050"/>
            <a:ext cx="6418263" cy="618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>
                <a:latin typeface="Arial" charset="0"/>
                <a:ea typeface="ＭＳ Ｐゴシック" charset="0"/>
              </a:rPr>
              <a:t>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Initialisation : CAL a droite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phys.type_cl_droite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==</a:t>
            </a:r>
            <a:r>
              <a:rPr lang="fr-FR" b="1" dirty="0">
                <a:solidFill>
                  <a:srgbClr val="A020F0"/>
                </a:solidFill>
                <a:latin typeface="Courier New" charset="0"/>
                <a:ea typeface="ＭＳ Ｐゴシック" charset="0"/>
              </a:rPr>
              <a:t>'DIRICHLET'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Dirichlet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Tdd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phys.Tdd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x(NP)=(NP-1)*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(NP)=Tdd;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else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Neumann a droite A COMPLETER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hd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phys.hd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Tad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phys.Tad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</a:t>
            </a:r>
            <a:r>
              <a:rPr lang="fr-FR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(NP)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</a:t>
            </a:r>
            <a:r>
              <a:rPr lang="fr-FR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(NP-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1)*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31775" y="207963"/>
            <a:ext cx="3651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Conditions aux limites à droite :</a:t>
            </a: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Fonction explicite.m</a:t>
            </a:r>
          </a:p>
        </p:txBody>
      </p:sp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8" r="4649" b="14156"/>
          <a:stretch>
            <a:fillRect/>
          </a:stretch>
        </p:blipFill>
        <p:spPr bwMode="auto">
          <a:xfrm>
            <a:off x="5867400" y="1160463"/>
            <a:ext cx="32766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B674D52-1A73-40E1-A9EF-880C00AB25A2}" type="slidenum">
              <a:rPr lang="fr-FR" altLang="fr-FR" sz="1200"/>
              <a:pPr eaLnBrk="1" hangingPunct="1"/>
              <a:t>19</a:t>
            </a:fld>
            <a:endParaRPr lang="fr-FR" altLang="fr-FR" sz="1200" b="0"/>
          </a:p>
        </p:txBody>
      </p: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323850" y="728663"/>
            <a:ext cx="793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1</a:t>
            </a: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4716463" y="728663"/>
            <a:ext cx="793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2</a:t>
            </a:r>
          </a:p>
        </p:txBody>
      </p:sp>
      <p:sp>
        <p:nvSpPr>
          <p:cNvPr id="21536" name="Rectangle 32"/>
          <p:cNvSpPr>
            <a:spLocks noChangeArrowheads="1"/>
          </p:cNvSpPr>
          <p:nvPr/>
        </p:nvSpPr>
        <p:spPr bwMode="auto">
          <a:xfrm>
            <a:off x="1871663" y="801688"/>
            <a:ext cx="720725" cy="2411412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37" name="Oval 33"/>
          <p:cNvSpPr>
            <a:spLocks noChangeArrowheads="1"/>
          </p:cNvSpPr>
          <p:nvPr/>
        </p:nvSpPr>
        <p:spPr bwMode="auto">
          <a:xfrm>
            <a:off x="1727200" y="3033713"/>
            <a:ext cx="1296988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431800" y="1844675"/>
            <a:ext cx="1404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Tdg = 293K</a:t>
            </a:r>
          </a:p>
        </p:txBody>
      </p:sp>
      <p:sp>
        <p:nvSpPr>
          <p:cNvPr id="21539" name="Text Box 35"/>
          <p:cNvSpPr txBox="1">
            <a:spLocks noChangeArrowheads="1"/>
          </p:cNvSpPr>
          <p:nvPr/>
        </p:nvSpPr>
        <p:spPr bwMode="auto">
          <a:xfrm>
            <a:off x="2700338" y="1844675"/>
            <a:ext cx="1476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Tdd = 273K</a:t>
            </a:r>
          </a:p>
        </p:txBody>
      </p:sp>
      <p:sp>
        <p:nvSpPr>
          <p:cNvPr id="21540" name="Rectangle 36"/>
          <p:cNvSpPr>
            <a:spLocks noChangeArrowheads="1"/>
          </p:cNvSpPr>
          <p:nvPr/>
        </p:nvSpPr>
        <p:spPr bwMode="auto">
          <a:xfrm>
            <a:off x="6084888" y="908050"/>
            <a:ext cx="720725" cy="2411413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1" name="Oval 37"/>
          <p:cNvSpPr>
            <a:spLocks noChangeArrowheads="1"/>
          </p:cNvSpPr>
          <p:nvPr/>
        </p:nvSpPr>
        <p:spPr bwMode="auto">
          <a:xfrm>
            <a:off x="5976938" y="550863"/>
            <a:ext cx="1296987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2" name="Oval 38"/>
          <p:cNvSpPr>
            <a:spLocks noChangeArrowheads="1"/>
          </p:cNvSpPr>
          <p:nvPr/>
        </p:nvSpPr>
        <p:spPr bwMode="auto">
          <a:xfrm>
            <a:off x="6084888" y="3178175"/>
            <a:ext cx="1296987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4572000" y="1844675"/>
            <a:ext cx="1476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Tdg = 293K</a:t>
            </a: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6804025" y="1722438"/>
            <a:ext cx="22685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hd = 10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ad</a:t>
            </a:r>
            <a:r>
              <a:rPr lang="fr-FR">
                <a:latin typeface="Arial" charset="0"/>
                <a:ea typeface="ＭＳ Ｐゴシック" charset="0"/>
              </a:rPr>
              <a:t>=273K</a:t>
            </a:r>
          </a:p>
        </p:txBody>
      </p:sp>
      <p:sp>
        <p:nvSpPr>
          <p:cNvPr id="21546" name="AutoShape 42"/>
          <p:cNvSpPr>
            <a:spLocks noChangeArrowheads="1"/>
          </p:cNvSpPr>
          <p:nvPr/>
        </p:nvSpPr>
        <p:spPr bwMode="auto">
          <a:xfrm>
            <a:off x="6838950" y="1377950"/>
            <a:ext cx="684213" cy="360363"/>
          </a:xfrm>
          <a:custGeom>
            <a:avLst/>
            <a:gdLst>
              <a:gd name="T0" fmla="*/ 513160 w 21600"/>
              <a:gd name="T1" fmla="*/ 0 h 21600"/>
              <a:gd name="T2" fmla="*/ 0 w 21600"/>
              <a:gd name="T3" fmla="*/ 180182 h 21600"/>
              <a:gd name="T4" fmla="*/ 513160 w 21600"/>
              <a:gd name="T5" fmla="*/ 360363 h 21600"/>
              <a:gd name="T6" fmla="*/ 684213 w 21600"/>
              <a:gd name="T7" fmla="*/ 1801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47" name="Line 43"/>
          <p:cNvSpPr>
            <a:spLocks noChangeShapeType="1"/>
          </p:cNvSpPr>
          <p:nvPr/>
        </p:nvSpPr>
        <p:spPr bwMode="auto">
          <a:xfrm>
            <a:off x="2592388" y="800100"/>
            <a:ext cx="0" cy="230505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8" name="Line 44"/>
          <p:cNvSpPr>
            <a:spLocks noChangeShapeType="1"/>
          </p:cNvSpPr>
          <p:nvPr/>
        </p:nvSpPr>
        <p:spPr bwMode="auto">
          <a:xfrm>
            <a:off x="1871663" y="800100"/>
            <a:ext cx="0" cy="23764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9" name="Line 45"/>
          <p:cNvSpPr>
            <a:spLocks noChangeShapeType="1"/>
          </p:cNvSpPr>
          <p:nvPr/>
        </p:nvSpPr>
        <p:spPr bwMode="auto">
          <a:xfrm>
            <a:off x="6083300" y="946150"/>
            <a:ext cx="0" cy="2447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0" name="Line 46"/>
          <p:cNvSpPr>
            <a:spLocks noChangeShapeType="1"/>
          </p:cNvSpPr>
          <p:nvPr/>
        </p:nvSpPr>
        <p:spPr bwMode="auto">
          <a:xfrm>
            <a:off x="1871663" y="350043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1" name="Line 47"/>
          <p:cNvSpPr>
            <a:spLocks noChangeShapeType="1"/>
          </p:cNvSpPr>
          <p:nvPr/>
        </p:nvSpPr>
        <p:spPr bwMode="auto">
          <a:xfrm>
            <a:off x="1871663" y="306863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2" name="Line 48"/>
          <p:cNvSpPr>
            <a:spLocks noChangeShapeType="1"/>
          </p:cNvSpPr>
          <p:nvPr/>
        </p:nvSpPr>
        <p:spPr bwMode="auto">
          <a:xfrm>
            <a:off x="2592388" y="306863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3" name="Text Box 49"/>
          <p:cNvSpPr txBox="1">
            <a:spLocks noChangeArrowheads="1"/>
          </p:cNvSpPr>
          <p:nvPr/>
        </p:nvSpPr>
        <p:spPr bwMode="auto">
          <a:xfrm>
            <a:off x="1944688" y="3211513"/>
            <a:ext cx="6175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20cm</a:t>
            </a:r>
          </a:p>
        </p:txBody>
      </p:sp>
      <p:sp>
        <p:nvSpPr>
          <p:cNvPr id="21554" name="Oval 50"/>
          <p:cNvSpPr>
            <a:spLocks noChangeArrowheads="1"/>
          </p:cNvSpPr>
          <p:nvPr/>
        </p:nvSpPr>
        <p:spPr bwMode="auto">
          <a:xfrm>
            <a:off x="1584325" y="441325"/>
            <a:ext cx="1296988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694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Différences Finies Méthode Explicite : exemple de simulations</a:t>
            </a:r>
          </a:p>
        </p:txBody>
      </p:sp>
      <p:sp>
        <p:nvSpPr>
          <p:cNvPr id="21556" name="Line 52"/>
          <p:cNvSpPr>
            <a:spLocks noChangeShapeType="1"/>
          </p:cNvSpPr>
          <p:nvPr/>
        </p:nvSpPr>
        <p:spPr bwMode="auto">
          <a:xfrm flipV="1">
            <a:off x="4356100" y="692150"/>
            <a:ext cx="0" cy="5940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pic>
        <p:nvPicPr>
          <p:cNvPr id="34840" name="Picture 54" descr="TdgT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82988"/>
            <a:ext cx="421163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41" name="Picture 55" descr="Tdg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3608388"/>
            <a:ext cx="421163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27484E1-4943-4B57-B16B-02D73D130102}" type="slidenum">
              <a:rPr lang="fr-FR" altLang="fr-FR" sz="1200"/>
              <a:pPr eaLnBrk="1" hangingPunct="1"/>
              <a:t>20</a:t>
            </a:fld>
            <a:endParaRPr lang="fr-FR" altLang="fr-FR" sz="1200" b="0"/>
          </a:p>
        </p:txBody>
      </p:sp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58775" y="115888"/>
            <a:ext cx="7632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solidFill>
                  <a:schemeClr val="tx2"/>
                </a:solidFill>
                <a:latin typeface="Arial" charset="0"/>
                <a:ea typeface="ＭＳ Ｐゴシック" charset="0"/>
              </a:rPr>
              <a:t>Programmation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79388" y="944563"/>
            <a:ext cx="87185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Soit le dispositif ci-dessous, constitué d</a:t>
            </a:r>
            <a:r>
              <a:rPr lang="ja-JP" altLang="fr-FR" sz="1800"/>
              <a:t>’</a:t>
            </a:r>
            <a:r>
              <a:rPr lang="fr-FR" altLang="ja-JP" sz="1800"/>
              <a:t>une dalle de béton de 20cm d</a:t>
            </a:r>
            <a:r>
              <a:rPr lang="ja-JP" altLang="fr-FR" sz="1800"/>
              <a:t>’</a:t>
            </a:r>
            <a:r>
              <a:rPr lang="fr-FR" altLang="ja-JP" sz="1800"/>
              <a:t>épaisseur et d</a:t>
            </a:r>
            <a:r>
              <a:rPr lang="ja-JP" altLang="fr-FR" sz="1800"/>
              <a:t>’</a:t>
            </a:r>
            <a:r>
              <a:rPr lang="fr-FR" altLang="ja-JP" sz="1800"/>
              <a:t>un système de chauffage. Calculer la distribution de température dans l</a:t>
            </a:r>
            <a:r>
              <a:rPr lang="ja-JP" altLang="fr-FR" sz="1800"/>
              <a:t>’</a:t>
            </a:r>
            <a:r>
              <a:rPr lang="fr-FR" altLang="ja-JP" sz="1800"/>
              <a:t>épaisseur de la dalle, sachant que le système chauffant délivre une densité de puissance de 4000W.m</a:t>
            </a:r>
            <a:r>
              <a:rPr lang="fr-FR" altLang="ja-JP" sz="1800" baseline="30000"/>
              <a:t>-3</a:t>
            </a:r>
            <a:r>
              <a:rPr lang="fr-FR" altLang="ja-JP" sz="1800"/>
              <a:t>. Quelle est la température atteinte sur la surface d</a:t>
            </a:r>
            <a:r>
              <a:rPr lang="ja-JP" altLang="fr-FR" sz="1800"/>
              <a:t>’</a:t>
            </a:r>
            <a:r>
              <a:rPr lang="fr-FR" altLang="ja-JP" sz="1800"/>
              <a:t>échange convectif au bout de 2 heures, sachant que la température initiale de la dalle est de 2°C.</a:t>
            </a:r>
            <a:endParaRPr lang="fr-FR" altLang="fr-FR" sz="1800" baseline="30000"/>
          </a:p>
        </p:txBody>
      </p:sp>
      <p:grpSp>
        <p:nvGrpSpPr>
          <p:cNvPr id="35845" name="Group 27"/>
          <p:cNvGrpSpPr>
            <a:grpSpLocks/>
          </p:cNvGrpSpPr>
          <p:nvPr/>
        </p:nvGrpSpPr>
        <p:grpSpPr bwMode="auto">
          <a:xfrm rot="-5400000">
            <a:off x="3148807" y="2367756"/>
            <a:ext cx="1333500" cy="4103687"/>
            <a:chOff x="3129" y="1253"/>
            <a:chExt cx="840" cy="2040"/>
          </a:xfrm>
        </p:grpSpPr>
        <p:sp>
          <p:nvSpPr>
            <p:cNvPr id="49157" name="Rectangle 5"/>
            <p:cNvSpPr>
              <a:spLocks noChangeArrowheads="1"/>
            </p:cNvSpPr>
            <p:nvPr/>
          </p:nvSpPr>
          <p:spPr bwMode="auto">
            <a:xfrm>
              <a:off x="3337" y="1527"/>
              <a:ext cx="454" cy="151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9158" name="Oval 6"/>
            <p:cNvSpPr>
              <a:spLocks noChangeArrowheads="1"/>
            </p:cNvSpPr>
            <p:nvPr/>
          </p:nvSpPr>
          <p:spPr bwMode="auto">
            <a:xfrm>
              <a:off x="3161" y="1249"/>
              <a:ext cx="817" cy="31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9159" name="Oval 7"/>
            <p:cNvSpPr>
              <a:spLocks noChangeArrowheads="1"/>
            </p:cNvSpPr>
            <p:nvPr/>
          </p:nvSpPr>
          <p:spPr bwMode="auto">
            <a:xfrm>
              <a:off x="3134" y="2976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166" name="Oval 14"/>
          <p:cNvSpPr>
            <a:spLocks noChangeArrowheads="1"/>
          </p:cNvSpPr>
          <p:nvPr/>
        </p:nvSpPr>
        <p:spPr bwMode="auto">
          <a:xfrm>
            <a:off x="6013450" y="5805488"/>
            <a:ext cx="1296988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69" name="Text Box 17"/>
          <p:cNvSpPr txBox="1">
            <a:spLocks noChangeArrowheads="1"/>
          </p:cNvSpPr>
          <p:nvPr/>
        </p:nvSpPr>
        <p:spPr bwMode="auto">
          <a:xfrm>
            <a:off x="4248150" y="2997200"/>
            <a:ext cx="226853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Echange convectif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 h = 15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amb</a:t>
            </a:r>
            <a:r>
              <a:rPr lang="fr-FR">
                <a:latin typeface="Arial" charset="0"/>
                <a:ea typeface="ＭＳ Ｐゴシック" charset="0"/>
              </a:rPr>
              <a:t>=294K</a:t>
            </a:r>
          </a:p>
        </p:txBody>
      </p:sp>
      <p:sp>
        <p:nvSpPr>
          <p:cNvPr id="49171" name="AutoShape 19"/>
          <p:cNvSpPr>
            <a:spLocks noChangeArrowheads="1"/>
          </p:cNvSpPr>
          <p:nvPr/>
        </p:nvSpPr>
        <p:spPr bwMode="auto">
          <a:xfrm rot="-5400000">
            <a:off x="3438525" y="3482975"/>
            <a:ext cx="684213" cy="360363"/>
          </a:xfrm>
          <a:custGeom>
            <a:avLst/>
            <a:gdLst>
              <a:gd name="T0" fmla="*/ 513160 w 21600"/>
              <a:gd name="T1" fmla="*/ 0 h 21600"/>
              <a:gd name="T2" fmla="*/ 0 w 21600"/>
              <a:gd name="T3" fmla="*/ 180182 h 21600"/>
              <a:gd name="T4" fmla="*/ 513160 w 21600"/>
              <a:gd name="T5" fmla="*/ 360363 h 21600"/>
              <a:gd name="T6" fmla="*/ 684213 w 21600"/>
              <a:gd name="T7" fmla="*/ 1801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6300788" y="4184650"/>
            <a:ext cx="6175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20cm</a:t>
            </a:r>
          </a:p>
        </p:txBody>
      </p:sp>
      <p:sp>
        <p:nvSpPr>
          <p:cNvPr id="49180" name="Rectangle 28"/>
          <p:cNvSpPr>
            <a:spLocks noChangeArrowheads="1"/>
          </p:cNvSpPr>
          <p:nvPr/>
        </p:nvSpPr>
        <p:spPr bwMode="auto">
          <a:xfrm>
            <a:off x="2411413" y="4184650"/>
            <a:ext cx="2844800" cy="180975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2" name="Line 30"/>
          <p:cNvSpPr>
            <a:spLocks noChangeShapeType="1"/>
          </p:cNvSpPr>
          <p:nvPr/>
        </p:nvSpPr>
        <p:spPr bwMode="auto">
          <a:xfrm>
            <a:off x="5256213" y="476091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5219700" y="4365625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5219700" y="418465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5" name="Line 33"/>
          <p:cNvSpPr>
            <a:spLocks noChangeShapeType="1"/>
          </p:cNvSpPr>
          <p:nvPr/>
        </p:nvSpPr>
        <p:spPr bwMode="auto">
          <a:xfrm>
            <a:off x="5256213" y="4041775"/>
            <a:ext cx="1187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6" name="Line 34"/>
          <p:cNvSpPr>
            <a:spLocks noChangeShapeType="1"/>
          </p:cNvSpPr>
          <p:nvPr/>
        </p:nvSpPr>
        <p:spPr bwMode="auto">
          <a:xfrm>
            <a:off x="6335713" y="4041775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867400" y="418465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8" name="Line 36"/>
          <p:cNvSpPr>
            <a:spLocks noChangeShapeType="1"/>
          </p:cNvSpPr>
          <p:nvPr/>
        </p:nvSpPr>
        <p:spPr bwMode="auto">
          <a:xfrm>
            <a:off x="5364163" y="4365625"/>
            <a:ext cx="0" cy="395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5791200" y="4329113"/>
            <a:ext cx="6175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15cm</a:t>
            </a: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5286375" y="4384675"/>
            <a:ext cx="6175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10cm</a:t>
            </a:r>
          </a:p>
        </p:txBody>
      </p:sp>
      <p:sp>
        <p:nvSpPr>
          <p:cNvPr id="49191" name="Rectangle 39"/>
          <p:cNvSpPr>
            <a:spLocks noChangeArrowheads="1"/>
          </p:cNvSpPr>
          <p:nvPr/>
        </p:nvSpPr>
        <p:spPr bwMode="auto">
          <a:xfrm>
            <a:off x="2376488" y="4760913"/>
            <a:ext cx="2879725" cy="11525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2339975" y="5084763"/>
            <a:ext cx="30591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solidFill>
                  <a:schemeClr val="bg1"/>
                </a:solidFill>
              </a:rPr>
              <a:t>Température du sol = 275K</a:t>
            </a:r>
          </a:p>
        </p:txBody>
      </p:sp>
      <p:sp>
        <p:nvSpPr>
          <p:cNvPr id="49197" name="Text Box 45"/>
          <p:cNvSpPr txBox="1">
            <a:spLocks noChangeArrowheads="1"/>
          </p:cNvSpPr>
          <p:nvPr/>
        </p:nvSpPr>
        <p:spPr bwMode="auto">
          <a:xfrm>
            <a:off x="179388" y="3824288"/>
            <a:ext cx="20859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-25000">
                <a:latin typeface="Arial" charset="0"/>
                <a:ea typeface="ＭＳ Ｐゴシック" charset="0"/>
              </a:rPr>
              <a:t>mur</a:t>
            </a:r>
            <a:r>
              <a:rPr lang="fr-FR">
                <a:latin typeface="Arial" charset="0"/>
                <a:ea typeface="ＭＳ Ｐゴシック" charset="0"/>
              </a:rPr>
              <a:t>=1.65 Wm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Symbol" charset="0"/>
                <a:ea typeface="ＭＳ Ｐゴシック" charset="0"/>
              </a:rPr>
              <a:t>r</a:t>
            </a:r>
            <a:r>
              <a:rPr lang="fr-FR">
                <a:latin typeface="Arial" charset="0"/>
                <a:ea typeface="ＭＳ Ｐゴシック" charset="0"/>
              </a:rPr>
              <a:t>=2150 kg.m</a:t>
            </a:r>
            <a:r>
              <a:rPr lang="fr-FR" baseline="30000">
                <a:latin typeface="Arial" charset="0"/>
                <a:ea typeface="ＭＳ Ｐゴシック" charset="0"/>
              </a:rPr>
              <a:t>-3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C</a:t>
            </a:r>
            <a:r>
              <a:rPr lang="fr-FR" baseline="-25000">
                <a:latin typeface="Arial" charset="0"/>
                <a:ea typeface="ＭＳ Ｐゴシック" charset="0"/>
              </a:rPr>
              <a:t>p</a:t>
            </a:r>
            <a:r>
              <a:rPr lang="fr-FR">
                <a:latin typeface="Arial" charset="0"/>
                <a:ea typeface="ＭＳ Ｐゴシック" charset="0"/>
              </a:rPr>
              <a:t>=1000 J.kg</a:t>
            </a:r>
            <a:r>
              <a:rPr lang="fr-FR" baseline="30000">
                <a:latin typeface="Arial" charset="0"/>
                <a:ea typeface="ＭＳ Ｐゴシック" charset="0"/>
              </a:rPr>
              <a:t> -1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AE81D40-B0A0-4C72-A977-95DAC50A1766}" type="slidenum">
              <a:rPr lang="fr-FR" altLang="fr-FR" sz="1200"/>
              <a:pPr eaLnBrk="1" hangingPunct="1"/>
              <a:t>21</a:t>
            </a:fld>
            <a:endParaRPr lang="fr-FR" altLang="fr-FR" sz="1200" b="0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31775" y="280988"/>
            <a:ext cx="421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Introduction d</a:t>
            </a:r>
            <a:r>
              <a:rPr lang="ja-JP" altLang="fr-FR" sz="1800" b="1"/>
              <a:t>’</a:t>
            </a:r>
            <a:r>
              <a:rPr lang="fr-FR" altLang="ja-JP" sz="1800" b="1"/>
              <a:t>une source de chaleur</a:t>
            </a:r>
            <a:endParaRPr lang="fr-FR" altLang="fr-FR" sz="1800"/>
          </a:p>
        </p:txBody>
      </p:sp>
      <p:grpSp>
        <p:nvGrpSpPr>
          <p:cNvPr id="36867" name="Group 22"/>
          <p:cNvGrpSpPr>
            <a:grpSpLocks/>
          </p:cNvGrpSpPr>
          <p:nvPr/>
        </p:nvGrpSpPr>
        <p:grpSpPr bwMode="auto">
          <a:xfrm rot="5400000">
            <a:off x="-504825" y="1663700"/>
            <a:ext cx="4103688" cy="2592388"/>
            <a:chOff x="0" y="2410"/>
            <a:chExt cx="2585" cy="1633"/>
          </a:xfrm>
        </p:grpSpPr>
        <p:grpSp>
          <p:nvGrpSpPr>
            <p:cNvPr id="36873" name="Group 18"/>
            <p:cNvGrpSpPr>
              <a:grpSpLocks/>
            </p:cNvGrpSpPr>
            <p:nvPr/>
          </p:nvGrpSpPr>
          <p:grpSpPr bwMode="auto">
            <a:xfrm rot="-5400000">
              <a:off x="873" y="1809"/>
              <a:ext cx="840" cy="2585"/>
              <a:chOff x="3129" y="1253"/>
              <a:chExt cx="840" cy="2040"/>
            </a:xfrm>
          </p:grpSpPr>
          <p:sp>
            <p:nvSpPr>
              <p:cNvPr id="24595" name="Rectangle 19"/>
              <p:cNvSpPr>
                <a:spLocks noChangeArrowheads="1"/>
              </p:cNvSpPr>
              <p:nvPr/>
            </p:nvSpPr>
            <p:spPr bwMode="auto">
              <a:xfrm>
                <a:off x="3334" y="1523"/>
                <a:ext cx="454" cy="1518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596" name="Oval 20"/>
              <p:cNvSpPr>
                <a:spLocks noChangeArrowheads="1"/>
              </p:cNvSpPr>
              <p:nvPr/>
            </p:nvSpPr>
            <p:spPr bwMode="auto">
              <a:xfrm>
                <a:off x="3153" y="1248"/>
                <a:ext cx="817" cy="31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597" name="Oval 21"/>
              <p:cNvSpPr>
                <a:spLocks noChangeArrowheads="1"/>
              </p:cNvSpPr>
              <p:nvPr/>
            </p:nvSpPr>
            <p:spPr bwMode="auto">
              <a:xfrm>
                <a:off x="3130" y="2971"/>
                <a:ext cx="817" cy="31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4587" name="AutoShape 11"/>
            <p:cNvSpPr>
              <a:spLocks noChangeArrowheads="1"/>
            </p:cNvSpPr>
            <p:nvPr/>
          </p:nvSpPr>
          <p:spPr bwMode="auto">
            <a:xfrm rot="-5400000">
              <a:off x="1051" y="2516"/>
              <a:ext cx="431" cy="227"/>
            </a:xfrm>
            <a:custGeom>
              <a:avLst/>
              <a:gdLst>
                <a:gd name="T0" fmla="*/ 323 w 21600"/>
                <a:gd name="T1" fmla="*/ 0 h 21600"/>
                <a:gd name="T2" fmla="*/ 0 w 21600"/>
                <a:gd name="T3" fmla="*/ 114 h 21600"/>
                <a:gd name="T4" fmla="*/ 323 w 21600"/>
                <a:gd name="T5" fmla="*/ 227 h 21600"/>
                <a:gd name="T6" fmla="*/ 431 w 21600"/>
                <a:gd name="T7" fmla="*/ 11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58 w 21600"/>
                <a:gd name="T13" fmla="*/ 5424 h 21600"/>
                <a:gd name="T14" fmla="*/ 18894 w 21600"/>
                <a:gd name="T15" fmla="*/ 1617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404" y="2953"/>
              <a:ext cx="1792" cy="114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382" y="3316"/>
              <a:ext cx="1814" cy="726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2458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4833938"/>
            <a:ext cx="2522537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142875" y="2312988"/>
            <a:ext cx="151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Arial" charset="0"/>
                <a:ea typeface="ＭＳ Ｐゴシック" charset="0"/>
              </a:rPr>
              <a:t>Tdg = 275K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2124075" y="1808163"/>
            <a:ext cx="2268538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Echange convectif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h</a:t>
            </a:r>
            <a:r>
              <a:rPr lang="fr-FR" baseline="-25000">
                <a:latin typeface="Arial" charset="0"/>
                <a:ea typeface="ＭＳ Ｐゴシック" charset="0"/>
              </a:rPr>
              <a:t>d</a:t>
            </a:r>
            <a:r>
              <a:rPr lang="fr-FR">
                <a:latin typeface="Arial" charset="0"/>
                <a:ea typeface="ＭＳ Ｐゴシック" charset="0"/>
              </a:rPr>
              <a:t> = 15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ag</a:t>
            </a:r>
            <a:r>
              <a:rPr lang="fr-FR">
                <a:latin typeface="Arial" charset="0"/>
                <a:ea typeface="ＭＳ Ｐゴシック" charset="0"/>
              </a:rPr>
              <a:t>=294K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50825" y="836613"/>
            <a:ext cx="495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Source située dans la dalle de x=0.1m à 0.15m</a:t>
            </a:r>
          </a:p>
        </p:txBody>
      </p:sp>
      <p:pic>
        <p:nvPicPr>
          <p:cNvPr id="36872" name="Picture 26" descr="TdgNd_chauff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492375"/>
            <a:ext cx="5256213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14462D2-DA63-4F6C-B61D-8A3DCF1890E0}" type="slidenum">
              <a:rPr lang="fr-FR" altLang="fr-FR" sz="1200"/>
              <a:pPr eaLnBrk="1" hangingPunct="1"/>
              <a:t>22</a:t>
            </a:fld>
            <a:endParaRPr lang="fr-FR" altLang="fr-FR" sz="1200" b="0"/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395288" y="188913"/>
            <a:ext cx="330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Stabilité du schéma explicite</a:t>
            </a: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411163" y="952500"/>
            <a:ext cx="713105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Sur l</a:t>
            </a:r>
            <a:r>
              <a:rPr lang="ja-JP" altLang="fr-FR" sz="1800"/>
              <a:t>’</a:t>
            </a:r>
            <a:r>
              <a:rPr lang="fr-FR" altLang="ja-JP" sz="1800"/>
              <a:t>exemple précédent nous avions par défaut </a:t>
            </a:r>
            <a:r>
              <a:rPr lang="fr-FR" altLang="ja-JP" sz="1800">
                <a:latin typeface="Symbol" panose="05050102010706020507" pitchFamily="18" charset="2"/>
              </a:rPr>
              <a:t>D</a:t>
            </a:r>
            <a:r>
              <a:rPr lang="fr-FR" altLang="ja-JP" sz="1800"/>
              <a:t>x=5mm et </a:t>
            </a:r>
            <a:r>
              <a:rPr lang="fr-FR" altLang="ja-JP" sz="1800">
                <a:latin typeface="Symbol" panose="05050102010706020507" pitchFamily="18" charset="2"/>
              </a:rPr>
              <a:t>D</a:t>
            </a:r>
            <a:r>
              <a:rPr lang="fr-FR" altLang="ja-JP" sz="1800"/>
              <a:t>t=10s :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altLang="fr-FR" sz="1800"/>
              <a:t>	On garde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x=5mm et on impose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t=20s, que se passe t-il ?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altLang="fr-FR" sz="1800"/>
              <a:t>	On garde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t=10s et on impose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x=3mm, que se passe t-il ?</a:t>
            </a:r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2268538" y="6015038"/>
            <a:ext cx="4857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Instabilité numérique du schéma explicite !</a:t>
            </a:r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647700" y="2168525"/>
            <a:ext cx="3368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x=5mm</a:t>
            </a:r>
            <a:r>
              <a:rPr lang="fr-FR" altLang="fr-FR" sz="1800">
                <a:sym typeface="Wingdings 3" panose="05040102010807070707" pitchFamily="18" charset="2"/>
              </a:rPr>
              <a:t> &amp;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t=20s</a:t>
            </a:r>
            <a:r>
              <a:rPr lang="fr-FR" altLang="fr-FR" sz="1800">
                <a:sym typeface="Wingdings 3" panose="05040102010807070707" pitchFamily="18" charset="2"/>
              </a:rPr>
              <a:t> </a:t>
            </a:r>
            <a:r>
              <a:rPr lang="fr-FR" altLang="fr-FR" sz="1800">
                <a:sym typeface="Symbol" panose="05050102010706020507" pitchFamily="18" charset="2"/>
              </a:rPr>
              <a:t> </a:t>
            </a:r>
            <a:r>
              <a:rPr lang="fr-FR" altLang="fr-FR" sz="1800">
                <a:sym typeface="Wingdings" panose="05000000000000000000" pitchFamily="2" charset="2"/>
              </a:rPr>
              <a:t>instabilité</a:t>
            </a:r>
          </a:p>
        </p:txBody>
      </p:sp>
      <p:sp>
        <p:nvSpPr>
          <p:cNvPr id="50191" name="Text Box 15"/>
          <p:cNvSpPr txBox="1">
            <a:spLocks noChangeArrowheads="1"/>
          </p:cNvSpPr>
          <p:nvPr/>
        </p:nvSpPr>
        <p:spPr bwMode="auto">
          <a:xfrm>
            <a:off x="4967288" y="2165350"/>
            <a:ext cx="3367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x=3mm</a:t>
            </a:r>
            <a:r>
              <a:rPr lang="fr-FR" altLang="fr-FR" sz="1800">
                <a:sym typeface="Wingdings 3" panose="05040102010807070707" pitchFamily="18" charset="2"/>
              </a:rPr>
              <a:t> &amp;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t=10s</a:t>
            </a:r>
            <a:r>
              <a:rPr lang="fr-FR" altLang="fr-FR" sz="1800">
                <a:sym typeface="Wingdings 3" panose="05040102010807070707" pitchFamily="18" charset="2"/>
              </a:rPr>
              <a:t> </a:t>
            </a:r>
            <a:r>
              <a:rPr lang="fr-FR" altLang="fr-FR" sz="1800">
                <a:sym typeface="Symbol" panose="05050102010706020507" pitchFamily="18" charset="2"/>
              </a:rPr>
              <a:t></a:t>
            </a:r>
            <a:r>
              <a:rPr lang="fr-FR" altLang="fr-FR" sz="1800">
                <a:sym typeface="Wingdings" panose="05000000000000000000" pitchFamily="2" charset="2"/>
              </a:rPr>
              <a:t> instabilité</a:t>
            </a:r>
          </a:p>
        </p:txBody>
      </p:sp>
      <p:pic>
        <p:nvPicPr>
          <p:cNvPr id="37896" name="Picture 17" descr="TdgNd_chauffage_instable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2636838"/>
            <a:ext cx="446405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18" descr="TdgNd_chauffage_instable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636838"/>
            <a:ext cx="446405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8D621A6-7322-4299-A8FA-3D827E0F1A7D}" type="slidenum">
              <a:rPr lang="fr-FR" altLang="fr-FR" sz="1200"/>
              <a:pPr eaLnBrk="1" hangingPunct="1"/>
              <a:t>23</a:t>
            </a:fld>
            <a:endParaRPr lang="fr-FR" altLang="fr-FR" sz="1200" b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96850" y="188913"/>
            <a:ext cx="3448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A50021"/>
                </a:solidFill>
              </a:rPr>
              <a:t>Stabilité du schéma explicite :</a:t>
            </a:r>
          </a:p>
        </p:txBody>
      </p:sp>
      <p:graphicFrame>
        <p:nvGraphicFramePr>
          <p:cNvPr id="38915" name="Object 5"/>
          <p:cNvGraphicFramePr>
            <a:graphicFrameLocks noChangeAspect="1"/>
          </p:cNvGraphicFramePr>
          <p:nvPr/>
        </p:nvGraphicFramePr>
        <p:xfrm>
          <a:off x="3600450" y="44450"/>
          <a:ext cx="50990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5" name="Equation" r:id="rId3" imgW="3149600" imgH="444500" progId="Equation.3">
                  <p:embed/>
                </p:oleObj>
              </mc:Choice>
              <mc:Fallback>
                <p:oleObj name="Equation" r:id="rId3" imgW="31496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44450"/>
                        <a:ext cx="50990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79388" y="1089025"/>
            <a:ext cx="6496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Propagation d</a:t>
            </a:r>
            <a:r>
              <a:rPr lang="ja-JP" altLang="fr-FR" sz="1800"/>
              <a:t>’</a:t>
            </a:r>
            <a:r>
              <a:rPr lang="fr-FR" altLang="ja-JP" sz="1800"/>
              <a:t>une erreur numérique dans l</a:t>
            </a:r>
            <a:r>
              <a:rPr lang="ja-JP" altLang="fr-FR" sz="1800"/>
              <a:t>’</a:t>
            </a:r>
            <a:r>
              <a:rPr lang="fr-FR" altLang="ja-JP" sz="1800"/>
              <a:t>espace et le temps</a:t>
            </a:r>
            <a:endParaRPr lang="fr-FR" altLang="fr-FR" sz="1800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38918" name="Object 7"/>
          <p:cNvGraphicFramePr>
            <a:graphicFrameLocks noChangeAspect="1"/>
          </p:cNvGraphicFramePr>
          <p:nvPr/>
        </p:nvGraphicFramePr>
        <p:xfrm>
          <a:off x="6607175" y="2709863"/>
          <a:ext cx="23383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6" name="Equation" r:id="rId5" imgW="1574800" imgH="342900" progId="Equation.3">
                  <p:embed/>
                </p:oleObj>
              </mc:Choice>
              <mc:Fallback>
                <p:oleObj name="Equation" r:id="rId5" imgW="1574800" imgH="342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2709863"/>
                        <a:ext cx="233838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3624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38920" name="Object 10"/>
          <p:cNvGraphicFramePr>
            <a:graphicFrameLocks noChangeAspect="1"/>
          </p:cNvGraphicFramePr>
          <p:nvPr/>
        </p:nvGraphicFramePr>
        <p:xfrm>
          <a:off x="6769100" y="1074738"/>
          <a:ext cx="154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7" name="Equation" r:id="rId7" imgW="952087" imgH="253890" progId="Equation.3">
                  <p:embed/>
                </p:oleObj>
              </mc:Choice>
              <mc:Fallback>
                <p:oleObj name="Equation" r:id="rId7" imgW="952087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1074738"/>
                        <a:ext cx="154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11"/>
          <p:cNvGraphicFramePr>
            <a:graphicFrameLocks noChangeAspect="1"/>
          </p:cNvGraphicFramePr>
          <p:nvPr/>
        </p:nvGraphicFramePr>
        <p:xfrm>
          <a:off x="3960813" y="1703388"/>
          <a:ext cx="4708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8" name="Equation" r:id="rId9" imgW="2908300" imgH="444500" progId="Equation.3">
                  <p:embed/>
                </p:oleObj>
              </mc:Choice>
              <mc:Fallback>
                <p:oleObj name="Equation" r:id="rId9" imgW="29083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1703388"/>
                        <a:ext cx="47085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268288" y="1719263"/>
            <a:ext cx="360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Variation de l</a:t>
            </a:r>
            <a:r>
              <a:rPr lang="ja-JP" altLang="fr-FR" sz="1800"/>
              <a:t>’</a:t>
            </a:r>
            <a:r>
              <a:rPr lang="fr-FR" altLang="ja-JP" sz="1800"/>
              <a:t>équation discrétisée</a:t>
            </a:r>
          </a:p>
          <a:p>
            <a:pPr eaLnBrk="1" hangingPunct="1"/>
            <a:r>
              <a:rPr lang="fr-FR" altLang="fr-FR" sz="1800"/>
              <a:t>avec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Q=0 car imposée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268288" y="2705100"/>
            <a:ext cx="6343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analyse de Von Neuman se place dans l</a:t>
            </a:r>
            <a:r>
              <a:rPr lang="ja-JP" altLang="fr-FR" sz="1800"/>
              <a:t>’</a:t>
            </a:r>
            <a:r>
              <a:rPr lang="fr-FR" altLang="ja-JP" sz="1800"/>
              <a:t>espace de Fourier</a:t>
            </a:r>
            <a:endParaRPr lang="fr-FR" altLang="fr-FR" sz="1800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38925" name="Object 14"/>
          <p:cNvGraphicFramePr>
            <a:graphicFrameLocks noChangeAspect="1"/>
          </p:cNvGraphicFramePr>
          <p:nvPr/>
        </p:nvGraphicFramePr>
        <p:xfrm>
          <a:off x="539750" y="3429000"/>
          <a:ext cx="46085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9" name="Equation" r:id="rId11" imgW="2908300" imgH="736600" progId="Equation.3">
                  <p:embed/>
                </p:oleObj>
              </mc:Choice>
              <mc:Fallback>
                <p:oleObj name="Equation" r:id="rId11" imgW="2908300" imgH="736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429000"/>
                        <a:ext cx="4608513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0" y="3671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38927" name="Group 19"/>
          <p:cNvGrpSpPr>
            <a:grpSpLocks/>
          </p:cNvGrpSpPr>
          <p:nvPr/>
        </p:nvGrpSpPr>
        <p:grpSpPr bwMode="auto">
          <a:xfrm>
            <a:off x="468313" y="4941888"/>
            <a:ext cx="4210050" cy="374650"/>
            <a:chOff x="249" y="2382"/>
            <a:chExt cx="2652" cy="236"/>
          </a:xfrm>
        </p:grpSpPr>
        <p:sp>
          <p:nvSpPr>
            <p:cNvPr id="19473" name="Text Box 17"/>
            <p:cNvSpPr txBox="1">
              <a:spLocks noChangeArrowheads="1"/>
            </p:cNvSpPr>
            <p:nvPr/>
          </p:nvSpPr>
          <p:spPr bwMode="auto">
            <a:xfrm>
              <a:off x="249" y="2387"/>
              <a:ext cx="17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Le schéma reste stable si</a:t>
              </a:r>
            </a:p>
          </p:txBody>
        </p:sp>
        <p:graphicFrame>
          <p:nvGraphicFramePr>
            <p:cNvPr id="38934" name="Object 18"/>
            <p:cNvGraphicFramePr>
              <a:graphicFrameLocks noChangeAspect="1"/>
            </p:cNvGraphicFramePr>
            <p:nvPr/>
          </p:nvGraphicFramePr>
          <p:xfrm>
            <a:off x="2040" y="2382"/>
            <a:ext cx="86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0" name="Equation" r:id="rId13" imgW="926698" imgH="253890" progId="Equation.3">
                    <p:embed/>
                  </p:oleObj>
                </mc:Choice>
                <mc:Fallback>
                  <p:oleObj name="Equation" r:id="rId13" imgW="926698" imgH="2538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2382"/>
                          <a:ext cx="861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476" name="Picture 20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6" t="5397" r="17648" b="15396"/>
          <a:stretch>
            <a:fillRect/>
          </a:stretch>
        </p:blipFill>
        <p:spPr bwMode="auto">
          <a:xfrm>
            <a:off x="5364163" y="3573463"/>
            <a:ext cx="2533650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aphicFrame>
        <p:nvGraphicFramePr>
          <p:cNvPr id="38929" name="Object 21"/>
          <p:cNvGraphicFramePr>
            <a:graphicFrameLocks noChangeAspect="1"/>
          </p:cNvGraphicFramePr>
          <p:nvPr/>
        </p:nvGraphicFramePr>
        <p:xfrm>
          <a:off x="2268538" y="5589588"/>
          <a:ext cx="11668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1" name="Equation" r:id="rId16" imgW="736600" imgH="457200" progId="Equation.DSMT4">
                  <p:embed/>
                </p:oleObj>
              </mc:Choice>
              <mc:Fallback>
                <p:oleObj name="Equation" r:id="rId16" imgW="736600" imgH="457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589588"/>
                        <a:ext cx="1166812" cy="7302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22"/>
          <p:cNvGraphicFramePr>
            <a:graphicFrameLocks noChangeAspect="1"/>
          </p:cNvGraphicFramePr>
          <p:nvPr/>
        </p:nvGraphicFramePr>
        <p:xfrm>
          <a:off x="7667625" y="3716338"/>
          <a:ext cx="12874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2" name="Equation" r:id="rId18" imgW="812447" imgH="444307" progId="Equation.3">
                  <p:embed/>
                </p:oleObj>
              </mc:Choice>
              <mc:Fallback>
                <p:oleObj name="Equation" r:id="rId18" imgW="812447" imgH="44430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3716338"/>
                        <a:ext cx="1287463" cy="7080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0" name="Line 24"/>
          <p:cNvSpPr>
            <a:spLocks noChangeShapeType="1"/>
          </p:cNvSpPr>
          <p:nvPr/>
        </p:nvSpPr>
        <p:spPr bwMode="auto">
          <a:xfrm flipV="1">
            <a:off x="7524750" y="4437063"/>
            <a:ext cx="142875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7812088" y="4652963"/>
            <a:ext cx="1174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Limite de </a:t>
            </a:r>
          </a:p>
          <a:p>
            <a:pPr eaLnBrk="1" hangingPunct="1"/>
            <a:r>
              <a:rPr lang="fr-FR" altLang="fr-FR" sz="1800"/>
              <a:t>stabilité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3003</TotalTime>
  <Words>1662</Words>
  <Application>Microsoft Office PowerPoint</Application>
  <PresentationFormat>Affichage à l'écran (4:3)</PresentationFormat>
  <Paragraphs>376</Paragraphs>
  <Slides>23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35" baseType="lpstr">
      <vt:lpstr>ＭＳ Ｐゴシック</vt:lpstr>
      <vt:lpstr>ＭＳ Ｐゴシック</vt:lpstr>
      <vt:lpstr>Arial</vt:lpstr>
      <vt:lpstr>Comic Sans MS</vt:lpstr>
      <vt:lpstr>Courier New</vt:lpstr>
      <vt:lpstr>Euclid Symbol</vt:lpstr>
      <vt:lpstr>Symbol</vt:lpstr>
      <vt:lpstr>Wingdings</vt:lpstr>
      <vt:lpstr>Wingdings 3</vt:lpstr>
      <vt:lpstr>Modèle par défaut</vt:lpstr>
      <vt:lpstr>Equation</vt:lpstr>
      <vt:lpstr>MathType 6.0 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toussain</dc:creator>
  <cp:lastModifiedBy>toussaij</cp:lastModifiedBy>
  <cp:revision>337</cp:revision>
  <dcterms:created xsi:type="dcterms:W3CDTF">2004-10-09T08:23:16Z</dcterms:created>
  <dcterms:modified xsi:type="dcterms:W3CDTF">2023-10-17T06:43:53Z</dcterms:modified>
</cp:coreProperties>
</file>