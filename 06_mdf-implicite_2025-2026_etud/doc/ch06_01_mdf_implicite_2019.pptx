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0" r:id="rId2"/>
    <p:sldId id="281" r:id="rId3"/>
    <p:sldId id="315" r:id="rId4"/>
    <p:sldId id="316" r:id="rId5"/>
    <p:sldId id="317" r:id="rId6"/>
    <p:sldId id="312" r:id="rId7"/>
    <p:sldId id="272" r:id="rId8"/>
    <p:sldId id="314" r:id="rId9"/>
    <p:sldId id="284" r:id="rId10"/>
    <p:sldId id="300" r:id="rId11"/>
    <p:sldId id="301" r:id="rId12"/>
    <p:sldId id="302" r:id="rId13"/>
    <p:sldId id="303" r:id="rId14"/>
    <p:sldId id="288" r:id="rId15"/>
    <p:sldId id="273" r:id="rId16"/>
    <p:sldId id="289" r:id="rId17"/>
  </p:sldIdLst>
  <p:sldSz cx="9144000" cy="6858000" type="screen4x3"/>
  <p:notesSz cx="10234613" cy="70993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  <a:srgbClr val="00CC00"/>
    <a:srgbClr val="66FF33"/>
    <a:srgbClr val="FF00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553" tIns="45776" rIns="91553" bIns="45776" numCol="1" anchor="t" anchorCtr="0" compatLnSpc="1">
            <a:prstTxWarp prst="textNoShape">
              <a:avLst/>
            </a:prstTxWarp>
          </a:bodyPr>
          <a:lstStyle>
            <a:lvl1pPr defTabSz="915988">
              <a:defRPr sz="13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5963" y="0"/>
            <a:ext cx="4437062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553" tIns="45776" rIns="91553" bIns="45776" numCol="1" anchor="t" anchorCtr="0" compatLnSpc="1">
            <a:prstTxWarp prst="textNoShape">
              <a:avLst/>
            </a:prstTxWarp>
          </a:bodyPr>
          <a:lstStyle>
            <a:lvl1pPr algn="r" defTabSz="915988">
              <a:defRPr sz="13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553" tIns="45776" rIns="91553" bIns="45776" numCol="1" anchor="b" anchorCtr="0" compatLnSpc="1">
            <a:prstTxWarp prst="textNoShape">
              <a:avLst/>
            </a:prstTxWarp>
          </a:bodyPr>
          <a:lstStyle>
            <a:lvl1pPr defTabSz="915988">
              <a:defRPr sz="1300"/>
            </a:lvl1pPr>
          </a:lstStyle>
          <a:p>
            <a:r>
              <a:rPr lang="fr-FR" altLang="fr-FR"/>
              <a:t>Méthode des diffences finies - Schéma implicite</a:t>
            </a: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5963" y="6743700"/>
            <a:ext cx="4437062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553" tIns="45776" rIns="91553" bIns="45776" numCol="1" anchor="b" anchorCtr="0" compatLnSpc="1">
            <a:prstTxWarp prst="textNoShape">
              <a:avLst/>
            </a:prstTxWarp>
          </a:bodyPr>
          <a:lstStyle>
            <a:lvl1pPr algn="r" defTabSz="915988">
              <a:defRPr sz="1300"/>
            </a:lvl1pPr>
          </a:lstStyle>
          <a:p>
            <a:fld id="{B2A6A98D-EA5E-4907-943D-7B6DB53F9E3A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5495" tIns="47748" rIns="95495" bIns="47748" numCol="1" anchor="t" anchorCtr="0" compatLnSpc="1">
            <a:prstTxWarp prst="textNoShape">
              <a:avLst/>
            </a:prstTxWarp>
          </a:bodyPr>
          <a:lstStyle>
            <a:lvl1pPr defTabSz="955675">
              <a:defRPr sz="13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5963" y="0"/>
            <a:ext cx="4437062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5495" tIns="47748" rIns="95495" bIns="47748" numCol="1" anchor="t" anchorCtr="0" compatLnSpc="1">
            <a:prstTxWarp prst="textNoShape">
              <a:avLst/>
            </a:prstTxWarp>
          </a:bodyPr>
          <a:lstStyle>
            <a:lvl1pPr algn="r" defTabSz="955675">
              <a:defRPr sz="13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3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3275" y="533400"/>
            <a:ext cx="3548063" cy="26606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938" y="3371850"/>
            <a:ext cx="8186737" cy="319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5495" tIns="47748" rIns="95495" bIns="4774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5495" tIns="47748" rIns="95495" bIns="47748" numCol="1" anchor="b" anchorCtr="0" compatLnSpc="1">
            <a:prstTxWarp prst="textNoShape">
              <a:avLst/>
            </a:prstTxWarp>
          </a:bodyPr>
          <a:lstStyle>
            <a:lvl1pPr defTabSz="955675">
              <a:defRPr sz="1300"/>
            </a:lvl1pPr>
          </a:lstStyle>
          <a:p>
            <a:r>
              <a:rPr lang="fr-FR" altLang="fr-FR"/>
              <a:t>Méthode des diffences finies - Schéma implicite</a:t>
            </a:r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5963" y="6743700"/>
            <a:ext cx="4437062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5495" tIns="47748" rIns="95495" bIns="47748" numCol="1" anchor="b" anchorCtr="0" compatLnSpc="1">
            <a:prstTxWarp prst="textNoShape">
              <a:avLst/>
            </a:prstTxWarp>
          </a:bodyPr>
          <a:lstStyle>
            <a:lvl1pPr algn="r" defTabSz="955675">
              <a:defRPr sz="1300"/>
            </a:lvl1pPr>
          </a:lstStyle>
          <a:p>
            <a:fld id="{0D7FFDF9-CC75-4B00-9C7C-12277D6938F1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5567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5567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5567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5567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5567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300"/>
              <a:t>Méthode des diffences finies - Schéma implicite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5567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5567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5567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5567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5567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7D244BA3-6D8B-4D39-9274-309DCD4D5DE7}" type="slidenum">
              <a:rPr lang="fr-FR" altLang="fr-FR" sz="1300"/>
              <a:pPr eaLnBrk="1" hangingPunct="1"/>
              <a:t>1</a:t>
            </a:fld>
            <a:endParaRPr lang="fr-FR" altLang="fr-FR" sz="1300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 smtClean="0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5DCDC7-8DE9-48DE-B8C7-E16418E55F80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40928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3BBCC5-E718-4367-9F71-6B1C229FDDC4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10044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BB4A71-BE26-4E02-8C03-C13302235B12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731839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699B8A-B88A-4DAC-9163-2FA9283AFF46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077241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96EAE4-A249-4628-92E9-A94E9E12D0F9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45113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042D65-2CD1-483B-B038-DC81CA627592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82880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8D903E-1E95-4CB3-8975-C3481EF19CD4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5156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E59D1F-6751-4C64-9A0A-CD20DBEA2D96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4896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21573E-45EF-4BBA-99EA-B835344FC548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260504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114B81-3C7C-4A3D-9E37-2592228501F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82376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D39CAD-EF6C-4483-B6AD-A91F6097B4ED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017256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52D4029-BD0C-48F0-8D4C-35DF9B077DC9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23.wmf"/><Relationship Id="rId18" Type="http://schemas.openxmlformats.org/officeDocument/2006/relationships/oleObject" Target="../embeddings/oleObject27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6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20.wmf"/><Relationship Id="rId11" Type="http://schemas.openxmlformats.org/officeDocument/2006/relationships/image" Target="../media/image27.png"/><Relationship Id="rId5" Type="http://schemas.openxmlformats.org/officeDocument/2006/relationships/oleObject" Target="../embeddings/oleObject21.bin"/><Relationship Id="rId15" Type="http://schemas.openxmlformats.org/officeDocument/2006/relationships/image" Target="../media/image24.wmf"/><Relationship Id="rId10" Type="http://schemas.openxmlformats.org/officeDocument/2006/relationships/image" Target="../media/image22.wmf"/><Relationship Id="rId19" Type="http://schemas.openxmlformats.org/officeDocument/2006/relationships/image" Target="../media/image26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3.bin"/><Relationship Id="rId14" Type="http://schemas.openxmlformats.org/officeDocument/2006/relationships/oleObject" Target="../embeddings/oleObject2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3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4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5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1997075" y="19050"/>
            <a:ext cx="4219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 dirty="0" smtClean="0">
                <a:solidFill>
                  <a:schemeClr val="accent2"/>
                </a:solidFill>
              </a:rPr>
              <a:t>Rappel du schéma explicite</a:t>
            </a:r>
            <a:endParaRPr lang="fr-FR" altLang="fr-FR" b="1" dirty="0">
              <a:solidFill>
                <a:schemeClr val="accent2"/>
              </a:solidFill>
            </a:endParaRPr>
          </a:p>
        </p:txBody>
      </p:sp>
      <p:grpSp>
        <p:nvGrpSpPr>
          <p:cNvPr id="15362" name="Group 57"/>
          <p:cNvGrpSpPr>
            <a:grpSpLocks/>
          </p:cNvGrpSpPr>
          <p:nvPr/>
        </p:nvGrpSpPr>
        <p:grpSpPr bwMode="auto">
          <a:xfrm>
            <a:off x="303213" y="490538"/>
            <a:ext cx="8877300" cy="706437"/>
            <a:chOff x="191" y="309"/>
            <a:chExt cx="5592" cy="445"/>
          </a:xfrm>
        </p:grpSpPr>
        <p:sp>
          <p:nvSpPr>
            <p:cNvPr id="17414" name="Text Box 6"/>
            <p:cNvSpPr txBox="1">
              <a:spLocks noChangeArrowheads="1"/>
            </p:cNvSpPr>
            <p:nvPr/>
          </p:nvSpPr>
          <p:spPr bwMode="auto">
            <a:xfrm>
              <a:off x="191" y="410"/>
              <a:ext cx="30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dirty="0">
                  <a:latin typeface="Arial" charset="0"/>
                  <a:ea typeface="ＭＳ Ｐゴシック" charset="0"/>
                </a:rPr>
                <a:t>Simplification : </a:t>
              </a:r>
              <a:r>
                <a:rPr lang="fr-FR" dirty="0" err="1">
                  <a:latin typeface="Arial" charset="0"/>
                  <a:ea typeface="ＭＳ Ｐゴシック" charset="0"/>
                </a:rPr>
                <a:t>k</a:t>
              </a:r>
              <a:r>
                <a:rPr lang="fr-FR" baseline="-25000" dirty="0" err="1">
                  <a:latin typeface="Arial" charset="0"/>
                  <a:ea typeface="ＭＳ Ｐゴシック" charset="0"/>
                </a:rPr>
                <a:t>th</a:t>
              </a:r>
              <a:r>
                <a:rPr lang="fr-FR" dirty="0">
                  <a:latin typeface="Arial" charset="0"/>
                  <a:ea typeface="ＭＳ Ｐゴシック" charset="0"/>
                </a:rPr>
                <a:t>(x) constant par domaine </a:t>
              </a:r>
              <a:r>
                <a:rPr lang="fr-FR" dirty="0">
                  <a:latin typeface="Arial" charset="0"/>
                  <a:ea typeface="ＭＳ Ｐゴシック" charset="0"/>
                  <a:sym typeface="Wingdings"/>
                </a:rPr>
                <a:t></a:t>
              </a:r>
              <a:r>
                <a:rPr lang="fr-FR" dirty="0">
                  <a:latin typeface="Arial" charset="0"/>
                  <a:ea typeface="ＭＳ Ｐゴシック" charset="0"/>
                  <a:sym typeface="Symbol" charset="0"/>
                </a:rPr>
                <a:t> </a:t>
              </a:r>
            </a:p>
          </p:txBody>
        </p:sp>
        <p:graphicFrame>
          <p:nvGraphicFramePr>
            <p:cNvPr id="15400" name="Object 7"/>
            <p:cNvGraphicFramePr>
              <a:graphicFrameLocks noChangeAspect="1"/>
            </p:cNvGraphicFramePr>
            <p:nvPr/>
          </p:nvGraphicFramePr>
          <p:xfrm>
            <a:off x="3162" y="309"/>
            <a:ext cx="2621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21" name="Equation" r:id="rId4" imgW="2616200" imgH="444500" progId="Equation.3">
                    <p:embed/>
                  </p:oleObj>
                </mc:Choice>
                <mc:Fallback>
                  <p:oleObj name="Equation" r:id="rId4" imgW="2616200" imgH="4445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2" y="309"/>
                          <a:ext cx="2621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363" name="Object 23"/>
          <p:cNvGraphicFramePr>
            <a:graphicFrameLocks noChangeAspect="1"/>
          </p:cNvGraphicFramePr>
          <p:nvPr/>
        </p:nvGraphicFramePr>
        <p:xfrm>
          <a:off x="549275" y="4757738"/>
          <a:ext cx="434022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2" name="Equation" r:id="rId6" imgW="2679700" imgH="469900" progId="Equation.3">
                  <p:embed/>
                </p:oleObj>
              </mc:Choice>
              <mc:Fallback>
                <p:oleObj name="Equation" r:id="rId6" imgW="2679700" imgH="4699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5" y="4757738"/>
                        <a:ext cx="4340225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4" name="Group 52"/>
          <p:cNvGrpSpPr>
            <a:grpSpLocks/>
          </p:cNvGrpSpPr>
          <p:nvPr/>
        </p:nvGrpSpPr>
        <p:grpSpPr bwMode="auto">
          <a:xfrm>
            <a:off x="323850" y="1341438"/>
            <a:ext cx="6294438" cy="841375"/>
            <a:chOff x="230" y="1084"/>
            <a:chExt cx="3965" cy="530"/>
          </a:xfrm>
        </p:grpSpPr>
        <p:sp>
          <p:nvSpPr>
            <p:cNvPr id="17416" name="Text Box 8"/>
            <p:cNvSpPr txBox="1">
              <a:spLocks noChangeArrowheads="1"/>
            </p:cNvSpPr>
            <p:nvPr/>
          </p:nvSpPr>
          <p:spPr bwMode="auto">
            <a:xfrm>
              <a:off x="237" y="1084"/>
              <a:ext cx="18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Discrétisation de l</a:t>
              </a:r>
              <a:r>
                <a:rPr lang="ja-JP" altLang="fr-FR" sz="1800"/>
                <a:t>’</a:t>
              </a:r>
              <a:r>
                <a:rPr lang="fr-FR" altLang="ja-JP" sz="1800"/>
                <a:t>espace :</a:t>
              </a:r>
              <a:endParaRPr lang="fr-FR" altLang="fr-FR" sz="1800"/>
            </a:p>
          </p:txBody>
        </p:sp>
        <p:sp>
          <p:nvSpPr>
            <p:cNvPr id="17417" name="Line 9"/>
            <p:cNvSpPr>
              <a:spLocks noChangeShapeType="1"/>
            </p:cNvSpPr>
            <p:nvPr/>
          </p:nvSpPr>
          <p:spPr bwMode="auto">
            <a:xfrm>
              <a:off x="2245" y="1207"/>
              <a:ext cx="1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5390" name="Group 19"/>
            <p:cNvGrpSpPr>
              <a:grpSpLocks/>
            </p:cNvGrpSpPr>
            <p:nvPr/>
          </p:nvGrpSpPr>
          <p:grpSpPr bwMode="auto">
            <a:xfrm>
              <a:off x="2399" y="1141"/>
              <a:ext cx="1497" cy="136"/>
              <a:chOff x="2336" y="1570"/>
              <a:chExt cx="408" cy="136"/>
            </a:xfrm>
          </p:grpSpPr>
          <p:sp>
            <p:nvSpPr>
              <p:cNvPr id="17423" name="Line 15"/>
              <p:cNvSpPr>
                <a:spLocks noChangeShapeType="1"/>
              </p:cNvSpPr>
              <p:nvPr/>
            </p:nvSpPr>
            <p:spPr bwMode="auto">
              <a:xfrm>
                <a:off x="2336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424" name="Line 16"/>
              <p:cNvSpPr>
                <a:spLocks noChangeShapeType="1"/>
              </p:cNvSpPr>
              <p:nvPr/>
            </p:nvSpPr>
            <p:spPr bwMode="auto">
              <a:xfrm>
                <a:off x="2472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425" name="Line 17"/>
              <p:cNvSpPr>
                <a:spLocks noChangeShapeType="1"/>
              </p:cNvSpPr>
              <p:nvPr/>
            </p:nvSpPr>
            <p:spPr bwMode="auto">
              <a:xfrm>
                <a:off x="2608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426" name="Line 18"/>
              <p:cNvSpPr>
                <a:spLocks noChangeShapeType="1"/>
              </p:cNvSpPr>
              <p:nvPr/>
            </p:nvSpPr>
            <p:spPr bwMode="auto">
              <a:xfrm>
                <a:off x="2744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7428" name="Text Box 20"/>
            <p:cNvSpPr txBox="1">
              <a:spLocks noChangeArrowheads="1"/>
            </p:cNvSpPr>
            <p:nvPr/>
          </p:nvSpPr>
          <p:spPr bwMode="auto">
            <a:xfrm>
              <a:off x="2789" y="1253"/>
              <a:ext cx="7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>
                  <a:latin typeface="Arial" charset="0"/>
                  <a:ea typeface="ＭＳ Ｐゴシック" charset="0"/>
                </a:rPr>
                <a:t>x=(p-1).</a:t>
              </a:r>
              <a:r>
                <a:rPr lang="en-US">
                  <a:latin typeface="Symbol" charset="0"/>
                  <a:ea typeface="ＭＳ Ｐゴシック" charset="0"/>
                </a:rPr>
                <a:t>D</a:t>
              </a:r>
              <a:r>
                <a:rPr lang="en-US">
                  <a:latin typeface="Arial" charset="0"/>
                  <a:ea typeface="ＭＳ Ｐゴシック" charset="0"/>
                </a:rPr>
                <a:t>x</a:t>
              </a: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17429" name="Text Box 21"/>
            <p:cNvSpPr txBox="1">
              <a:spLocks noChangeArrowheads="1"/>
            </p:cNvSpPr>
            <p:nvPr/>
          </p:nvSpPr>
          <p:spPr bwMode="auto">
            <a:xfrm>
              <a:off x="2290" y="124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17430" name="Text Box 22"/>
            <p:cNvSpPr txBox="1">
              <a:spLocks noChangeArrowheads="1"/>
            </p:cNvSpPr>
            <p:nvPr/>
          </p:nvSpPr>
          <p:spPr bwMode="auto">
            <a:xfrm>
              <a:off x="3787" y="125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L</a:t>
              </a:r>
            </a:p>
          </p:txBody>
        </p:sp>
        <p:sp>
          <p:nvSpPr>
            <p:cNvPr id="17432" name="Text Box 24"/>
            <p:cNvSpPr txBox="1">
              <a:spLocks noChangeArrowheads="1"/>
            </p:cNvSpPr>
            <p:nvPr/>
          </p:nvSpPr>
          <p:spPr bwMode="auto">
            <a:xfrm>
              <a:off x="230" y="1383"/>
              <a:ext cx="21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Discrétisation du temps : t=n.</a:t>
              </a:r>
              <a:r>
                <a:rPr lang="fr-FR" altLang="fr-FR" sz="1800">
                  <a:latin typeface="Symbol" panose="05050102010706020507" pitchFamily="18" charset="2"/>
                </a:rPr>
                <a:t>D</a:t>
              </a:r>
              <a:r>
                <a:rPr lang="fr-FR" altLang="fr-FR" sz="1800"/>
                <a:t>t </a:t>
              </a:r>
            </a:p>
          </p:txBody>
        </p:sp>
      </p:grpSp>
      <p:sp>
        <p:nvSpPr>
          <p:cNvPr id="17433" name="Text Box 25"/>
          <p:cNvSpPr txBox="1">
            <a:spLocks noChangeArrowheads="1"/>
          </p:cNvSpPr>
          <p:nvPr/>
        </p:nvSpPr>
        <p:spPr bwMode="auto">
          <a:xfrm>
            <a:off x="376238" y="2492375"/>
            <a:ext cx="5886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Schéma explicite centré de l</a:t>
            </a:r>
            <a:r>
              <a:rPr lang="ja-JP" altLang="fr-FR" sz="1800"/>
              <a:t>’</a:t>
            </a:r>
            <a:r>
              <a:rPr lang="fr-FR" altLang="ja-JP" sz="1800"/>
              <a:t>équation de la chaleur 1D : </a:t>
            </a:r>
            <a:endParaRPr lang="fr-FR" altLang="fr-FR" sz="1800"/>
          </a:p>
        </p:txBody>
      </p:sp>
      <p:graphicFrame>
        <p:nvGraphicFramePr>
          <p:cNvPr id="15366" name="Object 46"/>
          <p:cNvGraphicFramePr>
            <a:graphicFrameLocks noChangeAspect="1"/>
          </p:cNvGraphicFramePr>
          <p:nvPr/>
        </p:nvGraphicFramePr>
        <p:xfrm>
          <a:off x="611188" y="5880100"/>
          <a:ext cx="50990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3" name="Equation" r:id="rId8" imgW="3149600" imgH="444500" progId="Equation.3">
                  <p:embed/>
                </p:oleObj>
              </mc:Choice>
              <mc:Fallback>
                <p:oleObj name="Equation" r:id="rId8" imgW="3149600" imgH="44450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880100"/>
                        <a:ext cx="5099050" cy="7175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47"/>
          <p:cNvGraphicFramePr>
            <a:graphicFrameLocks noChangeAspect="1"/>
          </p:cNvGraphicFramePr>
          <p:nvPr/>
        </p:nvGraphicFramePr>
        <p:xfrm>
          <a:off x="76200" y="2952750"/>
          <a:ext cx="5287963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4" name="Equation" r:id="rId10" imgW="3784600" imgH="1117600" progId="Equation.3">
                  <p:embed/>
                </p:oleObj>
              </mc:Choice>
              <mc:Fallback>
                <p:oleObj name="Equation" r:id="rId10" imgW="3784600" imgH="111760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952750"/>
                        <a:ext cx="5287963" cy="155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48"/>
          <p:cNvGraphicFramePr>
            <a:graphicFrameLocks noChangeAspect="1"/>
          </p:cNvGraphicFramePr>
          <p:nvPr/>
        </p:nvGraphicFramePr>
        <p:xfrm>
          <a:off x="5653088" y="2962275"/>
          <a:ext cx="3455987" cy="169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5" name="Equation" r:id="rId12" imgW="2184400" imgH="1066800" progId="Equation.3">
                  <p:embed/>
                </p:oleObj>
              </mc:Choice>
              <mc:Fallback>
                <p:oleObj name="Equation" r:id="rId12" imgW="2184400" imgH="10668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3088" y="2962275"/>
                        <a:ext cx="3455987" cy="169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8" name="AutoShape 50"/>
          <p:cNvSpPr>
            <a:spLocks noChangeArrowheads="1"/>
          </p:cNvSpPr>
          <p:nvPr/>
        </p:nvSpPr>
        <p:spPr bwMode="auto">
          <a:xfrm>
            <a:off x="4859338" y="3614738"/>
            <a:ext cx="649287" cy="322262"/>
          </a:xfrm>
          <a:prstGeom prst="rightArrow">
            <a:avLst>
              <a:gd name="adj1" fmla="val 50000"/>
              <a:gd name="adj2" fmla="val 5036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pSp>
        <p:nvGrpSpPr>
          <p:cNvPr id="15370" name="Group 56"/>
          <p:cNvGrpSpPr>
            <a:grpSpLocks/>
          </p:cNvGrpSpPr>
          <p:nvPr/>
        </p:nvGrpSpPr>
        <p:grpSpPr bwMode="auto">
          <a:xfrm>
            <a:off x="6289675" y="4718050"/>
            <a:ext cx="2530475" cy="1879600"/>
            <a:chOff x="3962" y="2972"/>
            <a:chExt cx="1594" cy="1184"/>
          </a:xfrm>
        </p:grpSpPr>
        <p:grpSp>
          <p:nvGrpSpPr>
            <p:cNvPr id="15371" name="Group 44"/>
            <p:cNvGrpSpPr>
              <a:grpSpLocks/>
            </p:cNvGrpSpPr>
            <p:nvPr/>
          </p:nvGrpSpPr>
          <p:grpSpPr bwMode="auto">
            <a:xfrm>
              <a:off x="3962" y="2972"/>
              <a:ext cx="1594" cy="1184"/>
              <a:chOff x="4014" y="1434"/>
              <a:chExt cx="1594" cy="1184"/>
            </a:xfrm>
          </p:grpSpPr>
          <p:sp>
            <p:nvSpPr>
              <p:cNvPr id="17434" name="Line 26"/>
              <p:cNvSpPr>
                <a:spLocks noChangeShapeType="1"/>
              </p:cNvSpPr>
              <p:nvPr/>
            </p:nvSpPr>
            <p:spPr bwMode="auto">
              <a:xfrm>
                <a:off x="4014" y="2362"/>
                <a:ext cx="13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436" name="Line 28"/>
              <p:cNvSpPr>
                <a:spLocks noChangeShapeType="1"/>
              </p:cNvSpPr>
              <p:nvPr/>
            </p:nvSpPr>
            <p:spPr bwMode="auto">
              <a:xfrm>
                <a:off x="4168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437" name="Line 29"/>
              <p:cNvSpPr>
                <a:spLocks noChangeShapeType="1"/>
              </p:cNvSpPr>
              <p:nvPr/>
            </p:nvSpPr>
            <p:spPr bwMode="auto">
              <a:xfrm>
                <a:off x="4667" y="1759"/>
                <a:ext cx="0" cy="6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438" name="Line 30"/>
              <p:cNvSpPr>
                <a:spLocks noChangeShapeType="1"/>
              </p:cNvSpPr>
              <p:nvPr/>
            </p:nvSpPr>
            <p:spPr bwMode="auto">
              <a:xfrm>
                <a:off x="5166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441" name="Line 33"/>
              <p:cNvSpPr>
                <a:spLocks noChangeShapeType="1"/>
              </p:cNvSpPr>
              <p:nvPr/>
            </p:nvSpPr>
            <p:spPr bwMode="auto">
              <a:xfrm flipV="1">
                <a:off x="4165" y="1743"/>
                <a:ext cx="438" cy="61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442" name="Line 34"/>
              <p:cNvSpPr>
                <a:spLocks noChangeShapeType="1"/>
              </p:cNvSpPr>
              <p:nvPr/>
            </p:nvSpPr>
            <p:spPr bwMode="auto">
              <a:xfrm>
                <a:off x="4739" y="1748"/>
                <a:ext cx="425" cy="61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443" name="Line 35"/>
              <p:cNvSpPr>
                <a:spLocks noChangeShapeType="1"/>
              </p:cNvSpPr>
              <p:nvPr/>
            </p:nvSpPr>
            <p:spPr bwMode="auto">
              <a:xfrm>
                <a:off x="4664" y="229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445" name="Text Box 37"/>
              <p:cNvSpPr txBox="1">
                <a:spLocks noChangeArrowheads="1"/>
              </p:cNvSpPr>
              <p:nvPr/>
            </p:nvSpPr>
            <p:spPr bwMode="auto">
              <a:xfrm>
                <a:off x="4422" y="2387"/>
                <a:ext cx="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t=n.</a:t>
                </a:r>
                <a:r>
                  <a:rPr lang="fr-FR">
                    <a:latin typeface="Symbol" charset="0"/>
                    <a:ea typeface="ＭＳ Ｐゴシック" charset="0"/>
                  </a:rPr>
                  <a:t>D</a:t>
                </a:r>
                <a:r>
                  <a:rPr lang="fr-FR">
                    <a:latin typeface="Arial" charset="0"/>
                    <a:ea typeface="ＭＳ Ｐゴシック" charset="0"/>
                  </a:rPr>
                  <a:t>t</a:t>
                </a:r>
              </a:p>
            </p:txBody>
          </p:sp>
          <p:sp>
            <p:nvSpPr>
              <p:cNvPr id="17446" name="Text Box 38"/>
              <p:cNvSpPr txBox="1">
                <a:spLocks noChangeArrowheads="1"/>
              </p:cNvSpPr>
              <p:nvPr/>
            </p:nvSpPr>
            <p:spPr bwMode="auto">
              <a:xfrm>
                <a:off x="4332" y="1434"/>
                <a:ext cx="74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t=(n+1).</a:t>
                </a:r>
                <a:r>
                  <a:rPr lang="fr-FR">
                    <a:latin typeface="Symbol" charset="0"/>
                    <a:ea typeface="ＭＳ Ｐゴシック" charset="0"/>
                  </a:rPr>
                  <a:t>D</a:t>
                </a:r>
                <a:r>
                  <a:rPr lang="fr-FR">
                    <a:latin typeface="Arial" charset="0"/>
                    <a:ea typeface="ＭＳ Ｐゴシック" charset="0"/>
                  </a:rPr>
                  <a:t>t</a:t>
                </a:r>
              </a:p>
            </p:txBody>
          </p:sp>
          <p:sp>
            <p:nvSpPr>
              <p:cNvPr id="17447" name="Line 39"/>
              <p:cNvSpPr>
                <a:spLocks noChangeShapeType="1"/>
              </p:cNvSpPr>
              <p:nvPr/>
            </p:nvSpPr>
            <p:spPr bwMode="auto">
              <a:xfrm>
                <a:off x="4014" y="1661"/>
                <a:ext cx="13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448" name="Text Box 40"/>
              <p:cNvSpPr txBox="1">
                <a:spLocks noChangeArrowheads="1"/>
              </p:cNvSpPr>
              <p:nvPr/>
            </p:nvSpPr>
            <p:spPr bwMode="auto">
              <a:xfrm>
                <a:off x="5420" y="2205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  <p:sp>
            <p:nvSpPr>
              <p:cNvPr id="17449" name="Text Box 41"/>
              <p:cNvSpPr txBox="1">
                <a:spLocks noChangeArrowheads="1"/>
              </p:cNvSpPr>
              <p:nvPr/>
            </p:nvSpPr>
            <p:spPr bwMode="auto">
              <a:xfrm>
                <a:off x="5420" y="1525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  <p:sp>
            <p:nvSpPr>
              <p:cNvPr id="17451" name="Line 43"/>
              <p:cNvSpPr>
                <a:spLocks noChangeShapeType="1"/>
              </p:cNvSpPr>
              <p:nvPr/>
            </p:nvSpPr>
            <p:spPr bwMode="auto">
              <a:xfrm>
                <a:off x="4665" y="161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7461" name="Text Box 53"/>
            <p:cNvSpPr txBox="1">
              <a:spLocks noChangeArrowheads="1"/>
            </p:cNvSpPr>
            <p:nvPr/>
          </p:nvSpPr>
          <p:spPr bwMode="auto">
            <a:xfrm>
              <a:off x="4604" y="366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p</a:t>
              </a:r>
            </a:p>
          </p:txBody>
        </p:sp>
        <p:sp>
          <p:nvSpPr>
            <p:cNvPr id="17462" name="Text Box 54"/>
            <p:cNvSpPr txBox="1">
              <a:spLocks noChangeArrowheads="1"/>
            </p:cNvSpPr>
            <p:nvPr/>
          </p:nvSpPr>
          <p:spPr bwMode="auto">
            <a:xfrm>
              <a:off x="4170" y="3677"/>
              <a:ext cx="3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p-1</a:t>
              </a:r>
            </a:p>
          </p:txBody>
        </p:sp>
        <p:sp>
          <p:nvSpPr>
            <p:cNvPr id="17463" name="Text Box 55"/>
            <p:cNvSpPr txBox="1">
              <a:spLocks noChangeArrowheads="1"/>
            </p:cNvSpPr>
            <p:nvPr/>
          </p:nvSpPr>
          <p:spPr bwMode="auto">
            <a:xfrm>
              <a:off x="5073" y="3666"/>
              <a:ext cx="3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p+1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09" name="Object 4"/>
          <p:cNvGraphicFramePr>
            <a:graphicFrameLocks noChangeAspect="1"/>
          </p:cNvGraphicFramePr>
          <p:nvPr/>
        </p:nvGraphicFramePr>
        <p:xfrm>
          <a:off x="1908175" y="2060575"/>
          <a:ext cx="506730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3" name="Equation" r:id="rId3" imgW="2819400" imgH="469900" progId="Equation.3">
                  <p:embed/>
                </p:oleObj>
              </mc:Choice>
              <mc:Fallback>
                <p:oleObj name="Equation" r:id="rId3" imgW="2819400" imgH="469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060575"/>
                        <a:ext cx="5067300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376238" y="307975"/>
            <a:ext cx="82878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 dirty="0">
                <a:solidFill>
                  <a:schemeClr val="accent2"/>
                </a:solidFill>
              </a:rPr>
              <a:t>Schéma implicite centré de l</a:t>
            </a:r>
            <a:r>
              <a:rPr lang="ja-JP" altLang="fr-FR" b="1" dirty="0">
                <a:solidFill>
                  <a:schemeClr val="accent2"/>
                </a:solidFill>
              </a:rPr>
              <a:t>’</a:t>
            </a:r>
            <a:r>
              <a:rPr lang="fr-FR" altLang="ja-JP" b="1" dirty="0">
                <a:solidFill>
                  <a:schemeClr val="accent2"/>
                </a:solidFill>
              </a:rPr>
              <a:t>équation de la chaleur 1D </a:t>
            </a:r>
            <a:endParaRPr lang="fr-FR" altLang="fr-FR" b="1" dirty="0">
              <a:solidFill>
                <a:schemeClr val="accent2"/>
              </a:solidFill>
            </a:endParaRPr>
          </a:p>
        </p:txBody>
      </p:sp>
      <p:graphicFrame>
        <p:nvGraphicFramePr>
          <p:cNvPr id="17411" name="Object 8"/>
          <p:cNvGraphicFramePr>
            <a:graphicFrameLocks noChangeAspect="1"/>
          </p:cNvGraphicFramePr>
          <p:nvPr/>
        </p:nvGraphicFramePr>
        <p:xfrm>
          <a:off x="395288" y="836613"/>
          <a:ext cx="7966075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4" name="Equation" r:id="rId5" imgW="4445000" imgH="533400" progId="Equation.3">
                  <p:embed/>
                </p:oleObj>
              </mc:Choice>
              <mc:Fallback>
                <p:oleObj name="Equation" r:id="rId5" imgW="4445000" imgH="533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836613"/>
                        <a:ext cx="7966075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1" name="AutoShape 9"/>
          <p:cNvSpPr>
            <a:spLocks noChangeArrowheads="1"/>
          </p:cNvSpPr>
          <p:nvPr/>
        </p:nvSpPr>
        <p:spPr bwMode="auto">
          <a:xfrm>
            <a:off x="539750" y="2314575"/>
            <a:ext cx="649288" cy="322263"/>
          </a:xfrm>
          <a:prstGeom prst="rightArrow">
            <a:avLst>
              <a:gd name="adj1" fmla="val 50000"/>
              <a:gd name="adj2" fmla="val 5036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pSp>
        <p:nvGrpSpPr>
          <p:cNvPr id="17413" name="Group 30"/>
          <p:cNvGrpSpPr>
            <a:grpSpLocks/>
          </p:cNvGrpSpPr>
          <p:nvPr/>
        </p:nvGrpSpPr>
        <p:grpSpPr bwMode="auto">
          <a:xfrm>
            <a:off x="6084888" y="4581525"/>
            <a:ext cx="2592387" cy="1952625"/>
            <a:chOff x="3923" y="1706"/>
            <a:chExt cx="1633" cy="1230"/>
          </a:xfrm>
        </p:grpSpPr>
        <p:sp>
          <p:nvSpPr>
            <p:cNvPr id="28686" name="Line 14"/>
            <p:cNvSpPr>
              <a:spLocks noChangeShapeType="1"/>
            </p:cNvSpPr>
            <p:nvPr/>
          </p:nvSpPr>
          <p:spPr bwMode="auto">
            <a:xfrm>
              <a:off x="4604" y="2205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28688" name="Line 16"/>
            <p:cNvSpPr>
              <a:spLocks noChangeShapeType="1"/>
            </p:cNvSpPr>
            <p:nvPr/>
          </p:nvSpPr>
          <p:spPr bwMode="auto">
            <a:xfrm flipV="1">
              <a:off x="4649" y="2024"/>
              <a:ext cx="438" cy="6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28689" name="Line 17"/>
            <p:cNvSpPr>
              <a:spLocks noChangeShapeType="1"/>
            </p:cNvSpPr>
            <p:nvPr/>
          </p:nvSpPr>
          <p:spPr bwMode="auto">
            <a:xfrm>
              <a:off x="4105" y="2024"/>
              <a:ext cx="425" cy="6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7433" name="Group 28"/>
            <p:cNvGrpSpPr>
              <a:grpSpLocks/>
            </p:cNvGrpSpPr>
            <p:nvPr/>
          </p:nvGrpSpPr>
          <p:grpSpPr bwMode="auto">
            <a:xfrm>
              <a:off x="3962" y="2614"/>
              <a:ext cx="1594" cy="322"/>
              <a:chOff x="3962" y="1612"/>
              <a:chExt cx="1594" cy="322"/>
            </a:xfrm>
          </p:grpSpPr>
          <p:sp>
            <p:nvSpPr>
              <p:cNvPr id="28692" name="Text Box 20"/>
              <p:cNvSpPr txBox="1">
                <a:spLocks noChangeArrowheads="1"/>
              </p:cNvSpPr>
              <p:nvPr/>
            </p:nvSpPr>
            <p:spPr bwMode="auto">
              <a:xfrm>
                <a:off x="4280" y="1612"/>
                <a:ext cx="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t=n.</a:t>
                </a:r>
                <a:r>
                  <a:rPr lang="fr-FR">
                    <a:latin typeface="Symbol" charset="0"/>
                    <a:ea typeface="ＭＳ Ｐゴシック" charset="0"/>
                  </a:rPr>
                  <a:t>D</a:t>
                </a:r>
                <a:r>
                  <a:rPr lang="fr-FR">
                    <a:latin typeface="Arial" charset="0"/>
                    <a:ea typeface="ＭＳ Ｐゴシック" charset="0"/>
                  </a:rPr>
                  <a:t>t</a:t>
                </a:r>
              </a:p>
            </p:txBody>
          </p:sp>
          <p:sp>
            <p:nvSpPr>
              <p:cNvPr id="28693" name="Line 21"/>
              <p:cNvSpPr>
                <a:spLocks noChangeShapeType="1"/>
              </p:cNvSpPr>
              <p:nvPr/>
            </p:nvSpPr>
            <p:spPr bwMode="auto">
              <a:xfrm>
                <a:off x="3962" y="1839"/>
                <a:ext cx="136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8695" name="Text Box 23"/>
              <p:cNvSpPr txBox="1">
                <a:spLocks noChangeArrowheads="1"/>
              </p:cNvSpPr>
              <p:nvPr/>
            </p:nvSpPr>
            <p:spPr bwMode="auto">
              <a:xfrm>
                <a:off x="5368" y="1703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  <p:sp>
            <p:nvSpPr>
              <p:cNvPr id="28696" name="Line 24"/>
              <p:cNvSpPr>
                <a:spLocks noChangeShapeType="1"/>
              </p:cNvSpPr>
              <p:nvPr/>
            </p:nvSpPr>
            <p:spPr bwMode="auto">
              <a:xfrm>
                <a:off x="4613" y="179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8684" name="Line 12"/>
            <p:cNvSpPr>
              <a:spLocks noChangeShapeType="1"/>
            </p:cNvSpPr>
            <p:nvPr/>
          </p:nvSpPr>
          <p:spPr bwMode="auto">
            <a:xfrm>
              <a:off x="3923" y="1940"/>
              <a:ext cx="136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28685" name="Line 13"/>
            <p:cNvSpPr>
              <a:spLocks noChangeShapeType="1"/>
            </p:cNvSpPr>
            <p:nvPr/>
          </p:nvSpPr>
          <p:spPr bwMode="auto">
            <a:xfrm>
              <a:off x="4077" y="1874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28687" name="Line 15"/>
            <p:cNvSpPr>
              <a:spLocks noChangeShapeType="1"/>
            </p:cNvSpPr>
            <p:nvPr/>
          </p:nvSpPr>
          <p:spPr bwMode="auto">
            <a:xfrm>
              <a:off x="5075" y="1874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28690" name="Line 18"/>
            <p:cNvSpPr>
              <a:spLocks noChangeShapeType="1"/>
            </p:cNvSpPr>
            <p:nvPr/>
          </p:nvSpPr>
          <p:spPr bwMode="auto">
            <a:xfrm>
              <a:off x="4573" y="1874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28691" name="Text Box 19"/>
            <p:cNvSpPr txBox="1">
              <a:spLocks noChangeArrowheads="1"/>
            </p:cNvSpPr>
            <p:nvPr/>
          </p:nvSpPr>
          <p:spPr bwMode="auto">
            <a:xfrm>
              <a:off x="4286" y="1965"/>
              <a:ext cx="7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t=(n+1).</a:t>
              </a:r>
              <a:r>
                <a:rPr lang="fr-FR">
                  <a:latin typeface="Symbol" charset="0"/>
                  <a:ea typeface="ＭＳ Ｐゴシック" charset="0"/>
                </a:rPr>
                <a:t>D</a:t>
              </a:r>
              <a:r>
                <a:rPr lang="fr-FR">
                  <a:latin typeface="Arial" charset="0"/>
                  <a:ea typeface="ＭＳ Ｐゴシック" charset="0"/>
                </a:rPr>
                <a:t>t</a:t>
              </a:r>
            </a:p>
          </p:txBody>
        </p:sp>
        <p:sp>
          <p:nvSpPr>
            <p:cNvPr id="28694" name="Text Box 22"/>
            <p:cNvSpPr txBox="1">
              <a:spLocks noChangeArrowheads="1"/>
            </p:cNvSpPr>
            <p:nvPr/>
          </p:nvSpPr>
          <p:spPr bwMode="auto">
            <a:xfrm>
              <a:off x="5329" y="1783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x</a:t>
              </a:r>
            </a:p>
          </p:txBody>
        </p:sp>
        <p:sp>
          <p:nvSpPr>
            <p:cNvPr id="28697" name="Text Box 25"/>
            <p:cNvSpPr txBox="1">
              <a:spLocks noChangeArrowheads="1"/>
            </p:cNvSpPr>
            <p:nvPr/>
          </p:nvSpPr>
          <p:spPr bwMode="auto">
            <a:xfrm>
              <a:off x="4565" y="170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p</a:t>
              </a:r>
            </a:p>
          </p:txBody>
        </p:sp>
        <p:sp>
          <p:nvSpPr>
            <p:cNvPr id="28698" name="Text Box 26"/>
            <p:cNvSpPr txBox="1">
              <a:spLocks noChangeArrowheads="1"/>
            </p:cNvSpPr>
            <p:nvPr/>
          </p:nvSpPr>
          <p:spPr bwMode="auto">
            <a:xfrm>
              <a:off x="4131" y="1717"/>
              <a:ext cx="3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p-1</a:t>
              </a:r>
            </a:p>
          </p:txBody>
        </p:sp>
        <p:sp>
          <p:nvSpPr>
            <p:cNvPr id="28699" name="Text Box 27"/>
            <p:cNvSpPr txBox="1">
              <a:spLocks noChangeArrowheads="1"/>
            </p:cNvSpPr>
            <p:nvPr/>
          </p:nvSpPr>
          <p:spPr bwMode="auto">
            <a:xfrm>
              <a:off x="5034" y="1706"/>
              <a:ext cx="3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p+1</a:t>
              </a:r>
            </a:p>
          </p:txBody>
        </p:sp>
      </p:grpSp>
      <p:sp>
        <p:nvSpPr>
          <p:cNvPr id="28706" name="Rectangle 34"/>
          <p:cNvSpPr>
            <a:spLocks noChangeArrowheads="1"/>
          </p:cNvSpPr>
          <p:nvPr/>
        </p:nvSpPr>
        <p:spPr bwMode="auto">
          <a:xfrm>
            <a:off x="0" y="2843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pSp>
        <p:nvGrpSpPr>
          <p:cNvPr id="17415" name="Group 49"/>
          <p:cNvGrpSpPr>
            <a:grpSpLocks/>
          </p:cNvGrpSpPr>
          <p:nvPr/>
        </p:nvGrpSpPr>
        <p:grpSpPr bwMode="auto">
          <a:xfrm>
            <a:off x="766763" y="4560888"/>
            <a:ext cx="4427537" cy="2108200"/>
            <a:chOff x="483" y="2873"/>
            <a:chExt cx="2789" cy="1328"/>
          </a:xfrm>
        </p:grpSpPr>
        <p:graphicFrame>
          <p:nvGraphicFramePr>
            <p:cNvPr id="17425" name="Object 33"/>
            <p:cNvGraphicFramePr>
              <a:graphicFrameLocks noChangeAspect="1"/>
            </p:cNvGraphicFramePr>
            <p:nvPr/>
          </p:nvGraphicFramePr>
          <p:xfrm>
            <a:off x="483" y="2873"/>
            <a:ext cx="2789" cy="1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65" name="Equation" r:id="rId7" imgW="2463800" imgH="1168400" progId="Equation.DSMT4">
                    <p:embed/>
                  </p:oleObj>
                </mc:Choice>
                <mc:Fallback>
                  <p:oleObj name="Equation" r:id="rId7" imgW="2463800" imgH="11684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" y="2873"/>
                          <a:ext cx="2789" cy="1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7" name="Line 35"/>
            <p:cNvSpPr>
              <a:spLocks noChangeShapeType="1"/>
            </p:cNvSpPr>
            <p:nvPr/>
          </p:nvSpPr>
          <p:spPr bwMode="auto">
            <a:xfrm>
              <a:off x="703" y="2918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28708" name="Line 36"/>
            <p:cNvSpPr>
              <a:spLocks noChangeShapeType="1"/>
            </p:cNvSpPr>
            <p:nvPr/>
          </p:nvSpPr>
          <p:spPr bwMode="auto">
            <a:xfrm>
              <a:off x="2064" y="2918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28710" name="Line 38"/>
            <p:cNvSpPr>
              <a:spLocks noChangeShapeType="1"/>
            </p:cNvSpPr>
            <p:nvPr/>
          </p:nvSpPr>
          <p:spPr bwMode="auto">
            <a:xfrm flipV="1">
              <a:off x="521" y="2919"/>
              <a:ext cx="136" cy="1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28711" name="Line 39"/>
            <p:cNvSpPr>
              <a:spLocks noChangeShapeType="1"/>
            </p:cNvSpPr>
            <p:nvPr/>
          </p:nvSpPr>
          <p:spPr bwMode="auto">
            <a:xfrm flipV="1">
              <a:off x="2154" y="3962"/>
              <a:ext cx="136" cy="1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8713" name="Text Box 41"/>
          <p:cNvSpPr txBox="1">
            <a:spLocks noChangeArrowheads="1"/>
          </p:cNvSpPr>
          <p:nvPr/>
        </p:nvSpPr>
        <p:spPr bwMode="auto">
          <a:xfrm>
            <a:off x="850900" y="4141788"/>
            <a:ext cx="361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G</a:t>
            </a:r>
          </a:p>
        </p:txBody>
      </p:sp>
      <p:sp>
        <p:nvSpPr>
          <p:cNvPr id="28714" name="Text Box 42"/>
          <p:cNvSpPr txBox="1">
            <a:spLocks noChangeArrowheads="1"/>
          </p:cNvSpPr>
          <p:nvPr/>
        </p:nvSpPr>
        <p:spPr bwMode="auto">
          <a:xfrm>
            <a:off x="3276600" y="4141788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C</a:t>
            </a:r>
          </a:p>
        </p:txBody>
      </p:sp>
      <p:sp>
        <p:nvSpPr>
          <p:cNvPr id="28715" name="Text Box 43"/>
          <p:cNvSpPr txBox="1">
            <a:spLocks noChangeArrowheads="1"/>
          </p:cNvSpPr>
          <p:nvPr/>
        </p:nvSpPr>
        <p:spPr bwMode="auto">
          <a:xfrm>
            <a:off x="5508625" y="4141788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D</a:t>
            </a:r>
          </a:p>
        </p:txBody>
      </p:sp>
      <p:sp>
        <p:nvSpPr>
          <p:cNvPr id="28716" name="Text Box 44"/>
          <p:cNvSpPr txBox="1">
            <a:spLocks noChangeArrowheads="1"/>
          </p:cNvSpPr>
          <p:nvPr/>
        </p:nvSpPr>
        <p:spPr bwMode="auto">
          <a:xfrm>
            <a:off x="7667625" y="4149725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B</a:t>
            </a:r>
          </a:p>
        </p:txBody>
      </p:sp>
      <p:sp>
        <p:nvSpPr>
          <p:cNvPr id="28717" name="AutoShape 45"/>
          <p:cNvSpPr>
            <a:spLocks/>
          </p:cNvSpPr>
          <p:nvPr/>
        </p:nvSpPr>
        <p:spPr bwMode="auto">
          <a:xfrm rot="16200000">
            <a:off x="953294" y="3447257"/>
            <a:ext cx="180975" cy="1296987"/>
          </a:xfrm>
          <a:prstGeom prst="leftBrace">
            <a:avLst>
              <a:gd name="adj1" fmla="val 59722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8718" name="AutoShape 46"/>
          <p:cNvSpPr>
            <a:spLocks/>
          </p:cNvSpPr>
          <p:nvPr/>
        </p:nvSpPr>
        <p:spPr bwMode="auto">
          <a:xfrm rot="16200000">
            <a:off x="3329781" y="3231357"/>
            <a:ext cx="180975" cy="1728788"/>
          </a:xfrm>
          <a:prstGeom prst="leftBrace">
            <a:avLst>
              <a:gd name="adj1" fmla="val 79605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8719" name="AutoShape 47"/>
          <p:cNvSpPr>
            <a:spLocks/>
          </p:cNvSpPr>
          <p:nvPr/>
        </p:nvSpPr>
        <p:spPr bwMode="auto">
          <a:xfrm rot="16200000">
            <a:off x="5598319" y="3483769"/>
            <a:ext cx="180975" cy="1223963"/>
          </a:xfrm>
          <a:prstGeom prst="leftBrace">
            <a:avLst>
              <a:gd name="adj1" fmla="val 5636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8720" name="AutoShape 48"/>
          <p:cNvSpPr>
            <a:spLocks/>
          </p:cNvSpPr>
          <p:nvPr/>
        </p:nvSpPr>
        <p:spPr bwMode="auto">
          <a:xfrm rot="16200000">
            <a:off x="7758906" y="3339307"/>
            <a:ext cx="180975" cy="1512888"/>
          </a:xfrm>
          <a:prstGeom prst="leftBrace">
            <a:avLst>
              <a:gd name="adj1" fmla="val 6966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17424" name="Object 51"/>
          <p:cNvGraphicFramePr>
            <a:graphicFrameLocks noChangeAspect="1"/>
          </p:cNvGraphicFramePr>
          <p:nvPr/>
        </p:nvGraphicFramePr>
        <p:xfrm>
          <a:off x="468313" y="3025775"/>
          <a:ext cx="82804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6" name="Equation" r:id="rId9" imgW="4140200" imgH="482600" progId="Equation.3">
                  <p:embed/>
                </p:oleObj>
              </mc:Choice>
              <mc:Fallback>
                <p:oleObj name="Equation" r:id="rId9" imgW="4140200" imgH="4826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025775"/>
                        <a:ext cx="8280400" cy="9620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79512" y="332656"/>
            <a:ext cx="782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S</a:t>
            </a:r>
            <a:r>
              <a:rPr lang="fr-FR" sz="2800" dirty="0" smtClean="0"/>
              <a:t>ystème d’équations pour une grille à 4 </a:t>
            </a:r>
            <a:r>
              <a:rPr lang="fr-FR" sz="2800" dirty="0" err="1" smtClean="0"/>
              <a:t>noeuds</a:t>
            </a:r>
            <a:r>
              <a:rPr lang="fr-FR" sz="2800" dirty="0" smtClean="0"/>
              <a:t> </a:t>
            </a:r>
            <a:endParaRPr lang="fr-FR" sz="2800" dirty="0"/>
          </a:p>
        </p:txBody>
      </p:sp>
      <p:grpSp>
        <p:nvGrpSpPr>
          <p:cNvPr id="5" name="Group 52"/>
          <p:cNvGrpSpPr>
            <a:grpSpLocks/>
          </p:cNvGrpSpPr>
          <p:nvPr/>
        </p:nvGrpSpPr>
        <p:grpSpPr bwMode="auto">
          <a:xfrm>
            <a:off x="898128" y="1268760"/>
            <a:ext cx="6751638" cy="665163"/>
            <a:chOff x="-58" y="1063"/>
            <a:chExt cx="4253" cy="419"/>
          </a:xfrm>
        </p:grpSpPr>
        <p:sp>
          <p:nvSpPr>
            <p:cNvPr id="6" name="Text Box 8"/>
            <p:cNvSpPr txBox="1">
              <a:spLocks noChangeArrowheads="1"/>
            </p:cNvSpPr>
            <p:nvPr/>
          </p:nvSpPr>
          <p:spPr bwMode="auto">
            <a:xfrm>
              <a:off x="-58" y="1063"/>
              <a:ext cx="218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 dirty="0" smtClean="0"/>
                <a:t>CL Dirichlet à gauche et à droite</a:t>
              </a:r>
              <a:endParaRPr lang="fr-FR" altLang="fr-FR" sz="1800" dirty="0"/>
            </a:p>
          </p:txBody>
        </p:sp>
        <p:sp>
          <p:nvSpPr>
            <p:cNvPr id="7" name="Line 9"/>
            <p:cNvSpPr>
              <a:spLocks noChangeShapeType="1"/>
            </p:cNvSpPr>
            <p:nvPr/>
          </p:nvSpPr>
          <p:spPr bwMode="auto">
            <a:xfrm>
              <a:off x="2245" y="1207"/>
              <a:ext cx="1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8" name="Group 19"/>
            <p:cNvGrpSpPr>
              <a:grpSpLocks/>
            </p:cNvGrpSpPr>
            <p:nvPr/>
          </p:nvGrpSpPr>
          <p:grpSpPr bwMode="auto">
            <a:xfrm>
              <a:off x="2399" y="1141"/>
              <a:ext cx="1497" cy="136"/>
              <a:chOff x="2336" y="1570"/>
              <a:chExt cx="408" cy="136"/>
            </a:xfrm>
          </p:grpSpPr>
          <p:sp>
            <p:nvSpPr>
              <p:cNvPr id="13" name="Line 15"/>
              <p:cNvSpPr>
                <a:spLocks noChangeShapeType="1"/>
              </p:cNvSpPr>
              <p:nvPr/>
            </p:nvSpPr>
            <p:spPr bwMode="auto">
              <a:xfrm>
                <a:off x="2336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" name="Line 16"/>
              <p:cNvSpPr>
                <a:spLocks noChangeShapeType="1"/>
              </p:cNvSpPr>
              <p:nvPr/>
            </p:nvSpPr>
            <p:spPr bwMode="auto">
              <a:xfrm>
                <a:off x="2472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" name="Line 17"/>
              <p:cNvSpPr>
                <a:spLocks noChangeShapeType="1"/>
              </p:cNvSpPr>
              <p:nvPr/>
            </p:nvSpPr>
            <p:spPr bwMode="auto">
              <a:xfrm>
                <a:off x="2608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" name="Line 18"/>
              <p:cNvSpPr>
                <a:spLocks noChangeShapeType="1"/>
              </p:cNvSpPr>
              <p:nvPr/>
            </p:nvSpPr>
            <p:spPr bwMode="auto">
              <a:xfrm>
                <a:off x="2744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0" name="Text Box 21"/>
            <p:cNvSpPr txBox="1">
              <a:spLocks noChangeArrowheads="1"/>
            </p:cNvSpPr>
            <p:nvPr/>
          </p:nvSpPr>
          <p:spPr bwMode="auto">
            <a:xfrm>
              <a:off x="2290" y="1249"/>
              <a:ext cx="177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dirty="0" smtClean="0">
                  <a:latin typeface="Arial" charset="0"/>
                  <a:ea typeface="ＭＳ Ｐゴシック" charset="0"/>
                </a:rPr>
                <a:t>1           2          3           4</a:t>
              </a:r>
              <a:endParaRPr lang="fr-FR" dirty="0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7" name="Ellipse 16"/>
          <p:cNvSpPr/>
          <p:nvPr/>
        </p:nvSpPr>
        <p:spPr>
          <a:xfrm>
            <a:off x="4702933" y="1392461"/>
            <a:ext cx="191366" cy="216024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/>
          <p:cNvSpPr/>
          <p:nvPr/>
        </p:nvSpPr>
        <p:spPr>
          <a:xfrm>
            <a:off x="7079420" y="1389348"/>
            <a:ext cx="191366" cy="216024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/>
          <p:cNvSpPr txBox="1"/>
          <p:nvPr/>
        </p:nvSpPr>
        <p:spPr>
          <a:xfrm>
            <a:off x="4480951" y="1024731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Tdg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6856418" y="1084832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Tdd</a:t>
            </a:r>
            <a:endParaRPr lang="fr-FR" dirty="0"/>
          </a:p>
        </p:txBody>
      </p:sp>
      <p:graphicFrame>
        <p:nvGraphicFramePr>
          <p:cNvPr id="21" name="Objet 20"/>
          <p:cNvGraphicFramePr>
            <a:graphicFrameLocks noChangeAspect="1"/>
          </p:cNvGraphicFramePr>
          <p:nvPr>
            <p:extLst/>
          </p:nvPr>
        </p:nvGraphicFramePr>
        <p:xfrm>
          <a:off x="898128" y="2482698"/>
          <a:ext cx="5842000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name="Equation" r:id="rId3" imgW="3492360" imgH="533160" progId="Equation.DSMT4">
                  <p:embed/>
                </p:oleObj>
              </mc:Choice>
              <mc:Fallback>
                <p:oleObj name="Equation" r:id="rId3" imgW="3492360" imgH="533160" progId="Equation.DSMT4">
                  <p:embed/>
                  <p:pic>
                    <p:nvPicPr>
                      <p:cNvPr id="21" name="Objet 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8128" y="2482698"/>
                        <a:ext cx="5842000" cy="890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ZoneTexte 21"/>
          <p:cNvSpPr txBox="1"/>
          <p:nvPr/>
        </p:nvSpPr>
        <p:spPr>
          <a:xfrm>
            <a:off x="899319" y="1645454"/>
            <a:ext cx="2294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Pas de source Q = 0</a:t>
            </a:r>
            <a:endParaRPr lang="fr-FR" dirty="0"/>
          </a:p>
        </p:txBody>
      </p:sp>
      <p:graphicFrame>
        <p:nvGraphicFramePr>
          <p:cNvPr id="24" name="Objet 23"/>
          <p:cNvGraphicFramePr>
            <a:graphicFrameLocks noChangeAspect="1"/>
          </p:cNvGraphicFramePr>
          <p:nvPr>
            <p:extLst/>
          </p:nvPr>
        </p:nvGraphicFramePr>
        <p:xfrm>
          <a:off x="5373688" y="3284538"/>
          <a:ext cx="3189287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name="Equation" r:id="rId5" imgW="1904760" imgH="203040" progId="Equation.DSMT4">
                  <p:embed/>
                </p:oleObj>
              </mc:Choice>
              <mc:Fallback>
                <p:oleObj name="Equation" r:id="rId5" imgW="1904760" imgH="203040" progId="Equation.DSMT4">
                  <p:embed/>
                  <p:pic>
                    <p:nvPicPr>
                      <p:cNvPr id="24" name="Objet 2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73688" y="3284538"/>
                        <a:ext cx="3189287" cy="339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ZoneTexte 24"/>
          <p:cNvSpPr txBox="1"/>
          <p:nvPr/>
        </p:nvSpPr>
        <p:spPr>
          <a:xfrm>
            <a:off x="467544" y="3922060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</a:t>
            </a:r>
            <a:r>
              <a:rPr lang="fr-FR" dirty="0" smtClean="0"/>
              <a:t>=2</a:t>
            </a:r>
            <a:endParaRPr lang="fr-FR" dirty="0"/>
          </a:p>
        </p:txBody>
      </p:sp>
      <p:graphicFrame>
        <p:nvGraphicFramePr>
          <p:cNvPr id="26" name="Objet 25"/>
          <p:cNvGraphicFramePr>
            <a:graphicFrameLocks noChangeAspect="1"/>
          </p:cNvGraphicFramePr>
          <p:nvPr>
            <p:extLst/>
          </p:nvPr>
        </p:nvGraphicFramePr>
        <p:xfrm>
          <a:off x="2807521" y="2094184"/>
          <a:ext cx="2570162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Equation" r:id="rId7" imgW="1536480" imgH="253800" progId="Equation.DSMT4">
                  <p:embed/>
                </p:oleObj>
              </mc:Choice>
              <mc:Fallback>
                <p:oleObj name="Equation" r:id="rId7" imgW="1536480" imgH="253800" progId="Equation.DSMT4">
                  <p:embed/>
                  <p:pic>
                    <p:nvPicPr>
                      <p:cNvPr id="26" name="Objet 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07521" y="2094184"/>
                        <a:ext cx="2570162" cy="423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 26"/>
          <p:cNvGraphicFramePr>
            <a:graphicFrameLocks noChangeAspect="1"/>
          </p:cNvGraphicFramePr>
          <p:nvPr>
            <p:extLst/>
          </p:nvPr>
        </p:nvGraphicFramePr>
        <p:xfrm>
          <a:off x="1257336" y="3624263"/>
          <a:ext cx="6013450" cy="186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1" name="Equation" r:id="rId9" imgW="3593880" imgH="1117440" progId="Equation.DSMT4">
                  <p:embed/>
                </p:oleObj>
              </mc:Choice>
              <mc:Fallback>
                <p:oleObj name="Equation" r:id="rId9" imgW="3593880" imgH="1117440" progId="Equation.DSMT4">
                  <p:embed/>
                  <p:pic>
                    <p:nvPicPr>
                      <p:cNvPr id="27" name="Objet 2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57336" y="3624263"/>
                        <a:ext cx="6013450" cy="1865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ZoneTexte 27"/>
          <p:cNvSpPr txBox="1"/>
          <p:nvPr/>
        </p:nvSpPr>
        <p:spPr>
          <a:xfrm>
            <a:off x="467544" y="4711638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p=3</a:t>
            </a:r>
            <a:endParaRPr lang="fr-FR" dirty="0"/>
          </a:p>
        </p:txBody>
      </p:sp>
      <p:sp>
        <p:nvSpPr>
          <p:cNvPr id="29" name="Rectangle 28"/>
          <p:cNvSpPr/>
          <p:nvPr/>
        </p:nvSpPr>
        <p:spPr>
          <a:xfrm>
            <a:off x="4451371" y="3862440"/>
            <a:ext cx="442928" cy="428951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/>
          <p:cNvSpPr/>
          <p:nvPr/>
        </p:nvSpPr>
        <p:spPr>
          <a:xfrm>
            <a:off x="5704233" y="3862439"/>
            <a:ext cx="442928" cy="428951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/>
          <p:cNvSpPr/>
          <p:nvPr/>
        </p:nvSpPr>
        <p:spPr>
          <a:xfrm>
            <a:off x="2191131" y="4763373"/>
            <a:ext cx="442928" cy="428951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/>
          <p:cNvSpPr/>
          <p:nvPr/>
        </p:nvSpPr>
        <p:spPr>
          <a:xfrm>
            <a:off x="4481469" y="4787563"/>
            <a:ext cx="442928" cy="428951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/>
          <p:cNvSpPr/>
          <p:nvPr/>
        </p:nvSpPr>
        <p:spPr>
          <a:xfrm>
            <a:off x="1602526" y="5614825"/>
            <a:ext cx="442928" cy="428951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ZoneTexte 33"/>
          <p:cNvSpPr txBox="1"/>
          <p:nvPr/>
        </p:nvSpPr>
        <p:spPr>
          <a:xfrm>
            <a:off x="2045454" y="5674444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inconnues</a:t>
            </a:r>
            <a:endParaRPr lang="fr-FR" dirty="0"/>
          </a:p>
        </p:txBody>
      </p:sp>
      <p:sp>
        <p:nvSpPr>
          <p:cNvPr id="35" name="Rectangle 34"/>
          <p:cNvSpPr/>
          <p:nvPr/>
        </p:nvSpPr>
        <p:spPr>
          <a:xfrm>
            <a:off x="2231071" y="3916079"/>
            <a:ext cx="442928" cy="428951"/>
          </a:xfrm>
          <a:prstGeom prst="rect">
            <a:avLst/>
          </a:prstGeom>
          <a:solidFill>
            <a:srgbClr val="FF9966">
              <a:alpha val="29804"/>
            </a:srgb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/>
          <p:cNvSpPr/>
          <p:nvPr/>
        </p:nvSpPr>
        <p:spPr>
          <a:xfrm>
            <a:off x="5716969" y="4787433"/>
            <a:ext cx="442928" cy="428951"/>
          </a:xfrm>
          <a:prstGeom prst="rect">
            <a:avLst/>
          </a:prstGeom>
          <a:solidFill>
            <a:srgbClr val="FF9966">
              <a:alpha val="29804"/>
            </a:srgb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/>
          <p:cNvSpPr/>
          <p:nvPr/>
        </p:nvSpPr>
        <p:spPr>
          <a:xfrm>
            <a:off x="3873412" y="5614824"/>
            <a:ext cx="442928" cy="428951"/>
          </a:xfrm>
          <a:prstGeom prst="rect">
            <a:avLst/>
          </a:prstGeom>
          <a:solidFill>
            <a:srgbClr val="FF9966">
              <a:alpha val="29804"/>
            </a:srgb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ZoneTexte 37"/>
          <p:cNvSpPr txBox="1"/>
          <p:nvPr/>
        </p:nvSpPr>
        <p:spPr>
          <a:xfrm>
            <a:off x="4511441" y="5664549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Fixées par Dirichlet</a:t>
            </a:r>
            <a:endParaRPr lang="fr-FR" dirty="0"/>
          </a:p>
        </p:txBody>
      </p:sp>
      <p:sp>
        <p:nvSpPr>
          <p:cNvPr id="39" name="ZoneTexte 38"/>
          <p:cNvSpPr txBox="1"/>
          <p:nvPr/>
        </p:nvSpPr>
        <p:spPr>
          <a:xfrm>
            <a:off x="8460432" y="33265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1/3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26679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79512" y="332656"/>
            <a:ext cx="782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S</a:t>
            </a:r>
            <a:r>
              <a:rPr lang="fr-FR" sz="2800" dirty="0" smtClean="0"/>
              <a:t>ystème d’équations pour une grille à 4 </a:t>
            </a:r>
            <a:r>
              <a:rPr lang="fr-FR" sz="2800" dirty="0" err="1" smtClean="0"/>
              <a:t>noeuds</a:t>
            </a:r>
            <a:r>
              <a:rPr lang="fr-FR" sz="2800" dirty="0" smtClean="0"/>
              <a:t> </a:t>
            </a:r>
            <a:endParaRPr lang="fr-FR" sz="2800" dirty="0"/>
          </a:p>
        </p:txBody>
      </p:sp>
      <p:grpSp>
        <p:nvGrpSpPr>
          <p:cNvPr id="5" name="Group 52"/>
          <p:cNvGrpSpPr>
            <a:grpSpLocks/>
          </p:cNvGrpSpPr>
          <p:nvPr/>
        </p:nvGrpSpPr>
        <p:grpSpPr bwMode="auto">
          <a:xfrm>
            <a:off x="898128" y="1268760"/>
            <a:ext cx="6751638" cy="665163"/>
            <a:chOff x="-58" y="1063"/>
            <a:chExt cx="4253" cy="419"/>
          </a:xfrm>
        </p:grpSpPr>
        <p:sp>
          <p:nvSpPr>
            <p:cNvPr id="6" name="Text Box 8"/>
            <p:cNvSpPr txBox="1">
              <a:spLocks noChangeArrowheads="1"/>
            </p:cNvSpPr>
            <p:nvPr/>
          </p:nvSpPr>
          <p:spPr bwMode="auto">
            <a:xfrm>
              <a:off x="-58" y="1063"/>
              <a:ext cx="218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 dirty="0" smtClean="0"/>
                <a:t>CL Dirichlet à gauche et à droite</a:t>
              </a:r>
              <a:endParaRPr lang="fr-FR" altLang="fr-FR" sz="1800" dirty="0"/>
            </a:p>
          </p:txBody>
        </p:sp>
        <p:sp>
          <p:nvSpPr>
            <p:cNvPr id="7" name="Line 9"/>
            <p:cNvSpPr>
              <a:spLocks noChangeShapeType="1"/>
            </p:cNvSpPr>
            <p:nvPr/>
          </p:nvSpPr>
          <p:spPr bwMode="auto">
            <a:xfrm>
              <a:off x="2245" y="1207"/>
              <a:ext cx="1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8" name="Group 19"/>
            <p:cNvGrpSpPr>
              <a:grpSpLocks/>
            </p:cNvGrpSpPr>
            <p:nvPr/>
          </p:nvGrpSpPr>
          <p:grpSpPr bwMode="auto">
            <a:xfrm>
              <a:off x="2399" y="1141"/>
              <a:ext cx="1497" cy="136"/>
              <a:chOff x="2336" y="1570"/>
              <a:chExt cx="408" cy="136"/>
            </a:xfrm>
          </p:grpSpPr>
          <p:sp>
            <p:nvSpPr>
              <p:cNvPr id="13" name="Line 15"/>
              <p:cNvSpPr>
                <a:spLocks noChangeShapeType="1"/>
              </p:cNvSpPr>
              <p:nvPr/>
            </p:nvSpPr>
            <p:spPr bwMode="auto">
              <a:xfrm>
                <a:off x="2336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" name="Line 16"/>
              <p:cNvSpPr>
                <a:spLocks noChangeShapeType="1"/>
              </p:cNvSpPr>
              <p:nvPr/>
            </p:nvSpPr>
            <p:spPr bwMode="auto">
              <a:xfrm>
                <a:off x="2472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5" name="Line 17"/>
              <p:cNvSpPr>
                <a:spLocks noChangeShapeType="1"/>
              </p:cNvSpPr>
              <p:nvPr/>
            </p:nvSpPr>
            <p:spPr bwMode="auto">
              <a:xfrm>
                <a:off x="2608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" name="Line 18"/>
              <p:cNvSpPr>
                <a:spLocks noChangeShapeType="1"/>
              </p:cNvSpPr>
              <p:nvPr/>
            </p:nvSpPr>
            <p:spPr bwMode="auto">
              <a:xfrm>
                <a:off x="2744" y="1570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0" name="Text Box 21"/>
            <p:cNvSpPr txBox="1">
              <a:spLocks noChangeArrowheads="1"/>
            </p:cNvSpPr>
            <p:nvPr/>
          </p:nvSpPr>
          <p:spPr bwMode="auto">
            <a:xfrm>
              <a:off x="2290" y="1249"/>
              <a:ext cx="177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dirty="0" smtClean="0">
                  <a:latin typeface="Arial" charset="0"/>
                  <a:ea typeface="ＭＳ Ｐゴシック" charset="0"/>
                </a:rPr>
                <a:t>1           2          3           4</a:t>
              </a:r>
              <a:endParaRPr lang="fr-FR" dirty="0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7" name="Ellipse 16"/>
          <p:cNvSpPr/>
          <p:nvPr/>
        </p:nvSpPr>
        <p:spPr>
          <a:xfrm>
            <a:off x="4702933" y="1392461"/>
            <a:ext cx="191366" cy="216024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/>
          <p:cNvSpPr/>
          <p:nvPr/>
        </p:nvSpPr>
        <p:spPr>
          <a:xfrm>
            <a:off x="7079420" y="1389348"/>
            <a:ext cx="191366" cy="216024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/>
          <p:cNvSpPr txBox="1"/>
          <p:nvPr/>
        </p:nvSpPr>
        <p:spPr>
          <a:xfrm>
            <a:off x="4480951" y="1024731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Tdg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6856418" y="1084832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Tdd</a:t>
            </a:r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899319" y="1645454"/>
            <a:ext cx="2294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Pas de source Q = 0</a:t>
            </a:r>
            <a:endParaRPr lang="fr-FR" dirty="0"/>
          </a:p>
        </p:txBody>
      </p:sp>
      <p:graphicFrame>
        <p:nvGraphicFramePr>
          <p:cNvPr id="26" name="Objet 25"/>
          <p:cNvGraphicFramePr>
            <a:graphicFrameLocks noChangeAspect="1"/>
          </p:cNvGraphicFramePr>
          <p:nvPr>
            <p:extLst/>
          </p:nvPr>
        </p:nvGraphicFramePr>
        <p:xfrm>
          <a:off x="2807521" y="2094184"/>
          <a:ext cx="2570162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name="Equation" r:id="rId3" imgW="1536480" imgH="253800" progId="Equation.DSMT4">
                  <p:embed/>
                </p:oleObj>
              </mc:Choice>
              <mc:Fallback>
                <p:oleObj name="Equation" r:id="rId3" imgW="1536480" imgH="253800" progId="Equation.DSMT4">
                  <p:embed/>
                  <p:pic>
                    <p:nvPicPr>
                      <p:cNvPr id="26" name="Objet 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07521" y="2094184"/>
                        <a:ext cx="2570162" cy="423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 26"/>
          <p:cNvGraphicFramePr>
            <a:graphicFrameLocks noChangeAspect="1"/>
          </p:cNvGraphicFramePr>
          <p:nvPr>
            <p:extLst/>
          </p:nvPr>
        </p:nvGraphicFramePr>
        <p:xfrm>
          <a:off x="1600597" y="2843680"/>
          <a:ext cx="5478823" cy="1730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3" name="Equation" r:id="rId5" imgW="3530520" imgH="1117440" progId="Equation.DSMT4">
                  <p:embed/>
                </p:oleObj>
              </mc:Choice>
              <mc:Fallback>
                <p:oleObj name="Equation" r:id="rId5" imgW="3530520" imgH="1117440" progId="Equation.DSMT4">
                  <p:embed/>
                  <p:pic>
                    <p:nvPicPr>
                      <p:cNvPr id="27" name="Objet 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00597" y="2843680"/>
                        <a:ext cx="5478823" cy="17300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ZoneTexte 38"/>
          <p:cNvSpPr txBox="1"/>
          <p:nvPr/>
        </p:nvSpPr>
        <p:spPr>
          <a:xfrm>
            <a:off x="8460432" y="33265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2/3</a:t>
            </a:r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539552" y="2511176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Après substitution</a:t>
            </a:r>
            <a:endParaRPr lang="fr-FR" dirty="0"/>
          </a:p>
        </p:txBody>
      </p:sp>
      <p:graphicFrame>
        <p:nvGraphicFramePr>
          <p:cNvPr id="40" name="Objet 39"/>
          <p:cNvGraphicFramePr>
            <a:graphicFrameLocks noChangeAspect="1"/>
          </p:cNvGraphicFramePr>
          <p:nvPr>
            <p:extLst/>
          </p:nvPr>
        </p:nvGraphicFramePr>
        <p:xfrm>
          <a:off x="1377552" y="5045918"/>
          <a:ext cx="6353175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4" name="Equation" r:id="rId7" imgW="3797280" imgH="1015920" progId="Equation.DSMT4">
                  <p:embed/>
                </p:oleObj>
              </mc:Choice>
              <mc:Fallback>
                <p:oleObj name="Equation" r:id="rId7" imgW="3797280" imgH="1015920" progId="Equation.DSMT4">
                  <p:embed/>
                  <p:pic>
                    <p:nvPicPr>
                      <p:cNvPr id="40" name="Objet 3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77552" y="5045918"/>
                        <a:ext cx="6353175" cy="169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539552" y="4581128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Système à résoudre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0681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79512" y="332656"/>
            <a:ext cx="28873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Méthode </a:t>
            </a:r>
            <a:r>
              <a:rPr lang="fr-FR" sz="2800" dirty="0" err="1" smtClean="0"/>
              <a:t>bourine</a:t>
            </a:r>
            <a:endParaRPr lang="fr-FR" sz="2800" dirty="0"/>
          </a:p>
        </p:txBody>
      </p:sp>
      <p:sp>
        <p:nvSpPr>
          <p:cNvPr id="39" name="ZoneTexte 38"/>
          <p:cNvSpPr txBox="1"/>
          <p:nvPr/>
        </p:nvSpPr>
        <p:spPr>
          <a:xfrm>
            <a:off x="8460432" y="33265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3/3</a:t>
            </a:r>
            <a:endParaRPr lang="fr-FR" dirty="0"/>
          </a:p>
        </p:txBody>
      </p:sp>
      <p:graphicFrame>
        <p:nvGraphicFramePr>
          <p:cNvPr id="40" name="Objet 39"/>
          <p:cNvGraphicFramePr>
            <a:graphicFrameLocks noChangeAspect="1"/>
          </p:cNvGraphicFramePr>
          <p:nvPr>
            <p:extLst/>
          </p:nvPr>
        </p:nvGraphicFramePr>
        <p:xfrm>
          <a:off x="1115616" y="3153218"/>
          <a:ext cx="7226300" cy="245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6" name="Equation" r:id="rId3" imgW="4317840" imgH="1473120" progId="Equation.DSMT4">
                  <p:embed/>
                </p:oleObj>
              </mc:Choice>
              <mc:Fallback>
                <p:oleObj name="Equation" r:id="rId3" imgW="4317840" imgH="1473120" progId="Equation.DSMT4">
                  <p:embed/>
                  <p:pic>
                    <p:nvPicPr>
                      <p:cNvPr id="40" name="Objet 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5616" y="3153218"/>
                        <a:ext cx="7226300" cy="2459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245914" y="2671690"/>
            <a:ext cx="299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D’où le système à résoudre</a:t>
            </a:r>
            <a:endParaRPr lang="fr-FR" dirty="0"/>
          </a:p>
        </p:txBody>
      </p:sp>
      <p:grpSp>
        <p:nvGrpSpPr>
          <p:cNvPr id="5" name="Groupe 4"/>
          <p:cNvGrpSpPr/>
          <p:nvPr/>
        </p:nvGrpSpPr>
        <p:grpSpPr>
          <a:xfrm>
            <a:off x="3318125" y="332656"/>
            <a:ext cx="5142307" cy="2396335"/>
            <a:chOff x="1085877" y="1013180"/>
            <a:chExt cx="5142307" cy="2396335"/>
          </a:xfrm>
        </p:grpSpPr>
        <p:graphicFrame>
          <p:nvGraphicFramePr>
            <p:cNvPr id="23" name="Objet 22"/>
            <p:cNvGraphicFramePr>
              <a:graphicFrameLocks noChangeAspect="1"/>
            </p:cNvGraphicFramePr>
            <p:nvPr>
              <p:extLst/>
            </p:nvPr>
          </p:nvGraphicFramePr>
          <p:xfrm>
            <a:off x="1085877" y="1027817"/>
            <a:ext cx="5142307" cy="2355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47" name="Equation" r:id="rId5" imgW="3593880" imgH="1650960" progId="Equation.DSMT4">
                    <p:embed/>
                  </p:oleObj>
                </mc:Choice>
                <mc:Fallback>
                  <p:oleObj name="Equation" r:id="rId5" imgW="3593880" imgH="1650960" progId="Equation.DSMT4">
                    <p:embed/>
                    <p:pic>
                      <p:nvPicPr>
                        <p:cNvPr id="23" name="Objet 2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85877" y="1027817"/>
                          <a:ext cx="5142307" cy="235530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Rectangle 20"/>
            <p:cNvSpPr/>
            <p:nvPr/>
          </p:nvSpPr>
          <p:spPr>
            <a:xfrm>
              <a:off x="3871138" y="1594797"/>
              <a:ext cx="442928" cy="428951"/>
            </a:xfrm>
            <a:prstGeom prst="rect">
              <a:avLst/>
            </a:prstGeom>
            <a:solidFill>
              <a:srgbClr val="FFFF00">
                <a:alpha val="30196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89615" y="1594796"/>
              <a:ext cx="442928" cy="428951"/>
            </a:xfrm>
            <a:prstGeom prst="rect">
              <a:avLst/>
            </a:prstGeom>
            <a:solidFill>
              <a:srgbClr val="FFFF00">
                <a:alpha val="30196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871138" y="2376252"/>
              <a:ext cx="442928" cy="428951"/>
            </a:xfrm>
            <a:prstGeom prst="rect">
              <a:avLst/>
            </a:prstGeom>
            <a:solidFill>
              <a:srgbClr val="FFFF00">
                <a:alpha val="30196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41600" y="2376252"/>
              <a:ext cx="442928" cy="428951"/>
            </a:xfrm>
            <a:prstGeom prst="rect">
              <a:avLst/>
            </a:prstGeom>
            <a:solidFill>
              <a:srgbClr val="FFFF00">
                <a:alpha val="30196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105520" y="1013180"/>
              <a:ext cx="442928" cy="428951"/>
            </a:xfrm>
            <a:prstGeom prst="rect">
              <a:avLst/>
            </a:prstGeom>
            <a:solidFill>
              <a:srgbClr val="FFFF00">
                <a:alpha val="30196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187624" y="2980564"/>
              <a:ext cx="442928" cy="428951"/>
            </a:xfrm>
            <a:prstGeom prst="rect">
              <a:avLst/>
            </a:prstGeom>
            <a:solidFill>
              <a:srgbClr val="FFFF00">
                <a:alpha val="30196"/>
              </a:srgbClr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5" name="ZoneTexte 14"/>
          <p:cNvSpPr txBox="1"/>
          <p:nvPr/>
        </p:nvSpPr>
        <p:spPr>
          <a:xfrm>
            <a:off x="324998" y="5851817"/>
            <a:ext cx="6699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Avantage : facile à écrire</a:t>
            </a:r>
          </a:p>
          <a:p>
            <a:r>
              <a:rPr lang="fr-FR" dirty="0" smtClean="0"/>
              <a:t>Inconvénients :  la matrice du </a:t>
            </a:r>
            <a:r>
              <a:rPr lang="fr-FR" dirty="0" err="1" smtClean="0"/>
              <a:t>syst</a:t>
            </a:r>
            <a:r>
              <a:rPr lang="fr-FR" dirty="0" smtClean="0"/>
              <a:t> linéaire n’est plus symétrique.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8273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Group 13"/>
          <p:cNvGrpSpPr>
            <a:grpSpLocks/>
          </p:cNvGrpSpPr>
          <p:nvPr/>
        </p:nvGrpSpPr>
        <p:grpSpPr bwMode="auto">
          <a:xfrm>
            <a:off x="1763713" y="3573463"/>
            <a:ext cx="4403725" cy="2108200"/>
            <a:chOff x="1111" y="2251"/>
            <a:chExt cx="2774" cy="1328"/>
          </a:xfrm>
        </p:grpSpPr>
        <p:graphicFrame>
          <p:nvGraphicFramePr>
            <p:cNvPr id="18436" name="Object 5"/>
            <p:cNvGraphicFramePr>
              <a:graphicFrameLocks noChangeAspect="1"/>
            </p:cNvGraphicFramePr>
            <p:nvPr/>
          </p:nvGraphicFramePr>
          <p:xfrm>
            <a:off x="1111" y="2251"/>
            <a:ext cx="2774" cy="1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3" name="Equation" r:id="rId3" imgW="2451100" imgH="1168400" progId="Equation.DSMT4">
                    <p:embed/>
                  </p:oleObj>
                </mc:Choice>
                <mc:Fallback>
                  <p:oleObj name="Equation" r:id="rId3" imgW="2451100" imgH="11684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2251"/>
                          <a:ext cx="2774" cy="1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710" name="Line 6"/>
            <p:cNvSpPr>
              <a:spLocks noChangeShapeType="1"/>
            </p:cNvSpPr>
            <p:nvPr/>
          </p:nvSpPr>
          <p:spPr bwMode="auto">
            <a:xfrm>
              <a:off x="1324" y="2296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72711" name="Line 7"/>
            <p:cNvSpPr>
              <a:spLocks noChangeShapeType="1"/>
            </p:cNvSpPr>
            <p:nvPr/>
          </p:nvSpPr>
          <p:spPr bwMode="auto">
            <a:xfrm>
              <a:off x="2744" y="2296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72714" name="Text Box 10"/>
          <p:cNvSpPr txBox="1">
            <a:spLocks noChangeArrowheads="1"/>
          </p:cNvSpPr>
          <p:nvPr/>
        </p:nvSpPr>
        <p:spPr bwMode="auto">
          <a:xfrm>
            <a:off x="303213" y="352425"/>
            <a:ext cx="7666037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La matrice associée au système d</a:t>
            </a:r>
            <a:r>
              <a:rPr lang="ja-JP" altLang="fr-FR" sz="1800"/>
              <a:t>’</a:t>
            </a:r>
            <a:r>
              <a:rPr lang="fr-FR" altLang="ja-JP" sz="1800"/>
              <a:t>équations linéaires contient beaucoup</a:t>
            </a:r>
          </a:p>
          <a:p>
            <a:pPr eaLnBrk="1" hangingPunct="1"/>
            <a:r>
              <a:rPr lang="fr-FR" altLang="fr-FR" sz="1800"/>
              <a:t>de zéros : on dit que la matrice est creuse.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En pratique, seuls les termes non nuls de la matrice sont stockés </a:t>
            </a:r>
          </a:p>
          <a:p>
            <a:pPr eaLnBrk="1" hangingPunct="1"/>
            <a:r>
              <a:rPr lang="fr-FR" altLang="fr-FR" sz="1800">
                <a:sym typeface="Symbol" panose="05050102010706020507" pitchFamily="18" charset="2"/>
              </a:rPr>
              <a:t>(Codage de Morse</a:t>
            </a:r>
            <a:r>
              <a:rPr lang="fr-FR" altLang="fr-FR" sz="1800" u="sng">
                <a:sym typeface="Symbol" panose="05050102010706020507" pitchFamily="18" charset="2"/>
              </a:rPr>
              <a:t> </a:t>
            </a:r>
            <a:r>
              <a:rPr lang="fr-FR" altLang="fr-FR" sz="1800">
                <a:sym typeface="Symbol" panose="05050102010706020507" pitchFamily="18" charset="2"/>
              </a:rPr>
              <a:t>le plus généralement utilisé)</a:t>
            </a:r>
          </a:p>
          <a:p>
            <a:pPr eaLnBrk="1" hangingPunct="1"/>
            <a:endParaRPr lang="fr-FR" altLang="fr-FR" sz="1800">
              <a:sym typeface="Symbol" panose="05050102010706020507" pitchFamily="18" charset="2"/>
            </a:endParaRPr>
          </a:p>
          <a:p>
            <a:pPr eaLnBrk="1" hangingPunct="1"/>
            <a:r>
              <a:rPr lang="fr-FR" altLang="fr-FR" sz="1800">
                <a:sym typeface="Symbol" panose="05050102010706020507" pitchFamily="18" charset="2"/>
              </a:rPr>
              <a:t>- Ceci engendre un surcout de calcul pour déterminer la position des</a:t>
            </a:r>
          </a:p>
          <a:p>
            <a:pPr eaLnBrk="1" hangingPunct="1"/>
            <a:r>
              <a:rPr lang="fr-FR" altLang="fr-FR" sz="1800">
                <a:sym typeface="Symbol" panose="05050102010706020507" pitchFamily="18" charset="2"/>
              </a:rPr>
              <a:t>éléments dans la matrice (double adressage) relativement négligeable</a:t>
            </a:r>
          </a:p>
          <a:p>
            <a:pPr eaLnBrk="1" hangingPunct="1"/>
            <a:endParaRPr lang="fr-FR" altLang="fr-FR" sz="1800">
              <a:sym typeface="Symbol" panose="05050102010706020507" pitchFamily="18" charset="2"/>
            </a:endParaRPr>
          </a:p>
          <a:p>
            <a:pPr eaLnBrk="1" hangingPunct="1"/>
            <a:r>
              <a:rPr lang="fr-FR" altLang="fr-FR" sz="1800">
                <a:sym typeface="Symbol" panose="05050102010706020507" pitchFamily="18" charset="2"/>
              </a:rPr>
              <a:t>+ Ceci permet d</a:t>
            </a:r>
            <a:r>
              <a:rPr lang="ja-JP" altLang="fr-FR" sz="1800">
                <a:sym typeface="Symbol" panose="05050102010706020507" pitchFamily="18" charset="2"/>
              </a:rPr>
              <a:t>’</a:t>
            </a:r>
            <a:r>
              <a:rPr lang="fr-FR" altLang="ja-JP" sz="1800">
                <a:sym typeface="Symbol" panose="05050102010706020507" pitchFamily="18" charset="2"/>
              </a:rPr>
              <a:t>économiser de la place en mémoire </a:t>
            </a:r>
            <a:r>
              <a:rPr lang="fr-FR" altLang="ja-JP" sz="1800">
                <a:sym typeface="Wingdings" panose="05000000000000000000" pitchFamily="2" charset="2"/>
              </a:rPr>
              <a:t></a:t>
            </a:r>
            <a:r>
              <a:rPr lang="fr-FR" altLang="ja-JP" sz="1800">
                <a:sym typeface="Symbol" panose="05050102010706020507" pitchFamily="18" charset="2"/>
              </a:rPr>
              <a:t> traitement de</a:t>
            </a:r>
          </a:p>
          <a:p>
            <a:pPr eaLnBrk="1" hangingPunct="1"/>
            <a:r>
              <a:rPr lang="fr-FR" altLang="fr-FR" sz="1800">
                <a:sym typeface="Symbol" panose="05050102010706020507" pitchFamily="18" charset="2"/>
              </a:rPr>
              <a:t>gros systèmes d</a:t>
            </a:r>
            <a:r>
              <a:rPr lang="ja-JP" altLang="fr-FR" sz="1800">
                <a:sym typeface="Symbol" panose="05050102010706020507" pitchFamily="18" charset="2"/>
              </a:rPr>
              <a:t>’</a:t>
            </a:r>
            <a:r>
              <a:rPr lang="fr-FR" altLang="ja-JP" sz="1800">
                <a:sym typeface="Symbol" panose="05050102010706020507" pitchFamily="18" charset="2"/>
              </a:rPr>
              <a:t>équations (N&gt;100000).</a:t>
            </a:r>
            <a:endParaRPr lang="fr-FR" altLang="fr-FR" sz="1800">
              <a:sym typeface="Symbol" panose="05050102010706020507" pitchFamily="18" charset="2"/>
            </a:endParaRPr>
          </a:p>
        </p:txBody>
      </p:sp>
      <p:sp>
        <p:nvSpPr>
          <p:cNvPr id="72716" name="Text Box 12"/>
          <p:cNvSpPr txBox="1">
            <a:spLocks noChangeArrowheads="1"/>
          </p:cNvSpPr>
          <p:nvPr/>
        </p:nvSpPr>
        <p:spPr bwMode="auto">
          <a:xfrm>
            <a:off x="303213" y="5949950"/>
            <a:ext cx="6927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En utilisant cette technique, quelle est la quantité de mémoire pour</a:t>
            </a:r>
          </a:p>
          <a:p>
            <a:pPr eaLnBrk="1" hangingPunct="1"/>
            <a:r>
              <a:rPr lang="fr-FR" altLang="fr-FR" sz="1800"/>
              <a:t>stocker une telle matrice de taille NxN?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96850" y="44450"/>
            <a:ext cx="3733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 b="1">
                <a:solidFill>
                  <a:schemeClr val="accent2"/>
                </a:solidFill>
              </a:rPr>
              <a:t>Stabilité du schéma implicite 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196850" y="1565275"/>
            <a:ext cx="6496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Propagation d</a:t>
            </a:r>
            <a:r>
              <a:rPr lang="ja-JP" altLang="fr-FR" sz="1800"/>
              <a:t>’</a:t>
            </a:r>
            <a:r>
              <a:rPr lang="fr-FR" altLang="ja-JP" sz="1800"/>
              <a:t>une erreur numérique dans l</a:t>
            </a:r>
            <a:r>
              <a:rPr lang="ja-JP" altLang="fr-FR" sz="1800"/>
              <a:t>’</a:t>
            </a:r>
            <a:r>
              <a:rPr lang="fr-FR" altLang="ja-JP" sz="1800"/>
              <a:t>espace et le temps</a:t>
            </a:r>
            <a:endParaRPr lang="fr-FR" altLang="fr-FR" sz="1800"/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" name="Object 7"/>
          <p:cNvGraphicFramePr>
            <a:graphicFrameLocks noChangeAspect="1"/>
          </p:cNvGraphicFramePr>
          <p:nvPr/>
        </p:nvGraphicFramePr>
        <p:xfrm>
          <a:off x="6607175" y="3430588"/>
          <a:ext cx="233838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2" name="Equation" r:id="rId3" imgW="1574800" imgH="342900" progId="Equation.3">
                  <p:embed/>
                </p:oleObj>
              </mc:Choice>
              <mc:Fallback>
                <p:oleObj name="Equation" r:id="rId3" imgW="1574800" imgH="342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7175" y="3430588"/>
                        <a:ext cx="2338388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0" y="3624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3" name="Object 10"/>
          <p:cNvGraphicFramePr>
            <a:graphicFrameLocks noChangeAspect="1"/>
          </p:cNvGraphicFramePr>
          <p:nvPr/>
        </p:nvGraphicFramePr>
        <p:xfrm>
          <a:off x="6769100" y="1568450"/>
          <a:ext cx="154146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3" name="Equation" r:id="rId5" imgW="952087" imgH="253890" progId="Equation.3">
                  <p:embed/>
                </p:oleObj>
              </mc:Choice>
              <mc:Fallback>
                <p:oleObj name="Equation" r:id="rId5" imgW="952087" imgH="25389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9100" y="1568450"/>
                        <a:ext cx="1541463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179388" y="1916113"/>
            <a:ext cx="70564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Variation de l</a:t>
            </a:r>
            <a:r>
              <a:rPr lang="ja-JP" altLang="fr-FR" sz="1800"/>
              <a:t>’</a:t>
            </a:r>
            <a:r>
              <a:rPr lang="fr-FR" altLang="ja-JP" sz="1800"/>
              <a:t>équation discrétisée avec </a:t>
            </a:r>
            <a:r>
              <a:rPr lang="fr-FR" altLang="ja-JP" sz="1800">
                <a:latin typeface="Symbol" panose="05050102010706020507" pitchFamily="18" charset="2"/>
              </a:rPr>
              <a:t>d</a:t>
            </a:r>
            <a:r>
              <a:rPr lang="fr-FR" altLang="ja-JP" sz="1800"/>
              <a:t>Q=0 car imposée</a:t>
            </a:r>
            <a:endParaRPr lang="fr-FR" altLang="fr-FR" sz="1800"/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107950" y="3422650"/>
            <a:ext cx="6470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analyse de Von Neumann se place dans l</a:t>
            </a:r>
            <a:r>
              <a:rPr lang="ja-JP" altLang="fr-FR" sz="1800"/>
              <a:t>’</a:t>
            </a:r>
            <a:r>
              <a:rPr lang="fr-FR" altLang="ja-JP" sz="1800"/>
              <a:t>espace de Fourier</a:t>
            </a:r>
            <a:endParaRPr lang="fr-FR" altLang="fr-FR" sz="1800"/>
          </a:p>
        </p:txBody>
      </p:sp>
      <p:sp>
        <p:nvSpPr>
          <p:cNvPr id="19472" name="Rectangle 16"/>
          <p:cNvSpPr>
            <a:spLocks noChangeArrowheads="1"/>
          </p:cNvSpPr>
          <p:nvPr/>
        </p:nvSpPr>
        <p:spPr bwMode="auto">
          <a:xfrm>
            <a:off x="0" y="36718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pSp>
        <p:nvGrpSpPr>
          <p:cNvPr id="19466" name="Group 19"/>
          <p:cNvGrpSpPr>
            <a:grpSpLocks/>
          </p:cNvGrpSpPr>
          <p:nvPr/>
        </p:nvGrpSpPr>
        <p:grpSpPr bwMode="auto">
          <a:xfrm>
            <a:off x="250825" y="5373688"/>
            <a:ext cx="4210050" cy="374650"/>
            <a:chOff x="249" y="2382"/>
            <a:chExt cx="2652" cy="236"/>
          </a:xfrm>
        </p:grpSpPr>
        <p:sp>
          <p:nvSpPr>
            <p:cNvPr id="4" name="Text Box 17"/>
            <p:cNvSpPr txBox="1">
              <a:spLocks noChangeArrowheads="1"/>
            </p:cNvSpPr>
            <p:nvPr/>
          </p:nvSpPr>
          <p:spPr bwMode="auto">
            <a:xfrm>
              <a:off x="249" y="2387"/>
              <a:ext cx="17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Le schéma reste stable si</a:t>
              </a:r>
            </a:p>
          </p:txBody>
        </p:sp>
        <p:graphicFrame>
          <p:nvGraphicFramePr>
            <p:cNvPr id="19479" name="Object 18"/>
            <p:cNvGraphicFramePr>
              <a:graphicFrameLocks noChangeAspect="1"/>
            </p:cNvGraphicFramePr>
            <p:nvPr/>
          </p:nvGraphicFramePr>
          <p:xfrm>
            <a:off x="2040" y="2382"/>
            <a:ext cx="861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14" name="Equation" r:id="rId7" imgW="926698" imgH="253890" progId="Equation.3">
                    <p:embed/>
                  </p:oleObj>
                </mc:Choice>
                <mc:Fallback>
                  <p:oleObj name="Equation" r:id="rId7" imgW="926698" imgH="25389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0" y="2382"/>
                          <a:ext cx="861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81" name="Text Box 25"/>
          <p:cNvSpPr txBox="1">
            <a:spLocks noChangeArrowheads="1"/>
          </p:cNvSpPr>
          <p:nvPr/>
        </p:nvSpPr>
        <p:spPr bwMode="auto">
          <a:xfrm>
            <a:off x="7812088" y="5146675"/>
            <a:ext cx="1174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Limite de </a:t>
            </a:r>
          </a:p>
          <a:p>
            <a:pPr eaLnBrk="1" hangingPunct="1"/>
            <a:r>
              <a:rPr lang="fr-FR" altLang="fr-FR" sz="1800"/>
              <a:t>stabilité</a:t>
            </a:r>
          </a:p>
        </p:txBody>
      </p:sp>
      <p:graphicFrame>
        <p:nvGraphicFramePr>
          <p:cNvPr id="5" name="Object 27"/>
          <p:cNvGraphicFramePr>
            <a:graphicFrameLocks noChangeAspect="1"/>
          </p:cNvGraphicFramePr>
          <p:nvPr/>
        </p:nvGraphicFramePr>
        <p:xfrm>
          <a:off x="1127125" y="2420938"/>
          <a:ext cx="6878638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5" name="Equation" r:id="rId9" imgW="4292600" imgH="533400" progId="Equation.DSMT4">
                  <p:embed/>
                </p:oleObj>
              </mc:Choice>
              <mc:Fallback>
                <p:oleObj name="Equation" r:id="rId9" imgW="4292600" imgH="5334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125" y="2420938"/>
                        <a:ext cx="6878638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85" name="Picture 2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68" t="5437" r="16280" b="10001"/>
          <a:stretch>
            <a:fillRect/>
          </a:stretch>
        </p:blipFill>
        <p:spPr bwMode="auto">
          <a:xfrm>
            <a:off x="5029200" y="4013200"/>
            <a:ext cx="2881313" cy="287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aphicFrame>
        <p:nvGraphicFramePr>
          <p:cNvPr id="19470" name="Object 22"/>
          <p:cNvGraphicFramePr>
            <a:graphicFrameLocks noChangeAspect="1"/>
          </p:cNvGraphicFramePr>
          <p:nvPr/>
        </p:nvGraphicFramePr>
        <p:xfrm>
          <a:off x="7667625" y="4210050"/>
          <a:ext cx="128746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6" name="Equation" r:id="rId12" imgW="812447" imgH="444307" progId="Equation.3">
                  <p:embed/>
                </p:oleObj>
              </mc:Choice>
              <mc:Fallback>
                <p:oleObj name="Equation" r:id="rId12" imgW="812447" imgH="444307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4210050"/>
                        <a:ext cx="1287463" cy="7080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0" name="Line 24"/>
          <p:cNvSpPr>
            <a:spLocks noChangeShapeType="1"/>
          </p:cNvSpPr>
          <p:nvPr/>
        </p:nvSpPr>
        <p:spPr bwMode="auto">
          <a:xfrm flipV="1">
            <a:off x="7524750" y="4930775"/>
            <a:ext cx="142875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6" name="Object 14"/>
          <p:cNvGraphicFramePr>
            <a:graphicFrameLocks noChangeAspect="1"/>
          </p:cNvGraphicFramePr>
          <p:nvPr/>
        </p:nvGraphicFramePr>
        <p:xfrm>
          <a:off x="323850" y="3860800"/>
          <a:ext cx="511175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7" name="Equation" r:id="rId14" imgW="2908300" imgH="736600" progId="Equation.3">
                  <p:embed/>
                </p:oleObj>
              </mc:Choice>
              <mc:Fallback>
                <p:oleObj name="Equation" r:id="rId14" imgW="2908300" imgH="736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860800"/>
                        <a:ext cx="5111750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73" name="Group 32"/>
          <p:cNvGrpSpPr>
            <a:grpSpLocks/>
          </p:cNvGrpSpPr>
          <p:nvPr/>
        </p:nvGrpSpPr>
        <p:grpSpPr bwMode="auto">
          <a:xfrm>
            <a:off x="250825" y="5888038"/>
            <a:ext cx="7762875" cy="709612"/>
            <a:chOff x="340" y="3709"/>
            <a:chExt cx="4890" cy="447"/>
          </a:xfrm>
        </p:grpSpPr>
        <p:graphicFrame>
          <p:nvGraphicFramePr>
            <p:cNvPr id="19475" name="Object 21"/>
            <p:cNvGraphicFramePr>
              <a:graphicFrameLocks noChangeAspect="1"/>
            </p:cNvGraphicFramePr>
            <p:nvPr/>
          </p:nvGraphicFramePr>
          <p:xfrm>
            <a:off x="1728" y="3709"/>
            <a:ext cx="608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18" name="Equation" r:id="rId16" imgW="609336" imgH="444307" progId="Equation.3">
                    <p:embed/>
                  </p:oleObj>
                </mc:Choice>
                <mc:Fallback>
                  <p:oleObj name="Equation" r:id="rId16" imgW="609336" imgH="444307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3709"/>
                          <a:ext cx="608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6" name="Text Box 30"/>
            <p:cNvSpPr txBox="1">
              <a:spLocks noChangeArrowheads="1"/>
            </p:cNvSpPr>
            <p:nvPr/>
          </p:nvSpPr>
          <p:spPr bwMode="auto">
            <a:xfrm>
              <a:off x="2410" y="3789"/>
              <a:ext cx="28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ce schéma est inconditionnellement stable</a:t>
              </a:r>
            </a:p>
          </p:txBody>
        </p:sp>
        <p:sp>
          <p:nvSpPr>
            <p:cNvPr id="19487" name="Text Box 31"/>
            <p:cNvSpPr txBox="1">
              <a:spLocks noChangeArrowheads="1"/>
            </p:cNvSpPr>
            <p:nvPr/>
          </p:nvSpPr>
          <p:spPr bwMode="auto">
            <a:xfrm>
              <a:off x="340" y="3793"/>
              <a:ext cx="20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Pour toute valeur de                ,</a:t>
              </a:r>
            </a:p>
          </p:txBody>
        </p:sp>
      </p:grpSp>
      <p:graphicFrame>
        <p:nvGraphicFramePr>
          <p:cNvPr id="19474" name="Object 34"/>
          <p:cNvGraphicFramePr>
            <a:graphicFrameLocks noChangeAspect="1"/>
          </p:cNvGraphicFramePr>
          <p:nvPr/>
        </p:nvGraphicFramePr>
        <p:xfrm>
          <a:off x="611188" y="476250"/>
          <a:ext cx="767715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9" name="Equation" r:id="rId18" imgW="4241800" imgH="533400" progId="Equation.DSMT4">
                  <p:embed/>
                </p:oleObj>
              </mc:Choice>
              <mc:Fallback>
                <p:oleObj name="Equation" r:id="rId18" imgW="4241800" imgH="5334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76250"/>
                        <a:ext cx="7677150" cy="9620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196850" y="163513"/>
            <a:ext cx="74676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 b="1">
                <a:solidFill>
                  <a:schemeClr val="accent2"/>
                </a:solidFill>
              </a:rPr>
              <a:t>Conditions aux limites de type Dirichlet à gauche et à droite</a:t>
            </a: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250825" y="981075"/>
            <a:ext cx="457041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  <a:defRPr/>
            </a:pPr>
            <a:r>
              <a:rPr lang="fr-FR" dirty="0">
                <a:latin typeface="Arial" charset="0"/>
                <a:ea typeface="ＭＳ Ｐゴシック" charset="0"/>
              </a:rPr>
              <a:t> A chaque instant , on a                           et    </a:t>
            </a:r>
          </a:p>
        </p:txBody>
      </p:sp>
      <p:graphicFrame>
        <p:nvGraphicFramePr>
          <p:cNvPr id="20483" name="Object 6"/>
          <p:cNvGraphicFramePr>
            <a:graphicFrameLocks noChangeAspect="1"/>
          </p:cNvGraphicFramePr>
          <p:nvPr/>
        </p:nvGraphicFramePr>
        <p:xfrm>
          <a:off x="3132138" y="908050"/>
          <a:ext cx="121443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9" name="Equation" r:id="rId3" imgW="583947" imgH="253890" progId="Equation.3">
                  <p:embed/>
                </p:oleObj>
              </mc:Choice>
              <mc:Fallback>
                <p:oleObj name="Equation" r:id="rId3" imgW="583947" imgH="25389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908050"/>
                        <a:ext cx="1214437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22"/>
          <p:cNvGraphicFramePr>
            <a:graphicFrameLocks noChangeAspect="1"/>
          </p:cNvGraphicFramePr>
          <p:nvPr/>
        </p:nvGraphicFramePr>
        <p:xfrm>
          <a:off x="5148263" y="981075"/>
          <a:ext cx="10382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Equation" r:id="rId5" imgW="571252" imgH="241195" progId="Equation.3">
                  <p:embed/>
                </p:oleObj>
              </mc:Choice>
              <mc:Fallback>
                <p:oleObj name="Equation" r:id="rId5" imgW="571252" imgH="241195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981075"/>
                        <a:ext cx="10382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250825" y="1773238"/>
            <a:ext cx="8085138" cy="74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fr-FR" altLang="fr-FR" sz="1800"/>
              <a:t> Ces expressions remplacent l’équation de la chaleur aux nœuds extrémités,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le système d’équations linéaires devient :</a:t>
            </a:r>
          </a:p>
        </p:txBody>
      </p:sp>
      <p:graphicFrame>
        <p:nvGraphicFramePr>
          <p:cNvPr id="2048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20345"/>
              </p:ext>
            </p:extLst>
          </p:nvPr>
        </p:nvGraphicFramePr>
        <p:xfrm>
          <a:off x="2074863" y="3016250"/>
          <a:ext cx="3900487" cy="231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Equation" r:id="rId7" imgW="2171520" imgH="1282680" progId="Equation.DSMT4">
                  <p:embed/>
                </p:oleObj>
              </mc:Choice>
              <mc:Fallback>
                <p:oleObj name="Equation" r:id="rId7" imgW="2171520" imgH="12826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863" y="3016250"/>
                        <a:ext cx="3900487" cy="231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196850" y="163513"/>
            <a:ext cx="57848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 b="1">
                <a:solidFill>
                  <a:schemeClr val="accent2"/>
                </a:solidFill>
              </a:rPr>
              <a:t>Conditions aux limites de Neumann à gauche </a:t>
            </a:r>
          </a:p>
        </p:txBody>
      </p:sp>
      <p:graphicFrame>
        <p:nvGraphicFramePr>
          <p:cNvPr id="21506" name="Object 7"/>
          <p:cNvGraphicFramePr>
            <a:graphicFrameLocks noChangeAspect="1"/>
          </p:cNvGraphicFramePr>
          <p:nvPr/>
        </p:nvGraphicFramePr>
        <p:xfrm>
          <a:off x="2411413" y="590550"/>
          <a:ext cx="3224212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3" name="Equation" r:id="rId3" imgW="2235200" imgH="863600" progId="Equation.3">
                  <p:embed/>
                </p:oleObj>
              </mc:Choice>
              <mc:Fallback>
                <p:oleObj name="Equation" r:id="rId3" imgW="2235200" imgH="863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90550"/>
                        <a:ext cx="3224212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5940425" y="836613"/>
            <a:ext cx="29670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h  = coefficient d</a:t>
            </a:r>
            <a:r>
              <a:rPr lang="ja-JP" altLang="fr-FR" sz="1800"/>
              <a:t>’</a:t>
            </a:r>
            <a:r>
              <a:rPr lang="fr-FR" altLang="ja-JP" sz="1800"/>
              <a:t>échange</a:t>
            </a:r>
          </a:p>
          <a:p>
            <a:pPr eaLnBrk="1" hangingPunct="1"/>
            <a:r>
              <a:rPr lang="fr-FR" altLang="fr-FR" sz="1800"/>
              <a:t>T</a:t>
            </a:r>
            <a:r>
              <a:rPr lang="fr-FR" altLang="fr-FR" sz="1800" baseline="-25000"/>
              <a:t>a</a:t>
            </a:r>
            <a:r>
              <a:rPr lang="fr-FR" altLang="fr-FR" sz="1800"/>
              <a:t> = température ambiante </a:t>
            </a:r>
          </a:p>
        </p:txBody>
      </p: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395288" y="2060575"/>
            <a:ext cx="6775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forme discrétisée de l</a:t>
            </a:r>
            <a:r>
              <a:rPr lang="ja-JP" altLang="fr-FR" sz="1800"/>
              <a:t>’</a:t>
            </a:r>
            <a:r>
              <a:rPr lang="fr-FR" altLang="ja-JP" sz="1800"/>
              <a:t>équation de la chaleur  modifiée en surface</a:t>
            </a:r>
            <a:endParaRPr lang="fr-FR" altLang="fr-FR" sz="1800"/>
          </a:p>
        </p:txBody>
      </p:sp>
      <p:graphicFrame>
        <p:nvGraphicFramePr>
          <p:cNvPr id="21509" name="Object 12"/>
          <p:cNvGraphicFramePr>
            <a:graphicFrameLocks noChangeAspect="1"/>
          </p:cNvGraphicFramePr>
          <p:nvPr/>
        </p:nvGraphicFramePr>
        <p:xfrm>
          <a:off x="468313" y="2420938"/>
          <a:ext cx="42433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4" name="Equation" r:id="rId5" imgW="2374900" imgH="508000" progId="Equation.3">
                  <p:embed/>
                </p:oleObj>
              </mc:Choice>
              <mc:Fallback>
                <p:oleObj name="Equation" r:id="rId5" imgW="2374900" imgH="508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420938"/>
                        <a:ext cx="42433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7" name="Text Box 13"/>
          <p:cNvSpPr txBox="1">
            <a:spLocks noChangeArrowheads="1"/>
          </p:cNvSpPr>
          <p:nvPr/>
        </p:nvSpPr>
        <p:spPr bwMode="auto">
          <a:xfrm>
            <a:off x="4787900" y="2614613"/>
            <a:ext cx="4362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 partir du D.L. et de l</a:t>
            </a:r>
            <a:r>
              <a:rPr lang="ja-JP" altLang="fr-FR" sz="1800"/>
              <a:t>’</a:t>
            </a:r>
            <a:r>
              <a:rPr lang="fr-FR" altLang="ja-JP" sz="1800"/>
              <a:t>expression du flux,</a:t>
            </a:r>
          </a:p>
          <a:p>
            <a:pPr eaLnBrk="1" hangingPunct="1"/>
            <a:r>
              <a:rPr lang="fr-FR" altLang="fr-FR" sz="1800"/>
              <a:t>la dérivée seconde au nœud 1 s</a:t>
            </a:r>
            <a:r>
              <a:rPr lang="ja-JP" altLang="fr-FR" sz="1800"/>
              <a:t>’</a:t>
            </a:r>
            <a:r>
              <a:rPr lang="fr-FR" altLang="ja-JP" sz="1800"/>
              <a:t>écrit  </a:t>
            </a:r>
            <a:endParaRPr lang="fr-FR" altLang="fr-FR" sz="1800"/>
          </a:p>
        </p:txBody>
      </p:sp>
      <p:graphicFrame>
        <p:nvGraphicFramePr>
          <p:cNvPr id="21511" name="Object 14"/>
          <p:cNvGraphicFramePr>
            <a:graphicFrameLocks noChangeAspect="1"/>
          </p:cNvGraphicFramePr>
          <p:nvPr/>
        </p:nvGraphicFramePr>
        <p:xfrm>
          <a:off x="461963" y="3357563"/>
          <a:ext cx="8461375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5" name="Equation" r:id="rId7" imgW="4699000" imgH="533400" progId="Equation.3">
                  <p:embed/>
                </p:oleObj>
              </mc:Choice>
              <mc:Fallback>
                <p:oleObj name="Equation" r:id="rId7" imgW="4699000" imgH="533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3357563"/>
                        <a:ext cx="8461375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15"/>
          <p:cNvGraphicFramePr>
            <a:graphicFrameLocks noChangeAspect="1"/>
          </p:cNvGraphicFramePr>
          <p:nvPr/>
        </p:nvGraphicFramePr>
        <p:xfrm>
          <a:off x="1423988" y="4502150"/>
          <a:ext cx="6919912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6" name="Equation" r:id="rId9" imgW="3810000" imgH="482600" progId="Equation.3">
                  <p:embed/>
                </p:oleObj>
              </mc:Choice>
              <mc:Fallback>
                <p:oleObj name="Equation" r:id="rId9" imgW="3810000" imgH="482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8" y="4502150"/>
                        <a:ext cx="6919912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0" name="Text Box 16"/>
          <p:cNvSpPr txBox="1">
            <a:spLocks noChangeArrowheads="1"/>
          </p:cNvSpPr>
          <p:nvPr/>
        </p:nvSpPr>
        <p:spPr bwMode="auto">
          <a:xfrm>
            <a:off x="447675" y="4718050"/>
            <a:ext cx="654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D</a:t>
            </a:r>
            <a:r>
              <a:rPr lang="ja-JP" altLang="fr-FR" sz="1800"/>
              <a:t>’</a:t>
            </a:r>
            <a:r>
              <a:rPr lang="fr-FR" altLang="ja-JP" sz="1800"/>
              <a:t>où</a:t>
            </a:r>
            <a:endParaRPr lang="fr-FR" altLang="fr-FR" sz="1800"/>
          </a:p>
        </p:txBody>
      </p:sp>
      <p:sp>
        <p:nvSpPr>
          <p:cNvPr id="31761" name="Text Box 17"/>
          <p:cNvSpPr txBox="1">
            <a:spLocks noChangeArrowheads="1"/>
          </p:cNvSpPr>
          <p:nvPr/>
        </p:nvSpPr>
        <p:spPr bwMode="auto">
          <a:xfrm>
            <a:off x="447675" y="5373688"/>
            <a:ext cx="1860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Autrement écrit :</a:t>
            </a:r>
          </a:p>
        </p:txBody>
      </p:sp>
      <p:grpSp>
        <p:nvGrpSpPr>
          <p:cNvPr id="21515" name="Group 26"/>
          <p:cNvGrpSpPr>
            <a:grpSpLocks/>
          </p:cNvGrpSpPr>
          <p:nvPr/>
        </p:nvGrpSpPr>
        <p:grpSpPr bwMode="auto">
          <a:xfrm>
            <a:off x="611188" y="981075"/>
            <a:ext cx="1755775" cy="850900"/>
            <a:chOff x="3606" y="931"/>
            <a:chExt cx="1106" cy="536"/>
          </a:xfrm>
        </p:grpSpPr>
        <p:sp>
          <p:nvSpPr>
            <p:cNvPr id="31763" name="Line 19"/>
            <p:cNvSpPr>
              <a:spLocks noChangeShapeType="1"/>
            </p:cNvSpPr>
            <p:nvPr/>
          </p:nvSpPr>
          <p:spPr bwMode="auto">
            <a:xfrm flipH="1">
              <a:off x="3715" y="1241"/>
              <a:ext cx="49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31764" name="Line 20"/>
            <p:cNvSpPr>
              <a:spLocks noChangeShapeType="1"/>
            </p:cNvSpPr>
            <p:nvPr/>
          </p:nvSpPr>
          <p:spPr bwMode="auto">
            <a:xfrm flipH="1" flipV="1">
              <a:off x="4214" y="1014"/>
              <a:ext cx="0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31765" name="Text Box 21"/>
            <p:cNvSpPr txBox="1">
              <a:spLocks noChangeArrowheads="1"/>
            </p:cNvSpPr>
            <p:nvPr/>
          </p:nvSpPr>
          <p:spPr bwMode="auto">
            <a:xfrm flipH="1">
              <a:off x="4256" y="931"/>
              <a:ext cx="25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T</a:t>
              </a:r>
              <a:r>
                <a:rPr lang="fr-FR" baseline="-25000">
                  <a:latin typeface="Arial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31766" name="Text Box 22"/>
            <p:cNvSpPr txBox="1">
              <a:spLocks noChangeArrowheads="1"/>
            </p:cNvSpPr>
            <p:nvPr/>
          </p:nvSpPr>
          <p:spPr bwMode="auto">
            <a:xfrm flipH="1">
              <a:off x="3606" y="935"/>
              <a:ext cx="25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T</a:t>
              </a:r>
              <a:r>
                <a:rPr lang="fr-FR" baseline="-25000">
                  <a:latin typeface="Arial" charset="0"/>
                  <a:ea typeface="ＭＳ Ｐゴシック" charset="0"/>
                </a:rPr>
                <a:t>a</a:t>
              </a: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31767" name="Text Box 23"/>
            <p:cNvSpPr txBox="1">
              <a:spLocks noChangeArrowheads="1"/>
            </p:cNvSpPr>
            <p:nvPr/>
          </p:nvSpPr>
          <p:spPr bwMode="auto">
            <a:xfrm flipH="1">
              <a:off x="4023" y="1019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b="1">
                  <a:solidFill>
                    <a:srgbClr val="FF0000"/>
                  </a:solidFill>
                  <a:latin typeface="Arial" charset="0"/>
                  <a:ea typeface="ＭＳ Ｐゴシック" charset="0"/>
                </a:rPr>
                <a:t>n</a:t>
              </a:r>
            </a:p>
          </p:txBody>
        </p:sp>
        <p:sp>
          <p:nvSpPr>
            <p:cNvPr id="31768" name="Line 24"/>
            <p:cNvSpPr>
              <a:spLocks noChangeShapeType="1"/>
            </p:cNvSpPr>
            <p:nvPr/>
          </p:nvSpPr>
          <p:spPr bwMode="auto">
            <a:xfrm>
              <a:off x="4213" y="1241"/>
              <a:ext cx="4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</p:grpSp>
      <p:graphicFrame>
        <p:nvGraphicFramePr>
          <p:cNvPr id="21516" name="Object 28"/>
          <p:cNvGraphicFramePr>
            <a:graphicFrameLocks noChangeAspect="1"/>
          </p:cNvGraphicFramePr>
          <p:nvPr/>
        </p:nvGraphicFramePr>
        <p:xfrm>
          <a:off x="1331913" y="5734050"/>
          <a:ext cx="6989762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7" name="Equation" r:id="rId11" imgW="3962400" imgH="482600" progId="Equation.3">
                  <p:embed/>
                </p:oleObj>
              </mc:Choice>
              <mc:Fallback>
                <p:oleObj name="Equation" r:id="rId11" imgW="3962400" imgH="482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734050"/>
                        <a:ext cx="6989762" cy="8445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2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7"/>
          <a:stretch>
            <a:fillRect/>
          </a:stretch>
        </p:blipFill>
        <p:spPr bwMode="auto">
          <a:xfrm>
            <a:off x="0" y="844550"/>
            <a:ext cx="7559675" cy="601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231775" y="136525"/>
            <a:ext cx="7156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Différences Finies Méthode Implicte : Le programme MDFI_main</a:t>
            </a:r>
          </a:p>
        </p:txBody>
      </p: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6948488" y="2781300"/>
            <a:ext cx="170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Structure</a:t>
            </a:r>
            <a:r>
              <a:rPr lang="fr-FR" b="1">
                <a:latin typeface="Arial" charset="0"/>
                <a:ea typeface="ＭＳ Ｐゴシック" charset="0"/>
              </a:rPr>
              <a:t> phys</a:t>
            </a:r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6877050" y="5942013"/>
            <a:ext cx="1771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Structure</a:t>
            </a:r>
            <a:r>
              <a:rPr lang="fr-FR" b="1">
                <a:latin typeface="Arial" charset="0"/>
                <a:ea typeface="ＭＳ Ｐゴシック" charset="0"/>
              </a:rPr>
              <a:t> simul</a:t>
            </a:r>
          </a:p>
        </p:txBody>
      </p:sp>
      <p:sp>
        <p:nvSpPr>
          <p:cNvPr id="60423" name="AutoShape 7"/>
          <p:cNvSpPr>
            <a:spLocks/>
          </p:cNvSpPr>
          <p:nvPr/>
        </p:nvSpPr>
        <p:spPr bwMode="auto">
          <a:xfrm>
            <a:off x="6516688" y="1628775"/>
            <a:ext cx="360362" cy="2663825"/>
          </a:xfrm>
          <a:prstGeom prst="rightBrace">
            <a:avLst>
              <a:gd name="adj1" fmla="val 6160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0424" name="AutoShape 8"/>
          <p:cNvSpPr>
            <a:spLocks/>
          </p:cNvSpPr>
          <p:nvPr/>
        </p:nvSpPr>
        <p:spPr bwMode="auto">
          <a:xfrm>
            <a:off x="6516688" y="5516563"/>
            <a:ext cx="360362" cy="1296987"/>
          </a:xfrm>
          <a:prstGeom prst="rightBrace">
            <a:avLst>
              <a:gd name="adj1" fmla="val 2999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pic>
        <p:nvPicPr>
          <p:cNvPr id="60427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49275"/>
            <a:ext cx="2376488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8" name="Text Box 8"/>
          <p:cNvSpPr txBox="1">
            <a:spLocks noChangeArrowheads="1"/>
          </p:cNvSpPr>
          <p:nvPr/>
        </p:nvSpPr>
        <p:spPr bwMode="auto">
          <a:xfrm>
            <a:off x="107950" y="750888"/>
            <a:ext cx="8985250" cy="620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 Noms des fonctions :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 MDFI_main            : Programme principal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   lecture_probleme   : Lecture des proprietes physiques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   lecture_simul      : Lecture des parametres de la simulation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   implicite          : Algorithme de résolution transitoire implicite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   source             : Fonction permettant de calculer la source en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                        un point défini par son abscisse reelle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   affichage_solution : Affichage des distributions de temperatures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 Proprietes physiques du materiau et conditions aux limites a gauche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[phys]=lecture_probleme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Parametres de la simulation et tests sur la stabilite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[simul]=lecture_simul(phys)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methode implicite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[x,Tn]=implicite(phys,simul);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Representation graphique             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affichage_solution(x,Tn,simul)</a:t>
            </a:r>
            <a:endParaRPr lang="fr-FR" altLang="fr-FR" sz="1600"/>
          </a:p>
          <a:p>
            <a:pPr eaLnBrk="1" hangingPunct="1"/>
            <a:endParaRPr lang="fr-FR" altLang="fr-FR" sz="1600"/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2339975" y="188913"/>
            <a:ext cx="414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MDFI_main.m : </a:t>
            </a:r>
            <a:r>
              <a:rPr lang="fr-FR" altLang="fr-FR" sz="1800" b="1"/>
              <a:t>les fonctions définies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231775" y="136525"/>
            <a:ext cx="6927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Différences Finies Méthode Implicite : exemple de simulations</a:t>
            </a:r>
          </a:p>
        </p:txBody>
      </p:sp>
      <p:pic>
        <p:nvPicPr>
          <p:cNvPr id="6247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213100"/>
            <a:ext cx="2822575" cy="364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247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981075"/>
            <a:ext cx="2808288" cy="215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247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981075"/>
            <a:ext cx="2665413" cy="1106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2473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913" y="981075"/>
            <a:ext cx="2735262" cy="1116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2474" name="Text Box 10"/>
          <p:cNvSpPr txBox="1">
            <a:spLocks noChangeArrowheads="1"/>
          </p:cNvSpPr>
          <p:nvPr/>
        </p:nvSpPr>
        <p:spPr bwMode="auto">
          <a:xfrm>
            <a:off x="250825" y="614363"/>
            <a:ext cx="2266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Stabilité numérique :</a:t>
            </a:r>
          </a:p>
        </p:txBody>
      </p:sp>
      <p:pic>
        <p:nvPicPr>
          <p:cNvPr id="6246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2332038"/>
            <a:ext cx="5400675" cy="419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231775" y="207963"/>
            <a:ext cx="5073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Implémentation du schéma implicite pour les</a:t>
            </a:r>
          </a:p>
          <a:p>
            <a:pPr eaLnBrk="1" hangingPunct="1"/>
            <a:r>
              <a:rPr lang="fr-FR" altLang="fr-FR" sz="1800" b="1"/>
              <a:t>points intérieurs </a:t>
            </a:r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6877050" y="115888"/>
            <a:ext cx="2232025" cy="3952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Fonction implicite.m</a:t>
            </a:r>
          </a:p>
        </p:txBody>
      </p:sp>
      <p:graphicFrame>
        <p:nvGraphicFramePr>
          <p:cNvPr id="25603" name="Object 6"/>
          <p:cNvGraphicFramePr>
            <a:graphicFrameLocks noChangeAspect="1"/>
          </p:cNvGraphicFramePr>
          <p:nvPr/>
        </p:nvGraphicFramePr>
        <p:xfrm>
          <a:off x="250825" y="1133475"/>
          <a:ext cx="860425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name="Equation" r:id="rId3" imgW="4140200" imgH="482600" progId="Equation.3">
                  <p:embed/>
                </p:oleObj>
              </mc:Choice>
              <mc:Fallback>
                <p:oleObj name="Equation" r:id="rId3" imgW="4140200" imgH="48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133475"/>
                        <a:ext cx="8604250" cy="10001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5" name="Text Box 7"/>
          <p:cNvSpPr txBox="1">
            <a:spLocks noChangeArrowheads="1"/>
          </p:cNvSpPr>
          <p:nvPr/>
        </p:nvSpPr>
        <p:spPr bwMode="auto">
          <a:xfrm>
            <a:off x="3059113" y="2270125"/>
            <a:ext cx="10080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fr-FR" b="1">
                <a:solidFill>
                  <a:srgbClr val="FF0000"/>
                </a:solidFill>
                <a:latin typeface="Arial" charset="0"/>
                <a:ea typeface="ＭＳ Ｐゴシック" charset="0"/>
              </a:rPr>
              <a:t>A(p,p)</a:t>
            </a:r>
          </a:p>
        </p:txBody>
      </p:sp>
      <p:sp>
        <p:nvSpPr>
          <p:cNvPr id="63496" name="Text Box 8"/>
          <p:cNvSpPr txBox="1">
            <a:spLocks noChangeArrowheads="1"/>
          </p:cNvSpPr>
          <p:nvPr/>
        </p:nvSpPr>
        <p:spPr bwMode="auto">
          <a:xfrm>
            <a:off x="612775" y="2270125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fr-FR" b="1">
                <a:solidFill>
                  <a:srgbClr val="FF0000"/>
                </a:solidFill>
                <a:latin typeface="Arial" charset="0"/>
                <a:ea typeface="ＭＳ Ｐゴシック" charset="0"/>
              </a:rPr>
              <a:t>A(p, p-1)</a:t>
            </a:r>
          </a:p>
        </p:txBody>
      </p:sp>
      <p:sp>
        <p:nvSpPr>
          <p:cNvPr id="63497" name="Text Box 9"/>
          <p:cNvSpPr txBox="1">
            <a:spLocks noChangeArrowheads="1"/>
          </p:cNvSpPr>
          <p:nvPr/>
        </p:nvSpPr>
        <p:spPr bwMode="auto">
          <a:xfrm>
            <a:off x="7524750" y="2270125"/>
            <a:ext cx="9366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fr-FR" b="1">
                <a:solidFill>
                  <a:srgbClr val="FF0000"/>
                </a:solidFill>
                <a:latin typeface="Arial" charset="0"/>
                <a:ea typeface="ＭＳ Ｐゴシック" charset="0"/>
              </a:rPr>
              <a:t>b(p)</a:t>
            </a:r>
          </a:p>
        </p:txBody>
      </p:sp>
      <p:sp>
        <p:nvSpPr>
          <p:cNvPr id="63498" name="Text Box 10"/>
          <p:cNvSpPr txBox="1">
            <a:spLocks noChangeArrowheads="1"/>
          </p:cNvSpPr>
          <p:nvPr/>
        </p:nvSpPr>
        <p:spPr bwMode="auto">
          <a:xfrm>
            <a:off x="5435600" y="2270125"/>
            <a:ext cx="11525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fr-FR" b="1">
                <a:solidFill>
                  <a:srgbClr val="FF0000"/>
                </a:solidFill>
                <a:latin typeface="Arial" charset="0"/>
                <a:ea typeface="ＭＳ Ｐゴシック" charset="0"/>
              </a:rPr>
              <a:t>A(p,p+1)</a:t>
            </a:r>
          </a:p>
        </p:txBody>
      </p:sp>
      <p:sp>
        <p:nvSpPr>
          <p:cNvPr id="63501" name="Text Box 13"/>
          <p:cNvSpPr txBox="1">
            <a:spLocks noChangeArrowheads="1"/>
          </p:cNvSpPr>
          <p:nvPr/>
        </p:nvSpPr>
        <p:spPr bwMode="auto">
          <a:xfrm>
            <a:off x="-252413" y="3025775"/>
            <a:ext cx="9328151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000">
                <a:latin typeface="Arial" charset="0"/>
                <a:ea typeface="ＭＳ Ｐゴシック" charset="0"/>
              </a:rPr>
              <a:t> </a:t>
            </a:r>
            <a:r>
              <a:rPr lang="fr-FR" sz="2000" b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 % Points interieurs du maillage</a:t>
            </a:r>
            <a:endParaRPr lang="fr-FR" sz="20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20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sz="2000" b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for</a:t>
            </a:r>
            <a:r>
              <a:rPr lang="fr-FR" sz="20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p=2:N-1</a:t>
            </a:r>
            <a:endParaRPr lang="fr-FR" sz="20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20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sz="2000" b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schema centre</a:t>
            </a:r>
            <a:endParaRPr lang="fr-FR" sz="20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20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x(p)=(p-1)*deltax;</a:t>
            </a:r>
            <a:endParaRPr lang="fr-FR" sz="20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20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A(p, p-1)=-kth/(deltax^2)-rho*cp*vitesse/(2*deltax);</a:t>
            </a:r>
            <a:endParaRPr lang="fr-FR" sz="20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20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A(p, p  )=2*kth/(deltax^2)+rho*cp/deltat;</a:t>
            </a:r>
            <a:endParaRPr lang="fr-FR" sz="20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20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A(p, p+1)=-kth/(deltax^2)+rho*cp*vitesse/(2*deltax);</a:t>
            </a:r>
            <a:endParaRPr lang="fr-FR" sz="20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20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endParaRPr lang="fr-FR" sz="20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20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b(p)=source(x(p))+rho*cp*Tprec(p)/deltat;</a:t>
            </a:r>
            <a:endParaRPr lang="fr-FR" sz="20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20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sz="2000" b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end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5" name="Object 9"/>
          <p:cNvGraphicFramePr>
            <a:graphicFrameLocks noChangeAspect="1"/>
          </p:cNvGraphicFramePr>
          <p:nvPr/>
        </p:nvGraphicFramePr>
        <p:xfrm>
          <a:off x="396875" y="366713"/>
          <a:ext cx="7991475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7" name="Equation" r:id="rId3" imgW="3962400" imgH="482600" progId="Equation.3">
                  <p:embed/>
                </p:oleObj>
              </mc:Choice>
              <mc:Fallback>
                <p:oleObj name="Equation" r:id="rId3" imgW="3962400" imgH="482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" y="366713"/>
                        <a:ext cx="7991475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2339975" y="188913"/>
            <a:ext cx="2663825" cy="10795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5851" name="Rectangle 11"/>
          <p:cNvSpPr>
            <a:spLocks noChangeArrowheads="1"/>
          </p:cNvSpPr>
          <p:nvPr/>
        </p:nvSpPr>
        <p:spPr bwMode="auto">
          <a:xfrm>
            <a:off x="179388" y="188913"/>
            <a:ext cx="1368425" cy="10795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5852" name="Rectangle 12"/>
          <p:cNvSpPr>
            <a:spLocks noChangeArrowheads="1"/>
          </p:cNvSpPr>
          <p:nvPr/>
        </p:nvSpPr>
        <p:spPr bwMode="auto">
          <a:xfrm>
            <a:off x="5795963" y="188913"/>
            <a:ext cx="2663825" cy="10795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5853" name="Text Box 13"/>
          <p:cNvSpPr txBox="1">
            <a:spLocks noChangeArrowheads="1"/>
          </p:cNvSpPr>
          <p:nvPr/>
        </p:nvSpPr>
        <p:spPr bwMode="auto">
          <a:xfrm>
            <a:off x="3348038" y="1341438"/>
            <a:ext cx="1295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fr-FR" b="1">
                <a:solidFill>
                  <a:srgbClr val="FF0000"/>
                </a:solidFill>
                <a:latin typeface="Arial" charset="0"/>
                <a:ea typeface="ＭＳ Ｐゴシック" charset="0"/>
              </a:rPr>
              <a:t>A(1, 1)</a:t>
            </a:r>
          </a:p>
        </p:txBody>
      </p:sp>
      <p:sp>
        <p:nvSpPr>
          <p:cNvPr id="35854" name="Text Box 14"/>
          <p:cNvSpPr txBox="1">
            <a:spLocks noChangeArrowheads="1"/>
          </p:cNvSpPr>
          <p:nvPr/>
        </p:nvSpPr>
        <p:spPr bwMode="auto">
          <a:xfrm>
            <a:off x="468313" y="1341438"/>
            <a:ext cx="935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fr-FR" b="1">
                <a:solidFill>
                  <a:srgbClr val="FF0000"/>
                </a:solidFill>
                <a:latin typeface="Arial" charset="0"/>
                <a:ea typeface="ＭＳ Ｐゴシック" charset="0"/>
              </a:rPr>
              <a:t>A(1, 2)</a:t>
            </a:r>
          </a:p>
        </p:txBody>
      </p:sp>
      <p:sp>
        <p:nvSpPr>
          <p:cNvPr id="35855" name="Text Box 15"/>
          <p:cNvSpPr txBox="1">
            <a:spLocks noChangeArrowheads="1"/>
          </p:cNvSpPr>
          <p:nvPr/>
        </p:nvSpPr>
        <p:spPr bwMode="auto">
          <a:xfrm>
            <a:off x="6804025" y="1341438"/>
            <a:ext cx="7191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fr-FR" b="1">
                <a:solidFill>
                  <a:srgbClr val="FF0000"/>
                </a:solidFill>
                <a:latin typeface="Arial" charset="0"/>
                <a:ea typeface="ＭＳ Ｐゴシック" charset="0"/>
              </a:rPr>
              <a:t>b(1)</a:t>
            </a:r>
          </a:p>
        </p:txBody>
      </p:sp>
      <p:sp>
        <p:nvSpPr>
          <p:cNvPr id="35857" name="Text Box 17"/>
          <p:cNvSpPr txBox="1">
            <a:spLocks noChangeArrowheads="1"/>
          </p:cNvSpPr>
          <p:nvPr/>
        </p:nvSpPr>
        <p:spPr bwMode="auto">
          <a:xfrm>
            <a:off x="179388" y="1931988"/>
            <a:ext cx="8374062" cy="449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600">
                <a:latin typeface="Arial" charset="0"/>
                <a:ea typeface="ＭＳ Ｐゴシック" charset="0"/>
              </a:rPr>
              <a:t> </a:t>
            </a:r>
            <a:r>
              <a:rPr lang="fr-FR" sz="1600" b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 % Initialisation : CAL a gauche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sz="1600" b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if</a:t>
            </a: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phys.type_cl_gauche==</a:t>
            </a:r>
            <a:r>
              <a:rPr lang="fr-FR" sz="1600" b="1">
                <a:solidFill>
                  <a:srgbClr val="A020F0"/>
                </a:solidFill>
                <a:latin typeface="Courier New" charset="0"/>
                <a:ea typeface="ＭＳ Ｐゴシック" charset="0"/>
              </a:rPr>
              <a:t>'DIRICHLET'</a:t>
            </a: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sz="1600" b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CAL de Dirichlet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x(1)=0;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A(1, 1)=1;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b(1)=phys.Tdg;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sz="1600" b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else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sz="1600" b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CAL de Neumann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hg=phys.hg;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Tag=phys.Tag;  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x(1)=0;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A(1, 1)=2*kth/(deltax^2)+2*hg/deltax+rho*cp/deltat;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A(1, 2)=-2*kth/(deltax^2);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b(1)=Tag*(2*hg/deltax)+source(x(1))+rho*cp*Tprec(1)/deltat;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sz="1600" b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end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endParaRPr lang="fr-FR" sz="160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196850" y="163513"/>
            <a:ext cx="55292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 b="1">
                <a:solidFill>
                  <a:schemeClr val="accent2"/>
                </a:solidFill>
              </a:rPr>
              <a:t>Conditions aux limites de Neumann à droite</a:t>
            </a:r>
          </a:p>
        </p:txBody>
      </p:sp>
      <p:sp>
        <p:nvSpPr>
          <p:cNvPr id="20503" name="Rectangle 23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0505" name="Rectangle 2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7652" name="Object 37"/>
          <p:cNvGraphicFramePr>
            <a:graphicFrameLocks noChangeAspect="1"/>
          </p:cNvGraphicFramePr>
          <p:nvPr/>
        </p:nvGraphicFramePr>
        <p:xfrm>
          <a:off x="3394075" y="584200"/>
          <a:ext cx="3698875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3" name="Equation" r:id="rId3" imgW="2324100" imgH="914400" progId="Equation.DSMT4">
                  <p:embed/>
                </p:oleObj>
              </mc:Choice>
              <mc:Fallback>
                <p:oleObj name="Equation" r:id="rId3" imgW="2324100" imgH="9144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075" y="584200"/>
                        <a:ext cx="3698875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8" name="Text Box 48"/>
          <p:cNvSpPr txBox="1">
            <a:spLocks noChangeArrowheads="1"/>
          </p:cNvSpPr>
          <p:nvPr/>
        </p:nvSpPr>
        <p:spPr bwMode="auto">
          <a:xfrm>
            <a:off x="395288" y="2205038"/>
            <a:ext cx="6775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forme discrétisée de l</a:t>
            </a:r>
            <a:r>
              <a:rPr lang="ja-JP" altLang="fr-FR" sz="1800"/>
              <a:t>’</a:t>
            </a:r>
            <a:r>
              <a:rPr lang="fr-FR" altLang="ja-JP" sz="1800"/>
              <a:t>équation de la chaleur  modifiée en surface</a:t>
            </a:r>
            <a:endParaRPr lang="fr-FR" altLang="fr-FR" sz="1800"/>
          </a:p>
        </p:txBody>
      </p:sp>
      <p:sp>
        <p:nvSpPr>
          <p:cNvPr id="20530" name="Rectangle 50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7655" name="Object 49"/>
          <p:cNvGraphicFramePr>
            <a:graphicFrameLocks noChangeAspect="1"/>
          </p:cNvGraphicFramePr>
          <p:nvPr/>
        </p:nvGraphicFramePr>
        <p:xfrm>
          <a:off x="395288" y="2636838"/>
          <a:ext cx="42433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4" name="Equation" r:id="rId5" imgW="2374900" imgH="508000" progId="Equation.3">
                  <p:embed/>
                </p:oleObj>
              </mc:Choice>
              <mc:Fallback>
                <p:oleObj name="Equation" r:id="rId5" imgW="2374900" imgH="5080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636838"/>
                        <a:ext cx="42433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1" name="Text Box 51"/>
          <p:cNvSpPr txBox="1">
            <a:spLocks noChangeArrowheads="1"/>
          </p:cNvSpPr>
          <p:nvPr/>
        </p:nvSpPr>
        <p:spPr bwMode="auto">
          <a:xfrm>
            <a:off x="4781550" y="2787650"/>
            <a:ext cx="4362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 partir du D.L. et de l</a:t>
            </a:r>
            <a:r>
              <a:rPr lang="ja-JP" altLang="fr-FR" sz="1800"/>
              <a:t>’</a:t>
            </a:r>
            <a:r>
              <a:rPr lang="fr-FR" altLang="ja-JP" sz="1800"/>
              <a:t>expression du flux,</a:t>
            </a:r>
          </a:p>
          <a:p>
            <a:pPr eaLnBrk="1" hangingPunct="1"/>
            <a:r>
              <a:rPr lang="fr-FR" altLang="fr-FR" sz="1800"/>
              <a:t>la dérivée seconde au nœud N s</a:t>
            </a:r>
            <a:r>
              <a:rPr lang="ja-JP" altLang="fr-FR" sz="1800"/>
              <a:t>’</a:t>
            </a:r>
            <a:r>
              <a:rPr lang="fr-FR" altLang="ja-JP" sz="1800"/>
              <a:t>écrit  </a:t>
            </a:r>
            <a:endParaRPr lang="fr-FR" altLang="fr-FR" sz="1800"/>
          </a:p>
        </p:txBody>
      </p:sp>
      <p:sp>
        <p:nvSpPr>
          <p:cNvPr id="20533" name="Rectangle 53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7658" name="Object 52"/>
          <p:cNvGraphicFramePr>
            <a:graphicFrameLocks noChangeAspect="1"/>
          </p:cNvGraphicFramePr>
          <p:nvPr/>
        </p:nvGraphicFramePr>
        <p:xfrm>
          <a:off x="461963" y="3692525"/>
          <a:ext cx="8461375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5" name="Equation" r:id="rId7" imgW="4699000" imgH="533400" progId="Equation.3">
                  <p:embed/>
                </p:oleObj>
              </mc:Choice>
              <mc:Fallback>
                <p:oleObj name="Equation" r:id="rId7" imgW="4699000" imgH="53340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3692525"/>
                        <a:ext cx="8461375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5" name="Rectangle 55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7660" name="Object 54"/>
          <p:cNvGraphicFramePr>
            <a:graphicFrameLocks noChangeAspect="1"/>
          </p:cNvGraphicFramePr>
          <p:nvPr/>
        </p:nvGraphicFramePr>
        <p:xfrm>
          <a:off x="1416050" y="4724400"/>
          <a:ext cx="694213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6" name="Equation" r:id="rId9" imgW="3822700" imgH="482600" progId="Equation.3">
                  <p:embed/>
                </p:oleObj>
              </mc:Choice>
              <mc:Fallback>
                <p:oleObj name="Equation" r:id="rId9" imgW="3822700" imgH="48260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4724400"/>
                        <a:ext cx="6942138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7" name="Rectangle 57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0538" name="Text Box 58"/>
          <p:cNvSpPr txBox="1">
            <a:spLocks noChangeArrowheads="1"/>
          </p:cNvSpPr>
          <p:nvPr/>
        </p:nvSpPr>
        <p:spPr bwMode="auto">
          <a:xfrm>
            <a:off x="447675" y="4933950"/>
            <a:ext cx="654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D</a:t>
            </a:r>
            <a:r>
              <a:rPr lang="ja-JP" altLang="fr-FR" sz="1800"/>
              <a:t>’</a:t>
            </a:r>
            <a:r>
              <a:rPr lang="fr-FR" altLang="ja-JP" sz="1800"/>
              <a:t>où</a:t>
            </a:r>
            <a:endParaRPr lang="fr-FR" altLang="fr-FR" sz="1800"/>
          </a:p>
        </p:txBody>
      </p:sp>
      <p:sp>
        <p:nvSpPr>
          <p:cNvPr id="20539" name="Text Box 59"/>
          <p:cNvSpPr txBox="1">
            <a:spLocks noChangeArrowheads="1"/>
          </p:cNvSpPr>
          <p:nvPr/>
        </p:nvSpPr>
        <p:spPr bwMode="auto">
          <a:xfrm>
            <a:off x="323850" y="5516563"/>
            <a:ext cx="1860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Autrement écrit :</a:t>
            </a:r>
          </a:p>
        </p:txBody>
      </p:sp>
      <p:grpSp>
        <p:nvGrpSpPr>
          <p:cNvPr id="27664" name="Group 64"/>
          <p:cNvGrpSpPr>
            <a:grpSpLocks/>
          </p:cNvGrpSpPr>
          <p:nvPr/>
        </p:nvGrpSpPr>
        <p:grpSpPr bwMode="auto">
          <a:xfrm>
            <a:off x="1593850" y="1268413"/>
            <a:ext cx="1755775" cy="792162"/>
            <a:chOff x="3651" y="742"/>
            <a:chExt cx="1106" cy="499"/>
          </a:xfrm>
        </p:grpSpPr>
        <p:sp>
          <p:nvSpPr>
            <p:cNvPr id="20519" name="Line 39"/>
            <p:cNvSpPr>
              <a:spLocks noChangeShapeType="1"/>
            </p:cNvSpPr>
            <p:nvPr/>
          </p:nvSpPr>
          <p:spPr bwMode="auto">
            <a:xfrm>
              <a:off x="4150" y="1015"/>
              <a:ext cx="49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20520" name="Line 40"/>
            <p:cNvSpPr>
              <a:spLocks noChangeShapeType="1"/>
            </p:cNvSpPr>
            <p:nvPr/>
          </p:nvSpPr>
          <p:spPr bwMode="auto">
            <a:xfrm flipV="1">
              <a:off x="4149" y="788"/>
              <a:ext cx="0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20521" name="Text Box 41"/>
            <p:cNvSpPr txBox="1">
              <a:spLocks noChangeArrowheads="1"/>
            </p:cNvSpPr>
            <p:nvPr/>
          </p:nvSpPr>
          <p:spPr bwMode="auto">
            <a:xfrm>
              <a:off x="3832" y="742"/>
              <a:ext cx="27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T</a:t>
              </a:r>
              <a:r>
                <a:rPr lang="fr-FR" baseline="-25000">
                  <a:latin typeface="Arial" charset="0"/>
                  <a:ea typeface="ＭＳ Ｐゴシック" charset="0"/>
                </a:rPr>
                <a:t>N</a:t>
              </a:r>
            </a:p>
          </p:txBody>
        </p:sp>
        <p:sp>
          <p:nvSpPr>
            <p:cNvPr id="20522" name="Text Box 42"/>
            <p:cNvSpPr txBox="1">
              <a:spLocks noChangeArrowheads="1"/>
            </p:cNvSpPr>
            <p:nvPr/>
          </p:nvSpPr>
          <p:spPr bwMode="auto">
            <a:xfrm>
              <a:off x="4500" y="750"/>
              <a:ext cx="25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T</a:t>
              </a:r>
              <a:r>
                <a:rPr lang="fr-FR" baseline="-25000">
                  <a:latin typeface="Arial" charset="0"/>
                  <a:ea typeface="ＭＳ Ｐゴシック" charset="0"/>
                </a:rPr>
                <a:t>a</a:t>
              </a: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20523" name="Text Box 43"/>
            <p:cNvSpPr txBox="1">
              <a:spLocks noChangeArrowheads="1"/>
            </p:cNvSpPr>
            <p:nvPr/>
          </p:nvSpPr>
          <p:spPr bwMode="auto">
            <a:xfrm>
              <a:off x="4136" y="793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 b="1">
                  <a:solidFill>
                    <a:srgbClr val="FF0000"/>
                  </a:solidFill>
                  <a:latin typeface="Arial" charset="0"/>
                  <a:ea typeface="ＭＳ Ｐゴシック" charset="0"/>
                </a:rPr>
                <a:t>n</a:t>
              </a:r>
            </a:p>
          </p:txBody>
        </p:sp>
        <p:sp>
          <p:nvSpPr>
            <p:cNvPr id="20540" name="Line 60"/>
            <p:cNvSpPr>
              <a:spLocks noChangeShapeType="1"/>
            </p:cNvSpPr>
            <p:nvPr/>
          </p:nvSpPr>
          <p:spPr bwMode="auto">
            <a:xfrm flipH="1">
              <a:off x="3651" y="1015"/>
              <a:ext cx="4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0545" name="Text Box 65"/>
          <p:cNvSpPr txBox="1">
            <a:spLocks noChangeArrowheads="1"/>
          </p:cNvSpPr>
          <p:nvPr/>
        </p:nvSpPr>
        <p:spPr bwMode="auto">
          <a:xfrm>
            <a:off x="1522413" y="685800"/>
            <a:ext cx="13176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  <a:defRPr/>
            </a:pPr>
            <a:r>
              <a:rPr lang="fr-FR">
                <a:latin typeface="Arial" charset="0"/>
                <a:ea typeface="ＭＳ Ｐゴシック" charset="0"/>
              </a:rPr>
              <a:t> Neumann</a:t>
            </a:r>
          </a:p>
        </p:txBody>
      </p:sp>
      <p:graphicFrame>
        <p:nvGraphicFramePr>
          <p:cNvPr id="27666" name="Object 66"/>
          <p:cNvGraphicFramePr>
            <a:graphicFrameLocks noChangeAspect="1"/>
          </p:cNvGraphicFramePr>
          <p:nvPr/>
        </p:nvGraphicFramePr>
        <p:xfrm>
          <a:off x="1187450" y="5843588"/>
          <a:ext cx="68881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7" name="Equation" r:id="rId11" imgW="3987800" imgH="482600" progId="Equation.3">
                  <p:embed/>
                </p:oleObj>
              </mc:Choice>
              <mc:Fallback>
                <p:oleObj name="Equation" r:id="rId11" imgW="3987800" imgH="48260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843588"/>
                        <a:ext cx="6888163" cy="8255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3" name="Object 7"/>
          <p:cNvGraphicFramePr>
            <a:graphicFrameLocks noChangeAspect="1"/>
          </p:cNvGraphicFramePr>
          <p:nvPr/>
        </p:nvGraphicFramePr>
        <p:xfrm>
          <a:off x="468313" y="620713"/>
          <a:ext cx="7920037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5" name="Equation" r:id="rId3" imgW="3987800" imgH="482600" progId="Equation.3">
                  <p:embed/>
                </p:oleObj>
              </mc:Choice>
              <mc:Fallback>
                <p:oleObj name="Equation" r:id="rId3" imgW="3987800" imgH="482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620713"/>
                        <a:ext cx="7920037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2339975" y="469900"/>
            <a:ext cx="2663825" cy="10795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6873" name="Rectangle 9"/>
          <p:cNvSpPr>
            <a:spLocks noChangeArrowheads="1"/>
          </p:cNvSpPr>
          <p:nvPr/>
        </p:nvSpPr>
        <p:spPr bwMode="auto">
          <a:xfrm>
            <a:off x="179388" y="469900"/>
            <a:ext cx="1368425" cy="10795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6874" name="Rectangle 10"/>
          <p:cNvSpPr>
            <a:spLocks noChangeArrowheads="1"/>
          </p:cNvSpPr>
          <p:nvPr/>
        </p:nvSpPr>
        <p:spPr bwMode="auto">
          <a:xfrm>
            <a:off x="5795963" y="469900"/>
            <a:ext cx="2663825" cy="10795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6875" name="Text Box 11"/>
          <p:cNvSpPr txBox="1">
            <a:spLocks noChangeArrowheads="1"/>
          </p:cNvSpPr>
          <p:nvPr/>
        </p:nvSpPr>
        <p:spPr bwMode="auto">
          <a:xfrm>
            <a:off x="3348038" y="1622425"/>
            <a:ext cx="10080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fr-FR" b="1">
                <a:solidFill>
                  <a:srgbClr val="FF0000"/>
                </a:solidFill>
                <a:latin typeface="Arial" charset="0"/>
                <a:ea typeface="ＭＳ Ｐゴシック" charset="0"/>
              </a:rPr>
              <a:t>A(N,N)</a:t>
            </a:r>
          </a:p>
        </p:txBody>
      </p:sp>
      <p:sp>
        <p:nvSpPr>
          <p:cNvPr id="36876" name="Text Box 12"/>
          <p:cNvSpPr txBox="1">
            <a:spLocks noChangeArrowheads="1"/>
          </p:cNvSpPr>
          <p:nvPr/>
        </p:nvSpPr>
        <p:spPr bwMode="auto">
          <a:xfrm>
            <a:off x="468313" y="1622425"/>
            <a:ext cx="14398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fr-FR" b="1">
                <a:solidFill>
                  <a:srgbClr val="FF0000"/>
                </a:solidFill>
                <a:latin typeface="Arial" charset="0"/>
                <a:ea typeface="ＭＳ Ｐゴシック" charset="0"/>
              </a:rPr>
              <a:t>A(N, N-1)</a:t>
            </a:r>
          </a:p>
        </p:txBody>
      </p:sp>
      <p:sp>
        <p:nvSpPr>
          <p:cNvPr id="36877" name="Text Box 13"/>
          <p:cNvSpPr txBox="1">
            <a:spLocks noChangeArrowheads="1"/>
          </p:cNvSpPr>
          <p:nvPr/>
        </p:nvSpPr>
        <p:spPr bwMode="auto">
          <a:xfrm>
            <a:off x="6804025" y="1622425"/>
            <a:ext cx="9366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fr-FR" b="1">
                <a:solidFill>
                  <a:srgbClr val="FF0000"/>
                </a:solidFill>
                <a:latin typeface="Arial" charset="0"/>
                <a:ea typeface="ＭＳ Ｐゴシック" charset="0"/>
              </a:rPr>
              <a:t>b(N)</a:t>
            </a:r>
          </a:p>
        </p:txBody>
      </p:sp>
      <p:sp>
        <p:nvSpPr>
          <p:cNvPr id="36879" name="Text Box 15"/>
          <p:cNvSpPr txBox="1">
            <a:spLocks noChangeArrowheads="1"/>
          </p:cNvSpPr>
          <p:nvPr/>
        </p:nvSpPr>
        <p:spPr bwMode="auto">
          <a:xfrm>
            <a:off x="230188" y="2276475"/>
            <a:ext cx="8129587" cy="449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600">
                <a:latin typeface="Arial" charset="0"/>
                <a:ea typeface="ＭＳ Ｐゴシック" charset="0"/>
              </a:rPr>
              <a:t> </a:t>
            </a:r>
            <a:r>
              <a:rPr lang="fr-FR" sz="1600" b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 % Initialisation : CAL a droite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sz="1600" b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if</a:t>
            </a: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phys.type_cl_droite==</a:t>
            </a:r>
            <a:r>
              <a:rPr lang="fr-FR" sz="1600" b="1">
                <a:solidFill>
                  <a:srgbClr val="A020F0"/>
                </a:solidFill>
                <a:latin typeface="Courier New" charset="0"/>
                <a:ea typeface="ＭＳ Ｐゴシック" charset="0"/>
              </a:rPr>
              <a:t>'DIRICHLET'</a:t>
            </a: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sz="1600" b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CAL de Dirichlet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x(N)=(N-1)*deltax;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A(N, N)=1;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b(N)=phys.Tdd;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sz="1600" b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else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r>
              <a:rPr lang="fr-FR" sz="1600" b="1">
                <a:solidFill>
                  <a:srgbClr val="228B22"/>
                </a:solidFill>
                <a:latin typeface="Courier New" charset="0"/>
                <a:ea typeface="ＭＳ Ｐゴシック" charset="0"/>
              </a:rPr>
              <a:t>% CAL de Neumann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hd=phys.hd;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Tad=phys.Tad;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x(N)=(N-1)*deltax;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A(N, N-1)=-2*kth/(deltax^2);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A(N, N  )=2*kth/(deltax^2)+2*hd/deltax+rho*cp/deltat;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    b(N)=Tad*2*hd/deltax+source(x(N))+rho*cp*Tprec(N)/deltat;</a:t>
            </a:r>
            <a:endParaRPr lang="fr-FR" sz="1600">
              <a:latin typeface="Arial" charset="0"/>
              <a:ea typeface="ＭＳ Ｐゴシック" charset="0"/>
            </a:endParaRPr>
          </a:p>
          <a:p>
            <a:pPr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ＭＳ Ｐゴシック" charset="0"/>
              </a:rPr>
              <a:t>    </a:t>
            </a:r>
            <a:r>
              <a:rPr lang="fr-FR" sz="1600" b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end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4142</TotalTime>
  <Words>927</Words>
  <Application>Microsoft Office PowerPoint</Application>
  <PresentationFormat>Affichage à l'écran (4:3)</PresentationFormat>
  <Paragraphs>189</Paragraphs>
  <Slides>16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16</vt:i4>
      </vt:variant>
    </vt:vector>
  </HeadingPairs>
  <TitlesOfParts>
    <vt:vector size="25" baseType="lpstr">
      <vt:lpstr>ＭＳ Ｐゴシック</vt:lpstr>
      <vt:lpstr>ＭＳ Ｐゴシック</vt:lpstr>
      <vt:lpstr>Arial</vt:lpstr>
      <vt:lpstr>Courier New</vt:lpstr>
      <vt:lpstr>Symbol</vt:lpstr>
      <vt:lpstr>Wingdings</vt:lpstr>
      <vt:lpstr>Modèle par défaut</vt:lpstr>
      <vt:lpstr>Equation</vt:lpstr>
      <vt:lpstr>MathType 6.0 Equation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CEA-CNRS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toussain</dc:creator>
  <cp:lastModifiedBy>jean-christophe toussaint</cp:lastModifiedBy>
  <cp:revision>333</cp:revision>
  <dcterms:created xsi:type="dcterms:W3CDTF">2004-10-09T08:23:16Z</dcterms:created>
  <dcterms:modified xsi:type="dcterms:W3CDTF">2020-10-13T11:19:54Z</dcterms:modified>
</cp:coreProperties>
</file>