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70" r:id="rId2"/>
    <p:sldId id="281" r:id="rId3"/>
    <p:sldId id="315" r:id="rId4"/>
    <p:sldId id="316" r:id="rId5"/>
    <p:sldId id="317" r:id="rId6"/>
    <p:sldId id="312" r:id="rId7"/>
    <p:sldId id="272" r:id="rId8"/>
    <p:sldId id="314" r:id="rId9"/>
    <p:sldId id="284" r:id="rId10"/>
    <p:sldId id="300" r:id="rId11"/>
    <p:sldId id="301" r:id="rId12"/>
    <p:sldId id="302" r:id="rId13"/>
    <p:sldId id="303" r:id="rId14"/>
    <p:sldId id="288" r:id="rId15"/>
    <p:sldId id="273" r:id="rId16"/>
    <p:sldId id="289" r:id="rId17"/>
  </p:sldIdLst>
  <p:sldSz cx="9144000" cy="6858000" type="screen4x3"/>
  <p:notesSz cx="10234613" cy="7099300"/>
  <p:defaultTextStyle>
    <a:defPPr>
      <a:defRPr lang="fr-F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9FF"/>
    <a:srgbClr val="00CC00"/>
    <a:srgbClr val="66FF33"/>
    <a:srgbClr val="FF0000"/>
    <a:srgbClr val="A500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85168"/>
  </p:normalViewPr>
  <p:slideViewPr>
    <p:cSldViewPr>
      <p:cViewPr varScale="1">
        <p:scale>
          <a:sx n="88" d="100"/>
          <a:sy n="88" d="100"/>
        </p:scale>
        <p:origin x="71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5" Type="http://schemas.openxmlformats.org/officeDocument/2006/relationships/image" Target="../media/image5.wmf"/><Relationship Id="rId4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image" Target="../media/image6.wmf"/><Relationship Id="rId4" Type="http://schemas.openxmlformats.org/officeDocument/2006/relationships/image" Target="../media/image9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image" Target="../media/image11.wmf"/><Relationship Id="rId1" Type="http://schemas.openxmlformats.org/officeDocument/2006/relationships/image" Target="../media/image10.wmf"/><Relationship Id="rId4" Type="http://schemas.openxmlformats.org/officeDocument/2006/relationships/image" Target="../media/image13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image" Target="../media/image14.wmf"/><Relationship Id="rId1" Type="http://schemas.openxmlformats.org/officeDocument/2006/relationships/image" Target="../media/image12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.wmf"/><Relationship Id="rId1" Type="http://schemas.openxmlformats.org/officeDocument/2006/relationships/image" Target="../media/image16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w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26.wmf"/><Relationship Id="rId3" Type="http://schemas.openxmlformats.org/officeDocument/2006/relationships/image" Target="../media/image21.wmf"/><Relationship Id="rId7" Type="http://schemas.openxmlformats.org/officeDocument/2006/relationships/image" Target="../media/image25.wmf"/><Relationship Id="rId2" Type="http://schemas.openxmlformats.org/officeDocument/2006/relationships/image" Target="../media/image20.wmf"/><Relationship Id="rId1" Type="http://schemas.openxmlformats.org/officeDocument/2006/relationships/image" Target="../media/image19.wmf"/><Relationship Id="rId6" Type="http://schemas.openxmlformats.org/officeDocument/2006/relationships/image" Target="../media/image24.wmf"/><Relationship Id="rId5" Type="http://schemas.openxmlformats.org/officeDocument/2006/relationships/image" Target="../media/image23.wmf"/><Relationship Id="rId4" Type="http://schemas.openxmlformats.org/officeDocument/2006/relationships/image" Target="../media/image22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30.wmf"/><Relationship Id="rId2" Type="http://schemas.openxmlformats.org/officeDocument/2006/relationships/image" Target="../media/image29.wmf"/><Relationship Id="rId1" Type="http://schemas.openxmlformats.org/officeDocument/2006/relationships/image" Target="../media/image28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33.wmf"/><Relationship Id="rId2" Type="http://schemas.openxmlformats.org/officeDocument/2006/relationships/image" Target="../media/image32.wmf"/><Relationship Id="rId1" Type="http://schemas.openxmlformats.org/officeDocument/2006/relationships/image" Target="../media/image31.wmf"/><Relationship Id="rId5" Type="http://schemas.openxmlformats.org/officeDocument/2006/relationships/image" Target="../media/image35.wmf"/><Relationship Id="rId4" Type="http://schemas.openxmlformats.org/officeDocument/2006/relationships/image" Target="../media/image34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43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4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47.wmf"/><Relationship Id="rId2" Type="http://schemas.openxmlformats.org/officeDocument/2006/relationships/image" Target="../media/image46.wmf"/><Relationship Id="rId1" Type="http://schemas.openxmlformats.org/officeDocument/2006/relationships/image" Target="../media/image45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8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435475" cy="354013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553" tIns="45776" rIns="91553" bIns="45776" numCol="1" anchor="t" anchorCtr="0" compatLnSpc="1">
            <a:prstTxWarp prst="textNoShape">
              <a:avLst/>
            </a:prstTxWarp>
          </a:bodyPr>
          <a:lstStyle>
            <a:lvl1pPr defTabSz="915988" eaLnBrk="1" hangingPunct="1">
              <a:defRPr sz="1300"/>
            </a:lvl1pPr>
          </a:lstStyle>
          <a:p>
            <a:endParaRPr lang="fr-FR" altLang="fr-FR"/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795963" y="0"/>
            <a:ext cx="4437062" cy="354013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553" tIns="45776" rIns="91553" bIns="45776" numCol="1" anchor="t" anchorCtr="0" compatLnSpc="1">
            <a:prstTxWarp prst="textNoShape">
              <a:avLst/>
            </a:prstTxWarp>
          </a:bodyPr>
          <a:lstStyle>
            <a:lvl1pPr algn="r" defTabSz="915988" eaLnBrk="1" hangingPunct="1">
              <a:defRPr sz="1300"/>
            </a:lvl1pPr>
          </a:lstStyle>
          <a:p>
            <a:endParaRPr lang="fr-FR" altLang="fr-FR"/>
          </a:p>
        </p:txBody>
      </p:sp>
      <p:sp>
        <p:nvSpPr>
          <p:cNvPr id="481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743700"/>
            <a:ext cx="4435475" cy="354013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553" tIns="45776" rIns="91553" bIns="45776" numCol="1" anchor="b" anchorCtr="0" compatLnSpc="1">
            <a:prstTxWarp prst="textNoShape">
              <a:avLst/>
            </a:prstTxWarp>
          </a:bodyPr>
          <a:lstStyle>
            <a:lvl1pPr defTabSz="915988" eaLnBrk="1" hangingPunct="1">
              <a:defRPr sz="1300" smtClean="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r>
              <a:rPr lang="fr-FR" altLang="en-US"/>
              <a:t>Méthode des diffences finies - Schéma implicite</a:t>
            </a:r>
          </a:p>
        </p:txBody>
      </p:sp>
      <p:sp>
        <p:nvSpPr>
          <p:cNvPr id="481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795963" y="6743700"/>
            <a:ext cx="4437062" cy="354013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553" tIns="45776" rIns="91553" bIns="45776" numCol="1" anchor="b" anchorCtr="0" compatLnSpc="1">
            <a:prstTxWarp prst="textNoShape">
              <a:avLst/>
            </a:prstTxWarp>
          </a:bodyPr>
          <a:lstStyle>
            <a:lvl1pPr algn="r" defTabSz="915988" eaLnBrk="1" hangingPunct="1">
              <a:defRPr sz="1300"/>
            </a:lvl1pPr>
          </a:lstStyle>
          <a:p>
            <a:fld id="{B0B0AC6E-E2D4-4074-9AD5-41BA224EA123}" type="slidenum">
              <a:rPr lang="fr-FR" altLang="en-US"/>
              <a:pPr/>
              <a:t>‹N°›</a:t>
            </a:fld>
            <a:endParaRPr lang="fr-F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435475" cy="354013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5495" tIns="47748" rIns="95495" bIns="47748" numCol="1" anchor="t" anchorCtr="0" compatLnSpc="1">
            <a:prstTxWarp prst="textNoShape">
              <a:avLst/>
            </a:prstTxWarp>
          </a:bodyPr>
          <a:lstStyle>
            <a:lvl1pPr defTabSz="955675" eaLnBrk="1" hangingPunct="1">
              <a:defRPr sz="1300"/>
            </a:lvl1pPr>
          </a:lstStyle>
          <a:p>
            <a:endParaRPr lang="fr-FR" altLang="fr-FR"/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795963" y="0"/>
            <a:ext cx="4437062" cy="354013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5495" tIns="47748" rIns="95495" bIns="47748" numCol="1" anchor="t" anchorCtr="0" compatLnSpc="1">
            <a:prstTxWarp prst="textNoShape">
              <a:avLst/>
            </a:prstTxWarp>
          </a:bodyPr>
          <a:lstStyle>
            <a:lvl1pPr algn="r" defTabSz="955675" eaLnBrk="1" hangingPunct="1">
              <a:defRPr sz="1300"/>
            </a:lvl1pPr>
          </a:lstStyle>
          <a:p>
            <a:endParaRPr lang="fr-FR" altLang="fr-FR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343275" y="533400"/>
            <a:ext cx="3548063" cy="26606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32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023938" y="3371850"/>
            <a:ext cx="8186737" cy="319405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5495" tIns="47748" rIns="95495" bIns="4774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en-US" noProof="0"/>
              <a:t>Cliquez pour modifier les styles du texte du masque</a:t>
            </a:r>
          </a:p>
          <a:p>
            <a:pPr lvl="1"/>
            <a:r>
              <a:rPr lang="fr-FR" altLang="en-US" noProof="0"/>
              <a:t>Deuxième niveau</a:t>
            </a:r>
          </a:p>
          <a:p>
            <a:pPr lvl="2"/>
            <a:r>
              <a:rPr lang="fr-FR" altLang="en-US" noProof="0"/>
              <a:t>Troisième niveau</a:t>
            </a:r>
          </a:p>
          <a:p>
            <a:pPr lvl="3"/>
            <a:r>
              <a:rPr lang="fr-FR" altLang="en-US" noProof="0"/>
              <a:t>Quatrième niveau</a:t>
            </a:r>
          </a:p>
          <a:p>
            <a:pPr lvl="4"/>
            <a:r>
              <a:rPr lang="fr-FR" altLang="en-US" noProof="0"/>
              <a:t>Cinquième niveau</a:t>
            </a:r>
          </a:p>
        </p:txBody>
      </p:sp>
      <p:sp>
        <p:nvSpPr>
          <p:cNvPr id="532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743700"/>
            <a:ext cx="4435475" cy="354013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5495" tIns="47748" rIns="95495" bIns="47748" numCol="1" anchor="b" anchorCtr="0" compatLnSpc="1">
            <a:prstTxWarp prst="textNoShape">
              <a:avLst/>
            </a:prstTxWarp>
          </a:bodyPr>
          <a:lstStyle>
            <a:lvl1pPr defTabSz="955675" eaLnBrk="1" hangingPunct="1">
              <a:defRPr sz="1300" smtClean="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r>
              <a:rPr lang="fr-FR" altLang="en-US"/>
              <a:t>Méthode des diffences finies - Schéma implicite</a:t>
            </a:r>
          </a:p>
        </p:txBody>
      </p:sp>
      <p:sp>
        <p:nvSpPr>
          <p:cNvPr id="532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795963" y="6743700"/>
            <a:ext cx="4437062" cy="354013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5495" tIns="47748" rIns="95495" bIns="47748" numCol="1" anchor="b" anchorCtr="0" compatLnSpc="1">
            <a:prstTxWarp prst="textNoShape">
              <a:avLst/>
            </a:prstTxWarp>
          </a:bodyPr>
          <a:lstStyle>
            <a:lvl1pPr algn="r" defTabSz="955675" eaLnBrk="1" hangingPunct="1">
              <a:defRPr sz="1300"/>
            </a:lvl1pPr>
          </a:lstStyle>
          <a:p>
            <a:fld id="{307769F5-1D20-4745-87DA-B5F2C528D421}" type="slidenum">
              <a:rPr lang="fr-FR" altLang="en-US"/>
              <a:pPr/>
              <a:t>‹N°›</a:t>
            </a:fld>
            <a:endParaRPr lang="fr-F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r>
              <a:rPr lang="fr-FR" altLang="en-US" sz="1300"/>
              <a:t>Méthode des diffences finies - Schéma implicite</a:t>
            </a:r>
          </a:p>
        </p:txBody>
      </p:sp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C58A3196-0C21-4CA0-B1E5-04BBD0FB6535}" type="slidenum">
              <a:rPr lang="fr-FR" altLang="en-US" sz="1300"/>
              <a:pPr>
                <a:spcBef>
                  <a:spcPct val="0"/>
                </a:spcBef>
              </a:pPr>
              <a:t>1</a:t>
            </a:fld>
            <a:endParaRPr lang="fr-FR" altLang="en-US" sz="1300"/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fr-FR" altLang="fr-FR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 alt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 alt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7860B4B-6474-4A5E-BB3D-8BCDD6B1DAC7}" type="slidenum">
              <a:rPr lang="fr-FR" altLang="en-US"/>
              <a:pPr/>
              <a:t>‹N°›</a:t>
            </a:fld>
            <a:endParaRPr lang="fr-FR" altLang="en-US"/>
          </a:p>
        </p:txBody>
      </p:sp>
    </p:spTree>
    <p:extLst>
      <p:ext uri="{BB962C8B-B14F-4D97-AF65-F5344CB8AC3E}">
        <p14:creationId xmlns:p14="http://schemas.microsoft.com/office/powerpoint/2010/main" val="34980352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 alt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 alt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D2BD9E8-CB53-45A6-B263-A9E5804CAD20}" type="slidenum">
              <a:rPr lang="fr-FR" altLang="en-US"/>
              <a:pPr/>
              <a:t>‹N°›</a:t>
            </a:fld>
            <a:endParaRPr lang="fr-FR" altLang="en-US"/>
          </a:p>
        </p:txBody>
      </p:sp>
    </p:spTree>
    <p:extLst>
      <p:ext uri="{BB962C8B-B14F-4D97-AF65-F5344CB8AC3E}">
        <p14:creationId xmlns:p14="http://schemas.microsoft.com/office/powerpoint/2010/main" val="18321660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 alt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 alt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C39B963-CF69-4136-8B5A-A6296123B881}" type="slidenum">
              <a:rPr lang="fr-FR" altLang="en-US"/>
              <a:pPr/>
              <a:t>‹N°›</a:t>
            </a:fld>
            <a:endParaRPr lang="fr-FR" altLang="en-US"/>
          </a:p>
        </p:txBody>
      </p:sp>
    </p:spTree>
    <p:extLst>
      <p:ext uri="{BB962C8B-B14F-4D97-AF65-F5344CB8AC3E}">
        <p14:creationId xmlns:p14="http://schemas.microsoft.com/office/powerpoint/2010/main" val="1948806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 alt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 alt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6774291-BA32-4EC0-B434-4086E6672C46}" type="slidenum">
              <a:rPr lang="fr-FR" altLang="en-US"/>
              <a:pPr/>
              <a:t>‹N°›</a:t>
            </a:fld>
            <a:endParaRPr lang="fr-FR" altLang="en-US"/>
          </a:p>
        </p:txBody>
      </p:sp>
    </p:spTree>
    <p:extLst>
      <p:ext uri="{BB962C8B-B14F-4D97-AF65-F5344CB8AC3E}">
        <p14:creationId xmlns:p14="http://schemas.microsoft.com/office/powerpoint/2010/main" val="10720005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 altLang="fr-F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 altLang="fr-F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D4CAC97-5B4F-4FD9-89A5-363F8D9CA8E0}" type="slidenum">
              <a:rPr lang="fr-FR" altLang="en-US"/>
              <a:pPr/>
              <a:t>‹N°›</a:t>
            </a:fld>
            <a:endParaRPr lang="fr-FR" altLang="en-US"/>
          </a:p>
        </p:txBody>
      </p:sp>
    </p:spTree>
    <p:extLst>
      <p:ext uri="{BB962C8B-B14F-4D97-AF65-F5344CB8AC3E}">
        <p14:creationId xmlns:p14="http://schemas.microsoft.com/office/powerpoint/2010/main" val="30471676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 altLang="fr-F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 altLang="fr-F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7ABC16E-B639-4988-A950-7031B7A3FFD2}" type="slidenum">
              <a:rPr lang="fr-FR" altLang="en-US"/>
              <a:pPr/>
              <a:t>‹N°›</a:t>
            </a:fld>
            <a:endParaRPr lang="fr-FR" altLang="en-US"/>
          </a:p>
        </p:txBody>
      </p:sp>
    </p:spTree>
    <p:extLst>
      <p:ext uri="{BB962C8B-B14F-4D97-AF65-F5344CB8AC3E}">
        <p14:creationId xmlns:p14="http://schemas.microsoft.com/office/powerpoint/2010/main" val="38171187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 altLang="fr-F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 altLang="fr-F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6FE31B0-70DE-4949-BDFD-A55FCF7D95B1}" type="slidenum">
              <a:rPr lang="fr-FR" altLang="en-US"/>
              <a:pPr/>
              <a:t>‹N°›</a:t>
            </a:fld>
            <a:endParaRPr lang="fr-FR" altLang="en-US"/>
          </a:p>
        </p:txBody>
      </p:sp>
    </p:spTree>
    <p:extLst>
      <p:ext uri="{BB962C8B-B14F-4D97-AF65-F5344CB8AC3E}">
        <p14:creationId xmlns:p14="http://schemas.microsoft.com/office/powerpoint/2010/main" val="21816531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 alt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 alt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07FC52D-BF9D-4569-B774-A7E2F6D0C868}" type="slidenum">
              <a:rPr lang="fr-FR" altLang="en-US"/>
              <a:pPr/>
              <a:t>‹N°›</a:t>
            </a:fld>
            <a:endParaRPr lang="fr-FR" altLang="en-US"/>
          </a:p>
        </p:txBody>
      </p:sp>
    </p:spTree>
    <p:extLst>
      <p:ext uri="{BB962C8B-B14F-4D97-AF65-F5344CB8AC3E}">
        <p14:creationId xmlns:p14="http://schemas.microsoft.com/office/powerpoint/2010/main" val="1841278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pour une image 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 alt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 alt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34AB71B-5894-48FF-B60A-F9418383FB0C}" type="slidenum">
              <a:rPr lang="fr-FR" altLang="en-US"/>
              <a:pPr/>
              <a:t>‹N°›</a:t>
            </a:fld>
            <a:endParaRPr lang="fr-FR" altLang="en-US"/>
          </a:p>
        </p:txBody>
      </p:sp>
    </p:spTree>
    <p:extLst>
      <p:ext uri="{BB962C8B-B14F-4D97-AF65-F5344CB8AC3E}">
        <p14:creationId xmlns:p14="http://schemas.microsoft.com/office/powerpoint/2010/main" val="18748647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 alt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 alt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0AC9831-2AC7-4F39-99DA-4A390C1D1849}" type="slidenum">
              <a:rPr lang="fr-FR" altLang="en-US"/>
              <a:pPr/>
              <a:t>‹N°›</a:t>
            </a:fld>
            <a:endParaRPr lang="fr-FR" altLang="en-US"/>
          </a:p>
        </p:txBody>
      </p:sp>
    </p:spTree>
    <p:extLst>
      <p:ext uri="{BB962C8B-B14F-4D97-AF65-F5344CB8AC3E}">
        <p14:creationId xmlns:p14="http://schemas.microsoft.com/office/powerpoint/2010/main" val="7758336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 alt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 alt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392604E-4812-4754-BA67-6E59BC7C813A}" type="slidenum">
              <a:rPr lang="fr-FR" altLang="en-US"/>
              <a:pPr/>
              <a:t>‹N°›</a:t>
            </a:fld>
            <a:endParaRPr lang="fr-FR" altLang="en-US"/>
          </a:p>
        </p:txBody>
      </p:sp>
    </p:spTree>
    <p:extLst>
      <p:ext uri="{BB962C8B-B14F-4D97-AF65-F5344CB8AC3E}">
        <p14:creationId xmlns:p14="http://schemas.microsoft.com/office/powerpoint/2010/main" val="30704014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smtClean="0"/>
              <a:t>Cliquez pour modifier le style du titre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en-US" smtClean="0"/>
              <a:t>Cliquez pour modifier les styles du texte du masque</a:t>
            </a:r>
          </a:p>
          <a:p>
            <a:pPr lvl="1"/>
            <a:r>
              <a:rPr lang="fr-FR" altLang="en-US" smtClean="0"/>
              <a:t>Deuxième niveau</a:t>
            </a:r>
          </a:p>
          <a:p>
            <a:pPr lvl="2"/>
            <a:r>
              <a:rPr lang="fr-FR" altLang="en-US" smtClean="0"/>
              <a:t>Troisième niveau</a:t>
            </a:r>
          </a:p>
          <a:p>
            <a:pPr lvl="3"/>
            <a:r>
              <a:rPr lang="fr-FR" altLang="en-US" smtClean="0"/>
              <a:t>Quatrième niveau</a:t>
            </a:r>
          </a:p>
          <a:p>
            <a:pPr lvl="4"/>
            <a:r>
              <a:rPr lang="fr-FR" altLang="en-US" smtClean="0"/>
              <a:t>Cinquième niveau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endParaRPr lang="fr-FR" altLang="fr-F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endParaRPr lang="fr-FR" altLang="fr-F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fld id="{F0E2E294-2E20-4EB4-B8A2-5FC81F94F1F1}" type="slidenum">
              <a:rPr lang="fr-FR" altLang="en-US"/>
              <a:pPr/>
              <a:t>‹N°›</a:t>
            </a:fld>
            <a:endParaRPr lang="fr-F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MS PGothic" panose="020B0600070205080204" pitchFamily="34" charset="-128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MS PGothic" panose="020B0600070205080204" pitchFamily="34" charset="-128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MS PGothic" panose="020B0600070205080204" pitchFamily="34" charset="-128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MS PGothic" panose="020B0600070205080204" pitchFamily="34" charset="-128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MS PGothic" panose="020B0600070205080204" pitchFamily="34" charset="-128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MS PGothic" panose="020B0600070205080204" pitchFamily="34" charset="-128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fr-FR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13" Type="http://schemas.openxmlformats.org/officeDocument/2006/relationships/image" Target="../media/image5.wmf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2.wmf"/><Relationship Id="rId12" Type="http://schemas.openxmlformats.org/officeDocument/2006/relationships/oleObject" Target="../embeddings/oleObject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4.wmf"/><Relationship Id="rId5" Type="http://schemas.openxmlformats.org/officeDocument/2006/relationships/image" Target="../media/image1.wmf"/><Relationship Id="rId10" Type="http://schemas.openxmlformats.org/officeDocument/2006/relationships/oleObject" Target="../embeddings/oleObject4.bin"/><Relationship Id="rId4" Type="http://schemas.openxmlformats.org/officeDocument/2006/relationships/oleObject" Target="../embeddings/oleObject1.bin"/><Relationship Id="rId9" Type="http://schemas.openxmlformats.org/officeDocument/2006/relationships/image" Target="../media/image3.wm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oleObject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7.wmf"/><Relationship Id="rId5" Type="http://schemas.openxmlformats.org/officeDocument/2006/relationships/oleObject" Target="../embeddings/oleObject7.bin"/><Relationship Id="rId10" Type="http://schemas.openxmlformats.org/officeDocument/2006/relationships/image" Target="../media/image9.wmf"/><Relationship Id="rId4" Type="http://schemas.openxmlformats.org/officeDocument/2006/relationships/image" Target="../media/image6.wmf"/><Relationship Id="rId9" Type="http://schemas.openxmlformats.org/officeDocument/2006/relationships/oleObject" Target="../embeddings/oleObject9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3" Type="http://schemas.openxmlformats.org/officeDocument/2006/relationships/oleObject" Target="../embeddings/oleObject10.bin"/><Relationship Id="rId7" Type="http://schemas.openxmlformats.org/officeDocument/2006/relationships/oleObject" Target="../embeddings/oleObject1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1.wmf"/><Relationship Id="rId5" Type="http://schemas.openxmlformats.org/officeDocument/2006/relationships/oleObject" Target="../embeddings/oleObject11.bin"/><Relationship Id="rId10" Type="http://schemas.openxmlformats.org/officeDocument/2006/relationships/image" Target="../media/image13.wmf"/><Relationship Id="rId4" Type="http://schemas.openxmlformats.org/officeDocument/2006/relationships/image" Target="../media/image10.wmf"/><Relationship Id="rId9" Type="http://schemas.openxmlformats.org/officeDocument/2006/relationships/oleObject" Target="../embeddings/oleObject13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wmf"/><Relationship Id="rId3" Type="http://schemas.openxmlformats.org/officeDocument/2006/relationships/oleObject" Target="../embeddings/oleObject14.bin"/><Relationship Id="rId7" Type="http://schemas.openxmlformats.org/officeDocument/2006/relationships/oleObject" Target="../embeddings/oleObject1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4.wmf"/><Relationship Id="rId5" Type="http://schemas.openxmlformats.org/officeDocument/2006/relationships/oleObject" Target="../embeddings/oleObject15.bin"/><Relationship Id="rId4" Type="http://schemas.openxmlformats.org/officeDocument/2006/relationships/image" Target="../media/image12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7.wmf"/><Relationship Id="rId5" Type="http://schemas.openxmlformats.org/officeDocument/2006/relationships/oleObject" Target="../embeddings/oleObject18.bin"/><Relationship Id="rId4" Type="http://schemas.openxmlformats.org/officeDocument/2006/relationships/image" Target="../media/image16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18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wmf"/><Relationship Id="rId13" Type="http://schemas.openxmlformats.org/officeDocument/2006/relationships/image" Target="../media/image23.wmf"/><Relationship Id="rId18" Type="http://schemas.openxmlformats.org/officeDocument/2006/relationships/oleObject" Target="../embeddings/oleObject27.bin"/><Relationship Id="rId3" Type="http://schemas.openxmlformats.org/officeDocument/2006/relationships/oleObject" Target="../embeddings/oleObject20.bin"/><Relationship Id="rId7" Type="http://schemas.openxmlformats.org/officeDocument/2006/relationships/oleObject" Target="../embeddings/oleObject22.bin"/><Relationship Id="rId12" Type="http://schemas.openxmlformats.org/officeDocument/2006/relationships/oleObject" Target="../embeddings/oleObject24.bin"/><Relationship Id="rId17" Type="http://schemas.openxmlformats.org/officeDocument/2006/relationships/image" Target="../media/image25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6.bin"/><Relationship Id="rId1" Type="http://schemas.openxmlformats.org/officeDocument/2006/relationships/vmlDrawing" Target="../drawings/vmlDrawing7.vml"/><Relationship Id="rId6" Type="http://schemas.openxmlformats.org/officeDocument/2006/relationships/image" Target="../media/image20.wmf"/><Relationship Id="rId11" Type="http://schemas.openxmlformats.org/officeDocument/2006/relationships/image" Target="../media/image27.png"/><Relationship Id="rId5" Type="http://schemas.openxmlformats.org/officeDocument/2006/relationships/oleObject" Target="../embeddings/oleObject21.bin"/><Relationship Id="rId15" Type="http://schemas.openxmlformats.org/officeDocument/2006/relationships/image" Target="../media/image24.wmf"/><Relationship Id="rId10" Type="http://schemas.openxmlformats.org/officeDocument/2006/relationships/image" Target="../media/image22.wmf"/><Relationship Id="rId19" Type="http://schemas.openxmlformats.org/officeDocument/2006/relationships/image" Target="../media/image26.wmf"/><Relationship Id="rId4" Type="http://schemas.openxmlformats.org/officeDocument/2006/relationships/image" Target="../media/image19.wmf"/><Relationship Id="rId9" Type="http://schemas.openxmlformats.org/officeDocument/2006/relationships/oleObject" Target="../embeddings/oleObject23.bin"/><Relationship Id="rId14" Type="http://schemas.openxmlformats.org/officeDocument/2006/relationships/oleObject" Target="../embeddings/oleObject25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wmf"/><Relationship Id="rId3" Type="http://schemas.openxmlformats.org/officeDocument/2006/relationships/oleObject" Target="../embeddings/oleObject28.bin"/><Relationship Id="rId7" Type="http://schemas.openxmlformats.org/officeDocument/2006/relationships/oleObject" Target="../embeddings/oleObject3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29.wmf"/><Relationship Id="rId5" Type="http://schemas.openxmlformats.org/officeDocument/2006/relationships/oleObject" Target="../embeddings/oleObject29.bin"/><Relationship Id="rId4" Type="http://schemas.openxmlformats.org/officeDocument/2006/relationships/image" Target="../media/image28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wmf"/><Relationship Id="rId3" Type="http://schemas.openxmlformats.org/officeDocument/2006/relationships/oleObject" Target="../embeddings/oleObject31.bin"/><Relationship Id="rId7" Type="http://schemas.openxmlformats.org/officeDocument/2006/relationships/oleObject" Target="../embeddings/oleObject33.bin"/><Relationship Id="rId12" Type="http://schemas.openxmlformats.org/officeDocument/2006/relationships/image" Target="../media/image35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32.wmf"/><Relationship Id="rId11" Type="http://schemas.openxmlformats.org/officeDocument/2006/relationships/oleObject" Target="../embeddings/oleObject35.bin"/><Relationship Id="rId5" Type="http://schemas.openxmlformats.org/officeDocument/2006/relationships/oleObject" Target="../embeddings/oleObject32.bin"/><Relationship Id="rId10" Type="http://schemas.openxmlformats.org/officeDocument/2006/relationships/image" Target="../media/image34.wmf"/><Relationship Id="rId4" Type="http://schemas.openxmlformats.org/officeDocument/2006/relationships/image" Target="../media/image31.wmf"/><Relationship Id="rId9" Type="http://schemas.openxmlformats.org/officeDocument/2006/relationships/oleObject" Target="../embeddings/oleObject34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43.w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4" Type="http://schemas.openxmlformats.org/officeDocument/2006/relationships/image" Target="../media/image44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wmf"/><Relationship Id="rId3" Type="http://schemas.openxmlformats.org/officeDocument/2006/relationships/oleObject" Target="../embeddings/oleObject38.bin"/><Relationship Id="rId7" Type="http://schemas.openxmlformats.org/officeDocument/2006/relationships/oleObject" Target="../embeddings/oleObject4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46.wmf"/><Relationship Id="rId5" Type="http://schemas.openxmlformats.org/officeDocument/2006/relationships/oleObject" Target="../embeddings/oleObject39.bin"/><Relationship Id="rId4" Type="http://schemas.openxmlformats.org/officeDocument/2006/relationships/image" Target="../media/image45.w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.vml"/><Relationship Id="rId4" Type="http://schemas.openxmlformats.org/officeDocument/2006/relationships/image" Target="../media/image48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ext Box 4"/>
          <p:cNvSpPr txBox="1">
            <a:spLocks noChangeArrowheads="1"/>
          </p:cNvSpPr>
          <p:nvPr/>
        </p:nvSpPr>
        <p:spPr bwMode="auto">
          <a:xfrm>
            <a:off x="1997075" y="19050"/>
            <a:ext cx="42194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2400" b="1" dirty="0" smtClean="0">
                <a:solidFill>
                  <a:schemeClr val="accent2"/>
                </a:solidFill>
              </a:rPr>
              <a:t>Rappel du schéma </a:t>
            </a:r>
            <a:r>
              <a:rPr lang="fr-FR" altLang="en-US" sz="2400" b="1" dirty="0">
                <a:solidFill>
                  <a:schemeClr val="accent2"/>
                </a:solidFill>
              </a:rPr>
              <a:t>e</a:t>
            </a:r>
            <a:r>
              <a:rPr lang="fr-FR" altLang="en-US" sz="2400" b="1" dirty="0" smtClean="0">
                <a:solidFill>
                  <a:schemeClr val="accent2"/>
                </a:solidFill>
              </a:rPr>
              <a:t>xplicite</a:t>
            </a:r>
            <a:endParaRPr lang="fr-FR" altLang="en-US" sz="2400" b="1" dirty="0">
              <a:solidFill>
                <a:schemeClr val="accent2"/>
              </a:solidFill>
            </a:endParaRPr>
          </a:p>
        </p:txBody>
      </p:sp>
      <p:grpSp>
        <p:nvGrpSpPr>
          <p:cNvPr id="15362" name="Group 57"/>
          <p:cNvGrpSpPr>
            <a:grpSpLocks/>
          </p:cNvGrpSpPr>
          <p:nvPr/>
        </p:nvGrpSpPr>
        <p:grpSpPr bwMode="auto">
          <a:xfrm>
            <a:off x="303213" y="490538"/>
            <a:ext cx="8877300" cy="706437"/>
            <a:chOff x="191" y="309"/>
            <a:chExt cx="5592" cy="445"/>
          </a:xfrm>
        </p:grpSpPr>
        <p:sp>
          <p:nvSpPr>
            <p:cNvPr id="15399" name="Text Box 6"/>
            <p:cNvSpPr txBox="1">
              <a:spLocks noChangeArrowheads="1"/>
            </p:cNvSpPr>
            <p:nvPr/>
          </p:nvSpPr>
          <p:spPr bwMode="auto">
            <a:xfrm>
              <a:off x="191" y="410"/>
              <a:ext cx="307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fr-FR" altLang="fr-FR"/>
                <a:t>Simplification : k</a:t>
              </a:r>
              <a:r>
                <a:rPr lang="fr-FR" altLang="fr-FR" baseline="-25000"/>
                <a:t>th</a:t>
              </a:r>
              <a:r>
                <a:rPr lang="fr-FR" altLang="fr-FR"/>
                <a:t>(x) constant par domaine </a:t>
              </a:r>
              <a:r>
                <a:rPr lang="fr-FR" altLang="fr-FR">
                  <a:sym typeface="Wingdings" panose="05000000000000000000" pitchFamily="2" charset="2"/>
                </a:rPr>
                <a:t></a:t>
              </a:r>
              <a:r>
                <a:rPr lang="fr-FR" altLang="fr-FR">
                  <a:sym typeface="Symbol" panose="05050102010706020507" pitchFamily="18" charset="2"/>
                </a:rPr>
                <a:t> </a:t>
              </a:r>
            </a:p>
          </p:txBody>
        </p:sp>
        <p:graphicFrame>
          <p:nvGraphicFramePr>
            <p:cNvPr id="15400" name="Object 7"/>
            <p:cNvGraphicFramePr>
              <a:graphicFrameLocks noChangeAspect="1"/>
            </p:cNvGraphicFramePr>
            <p:nvPr/>
          </p:nvGraphicFramePr>
          <p:xfrm>
            <a:off x="3162" y="309"/>
            <a:ext cx="2621" cy="4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446" name="Equation" r:id="rId4" imgW="2616200" imgH="444500" progId="Equation.3">
                    <p:embed/>
                  </p:oleObj>
                </mc:Choice>
                <mc:Fallback>
                  <p:oleObj name="Equation" r:id="rId4" imgW="2616200" imgH="444500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62" y="309"/>
                          <a:ext cx="2621" cy="44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00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5363" name="Object 23"/>
          <p:cNvGraphicFramePr>
            <a:graphicFrameLocks noChangeAspect="1"/>
          </p:cNvGraphicFramePr>
          <p:nvPr/>
        </p:nvGraphicFramePr>
        <p:xfrm>
          <a:off x="549275" y="4757738"/>
          <a:ext cx="4340225" cy="758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47" name="Equation" r:id="rId6" imgW="2679700" imgH="469900" progId="Equation.3">
                  <p:embed/>
                </p:oleObj>
              </mc:Choice>
              <mc:Fallback>
                <p:oleObj name="Equation" r:id="rId6" imgW="2679700" imgH="469900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9275" y="4757738"/>
                        <a:ext cx="4340225" cy="758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00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364" name="Group 52"/>
          <p:cNvGrpSpPr>
            <a:grpSpLocks/>
          </p:cNvGrpSpPr>
          <p:nvPr/>
        </p:nvGrpSpPr>
        <p:grpSpPr bwMode="auto">
          <a:xfrm>
            <a:off x="323850" y="1341438"/>
            <a:ext cx="6294438" cy="841375"/>
            <a:chOff x="230" y="1084"/>
            <a:chExt cx="3965" cy="530"/>
          </a:xfrm>
        </p:grpSpPr>
        <p:sp>
          <p:nvSpPr>
            <p:cNvPr id="15388" name="Text Box 8"/>
            <p:cNvSpPr txBox="1">
              <a:spLocks noChangeArrowheads="1"/>
            </p:cNvSpPr>
            <p:nvPr/>
          </p:nvSpPr>
          <p:spPr bwMode="auto">
            <a:xfrm>
              <a:off x="237" y="1084"/>
              <a:ext cx="182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en-US" sz="1800"/>
                <a:t>Discrétisation de l</a:t>
              </a:r>
              <a:r>
                <a:rPr lang="ja-JP" altLang="fr-FR" sz="1800"/>
                <a:t>’</a:t>
              </a:r>
              <a:r>
                <a:rPr lang="fr-FR" altLang="ja-JP" sz="1800"/>
                <a:t>espace :</a:t>
              </a:r>
              <a:endParaRPr lang="fr-FR" altLang="en-US" sz="1800"/>
            </a:p>
          </p:txBody>
        </p:sp>
        <p:sp>
          <p:nvSpPr>
            <p:cNvPr id="15389" name="Line 9"/>
            <p:cNvSpPr>
              <a:spLocks noChangeShapeType="1"/>
            </p:cNvSpPr>
            <p:nvPr/>
          </p:nvSpPr>
          <p:spPr bwMode="auto">
            <a:xfrm>
              <a:off x="2245" y="1207"/>
              <a:ext cx="195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grpSp>
          <p:nvGrpSpPr>
            <p:cNvPr id="15390" name="Group 19"/>
            <p:cNvGrpSpPr>
              <a:grpSpLocks/>
            </p:cNvGrpSpPr>
            <p:nvPr/>
          </p:nvGrpSpPr>
          <p:grpSpPr bwMode="auto">
            <a:xfrm>
              <a:off x="2399" y="1141"/>
              <a:ext cx="1497" cy="136"/>
              <a:chOff x="2336" y="1570"/>
              <a:chExt cx="408" cy="136"/>
            </a:xfrm>
          </p:grpSpPr>
          <p:sp>
            <p:nvSpPr>
              <p:cNvPr id="15395" name="Line 15"/>
              <p:cNvSpPr>
                <a:spLocks noChangeShapeType="1"/>
              </p:cNvSpPr>
              <p:nvPr/>
            </p:nvSpPr>
            <p:spPr bwMode="auto">
              <a:xfrm>
                <a:off x="2336" y="1570"/>
                <a:ext cx="0" cy="1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5396" name="Line 16"/>
              <p:cNvSpPr>
                <a:spLocks noChangeShapeType="1"/>
              </p:cNvSpPr>
              <p:nvPr/>
            </p:nvSpPr>
            <p:spPr bwMode="auto">
              <a:xfrm>
                <a:off x="2472" y="1570"/>
                <a:ext cx="0" cy="1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5397" name="Line 17"/>
              <p:cNvSpPr>
                <a:spLocks noChangeShapeType="1"/>
              </p:cNvSpPr>
              <p:nvPr/>
            </p:nvSpPr>
            <p:spPr bwMode="auto">
              <a:xfrm>
                <a:off x="2608" y="1570"/>
                <a:ext cx="0" cy="1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5398" name="Line 18"/>
              <p:cNvSpPr>
                <a:spLocks noChangeShapeType="1"/>
              </p:cNvSpPr>
              <p:nvPr/>
            </p:nvSpPr>
            <p:spPr bwMode="auto">
              <a:xfrm>
                <a:off x="2744" y="1570"/>
                <a:ext cx="0" cy="1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  <p:sp>
          <p:nvSpPr>
            <p:cNvPr id="15391" name="Text Box 20"/>
            <p:cNvSpPr txBox="1">
              <a:spLocks noChangeArrowheads="1"/>
            </p:cNvSpPr>
            <p:nvPr/>
          </p:nvSpPr>
          <p:spPr bwMode="auto">
            <a:xfrm>
              <a:off x="2789" y="1253"/>
              <a:ext cx="77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fr-FR"/>
                <a:t>x=(p-1).</a:t>
              </a:r>
              <a:r>
                <a:rPr lang="en-US" altLang="fr-FR">
                  <a:latin typeface="Symbol" panose="05050102010706020507" pitchFamily="18" charset="2"/>
                </a:rPr>
                <a:t>D</a:t>
              </a:r>
              <a:r>
                <a:rPr lang="en-US" altLang="fr-FR"/>
                <a:t>x</a:t>
              </a:r>
              <a:endParaRPr lang="fr-FR" altLang="fr-FR"/>
            </a:p>
          </p:txBody>
        </p:sp>
        <p:sp>
          <p:nvSpPr>
            <p:cNvPr id="15392" name="Text Box 21"/>
            <p:cNvSpPr txBox="1">
              <a:spLocks noChangeArrowheads="1"/>
            </p:cNvSpPr>
            <p:nvPr/>
          </p:nvSpPr>
          <p:spPr bwMode="auto">
            <a:xfrm>
              <a:off x="2290" y="1249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fr-FR" altLang="fr-FR"/>
                <a:t>0</a:t>
              </a:r>
            </a:p>
          </p:txBody>
        </p:sp>
        <p:sp>
          <p:nvSpPr>
            <p:cNvPr id="15393" name="Text Box 22"/>
            <p:cNvSpPr txBox="1">
              <a:spLocks noChangeArrowheads="1"/>
            </p:cNvSpPr>
            <p:nvPr/>
          </p:nvSpPr>
          <p:spPr bwMode="auto">
            <a:xfrm>
              <a:off x="3787" y="1253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fr-FR" altLang="fr-FR"/>
                <a:t>L</a:t>
              </a:r>
            </a:p>
          </p:txBody>
        </p:sp>
        <p:sp>
          <p:nvSpPr>
            <p:cNvPr id="15394" name="Text Box 24"/>
            <p:cNvSpPr txBox="1">
              <a:spLocks noChangeArrowheads="1"/>
            </p:cNvSpPr>
            <p:nvPr/>
          </p:nvSpPr>
          <p:spPr bwMode="auto">
            <a:xfrm>
              <a:off x="230" y="1383"/>
              <a:ext cx="214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en-US" sz="1800"/>
                <a:t>Discrétisation du temps : t=n.</a:t>
              </a:r>
              <a:r>
                <a:rPr lang="fr-FR" altLang="en-US" sz="1800">
                  <a:latin typeface="Symbol" panose="05050102010706020507" pitchFamily="18" charset="2"/>
                </a:rPr>
                <a:t>D</a:t>
              </a:r>
              <a:r>
                <a:rPr lang="fr-FR" altLang="en-US" sz="1800"/>
                <a:t>t </a:t>
              </a:r>
            </a:p>
          </p:txBody>
        </p:sp>
      </p:grpSp>
      <p:sp>
        <p:nvSpPr>
          <p:cNvPr id="15365" name="Text Box 25"/>
          <p:cNvSpPr txBox="1">
            <a:spLocks noChangeArrowheads="1"/>
          </p:cNvSpPr>
          <p:nvPr/>
        </p:nvSpPr>
        <p:spPr bwMode="auto">
          <a:xfrm>
            <a:off x="376238" y="2492375"/>
            <a:ext cx="5886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Schéma explicite centré de l</a:t>
            </a:r>
            <a:r>
              <a:rPr lang="ja-JP" altLang="fr-FR" sz="1800"/>
              <a:t>’</a:t>
            </a:r>
            <a:r>
              <a:rPr lang="fr-FR" altLang="ja-JP" sz="1800"/>
              <a:t>équation de la chaleur 1D : </a:t>
            </a:r>
            <a:endParaRPr lang="fr-FR" altLang="en-US" sz="1800"/>
          </a:p>
        </p:txBody>
      </p:sp>
      <p:graphicFrame>
        <p:nvGraphicFramePr>
          <p:cNvPr id="15366" name="Object 46"/>
          <p:cNvGraphicFramePr>
            <a:graphicFrameLocks noChangeAspect="1"/>
          </p:cNvGraphicFramePr>
          <p:nvPr/>
        </p:nvGraphicFramePr>
        <p:xfrm>
          <a:off x="611188" y="5880100"/>
          <a:ext cx="5099050" cy="717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48" name="Equation" r:id="rId8" imgW="3149600" imgH="444500" progId="Equation.3">
                  <p:embed/>
                </p:oleObj>
              </mc:Choice>
              <mc:Fallback>
                <p:oleObj name="Equation" r:id="rId8" imgW="3149600" imgH="444500" progId="Equation.3">
                  <p:embed/>
                  <p:pic>
                    <p:nvPicPr>
                      <p:cNvPr id="0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5880100"/>
                        <a:ext cx="5099050" cy="717550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0000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7" name="Object 47"/>
          <p:cNvGraphicFramePr>
            <a:graphicFrameLocks noChangeAspect="1"/>
          </p:cNvGraphicFramePr>
          <p:nvPr/>
        </p:nvGraphicFramePr>
        <p:xfrm>
          <a:off x="76200" y="2952750"/>
          <a:ext cx="5287963" cy="155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49" name="Equation" r:id="rId10" imgW="3784600" imgH="1117600" progId="Equation.3">
                  <p:embed/>
                </p:oleObj>
              </mc:Choice>
              <mc:Fallback>
                <p:oleObj name="Equation" r:id="rId10" imgW="3784600" imgH="1117600" progId="Equation.3">
                  <p:embed/>
                  <p:pic>
                    <p:nvPicPr>
                      <p:cNvPr id="0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" y="2952750"/>
                        <a:ext cx="5287963" cy="1555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00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8" name="Object 48"/>
          <p:cNvGraphicFramePr>
            <a:graphicFrameLocks noChangeAspect="1"/>
          </p:cNvGraphicFramePr>
          <p:nvPr/>
        </p:nvGraphicFramePr>
        <p:xfrm>
          <a:off x="5653088" y="2962275"/>
          <a:ext cx="3455987" cy="1690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50" name="Equation" r:id="rId12" imgW="2184400" imgH="1066800" progId="Equation.3">
                  <p:embed/>
                </p:oleObj>
              </mc:Choice>
              <mc:Fallback>
                <p:oleObj name="Equation" r:id="rId12" imgW="2184400" imgH="1066800" progId="Equation.3">
                  <p:embed/>
                  <p:pic>
                    <p:nvPicPr>
                      <p:cNvPr id="0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3088" y="2962275"/>
                        <a:ext cx="3455987" cy="1690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9" name="AutoShape 50"/>
          <p:cNvSpPr>
            <a:spLocks noChangeArrowheads="1"/>
          </p:cNvSpPr>
          <p:nvPr/>
        </p:nvSpPr>
        <p:spPr bwMode="auto">
          <a:xfrm>
            <a:off x="4859338" y="3614738"/>
            <a:ext cx="649287" cy="322262"/>
          </a:xfrm>
          <a:prstGeom prst="rightArrow">
            <a:avLst>
              <a:gd name="adj1" fmla="val 50000"/>
              <a:gd name="adj2" fmla="val 50369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/>
          </a:p>
        </p:txBody>
      </p:sp>
      <p:grpSp>
        <p:nvGrpSpPr>
          <p:cNvPr id="15370" name="Group 56"/>
          <p:cNvGrpSpPr>
            <a:grpSpLocks/>
          </p:cNvGrpSpPr>
          <p:nvPr/>
        </p:nvGrpSpPr>
        <p:grpSpPr bwMode="auto">
          <a:xfrm>
            <a:off x="6289675" y="4718050"/>
            <a:ext cx="2530475" cy="1879600"/>
            <a:chOff x="3962" y="2972"/>
            <a:chExt cx="1594" cy="1184"/>
          </a:xfrm>
        </p:grpSpPr>
        <p:grpSp>
          <p:nvGrpSpPr>
            <p:cNvPr id="15371" name="Group 44"/>
            <p:cNvGrpSpPr>
              <a:grpSpLocks/>
            </p:cNvGrpSpPr>
            <p:nvPr/>
          </p:nvGrpSpPr>
          <p:grpSpPr bwMode="auto">
            <a:xfrm>
              <a:off x="3962" y="2972"/>
              <a:ext cx="1594" cy="1184"/>
              <a:chOff x="4014" y="1434"/>
              <a:chExt cx="1594" cy="1184"/>
            </a:xfrm>
          </p:grpSpPr>
          <p:sp>
            <p:nvSpPr>
              <p:cNvPr id="15375" name="Line 26"/>
              <p:cNvSpPr>
                <a:spLocks noChangeShapeType="1"/>
              </p:cNvSpPr>
              <p:nvPr/>
            </p:nvSpPr>
            <p:spPr bwMode="auto">
              <a:xfrm>
                <a:off x="4014" y="2362"/>
                <a:ext cx="136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5376" name="Line 28"/>
              <p:cNvSpPr>
                <a:spLocks noChangeShapeType="1"/>
              </p:cNvSpPr>
              <p:nvPr/>
            </p:nvSpPr>
            <p:spPr bwMode="auto">
              <a:xfrm>
                <a:off x="4168" y="2296"/>
                <a:ext cx="0" cy="1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5377" name="Line 29"/>
              <p:cNvSpPr>
                <a:spLocks noChangeShapeType="1"/>
              </p:cNvSpPr>
              <p:nvPr/>
            </p:nvSpPr>
            <p:spPr bwMode="auto">
              <a:xfrm>
                <a:off x="4667" y="1759"/>
                <a:ext cx="0" cy="673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5378" name="Line 30"/>
              <p:cNvSpPr>
                <a:spLocks noChangeShapeType="1"/>
              </p:cNvSpPr>
              <p:nvPr/>
            </p:nvSpPr>
            <p:spPr bwMode="auto">
              <a:xfrm>
                <a:off x="5166" y="2296"/>
                <a:ext cx="0" cy="1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5379" name="Line 33"/>
              <p:cNvSpPr>
                <a:spLocks noChangeShapeType="1"/>
              </p:cNvSpPr>
              <p:nvPr/>
            </p:nvSpPr>
            <p:spPr bwMode="auto">
              <a:xfrm flipV="1">
                <a:off x="4165" y="1743"/>
                <a:ext cx="438" cy="613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5380" name="Line 34"/>
              <p:cNvSpPr>
                <a:spLocks noChangeShapeType="1"/>
              </p:cNvSpPr>
              <p:nvPr/>
            </p:nvSpPr>
            <p:spPr bwMode="auto">
              <a:xfrm>
                <a:off x="4739" y="1748"/>
                <a:ext cx="425" cy="615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5381" name="Line 35"/>
              <p:cNvSpPr>
                <a:spLocks noChangeShapeType="1"/>
              </p:cNvSpPr>
              <p:nvPr/>
            </p:nvSpPr>
            <p:spPr bwMode="auto">
              <a:xfrm>
                <a:off x="4664" y="2296"/>
                <a:ext cx="0" cy="1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5382" name="Text Box 37"/>
              <p:cNvSpPr txBox="1">
                <a:spLocks noChangeArrowheads="1"/>
              </p:cNvSpPr>
              <p:nvPr/>
            </p:nvSpPr>
            <p:spPr bwMode="auto">
              <a:xfrm>
                <a:off x="4422" y="2387"/>
                <a:ext cx="48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fr-FR" altLang="fr-FR"/>
                  <a:t>t=n.</a:t>
                </a:r>
                <a:r>
                  <a:rPr lang="fr-FR" altLang="fr-FR">
                    <a:latin typeface="Symbol" panose="05050102010706020507" pitchFamily="18" charset="2"/>
                  </a:rPr>
                  <a:t>D</a:t>
                </a:r>
                <a:r>
                  <a:rPr lang="fr-FR" altLang="fr-FR"/>
                  <a:t>t</a:t>
                </a:r>
              </a:p>
            </p:txBody>
          </p:sp>
          <p:sp>
            <p:nvSpPr>
              <p:cNvPr id="15383" name="Text Box 38"/>
              <p:cNvSpPr txBox="1">
                <a:spLocks noChangeArrowheads="1"/>
              </p:cNvSpPr>
              <p:nvPr/>
            </p:nvSpPr>
            <p:spPr bwMode="auto">
              <a:xfrm>
                <a:off x="4332" y="1434"/>
                <a:ext cx="74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fr-FR" altLang="fr-FR"/>
                  <a:t>t=(n+1).</a:t>
                </a:r>
                <a:r>
                  <a:rPr lang="fr-FR" altLang="fr-FR">
                    <a:latin typeface="Symbol" panose="05050102010706020507" pitchFamily="18" charset="2"/>
                  </a:rPr>
                  <a:t>D</a:t>
                </a:r>
                <a:r>
                  <a:rPr lang="fr-FR" altLang="fr-FR"/>
                  <a:t>t</a:t>
                </a:r>
              </a:p>
            </p:txBody>
          </p:sp>
          <p:sp>
            <p:nvSpPr>
              <p:cNvPr id="15384" name="Line 39"/>
              <p:cNvSpPr>
                <a:spLocks noChangeShapeType="1"/>
              </p:cNvSpPr>
              <p:nvPr/>
            </p:nvSpPr>
            <p:spPr bwMode="auto">
              <a:xfrm>
                <a:off x="4014" y="1661"/>
                <a:ext cx="136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5385" name="Text Box 40"/>
              <p:cNvSpPr txBox="1">
                <a:spLocks noChangeArrowheads="1"/>
              </p:cNvSpPr>
              <p:nvPr/>
            </p:nvSpPr>
            <p:spPr bwMode="auto">
              <a:xfrm>
                <a:off x="5420" y="2205"/>
                <a:ext cx="18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fr-FR" altLang="fr-FR"/>
                  <a:t>x</a:t>
                </a:r>
              </a:p>
            </p:txBody>
          </p:sp>
          <p:sp>
            <p:nvSpPr>
              <p:cNvPr id="15386" name="Text Box 41"/>
              <p:cNvSpPr txBox="1">
                <a:spLocks noChangeArrowheads="1"/>
              </p:cNvSpPr>
              <p:nvPr/>
            </p:nvSpPr>
            <p:spPr bwMode="auto">
              <a:xfrm>
                <a:off x="5420" y="1525"/>
                <a:ext cx="18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fr-FR" altLang="fr-FR"/>
                  <a:t>x</a:t>
                </a:r>
              </a:p>
            </p:txBody>
          </p:sp>
          <p:sp>
            <p:nvSpPr>
              <p:cNvPr id="15387" name="Line 43"/>
              <p:cNvSpPr>
                <a:spLocks noChangeShapeType="1"/>
              </p:cNvSpPr>
              <p:nvPr/>
            </p:nvSpPr>
            <p:spPr bwMode="auto">
              <a:xfrm>
                <a:off x="4665" y="1612"/>
                <a:ext cx="0" cy="1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  <p:sp>
          <p:nvSpPr>
            <p:cNvPr id="15372" name="Text Box 53"/>
            <p:cNvSpPr txBox="1">
              <a:spLocks noChangeArrowheads="1"/>
            </p:cNvSpPr>
            <p:nvPr/>
          </p:nvSpPr>
          <p:spPr bwMode="auto">
            <a:xfrm>
              <a:off x="4604" y="3669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fr-FR" altLang="fr-FR"/>
                <a:t>p</a:t>
              </a:r>
            </a:p>
          </p:txBody>
        </p:sp>
        <p:sp>
          <p:nvSpPr>
            <p:cNvPr id="15373" name="Text Box 54"/>
            <p:cNvSpPr txBox="1">
              <a:spLocks noChangeArrowheads="1"/>
            </p:cNvSpPr>
            <p:nvPr/>
          </p:nvSpPr>
          <p:spPr bwMode="auto">
            <a:xfrm>
              <a:off x="4170" y="3677"/>
              <a:ext cx="32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fr-FR" altLang="fr-FR"/>
                <a:t>p-1</a:t>
              </a:r>
            </a:p>
          </p:txBody>
        </p:sp>
        <p:sp>
          <p:nvSpPr>
            <p:cNvPr id="15374" name="Text Box 55"/>
            <p:cNvSpPr txBox="1">
              <a:spLocks noChangeArrowheads="1"/>
            </p:cNvSpPr>
            <p:nvPr/>
          </p:nvSpPr>
          <p:spPr bwMode="auto">
            <a:xfrm>
              <a:off x="5073" y="3666"/>
              <a:ext cx="36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fr-FR" altLang="fr-FR"/>
                <a:t>p+1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409" name="Object 4"/>
          <p:cNvGraphicFramePr>
            <a:graphicFrameLocks noChangeAspect="1"/>
          </p:cNvGraphicFramePr>
          <p:nvPr/>
        </p:nvGraphicFramePr>
        <p:xfrm>
          <a:off x="1908175" y="2060575"/>
          <a:ext cx="5067300" cy="841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83" name="Equation" r:id="rId3" imgW="2819400" imgH="469900" progId="Equation.3">
                  <p:embed/>
                </p:oleObj>
              </mc:Choice>
              <mc:Fallback>
                <p:oleObj name="Equation" r:id="rId3" imgW="2819400" imgH="4699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175" y="2060575"/>
                        <a:ext cx="5067300" cy="841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00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0" name="Text Box 5"/>
          <p:cNvSpPr txBox="1">
            <a:spLocks noChangeArrowheads="1"/>
          </p:cNvSpPr>
          <p:nvPr/>
        </p:nvSpPr>
        <p:spPr bwMode="auto">
          <a:xfrm>
            <a:off x="376238" y="307975"/>
            <a:ext cx="828784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2400" b="1" dirty="0">
                <a:solidFill>
                  <a:schemeClr val="accent2"/>
                </a:solidFill>
              </a:rPr>
              <a:t>Schéma implicite centré de l</a:t>
            </a:r>
            <a:r>
              <a:rPr lang="ja-JP" altLang="fr-FR" sz="2400" b="1" dirty="0">
                <a:solidFill>
                  <a:schemeClr val="accent2"/>
                </a:solidFill>
              </a:rPr>
              <a:t>’</a:t>
            </a:r>
            <a:r>
              <a:rPr lang="fr-FR" altLang="ja-JP" sz="2400" b="1" dirty="0">
                <a:solidFill>
                  <a:schemeClr val="accent2"/>
                </a:solidFill>
              </a:rPr>
              <a:t>équation de la chaleur 1D </a:t>
            </a:r>
            <a:endParaRPr lang="fr-FR" altLang="en-US" sz="2400" b="1" dirty="0">
              <a:solidFill>
                <a:schemeClr val="accent2"/>
              </a:solidFill>
            </a:endParaRPr>
          </a:p>
        </p:txBody>
      </p:sp>
      <p:graphicFrame>
        <p:nvGraphicFramePr>
          <p:cNvPr id="17411" name="Object 8"/>
          <p:cNvGraphicFramePr>
            <a:graphicFrameLocks noChangeAspect="1"/>
          </p:cNvGraphicFramePr>
          <p:nvPr/>
        </p:nvGraphicFramePr>
        <p:xfrm>
          <a:off x="395288" y="836613"/>
          <a:ext cx="7966075" cy="957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84" name="Equation" r:id="rId5" imgW="4445000" imgH="533400" progId="Equation.3">
                  <p:embed/>
                </p:oleObj>
              </mc:Choice>
              <mc:Fallback>
                <p:oleObj name="Equation" r:id="rId5" imgW="4445000" imgH="5334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836613"/>
                        <a:ext cx="7966075" cy="957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2" name="AutoShape 9"/>
          <p:cNvSpPr>
            <a:spLocks noChangeArrowheads="1"/>
          </p:cNvSpPr>
          <p:nvPr/>
        </p:nvSpPr>
        <p:spPr bwMode="auto">
          <a:xfrm>
            <a:off x="539750" y="2314575"/>
            <a:ext cx="649288" cy="322263"/>
          </a:xfrm>
          <a:prstGeom prst="rightArrow">
            <a:avLst>
              <a:gd name="adj1" fmla="val 50000"/>
              <a:gd name="adj2" fmla="val 50369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/>
          </a:p>
        </p:txBody>
      </p:sp>
      <p:grpSp>
        <p:nvGrpSpPr>
          <p:cNvPr id="17413" name="Group 30"/>
          <p:cNvGrpSpPr>
            <a:grpSpLocks/>
          </p:cNvGrpSpPr>
          <p:nvPr/>
        </p:nvGrpSpPr>
        <p:grpSpPr bwMode="auto">
          <a:xfrm>
            <a:off x="6084888" y="4581525"/>
            <a:ext cx="2592387" cy="1952625"/>
            <a:chOff x="3923" y="1706"/>
            <a:chExt cx="1633" cy="1230"/>
          </a:xfrm>
        </p:grpSpPr>
        <p:sp>
          <p:nvSpPr>
            <p:cNvPr id="17430" name="Line 14"/>
            <p:cNvSpPr>
              <a:spLocks noChangeShapeType="1"/>
            </p:cNvSpPr>
            <p:nvPr/>
          </p:nvSpPr>
          <p:spPr bwMode="auto">
            <a:xfrm>
              <a:off x="4604" y="2205"/>
              <a:ext cx="0" cy="45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7431" name="Line 16"/>
            <p:cNvSpPr>
              <a:spLocks noChangeShapeType="1"/>
            </p:cNvSpPr>
            <p:nvPr/>
          </p:nvSpPr>
          <p:spPr bwMode="auto">
            <a:xfrm flipV="1">
              <a:off x="4649" y="2024"/>
              <a:ext cx="438" cy="61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7432" name="Line 17"/>
            <p:cNvSpPr>
              <a:spLocks noChangeShapeType="1"/>
            </p:cNvSpPr>
            <p:nvPr/>
          </p:nvSpPr>
          <p:spPr bwMode="auto">
            <a:xfrm>
              <a:off x="4105" y="2024"/>
              <a:ext cx="425" cy="61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grpSp>
          <p:nvGrpSpPr>
            <p:cNvPr id="17433" name="Group 28"/>
            <p:cNvGrpSpPr>
              <a:grpSpLocks/>
            </p:cNvGrpSpPr>
            <p:nvPr/>
          </p:nvGrpSpPr>
          <p:grpSpPr bwMode="auto">
            <a:xfrm>
              <a:off x="3962" y="2614"/>
              <a:ext cx="1594" cy="322"/>
              <a:chOff x="3962" y="1612"/>
              <a:chExt cx="1594" cy="322"/>
            </a:xfrm>
          </p:grpSpPr>
          <p:sp>
            <p:nvSpPr>
              <p:cNvPr id="17443" name="Text Box 20"/>
              <p:cNvSpPr txBox="1">
                <a:spLocks noChangeArrowheads="1"/>
              </p:cNvSpPr>
              <p:nvPr/>
            </p:nvSpPr>
            <p:spPr bwMode="auto">
              <a:xfrm>
                <a:off x="4280" y="1612"/>
                <a:ext cx="48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fr-FR" altLang="fr-FR"/>
                  <a:t>t=n.</a:t>
                </a:r>
                <a:r>
                  <a:rPr lang="fr-FR" altLang="fr-FR">
                    <a:latin typeface="Symbol" panose="05050102010706020507" pitchFamily="18" charset="2"/>
                  </a:rPr>
                  <a:t>D</a:t>
                </a:r>
                <a:r>
                  <a:rPr lang="fr-FR" altLang="fr-FR"/>
                  <a:t>t</a:t>
                </a:r>
              </a:p>
            </p:txBody>
          </p:sp>
          <p:sp>
            <p:nvSpPr>
              <p:cNvPr id="17444" name="Line 21"/>
              <p:cNvSpPr>
                <a:spLocks noChangeShapeType="1"/>
              </p:cNvSpPr>
              <p:nvPr/>
            </p:nvSpPr>
            <p:spPr bwMode="auto">
              <a:xfrm>
                <a:off x="3962" y="1839"/>
                <a:ext cx="136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7445" name="Text Box 23"/>
              <p:cNvSpPr txBox="1">
                <a:spLocks noChangeArrowheads="1"/>
              </p:cNvSpPr>
              <p:nvPr/>
            </p:nvSpPr>
            <p:spPr bwMode="auto">
              <a:xfrm>
                <a:off x="5368" y="1703"/>
                <a:ext cx="18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fr-FR" altLang="fr-FR"/>
                  <a:t>x</a:t>
                </a:r>
              </a:p>
            </p:txBody>
          </p:sp>
          <p:sp>
            <p:nvSpPr>
              <p:cNvPr id="17446" name="Line 24"/>
              <p:cNvSpPr>
                <a:spLocks noChangeShapeType="1"/>
              </p:cNvSpPr>
              <p:nvPr/>
            </p:nvSpPr>
            <p:spPr bwMode="auto">
              <a:xfrm>
                <a:off x="4613" y="1790"/>
                <a:ext cx="0" cy="1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  <p:sp>
          <p:nvSpPr>
            <p:cNvPr id="17434" name="Line 12"/>
            <p:cNvSpPr>
              <a:spLocks noChangeShapeType="1"/>
            </p:cNvSpPr>
            <p:nvPr/>
          </p:nvSpPr>
          <p:spPr bwMode="auto">
            <a:xfrm>
              <a:off x="3923" y="1940"/>
              <a:ext cx="136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7435" name="Line 13"/>
            <p:cNvSpPr>
              <a:spLocks noChangeShapeType="1"/>
            </p:cNvSpPr>
            <p:nvPr/>
          </p:nvSpPr>
          <p:spPr bwMode="auto">
            <a:xfrm>
              <a:off x="4077" y="1874"/>
              <a:ext cx="0" cy="1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7436" name="Line 15"/>
            <p:cNvSpPr>
              <a:spLocks noChangeShapeType="1"/>
            </p:cNvSpPr>
            <p:nvPr/>
          </p:nvSpPr>
          <p:spPr bwMode="auto">
            <a:xfrm>
              <a:off x="5075" y="1874"/>
              <a:ext cx="0" cy="1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7437" name="Line 18"/>
            <p:cNvSpPr>
              <a:spLocks noChangeShapeType="1"/>
            </p:cNvSpPr>
            <p:nvPr/>
          </p:nvSpPr>
          <p:spPr bwMode="auto">
            <a:xfrm>
              <a:off x="4573" y="1874"/>
              <a:ext cx="0" cy="1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7438" name="Text Box 19"/>
            <p:cNvSpPr txBox="1">
              <a:spLocks noChangeArrowheads="1"/>
            </p:cNvSpPr>
            <p:nvPr/>
          </p:nvSpPr>
          <p:spPr bwMode="auto">
            <a:xfrm>
              <a:off x="4286" y="1965"/>
              <a:ext cx="74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fr-FR" altLang="fr-FR"/>
                <a:t>t=(n+1).</a:t>
              </a:r>
              <a:r>
                <a:rPr lang="fr-FR" altLang="fr-FR">
                  <a:latin typeface="Symbol" panose="05050102010706020507" pitchFamily="18" charset="2"/>
                </a:rPr>
                <a:t>D</a:t>
              </a:r>
              <a:r>
                <a:rPr lang="fr-FR" altLang="fr-FR"/>
                <a:t>t</a:t>
              </a:r>
            </a:p>
          </p:txBody>
        </p:sp>
        <p:sp>
          <p:nvSpPr>
            <p:cNvPr id="17439" name="Text Box 22"/>
            <p:cNvSpPr txBox="1">
              <a:spLocks noChangeArrowheads="1"/>
            </p:cNvSpPr>
            <p:nvPr/>
          </p:nvSpPr>
          <p:spPr bwMode="auto">
            <a:xfrm>
              <a:off x="5329" y="1783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fr-FR" altLang="fr-FR"/>
                <a:t>x</a:t>
              </a:r>
            </a:p>
          </p:txBody>
        </p:sp>
        <p:sp>
          <p:nvSpPr>
            <p:cNvPr id="17440" name="Text Box 25"/>
            <p:cNvSpPr txBox="1">
              <a:spLocks noChangeArrowheads="1"/>
            </p:cNvSpPr>
            <p:nvPr/>
          </p:nvSpPr>
          <p:spPr bwMode="auto">
            <a:xfrm>
              <a:off x="4565" y="1709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fr-FR" altLang="fr-FR"/>
                <a:t>p</a:t>
              </a:r>
            </a:p>
          </p:txBody>
        </p:sp>
        <p:sp>
          <p:nvSpPr>
            <p:cNvPr id="17441" name="Text Box 26"/>
            <p:cNvSpPr txBox="1">
              <a:spLocks noChangeArrowheads="1"/>
            </p:cNvSpPr>
            <p:nvPr/>
          </p:nvSpPr>
          <p:spPr bwMode="auto">
            <a:xfrm>
              <a:off x="4131" y="1717"/>
              <a:ext cx="32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fr-FR" altLang="fr-FR"/>
                <a:t>p-1</a:t>
              </a:r>
            </a:p>
          </p:txBody>
        </p:sp>
        <p:sp>
          <p:nvSpPr>
            <p:cNvPr id="17442" name="Text Box 27"/>
            <p:cNvSpPr txBox="1">
              <a:spLocks noChangeArrowheads="1"/>
            </p:cNvSpPr>
            <p:nvPr/>
          </p:nvSpPr>
          <p:spPr bwMode="auto">
            <a:xfrm>
              <a:off x="5034" y="1706"/>
              <a:ext cx="36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fr-FR" altLang="fr-FR"/>
                <a:t>p+1</a:t>
              </a:r>
            </a:p>
          </p:txBody>
        </p:sp>
      </p:grpSp>
      <p:sp>
        <p:nvSpPr>
          <p:cNvPr id="17414" name="Rectangle 34"/>
          <p:cNvSpPr>
            <a:spLocks noChangeArrowheads="1"/>
          </p:cNvSpPr>
          <p:nvPr/>
        </p:nvSpPr>
        <p:spPr bwMode="auto">
          <a:xfrm>
            <a:off x="0" y="28432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/>
          </a:p>
        </p:txBody>
      </p:sp>
      <p:grpSp>
        <p:nvGrpSpPr>
          <p:cNvPr id="17415" name="Group 49"/>
          <p:cNvGrpSpPr>
            <a:grpSpLocks/>
          </p:cNvGrpSpPr>
          <p:nvPr/>
        </p:nvGrpSpPr>
        <p:grpSpPr bwMode="auto">
          <a:xfrm>
            <a:off x="766763" y="4560888"/>
            <a:ext cx="4427537" cy="2108200"/>
            <a:chOff x="483" y="2873"/>
            <a:chExt cx="2789" cy="1328"/>
          </a:xfrm>
        </p:grpSpPr>
        <p:graphicFrame>
          <p:nvGraphicFramePr>
            <p:cNvPr id="17425" name="Object 33"/>
            <p:cNvGraphicFramePr>
              <a:graphicFrameLocks noChangeAspect="1"/>
            </p:cNvGraphicFramePr>
            <p:nvPr/>
          </p:nvGraphicFramePr>
          <p:xfrm>
            <a:off x="483" y="2873"/>
            <a:ext cx="2789" cy="13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85" name="Equation" r:id="rId7" imgW="2463800" imgH="1168400" progId="Equation.DSMT4">
                    <p:embed/>
                  </p:oleObj>
                </mc:Choice>
                <mc:Fallback>
                  <p:oleObj name="Equation" r:id="rId7" imgW="2463800" imgH="1168400" progId="Equation.DSMT4">
                    <p:embed/>
                    <p:pic>
                      <p:nvPicPr>
                        <p:cNvPr id="0" name="Object 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3" y="2873"/>
                          <a:ext cx="2789" cy="13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26" name="Line 35"/>
            <p:cNvSpPr>
              <a:spLocks noChangeShapeType="1"/>
            </p:cNvSpPr>
            <p:nvPr/>
          </p:nvSpPr>
          <p:spPr bwMode="auto">
            <a:xfrm>
              <a:off x="703" y="2918"/>
              <a:ext cx="0" cy="122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7427" name="Line 36"/>
            <p:cNvSpPr>
              <a:spLocks noChangeShapeType="1"/>
            </p:cNvSpPr>
            <p:nvPr/>
          </p:nvSpPr>
          <p:spPr bwMode="auto">
            <a:xfrm>
              <a:off x="2064" y="2918"/>
              <a:ext cx="0" cy="122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7428" name="Line 38"/>
            <p:cNvSpPr>
              <a:spLocks noChangeShapeType="1"/>
            </p:cNvSpPr>
            <p:nvPr/>
          </p:nvSpPr>
          <p:spPr bwMode="auto">
            <a:xfrm flipV="1">
              <a:off x="521" y="2919"/>
              <a:ext cx="136" cy="181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7429" name="Line 39"/>
            <p:cNvSpPr>
              <a:spLocks noChangeShapeType="1"/>
            </p:cNvSpPr>
            <p:nvPr/>
          </p:nvSpPr>
          <p:spPr bwMode="auto">
            <a:xfrm flipV="1">
              <a:off x="2154" y="3962"/>
              <a:ext cx="136" cy="181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17416" name="Text Box 41"/>
          <p:cNvSpPr txBox="1">
            <a:spLocks noChangeArrowheads="1"/>
          </p:cNvSpPr>
          <p:nvPr/>
        </p:nvSpPr>
        <p:spPr bwMode="auto">
          <a:xfrm>
            <a:off x="850900" y="4141788"/>
            <a:ext cx="3619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/>
              <a:t>G</a:t>
            </a:r>
          </a:p>
        </p:txBody>
      </p:sp>
      <p:sp>
        <p:nvSpPr>
          <p:cNvPr id="17417" name="Text Box 42"/>
          <p:cNvSpPr txBox="1">
            <a:spLocks noChangeArrowheads="1"/>
          </p:cNvSpPr>
          <p:nvPr/>
        </p:nvSpPr>
        <p:spPr bwMode="auto">
          <a:xfrm>
            <a:off x="3276600" y="4141788"/>
            <a:ext cx="349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/>
              <a:t>C</a:t>
            </a:r>
          </a:p>
        </p:txBody>
      </p:sp>
      <p:sp>
        <p:nvSpPr>
          <p:cNvPr id="17418" name="Text Box 43"/>
          <p:cNvSpPr txBox="1">
            <a:spLocks noChangeArrowheads="1"/>
          </p:cNvSpPr>
          <p:nvPr/>
        </p:nvSpPr>
        <p:spPr bwMode="auto">
          <a:xfrm>
            <a:off x="5508625" y="4141788"/>
            <a:ext cx="349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/>
              <a:t>D</a:t>
            </a:r>
          </a:p>
        </p:txBody>
      </p:sp>
      <p:sp>
        <p:nvSpPr>
          <p:cNvPr id="17419" name="Text Box 44"/>
          <p:cNvSpPr txBox="1">
            <a:spLocks noChangeArrowheads="1"/>
          </p:cNvSpPr>
          <p:nvPr/>
        </p:nvSpPr>
        <p:spPr bwMode="auto">
          <a:xfrm>
            <a:off x="7667625" y="4149725"/>
            <a:ext cx="3365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/>
              <a:t>B</a:t>
            </a:r>
          </a:p>
        </p:txBody>
      </p:sp>
      <p:sp>
        <p:nvSpPr>
          <p:cNvPr id="17420" name="AutoShape 45"/>
          <p:cNvSpPr>
            <a:spLocks/>
          </p:cNvSpPr>
          <p:nvPr/>
        </p:nvSpPr>
        <p:spPr bwMode="auto">
          <a:xfrm rot="-5400000">
            <a:off x="953294" y="3447257"/>
            <a:ext cx="180975" cy="1296987"/>
          </a:xfrm>
          <a:prstGeom prst="leftBrace">
            <a:avLst>
              <a:gd name="adj1" fmla="val 59722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/>
          </a:p>
        </p:txBody>
      </p:sp>
      <p:sp>
        <p:nvSpPr>
          <p:cNvPr id="17421" name="AutoShape 46"/>
          <p:cNvSpPr>
            <a:spLocks/>
          </p:cNvSpPr>
          <p:nvPr/>
        </p:nvSpPr>
        <p:spPr bwMode="auto">
          <a:xfrm rot="-5400000">
            <a:off x="3329781" y="3231357"/>
            <a:ext cx="180975" cy="1728788"/>
          </a:xfrm>
          <a:prstGeom prst="leftBrace">
            <a:avLst>
              <a:gd name="adj1" fmla="val 79605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/>
          </a:p>
        </p:txBody>
      </p:sp>
      <p:sp>
        <p:nvSpPr>
          <p:cNvPr id="17422" name="AutoShape 47"/>
          <p:cNvSpPr>
            <a:spLocks/>
          </p:cNvSpPr>
          <p:nvPr/>
        </p:nvSpPr>
        <p:spPr bwMode="auto">
          <a:xfrm rot="-5400000">
            <a:off x="5598319" y="3483769"/>
            <a:ext cx="180975" cy="1223963"/>
          </a:xfrm>
          <a:prstGeom prst="leftBrace">
            <a:avLst>
              <a:gd name="adj1" fmla="val 56360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/>
          </a:p>
        </p:txBody>
      </p:sp>
      <p:sp>
        <p:nvSpPr>
          <p:cNvPr id="17423" name="AutoShape 48"/>
          <p:cNvSpPr>
            <a:spLocks/>
          </p:cNvSpPr>
          <p:nvPr/>
        </p:nvSpPr>
        <p:spPr bwMode="auto">
          <a:xfrm rot="-5400000">
            <a:off x="7758906" y="3339307"/>
            <a:ext cx="180975" cy="1512888"/>
          </a:xfrm>
          <a:prstGeom prst="leftBrace">
            <a:avLst>
              <a:gd name="adj1" fmla="val 69664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/>
          </a:p>
        </p:txBody>
      </p:sp>
      <p:graphicFrame>
        <p:nvGraphicFramePr>
          <p:cNvPr id="17424" name="Object 51"/>
          <p:cNvGraphicFramePr>
            <a:graphicFrameLocks noChangeAspect="1"/>
          </p:cNvGraphicFramePr>
          <p:nvPr/>
        </p:nvGraphicFramePr>
        <p:xfrm>
          <a:off x="468313" y="3025775"/>
          <a:ext cx="8280400" cy="962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86" name="Equation" r:id="rId9" imgW="4140200" imgH="482600" progId="Equation.3">
                  <p:embed/>
                </p:oleObj>
              </mc:Choice>
              <mc:Fallback>
                <p:oleObj name="Equation" r:id="rId9" imgW="4140200" imgH="482600" progId="Equation.3">
                  <p:embed/>
                  <p:pic>
                    <p:nvPicPr>
                      <p:cNvPr id="0" name="Object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3025775"/>
                        <a:ext cx="8280400" cy="962025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0000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179512" y="332656"/>
            <a:ext cx="78261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/>
              <a:t>S</a:t>
            </a:r>
            <a:r>
              <a:rPr lang="fr-FR" sz="2800" dirty="0" smtClean="0"/>
              <a:t>ystème d’équations pour une grille à 4 </a:t>
            </a:r>
            <a:r>
              <a:rPr lang="fr-FR" sz="2800" dirty="0" err="1" smtClean="0"/>
              <a:t>noeuds</a:t>
            </a:r>
            <a:r>
              <a:rPr lang="fr-FR" sz="2800" dirty="0" smtClean="0"/>
              <a:t> </a:t>
            </a:r>
            <a:endParaRPr lang="fr-FR" sz="2800" dirty="0"/>
          </a:p>
        </p:txBody>
      </p:sp>
      <p:grpSp>
        <p:nvGrpSpPr>
          <p:cNvPr id="5" name="Group 52"/>
          <p:cNvGrpSpPr>
            <a:grpSpLocks/>
          </p:cNvGrpSpPr>
          <p:nvPr/>
        </p:nvGrpSpPr>
        <p:grpSpPr bwMode="auto">
          <a:xfrm>
            <a:off x="898128" y="1268760"/>
            <a:ext cx="6751638" cy="665163"/>
            <a:chOff x="-58" y="1063"/>
            <a:chExt cx="4253" cy="419"/>
          </a:xfrm>
        </p:grpSpPr>
        <p:sp>
          <p:nvSpPr>
            <p:cNvPr id="6" name="Text Box 8"/>
            <p:cNvSpPr txBox="1">
              <a:spLocks noChangeArrowheads="1"/>
            </p:cNvSpPr>
            <p:nvPr/>
          </p:nvSpPr>
          <p:spPr bwMode="auto">
            <a:xfrm>
              <a:off x="-58" y="1063"/>
              <a:ext cx="218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fr-FR" altLang="fr-FR" sz="1800" dirty="0" smtClean="0"/>
                <a:t>CL Dirichlet à gauche et à droite</a:t>
              </a:r>
              <a:endParaRPr lang="fr-FR" altLang="fr-FR" sz="1800" dirty="0"/>
            </a:p>
          </p:txBody>
        </p:sp>
        <p:sp>
          <p:nvSpPr>
            <p:cNvPr id="7" name="Line 9"/>
            <p:cNvSpPr>
              <a:spLocks noChangeShapeType="1"/>
            </p:cNvSpPr>
            <p:nvPr/>
          </p:nvSpPr>
          <p:spPr bwMode="auto">
            <a:xfrm>
              <a:off x="2245" y="1207"/>
              <a:ext cx="195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fr-FR"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8" name="Group 19"/>
            <p:cNvGrpSpPr>
              <a:grpSpLocks/>
            </p:cNvGrpSpPr>
            <p:nvPr/>
          </p:nvGrpSpPr>
          <p:grpSpPr bwMode="auto">
            <a:xfrm>
              <a:off x="2399" y="1141"/>
              <a:ext cx="1497" cy="136"/>
              <a:chOff x="2336" y="1570"/>
              <a:chExt cx="408" cy="136"/>
            </a:xfrm>
          </p:grpSpPr>
          <p:sp>
            <p:nvSpPr>
              <p:cNvPr id="13" name="Line 15"/>
              <p:cNvSpPr>
                <a:spLocks noChangeShapeType="1"/>
              </p:cNvSpPr>
              <p:nvPr/>
            </p:nvSpPr>
            <p:spPr bwMode="auto">
              <a:xfrm>
                <a:off x="2336" y="1570"/>
                <a:ext cx="0" cy="1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fr-FR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4" name="Line 16"/>
              <p:cNvSpPr>
                <a:spLocks noChangeShapeType="1"/>
              </p:cNvSpPr>
              <p:nvPr/>
            </p:nvSpPr>
            <p:spPr bwMode="auto">
              <a:xfrm>
                <a:off x="2472" y="1570"/>
                <a:ext cx="0" cy="1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fr-FR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5" name="Line 17"/>
              <p:cNvSpPr>
                <a:spLocks noChangeShapeType="1"/>
              </p:cNvSpPr>
              <p:nvPr/>
            </p:nvSpPr>
            <p:spPr bwMode="auto">
              <a:xfrm>
                <a:off x="2608" y="1570"/>
                <a:ext cx="0" cy="1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fr-FR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6" name="Line 18"/>
              <p:cNvSpPr>
                <a:spLocks noChangeShapeType="1"/>
              </p:cNvSpPr>
              <p:nvPr/>
            </p:nvSpPr>
            <p:spPr bwMode="auto">
              <a:xfrm>
                <a:off x="2744" y="1570"/>
                <a:ext cx="0" cy="1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fr-FR"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10" name="Text Box 21"/>
            <p:cNvSpPr txBox="1">
              <a:spLocks noChangeArrowheads="1"/>
            </p:cNvSpPr>
            <p:nvPr/>
          </p:nvSpPr>
          <p:spPr bwMode="auto">
            <a:xfrm>
              <a:off x="2290" y="1249"/>
              <a:ext cx="1772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fr-FR" dirty="0" smtClean="0">
                  <a:latin typeface="Arial" charset="0"/>
                  <a:ea typeface="ＭＳ Ｐゴシック" charset="0"/>
                </a:rPr>
                <a:t>1           2          3           4</a:t>
              </a:r>
              <a:endParaRPr lang="fr-FR" dirty="0"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17" name="Ellipse 16"/>
          <p:cNvSpPr/>
          <p:nvPr/>
        </p:nvSpPr>
        <p:spPr>
          <a:xfrm>
            <a:off x="4702933" y="1392461"/>
            <a:ext cx="191366" cy="216024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Ellipse 17"/>
          <p:cNvSpPr/>
          <p:nvPr/>
        </p:nvSpPr>
        <p:spPr>
          <a:xfrm>
            <a:off x="7079420" y="1389348"/>
            <a:ext cx="191366" cy="216024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ZoneTexte 18"/>
          <p:cNvSpPr txBox="1"/>
          <p:nvPr/>
        </p:nvSpPr>
        <p:spPr>
          <a:xfrm>
            <a:off x="4480951" y="1024731"/>
            <a:ext cx="582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 smtClean="0"/>
              <a:t>Tdg</a:t>
            </a:r>
            <a:endParaRPr lang="fr-FR" dirty="0"/>
          </a:p>
        </p:txBody>
      </p:sp>
      <p:sp>
        <p:nvSpPr>
          <p:cNvPr id="20" name="ZoneTexte 19"/>
          <p:cNvSpPr txBox="1"/>
          <p:nvPr/>
        </p:nvSpPr>
        <p:spPr>
          <a:xfrm>
            <a:off x="6856418" y="1084832"/>
            <a:ext cx="582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Tdd</a:t>
            </a:r>
            <a:endParaRPr lang="fr-FR" dirty="0"/>
          </a:p>
        </p:txBody>
      </p:sp>
      <p:graphicFrame>
        <p:nvGraphicFramePr>
          <p:cNvPr id="21" name="Objet 20"/>
          <p:cNvGraphicFramePr>
            <a:graphicFrameLocks noChangeAspect="1"/>
          </p:cNvGraphicFramePr>
          <p:nvPr>
            <p:extLst/>
          </p:nvPr>
        </p:nvGraphicFramePr>
        <p:xfrm>
          <a:off x="898128" y="2482698"/>
          <a:ext cx="5842000" cy="890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10" name="Equation" r:id="rId3" imgW="3492360" imgH="533160" progId="Equation.DSMT4">
                  <p:embed/>
                </p:oleObj>
              </mc:Choice>
              <mc:Fallback>
                <p:oleObj name="Equation" r:id="rId3" imgW="3492360" imgH="533160" progId="Equation.DSMT4">
                  <p:embed/>
                  <p:pic>
                    <p:nvPicPr>
                      <p:cNvPr id="21" name="Objet 2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98128" y="2482698"/>
                        <a:ext cx="5842000" cy="890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ZoneTexte 21"/>
          <p:cNvSpPr txBox="1"/>
          <p:nvPr/>
        </p:nvSpPr>
        <p:spPr>
          <a:xfrm>
            <a:off x="899319" y="1645454"/>
            <a:ext cx="2294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Pas de source Q = 0</a:t>
            </a:r>
            <a:endParaRPr lang="fr-FR" dirty="0"/>
          </a:p>
        </p:txBody>
      </p:sp>
      <p:graphicFrame>
        <p:nvGraphicFramePr>
          <p:cNvPr id="24" name="Objet 23"/>
          <p:cNvGraphicFramePr>
            <a:graphicFrameLocks noChangeAspect="1"/>
          </p:cNvGraphicFramePr>
          <p:nvPr>
            <p:extLst/>
          </p:nvPr>
        </p:nvGraphicFramePr>
        <p:xfrm>
          <a:off x="5373688" y="3284538"/>
          <a:ext cx="3189287" cy="339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11" name="Equation" r:id="rId5" imgW="1904760" imgH="203040" progId="Equation.DSMT4">
                  <p:embed/>
                </p:oleObj>
              </mc:Choice>
              <mc:Fallback>
                <p:oleObj name="Equation" r:id="rId5" imgW="1904760" imgH="203040" progId="Equation.DSMT4">
                  <p:embed/>
                  <p:pic>
                    <p:nvPicPr>
                      <p:cNvPr id="24" name="Objet 2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373688" y="3284538"/>
                        <a:ext cx="3189287" cy="339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ZoneTexte 24"/>
          <p:cNvSpPr txBox="1"/>
          <p:nvPr/>
        </p:nvSpPr>
        <p:spPr>
          <a:xfrm>
            <a:off x="467544" y="3922060"/>
            <a:ext cx="5757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p</a:t>
            </a:r>
            <a:r>
              <a:rPr lang="fr-FR" dirty="0" smtClean="0"/>
              <a:t>=2</a:t>
            </a:r>
            <a:endParaRPr lang="fr-FR" dirty="0"/>
          </a:p>
        </p:txBody>
      </p:sp>
      <p:graphicFrame>
        <p:nvGraphicFramePr>
          <p:cNvPr id="26" name="Objet 25"/>
          <p:cNvGraphicFramePr>
            <a:graphicFrameLocks noChangeAspect="1"/>
          </p:cNvGraphicFramePr>
          <p:nvPr>
            <p:extLst/>
          </p:nvPr>
        </p:nvGraphicFramePr>
        <p:xfrm>
          <a:off x="2807521" y="2094184"/>
          <a:ext cx="2570162" cy="423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12" name="Equation" r:id="rId7" imgW="1536480" imgH="253800" progId="Equation.DSMT4">
                  <p:embed/>
                </p:oleObj>
              </mc:Choice>
              <mc:Fallback>
                <p:oleObj name="Equation" r:id="rId7" imgW="1536480" imgH="253800" progId="Equation.DSMT4">
                  <p:embed/>
                  <p:pic>
                    <p:nvPicPr>
                      <p:cNvPr id="26" name="Objet 25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807521" y="2094184"/>
                        <a:ext cx="2570162" cy="4238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t 26"/>
          <p:cNvGraphicFramePr>
            <a:graphicFrameLocks noChangeAspect="1"/>
          </p:cNvGraphicFramePr>
          <p:nvPr>
            <p:extLst/>
          </p:nvPr>
        </p:nvGraphicFramePr>
        <p:xfrm>
          <a:off x="1257336" y="3624263"/>
          <a:ext cx="6013450" cy="1865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13" name="Equation" r:id="rId9" imgW="3593880" imgH="1117440" progId="Equation.DSMT4">
                  <p:embed/>
                </p:oleObj>
              </mc:Choice>
              <mc:Fallback>
                <p:oleObj name="Equation" r:id="rId9" imgW="3593880" imgH="1117440" progId="Equation.DSMT4">
                  <p:embed/>
                  <p:pic>
                    <p:nvPicPr>
                      <p:cNvPr id="27" name="Objet 26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257336" y="3624263"/>
                        <a:ext cx="6013450" cy="18653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ZoneTexte 27"/>
          <p:cNvSpPr txBox="1"/>
          <p:nvPr/>
        </p:nvSpPr>
        <p:spPr>
          <a:xfrm>
            <a:off x="467544" y="4711638"/>
            <a:ext cx="5757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p=3</a:t>
            </a:r>
            <a:endParaRPr lang="fr-FR" dirty="0"/>
          </a:p>
        </p:txBody>
      </p:sp>
      <p:sp>
        <p:nvSpPr>
          <p:cNvPr id="29" name="Rectangle 28"/>
          <p:cNvSpPr/>
          <p:nvPr/>
        </p:nvSpPr>
        <p:spPr>
          <a:xfrm>
            <a:off x="4451371" y="3862440"/>
            <a:ext cx="442928" cy="428951"/>
          </a:xfrm>
          <a:prstGeom prst="rect">
            <a:avLst/>
          </a:prstGeom>
          <a:solidFill>
            <a:srgbClr val="FFFF00">
              <a:alpha val="30196"/>
            </a:srgbClr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" name="Rectangle 29"/>
          <p:cNvSpPr/>
          <p:nvPr/>
        </p:nvSpPr>
        <p:spPr>
          <a:xfrm>
            <a:off x="5704233" y="3862439"/>
            <a:ext cx="442928" cy="428951"/>
          </a:xfrm>
          <a:prstGeom prst="rect">
            <a:avLst/>
          </a:prstGeom>
          <a:solidFill>
            <a:srgbClr val="FFFF00">
              <a:alpha val="30196"/>
            </a:srgbClr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" name="Rectangle 30"/>
          <p:cNvSpPr/>
          <p:nvPr/>
        </p:nvSpPr>
        <p:spPr>
          <a:xfrm>
            <a:off x="2191131" y="4763373"/>
            <a:ext cx="442928" cy="428951"/>
          </a:xfrm>
          <a:prstGeom prst="rect">
            <a:avLst/>
          </a:prstGeom>
          <a:solidFill>
            <a:srgbClr val="FFFF00">
              <a:alpha val="30196"/>
            </a:srgbClr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" name="Rectangle 31"/>
          <p:cNvSpPr/>
          <p:nvPr/>
        </p:nvSpPr>
        <p:spPr>
          <a:xfrm>
            <a:off x="4481469" y="4787563"/>
            <a:ext cx="442928" cy="428951"/>
          </a:xfrm>
          <a:prstGeom prst="rect">
            <a:avLst/>
          </a:prstGeom>
          <a:solidFill>
            <a:srgbClr val="FFFF00">
              <a:alpha val="30196"/>
            </a:srgbClr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" name="Rectangle 32"/>
          <p:cNvSpPr/>
          <p:nvPr/>
        </p:nvSpPr>
        <p:spPr>
          <a:xfrm>
            <a:off x="1602526" y="5614825"/>
            <a:ext cx="442928" cy="428951"/>
          </a:xfrm>
          <a:prstGeom prst="rect">
            <a:avLst/>
          </a:prstGeom>
          <a:solidFill>
            <a:srgbClr val="FFFF00">
              <a:alpha val="30196"/>
            </a:srgb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" name="ZoneTexte 33"/>
          <p:cNvSpPr txBox="1"/>
          <p:nvPr/>
        </p:nvSpPr>
        <p:spPr>
          <a:xfrm>
            <a:off x="2045454" y="5674444"/>
            <a:ext cx="1236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inconnues</a:t>
            </a:r>
            <a:endParaRPr lang="fr-FR" dirty="0"/>
          </a:p>
        </p:txBody>
      </p:sp>
      <p:sp>
        <p:nvSpPr>
          <p:cNvPr id="35" name="Rectangle 34"/>
          <p:cNvSpPr/>
          <p:nvPr/>
        </p:nvSpPr>
        <p:spPr>
          <a:xfrm>
            <a:off x="2231071" y="3916079"/>
            <a:ext cx="442928" cy="428951"/>
          </a:xfrm>
          <a:prstGeom prst="rect">
            <a:avLst/>
          </a:prstGeom>
          <a:solidFill>
            <a:srgbClr val="FF9966">
              <a:alpha val="29804"/>
            </a:srgbClr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" name="Rectangle 35"/>
          <p:cNvSpPr/>
          <p:nvPr/>
        </p:nvSpPr>
        <p:spPr>
          <a:xfrm>
            <a:off x="5716969" y="4787433"/>
            <a:ext cx="442928" cy="428951"/>
          </a:xfrm>
          <a:prstGeom prst="rect">
            <a:avLst/>
          </a:prstGeom>
          <a:solidFill>
            <a:srgbClr val="FF9966">
              <a:alpha val="29804"/>
            </a:srgbClr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7" name="Rectangle 36"/>
          <p:cNvSpPr/>
          <p:nvPr/>
        </p:nvSpPr>
        <p:spPr>
          <a:xfrm>
            <a:off x="3873412" y="5614824"/>
            <a:ext cx="442928" cy="428951"/>
          </a:xfrm>
          <a:prstGeom prst="rect">
            <a:avLst/>
          </a:prstGeom>
          <a:solidFill>
            <a:srgbClr val="FF9966">
              <a:alpha val="29804"/>
            </a:srgb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8" name="ZoneTexte 37"/>
          <p:cNvSpPr txBox="1"/>
          <p:nvPr/>
        </p:nvSpPr>
        <p:spPr>
          <a:xfrm>
            <a:off x="4511441" y="5664549"/>
            <a:ext cx="2159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Fixées par Dirichlet</a:t>
            </a:r>
            <a:endParaRPr lang="fr-FR" dirty="0"/>
          </a:p>
        </p:txBody>
      </p:sp>
      <p:sp>
        <p:nvSpPr>
          <p:cNvPr id="39" name="ZoneTexte 38"/>
          <p:cNvSpPr txBox="1"/>
          <p:nvPr/>
        </p:nvSpPr>
        <p:spPr>
          <a:xfrm>
            <a:off x="8460432" y="332656"/>
            <a:ext cx="505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1/3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237603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179512" y="332656"/>
            <a:ext cx="78261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/>
              <a:t>S</a:t>
            </a:r>
            <a:r>
              <a:rPr lang="fr-FR" sz="2800" dirty="0" smtClean="0"/>
              <a:t>ystème d’équations pour une grille à 4 </a:t>
            </a:r>
            <a:r>
              <a:rPr lang="fr-FR" sz="2800" dirty="0" err="1" smtClean="0"/>
              <a:t>noeuds</a:t>
            </a:r>
            <a:r>
              <a:rPr lang="fr-FR" sz="2800" dirty="0" smtClean="0"/>
              <a:t> </a:t>
            </a:r>
            <a:endParaRPr lang="fr-FR" sz="2800" dirty="0"/>
          </a:p>
        </p:txBody>
      </p:sp>
      <p:grpSp>
        <p:nvGrpSpPr>
          <p:cNvPr id="5" name="Group 52"/>
          <p:cNvGrpSpPr>
            <a:grpSpLocks/>
          </p:cNvGrpSpPr>
          <p:nvPr/>
        </p:nvGrpSpPr>
        <p:grpSpPr bwMode="auto">
          <a:xfrm>
            <a:off x="898128" y="1268760"/>
            <a:ext cx="6751638" cy="665163"/>
            <a:chOff x="-58" y="1063"/>
            <a:chExt cx="4253" cy="419"/>
          </a:xfrm>
        </p:grpSpPr>
        <p:sp>
          <p:nvSpPr>
            <p:cNvPr id="6" name="Text Box 8"/>
            <p:cNvSpPr txBox="1">
              <a:spLocks noChangeArrowheads="1"/>
            </p:cNvSpPr>
            <p:nvPr/>
          </p:nvSpPr>
          <p:spPr bwMode="auto">
            <a:xfrm>
              <a:off x="-58" y="1063"/>
              <a:ext cx="218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fr-FR" altLang="fr-FR" sz="1800" dirty="0" smtClean="0"/>
                <a:t>CL Dirichlet à gauche et à droite</a:t>
              </a:r>
              <a:endParaRPr lang="fr-FR" altLang="fr-FR" sz="1800" dirty="0"/>
            </a:p>
          </p:txBody>
        </p:sp>
        <p:sp>
          <p:nvSpPr>
            <p:cNvPr id="7" name="Line 9"/>
            <p:cNvSpPr>
              <a:spLocks noChangeShapeType="1"/>
            </p:cNvSpPr>
            <p:nvPr/>
          </p:nvSpPr>
          <p:spPr bwMode="auto">
            <a:xfrm>
              <a:off x="2245" y="1207"/>
              <a:ext cx="195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fr-FR"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8" name="Group 19"/>
            <p:cNvGrpSpPr>
              <a:grpSpLocks/>
            </p:cNvGrpSpPr>
            <p:nvPr/>
          </p:nvGrpSpPr>
          <p:grpSpPr bwMode="auto">
            <a:xfrm>
              <a:off x="2399" y="1141"/>
              <a:ext cx="1497" cy="136"/>
              <a:chOff x="2336" y="1570"/>
              <a:chExt cx="408" cy="136"/>
            </a:xfrm>
          </p:grpSpPr>
          <p:sp>
            <p:nvSpPr>
              <p:cNvPr id="13" name="Line 15"/>
              <p:cNvSpPr>
                <a:spLocks noChangeShapeType="1"/>
              </p:cNvSpPr>
              <p:nvPr/>
            </p:nvSpPr>
            <p:spPr bwMode="auto">
              <a:xfrm>
                <a:off x="2336" y="1570"/>
                <a:ext cx="0" cy="1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fr-FR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4" name="Line 16"/>
              <p:cNvSpPr>
                <a:spLocks noChangeShapeType="1"/>
              </p:cNvSpPr>
              <p:nvPr/>
            </p:nvSpPr>
            <p:spPr bwMode="auto">
              <a:xfrm>
                <a:off x="2472" y="1570"/>
                <a:ext cx="0" cy="1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fr-FR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5" name="Line 17"/>
              <p:cNvSpPr>
                <a:spLocks noChangeShapeType="1"/>
              </p:cNvSpPr>
              <p:nvPr/>
            </p:nvSpPr>
            <p:spPr bwMode="auto">
              <a:xfrm>
                <a:off x="2608" y="1570"/>
                <a:ext cx="0" cy="1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fr-FR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6" name="Line 18"/>
              <p:cNvSpPr>
                <a:spLocks noChangeShapeType="1"/>
              </p:cNvSpPr>
              <p:nvPr/>
            </p:nvSpPr>
            <p:spPr bwMode="auto">
              <a:xfrm>
                <a:off x="2744" y="1570"/>
                <a:ext cx="0" cy="1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fr-FR"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10" name="Text Box 21"/>
            <p:cNvSpPr txBox="1">
              <a:spLocks noChangeArrowheads="1"/>
            </p:cNvSpPr>
            <p:nvPr/>
          </p:nvSpPr>
          <p:spPr bwMode="auto">
            <a:xfrm>
              <a:off x="2290" y="1249"/>
              <a:ext cx="1772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fr-FR" dirty="0" smtClean="0">
                  <a:latin typeface="Arial" charset="0"/>
                  <a:ea typeface="ＭＳ Ｐゴシック" charset="0"/>
                </a:rPr>
                <a:t>1           2          3           4</a:t>
              </a:r>
              <a:endParaRPr lang="fr-FR" dirty="0"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17" name="Ellipse 16"/>
          <p:cNvSpPr/>
          <p:nvPr/>
        </p:nvSpPr>
        <p:spPr>
          <a:xfrm>
            <a:off x="4702933" y="1392461"/>
            <a:ext cx="191366" cy="216024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Ellipse 17"/>
          <p:cNvSpPr/>
          <p:nvPr/>
        </p:nvSpPr>
        <p:spPr>
          <a:xfrm>
            <a:off x="7079420" y="1389348"/>
            <a:ext cx="191366" cy="216024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ZoneTexte 18"/>
          <p:cNvSpPr txBox="1"/>
          <p:nvPr/>
        </p:nvSpPr>
        <p:spPr>
          <a:xfrm>
            <a:off x="4480951" y="1024731"/>
            <a:ext cx="582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 smtClean="0"/>
              <a:t>Tdg</a:t>
            </a:r>
            <a:endParaRPr lang="fr-FR" dirty="0"/>
          </a:p>
        </p:txBody>
      </p:sp>
      <p:sp>
        <p:nvSpPr>
          <p:cNvPr id="20" name="ZoneTexte 19"/>
          <p:cNvSpPr txBox="1"/>
          <p:nvPr/>
        </p:nvSpPr>
        <p:spPr>
          <a:xfrm>
            <a:off x="6856418" y="1084832"/>
            <a:ext cx="582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Tdd</a:t>
            </a:r>
            <a:endParaRPr lang="fr-FR" dirty="0"/>
          </a:p>
        </p:txBody>
      </p:sp>
      <p:sp>
        <p:nvSpPr>
          <p:cNvPr id="22" name="ZoneTexte 21"/>
          <p:cNvSpPr txBox="1"/>
          <p:nvPr/>
        </p:nvSpPr>
        <p:spPr>
          <a:xfrm>
            <a:off x="899319" y="1645454"/>
            <a:ext cx="2294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Pas de source Q = 0</a:t>
            </a:r>
            <a:endParaRPr lang="fr-FR" dirty="0"/>
          </a:p>
        </p:txBody>
      </p:sp>
      <p:graphicFrame>
        <p:nvGraphicFramePr>
          <p:cNvPr id="26" name="Objet 25"/>
          <p:cNvGraphicFramePr>
            <a:graphicFrameLocks noChangeAspect="1"/>
          </p:cNvGraphicFramePr>
          <p:nvPr>
            <p:extLst/>
          </p:nvPr>
        </p:nvGraphicFramePr>
        <p:xfrm>
          <a:off x="2807521" y="2094184"/>
          <a:ext cx="2570162" cy="423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1" name="Equation" r:id="rId3" imgW="1536480" imgH="253800" progId="Equation.DSMT4">
                  <p:embed/>
                </p:oleObj>
              </mc:Choice>
              <mc:Fallback>
                <p:oleObj name="Equation" r:id="rId3" imgW="1536480" imgH="253800" progId="Equation.DSMT4">
                  <p:embed/>
                  <p:pic>
                    <p:nvPicPr>
                      <p:cNvPr id="26" name="Objet 2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807521" y="2094184"/>
                        <a:ext cx="2570162" cy="4238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t 26"/>
          <p:cNvGraphicFramePr>
            <a:graphicFrameLocks noChangeAspect="1"/>
          </p:cNvGraphicFramePr>
          <p:nvPr>
            <p:extLst/>
          </p:nvPr>
        </p:nvGraphicFramePr>
        <p:xfrm>
          <a:off x="1600597" y="2843680"/>
          <a:ext cx="5478823" cy="17300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2" name="Equation" r:id="rId5" imgW="3530520" imgH="1117440" progId="Equation.DSMT4">
                  <p:embed/>
                </p:oleObj>
              </mc:Choice>
              <mc:Fallback>
                <p:oleObj name="Equation" r:id="rId5" imgW="3530520" imgH="1117440" progId="Equation.DSMT4">
                  <p:embed/>
                  <p:pic>
                    <p:nvPicPr>
                      <p:cNvPr id="27" name="Objet 2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600597" y="2843680"/>
                        <a:ext cx="5478823" cy="173007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ZoneTexte 38"/>
          <p:cNvSpPr txBox="1"/>
          <p:nvPr/>
        </p:nvSpPr>
        <p:spPr>
          <a:xfrm>
            <a:off x="8460432" y="332656"/>
            <a:ext cx="505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2/3</a:t>
            </a:r>
            <a:endParaRPr lang="fr-FR" dirty="0"/>
          </a:p>
        </p:txBody>
      </p:sp>
      <p:sp>
        <p:nvSpPr>
          <p:cNvPr id="3" name="ZoneTexte 2"/>
          <p:cNvSpPr txBox="1"/>
          <p:nvPr/>
        </p:nvSpPr>
        <p:spPr>
          <a:xfrm>
            <a:off x="539552" y="2511176"/>
            <a:ext cx="20185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Après substitution</a:t>
            </a:r>
            <a:endParaRPr lang="fr-FR" dirty="0"/>
          </a:p>
        </p:txBody>
      </p:sp>
      <p:graphicFrame>
        <p:nvGraphicFramePr>
          <p:cNvPr id="40" name="Objet 39"/>
          <p:cNvGraphicFramePr>
            <a:graphicFrameLocks noChangeAspect="1"/>
          </p:cNvGraphicFramePr>
          <p:nvPr>
            <p:extLst/>
          </p:nvPr>
        </p:nvGraphicFramePr>
        <p:xfrm>
          <a:off x="1377552" y="5045918"/>
          <a:ext cx="6353175" cy="169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3" name="Equation" r:id="rId7" imgW="3797280" imgH="1015920" progId="Equation.DSMT4">
                  <p:embed/>
                </p:oleObj>
              </mc:Choice>
              <mc:Fallback>
                <p:oleObj name="Equation" r:id="rId7" imgW="3797280" imgH="1015920" progId="Equation.DSMT4">
                  <p:embed/>
                  <p:pic>
                    <p:nvPicPr>
                      <p:cNvPr id="40" name="Objet 39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377552" y="5045918"/>
                        <a:ext cx="6353175" cy="16954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ZoneTexte 3"/>
          <p:cNvSpPr txBox="1"/>
          <p:nvPr/>
        </p:nvSpPr>
        <p:spPr>
          <a:xfrm>
            <a:off x="539552" y="4581128"/>
            <a:ext cx="2249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Système à résoudre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66113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179512" y="332656"/>
            <a:ext cx="28873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 smtClean="0"/>
              <a:t>Méthode </a:t>
            </a:r>
            <a:r>
              <a:rPr lang="fr-FR" sz="2800" dirty="0" err="1" smtClean="0"/>
              <a:t>bourine</a:t>
            </a:r>
            <a:endParaRPr lang="fr-FR" sz="2800" dirty="0"/>
          </a:p>
        </p:txBody>
      </p:sp>
      <p:sp>
        <p:nvSpPr>
          <p:cNvPr id="39" name="ZoneTexte 38"/>
          <p:cNvSpPr txBox="1"/>
          <p:nvPr/>
        </p:nvSpPr>
        <p:spPr>
          <a:xfrm>
            <a:off x="8460432" y="332656"/>
            <a:ext cx="505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3/3</a:t>
            </a:r>
            <a:endParaRPr lang="fr-FR" dirty="0"/>
          </a:p>
        </p:txBody>
      </p:sp>
      <p:graphicFrame>
        <p:nvGraphicFramePr>
          <p:cNvPr id="40" name="Objet 3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0063808"/>
              </p:ext>
            </p:extLst>
          </p:nvPr>
        </p:nvGraphicFramePr>
        <p:xfrm>
          <a:off x="1115616" y="3153218"/>
          <a:ext cx="7226300" cy="2459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52" name="Equation" r:id="rId3" imgW="4317840" imgH="1473120" progId="Equation.DSMT4">
                  <p:embed/>
                </p:oleObj>
              </mc:Choice>
              <mc:Fallback>
                <p:oleObj name="Equation" r:id="rId3" imgW="4317840" imgH="1473120" progId="Equation.DSMT4">
                  <p:embed/>
                  <p:pic>
                    <p:nvPicPr>
                      <p:cNvPr id="40" name="Objet 3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15616" y="3153218"/>
                        <a:ext cx="7226300" cy="24590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ZoneTexte 3"/>
          <p:cNvSpPr txBox="1"/>
          <p:nvPr/>
        </p:nvSpPr>
        <p:spPr>
          <a:xfrm>
            <a:off x="245914" y="2671690"/>
            <a:ext cx="2993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D’où le système à résoudre</a:t>
            </a:r>
            <a:endParaRPr lang="fr-FR" dirty="0"/>
          </a:p>
        </p:txBody>
      </p:sp>
      <p:grpSp>
        <p:nvGrpSpPr>
          <p:cNvPr id="5" name="Groupe 4"/>
          <p:cNvGrpSpPr/>
          <p:nvPr/>
        </p:nvGrpSpPr>
        <p:grpSpPr>
          <a:xfrm>
            <a:off x="3318125" y="332656"/>
            <a:ext cx="5142307" cy="2396335"/>
            <a:chOff x="1085877" y="1013180"/>
            <a:chExt cx="5142307" cy="2396335"/>
          </a:xfrm>
        </p:grpSpPr>
        <p:graphicFrame>
          <p:nvGraphicFramePr>
            <p:cNvPr id="23" name="Objet 2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41368088"/>
                </p:ext>
              </p:extLst>
            </p:nvPr>
          </p:nvGraphicFramePr>
          <p:xfrm>
            <a:off x="1085877" y="1027817"/>
            <a:ext cx="5142307" cy="23553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53" name="Equation" r:id="rId5" imgW="3593880" imgH="1650960" progId="Equation.DSMT4">
                    <p:embed/>
                  </p:oleObj>
                </mc:Choice>
                <mc:Fallback>
                  <p:oleObj name="Equation" r:id="rId5" imgW="3593880" imgH="1650960" progId="Equation.DSMT4">
                    <p:embed/>
                    <p:pic>
                      <p:nvPicPr>
                        <p:cNvPr id="23" name="Objet 22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085877" y="1027817"/>
                          <a:ext cx="5142307" cy="235530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" name="Rectangle 20"/>
            <p:cNvSpPr/>
            <p:nvPr/>
          </p:nvSpPr>
          <p:spPr>
            <a:xfrm>
              <a:off x="3871138" y="1594797"/>
              <a:ext cx="442928" cy="428951"/>
            </a:xfrm>
            <a:prstGeom prst="rect">
              <a:avLst/>
            </a:prstGeom>
            <a:solidFill>
              <a:srgbClr val="FFFF00">
                <a:alpha val="30196"/>
              </a:srgbClr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4889615" y="1594796"/>
              <a:ext cx="442928" cy="428951"/>
            </a:xfrm>
            <a:prstGeom prst="rect">
              <a:avLst/>
            </a:prstGeom>
            <a:solidFill>
              <a:srgbClr val="FFFF00">
                <a:alpha val="30196"/>
              </a:srgbClr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3871138" y="2376252"/>
              <a:ext cx="442928" cy="428951"/>
            </a:xfrm>
            <a:prstGeom prst="rect">
              <a:avLst/>
            </a:prstGeom>
            <a:solidFill>
              <a:srgbClr val="FFFF00">
                <a:alpha val="30196"/>
              </a:srgbClr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1941600" y="2376252"/>
              <a:ext cx="442928" cy="428951"/>
            </a:xfrm>
            <a:prstGeom prst="rect">
              <a:avLst/>
            </a:prstGeom>
            <a:solidFill>
              <a:srgbClr val="FFFF00">
                <a:alpha val="30196"/>
              </a:srgbClr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1105520" y="1013180"/>
              <a:ext cx="442928" cy="428951"/>
            </a:xfrm>
            <a:prstGeom prst="rect">
              <a:avLst/>
            </a:prstGeom>
            <a:solidFill>
              <a:srgbClr val="FFFF00">
                <a:alpha val="30196"/>
              </a:srgbClr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3" name="Rectangle 42"/>
            <p:cNvSpPr/>
            <p:nvPr/>
          </p:nvSpPr>
          <p:spPr>
            <a:xfrm>
              <a:off x="1187624" y="2980564"/>
              <a:ext cx="442928" cy="428951"/>
            </a:xfrm>
            <a:prstGeom prst="rect">
              <a:avLst/>
            </a:prstGeom>
            <a:solidFill>
              <a:srgbClr val="FFFF00">
                <a:alpha val="30196"/>
              </a:srgbClr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15" name="ZoneTexte 14"/>
          <p:cNvSpPr txBox="1"/>
          <p:nvPr/>
        </p:nvSpPr>
        <p:spPr>
          <a:xfrm>
            <a:off x="324998" y="5851817"/>
            <a:ext cx="66992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Avantage : facile à écrire</a:t>
            </a:r>
          </a:p>
          <a:p>
            <a:r>
              <a:rPr lang="fr-FR" dirty="0" smtClean="0"/>
              <a:t>Inconvénients :  la matrice du </a:t>
            </a:r>
            <a:r>
              <a:rPr lang="fr-FR" dirty="0" err="1" smtClean="0"/>
              <a:t>syst</a:t>
            </a:r>
            <a:r>
              <a:rPr lang="fr-FR" dirty="0" smtClean="0"/>
              <a:t> linéaire n’est plus symétrique.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258156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33" name="Group 13"/>
          <p:cNvGrpSpPr>
            <a:grpSpLocks/>
          </p:cNvGrpSpPr>
          <p:nvPr/>
        </p:nvGrpSpPr>
        <p:grpSpPr bwMode="auto">
          <a:xfrm>
            <a:off x="1763713" y="3573463"/>
            <a:ext cx="4403725" cy="2108200"/>
            <a:chOff x="1111" y="2251"/>
            <a:chExt cx="2774" cy="1328"/>
          </a:xfrm>
        </p:grpSpPr>
        <p:graphicFrame>
          <p:nvGraphicFramePr>
            <p:cNvPr id="18436" name="Object 5"/>
            <p:cNvGraphicFramePr>
              <a:graphicFrameLocks noChangeAspect="1"/>
            </p:cNvGraphicFramePr>
            <p:nvPr/>
          </p:nvGraphicFramePr>
          <p:xfrm>
            <a:off x="1111" y="2251"/>
            <a:ext cx="2774" cy="13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48" name="Equation" r:id="rId3" imgW="2451100" imgH="1168400" progId="Equation.DSMT4">
                    <p:embed/>
                  </p:oleObj>
                </mc:Choice>
                <mc:Fallback>
                  <p:oleObj name="Equation" r:id="rId3" imgW="2451100" imgH="1168400" progId="Equation.DSMT4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11" y="2251"/>
                          <a:ext cx="2774" cy="13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437" name="Line 6"/>
            <p:cNvSpPr>
              <a:spLocks noChangeShapeType="1"/>
            </p:cNvSpPr>
            <p:nvPr/>
          </p:nvSpPr>
          <p:spPr bwMode="auto">
            <a:xfrm>
              <a:off x="1324" y="2296"/>
              <a:ext cx="0" cy="122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8438" name="Line 7"/>
            <p:cNvSpPr>
              <a:spLocks noChangeShapeType="1"/>
            </p:cNvSpPr>
            <p:nvPr/>
          </p:nvSpPr>
          <p:spPr bwMode="auto">
            <a:xfrm>
              <a:off x="2744" y="2296"/>
              <a:ext cx="0" cy="122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18434" name="Text Box 10"/>
          <p:cNvSpPr txBox="1">
            <a:spLocks noChangeArrowheads="1"/>
          </p:cNvSpPr>
          <p:nvPr/>
        </p:nvSpPr>
        <p:spPr bwMode="auto">
          <a:xfrm>
            <a:off x="303213" y="352425"/>
            <a:ext cx="7666037" cy="314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La matrice associée au système d</a:t>
            </a:r>
            <a:r>
              <a:rPr lang="ja-JP" altLang="fr-FR" sz="1800"/>
              <a:t>’</a:t>
            </a:r>
            <a:r>
              <a:rPr lang="fr-FR" altLang="ja-JP" sz="1800"/>
              <a:t>équations linéaires contient beaucoup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de zéros : on dit que la matrice est creuse.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en-US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En pratique, seuls les termes non nuls de la matrice sont stockés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>
                <a:sym typeface="Symbol" panose="05050102010706020507" pitchFamily="18" charset="2"/>
              </a:rPr>
              <a:t>(Codage de Morse</a:t>
            </a:r>
            <a:r>
              <a:rPr lang="fr-FR" altLang="en-US" sz="1800" u="sng">
                <a:sym typeface="Symbol" panose="05050102010706020507" pitchFamily="18" charset="2"/>
              </a:rPr>
              <a:t> </a:t>
            </a:r>
            <a:r>
              <a:rPr lang="fr-FR" altLang="en-US" sz="1800">
                <a:sym typeface="Symbol" panose="05050102010706020507" pitchFamily="18" charset="2"/>
              </a:rPr>
              <a:t>le plus généralement utilisé)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en-US" sz="1800"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>
                <a:sym typeface="Symbol" panose="05050102010706020507" pitchFamily="18" charset="2"/>
              </a:rPr>
              <a:t>- Ceci engendre un surcout de calcul pour déterminer la position des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>
                <a:sym typeface="Symbol" panose="05050102010706020507" pitchFamily="18" charset="2"/>
              </a:rPr>
              <a:t>éléments dans la matrice (double adressage) relativement négligeable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en-US" sz="1800"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>
                <a:sym typeface="Symbol" panose="05050102010706020507" pitchFamily="18" charset="2"/>
              </a:rPr>
              <a:t>+ Ceci permet d</a:t>
            </a:r>
            <a:r>
              <a:rPr lang="ja-JP" altLang="fr-FR" sz="1800">
                <a:sym typeface="Symbol" panose="05050102010706020507" pitchFamily="18" charset="2"/>
              </a:rPr>
              <a:t>’</a:t>
            </a:r>
            <a:r>
              <a:rPr lang="fr-FR" altLang="ja-JP" sz="1800">
                <a:sym typeface="Symbol" panose="05050102010706020507" pitchFamily="18" charset="2"/>
              </a:rPr>
              <a:t>économiser de la place en mémoire </a:t>
            </a:r>
            <a:r>
              <a:rPr lang="fr-FR" altLang="ja-JP" sz="1800">
                <a:sym typeface="Wingdings" panose="05000000000000000000" pitchFamily="2" charset="2"/>
              </a:rPr>
              <a:t></a:t>
            </a:r>
            <a:r>
              <a:rPr lang="fr-FR" altLang="ja-JP" sz="1800">
                <a:sym typeface="Symbol" panose="05050102010706020507" pitchFamily="18" charset="2"/>
              </a:rPr>
              <a:t> traitement de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>
                <a:sym typeface="Symbol" panose="05050102010706020507" pitchFamily="18" charset="2"/>
              </a:rPr>
              <a:t>gros systèmes d</a:t>
            </a:r>
            <a:r>
              <a:rPr lang="ja-JP" altLang="fr-FR" sz="1800">
                <a:sym typeface="Symbol" panose="05050102010706020507" pitchFamily="18" charset="2"/>
              </a:rPr>
              <a:t>’</a:t>
            </a:r>
            <a:r>
              <a:rPr lang="fr-FR" altLang="ja-JP" sz="1800">
                <a:sym typeface="Symbol" panose="05050102010706020507" pitchFamily="18" charset="2"/>
              </a:rPr>
              <a:t>équations (N&gt;100000).</a:t>
            </a:r>
            <a:endParaRPr lang="fr-FR" altLang="en-US" sz="1800">
              <a:sym typeface="Symbol" panose="05050102010706020507" pitchFamily="18" charset="2"/>
            </a:endParaRPr>
          </a:p>
        </p:txBody>
      </p:sp>
      <p:sp>
        <p:nvSpPr>
          <p:cNvPr id="18435" name="Text Box 12"/>
          <p:cNvSpPr txBox="1">
            <a:spLocks noChangeArrowheads="1"/>
          </p:cNvSpPr>
          <p:nvPr/>
        </p:nvSpPr>
        <p:spPr bwMode="auto">
          <a:xfrm>
            <a:off x="303213" y="5949950"/>
            <a:ext cx="69278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En utilisant cette technique, quelle est la quantité de mémoire pour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stocker une telle matrice de taille NxN?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Text Box 4"/>
          <p:cNvSpPr txBox="1">
            <a:spLocks noChangeArrowheads="1"/>
          </p:cNvSpPr>
          <p:nvPr/>
        </p:nvSpPr>
        <p:spPr bwMode="auto">
          <a:xfrm>
            <a:off x="196850" y="44450"/>
            <a:ext cx="3733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2000" b="1">
                <a:solidFill>
                  <a:schemeClr val="accent2"/>
                </a:solidFill>
              </a:rPr>
              <a:t>Stabilité du schéma implicite </a:t>
            </a:r>
          </a:p>
        </p:txBody>
      </p:sp>
      <p:sp>
        <p:nvSpPr>
          <p:cNvPr id="19458" name="Text Box 6"/>
          <p:cNvSpPr txBox="1">
            <a:spLocks noChangeArrowheads="1"/>
          </p:cNvSpPr>
          <p:nvPr/>
        </p:nvSpPr>
        <p:spPr bwMode="auto">
          <a:xfrm>
            <a:off x="196850" y="1565275"/>
            <a:ext cx="64960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Propagation d</a:t>
            </a:r>
            <a:r>
              <a:rPr lang="ja-JP" altLang="fr-FR" sz="1800"/>
              <a:t>’</a:t>
            </a:r>
            <a:r>
              <a:rPr lang="fr-FR" altLang="ja-JP" sz="1800"/>
              <a:t>une erreur numérique dans l</a:t>
            </a:r>
            <a:r>
              <a:rPr lang="ja-JP" altLang="fr-FR" sz="1800"/>
              <a:t>’</a:t>
            </a:r>
            <a:r>
              <a:rPr lang="fr-FR" altLang="ja-JP" sz="1800"/>
              <a:t>espace et le temps</a:t>
            </a:r>
            <a:endParaRPr lang="fr-FR" altLang="en-US" sz="1800"/>
          </a:p>
        </p:txBody>
      </p:sp>
      <p:sp>
        <p:nvSpPr>
          <p:cNvPr id="19459" name="Rectangle 8"/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/>
          </a:p>
        </p:txBody>
      </p:sp>
      <p:graphicFrame>
        <p:nvGraphicFramePr>
          <p:cNvPr id="19460" name="Object 7"/>
          <p:cNvGraphicFramePr>
            <a:graphicFrameLocks noChangeAspect="1"/>
          </p:cNvGraphicFramePr>
          <p:nvPr/>
        </p:nvGraphicFramePr>
        <p:xfrm>
          <a:off x="6607175" y="3430588"/>
          <a:ext cx="2338388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52" name="Equation" r:id="rId3" imgW="1574800" imgH="342900" progId="Equation.3">
                  <p:embed/>
                </p:oleObj>
              </mc:Choice>
              <mc:Fallback>
                <p:oleObj name="Equation" r:id="rId3" imgW="1574800" imgH="3429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07175" y="3430588"/>
                        <a:ext cx="2338388" cy="503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1" name="Rectangle 9"/>
          <p:cNvSpPr>
            <a:spLocks noChangeArrowheads="1"/>
          </p:cNvSpPr>
          <p:nvPr/>
        </p:nvSpPr>
        <p:spPr bwMode="auto">
          <a:xfrm>
            <a:off x="0" y="36242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/>
          </a:p>
        </p:txBody>
      </p:sp>
      <p:graphicFrame>
        <p:nvGraphicFramePr>
          <p:cNvPr id="19462" name="Object 10"/>
          <p:cNvGraphicFramePr>
            <a:graphicFrameLocks noChangeAspect="1"/>
          </p:cNvGraphicFramePr>
          <p:nvPr/>
        </p:nvGraphicFramePr>
        <p:xfrm>
          <a:off x="6769100" y="1568450"/>
          <a:ext cx="1541463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53" name="Equation" r:id="rId5" imgW="952087" imgH="253890" progId="Equation.3">
                  <p:embed/>
                </p:oleObj>
              </mc:Choice>
              <mc:Fallback>
                <p:oleObj name="Equation" r:id="rId5" imgW="952087" imgH="25389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69100" y="1568450"/>
                        <a:ext cx="1541463" cy="409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00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3" name="Text Box 12"/>
          <p:cNvSpPr txBox="1">
            <a:spLocks noChangeArrowheads="1"/>
          </p:cNvSpPr>
          <p:nvPr/>
        </p:nvSpPr>
        <p:spPr bwMode="auto">
          <a:xfrm>
            <a:off x="179388" y="1916113"/>
            <a:ext cx="705643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Variation de l</a:t>
            </a:r>
            <a:r>
              <a:rPr lang="ja-JP" altLang="fr-FR" sz="1800"/>
              <a:t>’</a:t>
            </a:r>
            <a:r>
              <a:rPr lang="fr-FR" altLang="ja-JP" sz="1800"/>
              <a:t>équation discrétisée avec </a:t>
            </a:r>
            <a:r>
              <a:rPr lang="fr-FR" altLang="ja-JP" sz="1800">
                <a:latin typeface="Symbol" panose="05050102010706020507" pitchFamily="18" charset="2"/>
              </a:rPr>
              <a:t>d</a:t>
            </a:r>
            <a:r>
              <a:rPr lang="fr-FR" altLang="ja-JP" sz="1800"/>
              <a:t>Q=0 car imposée</a:t>
            </a:r>
            <a:endParaRPr lang="fr-FR" altLang="en-US" sz="1800"/>
          </a:p>
        </p:txBody>
      </p:sp>
      <p:sp>
        <p:nvSpPr>
          <p:cNvPr id="19464" name="Text Box 13"/>
          <p:cNvSpPr txBox="1">
            <a:spLocks noChangeArrowheads="1"/>
          </p:cNvSpPr>
          <p:nvPr/>
        </p:nvSpPr>
        <p:spPr bwMode="auto">
          <a:xfrm>
            <a:off x="107950" y="3422650"/>
            <a:ext cx="64706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L</a:t>
            </a:r>
            <a:r>
              <a:rPr lang="ja-JP" altLang="fr-FR" sz="1800"/>
              <a:t>’</a:t>
            </a:r>
            <a:r>
              <a:rPr lang="fr-FR" altLang="ja-JP" sz="1800"/>
              <a:t>analyse de Von Neumann se place dans l</a:t>
            </a:r>
            <a:r>
              <a:rPr lang="ja-JP" altLang="fr-FR" sz="1800"/>
              <a:t>’</a:t>
            </a:r>
            <a:r>
              <a:rPr lang="fr-FR" altLang="ja-JP" sz="1800"/>
              <a:t>espace de Fourier</a:t>
            </a:r>
            <a:endParaRPr lang="fr-FR" altLang="en-US" sz="1800"/>
          </a:p>
        </p:txBody>
      </p:sp>
      <p:sp>
        <p:nvSpPr>
          <p:cNvPr id="19465" name="Rectangle 16"/>
          <p:cNvSpPr>
            <a:spLocks noChangeArrowheads="1"/>
          </p:cNvSpPr>
          <p:nvPr/>
        </p:nvSpPr>
        <p:spPr bwMode="auto">
          <a:xfrm>
            <a:off x="0" y="36718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/>
          </a:p>
        </p:txBody>
      </p:sp>
      <p:grpSp>
        <p:nvGrpSpPr>
          <p:cNvPr id="19466" name="Group 19"/>
          <p:cNvGrpSpPr>
            <a:grpSpLocks/>
          </p:cNvGrpSpPr>
          <p:nvPr/>
        </p:nvGrpSpPr>
        <p:grpSpPr bwMode="auto">
          <a:xfrm>
            <a:off x="250825" y="5373688"/>
            <a:ext cx="4210050" cy="374650"/>
            <a:chOff x="249" y="2382"/>
            <a:chExt cx="2652" cy="236"/>
          </a:xfrm>
        </p:grpSpPr>
        <p:sp>
          <p:nvSpPr>
            <p:cNvPr id="19478" name="Text Box 17"/>
            <p:cNvSpPr txBox="1">
              <a:spLocks noChangeArrowheads="1"/>
            </p:cNvSpPr>
            <p:nvPr/>
          </p:nvSpPr>
          <p:spPr bwMode="auto">
            <a:xfrm>
              <a:off x="249" y="2387"/>
              <a:ext cx="174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en-US" sz="1800"/>
                <a:t>Le schéma reste stable si</a:t>
              </a:r>
            </a:p>
          </p:txBody>
        </p:sp>
        <p:graphicFrame>
          <p:nvGraphicFramePr>
            <p:cNvPr id="19479" name="Object 18"/>
            <p:cNvGraphicFramePr>
              <a:graphicFrameLocks noChangeAspect="1"/>
            </p:cNvGraphicFramePr>
            <p:nvPr/>
          </p:nvGraphicFramePr>
          <p:xfrm>
            <a:off x="2040" y="2382"/>
            <a:ext cx="861" cy="2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554" name="Equation" r:id="rId7" imgW="926698" imgH="253890" progId="Equation.3">
                    <p:embed/>
                  </p:oleObj>
                </mc:Choice>
                <mc:Fallback>
                  <p:oleObj name="Equation" r:id="rId7" imgW="926698" imgH="253890" progId="Equation.3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40" y="2382"/>
                          <a:ext cx="861" cy="2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9467" name="Text Box 25"/>
          <p:cNvSpPr txBox="1">
            <a:spLocks noChangeArrowheads="1"/>
          </p:cNvSpPr>
          <p:nvPr/>
        </p:nvSpPr>
        <p:spPr bwMode="auto">
          <a:xfrm>
            <a:off x="7812088" y="5146675"/>
            <a:ext cx="11747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Limite de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stabilité</a:t>
            </a:r>
          </a:p>
        </p:txBody>
      </p:sp>
      <p:graphicFrame>
        <p:nvGraphicFramePr>
          <p:cNvPr id="19468" name="Object 27"/>
          <p:cNvGraphicFramePr>
            <a:graphicFrameLocks noChangeAspect="1"/>
          </p:cNvGraphicFramePr>
          <p:nvPr/>
        </p:nvGraphicFramePr>
        <p:xfrm>
          <a:off x="1127125" y="2420938"/>
          <a:ext cx="6878638" cy="85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55" name="Equation" r:id="rId9" imgW="4292600" imgH="533400" progId="Equation.DSMT4">
                  <p:embed/>
                </p:oleObj>
              </mc:Choice>
              <mc:Fallback>
                <p:oleObj name="Equation" r:id="rId9" imgW="4292600" imgH="533400" progId="Equation.DSMT4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7125" y="2420938"/>
                        <a:ext cx="6878638" cy="852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00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9469" name="Picture 29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268" t="5437" r="16280" b="10001"/>
          <a:stretch>
            <a:fillRect/>
          </a:stretch>
        </p:blipFill>
        <p:spPr bwMode="auto">
          <a:xfrm>
            <a:off x="5029200" y="4013200"/>
            <a:ext cx="2881313" cy="287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9470" name="Object 22"/>
          <p:cNvGraphicFramePr>
            <a:graphicFrameLocks noChangeAspect="1"/>
          </p:cNvGraphicFramePr>
          <p:nvPr/>
        </p:nvGraphicFramePr>
        <p:xfrm>
          <a:off x="7667625" y="4210050"/>
          <a:ext cx="1287463" cy="708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56" name="Equation" r:id="rId12" imgW="812447" imgH="444307" progId="Equation.3">
                  <p:embed/>
                </p:oleObj>
              </mc:Choice>
              <mc:Fallback>
                <p:oleObj name="Equation" r:id="rId12" imgW="812447" imgH="444307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67625" y="4210050"/>
                        <a:ext cx="1287463" cy="708025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chemeClr val="accent2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71" name="Line 24"/>
          <p:cNvSpPr>
            <a:spLocks noChangeShapeType="1"/>
          </p:cNvSpPr>
          <p:nvPr/>
        </p:nvSpPr>
        <p:spPr bwMode="auto">
          <a:xfrm flipV="1">
            <a:off x="7524750" y="4930775"/>
            <a:ext cx="142875" cy="1444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graphicFrame>
        <p:nvGraphicFramePr>
          <p:cNvPr id="19472" name="Object 14"/>
          <p:cNvGraphicFramePr>
            <a:graphicFrameLocks noChangeAspect="1"/>
          </p:cNvGraphicFramePr>
          <p:nvPr/>
        </p:nvGraphicFramePr>
        <p:xfrm>
          <a:off x="323850" y="3860800"/>
          <a:ext cx="5111750" cy="1301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57" name="Equation" r:id="rId14" imgW="2908300" imgH="736600" progId="Equation.3">
                  <p:embed/>
                </p:oleObj>
              </mc:Choice>
              <mc:Fallback>
                <p:oleObj name="Equation" r:id="rId14" imgW="2908300" imgH="7366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3860800"/>
                        <a:ext cx="5111750" cy="1301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9473" name="Group 32"/>
          <p:cNvGrpSpPr>
            <a:grpSpLocks/>
          </p:cNvGrpSpPr>
          <p:nvPr/>
        </p:nvGrpSpPr>
        <p:grpSpPr bwMode="auto">
          <a:xfrm>
            <a:off x="250825" y="5888038"/>
            <a:ext cx="7762875" cy="709612"/>
            <a:chOff x="340" y="3709"/>
            <a:chExt cx="4890" cy="447"/>
          </a:xfrm>
        </p:grpSpPr>
        <p:graphicFrame>
          <p:nvGraphicFramePr>
            <p:cNvPr id="19475" name="Object 21"/>
            <p:cNvGraphicFramePr>
              <a:graphicFrameLocks noChangeAspect="1"/>
            </p:cNvGraphicFramePr>
            <p:nvPr/>
          </p:nvGraphicFramePr>
          <p:xfrm>
            <a:off x="1728" y="3709"/>
            <a:ext cx="608" cy="4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558" name="Equation" r:id="rId16" imgW="609336" imgH="444307" progId="Equation.3">
                    <p:embed/>
                  </p:oleObj>
                </mc:Choice>
                <mc:Fallback>
                  <p:oleObj name="Equation" r:id="rId16" imgW="609336" imgH="444307" progId="Equation.3">
                    <p:embed/>
                    <p:pic>
                      <p:nvPicPr>
                        <p:cNvPr id="0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28" y="3709"/>
                          <a:ext cx="608" cy="4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476" name="Text Box 30"/>
            <p:cNvSpPr txBox="1">
              <a:spLocks noChangeArrowheads="1"/>
            </p:cNvSpPr>
            <p:nvPr/>
          </p:nvSpPr>
          <p:spPr bwMode="auto">
            <a:xfrm>
              <a:off x="2410" y="3789"/>
              <a:ext cx="28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en-US" sz="1800"/>
                <a:t>ce schéma est inconditionnellement stable</a:t>
              </a:r>
            </a:p>
          </p:txBody>
        </p:sp>
        <p:sp>
          <p:nvSpPr>
            <p:cNvPr id="19477" name="Text Box 31"/>
            <p:cNvSpPr txBox="1">
              <a:spLocks noChangeArrowheads="1"/>
            </p:cNvSpPr>
            <p:nvPr/>
          </p:nvSpPr>
          <p:spPr bwMode="auto">
            <a:xfrm>
              <a:off x="340" y="3793"/>
              <a:ext cx="20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fr-FR" altLang="fr-FR"/>
                <a:t>Pour toute valeur de                ,</a:t>
              </a:r>
            </a:p>
          </p:txBody>
        </p:sp>
      </p:grpSp>
      <p:graphicFrame>
        <p:nvGraphicFramePr>
          <p:cNvPr id="19474" name="Object 34"/>
          <p:cNvGraphicFramePr>
            <a:graphicFrameLocks noChangeAspect="1"/>
          </p:cNvGraphicFramePr>
          <p:nvPr/>
        </p:nvGraphicFramePr>
        <p:xfrm>
          <a:off x="611188" y="476250"/>
          <a:ext cx="7677150" cy="962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59" name="Equation" r:id="rId18" imgW="4241800" imgH="533400" progId="Equation.DSMT4">
                  <p:embed/>
                </p:oleObj>
              </mc:Choice>
              <mc:Fallback>
                <p:oleObj name="Equation" r:id="rId18" imgW="4241800" imgH="533400" progId="Equation.DSMT4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476250"/>
                        <a:ext cx="7677150" cy="962025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0000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Text Box 4"/>
          <p:cNvSpPr txBox="1">
            <a:spLocks noChangeArrowheads="1"/>
          </p:cNvSpPr>
          <p:nvPr/>
        </p:nvSpPr>
        <p:spPr bwMode="auto">
          <a:xfrm>
            <a:off x="196850" y="163513"/>
            <a:ext cx="74676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2000" b="1">
                <a:solidFill>
                  <a:schemeClr val="accent2"/>
                </a:solidFill>
              </a:rPr>
              <a:t>Conditions aux limites de type Dirichlet à gauche et à droite</a:t>
            </a:r>
          </a:p>
        </p:txBody>
      </p:sp>
      <p:sp>
        <p:nvSpPr>
          <p:cNvPr id="20482" name="Text Box 5"/>
          <p:cNvSpPr txBox="1">
            <a:spLocks noChangeArrowheads="1"/>
          </p:cNvSpPr>
          <p:nvPr/>
        </p:nvSpPr>
        <p:spPr bwMode="auto">
          <a:xfrm>
            <a:off x="250825" y="981075"/>
            <a:ext cx="457041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buFontTx/>
              <a:buChar char="•"/>
            </a:pPr>
            <a:r>
              <a:rPr lang="fr-FR" altLang="fr-FR"/>
              <a:t> A chaque instant , on a                           et    </a:t>
            </a:r>
          </a:p>
        </p:txBody>
      </p:sp>
      <p:graphicFrame>
        <p:nvGraphicFramePr>
          <p:cNvPr id="20483" name="Object 6"/>
          <p:cNvGraphicFramePr>
            <a:graphicFrameLocks noChangeAspect="1"/>
          </p:cNvGraphicFramePr>
          <p:nvPr/>
        </p:nvGraphicFramePr>
        <p:xfrm>
          <a:off x="3132138" y="908050"/>
          <a:ext cx="1214437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4" name="Equation" r:id="rId3" imgW="583947" imgH="253890" progId="Equation.3">
                  <p:embed/>
                </p:oleObj>
              </mc:Choice>
              <mc:Fallback>
                <p:oleObj name="Equation" r:id="rId3" imgW="583947" imgH="25389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2138" y="908050"/>
                        <a:ext cx="1214437" cy="53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4" name="Object 22"/>
          <p:cNvGraphicFramePr>
            <a:graphicFrameLocks noChangeAspect="1"/>
          </p:cNvGraphicFramePr>
          <p:nvPr/>
        </p:nvGraphicFramePr>
        <p:xfrm>
          <a:off x="5148263" y="981075"/>
          <a:ext cx="1038225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5" name="Equation" r:id="rId5" imgW="571252" imgH="241195" progId="Equation.3">
                  <p:embed/>
                </p:oleObj>
              </mc:Choice>
              <mc:Fallback>
                <p:oleObj name="Equation" r:id="rId5" imgW="571252" imgH="241195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8263" y="981075"/>
                        <a:ext cx="1038225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5" name="Text Box 5"/>
          <p:cNvSpPr txBox="1">
            <a:spLocks noChangeArrowheads="1"/>
          </p:cNvSpPr>
          <p:nvPr/>
        </p:nvSpPr>
        <p:spPr bwMode="auto">
          <a:xfrm>
            <a:off x="250825" y="1773238"/>
            <a:ext cx="8085138" cy="747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</a:pPr>
            <a:r>
              <a:rPr lang="fr-FR" altLang="en-US" sz="1800"/>
              <a:t> Ces expressions remplacent l</a:t>
            </a:r>
            <a:r>
              <a:rPr lang="fr-FR" altLang="fr-FR" sz="1800"/>
              <a:t>’</a:t>
            </a:r>
            <a:r>
              <a:rPr lang="fr-FR" altLang="en-US" sz="1800"/>
              <a:t>équation de la chaleur aux nœuds extrémités,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fr-FR" altLang="en-US" sz="1800"/>
              <a:t>le système d</a:t>
            </a:r>
            <a:r>
              <a:rPr lang="fr-FR" altLang="fr-FR" sz="1800"/>
              <a:t>’</a:t>
            </a:r>
            <a:r>
              <a:rPr lang="fr-FR" altLang="en-US" sz="1800"/>
              <a:t>équations linéaires devient :</a:t>
            </a:r>
          </a:p>
        </p:txBody>
      </p:sp>
      <p:graphicFrame>
        <p:nvGraphicFramePr>
          <p:cNvPr id="2048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99397"/>
              </p:ext>
            </p:extLst>
          </p:nvPr>
        </p:nvGraphicFramePr>
        <p:xfrm>
          <a:off x="2074863" y="3016250"/>
          <a:ext cx="3900487" cy="2312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6" name="Equation" r:id="rId7" imgW="2171520" imgH="1282680" progId="Equation.DSMT4">
                  <p:embed/>
                </p:oleObj>
              </mc:Choice>
              <mc:Fallback>
                <p:oleObj name="Equation" r:id="rId7" imgW="2171520" imgH="128268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4863" y="3016250"/>
                        <a:ext cx="3900487" cy="2312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Text Box 4"/>
          <p:cNvSpPr txBox="1">
            <a:spLocks noChangeArrowheads="1"/>
          </p:cNvSpPr>
          <p:nvPr/>
        </p:nvSpPr>
        <p:spPr bwMode="auto">
          <a:xfrm>
            <a:off x="196850" y="163513"/>
            <a:ext cx="57848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2000" b="1">
                <a:solidFill>
                  <a:schemeClr val="accent2"/>
                </a:solidFill>
              </a:rPr>
              <a:t>Conditions aux limites de Neumann à gauche </a:t>
            </a:r>
          </a:p>
        </p:txBody>
      </p:sp>
      <p:graphicFrame>
        <p:nvGraphicFramePr>
          <p:cNvPr id="21506" name="Object 7"/>
          <p:cNvGraphicFramePr>
            <a:graphicFrameLocks noChangeAspect="1"/>
          </p:cNvGraphicFramePr>
          <p:nvPr/>
        </p:nvGraphicFramePr>
        <p:xfrm>
          <a:off x="2411413" y="590550"/>
          <a:ext cx="3224212" cy="1254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68" name="Equation" r:id="rId3" imgW="2235200" imgH="863600" progId="Equation.3">
                  <p:embed/>
                </p:oleObj>
              </mc:Choice>
              <mc:Fallback>
                <p:oleObj name="Equation" r:id="rId3" imgW="2235200" imgH="8636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413" y="590550"/>
                        <a:ext cx="3224212" cy="1254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07" name="Text Box 9"/>
          <p:cNvSpPr txBox="1">
            <a:spLocks noChangeArrowheads="1"/>
          </p:cNvSpPr>
          <p:nvPr/>
        </p:nvSpPr>
        <p:spPr bwMode="auto">
          <a:xfrm>
            <a:off x="5940425" y="836613"/>
            <a:ext cx="2967038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h  = coefficient d</a:t>
            </a:r>
            <a:r>
              <a:rPr lang="ja-JP" altLang="fr-FR" sz="1800"/>
              <a:t>’</a:t>
            </a:r>
            <a:r>
              <a:rPr lang="fr-FR" altLang="ja-JP" sz="1800"/>
              <a:t>échange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T</a:t>
            </a:r>
            <a:r>
              <a:rPr lang="fr-FR" altLang="en-US" sz="1800" baseline="-25000"/>
              <a:t>a</a:t>
            </a:r>
            <a:r>
              <a:rPr lang="fr-FR" altLang="en-US" sz="1800"/>
              <a:t> = température ambiante </a:t>
            </a:r>
          </a:p>
        </p:txBody>
      </p:sp>
      <p:sp>
        <p:nvSpPr>
          <p:cNvPr id="21508" name="Text Box 11"/>
          <p:cNvSpPr txBox="1">
            <a:spLocks noChangeArrowheads="1"/>
          </p:cNvSpPr>
          <p:nvPr/>
        </p:nvSpPr>
        <p:spPr bwMode="auto">
          <a:xfrm>
            <a:off x="395288" y="2060575"/>
            <a:ext cx="6775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forme discrétisée de l</a:t>
            </a:r>
            <a:r>
              <a:rPr lang="ja-JP" altLang="fr-FR" sz="1800"/>
              <a:t>’</a:t>
            </a:r>
            <a:r>
              <a:rPr lang="fr-FR" altLang="ja-JP" sz="1800"/>
              <a:t>équation de la chaleur  modifiée en surface</a:t>
            </a:r>
            <a:endParaRPr lang="fr-FR" altLang="en-US" sz="1800"/>
          </a:p>
        </p:txBody>
      </p:sp>
      <p:graphicFrame>
        <p:nvGraphicFramePr>
          <p:cNvPr id="21509" name="Object 12"/>
          <p:cNvGraphicFramePr>
            <a:graphicFrameLocks noChangeAspect="1"/>
          </p:cNvGraphicFramePr>
          <p:nvPr/>
        </p:nvGraphicFramePr>
        <p:xfrm>
          <a:off x="468313" y="2420938"/>
          <a:ext cx="4243387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69" name="Equation" r:id="rId5" imgW="2374900" imgH="508000" progId="Equation.3">
                  <p:embed/>
                </p:oleObj>
              </mc:Choice>
              <mc:Fallback>
                <p:oleObj name="Equation" r:id="rId5" imgW="2374900" imgH="5080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2420938"/>
                        <a:ext cx="4243387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0" name="Text Box 13"/>
          <p:cNvSpPr txBox="1">
            <a:spLocks noChangeArrowheads="1"/>
          </p:cNvSpPr>
          <p:nvPr/>
        </p:nvSpPr>
        <p:spPr bwMode="auto">
          <a:xfrm>
            <a:off x="4787900" y="2614613"/>
            <a:ext cx="43624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A partir du D.L. et de l</a:t>
            </a:r>
            <a:r>
              <a:rPr lang="ja-JP" altLang="fr-FR" sz="1800"/>
              <a:t>’</a:t>
            </a:r>
            <a:r>
              <a:rPr lang="fr-FR" altLang="ja-JP" sz="1800"/>
              <a:t>expression du flux,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la dérivée seconde au nœud 1 s</a:t>
            </a:r>
            <a:r>
              <a:rPr lang="ja-JP" altLang="fr-FR" sz="1800"/>
              <a:t>’</a:t>
            </a:r>
            <a:r>
              <a:rPr lang="fr-FR" altLang="ja-JP" sz="1800"/>
              <a:t>écrit  </a:t>
            </a:r>
            <a:endParaRPr lang="fr-FR" altLang="en-US" sz="1800"/>
          </a:p>
        </p:txBody>
      </p:sp>
      <p:graphicFrame>
        <p:nvGraphicFramePr>
          <p:cNvPr id="21511" name="Object 14"/>
          <p:cNvGraphicFramePr>
            <a:graphicFrameLocks noChangeAspect="1"/>
          </p:cNvGraphicFramePr>
          <p:nvPr/>
        </p:nvGraphicFramePr>
        <p:xfrm>
          <a:off x="461963" y="3357563"/>
          <a:ext cx="8461375" cy="960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70" name="Equation" r:id="rId7" imgW="4699000" imgH="533400" progId="Equation.3">
                  <p:embed/>
                </p:oleObj>
              </mc:Choice>
              <mc:Fallback>
                <p:oleObj name="Equation" r:id="rId7" imgW="4699000" imgH="5334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1963" y="3357563"/>
                        <a:ext cx="8461375" cy="960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2" name="Object 15"/>
          <p:cNvGraphicFramePr>
            <a:graphicFrameLocks noChangeAspect="1"/>
          </p:cNvGraphicFramePr>
          <p:nvPr/>
        </p:nvGraphicFramePr>
        <p:xfrm>
          <a:off x="1423988" y="4502150"/>
          <a:ext cx="6919912" cy="871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71" name="Equation" r:id="rId9" imgW="3810000" imgH="482600" progId="Equation.3">
                  <p:embed/>
                </p:oleObj>
              </mc:Choice>
              <mc:Fallback>
                <p:oleObj name="Equation" r:id="rId9" imgW="3810000" imgH="48260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3988" y="4502150"/>
                        <a:ext cx="6919912" cy="871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3" name="Text Box 16"/>
          <p:cNvSpPr txBox="1">
            <a:spLocks noChangeArrowheads="1"/>
          </p:cNvSpPr>
          <p:nvPr/>
        </p:nvSpPr>
        <p:spPr bwMode="auto">
          <a:xfrm>
            <a:off x="447675" y="4718050"/>
            <a:ext cx="6540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D</a:t>
            </a:r>
            <a:r>
              <a:rPr lang="ja-JP" altLang="fr-FR" sz="1800"/>
              <a:t>’</a:t>
            </a:r>
            <a:r>
              <a:rPr lang="fr-FR" altLang="ja-JP" sz="1800"/>
              <a:t>où</a:t>
            </a:r>
            <a:endParaRPr lang="fr-FR" altLang="en-US" sz="1800"/>
          </a:p>
        </p:txBody>
      </p:sp>
      <p:sp>
        <p:nvSpPr>
          <p:cNvPr id="21514" name="Text Box 17"/>
          <p:cNvSpPr txBox="1">
            <a:spLocks noChangeArrowheads="1"/>
          </p:cNvSpPr>
          <p:nvPr/>
        </p:nvSpPr>
        <p:spPr bwMode="auto">
          <a:xfrm>
            <a:off x="447675" y="5373688"/>
            <a:ext cx="18605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Autrement écrit :</a:t>
            </a:r>
          </a:p>
        </p:txBody>
      </p:sp>
      <p:grpSp>
        <p:nvGrpSpPr>
          <p:cNvPr id="21515" name="Group 26"/>
          <p:cNvGrpSpPr>
            <a:grpSpLocks/>
          </p:cNvGrpSpPr>
          <p:nvPr/>
        </p:nvGrpSpPr>
        <p:grpSpPr bwMode="auto">
          <a:xfrm>
            <a:off x="611188" y="981075"/>
            <a:ext cx="1755775" cy="850900"/>
            <a:chOff x="3606" y="931"/>
            <a:chExt cx="1106" cy="536"/>
          </a:xfrm>
        </p:grpSpPr>
        <p:sp>
          <p:nvSpPr>
            <p:cNvPr id="21517" name="Line 19"/>
            <p:cNvSpPr>
              <a:spLocks noChangeShapeType="1"/>
            </p:cNvSpPr>
            <p:nvPr/>
          </p:nvSpPr>
          <p:spPr bwMode="auto">
            <a:xfrm flipH="1">
              <a:off x="3715" y="1241"/>
              <a:ext cx="498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1518" name="Line 20"/>
            <p:cNvSpPr>
              <a:spLocks noChangeShapeType="1"/>
            </p:cNvSpPr>
            <p:nvPr/>
          </p:nvSpPr>
          <p:spPr bwMode="auto">
            <a:xfrm flipH="1" flipV="1">
              <a:off x="4214" y="1014"/>
              <a:ext cx="0" cy="45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1519" name="Text Box 21"/>
            <p:cNvSpPr txBox="1">
              <a:spLocks noChangeArrowheads="1"/>
            </p:cNvSpPr>
            <p:nvPr/>
          </p:nvSpPr>
          <p:spPr bwMode="auto">
            <a:xfrm flipH="1">
              <a:off x="4256" y="931"/>
              <a:ext cx="257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fr-FR" altLang="fr-FR"/>
                <a:t>T</a:t>
              </a:r>
              <a:r>
                <a:rPr lang="fr-FR" altLang="fr-FR" baseline="-25000"/>
                <a:t>1</a:t>
              </a:r>
            </a:p>
          </p:txBody>
        </p:sp>
        <p:sp>
          <p:nvSpPr>
            <p:cNvPr id="21520" name="Text Box 22"/>
            <p:cNvSpPr txBox="1">
              <a:spLocks noChangeArrowheads="1"/>
            </p:cNvSpPr>
            <p:nvPr/>
          </p:nvSpPr>
          <p:spPr bwMode="auto">
            <a:xfrm flipH="1">
              <a:off x="3606" y="935"/>
              <a:ext cx="257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fr-FR" altLang="fr-FR"/>
                <a:t>T</a:t>
              </a:r>
              <a:r>
                <a:rPr lang="fr-FR" altLang="fr-FR" baseline="-25000"/>
                <a:t>a</a:t>
              </a:r>
              <a:endParaRPr lang="fr-FR" altLang="fr-FR"/>
            </a:p>
          </p:txBody>
        </p:sp>
        <p:sp>
          <p:nvSpPr>
            <p:cNvPr id="21521" name="Text Box 23"/>
            <p:cNvSpPr txBox="1">
              <a:spLocks noChangeArrowheads="1"/>
            </p:cNvSpPr>
            <p:nvPr/>
          </p:nvSpPr>
          <p:spPr bwMode="auto">
            <a:xfrm flipH="1">
              <a:off x="4023" y="1019"/>
              <a:ext cx="20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fr-FR" altLang="fr-FR" b="1">
                  <a:solidFill>
                    <a:srgbClr val="FF0000"/>
                  </a:solidFill>
                </a:rPr>
                <a:t>n</a:t>
              </a:r>
            </a:p>
          </p:txBody>
        </p:sp>
        <p:sp>
          <p:nvSpPr>
            <p:cNvPr id="21522" name="Line 24"/>
            <p:cNvSpPr>
              <a:spLocks noChangeShapeType="1"/>
            </p:cNvSpPr>
            <p:nvPr/>
          </p:nvSpPr>
          <p:spPr bwMode="auto">
            <a:xfrm>
              <a:off x="4213" y="1241"/>
              <a:ext cx="49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graphicFrame>
        <p:nvGraphicFramePr>
          <p:cNvPr id="21516" name="Object 28"/>
          <p:cNvGraphicFramePr>
            <a:graphicFrameLocks noChangeAspect="1"/>
          </p:cNvGraphicFramePr>
          <p:nvPr/>
        </p:nvGraphicFramePr>
        <p:xfrm>
          <a:off x="1331913" y="5734050"/>
          <a:ext cx="6989762" cy="84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72" name="Equation" r:id="rId11" imgW="3962400" imgH="482600" progId="Equation.3">
                  <p:embed/>
                </p:oleObj>
              </mc:Choice>
              <mc:Fallback>
                <p:oleObj name="Equation" r:id="rId11" imgW="3962400" imgH="482600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5734050"/>
                        <a:ext cx="6989762" cy="844550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29" name="Picture 1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47"/>
          <a:stretch>
            <a:fillRect/>
          </a:stretch>
        </p:blipFill>
        <p:spPr bwMode="auto">
          <a:xfrm>
            <a:off x="0" y="844550"/>
            <a:ext cx="7559675" cy="6013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0" name="Text Box 4"/>
          <p:cNvSpPr txBox="1">
            <a:spLocks noChangeArrowheads="1"/>
          </p:cNvSpPr>
          <p:nvPr/>
        </p:nvSpPr>
        <p:spPr bwMode="auto">
          <a:xfrm>
            <a:off x="231775" y="136525"/>
            <a:ext cx="7156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 b="1"/>
              <a:t>Différences Finies Méthode Implicte : Le programme MDFI_main</a:t>
            </a:r>
          </a:p>
        </p:txBody>
      </p:sp>
      <p:sp>
        <p:nvSpPr>
          <p:cNvPr id="22531" name="Text Box 5"/>
          <p:cNvSpPr txBox="1">
            <a:spLocks noChangeArrowheads="1"/>
          </p:cNvSpPr>
          <p:nvPr/>
        </p:nvSpPr>
        <p:spPr bwMode="auto">
          <a:xfrm>
            <a:off x="6948488" y="2781300"/>
            <a:ext cx="1708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/>
              <a:t>Structure</a:t>
            </a:r>
            <a:r>
              <a:rPr lang="fr-FR" altLang="fr-FR" b="1"/>
              <a:t> phys</a:t>
            </a:r>
          </a:p>
        </p:txBody>
      </p:sp>
      <p:sp>
        <p:nvSpPr>
          <p:cNvPr id="22532" name="Text Box 6"/>
          <p:cNvSpPr txBox="1">
            <a:spLocks noChangeArrowheads="1"/>
          </p:cNvSpPr>
          <p:nvPr/>
        </p:nvSpPr>
        <p:spPr bwMode="auto">
          <a:xfrm>
            <a:off x="6877050" y="5942013"/>
            <a:ext cx="17716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/>
              <a:t>Structure</a:t>
            </a:r>
            <a:r>
              <a:rPr lang="fr-FR" altLang="fr-FR" b="1"/>
              <a:t> simul</a:t>
            </a:r>
          </a:p>
        </p:txBody>
      </p:sp>
      <p:sp>
        <p:nvSpPr>
          <p:cNvPr id="22533" name="AutoShape 7"/>
          <p:cNvSpPr>
            <a:spLocks/>
          </p:cNvSpPr>
          <p:nvPr/>
        </p:nvSpPr>
        <p:spPr bwMode="auto">
          <a:xfrm>
            <a:off x="6516688" y="1628775"/>
            <a:ext cx="360362" cy="2663825"/>
          </a:xfrm>
          <a:prstGeom prst="rightBrace">
            <a:avLst>
              <a:gd name="adj1" fmla="val 61601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/>
          </a:p>
        </p:txBody>
      </p:sp>
      <p:sp>
        <p:nvSpPr>
          <p:cNvPr id="22534" name="AutoShape 8"/>
          <p:cNvSpPr>
            <a:spLocks/>
          </p:cNvSpPr>
          <p:nvPr/>
        </p:nvSpPr>
        <p:spPr bwMode="auto">
          <a:xfrm>
            <a:off x="6516688" y="5516563"/>
            <a:ext cx="360362" cy="1296987"/>
          </a:xfrm>
          <a:prstGeom prst="rightBrace">
            <a:avLst>
              <a:gd name="adj1" fmla="val 29993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/>
          </a:p>
        </p:txBody>
      </p:sp>
      <p:pic>
        <p:nvPicPr>
          <p:cNvPr id="22535" name="Picture 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549275"/>
            <a:ext cx="2376488" cy="250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Text Box 8"/>
          <p:cNvSpPr txBox="1">
            <a:spLocks noChangeArrowheads="1"/>
          </p:cNvSpPr>
          <p:nvPr/>
        </p:nvSpPr>
        <p:spPr bwMode="auto">
          <a:xfrm>
            <a:off x="107950" y="750888"/>
            <a:ext cx="8985250" cy="620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600" b="1">
                <a:solidFill>
                  <a:srgbClr val="228B22"/>
                </a:solidFill>
                <a:latin typeface="Courier New" panose="02070309020205020404" pitchFamily="49" charset="0"/>
              </a:rPr>
              <a:t>%  Noms des fonctions :</a:t>
            </a:r>
            <a:endParaRPr lang="fr-FR" altLang="en-US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600" b="1">
                <a:solidFill>
                  <a:srgbClr val="228B22"/>
                </a:solidFill>
                <a:latin typeface="Courier New" panose="02070309020205020404" pitchFamily="49" charset="0"/>
              </a:rPr>
              <a:t>%  </a:t>
            </a:r>
            <a:endParaRPr lang="fr-FR" altLang="en-US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600" b="1">
                <a:solidFill>
                  <a:srgbClr val="228B22"/>
                </a:solidFill>
                <a:latin typeface="Courier New" panose="02070309020205020404" pitchFamily="49" charset="0"/>
              </a:rPr>
              <a:t>%  MDFI_main            : Programme principal</a:t>
            </a:r>
            <a:endParaRPr lang="fr-FR" altLang="en-US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600" b="1">
                <a:solidFill>
                  <a:srgbClr val="228B22"/>
                </a:solidFill>
                <a:latin typeface="Courier New" panose="02070309020205020404" pitchFamily="49" charset="0"/>
              </a:rPr>
              <a:t>%    lecture_probleme   : Lecture des proprietes physiques</a:t>
            </a:r>
            <a:endParaRPr lang="fr-FR" altLang="en-US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600" b="1">
                <a:solidFill>
                  <a:srgbClr val="228B22"/>
                </a:solidFill>
                <a:latin typeface="Courier New" panose="02070309020205020404" pitchFamily="49" charset="0"/>
              </a:rPr>
              <a:t>%    lecture_simul      : Lecture des parametres de la simulation</a:t>
            </a:r>
            <a:endParaRPr lang="fr-FR" altLang="en-US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600" b="1">
                <a:solidFill>
                  <a:srgbClr val="228B22"/>
                </a:solidFill>
                <a:latin typeface="Courier New" panose="02070309020205020404" pitchFamily="49" charset="0"/>
              </a:rPr>
              <a:t>%    implicite          : Algorithme de résolution transitoire implicite</a:t>
            </a:r>
            <a:endParaRPr lang="fr-FR" altLang="en-US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600" b="1">
                <a:solidFill>
                  <a:srgbClr val="228B22"/>
                </a:solidFill>
                <a:latin typeface="Courier New" panose="02070309020205020404" pitchFamily="49" charset="0"/>
              </a:rPr>
              <a:t>%    source             : Fonction permettant de calculer la source en </a:t>
            </a:r>
            <a:endParaRPr lang="fr-FR" altLang="en-US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600" b="1">
                <a:solidFill>
                  <a:srgbClr val="228B22"/>
                </a:solidFill>
                <a:latin typeface="Courier New" panose="02070309020205020404" pitchFamily="49" charset="0"/>
              </a:rPr>
              <a:t>%                         un point défini par son abscisse reelle </a:t>
            </a:r>
            <a:endParaRPr lang="fr-FR" altLang="en-US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600" b="1">
                <a:solidFill>
                  <a:srgbClr val="228B22"/>
                </a:solidFill>
                <a:latin typeface="Courier New" panose="02070309020205020404" pitchFamily="49" charset="0"/>
              </a:rPr>
              <a:t>%    affichage_solution : Affichage des distributions de temperatures</a:t>
            </a:r>
            <a:endParaRPr lang="fr-FR" altLang="en-US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600" b="1">
                <a:solidFill>
                  <a:srgbClr val="228B22"/>
                </a:solidFill>
                <a:latin typeface="Courier New" panose="02070309020205020404" pitchFamily="49" charset="0"/>
              </a:rPr>
              <a:t>%</a:t>
            </a:r>
            <a:endParaRPr lang="fr-FR" altLang="en-US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600" b="1">
                <a:solidFill>
                  <a:srgbClr val="228B22"/>
                </a:solidFill>
                <a:latin typeface="Courier New" panose="02070309020205020404" pitchFamily="49" charset="0"/>
              </a:rPr>
              <a:t> </a:t>
            </a:r>
            <a:endParaRPr lang="fr-FR" altLang="en-US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600" b="1">
                <a:solidFill>
                  <a:srgbClr val="228B22"/>
                </a:solidFill>
                <a:latin typeface="Courier New" panose="02070309020205020404" pitchFamily="49" charset="0"/>
              </a:rPr>
              <a:t>%</a:t>
            </a:r>
            <a:endParaRPr lang="fr-FR" altLang="en-US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600" b="1">
                <a:solidFill>
                  <a:srgbClr val="228B22"/>
                </a:solidFill>
                <a:latin typeface="Courier New" panose="02070309020205020404" pitchFamily="49" charset="0"/>
              </a:rPr>
              <a:t>%  Proprietes physiques du materiau et conditions aux limites a gauche</a:t>
            </a:r>
            <a:endParaRPr lang="fr-FR" altLang="en-US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600" b="1">
                <a:solidFill>
                  <a:srgbClr val="228B22"/>
                </a:solidFill>
                <a:latin typeface="Courier New" panose="02070309020205020404" pitchFamily="49" charset="0"/>
              </a:rPr>
              <a:t>%</a:t>
            </a:r>
            <a:endParaRPr lang="fr-FR" altLang="en-US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600" b="1">
                <a:solidFill>
                  <a:srgbClr val="000000"/>
                </a:solidFill>
                <a:latin typeface="Courier New" panose="02070309020205020404" pitchFamily="49" charset="0"/>
              </a:rPr>
              <a:t>[phys]=lecture_probleme</a:t>
            </a:r>
            <a:endParaRPr lang="fr-FR" altLang="en-US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600" b="1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fr-FR" altLang="en-US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600" b="1">
                <a:solidFill>
                  <a:srgbClr val="228B22"/>
                </a:solidFill>
                <a:latin typeface="Courier New" panose="02070309020205020404" pitchFamily="49" charset="0"/>
              </a:rPr>
              <a:t>% Parametres de la simulation et tests sur la stabilite</a:t>
            </a:r>
            <a:endParaRPr lang="fr-FR" altLang="en-US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600" b="1">
                <a:solidFill>
                  <a:srgbClr val="000000"/>
                </a:solidFill>
                <a:latin typeface="Courier New" panose="02070309020205020404" pitchFamily="49" charset="0"/>
              </a:rPr>
              <a:t>[simul]=lecture_simul(phys)</a:t>
            </a:r>
            <a:endParaRPr lang="fr-FR" altLang="en-US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600" b="1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fr-FR" altLang="en-US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600" b="1">
                <a:solidFill>
                  <a:srgbClr val="228B22"/>
                </a:solidFill>
                <a:latin typeface="Courier New" panose="02070309020205020404" pitchFamily="49" charset="0"/>
              </a:rPr>
              <a:t>% methode implicite</a:t>
            </a:r>
            <a:endParaRPr lang="fr-FR" altLang="en-US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600" b="1">
                <a:solidFill>
                  <a:srgbClr val="000000"/>
                </a:solidFill>
                <a:latin typeface="Courier New" panose="02070309020205020404" pitchFamily="49" charset="0"/>
              </a:rPr>
              <a:t>[x,Tn]=implicite(phys,simul);</a:t>
            </a:r>
            <a:endParaRPr lang="fr-FR" altLang="en-US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600" b="1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fr-FR" altLang="en-US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600" b="1">
                <a:solidFill>
                  <a:srgbClr val="228B22"/>
                </a:solidFill>
                <a:latin typeface="Courier New" panose="02070309020205020404" pitchFamily="49" charset="0"/>
              </a:rPr>
              <a:t>% Representation graphique              </a:t>
            </a:r>
            <a:endParaRPr lang="fr-FR" altLang="en-US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600" b="1">
                <a:solidFill>
                  <a:srgbClr val="000000"/>
                </a:solidFill>
                <a:latin typeface="Courier New" panose="02070309020205020404" pitchFamily="49" charset="0"/>
              </a:rPr>
              <a:t>affichage_solution(x,Tn,simul)</a:t>
            </a:r>
            <a:endParaRPr lang="fr-FR" altLang="en-US" sz="16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en-US" sz="1600"/>
          </a:p>
        </p:txBody>
      </p:sp>
      <p:sp>
        <p:nvSpPr>
          <p:cNvPr id="23554" name="Text Box 4"/>
          <p:cNvSpPr txBox="1">
            <a:spLocks noChangeArrowheads="1"/>
          </p:cNvSpPr>
          <p:nvPr/>
        </p:nvSpPr>
        <p:spPr bwMode="auto">
          <a:xfrm>
            <a:off x="2339975" y="188913"/>
            <a:ext cx="41465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MDFI_main.m : </a:t>
            </a:r>
            <a:r>
              <a:rPr lang="fr-FR" altLang="en-US" sz="1800" b="1"/>
              <a:t>les fonctions définies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Text Box 4"/>
          <p:cNvSpPr txBox="1">
            <a:spLocks noChangeArrowheads="1"/>
          </p:cNvSpPr>
          <p:nvPr/>
        </p:nvSpPr>
        <p:spPr bwMode="auto">
          <a:xfrm>
            <a:off x="231775" y="136525"/>
            <a:ext cx="69278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 b="1"/>
              <a:t>Différences Finies Méthode Implicite : exemple de simulations</a:t>
            </a:r>
          </a:p>
        </p:txBody>
      </p:sp>
      <p:pic>
        <p:nvPicPr>
          <p:cNvPr id="24578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3213100"/>
            <a:ext cx="2822575" cy="364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79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981075"/>
            <a:ext cx="2808288" cy="215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80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9475" y="981075"/>
            <a:ext cx="2665413" cy="1106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81" name="Picture 9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7913" y="981075"/>
            <a:ext cx="2735262" cy="1116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82" name="Text Box 10"/>
          <p:cNvSpPr txBox="1">
            <a:spLocks noChangeArrowheads="1"/>
          </p:cNvSpPr>
          <p:nvPr/>
        </p:nvSpPr>
        <p:spPr bwMode="auto">
          <a:xfrm>
            <a:off x="250825" y="614363"/>
            <a:ext cx="22669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Stabilité numérique :</a:t>
            </a:r>
          </a:p>
        </p:txBody>
      </p:sp>
      <p:pic>
        <p:nvPicPr>
          <p:cNvPr id="24583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9475" y="2332038"/>
            <a:ext cx="5400675" cy="4192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Text Box 4"/>
          <p:cNvSpPr txBox="1">
            <a:spLocks noChangeArrowheads="1"/>
          </p:cNvSpPr>
          <p:nvPr/>
        </p:nvSpPr>
        <p:spPr bwMode="auto">
          <a:xfrm>
            <a:off x="231775" y="207963"/>
            <a:ext cx="50736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 b="1"/>
              <a:t>Implémentation du schéma implicite pour les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 b="1"/>
              <a:t>points intérieurs </a:t>
            </a:r>
          </a:p>
        </p:txBody>
      </p:sp>
      <p:sp>
        <p:nvSpPr>
          <p:cNvPr id="25602" name="Text Box 5"/>
          <p:cNvSpPr txBox="1">
            <a:spLocks noChangeArrowheads="1"/>
          </p:cNvSpPr>
          <p:nvPr/>
        </p:nvSpPr>
        <p:spPr bwMode="auto">
          <a:xfrm>
            <a:off x="6877050" y="115888"/>
            <a:ext cx="2232025" cy="39528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/>
              <a:t>Fonction implicite.m</a:t>
            </a:r>
          </a:p>
        </p:txBody>
      </p:sp>
      <p:graphicFrame>
        <p:nvGraphicFramePr>
          <p:cNvPr id="25603" name="Object 6"/>
          <p:cNvGraphicFramePr>
            <a:graphicFrameLocks noChangeAspect="1"/>
          </p:cNvGraphicFramePr>
          <p:nvPr/>
        </p:nvGraphicFramePr>
        <p:xfrm>
          <a:off x="250825" y="1133475"/>
          <a:ext cx="8604250" cy="1000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18" name="Equation" r:id="rId3" imgW="4140200" imgH="482600" progId="Equation.3">
                  <p:embed/>
                </p:oleObj>
              </mc:Choice>
              <mc:Fallback>
                <p:oleObj name="Equation" r:id="rId3" imgW="4140200" imgH="4826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1133475"/>
                        <a:ext cx="8604250" cy="1000125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0000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4" name="Text Box 7"/>
          <p:cNvSpPr txBox="1">
            <a:spLocks noChangeArrowheads="1"/>
          </p:cNvSpPr>
          <p:nvPr/>
        </p:nvSpPr>
        <p:spPr bwMode="auto">
          <a:xfrm>
            <a:off x="3059113" y="2270125"/>
            <a:ext cx="100806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fr-FR" altLang="fr-FR" b="1">
                <a:solidFill>
                  <a:srgbClr val="FF0000"/>
                </a:solidFill>
              </a:rPr>
              <a:t>A(p,p)</a:t>
            </a:r>
          </a:p>
        </p:txBody>
      </p:sp>
      <p:sp>
        <p:nvSpPr>
          <p:cNvPr id="25605" name="Text Box 8"/>
          <p:cNvSpPr txBox="1">
            <a:spLocks noChangeArrowheads="1"/>
          </p:cNvSpPr>
          <p:nvPr/>
        </p:nvSpPr>
        <p:spPr bwMode="auto">
          <a:xfrm>
            <a:off x="612775" y="2270125"/>
            <a:ext cx="1295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fr-FR" altLang="fr-FR" b="1">
                <a:solidFill>
                  <a:srgbClr val="FF0000"/>
                </a:solidFill>
              </a:rPr>
              <a:t>A(p, p-1)</a:t>
            </a:r>
          </a:p>
        </p:txBody>
      </p:sp>
      <p:sp>
        <p:nvSpPr>
          <p:cNvPr id="25606" name="Text Box 9"/>
          <p:cNvSpPr txBox="1">
            <a:spLocks noChangeArrowheads="1"/>
          </p:cNvSpPr>
          <p:nvPr/>
        </p:nvSpPr>
        <p:spPr bwMode="auto">
          <a:xfrm>
            <a:off x="7524750" y="2270125"/>
            <a:ext cx="9366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fr-FR" altLang="fr-FR" b="1">
                <a:solidFill>
                  <a:srgbClr val="FF0000"/>
                </a:solidFill>
              </a:rPr>
              <a:t>b(p)</a:t>
            </a:r>
          </a:p>
        </p:txBody>
      </p:sp>
      <p:sp>
        <p:nvSpPr>
          <p:cNvPr id="25607" name="Text Box 10"/>
          <p:cNvSpPr txBox="1">
            <a:spLocks noChangeArrowheads="1"/>
          </p:cNvSpPr>
          <p:nvPr/>
        </p:nvSpPr>
        <p:spPr bwMode="auto">
          <a:xfrm>
            <a:off x="5435600" y="2270125"/>
            <a:ext cx="11525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fr-FR" altLang="fr-FR" b="1">
                <a:solidFill>
                  <a:srgbClr val="FF0000"/>
                </a:solidFill>
              </a:rPr>
              <a:t>A(p,p+1)</a:t>
            </a:r>
          </a:p>
        </p:txBody>
      </p:sp>
      <p:sp>
        <p:nvSpPr>
          <p:cNvPr id="25608" name="Text Box 13"/>
          <p:cNvSpPr txBox="1">
            <a:spLocks noChangeArrowheads="1"/>
          </p:cNvSpPr>
          <p:nvPr/>
        </p:nvSpPr>
        <p:spPr bwMode="auto">
          <a:xfrm>
            <a:off x="-252413" y="3025775"/>
            <a:ext cx="5179623" cy="347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2000" dirty="0"/>
              <a:t> </a:t>
            </a:r>
            <a:r>
              <a:rPr lang="fr-FR" altLang="fr-FR" sz="2000" b="1" dirty="0">
                <a:solidFill>
                  <a:srgbClr val="228B22"/>
                </a:solidFill>
                <a:latin typeface="Courier New" panose="02070309020205020404" pitchFamily="49" charset="0"/>
              </a:rPr>
              <a:t> % Points </a:t>
            </a:r>
            <a:r>
              <a:rPr lang="fr-FR" altLang="fr-FR" sz="2000" b="1" dirty="0" err="1">
                <a:solidFill>
                  <a:srgbClr val="228B22"/>
                </a:solidFill>
                <a:latin typeface="Courier New" panose="02070309020205020404" pitchFamily="49" charset="0"/>
              </a:rPr>
              <a:t>interieurs</a:t>
            </a:r>
            <a:r>
              <a:rPr lang="fr-FR" altLang="fr-FR" sz="2000" b="1" dirty="0">
                <a:solidFill>
                  <a:srgbClr val="228B22"/>
                </a:solidFill>
                <a:latin typeface="Courier New" panose="02070309020205020404" pitchFamily="49" charset="0"/>
              </a:rPr>
              <a:t> du maillage</a:t>
            </a:r>
            <a:endParaRPr lang="fr-FR" altLang="fr-FR" sz="2000" dirty="0"/>
          </a:p>
          <a:p>
            <a:pPr eaLnBrk="1" hangingPunct="1"/>
            <a:r>
              <a:rPr lang="fr-FR" altLang="fr-FR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fr-FR" altLang="fr-FR" sz="2000" b="1" dirty="0">
                <a:solidFill>
                  <a:srgbClr val="0000FF"/>
                </a:solidFill>
                <a:latin typeface="Courier New" panose="02070309020205020404" pitchFamily="49" charset="0"/>
              </a:rPr>
              <a:t>for</a:t>
            </a:r>
            <a:r>
              <a:rPr lang="fr-FR" altLang="fr-FR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p=2:N-1</a:t>
            </a:r>
            <a:endParaRPr lang="fr-FR" altLang="fr-FR" sz="2000" dirty="0"/>
          </a:p>
          <a:p>
            <a:pPr eaLnBrk="1" hangingPunct="1"/>
            <a:r>
              <a:rPr lang="fr-FR" altLang="fr-FR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</a:t>
            </a:r>
            <a:r>
              <a:rPr lang="fr-FR" altLang="fr-FR" sz="2000" b="1" dirty="0">
                <a:solidFill>
                  <a:srgbClr val="228B22"/>
                </a:solidFill>
                <a:latin typeface="Courier New" panose="02070309020205020404" pitchFamily="49" charset="0"/>
              </a:rPr>
              <a:t>% </a:t>
            </a:r>
            <a:r>
              <a:rPr lang="fr-FR" altLang="fr-FR" sz="2000" b="1" dirty="0" err="1">
                <a:solidFill>
                  <a:srgbClr val="228B22"/>
                </a:solidFill>
                <a:latin typeface="Courier New" panose="02070309020205020404" pitchFamily="49" charset="0"/>
              </a:rPr>
              <a:t>schema</a:t>
            </a:r>
            <a:r>
              <a:rPr lang="fr-FR" altLang="fr-FR" sz="2000" b="1" dirty="0">
                <a:solidFill>
                  <a:srgbClr val="228B22"/>
                </a:solidFill>
                <a:latin typeface="Courier New" panose="02070309020205020404" pitchFamily="49" charset="0"/>
              </a:rPr>
              <a:t> centre</a:t>
            </a:r>
            <a:endParaRPr lang="fr-FR" altLang="fr-FR" sz="2000" dirty="0"/>
          </a:p>
          <a:p>
            <a:pPr eaLnBrk="1" hangingPunct="1"/>
            <a:r>
              <a:rPr lang="fr-FR" altLang="fr-FR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x(p)=(p-1)*</a:t>
            </a:r>
            <a:r>
              <a:rPr lang="fr-FR" altLang="fr-FR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deltax</a:t>
            </a:r>
            <a:r>
              <a:rPr lang="fr-FR" altLang="fr-FR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  <a:endParaRPr lang="fr-FR" altLang="fr-FR" sz="2000" dirty="0"/>
          </a:p>
          <a:p>
            <a:pPr eaLnBrk="1" hangingPunct="1"/>
            <a:r>
              <a:rPr lang="fr-FR" altLang="fr-FR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A(p, p-1)= </a:t>
            </a:r>
            <a:endParaRPr lang="fr-FR" altLang="fr-FR" sz="2000" dirty="0"/>
          </a:p>
          <a:p>
            <a:pPr eaLnBrk="1" hangingPunct="1"/>
            <a:r>
              <a:rPr lang="fr-FR" altLang="fr-FR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A(p, p  )= </a:t>
            </a:r>
            <a:endParaRPr lang="fr-FR" altLang="fr-FR" sz="2000" dirty="0"/>
          </a:p>
          <a:p>
            <a:pPr eaLnBrk="1" hangingPunct="1"/>
            <a:r>
              <a:rPr lang="fr-FR" altLang="fr-FR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A(p, p+1)=</a:t>
            </a:r>
            <a:endParaRPr lang="fr-FR" altLang="fr-FR" sz="2000" dirty="0"/>
          </a:p>
          <a:p>
            <a:pPr eaLnBrk="1" hangingPunct="1"/>
            <a:r>
              <a:rPr lang="fr-FR" altLang="fr-FR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fr-FR" altLang="fr-FR" sz="2000" dirty="0"/>
          </a:p>
          <a:p>
            <a:pPr eaLnBrk="1" hangingPunct="1"/>
            <a:r>
              <a:rPr lang="fr-FR" altLang="fr-FR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b(p)=    </a:t>
            </a:r>
            <a:endParaRPr lang="fr-FR" altLang="fr-FR" sz="2000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eaLnBrk="1" hangingPunct="1"/>
            <a:endParaRPr lang="fr-FR" altLang="fr-FR" sz="20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eaLnBrk="1" hangingPunct="1"/>
            <a:r>
              <a:rPr lang="fr-FR" altLang="fr-FR" sz="2000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fr-FR" altLang="fr-FR" sz="2000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end</a:t>
            </a:r>
            <a:endParaRPr lang="fr-FR" altLang="fr-FR" sz="2000" b="1" dirty="0">
              <a:solidFill>
                <a:srgbClr val="0000FF"/>
              </a:solidFill>
              <a:latin typeface="Courier New" panose="02070309020205020404" pitchFamily="49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625" name="Object 9"/>
          <p:cNvGraphicFramePr>
            <a:graphicFrameLocks noChangeAspect="1"/>
          </p:cNvGraphicFramePr>
          <p:nvPr/>
        </p:nvGraphicFramePr>
        <p:xfrm>
          <a:off x="396875" y="366713"/>
          <a:ext cx="7991475" cy="963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42" name="Equation" r:id="rId3" imgW="3962400" imgH="482600" progId="Equation.3">
                  <p:embed/>
                </p:oleObj>
              </mc:Choice>
              <mc:Fallback>
                <p:oleObj name="Equation" r:id="rId3" imgW="3962400" imgH="4826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875" y="366713"/>
                        <a:ext cx="7991475" cy="963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26" name="Rectangle 10"/>
          <p:cNvSpPr>
            <a:spLocks noChangeArrowheads="1"/>
          </p:cNvSpPr>
          <p:nvPr/>
        </p:nvSpPr>
        <p:spPr bwMode="auto">
          <a:xfrm>
            <a:off x="2339975" y="188913"/>
            <a:ext cx="2663825" cy="10795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/>
          </a:p>
        </p:txBody>
      </p:sp>
      <p:sp>
        <p:nvSpPr>
          <p:cNvPr id="26627" name="Rectangle 11"/>
          <p:cNvSpPr>
            <a:spLocks noChangeArrowheads="1"/>
          </p:cNvSpPr>
          <p:nvPr/>
        </p:nvSpPr>
        <p:spPr bwMode="auto">
          <a:xfrm>
            <a:off x="179388" y="188913"/>
            <a:ext cx="1368425" cy="10795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/>
          </a:p>
        </p:txBody>
      </p:sp>
      <p:sp>
        <p:nvSpPr>
          <p:cNvPr id="26628" name="Rectangle 12"/>
          <p:cNvSpPr>
            <a:spLocks noChangeArrowheads="1"/>
          </p:cNvSpPr>
          <p:nvPr/>
        </p:nvSpPr>
        <p:spPr bwMode="auto">
          <a:xfrm>
            <a:off x="5795963" y="188913"/>
            <a:ext cx="2663825" cy="10795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/>
          </a:p>
        </p:txBody>
      </p:sp>
      <p:sp>
        <p:nvSpPr>
          <p:cNvPr id="26629" name="Text Box 13"/>
          <p:cNvSpPr txBox="1">
            <a:spLocks noChangeArrowheads="1"/>
          </p:cNvSpPr>
          <p:nvPr/>
        </p:nvSpPr>
        <p:spPr bwMode="auto">
          <a:xfrm>
            <a:off x="3348038" y="1341438"/>
            <a:ext cx="12954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fr-FR" altLang="fr-FR" b="1">
                <a:solidFill>
                  <a:srgbClr val="FF0000"/>
                </a:solidFill>
              </a:rPr>
              <a:t>A(1, 1)</a:t>
            </a:r>
          </a:p>
        </p:txBody>
      </p:sp>
      <p:sp>
        <p:nvSpPr>
          <p:cNvPr id="26630" name="Text Box 14"/>
          <p:cNvSpPr txBox="1">
            <a:spLocks noChangeArrowheads="1"/>
          </p:cNvSpPr>
          <p:nvPr/>
        </p:nvSpPr>
        <p:spPr bwMode="auto">
          <a:xfrm>
            <a:off x="468313" y="1341438"/>
            <a:ext cx="93503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fr-FR" altLang="fr-FR" b="1">
                <a:solidFill>
                  <a:srgbClr val="FF0000"/>
                </a:solidFill>
              </a:rPr>
              <a:t>A(1, 2)</a:t>
            </a:r>
          </a:p>
        </p:txBody>
      </p:sp>
      <p:sp>
        <p:nvSpPr>
          <p:cNvPr id="26631" name="Text Box 15"/>
          <p:cNvSpPr txBox="1">
            <a:spLocks noChangeArrowheads="1"/>
          </p:cNvSpPr>
          <p:nvPr/>
        </p:nvSpPr>
        <p:spPr bwMode="auto">
          <a:xfrm>
            <a:off x="6804025" y="1341438"/>
            <a:ext cx="71913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fr-FR" altLang="fr-FR" b="1">
                <a:solidFill>
                  <a:srgbClr val="FF0000"/>
                </a:solidFill>
              </a:rPr>
              <a:t>b(1)</a:t>
            </a:r>
          </a:p>
        </p:txBody>
      </p:sp>
      <p:sp>
        <p:nvSpPr>
          <p:cNvPr id="26632" name="Text Box 17"/>
          <p:cNvSpPr txBox="1">
            <a:spLocks noChangeArrowheads="1"/>
          </p:cNvSpPr>
          <p:nvPr/>
        </p:nvSpPr>
        <p:spPr bwMode="auto">
          <a:xfrm>
            <a:off x="179388" y="1931988"/>
            <a:ext cx="5614987" cy="452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600"/>
              <a:t> </a:t>
            </a:r>
            <a:r>
              <a:rPr lang="fr-FR" altLang="fr-FR" sz="1600" b="1">
                <a:solidFill>
                  <a:srgbClr val="228B22"/>
                </a:solidFill>
                <a:latin typeface="Courier New" panose="02070309020205020404" pitchFamily="49" charset="0"/>
              </a:rPr>
              <a:t> % Initialisation : CAL a gauche</a:t>
            </a:r>
            <a:endParaRPr lang="fr-FR" altLang="fr-FR" sz="1600"/>
          </a:p>
          <a:p>
            <a:pPr eaLnBrk="1" hangingPunct="1"/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fr-FR" altLang="fr-FR" sz="1600" b="1">
                <a:solidFill>
                  <a:srgbClr val="0000FF"/>
                </a:solidFill>
                <a:latin typeface="Courier New" panose="02070309020205020404" pitchFamily="49" charset="0"/>
              </a:rPr>
              <a:t>if</a:t>
            </a:r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</a:rPr>
              <a:t> phys.type_cl_gauche==</a:t>
            </a:r>
            <a:r>
              <a:rPr lang="fr-FR" altLang="fr-FR" sz="1600" b="1">
                <a:solidFill>
                  <a:srgbClr val="A020F0"/>
                </a:solidFill>
                <a:latin typeface="Courier New" panose="02070309020205020404" pitchFamily="49" charset="0"/>
              </a:rPr>
              <a:t>'DIRICHLET'</a:t>
            </a:r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</a:rPr>
              <a:t>     </a:t>
            </a:r>
            <a:endParaRPr lang="fr-FR" altLang="fr-FR" sz="1600"/>
          </a:p>
          <a:p>
            <a:pPr eaLnBrk="1" hangingPunct="1"/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</a:rPr>
              <a:t>        </a:t>
            </a:r>
            <a:r>
              <a:rPr lang="fr-FR" altLang="fr-FR" sz="1600" b="1">
                <a:solidFill>
                  <a:srgbClr val="228B22"/>
                </a:solidFill>
                <a:latin typeface="Courier New" panose="02070309020205020404" pitchFamily="49" charset="0"/>
              </a:rPr>
              <a:t>% CAL de Dirichlet</a:t>
            </a:r>
            <a:endParaRPr lang="fr-FR" altLang="fr-FR" sz="1600"/>
          </a:p>
          <a:p>
            <a:pPr eaLnBrk="1" hangingPunct="1"/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</a:rPr>
              <a:t>        x(1)=0;</a:t>
            </a:r>
            <a:endParaRPr lang="fr-FR" altLang="fr-FR" sz="1600"/>
          </a:p>
          <a:p>
            <a:pPr eaLnBrk="1" hangingPunct="1"/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</a:rPr>
              <a:t>        A(1, 1)=1;</a:t>
            </a:r>
            <a:endParaRPr lang="fr-FR" altLang="fr-FR" sz="1600"/>
          </a:p>
          <a:p>
            <a:pPr eaLnBrk="1" hangingPunct="1"/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</a:rPr>
              <a:t>        b(1)=phys.Tdg;</a:t>
            </a:r>
            <a:endParaRPr lang="fr-FR" altLang="fr-FR" sz="1600"/>
          </a:p>
          <a:p>
            <a:pPr eaLnBrk="1" hangingPunct="1"/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fr-FR" altLang="fr-FR" sz="1600" b="1">
                <a:solidFill>
                  <a:srgbClr val="0000FF"/>
                </a:solidFill>
                <a:latin typeface="Courier New" panose="02070309020205020404" pitchFamily="49" charset="0"/>
              </a:rPr>
              <a:t>else</a:t>
            </a:r>
            <a:endParaRPr lang="fr-FR" altLang="fr-FR" sz="1600"/>
          </a:p>
          <a:p>
            <a:pPr eaLnBrk="1" hangingPunct="1"/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</a:rPr>
              <a:t>        </a:t>
            </a:r>
            <a:r>
              <a:rPr lang="fr-FR" altLang="fr-FR" sz="1600" b="1">
                <a:solidFill>
                  <a:srgbClr val="228B22"/>
                </a:solidFill>
                <a:latin typeface="Courier New" panose="02070309020205020404" pitchFamily="49" charset="0"/>
              </a:rPr>
              <a:t>% CAL de Neumann</a:t>
            </a:r>
            <a:endParaRPr lang="fr-FR" altLang="fr-FR" sz="1600"/>
          </a:p>
          <a:p>
            <a:pPr eaLnBrk="1" hangingPunct="1"/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</a:rPr>
              <a:t>        hg=phys.hg;</a:t>
            </a:r>
            <a:endParaRPr lang="fr-FR" altLang="fr-FR" sz="1600"/>
          </a:p>
          <a:p>
            <a:pPr eaLnBrk="1" hangingPunct="1"/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</a:rPr>
              <a:t>        Tag=phys.Tag;  </a:t>
            </a:r>
            <a:endParaRPr lang="fr-FR" altLang="fr-FR" sz="1600"/>
          </a:p>
          <a:p>
            <a:pPr eaLnBrk="1" hangingPunct="1"/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fr-FR" altLang="fr-FR" sz="1600"/>
          </a:p>
          <a:p>
            <a:pPr eaLnBrk="1" hangingPunct="1"/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</a:rPr>
              <a:t>        x(1)=0;</a:t>
            </a:r>
            <a:endParaRPr lang="fr-FR" altLang="fr-FR" sz="1600"/>
          </a:p>
          <a:p>
            <a:pPr eaLnBrk="1" hangingPunct="1"/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</a:rPr>
              <a:t>        A(1, 1)= </a:t>
            </a:r>
            <a:endParaRPr lang="fr-FR" altLang="fr-FR" sz="1600"/>
          </a:p>
          <a:p>
            <a:pPr eaLnBrk="1" hangingPunct="1"/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</a:rPr>
              <a:t>        A(1, 2)=</a:t>
            </a:r>
            <a:endParaRPr lang="fr-FR" altLang="fr-FR" sz="1600"/>
          </a:p>
          <a:p>
            <a:pPr eaLnBrk="1" hangingPunct="1"/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fr-FR" altLang="fr-FR" sz="1600"/>
          </a:p>
          <a:p>
            <a:pPr eaLnBrk="1" hangingPunct="1"/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</a:rPr>
              <a:t>        b(1)=</a:t>
            </a:r>
          </a:p>
          <a:p>
            <a:pPr eaLnBrk="1" hangingPunct="1"/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fr-FR" altLang="fr-FR" sz="1600" b="1">
                <a:solidFill>
                  <a:srgbClr val="0000FF"/>
                </a:solidFill>
                <a:latin typeface="Courier New" panose="02070309020205020404" pitchFamily="49" charset="0"/>
              </a:rPr>
              <a:t>end</a:t>
            </a:r>
            <a:endParaRPr lang="fr-FR" altLang="fr-FR" sz="1600"/>
          </a:p>
          <a:p>
            <a:pPr eaLnBrk="1" hangingPunct="1"/>
            <a:endParaRPr lang="fr-FR" altLang="fr-FR" sz="160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Text Box 4"/>
          <p:cNvSpPr txBox="1">
            <a:spLocks noChangeArrowheads="1"/>
          </p:cNvSpPr>
          <p:nvPr/>
        </p:nvSpPr>
        <p:spPr bwMode="auto">
          <a:xfrm>
            <a:off x="196850" y="163513"/>
            <a:ext cx="55292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2000" b="1">
                <a:solidFill>
                  <a:schemeClr val="accent2"/>
                </a:solidFill>
              </a:rPr>
              <a:t>Conditions aux limites de Neumann à droite</a:t>
            </a:r>
          </a:p>
        </p:txBody>
      </p:sp>
      <p:sp>
        <p:nvSpPr>
          <p:cNvPr id="27650" name="Rectangle 23"/>
          <p:cNvSpPr>
            <a:spLocks noChangeArrowheads="1"/>
          </p:cNvSpPr>
          <p:nvPr/>
        </p:nvSpPr>
        <p:spPr bwMode="auto">
          <a:xfrm>
            <a:off x="0" y="33004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/>
          </a:p>
        </p:txBody>
      </p:sp>
      <p:sp>
        <p:nvSpPr>
          <p:cNvPr id="27651" name="Rectangle 25"/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/>
          </a:p>
        </p:txBody>
      </p:sp>
      <p:graphicFrame>
        <p:nvGraphicFramePr>
          <p:cNvPr id="27652" name="Object 37"/>
          <p:cNvGraphicFramePr>
            <a:graphicFrameLocks noChangeAspect="1"/>
          </p:cNvGraphicFramePr>
          <p:nvPr/>
        </p:nvGraphicFramePr>
        <p:xfrm>
          <a:off x="3394075" y="584200"/>
          <a:ext cx="3698875" cy="1463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06" name="Equation" r:id="rId3" imgW="2324100" imgH="914400" progId="Equation.DSMT4">
                  <p:embed/>
                </p:oleObj>
              </mc:Choice>
              <mc:Fallback>
                <p:oleObj name="Equation" r:id="rId3" imgW="2324100" imgH="914400" progId="Equation.DSMT4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94075" y="584200"/>
                        <a:ext cx="3698875" cy="1463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3" name="Text Box 48"/>
          <p:cNvSpPr txBox="1">
            <a:spLocks noChangeArrowheads="1"/>
          </p:cNvSpPr>
          <p:nvPr/>
        </p:nvSpPr>
        <p:spPr bwMode="auto">
          <a:xfrm>
            <a:off x="395288" y="2205038"/>
            <a:ext cx="6775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forme discrétisée de l</a:t>
            </a:r>
            <a:r>
              <a:rPr lang="ja-JP" altLang="fr-FR" sz="1800"/>
              <a:t>’</a:t>
            </a:r>
            <a:r>
              <a:rPr lang="fr-FR" altLang="ja-JP" sz="1800"/>
              <a:t>équation de la chaleur  modifiée en surface</a:t>
            </a:r>
            <a:endParaRPr lang="fr-FR" altLang="en-US" sz="1800"/>
          </a:p>
        </p:txBody>
      </p:sp>
      <p:sp>
        <p:nvSpPr>
          <p:cNvPr id="27654" name="Rectangle 50"/>
          <p:cNvSpPr>
            <a:spLocks noChangeArrowheads="1"/>
          </p:cNvSpPr>
          <p:nvPr/>
        </p:nvSpPr>
        <p:spPr bwMode="auto">
          <a:xfrm>
            <a:off x="0" y="31289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/>
          </a:p>
        </p:txBody>
      </p:sp>
      <p:graphicFrame>
        <p:nvGraphicFramePr>
          <p:cNvPr id="27655" name="Object 49"/>
          <p:cNvGraphicFramePr>
            <a:graphicFrameLocks noChangeAspect="1"/>
          </p:cNvGraphicFramePr>
          <p:nvPr/>
        </p:nvGraphicFramePr>
        <p:xfrm>
          <a:off x="395288" y="2636838"/>
          <a:ext cx="4243387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07" name="Equation" r:id="rId5" imgW="2374900" imgH="508000" progId="Equation.3">
                  <p:embed/>
                </p:oleObj>
              </mc:Choice>
              <mc:Fallback>
                <p:oleObj name="Equation" r:id="rId5" imgW="2374900" imgH="508000" progId="Equation.3">
                  <p:embed/>
                  <p:pic>
                    <p:nvPicPr>
                      <p:cNvPr id="0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2636838"/>
                        <a:ext cx="4243387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6" name="Text Box 51"/>
          <p:cNvSpPr txBox="1">
            <a:spLocks noChangeArrowheads="1"/>
          </p:cNvSpPr>
          <p:nvPr/>
        </p:nvSpPr>
        <p:spPr bwMode="auto">
          <a:xfrm>
            <a:off x="4781550" y="2787650"/>
            <a:ext cx="43624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A partir du D.L. et de l</a:t>
            </a:r>
            <a:r>
              <a:rPr lang="ja-JP" altLang="fr-FR" sz="1800"/>
              <a:t>’</a:t>
            </a:r>
            <a:r>
              <a:rPr lang="fr-FR" altLang="ja-JP" sz="1800"/>
              <a:t>expression du flux,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la dérivée seconde au nœud N s</a:t>
            </a:r>
            <a:r>
              <a:rPr lang="ja-JP" altLang="fr-FR" sz="1800"/>
              <a:t>’</a:t>
            </a:r>
            <a:r>
              <a:rPr lang="fr-FR" altLang="ja-JP" sz="1800"/>
              <a:t>écrit  </a:t>
            </a:r>
            <a:endParaRPr lang="fr-FR" altLang="en-US" sz="1800"/>
          </a:p>
        </p:txBody>
      </p:sp>
      <p:sp>
        <p:nvSpPr>
          <p:cNvPr id="27657" name="Rectangle 53"/>
          <p:cNvSpPr>
            <a:spLocks noChangeArrowheads="1"/>
          </p:cNvSpPr>
          <p:nvPr/>
        </p:nvSpPr>
        <p:spPr bwMode="auto">
          <a:xfrm>
            <a:off x="0" y="31242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/>
          </a:p>
        </p:txBody>
      </p:sp>
      <p:graphicFrame>
        <p:nvGraphicFramePr>
          <p:cNvPr id="27658" name="Object 5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0269450"/>
              </p:ext>
            </p:extLst>
          </p:nvPr>
        </p:nvGraphicFramePr>
        <p:xfrm>
          <a:off x="404560" y="3744912"/>
          <a:ext cx="1074737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08" name="Equation" r:id="rId7" imgW="596880" imgH="507960" progId="Equation.DSMT4">
                  <p:embed/>
                </p:oleObj>
              </mc:Choice>
              <mc:Fallback>
                <p:oleObj name="Equation" r:id="rId7" imgW="596880" imgH="507960" progId="Equation.DSMT4">
                  <p:embed/>
                  <p:pic>
                    <p:nvPicPr>
                      <p:cNvPr id="0" name="Object 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4560" y="3744912"/>
                        <a:ext cx="1074737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9" name="Rectangle 55"/>
          <p:cNvSpPr>
            <a:spLocks noChangeArrowheads="1"/>
          </p:cNvSpPr>
          <p:nvPr/>
        </p:nvSpPr>
        <p:spPr bwMode="auto">
          <a:xfrm>
            <a:off x="0" y="31956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/>
          </a:p>
        </p:txBody>
      </p:sp>
      <p:sp>
        <p:nvSpPr>
          <p:cNvPr id="27661" name="Rectangle 57"/>
          <p:cNvSpPr>
            <a:spLocks noChangeArrowheads="1"/>
          </p:cNvSpPr>
          <p:nvPr/>
        </p:nvSpPr>
        <p:spPr bwMode="auto">
          <a:xfrm>
            <a:off x="0" y="31861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/>
          </a:p>
        </p:txBody>
      </p:sp>
      <p:sp>
        <p:nvSpPr>
          <p:cNvPr id="27662" name="Text Box 58"/>
          <p:cNvSpPr txBox="1">
            <a:spLocks noChangeArrowheads="1"/>
          </p:cNvSpPr>
          <p:nvPr/>
        </p:nvSpPr>
        <p:spPr bwMode="auto">
          <a:xfrm>
            <a:off x="447675" y="4933950"/>
            <a:ext cx="6540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D</a:t>
            </a:r>
            <a:r>
              <a:rPr lang="ja-JP" altLang="fr-FR" sz="1800"/>
              <a:t>’</a:t>
            </a:r>
            <a:r>
              <a:rPr lang="fr-FR" altLang="ja-JP" sz="1800"/>
              <a:t>où</a:t>
            </a:r>
            <a:endParaRPr lang="fr-FR" altLang="en-US" sz="1800"/>
          </a:p>
        </p:txBody>
      </p:sp>
      <p:sp>
        <p:nvSpPr>
          <p:cNvPr id="27663" name="Text Box 59"/>
          <p:cNvSpPr txBox="1">
            <a:spLocks noChangeArrowheads="1"/>
          </p:cNvSpPr>
          <p:nvPr/>
        </p:nvSpPr>
        <p:spPr bwMode="auto">
          <a:xfrm>
            <a:off x="323850" y="5516563"/>
            <a:ext cx="18605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Autrement écrit :</a:t>
            </a:r>
          </a:p>
        </p:txBody>
      </p:sp>
      <p:grpSp>
        <p:nvGrpSpPr>
          <p:cNvPr id="27664" name="Group 64"/>
          <p:cNvGrpSpPr>
            <a:grpSpLocks/>
          </p:cNvGrpSpPr>
          <p:nvPr/>
        </p:nvGrpSpPr>
        <p:grpSpPr bwMode="auto">
          <a:xfrm>
            <a:off x="1593850" y="1268413"/>
            <a:ext cx="1755775" cy="792162"/>
            <a:chOff x="3651" y="742"/>
            <a:chExt cx="1106" cy="499"/>
          </a:xfrm>
        </p:grpSpPr>
        <p:sp>
          <p:nvSpPr>
            <p:cNvPr id="27667" name="Line 39"/>
            <p:cNvSpPr>
              <a:spLocks noChangeShapeType="1"/>
            </p:cNvSpPr>
            <p:nvPr/>
          </p:nvSpPr>
          <p:spPr bwMode="auto">
            <a:xfrm>
              <a:off x="4150" y="1015"/>
              <a:ext cx="498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7668" name="Line 40"/>
            <p:cNvSpPr>
              <a:spLocks noChangeShapeType="1"/>
            </p:cNvSpPr>
            <p:nvPr/>
          </p:nvSpPr>
          <p:spPr bwMode="auto">
            <a:xfrm flipV="1">
              <a:off x="4149" y="788"/>
              <a:ext cx="0" cy="45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7669" name="Text Box 41"/>
            <p:cNvSpPr txBox="1">
              <a:spLocks noChangeArrowheads="1"/>
            </p:cNvSpPr>
            <p:nvPr/>
          </p:nvSpPr>
          <p:spPr bwMode="auto">
            <a:xfrm>
              <a:off x="3832" y="742"/>
              <a:ext cx="273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fr-FR" altLang="fr-FR"/>
                <a:t>T</a:t>
              </a:r>
              <a:r>
                <a:rPr lang="fr-FR" altLang="fr-FR" baseline="-25000"/>
                <a:t>N</a:t>
              </a:r>
            </a:p>
          </p:txBody>
        </p:sp>
        <p:sp>
          <p:nvSpPr>
            <p:cNvPr id="27670" name="Text Box 42"/>
            <p:cNvSpPr txBox="1">
              <a:spLocks noChangeArrowheads="1"/>
            </p:cNvSpPr>
            <p:nvPr/>
          </p:nvSpPr>
          <p:spPr bwMode="auto">
            <a:xfrm>
              <a:off x="4500" y="750"/>
              <a:ext cx="257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fr-FR" altLang="fr-FR"/>
                <a:t>T</a:t>
              </a:r>
              <a:r>
                <a:rPr lang="fr-FR" altLang="fr-FR" baseline="-25000"/>
                <a:t>a</a:t>
              </a:r>
              <a:endParaRPr lang="fr-FR" altLang="fr-FR"/>
            </a:p>
          </p:txBody>
        </p:sp>
        <p:sp>
          <p:nvSpPr>
            <p:cNvPr id="27671" name="Text Box 43"/>
            <p:cNvSpPr txBox="1">
              <a:spLocks noChangeArrowheads="1"/>
            </p:cNvSpPr>
            <p:nvPr/>
          </p:nvSpPr>
          <p:spPr bwMode="auto">
            <a:xfrm>
              <a:off x="4136" y="793"/>
              <a:ext cx="20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fr-FR" altLang="fr-FR" b="1">
                  <a:solidFill>
                    <a:srgbClr val="FF0000"/>
                  </a:solidFill>
                </a:rPr>
                <a:t>n</a:t>
              </a:r>
            </a:p>
          </p:txBody>
        </p:sp>
        <p:sp>
          <p:nvSpPr>
            <p:cNvPr id="27672" name="Line 60"/>
            <p:cNvSpPr>
              <a:spLocks noChangeShapeType="1"/>
            </p:cNvSpPr>
            <p:nvPr/>
          </p:nvSpPr>
          <p:spPr bwMode="auto">
            <a:xfrm flipH="1">
              <a:off x="3651" y="1015"/>
              <a:ext cx="49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27665" name="Text Box 65"/>
          <p:cNvSpPr txBox="1">
            <a:spLocks noChangeArrowheads="1"/>
          </p:cNvSpPr>
          <p:nvPr/>
        </p:nvSpPr>
        <p:spPr bwMode="auto">
          <a:xfrm>
            <a:off x="1522413" y="685800"/>
            <a:ext cx="13176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buFontTx/>
              <a:buChar char="•"/>
            </a:pPr>
            <a:r>
              <a:rPr lang="fr-FR" altLang="fr-FR"/>
              <a:t> Neumann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673" name="Object 7"/>
          <p:cNvGraphicFramePr>
            <a:graphicFrameLocks noChangeAspect="1"/>
          </p:cNvGraphicFramePr>
          <p:nvPr/>
        </p:nvGraphicFramePr>
        <p:xfrm>
          <a:off x="468313" y="620713"/>
          <a:ext cx="7920037" cy="949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90" name="Equation" r:id="rId3" imgW="3987800" imgH="482600" progId="Equation.3">
                  <p:embed/>
                </p:oleObj>
              </mc:Choice>
              <mc:Fallback>
                <p:oleObj name="Equation" r:id="rId3" imgW="3987800" imgH="4826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620713"/>
                        <a:ext cx="7920037" cy="949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74" name="Rectangle 8"/>
          <p:cNvSpPr>
            <a:spLocks noChangeArrowheads="1"/>
          </p:cNvSpPr>
          <p:nvPr/>
        </p:nvSpPr>
        <p:spPr bwMode="auto">
          <a:xfrm>
            <a:off x="2339975" y="469900"/>
            <a:ext cx="2663825" cy="10795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/>
          </a:p>
        </p:txBody>
      </p:sp>
      <p:sp>
        <p:nvSpPr>
          <p:cNvPr id="28675" name="Rectangle 9"/>
          <p:cNvSpPr>
            <a:spLocks noChangeArrowheads="1"/>
          </p:cNvSpPr>
          <p:nvPr/>
        </p:nvSpPr>
        <p:spPr bwMode="auto">
          <a:xfrm>
            <a:off x="179388" y="469900"/>
            <a:ext cx="1368425" cy="10795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/>
          </a:p>
        </p:txBody>
      </p:sp>
      <p:sp>
        <p:nvSpPr>
          <p:cNvPr id="28676" name="Rectangle 10"/>
          <p:cNvSpPr>
            <a:spLocks noChangeArrowheads="1"/>
          </p:cNvSpPr>
          <p:nvPr/>
        </p:nvSpPr>
        <p:spPr bwMode="auto">
          <a:xfrm>
            <a:off x="5795963" y="469900"/>
            <a:ext cx="2663825" cy="10795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/>
          </a:p>
        </p:txBody>
      </p:sp>
      <p:sp>
        <p:nvSpPr>
          <p:cNvPr id="28677" name="Text Box 11"/>
          <p:cNvSpPr txBox="1">
            <a:spLocks noChangeArrowheads="1"/>
          </p:cNvSpPr>
          <p:nvPr/>
        </p:nvSpPr>
        <p:spPr bwMode="auto">
          <a:xfrm>
            <a:off x="3348038" y="1622425"/>
            <a:ext cx="100806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fr-FR" altLang="fr-FR" b="1">
                <a:solidFill>
                  <a:srgbClr val="FF0000"/>
                </a:solidFill>
              </a:rPr>
              <a:t>A(N,N)</a:t>
            </a:r>
          </a:p>
        </p:txBody>
      </p:sp>
      <p:sp>
        <p:nvSpPr>
          <p:cNvPr id="28678" name="Text Box 12"/>
          <p:cNvSpPr txBox="1">
            <a:spLocks noChangeArrowheads="1"/>
          </p:cNvSpPr>
          <p:nvPr/>
        </p:nvSpPr>
        <p:spPr bwMode="auto">
          <a:xfrm>
            <a:off x="468313" y="1622425"/>
            <a:ext cx="143986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fr-FR" altLang="fr-FR" b="1">
                <a:solidFill>
                  <a:srgbClr val="FF0000"/>
                </a:solidFill>
              </a:rPr>
              <a:t>A(N, N-1)</a:t>
            </a:r>
          </a:p>
        </p:txBody>
      </p:sp>
      <p:sp>
        <p:nvSpPr>
          <p:cNvPr id="28679" name="Text Box 13"/>
          <p:cNvSpPr txBox="1">
            <a:spLocks noChangeArrowheads="1"/>
          </p:cNvSpPr>
          <p:nvPr/>
        </p:nvSpPr>
        <p:spPr bwMode="auto">
          <a:xfrm>
            <a:off x="6804025" y="1622425"/>
            <a:ext cx="9366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fr-FR" altLang="fr-FR" b="1">
                <a:solidFill>
                  <a:srgbClr val="FF0000"/>
                </a:solidFill>
              </a:rPr>
              <a:t>b(N)</a:t>
            </a:r>
          </a:p>
        </p:txBody>
      </p:sp>
      <p:sp>
        <p:nvSpPr>
          <p:cNvPr id="28680" name="Text Box 15"/>
          <p:cNvSpPr txBox="1">
            <a:spLocks noChangeArrowheads="1"/>
          </p:cNvSpPr>
          <p:nvPr/>
        </p:nvSpPr>
        <p:spPr bwMode="auto">
          <a:xfrm>
            <a:off x="230188" y="2276475"/>
            <a:ext cx="5245100" cy="452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600"/>
              <a:t> </a:t>
            </a:r>
            <a:r>
              <a:rPr lang="fr-FR" altLang="fr-FR" sz="1600" b="1">
                <a:solidFill>
                  <a:srgbClr val="228B22"/>
                </a:solidFill>
                <a:latin typeface="Courier New" panose="02070309020205020404" pitchFamily="49" charset="0"/>
              </a:rPr>
              <a:t> % Initialisation : CAL a droite</a:t>
            </a:r>
            <a:endParaRPr lang="fr-FR" altLang="fr-FR" sz="1600"/>
          </a:p>
          <a:p>
            <a:pPr eaLnBrk="1" hangingPunct="1"/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fr-FR" altLang="fr-FR" sz="1600" b="1">
                <a:solidFill>
                  <a:srgbClr val="0000FF"/>
                </a:solidFill>
                <a:latin typeface="Courier New" panose="02070309020205020404" pitchFamily="49" charset="0"/>
              </a:rPr>
              <a:t>if</a:t>
            </a:r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</a:rPr>
              <a:t> phys.type_cl_droite==</a:t>
            </a:r>
            <a:r>
              <a:rPr lang="fr-FR" altLang="fr-FR" sz="1600" b="1">
                <a:solidFill>
                  <a:srgbClr val="A020F0"/>
                </a:solidFill>
                <a:latin typeface="Courier New" panose="02070309020205020404" pitchFamily="49" charset="0"/>
              </a:rPr>
              <a:t>'DIRICHLET'</a:t>
            </a:r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</a:rPr>
              <a:t>  </a:t>
            </a:r>
            <a:endParaRPr lang="fr-FR" altLang="fr-FR" sz="1600"/>
          </a:p>
          <a:p>
            <a:pPr eaLnBrk="1" hangingPunct="1"/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</a:rPr>
              <a:t>        </a:t>
            </a:r>
            <a:r>
              <a:rPr lang="fr-FR" altLang="fr-FR" sz="1600" b="1">
                <a:solidFill>
                  <a:srgbClr val="228B22"/>
                </a:solidFill>
                <a:latin typeface="Courier New" panose="02070309020205020404" pitchFamily="49" charset="0"/>
              </a:rPr>
              <a:t>% CAL de Dirichlet</a:t>
            </a:r>
            <a:endParaRPr lang="fr-FR" altLang="fr-FR" sz="1600"/>
          </a:p>
          <a:p>
            <a:pPr eaLnBrk="1" hangingPunct="1"/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</a:rPr>
              <a:t>        x(N)=(N-1)*deltax;</a:t>
            </a:r>
            <a:endParaRPr lang="fr-FR" altLang="fr-FR" sz="1600"/>
          </a:p>
          <a:p>
            <a:pPr eaLnBrk="1" hangingPunct="1"/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</a:rPr>
              <a:t>        A(N, N)=1;</a:t>
            </a:r>
            <a:endParaRPr lang="fr-FR" altLang="fr-FR" sz="1600"/>
          </a:p>
          <a:p>
            <a:pPr eaLnBrk="1" hangingPunct="1"/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</a:rPr>
              <a:t>        </a:t>
            </a:r>
            <a:endParaRPr lang="fr-FR" altLang="fr-FR" sz="1600"/>
          </a:p>
          <a:p>
            <a:pPr eaLnBrk="1" hangingPunct="1"/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</a:rPr>
              <a:t>        b(N)=phys.Tdd;</a:t>
            </a:r>
            <a:endParaRPr lang="fr-FR" altLang="fr-FR" sz="1600"/>
          </a:p>
          <a:p>
            <a:pPr eaLnBrk="1" hangingPunct="1"/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fr-FR" altLang="fr-FR" sz="1600" b="1">
                <a:solidFill>
                  <a:srgbClr val="0000FF"/>
                </a:solidFill>
                <a:latin typeface="Courier New" panose="02070309020205020404" pitchFamily="49" charset="0"/>
              </a:rPr>
              <a:t>else</a:t>
            </a:r>
            <a:endParaRPr lang="fr-FR" altLang="fr-FR" sz="1600"/>
          </a:p>
          <a:p>
            <a:pPr eaLnBrk="1" hangingPunct="1"/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</a:rPr>
              <a:t>        </a:t>
            </a:r>
            <a:r>
              <a:rPr lang="fr-FR" altLang="fr-FR" sz="1600" b="1">
                <a:solidFill>
                  <a:srgbClr val="228B22"/>
                </a:solidFill>
                <a:latin typeface="Courier New" panose="02070309020205020404" pitchFamily="49" charset="0"/>
              </a:rPr>
              <a:t>% CAL de Neumann</a:t>
            </a:r>
            <a:endParaRPr lang="fr-FR" altLang="fr-FR" sz="1600"/>
          </a:p>
          <a:p>
            <a:pPr eaLnBrk="1" hangingPunct="1"/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</a:rPr>
              <a:t>        hd=phys.hd;</a:t>
            </a:r>
            <a:endParaRPr lang="fr-FR" altLang="fr-FR" sz="1600"/>
          </a:p>
          <a:p>
            <a:pPr eaLnBrk="1" hangingPunct="1"/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</a:rPr>
              <a:t>        Tad=phys.Tad;</a:t>
            </a:r>
            <a:endParaRPr lang="fr-FR" altLang="fr-FR" sz="1600"/>
          </a:p>
          <a:p>
            <a:pPr eaLnBrk="1" hangingPunct="1"/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</a:rPr>
              <a:t>        x(N)=(N-1)*deltax;</a:t>
            </a:r>
            <a:endParaRPr lang="fr-FR" altLang="fr-FR" sz="1600"/>
          </a:p>
          <a:p>
            <a:pPr eaLnBrk="1" hangingPunct="1"/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</a:rPr>
              <a:t>        </a:t>
            </a:r>
            <a:endParaRPr lang="fr-FR" altLang="fr-FR" sz="1600"/>
          </a:p>
          <a:p>
            <a:pPr eaLnBrk="1" hangingPunct="1"/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</a:rPr>
              <a:t>        A(N, N-1)=</a:t>
            </a:r>
          </a:p>
          <a:p>
            <a:pPr eaLnBrk="1" hangingPunct="1"/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</a:rPr>
              <a:t>        A(N, N  )=</a:t>
            </a:r>
            <a:endParaRPr lang="fr-FR" altLang="fr-FR" sz="1600"/>
          </a:p>
          <a:p>
            <a:pPr eaLnBrk="1" hangingPunct="1"/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</a:rPr>
              <a:t>        </a:t>
            </a:r>
            <a:endParaRPr lang="fr-FR" altLang="fr-FR" sz="1600"/>
          </a:p>
          <a:p>
            <a:pPr eaLnBrk="1" hangingPunct="1"/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</a:rPr>
              <a:t>        b(N)=</a:t>
            </a:r>
            <a:endParaRPr lang="fr-FR" altLang="fr-FR" sz="1600"/>
          </a:p>
          <a:p>
            <a:pPr eaLnBrk="1" hangingPunct="1"/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fr-FR" altLang="fr-FR" sz="1600" b="1">
                <a:solidFill>
                  <a:srgbClr val="0000FF"/>
                </a:solidFill>
                <a:latin typeface="Courier New" panose="02070309020205020404" pitchFamily="49" charset="0"/>
              </a:rPr>
              <a:t>end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odèle par défaut">
  <a:themeElements>
    <a:clrScheme name="Modèle par défau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Modèle par défaut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Modèle par défau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863</Words>
  <Application>Microsoft Office PowerPoint</Application>
  <PresentationFormat>Affichage à l'écran (4:3)</PresentationFormat>
  <Paragraphs>190</Paragraphs>
  <Slides>16</Slides>
  <Notes>1</Notes>
  <HiddenSlides>0</HiddenSlides>
  <MMClips>0</MMClips>
  <ScaleCrop>false</ScaleCrop>
  <HeadingPairs>
    <vt:vector size="8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Serveurs OLE incorporés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24" baseType="lpstr">
      <vt:lpstr>ＭＳ Ｐゴシック</vt:lpstr>
      <vt:lpstr>ＭＳ Ｐゴシック</vt:lpstr>
      <vt:lpstr>Arial</vt:lpstr>
      <vt:lpstr>Courier New</vt:lpstr>
      <vt:lpstr>Symbol</vt:lpstr>
      <vt:lpstr>Wingdings</vt:lpstr>
      <vt:lpstr>Modèle par défaut</vt:lpstr>
      <vt:lpstr>Equation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jean-christophe toussaint</cp:lastModifiedBy>
  <cp:revision>12</cp:revision>
  <dcterms:created xsi:type="dcterms:W3CDTF">2018-05-20T14:13:36Z</dcterms:created>
  <dcterms:modified xsi:type="dcterms:W3CDTF">2020-10-13T11:35:22Z</dcterms:modified>
</cp:coreProperties>
</file>