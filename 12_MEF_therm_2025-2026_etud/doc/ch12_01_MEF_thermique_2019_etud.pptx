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93" r:id="rId4"/>
    <p:sldId id="259" r:id="rId5"/>
    <p:sldId id="277" r:id="rId6"/>
    <p:sldId id="278" r:id="rId7"/>
    <p:sldId id="268" r:id="rId8"/>
    <p:sldId id="267" r:id="rId9"/>
    <p:sldId id="270" r:id="rId10"/>
    <p:sldId id="279" r:id="rId11"/>
    <p:sldId id="280" r:id="rId12"/>
    <p:sldId id="281" r:id="rId13"/>
    <p:sldId id="282" r:id="rId14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CC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501" autoAdjust="0"/>
  </p:normalViewPr>
  <p:slideViewPr>
    <p:cSldViewPr>
      <p:cViewPr varScale="1">
        <p:scale>
          <a:sx n="88" d="100"/>
          <a:sy n="88" d="100"/>
        </p:scale>
        <p:origin x="130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emf"/><Relationship Id="rId1" Type="http://schemas.openxmlformats.org/officeDocument/2006/relationships/image" Target="../media/image6.wmf"/><Relationship Id="rId6" Type="http://schemas.openxmlformats.org/officeDocument/2006/relationships/image" Target="../media/image11.emf"/><Relationship Id="rId5" Type="http://schemas.openxmlformats.org/officeDocument/2006/relationships/image" Target="../media/image10.w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7" rIns="99034" bIns="49517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7" rIns="99034" bIns="49517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7" rIns="99034" bIns="49517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7" rIns="99034" bIns="49517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631C8169-3D27-48C3-BC64-80AC29E68709}" type="slidenum">
              <a:rPr lang="en-US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4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088" y="0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D10D7-875E-47C3-8A6D-D37EBC596CDA}" type="datetimeFigureOut">
              <a:rPr lang="fr-FR" smtClean="0"/>
              <a:t>10/12/2020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39" y="4861781"/>
            <a:ext cx="5678824" cy="4604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68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088" y="9721868"/>
            <a:ext cx="3076672" cy="511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5D30C-B05A-4D98-9259-08C4B791C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793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578B3-F8AE-463F-A63D-9E66B4FEEF32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C764E-EE18-4A1D-AC2F-BC1531613ABA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3AF98-86EF-4ED1-9E03-A7742B65A035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CA86B-AA31-4E4B-B883-D9BF516ECCCA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621624-A377-47E6-8D1B-143BE1AC60CF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9AE692-01ED-43AD-8A7D-02422C1752B8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B96987D-83DD-43F3-A1C1-2053BEE140A1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0A41F-2663-4DE6-A2A7-6E4BD2C1C79A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3E808-AEB5-4F8D-80ED-CE4BA651BC5E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2DE8A-5019-499E-A10E-331330934294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ACE07-E392-437B-9EE3-180DAC69DCEE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3EC3B6-9F75-45E0-8C27-97B18CA5320F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e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9.e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Espace réservé du numéro de diapositive 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450"/>
            <a:ext cx="8370888" cy="1143000"/>
          </a:xfrm>
        </p:spPr>
        <p:txBody>
          <a:bodyPr/>
          <a:lstStyle/>
          <a:p>
            <a:r>
              <a:rPr lang="fr-FR" sz="2400">
                <a:solidFill>
                  <a:schemeClr val="tx1"/>
                </a:solidFill>
              </a:rPr>
              <a:t>Equation de la thermique statique avec source de chaleur</a:t>
            </a:r>
            <a:br>
              <a:rPr lang="fr-FR" sz="2400">
                <a:solidFill>
                  <a:schemeClr val="tx1"/>
                </a:solidFill>
              </a:rPr>
            </a:br>
            <a:endParaRPr lang="fr-FR" sz="2400">
              <a:solidFill>
                <a:schemeClr val="tx1"/>
              </a:solidFill>
            </a:endParaRPr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2563813" y="1557338"/>
          <a:ext cx="21828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Equation" r:id="rId3" imgW="1091880" imgH="482400" progId="Equation.DSMT4">
                  <p:embed/>
                </p:oleObj>
              </mc:Choice>
              <mc:Fallback>
                <p:oleObj name="Equation" r:id="rId3" imgW="1091880" imgH="482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1557338"/>
                        <a:ext cx="2182812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214601"/>
              </p:ext>
            </p:extLst>
          </p:nvPr>
        </p:nvGraphicFramePr>
        <p:xfrm>
          <a:off x="2713038" y="2763838"/>
          <a:ext cx="40862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Equation" r:id="rId5" imgW="2044440" imgH="368280" progId="Equation.DSMT4">
                  <p:embed/>
                </p:oleObj>
              </mc:Choice>
              <mc:Fallback>
                <p:oleObj name="Equation" r:id="rId5" imgW="2044440" imgH="3682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8" y="2763838"/>
                        <a:ext cx="4086225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1116013" y="2251075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400">
                <a:latin typeface="Times New Roman" pitchFamily="18" charset="0"/>
              </a:rPr>
              <a:t>Oz</a:t>
            </a:r>
          </a:p>
        </p:txBody>
      </p:sp>
      <p:grpSp>
        <p:nvGrpSpPr>
          <p:cNvPr id="3082" name="Group 10"/>
          <p:cNvGrpSpPr>
            <a:grpSpLocks/>
          </p:cNvGrpSpPr>
          <p:nvPr/>
        </p:nvGrpSpPr>
        <p:grpSpPr bwMode="auto">
          <a:xfrm>
            <a:off x="755650" y="2322513"/>
            <a:ext cx="381000" cy="381000"/>
            <a:chOff x="1200" y="2304"/>
            <a:chExt cx="240" cy="240"/>
          </a:xfrm>
        </p:grpSpPr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270" y="2379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00" y="2304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135" name="Group 63"/>
          <p:cNvGrpSpPr>
            <a:grpSpLocks/>
          </p:cNvGrpSpPr>
          <p:nvPr/>
        </p:nvGrpSpPr>
        <p:grpSpPr bwMode="auto">
          <a:xfrm>
            <a:off x="752475" y="908050"/>
            <a:ext cx="1443038" cy="1331913"/>
            <a:chOff x="383" y="434"/>
            <a:chExt cx="1248" cy="1152"/>
          </a:xfrm>
        </p:grpSpPr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>
              <a:off x="431" y="482"/>
              <a:ext cx="1152" cy="10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767" y="770"/>
              <a:ext cx="480" cy="48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5" name="Rectangle 13"/>
            <p:cNvSpPr>
              <a:spLocks noChangeArrowheads="1"/>
            </p:cNvSpPr>
            <p:nvPr/>
          </p:nvSpPr>
          <p:spPr bwMode="auto">
            <a:xfrm>
              <a:off x="383" y="434"/>
              <a:ext cx="1248" cy="1152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88" name="Text Box 16"/>
          <p:cNvSpPr txBox="1">
            <a:spLocks noChangeArrowheads="1"/>
          </p:cNvSpPr>
          <p:nvPr/>
        </p:nvSpPr>
        <p:spPr bwMode="auto">
          <a:xfrm>
            <a:off x="323850" y="2888109"/>
            <a:ext cx="22140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fr-FR" dirty="0">
                <a:latin typeface="+mn-lt"/>
              </a:rPr>
              <a:t> formulation faible :</a:t>
            </a:r>
          </a:p>
        </p:txBody>
      </p:sp>
      <p:graphicFrame>
        <p:nvGraphicFramePr>
          <p:cNvPr id="30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670136"/>
              </p:ext>
            </p:extLst>
          </p:nvPr>
        </p:nvGraphicFramePr>
        <p:xfrm>
          <a:off x="2003425" y="4162425"/>
          <a:ext cx="55324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Equation" r:id="rId7" imgW="2768600" imgH="381000" progId="Equation.DSMT4">
                  <p:embed/>
                </p:oleObj>
              </mc:Choice>
              <mc:Fallback>
                <p:oleObj name="Equation" r:id="rId7" imgW="2768600" imgH="38100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5" y="4162425"/>
                        <a:ext cx="553243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624796"/>
              </p:ext>
            </p:extLst>
          </p:nvPr>
        </p:nvGraphicFramePr>
        <p:xfrm>
          <a:off x="660400" y="5967413"/>
          <a:ext cx="67500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9" imgW="3378200" imgH="381000" progId="Equation.DSMT4">
                  <p:embed/>
                </p:oleObj>
              </mc:Choice>
              <mc:Fallback>
                <p:oleObj name="Equation" r:id="rId9" imgW="3378200" imgH="38100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5967413"/>
                        <a:ext cx="675005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Text Box 20"/>
          <p:cNvSpPr txBox="1">
            <a:spLocks noChangeArrowheads="1"/>
          </p:cNvSpPr>
          <p:nvPr/>
        </p:nvSpPr>
        <p:spPr bwMode="auto">
          <a:xfrm>
            <a:off x="323850" y="5157788"/>
            <a:ext cx="49007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fr-FR" sz="2400" dirty="0">
                <a:latin typeface="Times New Roman" pitchFamily="18" charset="0"/>
              </a:rPr>
              <a:t> </a:t>
            </a:r>
            <a:r>
              <a:rPr lang="fr-FR" sz="2000" dirty="0">
                <a:latin typeface="+mn-lt"/>
              </a:rPr>
              <a:t>conditions aux limites de type </a:t>
            </a:r>
            <a:r>
              <a:rPr lang="fr-FR" sz="2000" dirty="0" smtClean="0">
                <a:latin typeface="+mn-lt"/>
              </a:rPr>
              <a:t>Neumann</a:t>
            </a:r>
            <a:endParaRPr lang="fr-FR" sz="2000" dirty="0">
              <a:latin typeface="+mn-lt"/>
            </a:endParaRPr>
          </a:p>
        </p:txBody>
      </p:sp>
      <p:graphicFrame>
        <p:nvGraphicFramePr>
          <p:cNvPr id="309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89737"/>
              </p:ext>
            </p:extLst>
          </p:nvPr>
        </p:nvGraphicFramePr>
        <p:xfrm>
          <a:off x="5465763" y="5153025"/>
          <a:ext cx="2536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11" imgW="1269720" imgH="253800" progId="Equation.DSMT4">
                  <p:embed/>
                </p:oleObj>
              </mc:Choice>
              <mc:Fallback>
                <p:oleObj name="Equation" r:id="rId11" imgW="1269720" imgH="2538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763" y="5153025"/>
                        <a:ext cx="2536825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95" name="Group 23"/>
          <p:cNvGrpSpPr>
            <a:grpSpLocks/>
          </p:cNvGrpSpPr>
          <p:nvPr/>
        </p:nvGrpSpPr>
        <p:grpSpPr bwMode="auto">
          <a:xfrm>
            <a:off x="5653088" y="620713"/>
            <a:ext cx="3167062" cy="2039937"/>
            <a:chOff x="3357" y="2331"/>
            <a:chExt cx="2403" cy="1548"/>
          </a:xfrm>
        </p:grpSpPr>
        <p:grpSp>
          <p:nvGrpSpPr>
            <p:cNvPr id="3096" name="Group 24"/>
            <p:cNvGrpSpPr>
              <a:grpSpLocks noChangeAspect="1"/>
            </p:cNvGrpSpPr>
            <p:nvPr/>
          </p:nvGrpSpPr>
          <p:grpSpPr bwMode="auto">
            <a:xfrm>
              <a:off x="3357" y="3045"/>
              <a:ext cx="2403" cy="834"/>
              <a:chOff x="3538" y="3257"/>
              <a:chExt cx="2002" cy="695"/>
            </a:xfrm>
          </p:grpSpPr>
          <p:sp>
            <p:nvSpPr>
              <p:cNvPr id="3097" name="Line 25"/>
              <p:cNvSpPr>
                <a:spLocks noChangeAspect="1" noChangeShapeType="1"/>
              </p:cNvSpPr>
              <p:nvPr/>
            </p:nvSpPr>
            <p:spPr bwMode="auto">
              <a:xfrm flipV="1">
                <a:off x="3787" y="3267"/>
                <a:ext cx="684" cy="663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98" name="Line 26"/>
              <p:cNvSpPr>
                <a:spLocks noChangeAspect="1" noChangeShapeType="1"/>
              </p:cNvSpPr>
              <p:nvPr/>
            </p:nvSpPr>
            <p:spPr bwMode="auto">
              <a:xfrm flipV="1">
                <a:off x="4060" y="3274"/>
                <a:ext cx="679" cy="66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99" name="Line 27"/>
              <p:cNvSpPr>
                <a:spLocks noChangeAspect="1" noChangeShapeType="1"/>
              </p:cNvSpPr>
              <p:nvPr/>
            </p:nvSpPr>
            <p:spPr bwMode="auto">
              <a:xfrm flipV="1">
                <a:off x="4324" y="3292"/>
                <a:ext cx="659" cy="65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0" name="Line 28"/>
              <p:cNvSpPr>
                <a:spLocks noChangeAspect="1" noChangeShapeType="1"/>
              </p:cNvSpPr>
              <p:nvPr/>
            </p:nvSpPr>
            <p:spPr bwMode="auto">
              <a:xfrm flipV="1">
                <a:off x="4588" y="3292"/>
                <a:ext cx="647" cy="65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1" name="Line 29"/>
              <p:cNvSpPr>
                <a:spLocks noChangeAspect="1" noChangeShapeType="1"/>
              </p:cNvSpPr>
              <p:nvPr/>
            </p:nvSpPr>
            <p:spPr bwMode="auto">
              <a:xfrm flipV="1">
                <a:off x="3538" y="3261"/>
                <a:ext cx="668" cy="669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2" name="Line 30"/>
              <p:cNvSpPr>
                <a:spLocks noChangeAspect="1" noChangeShapeType="1"/>
              </p:cNvSpPr>
              <p:nvPr/>
            </p:nvSpPr>
            <p:spPr bwMode="auto">
              <a:xfrm>
                <a:off x="3598" y="3794"/>
                <a:ext cx="1604" cy="3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3" name="Line 31"/>
              <p:cNvSpPr>
                <a:spLocks noChangeAspect="1" noChangeShapeType="1"/>
              </p:cNvSpPr>
              <p:nvPr/>
            </p:nvSpPr>
            <p:spPr bwMode="auto">
              <a:xfrm>
                <a:off x="3686" y="3664"/>
                <a:ext cx="1598" cy="3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4" name="Line 32"/>
              <p:cNvSpPr>
                <a:spLocks noChangeAspect="1" noChangeShapeType="1"/>
              </p:cNvSpPr>
              <p:nvPr/>
            </p:nvSpPr>
            <p:spPr bwMode="auto">
              <a:xfrm>
                <a:off x="3730" y="3534"/>
                <a:ext cx="1774" cy="3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5" name="Line 33"/>
              <p:cNvSpPr>
                <a:spLocks noChangeAspect="1" noChangeShapeType="1"/>
              </p:cNvSpPr>
              <p:nvPr/>
            </p:nvSpPr>
            <p:spPr bwMode="auto">
              <a:xfrm>
                <a:off x="3882" y="3406"/>
                <a:ext cx="1594" cy="3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6" name="Line 34"/>
              <p:cNvSpPr>
                <a:spLocks noChangeAspect="1" noChangeShapeType="1"/>
              </p:cNvSpPr>
              <p:nvPr/>
            </p:nvSpPr>
            <p:spPr bwMode="auto">
              <a:xfrm flipV="1">
                <a:off x="4853" y="3299"/>
                <a:ext cx="665" cy="653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7" name="Line 35"/>
              <p:cNvSpPr>
                <a:spLocks noChangeAspect="1" noChangeShapeType="1"/>
              </p:cNvSpPr>
              <p:nvPr/>
            </p:nvSpPr>
            <p:spPr bwMode="auto">
              <a:xfrm>
                <a:off x="4096" y="3257"/>
                <a:ext cx="1444" cy="45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8" name="Line 36"/>
              <p:cNvSpPr>
                <a:spLocks noChangeAspect="1" noChangeShapeType="1"/>
              </p:cNvSpPr>
              <p:nvPr/>
            </p:nvSpPr>
            <p:spPr bwMode="auto">
              <a:xfrm flipV="1">
                <a:off x="3674" y="3291"/>
                <a:ext cx="1573" cy="50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09" name="Line 37"/>
              <p:cNvSpPr>
                <a:spLocks noChangeAspect="1" noChangeShapeType="1"/>
              </p:cNvSpPr>
              <p:nvPr/>
            </p:nvSpPr>
            <p:spPr bwMode="auto">
              <a:xfrm flipV="1">
                <a:off x="3921" y="3297"/>
                <a:ext cx="1593" cy="50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0" name="Line 38"/>
              <p:cNvSpPr>
                <a:spLocks noChangeAspect="1" noChangeShapeType="1"/>
              </p:cNvSpPr>
              <p:nvPr/>
            </p:nvSpPr>
            <p:spPr bwMode="auto">
              <a:xfrm flipV="1">
                <a:off x="4194" y="3429"/>
                <a:ext cx="1191" cy="378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1" name="Line 39"/>
              <p:cNvSpPr>
                <a:spLocks noChangeAspect="1" noChangeShapeType="1"/>
              </p:cNvSpPr>
              <p:nvPr/>
            </p:nvSpPr>
            <p:spPr bwMode="auto">
              <a:xfrm flipV="1">
                <a:off x="3804" y="3282"/>
                <a:ext cx="1191" cy="38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2" name="Line 40"/>
              <p:cNvSpPr>
                <a:spLocks noChangeAspect="1" noChangeShapeType="1"/>
              </p:cNvSpPr>
              <p:nvPr/>
            </p:nvSpPr>
            <p:spPr bwMode="auto">
              <a:xfrm flipV="1">
                <a:off x="3930" y="3273"/>
                <a:ext cx="804" cy="264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3" name="Line 41"/>
              <p:cNvSpPr>
                <a:spLocks noChangeAspect="1" noChangeShapeType="1"/>
              </p:cNvSpPr>
              <p:nvPr/>
            </p:nvSpPr>
            <p:spPr bwMode="auto">
              <a:xfrm flipV="1">
                <a:off x="4056" y="3270"/>
                <a:ext cx="411" cy="141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4" name="Line 42"/>
              <p:cNvSpPr>
                <a:spLocks noChangeAspect="1" noChangeShapeType="1"/>
              </p:cNvSpPr>
              <p:nvPr/>
            </p:nvSpPr>
            <p:spPr bwMode="auto">
              <a:xfrm flipV="1">
                <a:off x="4455" y="3561"/>
                <a:ext cx="792" cy="252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5" name="Line 43"/>
              <p:cNvSpPr>
                <a:spLocks noChangeAspect="1" noChangeShapeType="1"/>
              </p:cNvSpPr>
              <p:nvPr/>
            </p:nvSpPr>
            <p:spPr bwMode="auto">
              <a:xfrm flipV="1">
                <a:off x="4713" y="3690"/>
                <a:ext cx="402" cy="129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116" name="Group 44"/>
            <p:cNvGrpSpPr>
              <a:grpSpLocks/>
            </p:cNvGrpSpPr>
            <p:nvPr/>
          </p:nvGrpSpPr>
          <p:grpSpPr bwMode="auto">
            <a:xfrm>
              <a:off x="3975" y="2331"/>
              <a:ext cx="952" cy="1221"/>
              <a:chOff x="4071" y="2325"/>
              <a:chExt cx="952" cy="1221"/>
            </a:xfrm>
          </p:grpSpPr>
          <p:sp>
            <p:nvSpPr>
              <p:cNvPr id="3117" name="Line 45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462" cy="6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8" name="Line 46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299" cy="7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19" name="Line 47"/>
              <p:cNvSpPr>
                <a:spLocks noChangeAspect="1" noChangeShapeType="1"/>
              </p:cNvSpPr>
              <p:nvPr/>
            </p:nvSpPr>
            <p:spPr bwMode="auto">
              <a:xfrm flipH="1">
                <a:off x="4398" y="2609"/>
                <a:ext cx="163" cy="9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0" name="Line 48"/>
              <p:cNvSpPr>
                <a:spLocks noChangeAspect="1" noChangeShapeType="1"/>
              </p:cNvSpPr>
              <p:nvPr/>
            </p:nvSpPr>
            <p:spPr bwMode="auto">
              <a:xfrm>
                <a:off x="4561" y="2609"/>
                <a:ext cx="154" cy="6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1" name="Line 49"/>
              <p:cNvSpPr>
                <a:spLocks noChangeAspect="1" noChangeShapeType="1"/>
              </p:cNvSpPr>
              <p:nvPr/>
            </p:nvSpPr>
            <p:spPr bwMode="auto">
              <a:xfrm flipH="1">
                <a:off x="4234" y="2609"/>
                <a:ext cx="327" cy="7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2" name="Line 50"/>
              <p:cNvSpPr>
                <a:spLocks noChangeAspect="1" noChangeShapeType="1"/>
              </p:cNvSpPr>
              <p:nvPr/>
            </p:nvSpPr>
            <p:spPr bwMode="auto">
              <a:xfrm flipH="1">
                <a:off x="4071" y="2609"/>
                <a:ext cx="490" cy="9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3" name="Line 51"/>
              <p:cNvSpPr>
                <a:spLocks noChangeAspect="1" noChangeShapeType="1"/>
              </p:cNvSpPr>
              <p:nvPr/>
            </p:nvSpPr>
            <p:spPr bwMode="auto">
              <a:xfrm>
                <a:off x="4071" y="3534"/>
                <a:ext cx="313" cy="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4" name="Line 52"/>
              <p:cNvSpPr>
                <a:spLocks noChangeAspect="1" noChangeShapeType="1"/>
              </p:cNvSpPr>
              <p:nvPr/>
            </p:nvSpPr>
            <p:spPr bwMode="auto">
              <a:xfrm flipV="1">
                <a:off x="4386" y="3398"/>
                <a:ext cx="474" cy="1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5" name="Line 53"/>
              <p:cNvSpPr>
                <a:spLocks noChangeAspect="1" noChangeShapeType="1"/>
              </p:cNvSpPr>
              <p:nvPr/>
            </p:nvSpPr>
            <p:spPr bwMode="auto">
              <a:xfrm flipV="1">
                <a:off x="4860" y="3235"/>
                <a:ext cx="163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6" name="Line 54"/>
              <p:cNvSpPr>
                <a:spLocks noChangeAspect="1" noChangeShapeType="1"/>
              </p:cNvSpPr>
              <p:nvPr/>
            </p:nvSpPr>
            <p:spPr bwMode="auto">
              <a:xfrm>
                <a:off x="4703" y="3238"/>
                <a:ext cx="309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7" name="Line 55"/>
              <p:cNvSpPr>
                <a:spLocks noChangeAspect="1" noChangeShapeType="1"/>
              </p:cNvSpPr>
              <p:nvPr/>
            </p:nvSpPr>
            <p:spPr bwMode="auto">
              <a:xfrm flipH="1">
                <a:off x="4238" y="3239"/>
                <a:ext cx="464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8" name="Line 56"/>
              <p:cNvSpPr>
                <a:spLocks noChangeAspect="1" noChangeShapeType="1"/>
              </p:cNvSpPr>
              <p:nvPr/>
            </p:nvSpPr>
            <p:spPr bwMode="auto">
              <a:xfrm flipH="1">
                <a:off x="4071" y="3371"/>
                <a:ext cx="163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29" name="Line 57"/>
              <p:cNvSpPr>
                <a:spLocks noChangeAspect="1" noChangeShapeType="1"/>
              </p:cNvSpPr>
              <p:nvPr/>
            </p:nvSpPr>
            <p:spPr bwMode="auto">
              <a:xfrm flipV="1">
                <a:off x="4071" y="3240"/>
                <a:ext cx="944" cy="2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30" name="Line 58"/>
              <p:cNvSpPr>
                <a:spLocks noChangeAspect="1" noChangeShapeType="1"/>
              </p:cNvSpPr>
              <p:nvPr/>
            </p:nvSpPr>
            <p:spPr bwMode="auto">
              <a:xfrm>
                <a:off x="4236" y="3378"/>
                <a:ext cx="625" cy="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31" name="Line 59"/>
              <p:cNvSpPr>
                <a:spLocks noChangeAspect="1" noChangeShapeType="1"/>
              </p:cNvSpPr>
              <p:nvPr/>
            </p:nvSpPr>
            <p:spPr bwMode="auto">
              <a:xfrm flipV="1">
                <a:off x="4386" y="3238"/>
                <a:ext cx="317" cy="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32" name="Text Box 60"/>
              <p:cNvSpPr txBox="1">
                <a:spLocks noChangeAspect="1" noChangeArrowheads="1"/>
              </p:cNvSpPr>
              <p:nvPr/>
            </p:nvSpPr>
            <p:spPr bwMode="auto">
              <a:xfrm>
                <a:off x="4643" y="2325"/>
                <a:ext cx="302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l-GR" sz="2400" dirty="0" smtClean="0">
                    <a:latin typeface="Times New Roman" pitchFamily="18" charset="0"/>
                  </a:rPr>
                  <a:t>β</a:t>
                </a:r>
                <a:r>
                  <a:rPr lang="en-US" sz="2400" baseline="-25000" dirty="0" err="1" smtClean="0">
                    <a:latin typeface="Times New Roman" pitchFamily="18" charset="0"/>
                  </a:rPr>
                  <a:t>i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</p:grpSp>
        <p:sp>
          <p:nvSpPr>
            <p:cNvPr id="3133" name="Text Box 61"/>
            <p:cNvSpPr txBox="1">
              <a:spLocks noChangeArrowheads="1"/>
            </p:cNvSpPr>
            <p:nvPr/>
          </p:nvSpPr>
          <p:spPr bwMode="auto">
            <a:xfrm>
              <a:off x="4263" y="2386"/>
              <a:ext cx="255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134" name="Text Box 62"/>
            <p:cNvSpPr txBox="1">
              <a:spLocks noChangeArrowheads="1"/>
            </p:cNvSpPr>
            <p:nvPr/>
          </p:nvSpPr>
          <p:spPr bwMode="auto">
            <a:xfrm>
              <a:off x="3787" y="3362"/>
              <a:ext cx="255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3139" name="Group 67"/>
          <p:cNvGrpSpPr>
            <a:grpSpLocks/>
          </p:cNvGrpSpPr>
          <p:nvPr/>
        </p:nvGrpSpPr>
        <p:grpSpPr bwMode="auto">
          <a:xfrm>
            <a:off x="107950" y="1628775"/>
            <a:ext cx="647700" cy="3816350"/>
            <a:chOff x="68" y="1026"/>
            <a:chExt cx="408" cy="2404"/>
          </a:xfrm>
        </p:grpSpPr>
        <p:sp>
          <p:nvSpPr>
            <p:cNvPr id="3136" name="Line 64"/>
            <p:cNvSpPr>
              <a:spLocks noChangeShapeType="1"/>
            </p:cNvSpPr>
            <p:nvPr/>
          </p:nvSpPr>
          <p:spPr bwMode="auto">
            <a:xfrm>
              <a:off x="68" y="1026"/>
              <a:ext cx="408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3137" name="Line 65"/>
            <p:cNvSpPr>
              <a:spLocks noChangeShapeType="1"/>
            </p:cNvSpPr>
            <p:nvPr/>
          </p:nvSpPr>
          <p:spPr bwMode="auto">
            <a:xfrm>
              <a:off x="68" y="1026"/>
              <a:ext cx="0" cy="240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3138" name="Line 66"/>
            <p:cNvSpPr>
              <a:spLocks noChangeShapeType="1"/>
            </p:cNvSpPr>
            <p:nvPr/>
          </p:nvSpPr>
          <p:spPr bwMode="auto">
            <a:xfrm>
              <a:off x="68" y="3430"/>
              <a:ext cx="22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140" name="Text Box 68"/>
          <p:cNvSpPr txBox="1">
            <a:spLocks noChangeArrowheads="1"/>
          </p:cNvSpPr>
          <p:nvPr/>
        </p:nvSpPr>
        <p:spPr bwMode="auto">
          <a:xfrm>
            <a:off x="2555875" y="1196975"/>
            <a:ext cx="2876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fr-FR" sz="2000">
                <a:latin typeface="Times New Roman" pitchFamily="18" charset="0"/>
              </a:rPr>
              <a:t> forme forte de l’équation</a:t>
            </a:r>
          </a:p>
        </p:txBody>
      </p:sp>
      <p:sp>
        <p:nvSpPr>
          <p:cNvPr id="66" name="ZoneTexte 65"/>
          <p:cNvSpPr txBox="1"/>
          <p:nvPr/>
        </p:nvSpPr>
        <p:spPr>
          <a:xfrm>
            <a:off x="467544" y="3491716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Après application du théorème de Green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space réservé du numéro de diapositive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026373"/>
              </p:ext>
            </p:extLst>
          </p:nvPr>
        </p:nvGraphicFramePr>
        <p:xfrm>
          <a:off x="488950" y="260350"/>
          <a:ext cx="5634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Equation" r:id="rId3" imgW="2819160" imgH="380880" progId="Equation.DSMT4">
                  <p:embed/>
                </p:oleObj>
              </mc:Choice>
              <mc:Fallback>
                <p:oleObj name="Equation" r:id="rId3" imgW="2819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60350"/>
                        <a:ext cx="563403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539552" y="1268760"/>
            <a:ext cx="6138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Hyp</a:t>
            </a:r>
            <a:r>
              <a:rPr lang="fr-FR" dirty="0" smtClean="0"/>
              <a:t> : le domaine de calcul est l’union de 2 sous-domaines </a:t>
            </a:r>
            <a:endParaRPr lang="fr-FR" dirty="0"/>
          </a:p>
        </p:txBody>
      </p:sp>
      <p:graphicFrame>
        <p:nvGraphicFramePr>
          <p:cNvPr id="3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160275"/>
              </p:ext>
            </p:extLst>
          </p:nvPr>
        </p:nvGraphicFramePr>
        <p:xfrm>
          <a:off x="6804248" y="1218208"/>
          <a:ext cx="1574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" name="Equation" r:id="rId5" imgW="787400" imgH="241300" progId="Equation.DSMT4">
                  <p:embed/>
                </p:oleObj>
              </mc:Choice>
              <mc:Fallback>
                <p:oleObj name="Equation" r:id="rId5" imgW="7874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1218208"/>
                        <a:ext cx="1574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821930"/>
              </p:ext>
            </p:extLst>
          </p:nvPr>
        </p:nvGraphicFramePr>
        <p:xfrm>
          <a:off x="1085850" y="1725613"/>
          <a:ext cx="59642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" name="Equation" r:id="rId7" imgW="2984400" imgH="393480" progId="Equation.DSMT4">
                  <p:embed/>
                </p:oleObj>
              </mc:Choice>
              <mc:Fallback>
                <p:oleObj name="Equation" r:id="rId7" imgW="2984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1725613"/>
                        <a:ext cx="5964238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ZoneTexte 40"/>
          <p:cNvSpPr txBox="1"/>
          <p:nvPr/>
        </p:nvSpPr>
        <p:spPr>
          <a:xfrm>
            <a:off x="539552" y="2636912"/>
            <a:ext cx="8331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De plus,                                   où l’interface apparaît comme une double couche </a:t>
            </a:r>
            <a:endParaRPr lang="fr-FR" dirty="0"/>
          </a:p>
        </p:txBody>
      </p:sp>
      <p:graphicFrame>
        <p:nvGraphicFramePr>
          <p:cNvPr id="4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269592"/>
              </p:ext>
            </p:extLst>
          </p:nvPr>
        </p:nvGraphicFramePr>
        <p:xfrm>
          <a:off x="1450975" y="2565400"/>
          <a:ext cx="2057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Equation" r:id="rId9" imgW="1028700" imgH="241300" progId="Equation.DSMT4">
                  <p:embed/>
                </p:oleObj>
              </mc:Choice>
              <mc:Fallback>
                <p:oleObj name="Equation" r:id="rId9" imgW="10287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2565400"/>
                        <a:ext cx="2057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e 4"/>
          <p:cNvGrpSpPr/>
          <p:nvPr/>
        </p:nvGrpSpPr>
        <p:grpSpPr>
          <a:xfrm>
            <a:off x="7164288" y="44624"/>
            <a:ext cx="1296144" cy="1236323"/>
            <a:chOff x="7164288" y="44624"/>
            <a:chExt cx="1296144" cy="1236323"/>
          </a:xfrm>
        </p:grpSpPr>
        <p:sp>
          <p:nvSpPr>
            <p:cNvPr id="45" name="Oval 8"/>
            <p:cNvSpPr>
              <a:spLocks noChangeArrowheads="1"/>
            </p:cNvSpPr>
            <p:nvPr/>
          </p:nvSpPr>
          <p:spPr bwMode="auto">
            <a:xfrm>
              <a:off x="7533037" y="430789"/>
              <a:ext cx="564100" cy="57606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dirty="0"/>
            </a:p>
          </p:txBody>
        </p:sp>
        <p:sp>
          <p:nvSpPr>
            <p:cNvPr id="46" name="Rectangle 13"/>
            <p:cNvSpPr>
              <a:spLocks noChangeArrowheads="1"/>
            </p:cNvSpPr>
            <p:nvPr/>
          </p:nvSpPr>
          <p:spPr bwMode="auto">
            <a:xfrm>
              <a:off x="7164288" y="44624"/>
              <a:ext cx="1296144" cy="123632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" name="Ellipse 2"/>
            <p:cNvSpPr/>
            <p:nvPr/>
          </p:nvSpPr>
          <p:spPr>
            <a:xfrm>
              <a:off x="7487816" y="392477"/>
              <a:ext cx="648072" cy="653738"/>
            </a:xfrm>
            <a:prstGeom prst="ellipse">
              <a:avLst/>
            </a:prstGeom>
            <a:noFill/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aphicFrame>
        <p:nvGraphicFramePr>
          <p:cNvPr id="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392838"/>
              </p:ext>
            </p:extLst>
          </p:nvPr>
        </p:nvGraphicFramePr>
        <p:xfrm>
          <a:off x="425450" y="4737100"/>
          <a:ext cx="82470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5" name="Equation" r:id="rId11" imgW="4127400" imgH="406080" progId="Equation.DSMT4">
                  <p:embed/>
                </p:oleObj>
              </mc:Choice>
              <mc:Fallback>
                <p:oleObj name="Equation" r:id="rId11" imgW="4127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4737100"/>
                        <a:ext cx="8247063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28937"/>
              </p:ext>
            </p:extLst>
          </p:nvPr>
        </p:nvGraphicFramePr>
        <p:xfrm>
          <a:off x="539552" y="3284984"/>
          <a:ext cx="75628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" name="Equation" r:id="rId13" imgW="3784600" imgH="431800" progId="Equation.DSMT4">
                  <p:embed/>
                </p:oleObj>
              </mc:Choice>
              <mc:Fallback>
                <p:oleObj name="Equation" r:id="rId13" imgW="3784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284984"/>
                        <a:ext cx="756285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611560" y="4221088"/>
            <a:ext cx="6112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Or la conservation du flux de chaleur à l’interface implique  </a:t>
            </a:r>
            <a:endParaRPr lang="fr-FR" dirty="0"/>
          </a:p>
        </p:txBody>
      </p:sp>
      <p:graphicFrame>
        <p:nvGraphicFramePr>
          <p:cNvPr id="5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257756"/>
              </p:ext>
            </p:extLst>
          </p:nvPr>
        </p:nvGraphicFramePr>
        <p:xfrm>
          <a:off x="946150" y="5975350"/>
          <a:ext cx="61674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" name="Equation" r:id="rId15" imgW="3085920" imgH="380880" progId="Equation.DSMT4">
                  <p:embed/>
                </p:oleObj>
              </mc:Choice>
              <mc:Fallback>
                <p:oleObj name="Equation" r:id="rId15" imgW="308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5975350"/>
                        <a:ext cx="616743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ZoneTexte 52"/>
          <p:cNvSpPr txBox="1"/>
          <p:nvPr/>
        </p:nvSpPr>
        <p:spPr>
          <a:xfrm>
            <a:off x="611560" y="5517232"/>
            <a:ext cx="6742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Seule la surface en contact avec le gaz donne une contribution à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403297" y="476672"/>
            <a:ext cx="874712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fr-FR" dirty="0" smtClean="0">
                <a:latin typeface="Times New Roman" pitchFamily="18" charset="0"/>
              </a:rPr>
              <a:t>Exercice : écriture de la forme faible discrète :</a:t>
            </a:r>
          </a:p>
          <a:p>
            <a:pPr>
              <a:lnSpc>
                <a:spcPct val="140000"/>
              </a:lnSpc>
            </a:pPr>
            <a:endParaRPr lang="fr-FR" dirty="0">
              <a:latin typeface="Times New Roman" pitchFamily="18" charset="0"/>
            </a:endParaRPr>
          </a:p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fr-FR" dirty="0" smtClean="0">
                <a:latin typeface="Times New Roman" pitchFamily="18" charset="0"/>
              </a:rPr>
              <a:t>Discrétiser le domaine D en éléments finis ainsi que sa surface extérieure.</a:t>
            </a:r>
          </a:p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fr-FR" dirty="0" smtClean="0">
                <a:latin typeface="Times New Roman" pitchFamily="18" charset="0"/>
              </a:rPr>
              <a:t>Ecrire la fonction test β</a:t>
            </a:r>
            <a:r>
              <a:rPr lang="fr-FR" baseline="-25000" dirty="0" smtClean="0">
                <a:latin typeface="Times New Roman" pitchFamily="18" charset="0"/>
              </a:rPr>
              <a:t>i</a:t>
            </a:r>
            <a:r>
              <a:rPr lang="fr-FR" dirty="0" smtClean="0">
                <a:latin typeface="Times New Roman" pitchFamily="18" charset="0"/>
              </a:rPr>
              <a:t> comme une superposition des polynômes d’interpolation</a:t>
            </a:r>
          </a:p>
          <a:p>
            <a:pPr>
              <a:lnSpc>
                <a:spcPct val="140000"/>
              </a:lnSpc>
            </a:pPr>
            <a:r>
              <a:rPr lang="fr-FR" dirty="0">
                <a:latin typeface="Times New Roman" pitchFamily="18" charset="0"/>
              </a:rPr>
              <a:t>d</a:t>
            </a:r>
            <a:r>
              <a:rPr lang="fr-FR" dirty="0" smtClean="0">
                <a:latin typeface="Times New Roman" pitchFamily="18" charset="0"/>
              </a:rPr>
              <a:t>es éléments contenant le nœud i</a:t>
            </a:r>
          </a:p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fr-FR" dirty="0" smtClean="0">
                <a:latin typeface="Times New Roman" pitchFamily="18" charset="0"/>
              </a:rPr>
              <a:t>Interpoler la température </a:t>
            </a:r>
            <a:r>
              <a:rPr lang="fr-FR" dirty="0">
                <a:latin typeface="Times New Roman" pitchFamily="18" charset="0"/>
              </a:rPr>
              <a:t>T</a:t>
            </a:r>
            <a:r>
              <a:rPr lang="fr-FR" baseline="-25000" dirty="0">
                <a:latin typeface="Times New Roman" pitchFamily="18" charset="0"/>
              </a:rPr>
              <a:t>K</a:t>
            </a:r>
            <a:r>
              <a:rPr lang="fr-FR" dirty="0">
                <a:latin typeface="Times New Roman" pitchFamily="18" charset="0"/>
              </a:rPr>
              <a:t> </a:t>
            </a:r>
            <a:r>
              <a:rPr lang="fr-FR" dirty="0" smtClean="0">
                <a:latin typeface="Times New Roman" pitchFamily="18" charset="0"/>
              </a:rPr>
              <a:t>dans chaque élément</a:t>
            </a:r>
          </a:p>
        </p:txBody>
      </p:sp>
      <p:graphicFrame>
        <p:nvGraphicFramePr>
          <p:cNvPr id="41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633840"/>
              </p:ext>
            </p:extLst>
          </p:nvPr>
        </p:nvGraphicFramePr>
        <p:xfrm>
          <a:off x="831850" y="4102100"/>
          <a:ext cx="730885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3" imgW="4609800" imgH="888840" progId="Equation.DSMT4">
                  <p:embed/>
                </p:oleObj>
              </mc:Choice>
              <mc:Fallback>
                <p:oleObj name="Equation" r:id="rId3" imgW="46098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4102100"/>
                        <a:ext cx="7308850" cy="1409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 cmpd="sng">
                        <a:solidFill>
                          <a:srgbClr val="CC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1" name="Text Box 75"/>
          <p:cNvSpPr txBox="1">
            <a:spLocks noChangeArrowheads="1"/>
          </p:cNvSpPr>
          <p:nvPr/>
        </p:nvSpPr>
        <p:spPr bwMode="auto">
          <a:xfrm>
            <a:off x="468313" y="5631631"/>
            <a:ext cx="74898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 sz="800" dirty="0"/>
          </a:p>
          <a:p>
            <a:r>
              <a:rPr lang="fr-FR" sz="1600" dirty="0"/>
              <a:t>On a autant d’équations que de nœuds i de maillage</a:t>
            </a:r>
            <a:endParaRPr lang="fr-FR" sz="1600" dirty="0">
              <a:solidFill>
                <a:schemeClr val="accent2"/>
              </a:solidFill>
            </a:endParaRPr>
          </a:p>
        </p:txBody>
      </p:sp>
      <p:sp>
        <p:nvSpPr>
          <p:cNvPr id="61" name="Espace réservé du numéro de diapositive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96875" y="3399383"/>
            <a:ext cx="87471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fr-FR" dirty="0" smtClean="0">
                <a:latin typeface="Times New Roman" pitchFamily="18" charset="0"/>
              </a:rPr>
              <a:t>Montrer qu’elle s’écrit :</a:t>
            </a:r>
          </a:p>
        </p:txBody>
      </p:sp>
    </p:spTree>
    <p:extLst>
      <p:ext uri="{BB962C8B-B14F-4D97-AF65-F5344CB8AC3E}">
        <p14:creationId xmlns:p14="http://schemas.microsoft.com/office/powerpoint/2010/main" val="173345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2625725" y="3533775"/>
          <a:ext cx="374491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name="Equation" r:id="rId3" imgW="1803240" imgH="711000" progId="Equation.3">
                  <p:embed/>
                </p:oleObj>
              </mc:Choice>
              <mc:Fallback>
                <p:oleObj name="Equation" r:id="rId3" imgW="1803240" imgH="7110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25" y="3533775"/>
                        <a:ext cx="3744913" cy="1479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Line 8"/>
          <p:cNvSpPr>
            <a:spLocks noChangeShapeType="1"/>
          </p:cNvSpPr>
          <p:nvPr/>
        </p:nvSpPr>
        <p:spPr bwMode="auto">
          <a:xfrm flipH="1" flipV="1">
            <a:off x="2482850" y="2138363"/>
            <a:ext cx="503238" cy="17541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29" name="AutoShape 9"/>
          <p:cNvSpPr>
            <a:spLocks/>
          </p:cNvSpPr>
          <p:nvPr/>
        </p:nvSpPr>
        <p:spPr bwMode="auto">
          <a:xfrm rot="-5400000">
            <a:off x="2303463" y="877887"/>
            <a:ext cx="287338" cy="2087563"/>
          </a:xfrm>
          <a:prstGeom prst="leftBrace">
            <a:avLst>
              <a:gd name="adj1" fmla="val 6054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 flipV="1">
            <a:off x="3706813" y="1993900"/>
            <a:ext cx="1223962" cy="1898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32" name="AutoShape 12"/>
          <p:cNvSpPr>
            <a:spLocks/>
          </p:cNvSpPr>
          <p:nvPr/>
        </p:nvSpPr>
        <p:spPr bwMode="auto">
          <a:xfrm rot="-5400000">
            <a:off x="5468938" y="1095375"/>
            <a:ext cx="292100" cy="1657350"/>
          </a:xfrm>
          <a:prstGeom prst="leftBrace">
            <a:avLst>
              <a:gd name="adj1" fmla="val 4728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 flipV="1">
            <a:off x="5435600" y="3217863"/>
            <a:ext cx="358775" cy="819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35" name="AutoShape 15"/>
          <p:cNvSpPr>
            <a:spLocks/>
          </p:cNvSpPr>
          <p:nvPr/>
        </p:nvSpPr>
        <p:spPr bwMode="auto">
          <a:xfrm rot="-5400000">
            <a:off x="5691981" y="2456657"/>
            <a:ext cx="277813" cy="1079500"/>
          </a:xfrm>
          <a:prstGeom prst="leftBrace">
            <a:avLst>
              <a:gd name="adj1" fmla="val 3238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37" name="Line 17"/>
          <p:cNvSpPr>
            <a:spLocks noChangeShapeType="1"/>
          </p:cNvSpPr>
          <p:nvPr/>
        </p:nvSpPr>
        <p:spPr bwMode="auto">
          <a:xfrm flipV="1">
            <a:off x="6011863" y="3213100"/>
            <a:ext cx="1584325" cy="8239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138" name="AutoShape 18"/>
          <p:cNvSpPr>
            <a:spLocks/>
          </p:cNvSpPr>
          <p:nvPr/>
        </p:nvSpPr>
        <p:spPr bwMode="auto">
          <a:xfrm rot="-5400000">
            <a:off x="7477919" y="2328069"/>
            <a:ext cx="277813" cy="1336675"/>
          </a:xfrm>
          <a:prstGeom prst="leftBrace">
            <a:avLst>
              <a:gd name="adj1" fmla="val 4009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40" name="Text Box 20"/>
          <p:cNvSpPr txBox="1">
            <a:spLocks noChangeArrowheads="1"/>
          </p:cNvSpPr>
          <p:nvPr/>
        </p:nvSpPr>
        <p:spPr bwMode="auto">
          <a:xfrm>
            <a:off x="204788" y="233363"/>
            <a:ext cx="42498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/>
              <a:t>obtient</a:t>
            </a:r>
            <a:r>
              <a:rPr lang="en-US" dirty="0"/>
              <a:t> </a:t>
            </a:r>
            <a:r>
              <a:rPr lang="fr-FR" dirty="0"/>
              <a:t>pour tout nœud i du maillage</a:t>
            </a:r>
            <a:endParaRPr lang="en-US" dirty="0"/>
          </a:p>
        </p:txBody>
      </p:sp>
      <p:graphicFrame>
        <p:nvGraphicFramePr>
          <p:cNvPr id="51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025132"/>
              </p:ext>
            </p:extLst>
          </p:nvPr>
        </p:nvGraphicFramePr>
        <p:xfrm>
          <a:off x="620713" y="868363"/>
          <a:ext cx="7829550" cy="208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" name="Equation" r:id="rId5" imgW="5067000" imgH="1346040" progId="Equation.DSMT4">
                  <p:embed/>
                </p:oleObj>
              </mc:Choice>
              <mc:Fallback>
                <p:oleObj name="Equation" r:id="rId5" imgW="5067000" imgH="134604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868363"/>
                        <a:ext cx="7829550" cy="208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857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827088" y="5876925"/>
            <a:ext cx="7343775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>
                <a:sym typeface="Symbol" pitchFamily="18" charset="2"/>
              </a:rPr>
              <a:t>L’assemblage </a:t>
            </a:r>
            <a:r>
              <a:rPr lang="fr-FR"/>
              <a:t>des matrices et vecteurs élémentaires</a:t>
            </a:r>
            <a:r>
              <a:rPr lang="fr-FR">
                <a:sym typeface="Symbol" pitchFamily="18" charset="2"/>
              </a:rPr>
              <a:t> donnent les matrices globales et vecteurs globaux </a:t>
            </a:r>
          </a:p>
        </p:txBody>
      </p:sp>
      <p:sp>
        <p:nvSpPr>
          <p:cNvPr id="5219" name="Text Box 99"/>
          <p:cNvSpPr txBox="1">
            <a:spLocks noChangeArrowheads="1"/>
          </p:cNvSpPr>
          <p:nvPr/>
        </p:nvSpPr>
        <p:spPr bwMode="auto">
          <a:xfrm>
            <a:off x="827088" y="5229225"/>
            <a:ext cx="741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>
                <a:solidFill>
                  <a:srgbClr val="CC0000"/>
                </a:solidFill>
              </a:rPr>
              <a:t>Dans les matrices élémentaires, seuls les nœuds i et j d’un même élément e sont couplés</a:t>
            </a:r>
          </a:p>
        </p:txBody>
      </p:sp>
      <p:sp>
        <p:nvSpPr>
          <p:cNvPr id="5220" name="Text Box 100"/>
          <p:cNvSpPr txBox="1">
            <a:spLocks noChangeArrowheads="1"/>
          </p:cNvSpPr>
          <p:nvPr/>
        </p:nvSpPr>
        <p:spPr bwMode="auto">
          <a:xfrm>
            <a:off x="1330325" y="1517650"/>
            <a:ext cx="22431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/>
              <a:t>Matrice élémentaire de raideur</a:t>
            </a:r>
          </a:p>
        </p:txBody>
      </p:sp>
      <p:sp>
        <p:nvSpPr>
          <p:cNvPr id="5221" name="Text Box 101"/>
          <p:cNvSpPr txBox="1">
            <a:spLocks noChangeArrowheads="1"/>
          </p:cNvSpPr>
          <p:nvPr/>
        </p:nvSpPr>
        <p:spPr bwMode="auto">
          <a:xfrm>
            <a:off x="4643438" y="1517650"/>
            <a:ext cx="22193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/>
              <a:t>Matrice élémentaire de masse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 cstate="print"/>
          <a:srcRect t="24565" r="9937" b="9909"/>
          <a:stretch>
            <a:fillRect/>
          </a:stretch>
        </p:blipFill>
        <p:spPr bwMode="auto">
          <a:xfrm>
            <a:off x="0" y="838200"/>
            <a:ext cx="8893175" cy="590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79388" y="115888"/>
            <a:ext cx="535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Résolution de l’équation de la chaleur 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7450138" y="0"/>
            <a:ext cx="1693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000"/>
              <a:t>MEF_main.m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113" y="347663"/>
            <a:ext cx="8105775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419475" y="19050"/>
            <a:ext cx="5337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Structure des fichiers de données .pro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250825" y="333375"/>
            <a:ext cx="5129213" cy="644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600"/>
              <a:t>NOEUDS</a:t>
            </a:r>
          </a:p>
          <a:p>
            <a:r>
              <a:rPr lang="fr-FR" sz="1600"/>
              <a:t> 6</a:t>
            </a:r>
          </a:p>
          <a:p>
            <a:r>
              <a:rPr lang="fr-FR" sz="1600"/>
              <a:t> 1    0.000000        0.000000</a:t>
            </a:r>
          </a:p>
          <a:p>
            <a:r>
              <a:rPr lang="fr-FR" sz="1600"/>
              <a:t> 2    0.500000        0.000000</a:t>
            </a:r>
          </a:p>
          <a:p>
            <a:r>
              <a:rPr lang="fr-FR" sz="1600"/>
              <a:t> 3    1.000000        0.000000</a:t>
            </a:r>
          </a:p>
          <a:p>
            <a:r>
              <a:rPr lang="fr-FR" sz="1600"/>
              <a:t> 4    0.000000        1.000000</a:t>
            </a:r>
          </a:p>
          <a:p>
            <a:r>
              <a:rPr lang="fr-FR" sz="1600"/>
              <a:t> 5    0.500000        1.000000</a:t>
            </a:r>
          </a:p>
          <a:p>
            <a:r>
              <a:rPr lang="fr-FR" sz="1600"/>
              <a:t> 6    1.000000        1.000000</a:t>
            </a:r>
          </a:p>
          <a:p>
            <a:r>
              <a:rPr lang="fr-FR" sz="1600"/>
              <a:t>ELEMENTS_SURFACIQUES_&amp;_LINEIQUES</a:t>
            </a:r>
          </a:p>
          <a:p>
            <a:r>
              <a:rPr lang="fr-FR" sz="1600"/>
              <a:t>8</a:t>
            </a:r>
          </a:p>
          <a:p>
            <a:r>
              <a:rPr lang="fr-FR" sz="1600"/>
              <a:t>2 3 1    </a:t>
            </a:r>
            <a:r>
              <a:rPr lang="fr-FR" sz="1600" b="1">
                <a:solidFill>
                  <a:srgbClr val="CC0000"/>
                </a:solidFill>
              </a:rPr>
              <a:t>1  2  4</a:t>
            </a:r>
            <a:r>
              <a:rPr lang="fr-FR" sz="1600"/>
              <a:t> </a:t>
            </a:r>
          </a:p>
          <a:p>
            <a:r>
              <a:rPr lang="fr-FR" sz="1600"/>
              <a:t>2 3 1    </a:t>
            </a:r>
            <a:r>
              <a:rPr lang="fr-FR" sz="1600" b="1">
                <a:solidFill>
                  <a:srgbClr val="CC0000"/>
                </a:solidFill>
              </a:rPr>
              <a:t>5  4  2</a:t>
            </a:r>
            <a:r>
              <a:rPr lang="fr-FR" sz="1600"/>
              <a:t> </a:t>
            </a:r>
          </a:p>
          <a:p>
            <a:r>
              <a:rPr lang="fr-FR" sz="1600"/>
              <a:t>2 3 1    </a:t>
            </a:r>
            <a:r>
              <a:rPr lang="fr-FR" sz="1600" b="1">
                <a:solidFill>
                  <a:srgbClr val="CC0000"/>
                </a:solidFill>
              </a:rPr>
              <a:t>2  3  5</a:t>
            </a:r>
          </a:p>
          <a:p>
            <a:r>
              <a:rPr lang="fr-FR" sz="1600"/>
              <a:t>2 3 1    </a:t>
            </a:r>
            <a:r>
              <a:rPr lang="fr-FR" sz="1600" b="1">
                <a:solidFill>
                  <a:srgbClr val="CC0000"/>
                </a:solidFill>
              </a:rPr>
              <a:t>6  5  3</a:t>
            </a:r>
          </a:p>
          <a:p>
            <a:r>
              <a:rPr lang="fr-FR" sz="1600"/>
              <a:t>1 2 2    </a:t>
            </a:r>
            <a:r>
              <a:rPr lang="fr-FR" sz="1600" b="1">
                <a:solidFill>
                  <a:schemeClr val="accent2"/>
                </a:solidFill>
              </a:rPr>
              <a:t>4  5</a:t>
            </a:r>
          </a:p>
          <a:p>
            <a:r>
              <a:rPr lang="fr-FR" sz="1600"/>
              <a:t>1 2 2    </a:t>
            </a:r>
            <a:r>
              <a:rPr lang="fr-FR" sz="1600" b="1">
                <a:solidFill>
                  <a:schemeClr val="accent2"/>
                </a:solidFill>
              </a:rPr>
              <a:t>5  6</a:t>
            </a:r>
          </a:p>
          <a:p>
            <a:r>
              <a:rPr lang="fr-FR" sz="1600"/>
              <a:t>1 2 2    </a:t>
            </a:r>
            <a:r>
              <a:rPr lang="fr-FR" sz="1600" b="1">
                <a:solidFill>
                  <a:schemeClr val="accent2"/>
                </a:solidFill>
              </a:rPr>
              <a:t>1  2</a:t>
            </a:r>
          </a:p>
          <a:p>
            <a:r>
              <a:rPr lang="fr-FR" sz="1600"/>
              <a:t>1 2 2    </a:t>
            </a:r>
            <a:r>
              <a:rPr lang="fr-FR" sz="1600" b="1">
                <a:solidFill>
                  <a:schemeClr val="accent2"/>
                </a:solidFill>
              </a:rPr>
              <a:t>2  3</a:t>
            </a:r>
          </a:p>
          <a:p>
            <a:r>
              <a:rPr lang="fr-FR" sz="1600"/>
              <a:t>AFFECTATION_PROPRIETES_PHYSIQUES</a:t>
            </a:r>
          </a:p>
          <a:p>
            <a:r>
              <a:rPr lang="fr-FR" sz="1600"/>
              <a:t>    2</a:t>
            </a:r>
          </a:p>
          <a:p>
            <a:r>
              <a:rPr lang="fr-FR" sz="1600"/>
              <a:t>        </a:t>
            </a:r>
            <a:r>
              <a:rPr lang="fr-FR" sz="1600">
                <a:solidFill>
                  <a:srgbClr val="CC0000"/>
                </a:solidFill>
              </a:rPr>
              <a:t>5.00000        0.00000</a:t>
            </a:r>
            <a:r>
              <a:rPr lang="fr-FR" sz="1600"/>
              <a:t>         0                     0</a:t>
            </a:r>
          </a:p>
          <a:p>
            <a:r>
              <a:rPr lang="fr-FR" sz="1600"/>
              <a:t>        0                   0                  </a:t>
            </a:r>
            <a:r>
              <a:rPr lang="fr-FR" sz="1600">
                <a:solidFill>
                  <a:schemeClr val="accent2"/>
                </a:solidFill>
              </a:rPr>
              <a:t>10.00000      350.00000</a:t>
            </a:r>
          </a:p>
          <a:p>
            <a:r>
              <a:rPr lang="fr-FR" sz="1600"/>
              <a:t>CONDITIONS_DIRICHLET</a:t>
            </a:r>
          </a:p>
          <a:p>
            <a:r>
              <a:rPr lang="fr-FR" sz="1600"/>
              <a:t> 2</a:t>
            </a:r>
          </a:p>
          <a:p>
            <a:r>
              <a:rPr lang="fr-FR" sz="1600"/>
              <a:t> 1  300.0</a:t>
            </a:r>
          </a:p>
          <a:p>
            <a:r>
              <a:rPr lang="fr-FR" sz="1600"/>
              <a:t> 4  300.0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743075" y="280988"/>
            <a:ext cx="1123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mail0.pro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3276600" y="1341438"/>
            <a:ext cx="1504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Table des </a:t>
            </a:r>
          </a:p>
          <a:p>
            <a:r>
              <a:rPr lang="fr-FR"/>
              <a:t>coordonnées</a:t>
            </a:r>
          </a:p>
        </p:txBody>
      </p:sp>
      <p:grpSp>
        <p:nvGrpSpPr>
          <p:cNvPr id="16447" name="Group 63"/>
          <p:cNvGrpSpPr>
            <a:grpSpLocks/>
          </p:cNvGrpSpPr>
          <p:nvPr/>
        </p:nvGrpSpPr>
        <p:grpSpPr bwMode="auto">
          <a:xfrm>
            <a:off x="5003800" y="620713"/>
            <a:ext cx="4030663" cy="2686050"/>
            <a:chOff x="3016" y="1434"/>
            <a:chExt cx="2539" cy="1692"/>
          </a:xfrm>
        </p:grpSpPr>
        <p:grpSp>
          <p:nvGrpSpPr>
            <p:cNvPr id="16393" name="Group 9"/>
            <p:cNvGrpSpPr>
              <a:grpSpLocks/>
            </p:cNvGrpSpPr>
            <p:nvPr/>
          </p:nvGrpSpPr>
          <p:grpSpPr bwMode="auto">
            <a:xfrm>
              <a:off x="3016" y="1434"/>
              <a:ext cx="2539" cy="1692"/>
              <a:chOff x="3669" y="11801"/>
              <a:chExt cx="5508" cy="3668"/>
            </a:xfrm>
          </p:grpSpPr>
          <p:sp>
            <p:nvSpPr>
              <p:cNvPr id="16394" name="AutoShape 10"/>
              <p:cNvSpPr>
                <a:spLocks noChangeArrowheads="1"/>
              </p:cNvSpPr>
              <p:nvPr/>
            </p:nvSpPr>
            <p:spPr bwMode="auto">
              <a:xfrm>
                <a:off x="3870" y="12242"/>
                <a:ext cx="2462" cy="2698"/>
              </a:xfrm>
              <a:prstGeom prst="rtTriangl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395" name="AutoShape 11"/>
              <p:cNvSpPr>
                <a:spLocks noChangeArrowheads="1"/>
              </p:cNvSpPr>
              <p:nvPr/>
            </p:nvSpPr>
            <p:spPr bwMode="auto">
              <a:xfrm>
                <a:off x="6346" y="12223"/>
                <a:ext cx="2462" cy="2736"/>
              </a:xfrm>
              <a:prstGeom prst="rtTriangl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396" name="AutoShape 12"/>
              <p:cNvSpPr>
                <a:spLocks noChangeArrowheads="1"/>
              </p:cNvSpPr>
              <p:nvPr/>
            </p:nvSpPr>
            <p:spPr bwMode="auto">
              <a:xfrm flipH="1" flipV="1">
                <a:off x="3885" y="12245"/>
                <a:ext cx="2462" cy="2736"/>
              </a:xfrm>
              <a:prstGeom prst="rtTriangl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397" name="AutoShape 13"/>
              <p:cNvSpPr>
                <a:spLocks noChangeArrowheads="1"/>
              </p:cNvSpPr>
              <p:nvPr/>
            </p:nvSpPr>
            <p:spPr bwMode="auto">
              <a:xfrm flipH="1" flipV="1">
                <a:off x="6361" y="12235"/>
                <a:ext cx="2462" cy="2736"/>
              </a:xfrm>
              <a:prstGeom prst="rtTriangl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398" name="Text Box 14"/>
              <p:cNvSpPr txBox="1">
                <a:spLocks noChangeArrowheads="1"/>
              </p:cNvSpPr>
              <p:nvPr/>
            </p:nvSpPr>
            <p:spPr bwMode="auto">
              <a:xfrm>
                <a:off x="4269" y="13590"/>
                <a:ext cx="424" cy="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1</a:t>
                </a:r>
                <a:endParaRPr lang="fr-FR"/>
              </a:p>
            </p:txBody>
          </p:sp>
          <p:sp>
            <p:nvSpPr>
              <p:cNvPr id="16399" name="Oval 15"/>
              <p:cNvSpPr>
                <a:spLocks noChangeArrowheads="1"/>
              </p:cNvSpPr>
              <p:nvPr/>
            </p:nvSpPr>
            <p:spPr bwMode="auto">
              <a:xfrm>
                <a:off x="4281" y="13616"/>
                <a:ext cx="425" cy="43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00" name="Text Box 16"/>
              <p:cNvSpPr txBox="1">
                <a:spLocks noChangeArrowheads="1"/>
              </p:cNvSpPr>
              <p:nvPr/>
            </p:nvSpPr>
            <p:spPr bwMode="auto">
              <a:xfrm>
                <a:off x="5254" y="12737"/>
                <a:ext cx="424" cy="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2</a:t>
                </a:r>
                <a:endParaRPr lang="fr-FR"/>
              </a:p>
            </p:txBody>
          </p:sp>
          <p:sp>
            <p:nvSpPr>
              <p:cNvPr id="16401" name="Oval 17"/>
              <p:cNvSpPr>
                <a:spLocks noChangeArrowheads="1"/>
              </p:cNvSpPr>
              <p:nvPr/>
            </p:nvSpPr>
            <p:spPr bwMode="auto">
              <a:xfrm>
                <a:off x="5266" y="12763"/>
                <a:ext cx="425" cy="43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02" name="Text Box 18"/>
              <p:cNvSpPr txBox="1">
                <a:spLocks noChangeArrowheads="1"/>
              </p:cNvSpPr>
              <p:nvPr/>
            </p:nvSpPr>
            <p:spPr bwMode="auto">
              <a:xfrm>
                <a:off x="6862" y="13740"/>
                <a:ext cx="424" cy="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3</a:t>
                </a:r>
                <a:endParaRPr lang="fr-FR"/>
              </a:p>
            </p:txBody>
          </p:sp>
          <p:sp>
            <p:nvSpPr>
              <p:cNvPr id="16403" name="Oval 19"/>
              <p:cNvSpPr>
                <a:spLocks noChangeArrowheads="1"/>
              </p:cNvSpPr>
              <p:nvPr/>
            </p:nvSpPr>
            <p:spPr bwMode="auto">
              <a:xfrm>
                <a:off x="6874" y="13766"/>
                <a:ext cx="425" cy="43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04" name="Text Box 20"/>
              <p:cNvSpPr txBox="1">
                <a:spLocks noChangeArrowheads="1"/>
              </p:cNvSpPr>
              <p:nvPr/>
            </p:nvSpPr>
            <p:spPr bwMode="auto">
              <a:xfrm>
                <a:off x="7878" y="12622"/>
                <a:ext cx="424" cy="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4</a:t>
                </a:r>
                <a:endParaRPr lang="fr-FR"/>
              </a:p>
            </p:txBody>
          </p:sp>
          <p:sp>
            <p:nvSpPr>
              <p:cNvPr id="16405" name="Oval 21"/>
              <p:cNvSpPr>
                <a:spLocks noChangeArrowheads="1"/>
              </p:cNvSpPr>
              <p:nvPr/>
            </p:nvSpPr>
            <p:spPr bwMode="auto">
              <a:xfrm>
                <a:off x="7890" y="12648"/>
                <a:ext cx="425" cy="43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06" name="Text Box 22"/>
              <p:cNvSpPr txBox="1">
                <a:spLocks noChangeArrowheads="1"/>
              </p:cNvSpPr>
              <p:nvPr/>
            </p:nvSpPr>
            <p:spPr bwMode="auto">
              <a:xfrm>
                <a:off x="3857" y="14607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</a:t>
                </a:r>
                <a:endParaRPr lang="fr-FR"/>
              </a:p>
            </p:txBody>
          </p:sp>
          <p:sp>
            <p:nvSpPr>
              <p:cNvPr id="16407" name="Text Box 23"/>
              <p:cNvSpPr txBox="1">
                <a:spLocks noChangeArrowheads="1"/>
              </p:cNvSpPr>
              <p:nvPr/>
            </p:nvSpPr>
            <p:spPr bwMode="auto">
              <a:xfrm>
                <a:off x="5670" y="14588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II</a:t>
                </a:r>
                <a:endParaRPr lang="fr-FR"/>
              </a:p>
            </p:txBody>
          </p:sp>
          <p:sp>
            <p:nvSpPr>
              <p:cNvPr id="16408" name="Text Box 24"/>
              <p:cNvSpPr txBox="1">
                <a:spLocks noChangeArrowheads="1"/>
              </p:cNvSpPr>
              <p:nvPr/>
            </p:nvSpPr>
            <p:spPr bwMode="auto">
              <a:xfrm>
                <a:off x="3788" y="12527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000" b="1"/>
                  <a:t>III</a:t>
                </a:r>
                <a:endParaRPr lang="fr-FR"/>
              </a:p>
            </p:txBody>
          </p:sp>
          <p:sp>
            <p:nvSpPr>
              <p:cNvPr id="16409" name="Text Box 25"/>
              <p:cNvSpPr txBox="1">
                <a:spLocks noChangeArrowheads="1"/>
              </p:cNvSpPr>
              <p:nvPr/>
            </p:nvSpPr>
            <p:spPr bwMode="auto">
              <a:xfrm>
                <a:off x="6334" y="14629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</a:t>
                </a:r>
                <a:endParaRPr lang="fr-FR"/>
              </a:p>
            </p:txBody>
          </p:sp>
          <p:sp>
            <p:nvSpPr>
              <p:cNvPr id="16410" name="Text Box 26"/>
              <p:cNvSpPr txBox="1">
                <a:spLocks noChangeArrowheads="1"/>
              </p:cNvSpPr>
              <p:nvPr/>
            </p:nvSpPr>
            <p:spPr bwMode="auto">
              <a:xfrm>
                <a:off x="8147" y="14610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II</a:t>
                </a:r>
                <a:endParaRPr lang="fr-FR"/>
              </a:p>
            </p:txBody>
          </p:sp>
          <p:sp>
            <p:nvSpPr>
              <p:cNvPr id="16411" name="Text Box 27"/>
              <p:cNvSpPr txBox="1">
                <a:spLocks noChangeArrowheads="1"/>
              </p:cNvSpPr>
              <p:nvPr/>
            </p:nvSpPr>
            <p:spPr bwMode="auto">
              <a:xfrm>
                <a:off x="6265" y="12549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000" b="1"/>
                  <a:t>III</a:t>
                </a:r>
                <a:endParaRPr lang="fr-FR"/>
              </a:p>
            </p:txBody>
          </p:sp>
          <p:sp>
            <p:nvSpPr>
              <p:cNvPr id="16412" name="Text Box 28"/>
              <p:cNvSpPr txBox="1">
                <a:spLocks noChangeArrowheads="1"/>
              </p:cNvSpPr>
              <p:nvPr/>
            </p:nvSpPr>
            <p:spPr bwMode="auto">
              <a:xfrm>
                <a:off x="5872" y="12288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</a:t>
                </a:r>
                <a:endParaRPr lang="fr-FR"/>
              </a:p>
            </p:txBody>
          </p:sp>
          <p:sp>
            <p:nvSpPr>
              <p:cNvPr id="16413" name="Text Box 29"/>
              <p:cNvSpPr txBox="1">
                <a:spLocks noChangeArrowheads="1"/>
              </p:cNvSpPr>
              <p:nvPr/>
            </p:nvSpPr>
            <p:spPr bwMode="auto">
              <a:xfrm>
                <a:off x="4124" y="12281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II</a:t>
                </a:r>
                <a:endParaRPr lang="fr-FR"/>
              </a:p>
            </p:txBody>
          </p:sp>
          <p:sp>
            <p:nvSpPr>
              <p:cNvPr id="16414" name="Text Box 30"/>
              <p:cNvSpPr txBox="1">
                <a:spLocks noChangeArrowheads="1"/>
              </p:cNvSpPr>
              <p:nvPr/>
            </p:nvSpPr>
            <p:spPr bwMode="auto">
              <a:xfrm>
                <a:off x="5854" y="14206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000" b="1"/>
                  <a:t>III</a:t>
                </a:r>
                <a:endParaRPr lang="fr-FR"/>
              </a:p>
            </p:txBody>
          </p:sp>
          <p:sp>
            <p:nvSpPr>
              <p:cNvPr id="16415" name="Text Box 31"/>
              <p:cNvSpPr txBox="1">
                <a:spLocks noChangeArrowheads="1"/>
              </p:cNvSpPr>
              <p:nvPr/>
            </p:nvSpPr>
            <p:spPr bwMode="auto">
              <a:xfrm>
                <a:off x="8426" y="12283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</a:t>
                </a:r>
                <a:endParaRPr lang="fr-FR"/>
              </a:p>
            </p:txBody>
          </p:sp>
          <p:sp>
            <p:nvSpPr>
              <p:cNvPr id="16416" name="Text Box 32"/>
              <p:cNvSpPr txBox="1">
                <a:spLocks noChangeArrowheads="1"/>
              </p:cNvSpPr>
              <p:nvPr/>
            </p:nvSpPr>
            <p:spPr bwMode="auto">
              <a:xfrm>
                <a:off x="6627" y="12276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/>
                  <a:t>II</a:t>
                </a:r>
                <a:endParaRPr lang="fr-FR"/>
              </a:p>
            </p:txBody>
          </p:sp>
          <p:sp>
            <p:nvSpPr>
              <p:cNvPr id="16417" name="Text Box 33"/>
              <p:cNvSpPr txBox="1">
                <a:spLocks noChangeArrowheads="1"/>
              </p:cNvSpPr>
              <p:nvPr/>
            </p:nvSpPr>
            <p:spPr bwMode="auto">
              <a:xfrm>
                <a:off x="8357" y="14201"/>
                <a:ext cx="540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000" b="1"/>
                  <a:t>III</a:t>
                </a:r>
                <a:endParaRPr lang="fr-FR"/>
              </a:p>
            </p:txBody>
          </p:sp>
          <p:sp>
            <p:nvSpPr>
              <p:cNvPr id="16418" name="Text Box 34"/>
              <p:cNvSpPr txBox="1">
                <a:spLocks noChangeArrowheads="1"/>
              </p:cNvSpPr>
              <p:nvPr/>
            </p:nvSpPr>
            <p:spPr bwMode="auto">
              <a:xfrm>
                <a:off x="3678" y="14955"/>
                <a:ext cx="553" cy="5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 i="1"/>
                  <a:t>1</a:t>
                </a:r>
                <a:endParaRPr lang="fr-FR"/>
              </a:p>
            </p:txBody>
          </p:sp>
          <p:sp>
            <p:nvSpPr>
              <p:cNvPr id="16419" name="Text Box 35"/>
              <p:cNvSpPr txBox="1">
                <a:spLocks noChangeArrowheads="1"/>
              </p:cNvSpPr>
              <p:nvPr/>
            </p:nvSpPr>
            <p:spPr bwMode="auto">
              <a:xfrm>
                <a:off x="6155" y="11810"/>
                <a:ext cx="553" cy="5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 i="1"/>
                  <a:t>5</a:t>
                </a:r>
                <a:endParaRPr lang="fr-FR"/>
              </a:p>
            </p:txBody>
          </p:sp>
          <p:sp>
            <p:nvSpPr>
              <p:cNvPr id="16420" name="Text Box 36"/>
              <p:cNvSpPr txBox="1">
                <a:spLocks noChangeArrowheads="1"/>
              </p:cNvSpPr>
              <p:nvPr/>
            </p:nvSpPr>
            <p:spPr bwMode="auto">
              <a:xfrm>
                <a:off x="3669" y="11801"/>
                <a:ext cx="553" cy="5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 i="1"/>
                  <a:t>4</a:t>
                </a:r>
                <a:endParaRPr lang="fr-FR"/>
              </a:p>
            </p:txBody>
          </p:sp>
          <p:sp>
            <p:nvSpPr>
              <p:cNvPr id="16421" name="Text Box 37"/>
              <p:cNvSpPr txBox="1">
                <a:spLocks noChangeArrowheads="1"/>
              </p:cNvSpPr>
              <p:nvPr/>
            </p:nvSpPr>
            <p:spPr bwMode="auto">
              <a:xfrm>
                <a:off x="8615" y="14968"/>
                <a:ext cx="553" cy="5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 i="1"/>
                  <a:t>3</a:t>
                </a:r>
                <a:endParaRPr lang="fr-FR"/>
              </a:p>
            </p:txBody>
          </p:sp>
          <p:sp>
            <p:nvSpPr>
              <p:cNvPr id="16422" name="Text Box 38"/>
              <p:cNvSpPr txBox="1">
                <a:spLocks noChangeArrowheads="1"/>
              </p:cNvSpPr>
              <p:nvPr/>
            </p:nvSpPr>
            <p:spPr bwMode="auto">
              <a:xfrm>
                <a:off x="6118" y="14963"/>
                <a:ext cx="553" cy="4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 i="1"/>
                  <a:t>2</a:t>
                </a:r>
                <a:endParaRPr lang="fr-FR"/>
              </a:p>
            </p:txBody>
          </p:sp>
          <p:sp>
            <p:nvSpPr>
              <p:cNvPr id="16423" name="Text Box 39"/>
              <p:cNvSpPr txBox="1">
                <a:spLocks noChangeArrowheads="1"/>
              </p:cNvSpPr>
              <p:nvPr/>
            </p:nvSpPr>
            <p:spPr bwMode="auto">
              <a:xfrm>
                <a:off x="8624" y="11854"/>
                <a:ext cx="553" cy="5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fr-FR" sz="1200" b="1" i="1"/>
                  <a:t>6</a:t>
                </a:r>
                <a:endParaRPr lang="fr-FR"/>
              </a:p>
            </p:txBody>
          </p:sp>
          <p:sp>
            <p:nvSpPr>
              <p:cNvPr id="16424" name="Oval 40"/>
              <p:cNvSpPr>
                <a:spLocks noChangeArrowheads="1"/>
              </p:cNvSpPr>
              <p:nvPr/>
            </p:nvSpPr>
            <p:spPr bwMode="auto">
              <a:xfrm>
                <a:off x="3819" y="14889"/>
                <a:ext cx="141" cy="141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25" name="Oval 41"/>
              <p:cNvSpPr>
                <a:spLocks noChangeArrowheads="1"/>
              </p:cNvSpPr>
              <p:nvPr/>
            </p:nvSpPr>
            <p:spPr bwMode="auto">
              <a:xfrm>
                <a:off x="3789" y="12149"/>
                <a:ext cx="141" cy="141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26" name="Oval 42"/>
              <p:cNvSpPr>
                <a:spLocks noChangeArrowheads="1"/>
              </p:cNvSpPr>
              <p:nvPr/>
            </p:nvSpPr>
            <p:spPr bwMode="auto">
              <a:xfrm>
                <a:off x="6266" y="14906"/>
                <a:ext cx="141" cy="141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27" name="Oval 43"/>
              <p:cNvSpPr>
                <a:spLocks noChangeArrowheads="1"/>
              </p:cNvSpPr>
              <p:nvPr/>
            </p:nvSpPr>
            <p:spPr bwMode="auto">
              <a:xfrm>
                <a:off x="6287" y="12192"/>
                <a:ext cx="141" cy="141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28" name="Oval 44"/>
              <p:cNvSpPr>
                <a:spLocks noChangeArrowheads="1"/>
              </p:cNvSpPr>
              <p:nvPr/>
            </p:nvSpPr>
            <p:spPr bwMode="auto">
              <a:xfrm>
                <a:off x="8765" y="14846"/>
                <a:ext cx="141" cy="141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29" name="Oval 45"/>
              <p:cNvSpPr>
                <a:spLocks noChangeArrowheads="1"/>
              </p:cNvSpPr>
              <p:nvPr/>
            </p:nvSpPr>
            <p:spPr bwMode="auto">
              <a:xfrm>
                <a:off x="8760" y="12183"/>
                <a:ext cx="141" cy="141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6431" name="AutoShape 47"/>
            <p:cNvSpPr>
              <a:spLocks noChangeAspect="1" noChangeArrowheads="1"/>
            </p:cNvSpPr>
            <p:nvPr/>
          </p:nvSpPr>
          <p:spPr bwMode="auto">
            <a:xfrm>
              <a:off x="3129" y="1706"/>
              <a:ext cx="1021" cy="1143"/>
            </a:xfrm>
            <a:prstGeom prst="rtTriangle">
              <a:avLst/>
            </a:prstGeom>
            <a:solidFill>
              <a:srgbClr val="FF0000">
                <a:alpha val="4900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32" name="AutoShape 48"/>
            <p:cNvSpPr>
              <a:spLocks noChangeAspect="1" noChangeArrowheads="1"/>
            </p:cNvSpPr>
            <p:nvPr/>
          </p:nvSpPr>
          <p:spPr bwMode="auto">
            <a:xfrm>
              <a:off x="4286" y="1706"/>
              <a:ext cx="1021" cy="1143"/>
            </a:xfrm>
            <a:prstGeom prst="rtTriangle">
              <a:avLst/>
            </a:prstGeom>
            <a:solidFill>
              <a:srgbClr val="FF0000">
                <a:alpha val="4900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33" name="AutoShape 49"/>
            <p:cNvSpPr>
              <a:spLocks noChangeAspect="1" noChangeArrowheads="1"/>
            </p:cNvSpPr>
            <p:nvPr/>
          </p:nvSpPr>
          <p:spPr bwMode="auto">
            <a:xfrm rot="10800000">
              <a:off x="3181" y="1674"/>
              <a:ext cx="1021" cy="1143"/>
            </a:xfrm>
            <a:prstGeom prst="rtTriangle">
              <a:avLst/>
            </a:prstGeom>
            <a:solidFill>
              <a:srgbClr val="FF0000">
                <a:alpha val="4900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35" name="AutoShape 51"/>
            <p:cNvSpPr>
              <a:spLocks noChangeAspect="1" noChangeArrowheads="1"/>
            </p:cNvSpPr>
            <p:nvPr/>
          </p:nvSpPr>
          <p:spPr bwMode="auto">
            <a:xfrm rot="10800000">
              <a:off x="4332" y="1661"/>
              <a:ext cx="1021" cy="1143"/>
            </a:xfrm>
            <a:prstGeom prst="rtTriangle">
              <a:avLst/>
            </a:prstGeom>
            <a:solidFill>
              <a:srgbClr val="FF0000">
                <a:alpha val="4900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36" name="Line 52"/>
            <p:cNvSpPr>
              <a:spLocks noChangeShapeType="1"/>
            </p:cNvSpPr>
            <p:nvPr/>
          </p:nvSpPr>
          <p:spPr bwMode="auto">
            <a:xfrm>
              <a:off x="3152" y="1616"/>
              <a:ext cx="1043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6437" name="Line 53"/>
            <p:cNvSpPr>
              <a:spLocks noChangeShapeType="1"/>
            </p:cNvSpPr>
            <p:nvPr/>
          </p:nvSpPr>
          <p:spPr bwMode="auto">
            <a:xfrm>
              <a:off x="4286" y="1616"/>
              <a:ext cx="1043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6438" name="Line 54"/>
            <p:cNvSpPr>
              <a:spLocks noChangeShapeType="1"/>
            </p:cNvSpPr>
            <p:nvPr/>
          </p:nvSpPr>
          <p:spPr bwMode="auto">
            <a:xfrm>
              <a:off x="3152" y="2886"/>
              <a:ext cx="1043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6439" name="Line 55"/>
            <p:cNvSpPr>
              <a:spLocks noChangeShapeType="1"/>
            </p:cNvSpPr>
            <p:nvPr/>
          </p:nvSpPr>
          <p:spPr bwMode="auto">
            <a:xfrm>
              <a:off x="4286" y="2886"/>
              <a:ext cx="1043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6440" name="Oval 56"/>
            <p:cNvSpPr>
              <a:spLocks noChangeArrowheads="1"/>
            </p:cNvSpPr>
            <p:nvPr/>
          </p:nvSpPr>
          <p:spPr bwMode="auto">
            <a:xfrm>
              <a:off x="3032" y="1565"/>
              <a:ext cx="136" cy="13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43" name="Oval 59"/>
            <p:cNvSpPr>
              <a:spLocks noChangeArrowheads="1"/>
            </p:cNvSpPr>
            <p:nvPr/>
          </p:nvSpPr>
          <p:spPr bwMode="auto">
            <a:xfrm>
              <a:off x="3048" y="2799"/>
              <a:ext cx="136" cy="13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448" name="Text Box 64"/>
          <p:cNvSpPr txBox="1">
            <a:spLocks noChangeArrowheads="1"/>
          </p:cNvSpPr>
          <p:nvPr/>
        </p:nvSpPr>
        <p:spPr bwMode="auto">
          <a:xfrm>
            <a:off x="1979613" y="3573463"/>
            <a:ext cx="4191000" cy="9445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TYP	NBN		NRG</a:t>
            </a:r>
          </a:p>
          <a:p>
            <a:r>
              <a:rPr lang="fr-FR"/>
              <a:t>2 (surf)	3 (nb de nœuds)	n° de région</a:t>
            </a:r>
          </a:p>
          <a:p>
            <a:r>
              <a:rPr lang="fr-FR"/>
              <a:t>1 (lin)	2 (nb de nœuds)	n° de région</a:t>
            </a:r>
          </a:p>
        </p:txBody>
      </p:sp>
      <p:sp>
        <p:nvSpPr>
          <p:cNvPr id="16449" name="Rectangle 65"/>
          <p:cNvSpPr>
            <a:spLocks noChangeArrowheads="1"/>
          </p:cNvSpPr>
          <p:nvPr/>
        </p:nvSpPr>
        <p:spPr bwMode="auto">
          <a:xfrm>
            <a:off x="6227763" y="3573463"/>
            <a:ext cx="2736850" cy="935037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6450" name="Text Box 66"/>
          <p:cNvSpPr txBox="1">
            <a:spLocks noChangeArrowheads="1"/>
          </p:cNvSpPr>
          <p:nvPr/>
        </p:nvSpPr>
        <p:spPr bwMode="auto">
          <a:xfrm>
            <a:off x="6443663" y="3860800"/>
            <a:ext cx="2343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Table de connectivité</a:t>
            </a:r>
          </a:p>
        </p:txBody>
      </p:sp>
      <p:sp>
        <p:nvSpPr>
          <p:cNvPr id="16451" name="Rectangle 67"/>
          <p:cNvSpPr>
            <a:spLocks noChangeArrowheads="1"/>
          </p:cNvSpPr>
          <p:nvPr/>
        </p:nvSpPr>
        <p:spPr bwMode="auto">
          <a:xfrm>
            <a:off x="250825" y="2852738"/>
            <a:ext cx="576263" cy="19446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6452" name="Rectangle 68"/>
          <p:cNvSpPr>
            <a:spLocks noChangeArrowheads="1"/>
          </p:cNvSpPr>
          <p:nvPr/>
        </p:nvSpPr>
        <p:spPr bwMode="auto">
          <a:xfrm>
            <a:off x="971550" y="2852738"/>
            <a:ext cx="720725" cy="1944687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6453" name="Text Box 69"/>
          <p:cNvSpPr txBox="1">
            <a:spLocks noChangeArrowheads="1"/>
          </p:cNvSpPr>
          <p:nvPr/>
        </p:nvSpPr>
        <p:spPr bwMode="auto">
          <a:xfrm>
            <a:off x="5597525" y="4919663"/>
            <a:ext cx="3222625" cy="9445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Nb de regions</a:t>
            </a:r>
          </a:p>
          <a:p>
            <a:r>
              <a:rPr lang="fr-FR"/>
              <a:t>kth	qth	hcv	Ta</a:t>
            </a:r>
          </a:p>
          <a:p>
            <a:endParaRPr lang="fr-FR"/>
          </a:p>
        </p:txBody>
      </p:sp>
      <p:sp>
        <p:nvSpPr>
          <p:cNvPr id="16454" name="Text Box 70"/>
          <p:cNvSpPr txBox="1">
            <a:spLocks noChangeArrowheads="1"/>
          </p:cNvSpPr>
          <p:nvPr/>
        </p:nvSpPr>
        <p:spPr bwMode="auto">
          <a:xfrm>
            <a:off x="2001838" y="6273800"/>
            <a:ext cx="2930525" cy="395288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N° de nœud	T(nœud)</a:t>
            </a:r>
          </a:p>
        </p:txBody>
      </p:sp>
      <p:sp>
        <p:nvSpPr>
          <p:cNvPr id="63" name="Espace réservé du numéro de diapositive 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11188" y="901700"/>
            <a:ext cx="4813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function [fem, err]=lecture_probleme(nomfich)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250825" y="188913"/>
            <a:ext cx="5118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Lecture des fichiers de données .pro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3492500" y="1752600"/>
            <a:ext cx="1482725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x : abscisse</a:t>
            </a:r>
          </a:p>
          <a:p>
            <a:r>
              <a:rPr lang="fr-FR"/>
              <a:t>y : ordonnée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3492500" y="2760663"/>
            <a:ext cx="4505325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TYP	: type linéique 1 ou surfacique 2</a:t>
            </a:r>
          </a:p>
          <a:p>
            <a:r>
              <a:rPr lang="fr-FR"/>
              <a:t>NBN	: nb de nœuds de l’élément</a:t>
            </a:r>
          </a:p>
          <a:p>
            <a:r>
              <a:rPr lang="fr-FR"/>
              <a:t>NRG	: n° de la région</a:t>
            </a:r>
          </a:p>
          <a:p>
            <a:r>
              <a:rPr lang="fr-FR"/>
              <a:t>ind()	: tableau des nœuds de l’élément</a:t>
            </a:r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3492500" y="4200525"/>
            <a:ext cx="3116263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/>
              <a:t>kth : conductivité thermique</a:t>
            </a:r>
          </a:p>
          <a:p>
            <a:r>
              <a:rPr lang="fr-FR"/>
              <a:t>qth : source de chaleur</a:t>
            </a:r>
          </a:p>
          <a:p>
            <a:r>
              <a:rPr lang="fr-FR"/>
              <a:t>hcv : coefficient d’échange	</a:t>
            </a:r>
          </a:p>
          <a:p>
            <a:r>
              <a:rPr lang="fr-FR"/>
              <a:t>Ta : Température ambiante</a:t>
            </a:r>
          </a:p>
        </p:txBody>
      </p:sp>
      <p:grpSp>
        <p:nvGrpSpPr>
          <p:cNvPr id="15380" name="Group 20"/>
          <p:cNvGrpSpPr>
            <a:grpSpLocks/>
          </p:cNvGrpSpPr>
          <p:nvPr/>
        </p:nvGrpSpPr>
        <p:grpSpPr bwMode="auto">
          <a:xfrm>
            <a:off x="623888" y="1824038"/>
            <a:ext cx="2724150" cy="4464050"/>
            <a:chOff x="113" y="890"/>
            <a:chExt cx="1716" cy="2812"/>
          </a:xfrm>
        </p:grpSpPr>
        <p:sp>
          <p:nvSpPr>
            <p:cNvPr id="15369" name="Text Box 9"/>
            <p:cNvSpPr txBox="1">
              <a:spLocks noChangeArrowheads="1"/>
            </p:cNvSpPr>
            <p:nvPr/>
          </p:nvSpPr>
          <p:spPr bwMode="auto">
            <a:xfrm>
              <a:off x="113" y="2568"/>
              <a:ext cx="171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/>
                <a:t>structure </a:t>
              </a:r>
              <a:r>
                <a:rPr lang="fr-FR" b="1"/>
                <a:t>equ</a:t>
              </a:r>
            </a:p>
            <a:p>
              <a:r>
                <a:rPr lang="fr-FR"/>
                <a:t>Paramètres de l’équation</a:t>
              </a:r>
            </a:p>
          </p:txBody>
        </p:sp>
        <p:sp>
          <p:nvSpPr>
            <p:cNvPr id="15371" name="Text Box 11"/>
            <p:cNvSpPr txBox="1">
              <a:spLocks noChangeArrowheads="1"/>
            </p:cNvSpPr>
            <p:nvPr/>
          </p:nvSpPr>
          <p:spPr bwMode="auto">
            <a:xfrm>
              <a:off x="113" y="890"/>
              <a:ext cx="138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/>
                <a:t>structure </a:t>
              </a:r>
              <a:r>
                <a:rPr lang="fr-FR" b="1"/>
                <a:t>nœud</a:t>
              </a:r>
            </a:p>
            <a:p>
              <a:r>
                <a:rPr lang="fr-FR"/>
                <a:t>Position d’un noeud</a:t>
              </a:r>
            </a:p>
          </p:txBody>
        </p:sp>
        <p:sp>
          <p:nvSpPr>
            <p:cNvPr id="15374" name="Rectangle 14"/>
            <p:cNvSpPr>
              <a:spLocks noChangeArrowheads="1"/>
            </p:cNvSpPr>
            <p:nvPr/>
          </p:nvSpPr>
          <p:spPr bwMode="auto">
            <a:xfrm>
              <a:off x="113" y="1706"/>
              <a:ext cx="170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/>
                <a:t>structure </a:t>
              </a:r>
              <a:r>
                <a:rPr lang="fr-FR" b="1"/>
                <a:t>elt</a:t>
              </a:r>
            </a:p>
            <a:p>
              <a:r>
                <a:rPr lang="fr-FR"/>
                <a:t>Description d’un élément</a:t>
              </a:r>
            </a:p>
          </p:txBody>
        </p:sp>
        <p:sp>
          <p:nvSpPr>
            <p:cNvPr id="15378" name="Text Box 18"/>
            <p:cNvSpPr txBox="1">
              <a:spLocks noChangeArrowheads="1"/>
            </p:cNvSpPr>
            <p:nvPr/>
          </p:nvSpPr>
          <p:spPr bwMode="auto">
            <a:xfrm>
              <a:off x="113" y="3298"/>
              <a:ext cx="135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/>
                <a:t>structure </a:t>
              </a:r>
              <a:r>
                <a:rPr lang="fr-FR" b="1"/>
                <a:t>cld</a:t>
              </a:r>
            </a:p>
            <a:p>
              <a:r>
                <a:rPr lang="fr-FR"/>
                <a:t>Conditions Dirichlet</a:t>
              </a:r>
            </a:p>
          </p:txBody>
        </p:sp>
      </p:grp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3492500" y="5711825"/>
            <a:ext cx="4319588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/>
              <a:t>ind() : tableau des nœuds de Dirichlet </a:t>
            </a:r>
          </a:p>
          <a:p>
            <a:r>
              <a:rPr lang="fr-FR"/>
              <a:t>val() : tableau des valeurs aux noeuds</a:t>
            </a:r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5724525" y="260350"/>
            <a:ext cx="220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lecture_probleme.m</a:t>
            </a:r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5724525" y="908050"/>
            <a:ext cx="3143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fem est une structure qui</a:t>
            </a:r>
          </a:p>
          <a:p>
            <a:r>
              <a:rPr lang="fr-FR"/>
              <a:t>encapsule plusieurs données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39750" y="2133600"/>
            <a:ext cx="1690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000"/>
              <a:t>structure </a:t>
            </a:r>
            <a:r>
              <a:rPr lang="fr-FR" sz="2000" b="1"/>
              <a:t>fem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2411413" y="549275"/>
            <a:ext cx="5241925" cy="36909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dirty="0"/>
              <a:t>NP : nombre de </a:t>
            </a:r>
            <a:r>
              <a:rPr lang="fr-FR" dirty="0" err="1"/>
              <a:t>noeuds</a:t>
            </a:r>
            <a:endParaRPr lang="fr-FR" dirty="0"/>
          </a:p>
          <a:p>
            <a:r>
              <a:rPr lang="fr-FR" dirty="0"/>
              <a:t>nœud()	: tableau de structure </a:t>
            </a:r>
            <a:r>
              <a:rPr lang="fr-FR" b="1" dirty="0"/>
              <a:t>nœud</a:t>
            </a:r>
          </a:p>
          <a:p>
            <a:endParaRPr lang="fr-FR" b="1" dirty="0"/>
          </a:p>
          <a:p>
            <a:r>
              <a:rPr lang="fr-FR" dirty="0"/>
              <a:t>NE	: nombre d’éléments</a:t>
            </a:r>
          </a:p>
          <a:p>
            <a:r>
              <a:rPr lang="fr-FR" dirty="0" err="1"/>
              <a:t>elt</a:t>
            </a:r>
            <a:r>
              <a:rPr lang="fr-FR" dirty="0"/>
              <a:t>()	: tableau de structure </a:t>
            </a:r>
            <a:r>
              <a:rPr lang="fr-FR" b="1" dirty="0" err="1"/>
              <a:t>elt</a:t>
            </a:r>
            <a:endParaRPr lang="fr-FR" b="1" dirty="0"/>
          </a:p>
          <a:p>
            <a:endParaRPr lang="fr-FR" b="1" dirty="0"/>
          </a:p>
          <a:p>
            <a:r>
              <a:rPr lang="fr-FR" smtClean="0"/>
              <a:t>NRG</a:t>
            </a:r>
            <a:r>
              <a:rPr lang="fr-FR"/>
              <a:t>	: nombre de régions</a:t>
            </a:r>
          </a:p>
          <a:p>
            <a:r>
              <a:rPr lang="fr-FR" dirty="0" err="1"/>
              <a:t>equ</a:t>
            </a:r>
            <a:r>
              <a:rPr lang="fr-FR" dirty="0"/>
              <a:t>()	: tableau de structure </a:t>
            </a:r>
            <a:r>
              <a:rPr lang="fr-FR" b="1" dirty="0" err="1"/>
              <a:t>equ</a:t>
            </a:r>
            <a:endParaRPr lang="fr-FR" b="1" dirty="0"/>
          </a:p>
          <a:p>
            <a:endParaRPr lang="fr-FR" b="1" dirty="0"/>
          </a:p>
          <a:p>
            <a:r>
              <a:rPr lang="fr-FR" dirty="0"/>
              <a:t>NCLD	: nombre de conditions de Dirichlet</a:t>
            </a:r>
          </a:p>
          <a:p>
            <a:r>
              <a:rPr lang="fr-FR" dirty="0" err="1"/>
              <a:t>cld</a:t>
            </a:r>
            <a:r>
              <a:rPr lang="fr-FR" dirty="0"/>
              <a:t>()	: tableau de structure </a:t>
            </a:r>
            <a:r>
              <a:rPr lang="fr-FR" b="1" dirty="0" err="1"/>
              <a:t>cld</a:t>
            </a:r>
            <a:endParaRPr lang="fr-FR" b="1" dirty="0"/>
          </a:p>
          <a:p>
            <a:endParaRPr lang="fr-FR" b="1" dirty="0"/>
          </a:p>
          <a:p>
            <a:r>
              <a:rPr lang="fr-FR" dirty="0"/>
              <a:t>sol()	: tableau de la solution en chaque </a:t>
            </a:r>
            <a:r>
              <a:rPr lang="fr-FR" dirty="0" err="1"/>
              <a:t>noeud</a:t>
            </a:r>
            <a:endParaRPr lang="fr-FR" dirty="0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31775" y="4673600"/>
            <a:ext cx="551815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Exemples d’utilisation :</a:t>
            </a:r>
          </a:p>
          <a:p>
            <a:r>
              <a:rPr lang="fr-FR"/>
              <a:t>Nœud 1	:	fem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noeud(1)</a:t>
            </a:r>
          </a:p>
          <a:p>
            <a:r>
              <a:rPr lang="fr-FR"/>
              <a:t>Coordonnées	fem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noeud(1)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x	fem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nœud(1)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y</a:t>
            </a:r>
          </a:p>
          <a:p>
            <a:endParaRPr lang="fr-FR"/>
          </a:p>
          <a:p>
            <a:r>
              <a:rPr lang="fr-FR"/>
              <a:t>Elément 1 :			fem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elt(1)</a:t>
            </a:r>
          </a:p>
          <a:p>
            <a:r>
              <a:rPr lang="fr-FR"/>
              <a:t>Nœuds de l’élément 1		fem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elt(1)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ind</a:t>
            </a:r>
          </a:p>
          <a:p>
            <a:r>
              <a:rPr lang="fr-FR"/>
              <a:t>n</a:t>
            </a:r>
            <a:r>
              <a:rPr lang="fr-FR" baseline="30000"/>
              <a:t>ème</a:t>
            </a:r>
            <a:r>
              <a:rPr lang="fr-FR"/>
              <a:t> nœud de l’élément 1		fem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elt(1)</a:t>
            </a:r>
            <a:r>
              <a:rPr lang="fr-FR" sz="1000">
                <a:sym typeface="Wingdings" pitchFamily="2" charset="2"/>
              </a:rPr>
              <a:t></a:t>
            </a:r>
            <a:r>
              <a:rPr lang="fr-FR"/>
              <a:t>ind(n)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 r="13812" b="37581"/>
          <a:stretch>
            <a:fillRect/>
          </a:stretch>
        </p:blipFill>
        <p:spPr bwMode="auto">
          <a:xfrm>
            <a:off x="0" y="765175"/>
            <a:ext cx="8964613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203575" y="2743200"/>
            <a:ext cx="51498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Récupération du nombre de nœuds de l’élément </a:t>
            </a:r>
          </a:p>
          <a:p>
            <a:r>
              <a:rPr lang="fr-FR"/>
              <a:t>e=fem.elt(ne)</a:t>
            </a:r>
          </a:p>
          <a:p>
            <a:endParaRPr lang="fr-FR"/>
          </a:p>
          <a:p>
            <a:r>
              <a:rPr lang="fr-FR"/>
              <a:t>Initialisation de la matrice AE et du vecteur BE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4211638" y="5740400"/>
            <a:ext cx="49339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NPI  : nombre de points d’intégration de Gauss</a:t>
            </a:r>
          </a:p>
          <a:p>
            <a:r>
              <a:rPr lang="fr-FR"/>
              <a:t>pds  : tableau des poids de Gauss </a:t>
            </a:r>
          </a:p>
          <a:p>
            <a:r>
              <a:rPr lang="fr-FR"/>
              <a:t>detJ : tableau des déterminants jacobiens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250825" y="188913"/>
            <a:ext cx="4849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Calcul des intégrales élémentaires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5724525" y="260350"/>
            <a:ext cx="1428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integrales.m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250825" y="188913"/>
            <a:ext cx="88503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Contribution des elements linéiques à la matrice élémentaire AE</a:t>
            </a:r>
          </a:p>
          <a:p>
            <a:r>
              <a:rPr lang="en-US" sz="2400"/>
              <a:t>et au </a:t>
            </a:r>
            <a:r>
              <a:rPr lang="fr-FR" sz="2400"/>
              <a:t>vecteur</a:t>
            </a:r>
            <a:r>
              <a:rPr lang="en-US" sz="2400"/>
              <a:t> élémentaire BE</a:t>
            </a:r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285750" y="1052513"/>
            <a:ext cx="1549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Cas e.TYP=1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87979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Contribution des éléments surfaciques à la matrice élémentaire </a:t>
            </a:r>
          </a:p>
          <a:p>
            <a:r>
              <a:rPr lang="en-US" sz="2400"/>
              <a:t>AE et au </a:t>
            </a:r>
            <a:r>
              <a:rPr lang="fr-FR" sz="2400"/>
              <a:t>vecteur</a:t>
            </a:r>
            <a:r>
              <a:rPr lang="en-US" sz="2400"/>
              <a:t> élémentaire BE</a:t>
            </a:r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2" cstate="print"/>
          <a:srcRect b="65688"/>
          <a:stretch>
            <a:fillRect/>
          </a:stretch>
        </p:blipFill>
        <p:spPr bwMode="auto">
          <a:xfrm>
            <a:off x="0" y="1263650"/>
            <a:ext cx="9486900" cy="267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3708400" y="3068638"/>
            <a:ext cx="49339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/>
              <a:t>NPI  : nombre de points d’intégration de Gauss</a:t>
            </a:r>
          </a:p>
          <a:p>
            <a:r>
              <a:rPr lang="fr-FR"/>
              <a:t>pds  : tableau des poids de Gauss </a:t>
            </a:r>
          </a:p>
          <a:p>
            <a:r>
              <a:rPr lang="fr-FR"/>
              <a:t>detJ : tableau des déterminants jacobiens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987D-83DD-43F3-A1C1-2053BEE140A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</TotalTime>
  <Words>738</Words>
  <Application>Microsoft Office PowerPoint</Application>
  <PresentationFormat>Affichage à l'écran (4:3)</PresentationFormat>
  <Paragraphs>164</Paragraphs>
  <Slides>13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Calibri</vt:lpstr>
      <vt:lpstr>Symbol</vt:lpstr>
      <vt:lpstr>Times New Roman</vt:lpstr>
      <vt:lpstr>Wingdings</vt:lpstr>
      <vt:lpstr>Modèle par défaut</vt:lpstr>
      <vt:lpstr>Equation</vt:lpstr>
      <vt:lpstr>Equation de la thermique statique avec source de chaleur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toussain</dc:creator>
  <cp:lastModifiedBy>jean-christophe toussaint</cp:lastModifiedBy>
  <cp:revision>257</cp:revision>
  <dcterms:created xsi:type="dcterms:W3CDTF">2004-01-06T00:13:21Z</dcterms:created>
  <dcterms:modified xsi:type="dcterms:W3CDTF">2020-12-10T19:55:22Z</dcterms:modified>
</cp:coreProperties>
</file>