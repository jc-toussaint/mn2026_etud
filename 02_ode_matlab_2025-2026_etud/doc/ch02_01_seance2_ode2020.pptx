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7" r:id="rId11"/>
    <p:sldId id="266" r:id="rId12"/>
    <p:sldId id="268" r:id="rId13"/>
    <p:sldId id="307" r:id="rId14"/>
    <p:sldId id="270" r:id="rId15"/>
    <p:sldId id="273" r:id="rId16"/>
    <p:sldId id="271" r:id="rId17"/>
    <p:sldId id="272" r:id="rId18"/>
    <p:sldId id="274" r:id="rId19"/>
    <p:sldId id="276" r:id="rId20"/>
    <p:sldId id="275" r:id="rId21"/>
    <p:sldId id="277" r:id="rId22"/>
    <p:sldId id="308" r:id="rId23"/>
    <p:sldId id="309" r:id="rId24"/>
    <p:sldId id="306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8" r:id="rId44"/>
    <p:sldId id="299" r:id="rId45"/>
    <p:sldId id="300" r:id="rId46"/>
    <p:sldId id="303" r:id="rId47"/>
    <p:sldId id="304" r:id="rId48"/>
    <p:sldId id="301" r:id="rId49"/>
  </p:sldIdLst>
  <p:sldSz cx="9144000" cy="6858000" type="screen4x3"/>
  <p:notesSz cx="7315200" cy="96012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FF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8.wmf"/><Relationship Id="rId1" Type="http://schemas.openxmlformats.org/officeDocument/2006/relationships/image" Target="../media/image18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wmf"/><Relationship Id="rId1" Type="http://schemas.openxmlformats.org/officeDocument/2006/relationships/image" Target="../media/image45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4" Type="http://schemas.openxmlformats.org/officeDocument/2006/relationships/image" Target="../media/image54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7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64.wmf"/><Relationship Id="rId6" Type="http://schemas.openxmlformats.org/officeDocument/2006/relationships/image" Target="../media/image76.wmf"/><Relationship Id="rId5" Type="http://schemas.openxmlformats.org/officeDocument/2006/relationships/image" Target="../media/image75.wmf"/><Relationship Id="rId4" Type="http://schemas.openxmlformats.org/officeDocument/2006/relationships/image" Target="../media/image74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e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64.wmf"/><Relationship Id="rId6" Type="http://schemas.openxmlformats.org/officeDocument/2006/relationships/image" Target="../media/image87.wmf"/><Relationship Id="rId5" Type="http://schemas.openxmlformats.org/officeDocument/2006/relationships/image" Target="../media/image86.wmf"/><Relationship Id="rId4" Type="http://schemas.openxmlformats.org/officeDocument/2006/relationships/image" Target="../media/image8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emf"/><Relationship Id="rId1" Type="http://schemas.openxmlformats.org/officeDocument/2006/relationships/image" Target="../media/image88.wmf"/><Relationship Id="rId5" Type="http://schemas.openxmlformats.org/officeDocument/2006/relationships/image" Target="../media/image92.wmf"/><Relationship Id="rId4" Type="http://schemas.openxmlformats.org/officeDocument/2006/relationships/image" Target="../media/image91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emf"/><Relationship Id="rId3" Type="http://schemas.openxmlformats.org/officeDocument/2006/relationships/image" Target="../media/image99.wmf"/><Relationship Id="rId7" Type="http://schemas.openxmlformats.org/officeDocument/2006/relationships/image" Target="../media/image103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5" Type="http://schemas.openxmlformats.org/officeDocument/2006/relationships/image" Target="../media/image101.wmf"/><Relationship Id="rId4" Type="http://schemas.openxmlformats.org/officeDocument/2006/relationships/image" Target="../media/image100.wmf"/><Relationship Id="rId9" Type="http://schemas.openxmlformats.org/officeDocument/2006/relationships/image" Target="../media/image105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6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5" Type="http://schemas.openxmlformats.org/officeDocument/2006/relationships/image" Target="../media/image117.wmf"/><Relationship Id="rId4" Type="http://schemas.openxmlformats.org/officeDocument/2006/relationships/image" Target="../media/image116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5" Type="http://schemas.openxmlformats.org/officeDocument/2006/relationships/image" Target="../media/image121.wmf"/><Relationship Id="rId4" Type="http://schemas.openxmlformats.org/officeDocument/2006/relationships/image" Target="../media/image52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2.w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1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2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wmf"/><Relationship Id="rId2" Type="http://schemas.openxmlformats.org/officeDocument/2006/relationships/image" Target="../media/image138.wmf"/><Relationship Id="rId1" Type="http://schemas.openxmlformats.org/officeDocument/2006/relationships/image" Target="../media/image137.wmf"/><Relationship Id="rId5" Type="http://schemas.openxmlformats.org/officeDocument/2006/relationships/image" Target="../media/image52.wmf"/><Relationship Id="rId4" Type="http://schemas.openxmlformats.org/officeDocument/2006/relationships/image" Target="../media/image140.w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1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9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wmf"/><Relationship Id="rId1" Type="http://schemas.openxmlformats.org/officeDocument/2006/relationships/image" Target="../media/image1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fld id="{79690A35-C68A-4651-A6FD-1CAD83866DB9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24D34D7-1910-4201-819A-2CFAED04D3E6}" type="slidenum">
              <a:rPr lang="fr-FR" altLang="fr-FR" sz="1300"/>
              <a:pPr/>
              <a:t>4</a:t>
            </a:fld>
            <a:endParaRPr lang="fr-FR" altLang="fr-FR" sz="1300"/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3B85D67-CC02-461B-A2CB-C6248089D4C5}" type="slidenum">
              <a:rPr lang="fr-FR" altLang="fr-FR" sz="1300"/>
              <a:pPr/>
              <a:t>5</a:t>
            </a:fld>
            <a:endParaRPr lang="fr-FR" altLang="fr-FR" sz="130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F2E786-BCB9-4139-8E4E-4323E05A5483}" type="slidenum">
              <a:rPr lang="fr-FR" altLang="fr-FR" sz="1300"/>
              <a:pPr/>
              <a:t>6</a:t>
            </a:fld>
            <a:endParaRPr lang="fr-FR" altLang="fr-FR" sz="1300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1E9B590-57F1-4C55-8072-BA7AE2364210}" type="slidenum">
              <a:rPr lang="fr-FR" altLang="fr-FR" sz="1300"/>
              <a:pPr/>
              <a:t>7</a:t>
            </a:fld>
            <a:endParaRPr lang="fr-FR" altLang="fr-FR" sz="1300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7ED53F0-FDAA-4D3D-860F-4FC04C43759A}" type="slidenum">
              <a:rPr lang="fr-FR" altLang="fr-FR" sz="1300"/>
              <a:pPr/>
              <a:t>8</a:t>
            </a:fld>
            <a:endParaRPr lang="fr-FR" altLang="fr-FR" sz="1300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044E351-2439-4D22-B2FC-0F797A823645}" type="slidenum">
              <a:rPr lang="fr-FR" altLang="fr-FR" sz="1300"/>
              <a:pPr/>
              <a:t>15</a:t>
            </a:fld>
            <a:endParaRPr lang="fr-FR" altLang="fr-FR" sz="130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3123B1-85DB-4868-8581-52D4DB82844D}" type="slidenum">
              <a:rPr lang="fr-FR" altLang="fr-FR" sz="1300"/>
              <a:pPr/>
              <a:t>16</a:t>
            </a:fld>
            <a:endParaRPr lang="fr-FR" altLang="fr-FR" sz="1300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E61375E-3739-4A93-8FFB-6A1AD0681268}" type="slidenum">
              <a:rPr lang="fr-FR" altLang="fr-FR" sz="1300"/>
              <a:pPr/>
              <a:t>21</a:t>
            </a:fld>
            <a:endParaRPr lang="fr-FR" altLang="fr-FR" sz="1300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17A734A-0222-46CF-9111-7246048672A7}" type="slidenum">
              <a:rPr lang="fr-FR" altLang="fr-FR" sz="1300"/>
              <a:pPr/>
              <a:t>32</a:t>
            </a:fld>
            <a:endParaRPr lang="fr-FR" altLang="fr-FR" sz="130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371682-F70A-47FF-8C8D-EA0A9186A7B9}" type="slidenum">
              <a:rPr lang="fr-FR" altLang="fr-FR" sz="1300"/>
              <a:pPr/>
              <a:t>37</a:t>
            </a:fld>
            <a:endParaRPr lang="fr-FR" altLang="fr-FR" sz="130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6ABD54-B458-4F52-943F-1676C84F0B50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14760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6A54B5-FFBE-4CA1-9858-2B2063B02E3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311132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44816D-2CDB-4104-9C09-F89FE637CB9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272575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947C98-20AC-4ADD-AF3A-C4C7050AD7F3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019224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06DAC5-6791-4A57-A634-CB1C526DFD8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785781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DDB6C3-0465-4932-96EC-78D2FC71D651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3546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E5E5A-52B5-40CF-98A0-E4C3D9D6275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34204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8613B4-F000-444D-8536-842B724A156F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9943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E3F679-E620-4505-A2B0-64E20F3B2D22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95967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2013CD-C78A-404D-922D-206A4B98CA6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92491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CBFCEF-F431-4123-B4A6-85B772F3B59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5870552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C8A9EA-B3B0-4C54-B347-7497B11B0DA9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98637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49842EF9-83B1-42F0-B351-FD4526F9A365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10.wmf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7.wmf"/><Relationship Id="rId12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.png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6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7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4.wmf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15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1.w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8.wmf"/><Relationship Id="rId12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0.wmf"/><Relationship Id="rId5" Type="http://schemas.openxmlformats.org/officeDocument/2006/relationships/image" Target="../media/image18.wmf"/><Relationship Id="rId15" Type="http://schemas.openxmlformats.org/officeDocument/2006/relationships/image" Target="../media/image22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19.wmf"/><Relationship Id="rId14" Type="http://schemas.openxmlformats.org/officeDocument/2006/relationships/oleObject" Target="../embeddings/oleObject2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3.bin"/><Relationship Id="rId9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29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26.wmf"/><Relationship Id="rId12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28.wmf"/><Relationship Id="rId5" Type="http://schemas.openxmlformats.org/officeDocument/2006/relationships/image" Target="../media/image25.wmf"/><Relationship Id="rId15" Type="http://schemas.openxmlformats.org/officeDocument/2006/relationships/image" Target="../media/image30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7.wmf"/><Relationship Id="rId14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35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35.wmf"/><Relationship Id="rId4" Type="http://schemas.openxmlformats.org/officeDocument/2006/relationships/oleObject" Target="../embeddings/oleObject36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38.png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.bin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40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39.bin"/><Relationship Id="rId9" Type="http://schemas.openxmlformats.org/officeDocument/2006/relationships/image" Target="../media/image4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image" Target="../media/image49.wmf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6.wmf"/><Relationship Id="rId12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3.bin"/><Relationship Id="rId11" Type="http://schemas.openxmlformats.org/officeDocument/2006/relationships/image" Target="../media/image48.wmf"/><Relationship Id="rId5" Type="http://schemas.openxmlformats.org/officeDocument/2006/relationships/image" Target="../media/image45.wmf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45.bin"/><Relationship Id="rId4" Type="http://schemas.openxmlformats.org/officeDocument/2006/relationships/oleObject" Target="../embeddings/oleObject42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4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1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52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37.png"/><Relationship Id="rId4" Type="http://schemas.openxmlformats.org/officeDocument/2006/relationships/image" Target="../media/image5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63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62.wmf"/><Relationship Id="rId4" Type="http://schemas.openxmlformats.org/officeDocument/2006/relationships/oleObject" Target="../embeddings/oleObject5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71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68.wmf"/><Relationship Id="rId17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0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5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67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6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7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74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6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74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8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8.e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0" Type="http://schemas.openxmlformats.org/officeDocument/2006/relationships/image" Target="../media/image80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8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oleObject" Target="../embeddings/oleObject80.bin"/><Relationship Id="rId3" Type="http://schemas.openxmlformats.org/officeDocument/2006/relationships/oleObject" Target="../embeddings/oleObject75.bin"/><Relationship Id="rId7" Type="http://schemas.openxmlformats.org/officeDocument/2006/relationships/oleObject" Target="../embeddings/oleObject77.bin"/><Relationship Id="rId12" Type="http://schemas.openxmlformats.org/officeDocument/2006/relationships/image" Target="../media/image8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83.wmf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6.bin"/><Relationship Id="rId10" Type="http://schemas.openxmlformats.org/officeDocument/2006/relationships/image" Target="../media/image85.wmf"/><Relationship Id="rId4" Type="http://schemas.openxmlformats.org/officeDocument/2006/relationships/image" Target="../media/image64.wmf"/><Relationship Id="rId9" Type="http://schemas.openxmlformats.org/officeDocument/2006/relationships/oleObject" Target="../embeddings/oleObject78.bin"/><Relationship Id="rId14" Type="http://schemas.openxmlformats.org/officeDocument/2006/relationships/image" Target="../media/image8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89.e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91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8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9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90.bin"/><Relationship Id="rId5" Type="http://schemas.openxmlformats.org/officeDocument/2006/relationships/oleObject" Target="../embeddings/oleObject87.bin"/><Relationship Id="rId10" Type="http://schemas.openxmlformats.org/officeDocument/2006/relationships/image" Target="../media/image95.wmf"/><Relationship Id="rId4" Type="http://schemas.openxmlformats.org/officeDocument/2006/relationships/image" Target="../media/image92.wmf"/><Relationship Id="rId9" Type="http://schemas.openxmlformats.org/officeDocument/2006/relationships/oleObject" Target="../embeddings/oleObject8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13" Type="http://schemas.openxmlformats.org/officeDocument/2006/relationships/oleObject" Target="../embeddings/oleObject96.bin"/><Relationship Id="rId18" Type="http://schemas.openxmlformats.org/officeDocument/2006/relationships/image" Target="../media/image104.em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3.wmf"/><Relationship Id="rId20" Type="http://schemas.openxmlformats.org/officeDocument/2006/relationships/image" Target="../media/image105.e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97.bin"/><Relationship Id="rId10" Type="http://schemas.openxmlformats.org/officeDocument/2006/relationships/image" Target="../media/image100.wmf"/><Relationship Id="rId19" Type="http://schemas.openxmlformats.org/officeDocument/2006/relationships/oleObject" Target="../embeddings/oleObject99.bin"/><Relationship Id="rId4" Type="http://schemas.openxmlformats.org/officeDocument/2006/relationships/image" Target="../media/image97.wmf"/><Relationship Id="rId9" Type="http://schemas.openxmlformats.org/officeDocument/2006/relationships/oleObject" Target="../embeddings/oleObject94.bin"/><Relationship Id="rId14" Type="http://schemas.openxmlformats.org/officeDocument/2006/relationships/image" Target="../media/image102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106.wmf"/><Relationship Id="rId4" Type="http://schemas.openxmlformats.org/officeDocument/2006/relationships/oleObject" Target="../embeddings/oleObject100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107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3" Type="http://schemas.openxmlformats.org/officeDocument/2006/relationships/image" Target="../media/image109.png"/><Relationship Id="rId7" Type="http://schemas.openxmlformats.org/officeDocument/2006/relationships/oleObject" Target="../embeddings/oleObject1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5.bin"/><Relationship Id="rId13" Type="http://schemas.openxmlformats.org/officeDocument/2006/relationships/image" Target="../media/image117.wmf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14.wmf"/><Relationship Id="rId12" Type="http://schemas.openxmlformats.org/officeDocument/2006/relationships/oleObject" Target="../embeddings/oleObject10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04.bin"/><Relationship Id="rId11" Type="http://schemas.openxmlformats.org/officeDocument/2006/relationships/image" Target="../media/image116.wmf"/><Relationship Id="rId5" Type="http://schemas.openxmlformats.org/officeDocument/2006/relationships/image" Target="../media/image113.wmf"/><Relationship Id="rId10" Type="http://schemas.openxmlformats.org/officeDocument/2006/relationships/oleObject" Target="../embeddings/oleObject106.bin"/><Relationship Id="rId4" Type="http://schemas.openxmlformats.org/officeDocument/2006/relationships/oleObject" Target="../embeddings/oleObject103.bin"/><Relationship Id="rId9" Type="http://schemas.openxmlformats.org/officeDocument/2006/relationships/image" Target="../media/image115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3" Type="http://schemas.openxmlformats.org/officeDocument/2006/relationships/oleObject" Target="../embeddings/oleObject108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2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0" Type="http://schemas.openxmlformats.org/officeDocument/2006/relationships/image" Target="../media/image52.wmf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11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37.png"/><Relationship Id="rId4" Type="http://schemas.openxmlformats.org/officeDocument/2006/relationships/image" Target="../media/image122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0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15.bin"/><Relationship Id="rId5" Type="http://schemas.openxmlformats.org/officeDocument/2006/relationships/image" Target="../media/image129.wmf"/><Relationship Id="rId4" Type="http://schemas.openxmlformats.org/officeDocument/2006/relationships/oleObject" Target="../embeddings/oleObject114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5" Type="http://schemas.openxmlformats.org/officeDocument/2006/relationships/image" Target="../media/image131.wmf"/><Relationship Id="rId4" Type="http://schemas.openxmlformats.org/officeDocument/2006/relationships/oleObject" Target="../embeddings/oleObject116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wmf"/><Relationship Id="rId3" Type="http://schemas.openxmlformats.org/officeDocument/2006/relationships/image" Target="../media/image133.png"/><Relationship Id="rId7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wmf"/><Relationship Id="rId13" Type="http://schemas.openxmlformats.org/officeDocument/2006/relationships/oleObject" Target="../embeddings/oleObject123.bin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38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0" Type="http://schemas.openxmlformats.org/officeDocument/2006/relationships/image" Target="../media/image140.wmf"/><Relationship Id="rId4" Type="http://schemas.openxmlformats.org/officeDocument/2006/relationships/image" Target="../media/image137.wmf"/><Relationship Id="rId9" Type="http://schemas.openxmlformats.org/officeDocument/2006/relationships/oleObject" Target="../embeddings/oleObject121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5" Type="http://schemas.openxmlformats.org/officeDocument/2006/relationships/image" Target="../media/image37.png"/><Relationship Id="rId4" Type="http://schemas.openxmlformats.org/officeDocument/2006/relationships/image" Target="../media/image141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9" Type="http://schemas.openxmlformats.org/officeDocument/2006/relationships/image" Target="../media/image149.wmf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56.wmf"/><Relationship Id="rId5" Type="http://schemas.openxmlformats.org/officeDocument/2006/relationships/oleObject" Target="../embeddings/oleObject127.bin"/><Relationship Id="rId4" Type="http://schemas.openxmlformats.org/officeDocument/2006/relationships/image" Target="../media/image15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 Box 5"/>
          <p:cNvSpPr txBox="1">
            <a:spLocks noChangeArrowheads="1"/>
          </p:cNvSpPr>
          <p:nvPr/>
        </p:nvSpPr>
        <p:spPr bwMode="auto">
          <a:xfrm>
            <a:off x="249238" y="1196975"/>
            <a:ext cx="8305800" cy="507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But : décrire le comportement dynamique d’</a:t>
            </a:r>
            <a:r>
              <a:rPr lang="fr-FR" altLang="ja-JP" sz="1800" dirty="0"/>
              <a:t>un système ou d’un dispositif </a:t>
            </a:r>
          </a:p>
          <a:p>
            <a:pPr eaLnBrk="1" hangingPunct="1"/>
            <a:r>
              <a:rPr lang="fr-FR" altLang="fr-FR" sz="1800" dirty="0"/>
              <a:t>	</a:t>
            </a:r>
            <a:r>
              <a:rPr lang="fr-FR" altLang="fr-FR" sz="1800" i="1" dirty="0"/>
              <a:t>Exemple : </a:t>
            </a:r>
          </a:p>
          <a:p>
            <a:pPr eaLnBrk="1" hangingPunct="1"/>
            <a:r>
              <a:rPr lang="fr-FR" altLang="fr-FR" sz="1800" i="1" dirty="0"/>
              <a:t>		La trajectoire d</a:t>
            </a:r>
            <a:r>
              <a:rPr lang="ja-JP" altLang="fr-FR" sz="1800" i="1" dirty="0"/>
              <a:t>’</a:t>
            </a:r>
            <a:r>
              <a:rPr lang="fr-FR" altLang="ja-JP" sz="1800" i="1" dirty="0"/>
              <a:t>un objet matériel: de la particule </a:t>
            </a:r>
            <a:r>
              <a:rPr lang="fr-FR" altLang="ja-JP" sz="1800" i="1" dirty="0">
                <a:sym typeface="Wingdings" panose="05000000000000000000" pitchFamily="2" charset="2"/>
              </a:rPr>
              <a:t> </a:t>
            </a:r>
            <a:r>
              <a:rPr lang="fr-FR" altLang="ja-JP" sz="1800" i="1" dirty="0"/>
              <a:t>planète</a:t>
            </a:r>
            <a:r>
              <a:rPr lang="fr-FR" altLang="ja-JP" sz="1800" dirty="0"/>
              <a:t> 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sz="1800" dirty="0"/>
              <a:t>Une EDO est une relation algébrique qui lie la fonction inconnue à ses dérivées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  <a:p>
            <a:pPr eaLnBrk="1" hangingPunct="1"/>
            <a:r>
              <a:rPr lang="fr-FR" altLang="fr-FR" sz="1800" dirty="0"/>
              <a:t>	</a:t>
            </a:r>
            <a:r>
              <a:rPr lang="fr-FR" altLang="fr-FR" sz="1800" i="1" dirty="0"/>
              <a:t>Exemples : </a:t>
            </a:r>
          </a:p>
          <a:p>
            <a:pPr eaLnBrk="1" hangingPunct="1"/>
            <a:r>
              <a:rPr lang="fr-FR" altLang="fr-FR" sz="1800" i="1" dirty="0"/>
              <a:t>		Oscillateur harmonique amorti</a:t>
            </a:r>
          </a:p>
          <a:p>
            <a:pPr eaLnBrk="1" hangingPunct="1"/>
            <a:r>
              <a:rPr lang="fr-FR" altLang="fr-FR" sz="1800" i="1" dirty="0"/>
              <a:t>		équation linéaire</a:t>
            </a:r>
          </a:p>
          <a:p>
            <a:pPr eaLnBrk="1" hangingPunct="1"/>
            <a:endParaRPr lang="fr-FR" altLang="fr-FR" sz="1800" i="1" dirty="0"/>
          </a:p>
          <a:p>
            <a:pPr eaLnBrk="1" hangingPunct="1"/>
            <a:r>
              <a:rPr lang="fr-FR" altLang="fr-FR" sz="1800" i="1" dirty="0"/>
              <a:t>		Pendule pesant</a:t>
            </a:r>
          </a:p>
          <a:p>
            <a:pPr eaLnBrk="1" hangingPunct="1"/>
            <a:r>
              <a:rPr lang="fr-FR" altLang="fr-FR" sz="1800" i="1" dirty="0"/>
              <a:t>		équation non-linéaire</a:t>
            </a:r>
          </a:p>
          <a:p>
            <a:pPr eaLnBrk="1" hangingPunct="1"/>
            <a:endParaRPr lang="fr-FR" altLang="fr-FR" sz="1800" dirty="0"/>
          </a:p>
          <a:p>
            <a:pPr eaLnBrk="1" hangingPunct="1"/>
            <a:endParaRPr lang="fr-FR" altLang="fr-FR" sz="1800" dirty="0"/>
          </a:p>
        </p:txBody>
      </p:sp>
      <p:sp>
        <p:nvSpPr>
          <p:cNvPr id="15362" name="Rectangle 4"/>
          <p:cNvSpPr>
            <a:spLocks noChangeArrowheads="1"/>
          </p:cNvSpPr>
          <p:nvPr/>
        </p:nvSpPr>
        <p:spPr bwMode="auto">
          <a:xfrm>
            <a:off x="323850" y="187325"/>
            <a:ext cx="85963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GB" altLang="fr-FR" dirty="0" err="1"/>
              <a:t>Intégration</a:t>
            </a:r>
            <a:r>
              <a:rPr lang="en-GB" altLang="fr-FR" dirty="0"/>
              <a:t> </a:t>
            </a:r>
            <a:r>
              <a:rPr lang="en-GB" altLang="fr-FR" dirty="0" err="1"/>
              <a:t>numérique</a:t>
            </a:r>
            <a:r>
              <a:rPr lang="en-GB" altLang="fr-FR" dirty="0"/>
              <a:t> des Equations </a:t>
            </a:r>
            <a:r>
              <a:rPr lang="en-GB" altLang="fr-FR" dirty="0" err="1"/>
              <a:t>Différentielles</a:t>
            </a:r>
            <a:r>
              <a:rPr lang="en-GB" altLang="fr-FR" dirty="0"/>
              <a:t> </a:t>
            </a:r>
            <a:r>
              <a:rPr lang="en-GB" altLang="fr-FR" dirty="0" err="1"/>
              <a:t>Ordinaires</a:t>
            </a:r>
            <a:r>
              <a:rPr lang="en-GB" altLang="fr-FR" dirty="0"/>
              <a:t/>
            </a:r>
            <a:br>
              <a:rPr lang="en-GB" altLang="fr-FR" dirty="0"/>
            </a:br>
            <a:r>
              <a:rPr lang="en-GB" altLang="fr-FR" dirty="0"/>
              <a:t>EDO / ODE</a:t>
            </a:r>
            <a:endParaRPr lang="fr-FR" altLang="fr-FR" dirty="0"/>
          </a:p>
        </p:txBody>
      </p:sp>
      <p:graphicFrame>
        <p:nvGraphicFramePr>
          <p:cNvPr id="1536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655847"/>
              </p:ext>
            </p:extLst>
          </p:nvPr>
        </p:nvGraphicFramePr>
        <p:xfrm>
          <a:off x="2101850" y="2708275"/>
          <a:ext cx="4021138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1" name="Equation" r:id="rId3" imgW="2234880" imgH="507960" progId="Equation.DSMT4">
                  <p:embed/>
                </p:oleObj>
              </mc:Choice>
              <mc:Fallback>
                <p:oleObj name="Equation" r:id="rId3" imgW="2234880" imgH="5079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850" y="2708275"/>
                        <a:ext cx="4021138" cy="9128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9"/>
          <p:cNvGraphicFramePr>
            <a:graphicFrameLocks noChangeAspect="1"/>
          </p:cNvGraphicFramePr>
          <p:nvPr/>
        </p:nvGraphicFramePr>
        <p:xfrm>
          <a:off x="5580063" y="3998913"/>
          <a:ext cx="2465387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2" name="Equation" r:id="rId5" imgW="1371600" imgH="444500" progId="Equation.DSMT4">
                  <p:embed/>
                </p:oleObj>
              </mc:Choice>
              <mc:Fallback>
                <p:oleObj name="Equation" r:id="rId5" imgW="1371600" imgH="444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998913"/>
                        <a:ext cx="2465387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5" name="Object 10"/>
          <p:cNvGraphicFramePr>
            <a:graphicFrameLocks noChangeAspect="1"/>
          </p:cNvGraphicFramePr>
          <p:nvPr/>
        </p:nvGraphicFramePr>
        <p:xfrm>
          <a:off x="5800725" y="4935538"/>
          <a:ext cx="1939925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3" name="Equation" r:id="rId7" imgW="1079032" imgH="444307" progId="Equation.DSMT4">
                  <p:embed/>
                </p:oleObj>
              </mc:Choice>
              <mc:Fallback>
                <p:oleObj name="Equation" r:id="rId7" imgW="1079032" imgH="44430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725" y="4935538"/>
                        <a:ext cx="1939925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4"/>
          <p:cNvSpPr>
            <a:spLocks noChangeArrowheads="1"/>
          </p:cNvSpPr>
          <p:nvPr/>
        </p:nvSpPr>
        <p:spPr bwMode="auto">
          <a:xfrm>
            <a:off x="250825" y="333375"/>
            <a:ext cx="8642350" cy="6191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fr-FR" altLang="fr-FR"/>
              <a:t>Travail de l</a:t>
            </a:r>
            <a:r>
              <a:rPr lang="ja-JP" altLang="fr-FR"/>
              <a:t>’</a:t>
            </a:r>
            <a:r>
              <a:rPr lang="fr-FR" altLang="ja-JP"/>
              <a:t>utilisateur</a:t>
            </a:r>
          </a:p>
          <a:p>
            <a:pPr eaLnBrk="1" hangingPunct="1">
              <a:spcBef>
                <a:spcPct val="20000"/>
              </a:spcBef>
            </a:pPr>
            <a:endParaRPr lang="fr-FR" altLang="fr-FR"/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/>
              <a:t>Programmer l</a:t>
            </a:r>
            <a:r>
              <a:rPr lang="ja-JP" altLang="fr-FR" sz="1800"/>
              <a:t>’</a:t>
            </a:r>
            <a:r>
              <a:rPr lang="fr-FR" altLang="ja-JP" sz="1800"/>
              <a:t>expression de l</a:t>
            </a:r>
            <a:r>
              <a:rPr lang="ja-JP" altLang="fr-FR" sz="1800"/>
              <a:t>’</a:t>
            </a:r>
            <a:r>
              <a:rPr lang="fr-FR" altLang="ja-JP" sz="1800"/>
              <a:t>équation différentielle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/>
              <a:t>Spécifier :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FontTx/>
              <a:buChar char="–"/>
            </a:pPr>
            <a:r>
              <a:rPr lang="fr-FR" altLang="fr-FR" sz="1800"/>
              <a:t>le domaine de définition (par ex. en polaire r </a:t>
            </a:r>
            <a:r>
              <a:rPr lang="fr-FR" altLang="fr-FR" sz="1800">
                <a:sym typeface="Symbol" panose="05050102010706020507" pitchFamily="18" charset="2"/>
              </a:rPr>
              <a:t>≠ 0)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FontTx/>
              <a:buChar char="–"/>
            </a:pPr>
            <a:r>
              <a:rPr lang="fr-FR" altLang="fr-FR" sz="1800"/>
              <a:t>Les conditions initiales (ou finales)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  <a:buFontTx/>
              <a:buChar char="–"/>
            </a:pPr>
            <a:r>
              <a:rPr lang="fr-FR" altLang="fr-FR" sz="1800"/>
              <a:t>La précision demandée</a:t>
            </a:r>
          </a:p>
          <a:p>
            <a:pPr lvl="1" eaLnBrk="1" hangingPunct="1">
              <a:lnSpc>
                <a:spcPct val="110000"/>
              </a:lnSpc>
              <a:spcBef>
                <a:spcPct val="20000"/>
              </a:spcBef>
            </a:pPr>
            <a:endParaRPr lang="fr-FR" altLang="fr-FR" sz="1800">
              <a:sym typeface="Wingdings" panose="05000000000000000000" pitchFamily="2" charset="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>
                <a:sym typeface="Wingdings" panose="05000000000000000000" pitchFamily="2" charset="2"/>
              </a:rPr>
              <a:t>Résultat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>
                <a:sym typeface="Wingdings" panose="05000000000000000000" pitchFamily="2" charset="2"/>
              </a:rPr>
              <a:t>Un tableau de valeurs numériques :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>
                <a:sym typeface="Wingdings" panose="05000000000000000000" pitchFamily="2" charset="2"/>
              </a:rPr>
              <a:t>	en abscisse : la variable (temps, espace)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>
                <a:sym typeface="Wingdings" panose="05000000000000000000" pitchFamily="2" charset="2"/>
              </a:rPr>
              <a:t>	en ordonnée : les valeurs de la  fonction inconnue et de ses dérivées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endParaRPr lang="fr-FR" altLang="fr-FR" sz="1800">
              <a:sym typeface="Wingdings" panose="05000000000000000000" pitchFamily="2" charset="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>
                <a:sym typeface="Wingdings" panose="05000000000000000000" pitchFamily="2" charset="2"/>
              </a:rPr>
              <a:t>Vérification des résultats obtenus sur des cas tests limites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endParaRPr lang="fr-FR" altLang="fr-FR" sz="1800"/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1800"/>
              <a:t>Mise en production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 sz="2400" smtClean="0">
                <a:solidFill>
                  <a:schemeClr val="tx1"/>
                </a:solidFill>
              </a:rPr>
              <a:t>Equivalence entre équation différentielle d</a:t>
            </a:r>
            <a:r>
              <a:rPr lang="ja-JP" altLang="fr-FR" sz="2400" smtClean="0">
                <a:solidFill>
                  <a:schemeClr val="tx1"/>
                </a:solidFill>
              </a:rPr>
              <a:t>’</a:t>
            </a:r>
            <a:r>
              <a:rPr lang="fr-FR" altLang="ja-JP" sz="2400" smtClean="0">
                <a:solidFill>
                  <a:schemeClr val="tx1"/>
                </a:solidFill>
              </a:rPr>
              <a:t>ordre n et système de n équations du 1</a:t>
            </a:r>
            <a:r>
              <a:rPr lang="fr-FR" altLang="ja-JP" sz="2400" baseline="30000" smtClean="0">
                <a:solidFill>
                  <a:schemeClr val="tx1"/>
                </a:solidFill>
              </a:rPr>
              <a:t>er</a:t>
            </a:r>
            <a:r>
              <a:rPr lang="fr-FR" altLang="ja-JP" sz="2400" smtClean="0">
                <a:solidFill>
                  <a:schemeClr val="tx1"/>
                </a:solidFill>
              </a:rPr>
              <a:t> ordre</a:t>
            </a:r>
            <a:endParaRPr lang="fr-FR" altLang="fr-FR" sz="2400" smtClean="0">
              <a:solidFill>
                <a:schemeClr val="tx1"/>
              </a:solidFill>
            </a:endParaRPr>
          </a:p>
        </p:txBody>
      </p:sp>
      <p:sp>
        <p:nvSpPr>
          <p:cNvPr id="17410" name="Text Box 9"/>
          <p:cNvSpPr txBox="1">
            <a:spLocks noChangeArrowheads="1"/>
          </p:cNvSpPr>
          <p:nvPr/>
        </p:nvSpPr>
        <p:spPr bwMode="auto">
          <a:xfrm>
            <a:off x="107950" y="1406525"/>
            <a:ext cx="8966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Il n</a:t>
            </a:r>
            <a:r>
              <a:rPr lang="ja-JP" altLang="fr-FR" sz="1800"/>
              <a:t>’</a:t>
            </a:r>
            <a:r>
              <a:rPr lang="fr-FR" altLang="ja-JP" sz="1800"/>
              <a:t>existe pas de méthode numérique générale pour résoudre une éq. diff. d</a:t>
            </a:r>
            <a:r>
              <a:rPr lang="ja-JP" altLang="fr-FR" sz="1800"/>
              <a:t>’</a:t>
            </a:r>
            <a:r>
              <a:rPr lang="fr-FR" altLang="ja-JP" sz="1800"/>
              <a:t>ordre n&gt;1,</a:t>
            </a:r>
          </a:p>
          <a:p>
            <a:pPr eaLnBrk="1" hangingPunct="1"/>
            <a:r>
              <a:rPr lang="fr-FR" altLang="fr-FR" sz="1800"/>
              <a:t>il faut donc la transformer en un système d</a:t>
            </a:r>
            <a:r>
              <a:rPr lang="ja-JP" altLang="fr-FR" sz="1800"/>
              <a:t>’</a:t>
            </a:r>
            <a:r>
              <a:rPr lang="fr-FR" altLang="ja-JP" sz="1800"/>
              <a:t> équations du 1</a:t>
            </a:r>
            <a:r>
              <a:rPr lang="fr-FR" altLang="ja-JP" sz="1800" baseline="30000"/>
              <a:t>er</a:t>
            </a:r>
            <a:r>
              <a:rPr lang="fr-FR" altLang="ja-JP" sz="1800"/>
              <a:t> ordre.</a:t>
            </a:r>
            <a:endParaRPr lang="fr-FR" altLang="fr-FR" sz="1800"/>
          </a:p>
        </p:txBody>
      </p:sp>
      <p:sp>
        <p:nvSpPr>
          <p:cNvPr id="17411" name="Rectangle 10"/>
          <p:cNvSpPr>
            <a:spLocks noChangeArrowheads="1"/>
          </p:cNvSpPr>
          <p:nvPr/>
        </p:nvSpPr>
        <p:spPr bwMode="auto">
          <a:xfrm>
            <a:off x="4140200" y="2924175"/>
            <a:ext cx="4608513" cy="288131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200000"/>
              </a:lnSpc>
              <a:spcBef>
                <a:spcPct val="20000"/>
              </a:spcBef>
              <a:buFontTx/>
              <a:buChar char="•"/>
            </a:pPr>
            <a:r>
              <a:rPr lang="fr-FR" altLang="fr-FR" sz="1800"/>
              <a:t>L</a:t>
            </a:r>
            <a:r>
              <a:rPr lang="ja-JP" altLang="fr-FR" sz="1800"/>
              <a:t>‘</a:t>
            </a:r>
            <a:r>
              <a:rPr lang="fr-FR" altLang="ja-JP" sz="1800"/>
              <a:t>inconnue elle-même </a:t>
            </a:r>
          </a:p>
          <a:p>
            <a:pPr eaLnBrk="1" hangingPunct="1">
              <a:lnSpc>
                <a:spcPct val="200000"/>
              </a:lnSpc>
              <a:spcBef>
                <a:spcPct val="20000"/>
              </a:spcBef>
              <a:buFontTx/>
              <a:buChar char="•"/>
            </a:pPr>
            <a:r>
              <a:rPr lang="fr-FR" altLang="fr-FR" sz="1800"/>
              <a:t>La dérivée première</a:t>
            </a:r>
          </a:p>
          <a:p>
            <a:pPr eaLnBrk="1" hangingPunct="1">
              <a:lnSpc>
                <a:spcPct val="200000"/>
              </a:lnSpc>
              <a:spcBef>
                <a:spcPct val="20000"/>
              </a:spcBef>
              <a:buFontTx/>
              <a:buChar char="•"/>
            </a:pPr>
            <a:r>
              <a:rPr lang="fr-FR" altLang="fr-FR" sz="1800"/>
              <a:t>La dérivée seconde</a:t>
            </a:r>
          </a:p>
          <a:p>
            <a:pPr eaLnBrk="1" hangingPunct="1">
              <a:lnSpc>
                <a:spcPct val="200000"/>
              </a:lnSpc>
              <a:spcBef>
                <a:spcPct val="20000"/>
              </a:spcBef>
            </a:pPr>
            <a:r>
              <a:rPr lang="fr-FR" altLang="fr-FR" sz="1800"/>
              <a:t>…</a:t>
            </a:r>
          </a:p>
          <a:p>
            <a:pPr eaLnBrk="1" hangingPunct="1">
              <a:lnSpc>
                <a:spcPct val="170000"/>
              </a:lnSpc>
              <a:spcBef>
                <a:spcPct val="20000"/>
              </a:spcBef>
              <a:buFontTx/>
              <a:buChar char="•"/>
            </a:pPr>
            <a:r>
              <a:rPr lang="fr-FR" altLang="fr-FR" sz="1800"/>
              <a:t>La dérivée d</a:t>
            </a:r>
            <a:r>
              <a:rPr lang="ja-JP" altLang="fr-FR" sz="1800"/>
              <a:t>’</a:t>
            </a:r>
            <a:r>
              <a:rPr lang="fr-FR" altLang="ja-JP" sz="1800"/>
              <a:t>ordre  </a:t>
            </a:r>
            <a:r>
              <a:rPr lang="fr-FR" altLang="ja-JP" sz="1800" b="1"/>
              <a:t>n-1</a:t>
            </a:r>
          </a:p>
          <a:p>
            <a:pPr eaLnBrk="1" hangingPunct="1">
              <a:lnSpc>
                <a:spcPct val="170000"/>
              </a:lnSpc>
              <a:spcBef>
                <a:spcPct val="20000"/>
              </a:spcBef>
              <a:buFontTx/>
              <a:buChar char="•"/>
            </a:pPr>
            <a:r>
              <a:rPr lang="fr-FR" altLang="fr-FR" sz="1800"/>
              <a:t>Réécriture de l</a:t>
            </a:r>
            <a:r>
              <a:rPr lang="ja-JP" altLang="fr-FR" sz="1800"/>
              <a:t>’</a:t>
            </a:r>
            <a:r>
              <a:rPr lang="fr-FR" altLang="ja-JP" sz="1800"/>
              <a:t>équation d</a:t>
            </a:r>
            <a:r>
              <a:rPr lang="ja-JP" altLang="fr-FR" sz="1800"/>
              <a:t>’</a:t>
            </a:r>
            <a:r>
              <a:rPr lang="fr-FR" altLang="ja-JP" sz="1800"/>
              <a:t>ordre n en</a:t>
            </a:r>
          </a:p>
          <a:p>
            <a:pPr eaLnBrk="1" hangingPunct="1">
              <a:spcBef>
                <a:spcPct val="20000"/>
              </a:spcBef>
            </a:pPr>
            <a:r>
              <a:rPr lang="fr-FR" altLang="fr-FR" sz="1800"/>
              <a:t>fonction des variables intermédiaires Y</a:t>
            </a:r>
            <a:r>
              <a:rPr lang="fr-FR" altLang="fr-FR" sz="1800" baseline="-25000"/>
              <a:t>i</a:t>
            </a:r>
            <a:endParaRPr lang="fr-FR" altLang="fr-FR" sz="1800"/>
          </a:p>
          <a:p>
            <a:pPr eaLnBrk="1" hangingPunct="1">
              <a:lnSpc>
                <a:spcPct val="140000"/>
              </a:lnSpc>
              <a:spcBef>
                <a:spcPct val="20000"/>
              </a:spcBef>
            </a:pPr>
            <a:endParaRPr lang="fr-FR" altLang="fr-FR" sz="1800"/>
          </a:p>
        </p:txBody>
      </p:sp>
      <p:graphicFrame>
        <p:nvGraphicFramePr>
          <p:cNvPr id="17412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715816"/>
              </p:ext>
            </p:extLst>
          </p:nvPr>
        </p:nvGraphicFramePr>
        <p:xfrm>
          <a:off x="911225" y="3068638"/>
          <a:ext cx="2925763" cy="346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5" name="Equation" r:id="rId3" imgW="1714320" imgH="2031840" progId="Equation.DSMT4">
                  <p:embed/>
                </p:oleObj>
              </mc:Choice>
              <mc:Fallback>
                <p:oleObj name="Equation" r:id="rId3" imgW="1714320" imgH="20318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225" y="3068638"/>
                        <a:ext cx="2925763" cy="346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AutoShape 15"/>
          <p:cNvSpPr>
            <a:spLocks noChangeArrowheads="1"/>
          </p:cNvSpPr>
          <p:nvPr/>
        </p:nvSpPr>
        <p:spPr bwMode="auto">
          <a:xfrm>
            <a:off x="6084888" y="2420938"/>
            <a:ext cx="503237" cy="215900"/>
          </a:xfrm>
          <a:prstGeom prst="rightArrow">
            <a:avLst>
              <a:gd name="adj1" fmla="val 50000"/>
              <a:gd name="adj2" fmla="val 58272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1741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6707994"/>
              </p:ext>
            </p:extLst>
          </p:nvPr>
        </p:nvGraphicFramePr>
        <p:xfrm>
          <a:off x="1652588" y="2060575"/>
          <a:ext cx="401796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6" name="Equation" r:id="rId5" imgW="2234880" imgH="507960" progId="Equation.DSMT4">
                  <p:embed/>
                </p:oleObj>
              </mc:Choice>
              <mc:Fallback>
                <p:oleObj name="Equation" r:id="rId5" imgW="2234880" imgH="50796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2588" y="2060575"/>
                        <a:ext cx="4017962" cy="914400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44450"/>
            <a:ext cx="7632700" cy="504825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Exemple 1 : oscillateur harmonique</a:t>
            </a:r>
            <a:endParaRPr lang="fr-FR" altLang="fr-FR" sz="2400" u="sng" smtClean="0"/>
          </a:p>
        </p:txBody>
      </p:sp>
      <p:sp>
        <p:nvSpPr>
          <p:cNvPr id="18434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43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43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43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0" y="3162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439" name="Rectangle 8"/>
          <p:cNvSpPr>
            <a:spLocks noChangeArrowheads="1"/>
          </p:cNvSpPr>
          <p:nvPr/>
        </p:nvSpPr>
        <p:spPr bwMode="auto">
          <a:xfrm>
            <a:off x="0" y="2166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18440" name="Object 9"/>
          <p:cNvGraphicFramePr>
            <a:graphicFrameLocks noChangeAspect="1"/>
          </p:cNvGraphicFramePr>
          <p:nvPr/>
        </p:nvGraphicFramePr>
        <p:xfrm>
          <a:off x="4821238" y="801688"/>
          <a:ext cx="247173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3" name="Equation" r:id="rId4" imgW="1371600" imgH="444500" progId="Equation.DSMT4">
                  <p:embed/>
                </p:oleObj>
              </mc:Choice>
              <mc:Fallback>
                <p:oleObj name="Equation" r:id="rId4" imgW="1371600" imgH="444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1238" y="801688"/>
                        <a:ext cx="2471737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1" name="Text Box 10"/>
          <p:cNvSpPr txBox="1">
            <a:spLocks noChangeArrowheads="1"/>
          </p:cNvSpPr>
          <p:nvPr/>
        </p:nvSpPr>
        <p:spPr bwMode="auto">
          <a:xfrm>
            <a:off x="2771775" y="1628775"/>
            <a:ext cx="590391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Transformation en un système de deux équations</a:t>
            </a: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On pose :</a:t>
            </a:r>
          </a:p>
        </p:txBody>
      </p:sp>
      <p:graphicFrame>
        <p:nvGraphicFramePr>
          <p:cNvPr id="18442" name="Object 11"/>
          <p:cNvGraphicFramePr>
            <a:graphicFrameLocks noChangeAspect="1"/>
          </p:cNvGraphicFramePr>
          <p:nvPr/>
        </p:nvGraphicFramePr>
        <p:xfrm>
          <a:off x="3957638" y="1989138"/>
          <a:ext cx="798512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4" name="Equation" r:id="rId6" imgW="444307" imgH="393529" progId="Equation.DSMT4">
                  <p:embed/>
                </p:oleObj>
              </mc:Choice>
              <mc:Fallback>
                <p:oleObj name="Equation" r:id="rId6" imgW="444307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638" y="1989138"/>
                        <a:ext cx="798512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3" name="Object 12"/>
          <p:cNvGraphicFramePr>
            <a:graphicFrameLocks noChangeAspect="1"/>
          </p:cNvGraphicFramePr>
          <p:nvPr/>
        </p:nvGraphicFramePr>
        <p:xfrm>
          <a:off x="4879975" y="2895600"/>
          <a:ext cx="2174875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5" name="Equation" r:id="rId8" imgW="1206500" imgH="838200" progId="Equation.DSMT4">
                  <p:embed/>
                </p:oleObj>
              </mc:Choice>
              <mc:Fallback>
                <p:oleObj name="Equation" r:id="rId8" imgW="1206500" imgH="838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975" y="2895600"/>
                        <a:ext cx="2174875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4" name="Object 13"/>
          <p:cNvGraphicFramePr>
            <a:graphicFrameLocks noChangeAspect="1"/>
          </p:cNvGraphicFramePr>
          <p:nvPr/>
        </p:nvGraphicFramePr>
        <p:xfrm>
          <a:off x="5314950" y="4741863"/>
          <a:ext cx="1831975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6" name="Equation" r:id="rId10" imgW="1016000" imgH="660400" progId="Equation.DSMT4">
                  <p:embed/>
                </p:oleObj>
              </mc:Choice>
              <mc:Fallback>
                <p:oleObj name="Equation" r:id="rId10" imgW="1016000" imgH="6604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50" y="4741863"/>
                        <a:ext cx="1831975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5" name="Object 14"/>
          <p:cNvGraphicFramePr>
            <a:graphicFrameLocks noChangeAspect="1"/>
          </p:cNvGraphicFramePr>
          <p:nvPr/>
        </p:nvGraphicFramePr>
        <p:xfrm>
          <a:off x="1209675" y="3251200"/>
          <a:ext cx="247491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7" name="Equation" r:id="rId12" imgW="1371600" imgH="444500" progId="Equation.DSMT4">
                  <p:embed/>
                </p:oleObj>
              </mc:Choice>
              <mc:Fallback>
                <p:oleObj name="Equation" r:id="rId12" imgW="1371600" imgH="4445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9675" y="3251200"/>
                        <a:ext cx="2474913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6" name="Text Box 16"/>
          <p:cNvSpPr txBox="1">
            <a:spLocks noChangeArrowheads="1"/>
          </p:cNvSpPr>
          <p:nvPr/>
        </p:nvSpPr>
        <p:spPr bwMode="auto">
          <a:xfrm>
            <a:off x="2771775" y="981075"/>
            <a:ext cx="177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EDO d</a:t>
            </a:r>
            <a:r>
              <a:rPr lang="ja-JP" altLang="fr-FR" sz="1800"/>
              <a:t>’</a:t>
            </a:r>
            <a:r>
              <a:rPr lang="fr-FR" altLang="ja-JP" sz="1800"/>
              <a:t>ordre 2 :</a:t>
            </a:r>
            <a:endParaRPr lang="fr-FR" altLang="fr-FR" sz="1800"/>
          </a:p>
        </p:txBody>
      </p:sp>
      <p:grpSp>
        <p:nvGrpSpPr>
          <p:cNvPr id="18447" name="Group 21"/>
          <p:cNvGrpSpPr>
            <a:grpSpLocks/>
          </p:cNvGrpSpPr>
          <p:nvPr/>
        </p:nvGrpSpPr>
        <p:grpSpPr bwMode="auto">
          <a:xfrm>
            <a:off x="863600" y="4508500"/>
            <a:ext cx="4572000" cy="1643063"/>
            <a:chOff x="204" y="2840"/>
            <a:chExt cx="2880" cy="1035"/>
          </a:xfrm>
        </p:grpSpPr>
        <p:sp>
          <p:nvSpPr>
            <p:cNvPr id="18451" name="Rectangle 15"/>
            <p:cNvSpPr>
              <a:spLocks noChangeArrowheads="1"/>
            </p:cNvSpPr>
            <p:nvPr/>
          </p:nvSpPr>
          <p:spPr bwMode="auto">
            <a:xfrm>
              <a:off x="204" y="2840"/>
              <a:ext cx="2880" cy="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Les inconnues sont :</a:t>
              </a:r>
            </a:p>
            <a:p>
              <a:pPr eaLnBrk="1" hangingPunct="1"/>
              <a:endParaRPr lang="fr-FR" altLang="fr-FR" sz="1800"/>
            </a:p>
            <a:p>
              <a:pPr eaLnBrk="1" hangingPunct="1">
                <a:buFontTx/>
                <a:buChar char="•"/>
              </a:pPr>
              <a:r>
                <a:rPr lang="fr-FR" altLang="fr-FR" sz="1800"/>
                <a:t> La fonction elle-même : x position</a:t>
              </a:r>
            </a:p>
            <a:p>
              <a:pPr eaLnBrk="1" hangingPunct="1"/>
              <a:endParaRPr lang="fr-FR" altLang="fr-FR" sz="1800"/>
            </a:p>
            <a:p>
              <a:pPr eaLnBrk="1" hangingPunct="1">
                <a:buFontTx/>
                <a:buChar char="•"/>
              </a:pPr>
              <a:r>
                <a:rPr lang="fr-FR" altLang="fr-FR" sz="1800"/>
                <a:t> La dérivée première :             vitesse</a:t>
              </a:r>
            </a:p>
          </p:txBody>
        </p:sp>
        <p:graphicFrame>
          <p:nvGraphicFramePr>
            <p:cNvPr id="18452" name="Object 17"/>
            <p:cNvGraphicFramePr>
              <a:graphicFrameLocks noChangeAspect="1"/>
            </p:cNvGraphicFramePr>
            <p:nvPr/>
          </p:nvGraphicFramePr>
          <p:xfrm>
            <a:off x="1701" y="3430"/>
            <a:ext cx="503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48" name="Equation" r:id="rId14" imgW="444307" imgH="393529" progId="Equation.DSMT4">
                    <p:embed/>
                  </p:oleObj>
                </mc:Choice>
                <mc:Fallback>
                  <p:oleObj name="Equation" r:id="rId14" imgW="444307" imgH="393529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1" y="3430"/>
                          <a:ext cx="503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>
                                    <a:alpha val="74997"/>
                                  </a:srgb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8448" name="Picture 18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92150"/>
            <a:ext cx="1608137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49" name="AutoShape 19"/>
          <p:cNvSpPr>
            <a:spLocks noChangeArrowheads="1"/>
          </p:cNvSpPr>
          <p:nvPr/>
        </p:nvSpPr>
        <p:spPr bwMode="auto">
          <a:xfrm rot="-5400000">
            <a:off x="4032251" y="3392487"/>
            <a:ext cx="431800" cy="504825"/>
          </a:xfrm>
          <a:prstGeom prst="upDownArrow">
            <a:avLst>
              <a:gd name="adj1" fmla="val 50000"/>
              <a:gd name="adj2" fmla="val 23382"/>
            </a:avLst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450" name="Text Box 22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4450"/>
            <a:ext cx="7777162" cy="547688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Exemple 2 : pendule élastique pesant</a:t>
            </a:r>
            <a:endParaRPr lang="fr-FR" altLang="fr-FR" sz="2400" u="sng" smtClean="0"/>
          </a:p>
        </p:txBody>
      </p:sp>
      <p:sp>
        <p:nvSpPr>
          <p:cNvPr id="20482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048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0486" name="Rectangle 7"/>
          <p:cNvSpPr>
            <a:spLocks noChangeArrowheads="1"/>
          </p:cNvSpPr>
          <p:nvPr/>
        </p:nvSpPr>
        <p:spPr bwMode="auto">
          <a:xfrm>
            <a:off x="250825" y="3744913"/>
            <a:ext cx="4897438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Les inconnues sont :</a:t>
            </a:r>
          </a:p>
          <a:p>
            <a:pPr eaLnBrk="1" hangingPunct="1"/>
            <a:endParaRPr lang="fr-FR" altLang="fr-FR" sz="1800"/>
          </a:p>
          <a:p>
            <a:pPr eaLnBrk="1" hangingPunct="1">
              <a:buFontTx/>
              <a:buChar char="•"/>
            </a:pPr>
            <a:r>
              <a:rPr lang="fr-FR" altLang="fr-FR" sz="1800"/>
              <a:t> la position radiale :	      r</a:t>
            </a:r>
          </a:p>
          <a:p>
            <a:pPr eaLnBrk="1" hangingPunct="1">
              <a:buFontTx/>
              <a:buChar char="•"/>
            </a:pPr>
            <a:r>
              <a:rPr lang="fr-FR" altLang="fr-FR" sz="1800"/>
              <a:t> la position angulaire :	      θ</a:t>
            </a:r>
            <a:endParaRPr lang="fr-FR" altLang="fr-FR" sz="1800">
              <a:sym typeface="Symbol" panose="05050102010706020507" pitchFamily="18" charset="2"/>
            </a:endParaRPr>
          </a:p>
          <a:p>
            <a:pPr eaLnBrk="1" hangingPunct="1"/>
            <a:endParaRPr lang="fr-FR" altLang="fr-FR" sz="1800"/>
          </a:p>
          <a:p>
            <a:pPr eaLnBrk="1" hangingPunct="1"/>
            <a:r>
              <a:rPr lang="fr-FR" altLang="fr-FR" sz="1800"/>
              <a:t>et leur dérivée première </a:t>
            </a:r>
          </a:p>
          <a:p>
            <a:pPr eaLnBrk="1" hangingPunct="1">
              <a:buFontTx/>
              <a:buChar char="•"/>
            </a:pPr>
            <a:r>
              <a:rPr lang="fr-FR" altLang="fr-FR" sz="1800"/>
              <a:t> vitesse radiale :</a:t>
            </a:r>
          </a:p>
          <a:p>
            <a:pPr eaLnBrk="1" hangingPunct="1"/>
            <a:endParaRPr lang="fr-FR" altLang="fr-FR" sz="1800"/>
          </a:p>
          <a:p>
            <a:pPr eaLnBrk="1" hangingPunct="1">
              <a:buFontTx/>
              <a:buChar char="•"/>
            </a:pPr>
            <a:r>
              <a:rPr lang="fr-FR" altLang="fr-FR" sz="1800"/>
              <a:t> vitesse angulaire :		</a:t>
            </a:r>
          </a:p>
        </p:txBody>
      </p:sp>
      <p:graphicFrame>
        <p:nvGraphicFramePr>
          <p:cNvPr id="20487" name="Object 8"/>
          <p:cNvGraphicFramePr>
            <a:graphicFrameLocks noChangeAspect="1"/>
          </p:cNvGraphicFramePr>
          <p:nvPr/>
        </p:nvGraphicFramePr>
        <p:xfrm>
          <a:off x="3276600" y="5170488"/>
          <a:ext cx="796925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3" name="Equation" r:id="rId4" imgW="444307" imgH="393529" progId="Equation.DSMT4">
                  <p:embed/>
                </p:oleObj>
              </mc:Choice>
              <mc:Fallback>
                <p:oleObj name="Equation" r:id="rId4" imgW="444307" imgH="39352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170488"/>
                        <a:ext cx="796925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9"/>
          <p:cNvGraphicFramePr>
            <a:graphicFrameLocks noChangeAspect="1"/>
          </p:cNvGraphicFramePr>
          <p:nvPr/>
        </p:nvGraphicFramePr>
        <p:xfrm>
          <a:off x="5259388" y="4005263"/>
          <a:ext cx="1946275" cy="2744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4" name="Equation" r:id="rId6" imgW="1079500" imgH="1524000" progId="Equation.DSMT4">
                  <p:embed/>
                </p:oleObj>
              </mc:Choice>
              <mc:Fallback>
                <p:oleObj name="Equation" r:id="rId6" imgW="1079500" imgH="15240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388" y="4005263"/>
                        <a:ext cx="1946275" cy="2744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9" name="Group 10"/>
          <p:cNvGrpSpPr>
            <a:grpSpLocks/>
          </p:cNvGrpSpPr>
          <p:nvPr/>
        </p:nvGrpSpPr>
        <p:grpSpPr bwMode="auto">
          <a:xfrm>
            <a:off x="323850" y="260350"/>
            <a:ext cx="1658938" cy="2590800"/>
            <a:chOff x="4896" y="9072"/>
            <a:chExt cx="2563" cy="4080"/>
          </a:xfrm>
        </p:grpSpPr>
        <p:sp>
          <p:nvSpPr>
            <p:cNvPr id="20498" name="Line 11"/>
            <p:cNvSpPr>
              <a:spLocks noChangeShapeType="1"/>
            </p:cNvSpPr>
            <p:nvPr/>
          </p:nvSpPr>
          <p:spPr bwMode="auto">
            <a:xfrm>
              <a:off x="5208" y="9072"/>
              <a:ext cx="0" cy="20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499" name="Line 12"/>
            <p:cNvSpPr>
              <a:spLocks noChangeShapeType="1"/>
            </p:cNvSpPr>
            <p:nvPr/>
          </p:nvSpPr>
          <p:spPr bwMode="auto">
            <a:xfrm>
              <a:off x="5088" y="10992"/>
              <a:ext cx="20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00" name="Line 13"/>
            <p:cNvSpPr>
              <a:spLocks noChangeShapeType="1"/>
            </p:cNvSpPr>
            <p:nvPr/>
          </p:nvSpPr>
          <p:spPr bwMode="auto">
            <a:xfrm>
              <a:off x="5208" y="10992"/>
              <a:ext cx="1920" cy="1920"/>
            </a:xfrm>
            <a:prstGeom prst="line">
              <a:avLst/>
            </a:prstGeom>
            <a:noFill/>
            <a:ln w="38100">
              <a:solidFill>
                <a:srgbClr val="00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01" name="Oval 14"/>
            <p:cNvSpPr>
              <a:spLocks noChangeArrowheads="1"/>
            </p:cNvSpPr>
            <p:nvPr/>
          </p:nvSpPr>
          <p:spPr bwMode="auto">
            <a:xfrm>
              <a:off x="6888" y="12672"/>
              <a:ext cx="480" cy="480"/>
            </a:xfrm>
            <a:prstGeom prst="ellipse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fr-FR" sz="1800"/>
            </a:p>
          </p:txBody>
        </p:sp>
        <p:sp>
          <p:nvSpPr>
            <p:cNvPr id="20502" name="Line 15"/>
            <p:cNvSpPr>
              <a:spLocks noChangeShapeType="1"/>
            </p:cNvSpPr>
            <p:nvPr/>
          </p:nvSpPr>
          <p:spPr bwMode="auto">
            <a:xfrm>
              <a:off x="5208" y="10872"/>
              <a:ext cx="0" cy="20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03" name="Arc 16"/>
            <p:cNvSpPr>
              <a:spLocks/>
            </p:cNvSpPr>
            <p:nvPr/>
          </p:nvSpPr>
          <p:spPr bwMode="auto">
            <a:xfrm rot="11450418" flipH="1">
              <a:off x="5328" y="11592"/>
              <a:ext cx="360" cy="3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20504" name="Text Box 17"/>
            <p:cNvSpPr txBox="1">
              <a:spLocks noChangeArrowheads="1"/>
            </p:cNvSpPr>
            <p:nvPr/>
          </p:nvSpPr>
          <p:spPr bwMode="auto">
            <a:xfrm>
              <a:off x="5448" y="11712"/>
              <a:ext cx="481" cy="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600">
                  <a:solidFill>
                    <a:srgbClr val="000000"/>
                  </a:solidFill>
                  <a:latin typeface="Symbol" panose="05050102010706020507" pitchFamily="18" charset="2"/>
                  <a:ea typeface="MS Mincho" pitchFamily="49" charset="-128"/>
                </a:rPr>
                <a:t>q</a:t>
              </a:r>
              <a:endParaRPr lang="fr-FR" altLang="fr-FR" sz="1800">
                <a:ea typeface="MS Mincho" pitchFamily="49" charset="-128"/>
              </a:endParaRPr>
            </a:p>
          </p:txBody>
        </p:sp>
        <p:sp>
          <p:nvSpPr>
            <p:cNvPr id="20505" name="Text Box 18"/>
            <p:cNvSpPr txBox="1">
              <a:spLocks noChangeArrowheads="1"/>
            </p:cNvSpPr>
            <p:nvPr/>
          </p:nvSpPr>
          <p:spPr bwMode="auto">
            <a:xfrm>
              <a:off x="6169" y="11472"/>
              <a:ext cx="390" cy="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600">
                  <a:solidFill>
                    <a:srgbClr val="000000"/>
                  </a:solidFill>
                  <a:latin typeface="Times New Roman" panose="02020603050405020304" pitchFamily="18" charset="0"/>
                  <a:ea typeface="MS Mincho" pitchFamily="49" charset="-128"/>
                </a:rPr>
                <a:t>r</a:t>
              </a:r>
              <a:endParaRPr lang="fr-FR" altLang="fr-FR" sz="1800">
                <a:ea typeface="MS Mincho" pitchFamily="49" charset="-128"/>
              </a:endParaRPr>
            </a:p>
          </p:txBody>
        </p:sp>
        <p:sp>
          <p:nvSpPr>
            <p:cNvPr id="20506" name="Text Box 19"/>
            <p:cNvSpPr txBox="1">
              <a:spLocks noChangeArrowheads="1"/>
            </p:cNvSpPr>
            <p:nvPr/>
          </p:nvSpPr>
          <p:spPr bwMode="auto">
            <a:xfrm>
              <a:off x="7057" y="10872"/>
              <a:ext cx="402" cy="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200">
                  <a:solidFill>
                    <a:srgbClr val="000000"/>
                  </a:solidFill>
                  <a:latin typeface="Times New Roman" panose="02020603050405020304" pitchFamily="18" charset="0"/>
                  <a:ea typeface="MS Mincho" pitchFamily="49" charset="-128"/>
                </a:rPr>
                <a:t>x</a:t>
              </a:r>
              <a:endParaRPr lang="fr-FR" altLang="fr-FR" sz="1800">
                <a:ea typeface="MS Mincho" pitchFamily="49" charset="-128"/>
              </a:endParaRPr>
            </a:p>
          </p:txBody>
        </p:sp>
        <p:sp>
          <p:nvSpPr>
            <p:cNvPr id="20507" name="Text Box 20"/>
            <p:cNvSpPr txBox="1">
              <a:spLocks noChangeArrowheads="1"/>
            </p:cNvSpPr>
            <p:nvPr/>
          </p:nvSpPr>
          <p:spPr bwMode="auto">
            <a:xfrm>
              <a:off x="4896" y="9072"/>
              <a:ext cx="402" cy="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200">
                  <a:solidFill>
                    <a:srgbClr val="000000"/>
                  </a:solidFill>
                  <a:latin typeface="Times New Roman" panose="02020603050405020304" pitchFamily="18" charset="0"/>
                  <a:ea typeface="MS Mincho" pitchFamily="49" charset="-128"/>
                </a:rPr>
                <a:t>y</a:t>
              </a:r>
              <a:endParaRPr lang="fr-FR" altLang="fr-FR" sz="1800">
                <a:ea typeface="MS Mincho" pitchFamily="49" charset="-128"/>
              </a:endParaRPr>
            </a:p>
          </p:txBody>
        </p:sp>
      </p:grpSp>
      <p:graphicFrame>
        <p:nvGraphicFramePr>
          <p:cNvPr id="20490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9131288"/>
              </p:ext>
            </p:extLst>
          </p:nvPr>
        </p:nvGraphicFramePr>
        <p:xfrm>
          <a:off x="4500563" y="1052513"/>
          <a:ext cx="3697287" cy="1252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5" name="Equation" r:id="rId8" imgW="1942920" imgH="660240" progId="Equation.DSMT4">
                  <p:embed/>
                </p:oleObj>
              </mc:Choice>
              <mc:Fallback>
                <p:oleObj name="Equation" r:id="rId8" imgW="1942920" imgH="66024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052513"/>
                        <a:ext cx="3697287" cy="1252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1" name="Text Box 22"/>
          <p:cNvSpPr txBox="1">
            <a:spLocks noChangeArrowheads="1"/>
          </p:cNvSpPr>
          <p:nvPr/>
        </p:nvSpPr>
        <p:spPr bwMode="auto">
          <a:xfrm>
            <a:off x="2627313" y="692150"/>
            <a:ext cx="3803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Les équations du mouvement sont :</a:t>
            </a:r>
          </a:p>
        </p:txBody>
      </p:sp>
      <p:sp>
        <p:nvSpPr>
          <p:cNvPr id="20492" name="Text Box 23"/>
          <p:cNvSpPr txBox="1">
            <a:spLocks noChangeArrowheads="1"/>
          </p:cNvSpPr>
          <p:nvPr/>
        </p:nvSpPr>
        <p:spPr bwMode="auto">
          <a:xfrm>
            <a:off x="468313" y="1196975"/>
            <a:ext cx="14001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200" b="1">
                <a:solidFill>
                  <a:schemeClr val="hlink"/>
                </a:solidFill>
              </a:rPr>
              <a:t>-</a:t>
            </a:r>
            <a:r>
              <a:rPr lang="fr-FR" altLang="fr-FR" sz="1200">
                <a:solidFill>
                  <a:schemeClr val="hlink"/>
                </a:solidFill>
              </a:rPr>
              <a:t> tige élastique (L)</a:t>
            </a:r>
          </a:p>
        </p:txBody>
      </p:sp>
      <p:graphicFrame>
        <p:nvGraphicFramePr>
          <p:cNvPr id="20493" name="Object 24"/>
          <p:cNvGraphicFramePr>
            <a:graphicFrameLocks noChangeAspect="1"/>
          </p:cNvGraphicFramePr>
          <p:nvPr/>
        </p:nvGraphicFramePr>
        <p:xfrm>
          <a:off x="3297238" y="5876925"/>
          <a:ext cx="914400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6" name="Equation" r:id="rId10" imgW="507780" imgH="393529" progId="Equation.DSMT4">
                  <p:embed/>
                </p:oleObj>
              </mc:Choice>
              <mc:Fallback>
                <p:oleObj name="Equation" r:id="rId10" imgW="507780" imgH="393529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7238" y="5876925"/>
                        <a:ext cx="914400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25"/>
          <p:cNvGraphicFramePr>
            <a:graphicFrameLocks noChangeAspect="1"/>
          </p:cNvGraphicFramePr>
          <p:nvPr/>
        </p:nvGraphicFramePr>
        <p:xfrm>
          <a:off x="3117850" y="2420938"/>
          <a:ext cx="5846763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7" name="Equation" r:id="rId12" imgW="3073400" imgH="838200" progId="Equation.DSMT4">
                  <p:embed/>
                </p:oleObj>
              </mc:Choice>
              <mc:Fallback>
                <p:oleObj name="Equation" r:id="rId12" imgW="3073400" imgH="8382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2420938"/>
                        <a:ext cx="5846763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5" name="Text Box 26"/>
          <p:cNvSpPr txBox="1">
            <a:spLocks noChangeArrowheads="1"/>
          </p:cNvSpPr>
          <p:nvPr/>
        </p:nvSpPr>
        <p:spPr bwMode="auto">
          <a:xfrm>
            <a:off x="2627313" y="1341438"/>
            <a:ext cx="1835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Un système de </a:t>
            </a:r>
          </a:p>
          <a:p>
            <a:pPr eaLnBrk="1" hangingPunct="1"/>
            <a:r>
              <a:rPr lang="fr-FR" altLang="fr-FR" sz="1800"/>
              <a:t>2 EDO d</a:t>
            </a:r>
            <a:r>
              <a:rPr lang="ja-JP" altLang="fr-FR" sz="1800"/>
              <a:t>’</a:t>
            </a:r>
            <a:r>
              <a:rPr lang="fr-FR" altLang="ja-JP" sz="1800"/>
              <a:t>ordre 2</a:t>
            </a:r>
            <a:endParaRPr lang="fr-FR" altLang="fr-FR" sz="1800"/>
          </a:p>
        </p:txBody>
      </p:sp>
      <p:sp>
        <p:nvSpPr>
          <p:cNvPr id="20496" name="Text Box 29"/>
          <p:cNvSpPr txBox="1">
            <a:spLocks noChangeArrowheads="1"/>
          </p:cNvSpPr>
          <p:nvPr/>
        </p:nvSpPr>
        <p:spPr bwMode="auto">
          <a:xfrm>
            <a:off x="1835150" y="2997200"/>
            <a:ext cx="1212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posant</a:t>
            </a:r>
          </a:p>
        </p:txBody>
      </p:sp>
      <p:sp>
        <p:nvSpPr>
          <p:cNvPr id="20497" name="Text Box 30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0"/>
            <a:ext cx="7221538" cy="850900"/>
          </a:xfrm>
        </p:spPr>
        <p:txBody>
          <a:bodyPr/>
          <a:lstStyle/>
          <a:p>
            <a:pPr eaLnBrk="1" hangingPunct="1">
              <a:defRPr/>
            </a:pPr>
            <a:r>
              <a:rPr lang="fr-FR" sz="2400" smtClean="0">
                <a:ea typeface="+mj-ea"/>
                <a:cs typeface="+mj-cs"/>
              </a:rPr>
              <a:t>EDO et Forme explicite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36613"/>
            <a:ext cx="8229600" cy="43926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altLang="fr-FR" sz="1800" smtClean="0"/>
              <a:t>Soit une équation différentielle d</a:t>
            </a:r>
            <a:r>
              <a:rPr lang="ja-JP" altLang="fr-FR" sz="1800" smtClean="0"/>
              <a:t>’</a:t>
            </a:r>
            <a:r>
              <a:rPr lang="fr-FR" altLang="ja-JP" sz="1800" smtClean="0"/>
              <a:t>ordre 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1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1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1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altLang="fr-FR" sz="1800" smtClean="0"/>
              <a:t>Il peut être </a:t>
            </a:r>
            <a:r>
              <a:rPr lang="fr-FR" altLang="fr-FR" sz="1800" b="1" smtClean="0">
                <a:solidFill>
                  <a:srgbClr val="FF3300"/>
                </a:solidFill>
              </a:rPr>
              <a:t>quelques fois</a:t>
            </a:r>
            <a:r>
              <a:rPr lang="fr-FR" altLang="fr-FR" sz="1800" smtClean="0"/>
              <a:t> transformé en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1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1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1800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altLang="fr-FR" sz="1800" smtClean="0"/>
              <a:t>C</a:t>
            </a:r>
            <a:r>
              <a:rPr lang="ja-JP" altLang="fr-FR" sz="1800" smtClean="0"/>
              <a:t>’</a:t>
            </a:r>
            <a:r>
              <a:rPr lang="fr-FR" altLang="ja-JP" sz="1800" smtClean="0"/>
              <a:t>est la forme </a:t>
            </a:r>
            <a:r>
              <a:rPr lang="fr-FR" altLang="ja-JP" sz="1800" b="1" smtClean="0"/>
              <a:t>explicite </a:t>
            </a:r>
            <a:r>
              <a:rPr lang="fr-FR" altLang="ja-JP" sz="1800" smtClean="0"/>
              <a:t>du système</a:t>
            </a:r>
            <a:endParaRPr lang="fr-FR" altLang="fr-FR" sz="1800" smtClean="0"/>
          </a:p>
        </p:txBody>
      </p:sp>
      <p:sp>
        <p:nvSpPr>
          <p:cNvPr id="2253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253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253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253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2535" name="Rectangle 8"/>
          <p:cNvSpPr>
            <a:spLocks noChangeArrowheads="1"/>
          </p:cNvSpPr>
          <p:nvPr/>
        </p:nvSpPr>
        <p:spPr bwMode="auto">
          <a:xfrm>
            <a:off x="0" y="3124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253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2537" name="Object 11"/>
          <p:cNvGraphicFramePr>
            <a:graphicFrameLocks noChangeAspect="1"/>
          </p:cNvGraphicFramePr>
          <p:nvPr/>
        </p:nvGraphicFramePr>
        <p:xfrm>
          <a:off x="2555875" y="2420938"/>
          <a:ext cx="2071688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6" name="Equation" r:id="rId4" imgW="1002865" imgH="393529" progId="Equation.DSMT4">
                  <p:embed/>
                </p:oleObj>
              </mc:Choice>
              <mc:Fallback>
                <p:oleObj name="Equation" r:id="rId4" imgW="1002865" imgH="393529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420938"/>
                        <a:ext cx="2071688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Rectangle 13"/>
          <p:cNvSpPr>
            <a:spLocks noChangeArrowheads="1"/>
          </p:cNvSpPr>
          <p:nvPr/>
        </p:nvSpPr>
        <p:spPr bwMode="auto">
          <a:xfrm>
            <a:off x="468313" y="3716338"/>
            <a:ext cx="76327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Exemple 1 : oscillateur harmonique</a:t>
            </a:r>
          </a:p>
        </p:txBody>
      </p:sp>
      <p:graphicFrame>
        <p:nvGraphicFramePr>
          <p:cNvPr id="22539" name="Object 14"/>
          <p:cNvGraphicFramePr>
            <a:graphicFrameLocks noChangeAspect="1"/>
          </p:cNvGraphicFramePr>
          <p:nvPr/>
        </p:nvGraphicFramePr>
        <p:xfrm>
          <a:off x="539750" y="4457700"/>
          <a:ext cx="2174875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7" name="Equation" r:id="rId6" imgW="1206500" imgH="838200" progId="Equation.DSMT4">
                  <p:embed/>
                </p:oleObj>
              </mc:Choice>
              <mc:Fallback>
                <p:oleObj name="Equation" r:id="rId6" imgW="1206500" imgH="838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457700"/>
                        <a:ext cx="2174875" cy="1511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0" name="AutoShape 15"/>
          <p:cNvSpPr>
            <a:spLocks noChangeArrowheads="1"/>
          </p:cNvSpPr>
          <p:nvPr/>
        </p:nvSpPr>
        <p:spPr bwMode="auto">
          <a:xfrm rot="-5400000">
            <a:off x="2663826" y="4889500"/>
            <a:ext cx="431800" cy="504825"/>
          </a:xfrm>
          <a:prstGeom prst="upDownArrow">
            <a:avLst>
              <a:gd name="adj1" fmla="val 50000"/>
              <a:gd name="adj2" fmla="val 23382"/>
            </a:avLst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254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978013"/>
              </p:ext>
            </p:extLst>
          </p:nvPr>
        </p:nvGraphicFramePr>
        <p:xfrm>
          <a:off x="3441700" y="4241800"/>
          <a:ext cx="3846513" cy="192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8" name="Equation" r:id="rId8" imgW="2133360" imgH="1066680" progId="Equation.DSMT4">
                  <p:embed/>
                </p:oleObj>
              </mc:Choice>
              <mc:Fallback>
                <p:oleObj name="Equation" r:id="rId8" imgW="2133360" imgH="106668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4241800"/>
                        <a:ext cx="3846513" cy="1922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2" name="Object 17"/>
          <p:cNvGraphicFramePr>
            <a:graphicFrameLocks noChangeAspect="1"/>
          </p:cNvGraphicFramePr>
          <p:nvPr/>
        </p:nvGraphicFramePr>
        <p:xfrm>
          <a:off x="7092950" y="4714875"/>
          <a:ext cx="1717675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9" name="Equation" r:id="rId10" imgW="952500" imgH="457200" progId="Equation.DSMT4">
                  <p:embed/>
                </p:oleObj>
              </mc:Choice>
              <mc:Fallback>
                <p:oleObj name="Equation" r:id="rId10" imgW="952500" imgH="457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2950" y="4714875"/>
                        <a:ext cx="1717675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906339"/>
              </p:ext>
            </p:extLst>
          </p:nvPr>
        </p:nvGraphicFramePr>
        <p:xfrm>
          <a:off x="1316038" y="1125538"/>
          <a:ext cx="3970337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0" name="Equation" r:id="rId12" imgW="2209680" imgH="507960" progId="Equation.DSMT4">
                  <p:embed/>
                </p:oleObj>
              </mc:Choice>
              <mc:Fallback>
                <p:oleObj name="Equation" r:id="rId12" imgW="2209680" imgH="50796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6038" y="1125538"/>
                        <a:ext cx="3970337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19"/>
          <p:cNvGraphicFramePr>
            <a:graphicFrameLocks noChangeAspect="1"/>
          </p:cNvGraphicFramePr>
          <p:nvPr/>
        </p:nvGraphicFramePr>
        <p:xfrm>
          <a:off x="6300788" y="115888"/>
          <a:ext cx="2451100" cy="303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1" name="Equation" r:id="rId14" imgW="1435100" imgH="1778000" progId="Equation.DSMT4">
                  <p:embed/>
                </p:oleObj>
              </mc:Choice>
              <mc:Fallback>
                <p:oleObj name="Equation" r:id="rId14" imgW="1435100" imgH="17780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115888"/>
                        <a:ext cx="2451100" cy="303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5" name="Text Box 20"/>
          <p:cNvSpPr txBox="1">
            <a:spLocks noChangeArrowheads="1"/>
          </p:cNvSpPr>
          <p:nvPr/>
        </p:nvSpPr>
        <p:spPr bwMode="auto">
          <a:xfrm>
            <a:off x="5487988" y="1431925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avec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457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457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458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458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529630"/>
              </p:ext>
            </p:extLst>
          </p:nvPr>
        </p:nvGraphicFramePr>
        <p:xfrm>
          <a:off x="550863" y="3382963"/>
          <a:ext cx="5775325" cy="313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2" name="Equation" r:id="rId4" imgW="3035160" imgH="1650960" progId="Equation.DSMT4">
                  <p:embed/>
                </p:oleObj>
              </mc:Choice>
              <mc:Fallback>
                <p:oleObj name="Equation" r:id="rId4" imgW="3035160" imgH="165096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3" y="3382963"/>
                        <a:ext cx="5775325" cy="313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20"/>
          <p:cNvGraphicFramePr>
            <a:graphicFrameLocks noChangeAspect="1"/>
          </p:cNvGraphicFramePr>
          <p:nvPr/>
        </p:nvGraphicFramePr>
        <p:xfrm>
          <a:off x="6704013" y="4152900"/>
          <a:ext cx="1603375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3" name="Equation" r:id="rId6" imgW="889000" imgH="914400" progId="Equation.DSMT4">
                  <p:embed/>
                </p:oleObj>
              </mc:Choice>
              <mc:Fallback>
                <p:oleObj name="Equation" r:id="rId6" imgW="889000" imgH="9144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4013" y="4152900"/>
                        <a:ext cx="1603375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Rectangle 21"/>
          <p:cNvSpPr>
            <a:spLocks noChangeArrowheads="1"/>
          </p:cNvSpPr>
          <p:nvPr/>
        </p:nvSpPr>
        <p:spPr bwMode="auto">
          <a:xfrm>
            <a:off x="4716463" y="3357563"/>
            <a:ext cx="1860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>
                <a:solidFill>
                  <a:srgbClr val="A50021"/>
                </a:solidFill>
              </a:rPr>
              <a:t>Forme explicite</a:t>
            </a:r>
          </a:p>
        </p:txBody>
      </p:sp>
      <p:sp>
        <p:nvSpPr>
          <p:cNvPr id="24584" name="AutoShape 22"/>
          <p:cNvSpPr>
            <a:spLocks noChangeArrowheads="1"/>
          </p:cNvSpPr>
          <p:nvPr/>
        </p:nvSpPr>
        <p:spPr bwMode="auto">
          <a:xfrm>
            <a:off x="3995738" y="2636838"/>
            <a:ext cx="431800" cy="504825"/>
          </a:xfrm>
          <a:prstGeom prst="upDownArrow">
            <a:avLst>
              <a:gd name="adj1" fmla="val 50000"/>
              <a:gd name="adj2" fmla="val 23382"/>
            </a:avLst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4585" name="Rectangle 26"/>
          <p:cNvSpPr>
            <a:spLocks noGrp="1" noChangeArrowheads="1"/>
          </p:cNvSpPr>
          <p:nvPr>
            <p:ph type="title"/>
          </p:nvPr>
        </p:nvSpPr>
        <p:spPr>
          <a:xfrm>
            <a:off x="1258888" y="73025"/>
            <a:ext cx="7777162" cy="547688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Exemple 2 : pendule élastique pesant</a:t>
            </a:r>
          </a:p>
        </p:txBody>
      </p:sp>
      <p:graphicFrame>
        <p:nvGraphicFramePr>
          <p:cNvPr id="24586" name="Object 111"/>
          <p:cNvGraphicFramePr>
            <a:graphicFrameLocks noChangeAspect="1"/>
          </p:cNvGraphicFramePr>
          <p:nvPr/>
        </p:nvGraphicFramePr>
        <p:xfrm>
          <a:off x="468313" y="901700"/>
          <a:ext cx="5846762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34" name="Equation" r:id="rId8" imgW="3073400" imgH="838200" progId="Equation.DSMT4">
                  <p:embed/>
                </p:oleObj>
              </mc:Choice>
              <mc:Fallback>
                <p:oleObj name="Equation" r:id="rId8" imgW="3073400" imgH="838200" progId="Equation.DSMT4">
                  <p:embed/>
                  <p:pic>
                    <p:nvPicPr>
                      <p:cNvPr id="0" name="Object 1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901700"/>
                        <a:ext cx="5846762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>
          <a:xfrm>
            <a:off x="1044575" y="115888"/>
            <a:ext cx="8064500" cy="431800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Méthode explicite du 1</a:t>
            </a:r>
            <a:r>
              <a:rPr lang="fr-FR" altLang="fr-FR" sz="2400" baseline="30000" smtClean="0"/>
              <a:t>er</a:t>
            </a:r>
            <a:r>
              <a:rPr lang="fr-FR" altLang="fr-FR" sz="2400" smtClean="0"/>
              <a:t> ordre</a:t>
            </a:r>
            <a:r>
              <a:rPr lang="en-GB" altLang="fr-FR" sz="2400" smtClean="0"/>
              <a:t> : </a:t>
            </a:r>
            <a:r>
              <a:rPr lang="fr-FR" altLang="fr-FR" sz="2400" smtClean="0"/>
              <a:t>Euler 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804863"/>
            <a:ext cx="8229600" cy="4352925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fr-FR" altLang="fr-FR" sz="1800" smtClean="0"/>
              <a:t>Soit un système du premier ordre: </a:t>
            </a:r>
          </a:p>
          <a:p>
            <a:pPr algn="just" eaLnBrk="1" hangingPunct="1">
              <a:lnSpc>
                <a:spcPct val="110000"/>
              </a:lnSpc>
              <a:buFontTx/>
              <a:buNone/>
            </a:pPr>
            <a:endParaRPr lang="fr-FR" altLang="fr-FR" sz="800" smtClean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fr-FR" altLang="fr-FR" sz="1800" smtClean="0"/>
              <a:t>Le temps est discrétisé en pas de temps h tels que t = n.h </a:t>
            </a:r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fr-FR" altLang="fr-FR" sz="1800" smtClean="0"/>
              <a:t>Le développement en série de Taylor de Y</a:t>
            </a:r>
            <a:r>
              <a:rPr lang="fr-FR" altLang="fr-FR" sz="1800" baseline="-25000" smtClean="0"/>
              <a:t>n+1</a:t>
            </a:r>
            <a:r>
              <a:rPr lang="fr-FR" altLang="fr-FR" sz="1800" smtClean="0"/>
              <a:t> au voisinage de Y</a:t>
            </a:r>
            <a:r>
              <a:rPr lang="fr-FR" altLang="fr-FR" sz="1800" baseline="-25000" smtClean="0"/>
              <a:t>n</a:t>
            </a:r>
            <a:endParaRPr lang="fr-FR" altLang="fr-FR" sz="1800" smtClean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endParaRPr lang="fr-FR" altLang="fr-FR" sz="1800" smtClean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endParaRPr lang="fr-FR" altLang="fr-FR" sz="1800" smtClean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endParaRPr lang="fr-FR" altLang="fr-FR" sz="1800" smtClean="0"/>
          </a:p>
          <a:p>
            <a:pPr algn="just" eaLnBrk="1" hangingPunct="1">
              <a:lnSpc>
                <a:spcPct val="110000"/>
              </a:lnSpc>
              <a:buFontTx/>
              <a:buNone/>
            </a:pPr>
            <a:r>
              <a:rPr lang="fr-FR" altLang="fr-FR" sz="1800" smtClean="0"/>
              <a:t>pour lequel on connaît la dérivée première :</a:t>
            </a:r>
            <a:r>
              <a:rPr lang="en-GB" altLang="fr-FR" sz="1800" smtClean="0"/>
              <a:t> </a:t>
            </a:r>
          </a:p>
          <a:p>
            <a:pPr algn="just" eaLnBrk="1" hangingPunct="1">
              <a:lnSpc>
                <a:spcPct val="110000"/>
              </a:lnSpc>
              <a:buFontTx/>
              <a:buNone/>
            </a:pPr>
            <a:endParaRPr lang="fr-FR" altLang="fr-FR" sz="1800" smtClean="0"/>
          </a:p>
        </p:txBody>
      </p:sp>
      <p:sp>
        <p:nvSpPr>
          <p:cNvPr id="2662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2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2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3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3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663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4903419"/>
              </p:ext>
            </p:extLst>
          </p:nvPr>
        </p:nvGraphicFramePr>
        <p:xfrm>
          <a:off x="4524375" y="660400"/>
          <a:ext cx="1716088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6" name="Equation" r:id="rId4" imgW="901440" imgH="393480" progId="Equation.DSMT4">
                  <p:embed/>
                </p:oleObj>
              </mc:Choice>
              <mc:Fallback>
                <p:oleObj name="Equation" r:id="rId4" imgW="901440" imgH="393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75" y="660400"/>
                        <a:ext cx="1716088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Rectangle 10"/>
          <p:cNvSpPr>
            <a:spLocks noChangeArrowheads="1"/>
          </p:cNvSpPr>
          <p:nvPr/>
        </p:nvSpPr>
        <p:spPr bwMode="auto">
          <a:xfrm>
            <a:off x="0" y="3276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34" name="Rectangle 12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6635" name="Object 13"/>
          <p:cNvGraphicFramePr>
            <a:graphicFrameLocks noChangeAspect="1"/>
          </p:cNvGraphicFramePr>
          <p:nvPr/>
        </p:nvGraphicFramePr>
        <p:xfrm>
          <a:off x="1331913" y="2205038"/>
          <a:ext cx="58229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7" name="Equation" r:id="rId6" imgW="3467100" imgH="444500" progId="Equation.DSMT4">
                  <p:embed/>
                </p:oleObj>
              </mc:Choice>
              <mc:Fallback>
                <p:oleObj name="Equation" r:id="rId6" imgW="3467100" imgH="4445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205038"/>
                        <a:ext cx="58229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26637" name="Object 15"/>
          <p:cNvGraphicFramePr>
            <a:graphicFrameLocks noChangeAspect="1"/>
          </p:cNvGraphicFramePr>
          <p:nvPr/>
        </p:nvGraphicFramePr>
        <p:xfrm>
          <a:off x="666750" y="3567113"/>
          <a:ext cx="7392988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8" name="Equation" r:id="rId8" imgW="4178300" imgH="444500" progId="Equation.DSMT4">
                  <p:embed/>
                </p:oleObj>
              </mc:Choice>
              <mc:Fallback>
                <p:oleObj name="Equation" r:id="rId8" imgW="4178300" imgH="4445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3567113"/>
                        <a:ext cx="7392988" cy="798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8" name="Oval 16"/>
          <p:cNvSpPr>
            <a:spLocks noChangeArrowheads="1"/>
          </p:cNvSpPr>
          <p:nvPr/>
        </p:nvSpPr>
        <p:spPr bwMode="auto">
          <a:xfrm>
            <a:off x="2916238" y="2133600"/>
            <a:ext cx="412750" cy="987425"/>
          </a:xfrm>
          <a:prstGeom prst="ellipse">
            <a:avLst/>
          </a:prstGeom>
          <a:noFill/>
          <a:ln w="28575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39" name="Line 17"/>
          <p:cNvSpPr>
            <a:spLocks noChangeShapeType="1"/>
          </p:cNvSpPr>
          <p:nvPr/>
        </p:nvSpPr>
        <p:spPr bwMode="auto">
          <a:xfrm>
            <a:off x="3132138" y="3122613"/>
            <a:ext cx="0" cy="522287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640" name="AutoShape 18"/>
          <p:cNvSpPr>
            <a:spLocks noChangeArrowheads="1"/>
          </p:cNvSpPr>
          <p:nvPr/>
        </p:nvSpPr>
        <p:spPr bwMode="auto">
          <a:xfrm rot="20295922" flipH="1">
            <a:off x="3940175" y="3544888"/>
            <a:ext cx="344488" cy="747712"/>
          </a:xfrm>
          <a:prstGeom prst="lightningBolt">
            <a:avLst/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26641" name="Rectangle 19"/>
          <p:cNvSpPr>
            <a:spLocks noChangeArrowheads="1"/>
          </p:cNvSpPr>
          <p:nvPr/>
        </p:nvSpPr>
        <p:spPr bwMode="auto">
          <a:xfrm>
            <a:off x="468313" y="4273550"/>
            <a:ext cx="6837362" cy="135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20000"/>
              </a:spcBef>
            </a:pPr>
            <a:endParaRPr lang="fr-FR" altLang="fr-FR" sz="1800"/>
          </a:p>
          <a:p>
            <a:pPr eaLnBrk="1" hangingPunct="1">
              <a:spcBef>
                <a:spcPct val="20000"/>
              </a:spcBef>
            </a:pPr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erreur de troncature est donnée par</a:t>
            </a:r>
          </a:p>
          <a:p>
            <a:pPr eaLnBrk="1" hangingPunct="1">
              <a:spcBef>
                <a:spcPct val="20000"/>
              </a:spcBef>
            </a:pPr>
            <a:endParaRPr lang="fr-FR" altLang="fr-FR" sz="1800"/>
          </a:p>
          <a:p>
            <a:pPr eaLnBrk="1" hangingPunct="1">
              <a:spcBef>
                <a:spcPct val="20000"/>
              </a:spcBef>
            </a:pPr>
            <a:r>
              <a:rPr lang="fr-FR" altLang="fr-FR" sz="1800"/>
              <a:t>La précision peut être contrôlée par h si la dérivée 2</a:t>
            </a:r>
            <a:r>
              <a:rPr lang="fr-FR" altLang="fr-FR" sz="1800" baseline="30000"/>
              <a:t>nde</a:t>
            </a:r>
            <a:r>
              <a:rPr lang="fr-FR" altLang="fr-FR" sz="1800"/>
              <a:t> est bornée</a:t>
            </a:r>
          </a:p>
        </p:txBody>
      </p:sp>
      <p:graphicFrame>
        <p:nvGraphicFramePr>
          <p:cNvPr id="26642" name="Object 20"/>
          <p:cNvGraphicFramePr>
            <a:graphicFrameLocks noChangeAspect="1"/>
          </p:cNvGraphicFramePr>
          <p:nvPr/>
        </p:nvGraphicFramePr>
        <p:xfrm>
          <a:off x="4500563" y="4465638"/>
          <a:ext cx="16557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39" name="Equation" r:id="rId10" imgW="1066337" imgH="444307" progId="Equation.DSMT4">
                  <p:embed/>
                </p:oleObj>
              </mc:Choice>
              <mc:Fallback>
                <p:oleObj name="Equation" r:id="rId10" imgW="1066337" imgH="444307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4465638"/>
                        <a:ext cx="1655762" cy="619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3" name="Rectangle 21"/>
          <p:cNvSpPr>
            <a:spLocks noChangeArrowheads="1"/>
          </p:cNvSpPr>
          <p:nvPr/>
        </p:nvSpPr>
        <p:spPr bwMode="auto">
          <a:xfrm>
            <a:off x="169863" y="6092825"/>
            <a:ext cx="8791575" cy="395288"/>
          </a:xfrm>
          <a:prstGeom prst="rect">
            <a:avLst/>
          </a:prstGeom>
          <a:noFill/>
          <a:ln w="2857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 sz="1800" b="1">
                <a:solidFill>
                  <a:srgbClr val="A50021"/>
                </a:solidFill>
              </a:rPr>
              <a:t> Y </a:t>
            </a:r>
            <a:r>
              <a:rPr lang="fr-FR" altLang="fr-FR" sz="1800">
                <a:solidFill>
                  <a:srgbClr val="A50021"/>
                </a:solidFill>
              </a:rPr>
              <a:t>étant connue à t=0, la fonction </a:t>
            </a:r>
            <a:r>
              <a:rPr lang="fr-FR" altLang="fr-FR" sz="1800" b="1">
                <a:solidFill>
                  <a:srgbClr val="A50021"/>
                </a:solidFill>
              </a:rPr>
              <a:t>Y</a:t>
            </a:r>
            <a:r>
              <a:rPr lang="fr-FR" altLang="fr-FR" sz="1800">
                <a:solidFill>
                  <a:srgbClr val="A50021"/>
                </a:solidFill>
              </a:rPr>
              <a:t> peut être déterminée à tout autre instant ultérieur</a:t>
            </a:r>
          </a:p>
        </p:txBody>
      </p:sp>
      <p:graphicFrame>
        <p:nvGraphicFramePr>
          <p:cNvPr id="2664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5540142"/>
              </p:ext>
            </p:extLst>
          </p:nvPr>
        </p:nvGraphicFramePr>
        <p:xfrm>
          <a:off x="1946275" y="5597525"/>
          <a:ext cx="3359150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0" name="Equation" r:id="rId12" imgW="1841400" imgH="228600" progId="Equation.DSMT4">
                  <p:embed/>
                </p:oleObj>
              </mc:Choice>
              <mc:Fallback>
                <p:oleObj name="Equation" r:id="rId12" imgW="1841400" imgH="228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6275" y="5597525"/>
                        <a:ext cx="3359150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5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9062538"/>
              </p:ext>
            </p:extLst>
          </p:nvPr>
        </p:nvGraphicFramePr>
        <p:xfrm>
          <a:off x="457200" y="3784600"/>
          <a:ext cx="3360738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1" name="Equation" r:id="rId14" imgW="1841400" imgH="228600" progId="Equation.DSMT4">
                  <p:embed/>
                </p:oleObj>
              </mc:Choice>
              <mc:Fallback>
                <p:oleObj name="Equation" r:id="rId14" imgW="1841400" imgH="228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3784600"/>
                        <a:ext cx="3360738" cy="4238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719138" y="1196975"/>
            <a:ext cx="7669212" cy="4103688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fr-FR" altLang="fr-FR" sz="2000" smtClean="0"/>
              <a:t>Résoudre l'équation différentielle du 1er ordre suivante : </a:t>
            </a:r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r>
              <a:rPr lang="fr-FR" altLang="fr-FR" sz="2000" smtClean="0"/>
              <a:t>La solution exacte de ce système est : </a:t>
            </a:r>
          </a:p>
          <a:p>
            <a:pPr algn="just" eaLnBrk="1" hangingPunct="1">
              <a:lnSpc>
                <a:spcPct val="90000"/>
              </a:lnSpc>
            </a:pPr>
            <a:endParaRPr lang="fr-FR" altLang="fr-FR" sz="2000" smtClean="0"/>
          </a:p>
          <a:p>
            <a:pPr algn="just" eaLnBrk="1" hangingPunct="1">
              <a:lnSpc>
                <a:spcPct val="90000"/>
              </a:lnSpc>
            </a:pPr>
            <a:r>
              <a:rPr lang="fr-FR" altLang="fr-FR" sz="2000" smtClean="0"/>
              <a:t>Selon la méthode </a:t>
            </a:r>
            <a:r>
              <a:rPr lang="fr-FR" altLang="fr-FR" sz="2000" b="1" smtClean="0">
                <a:solidFill>
                  <a:srgbClr val="A50021"/>
                </a:solidFill>
              </a:rPr>
              <a:t>d'</a:t>
            </a:r>
            <a:r>
              <a:rPr lang="fr-FR" altLang="fr-FR" sz="2000" b="1" i="1" smtClean="0">
                <a:solidFill>
                  <a:srgbClr val="A50021"/>
                </a:solidFill>
              </a:rPr>
              <a:t>Euler</a:t>
            </a:r>
            <a:r>
              <a:rPr lang="fr-FR" altLang="fr-FR" sz="2000" smtClean="0"/>
              <a:t>, la solution de ce système s'écrit : </a:t>
            </a:r>
          </a:p>
          <a:p>
            <a:pPr algn="just" eaLnBrk="1" hangingPunct="1">
              <a:lnSpc>
                <a:spcPct val="90000"/>
              </a:lnSpc>
            </a:pPr>
            <a:r>
              <a:rPr lang="fr-FR" altLang="fr-FR" sz="2000" smtClean="0"/>
              <a:t/>
            </a:r>
            <a:br>
              <a:rPr lang="fr-FR" altLang="fr-FR" sz="2000" smtClean="0"/>
            </a:br>
            <a:endParaRPr lang="fr-FR" altLang="fr-FR" sz="2000" smtClean="0"/>
          </a:p>
        </p:txBody>
      </p:sp>
      <p:sp>
        <p:nvSpPr>
          <p:cNvPr id="28674" name="Rectangle 3"/>
          <p:cNvSpPr>
            <a:spLocks noChangeArrowheads="1"/>
          </p:cNvSpPr>
          <p:nvPr/>
        </p:nvSpPr>
        <p:spPr bwMode="auto">
          <a:xfrm>
            <a:off x="1547813" y="44450"/>
            <a:ext cx="6697662" cy="757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olidFill>
                  <a:schemeClr val="tx2"/>
                </a:solidFill>
              </a:rPr>
              <a:t>Exemple d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application de la méthode d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Euler</a:t>
            </a:r>
            <a:endParaRPr lang="fr-FR" altLang="fr-FR">
              <a:solidFill>
                <a:schemeClr val="tx2"/>
              </a:solidFill>
            </a:endParaRPr>
          </a:p>
        </p:txBody>
      </p:sp>
      <p:graphicFrame>
        <p:nvGraphicFramePr>
          <p:cNvPr id="2867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177566"/>
              </p:ext>
            </p:extLst>
          </p:nvPr>
        </p:nvGraphicFramePr>
        <p:xfrm>
          <a:off x="1560513" y="1649413"/>
          <a:ext cx="4403725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4" name="Equation" r:id="rId3" imgW="2438280" imgH="1066680" progId="Equation.DSMT4">
                  <p:embed/>
                </p:oleObj>
              </mc:Choice>
              <mc:Fallback>
                <p:oleObj name="Equation" r:id="rId3" imgW="2438280" imgH="106668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0513" y="1649413"/>
                        <a:ext cx="4403725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5"/>
          <p:cNvGraphicFramePr>
            <a:graphicFrameLocks noChangeAspect="1"/>
          </p:cNvGraphicFramePr>
          <p:nvPr/>
        </p:nvGraphicFramePr>
        <p:xfrm>
          <a:off x="5349875" y="3357563"/>
          <a:ext cx="963613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5" name="Equation" r:id="rId5" imgW="545863" imgH="393529" progId="Equation.DSMT4">
                  <p:embed/>
                </p:oleObj>
              </mc:Choice>
              <mc:Fallback>
                <p:oleObj name="Equation" r:id="rId5" imgW="545863" imgH="393529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9875" y="3357563"/>
                        <a:ext cx="963613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7611376"/>
              </p:ext>
            </p:extLst>
          </p:nvPr>
        </p:nvGraphicFramePr>
        <p:xfrm>
          <a:off x="1498600" y="4773613"/>
          <a:ext cx="656431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6" name="Equation" r:id="rId7" imgW="3720960" imgH="444240" progId="Equation.DSMT4">
                  <p:embed/>
                </p:oleObj>
              </mc:Choice>
              <mc:Fallback>
                <p:oleObj name="Equation" r:id="rId7" imgW="372096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8600" y="4773613"/>
                        <a:ext cx="656431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Text Box 7"/>
          <p:cNvSpPr txBox="1">
            <a:spLocks noChangeArrowheads="1"/>
          </p:cNvSpPr>
          <p:nvPr/>
        </p:nvSpPr>
        <p:spPr bwMode="auto">
          <a:xfrm>
            <a:off x="2784475" y="2846388"/>
            <a:ext cx="21478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>
                <a:solidFill>
                  <a:srgbClr val="A50021"/>
                </a:solidFill>
                <a:sym typeface="Wingdings" panose="05000000000000000000" pitchFamily="2" charset="2"/>
              </a:rPr>
              <a:t> </a:t>
            </a:r>
            <a:r>
              <a:rPr lang="fr-FR" altLang="fr-FR" sz="1800">
                <a:solidFill>
                  <a:srgbClr val="A50021"/>
                </a:solidFill>
              </a:rPr>
              <a:t>Condition initiale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" y="671513"/>
            <a:ext cx="7715250" cy="551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9698" name="Object 6"/>
          <p:cNvGraphicFramePr>
            <a:graphicFrameLocks noChangeAspect="1"/>
          </p:cNvGraphicFramePr>
          <p:nvPr/>
        </p:nvGraphicFramePr>
        <p:xfrm>
          <a:off x="4356100" y="2349500"/>
          <a:ext cx="963613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26" name="Equation" r:id="rId4" imgW="545863" imgH="393529" progId="Equation.DSMT4">
                  <p:embed/>
                </p:oleObj>
              </mc:Choice>
              <mc:Fallback>
                <p:oleObj name="Equation" r:id="rId4" imgW="545863" imgH="393529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349500"/>
                        <a:ext cx="963613" cy="6937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19050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9" name="Line 7"/>
          <p:cNvSpPr>
            <a:spLocks noChangeShapeType="1"/>
          </p:cNvSpPr>
          <p:nvPr/>
        </p:nvSpPr>
        <p:spPr bwMode="auto">
          <a:xfrm>
            <a:off x="2044700" y="3705225"/>
            <a:ext cx="431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0" name="Text Box 8"/>
          <p:cNvSpPr txBox="1">
            <a:spLocks noChangeArrowheads="1"/>
          </p:cNvSpPr>
          <p:nvPr/>
        </p:nvSpPr>
        <p:spPr bwMode="auto">
          <a:xfrm>
            <a:off x="1908175" y="3789363"/>
            <a:ext cx="762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h=0.1</a:t>
            </a:r>
          </a:p>
        </p:txBody>
      </p:sp>
      <p:sp>
        <p:nvSpPr>
          <p:cNvPr id="29701" name="Line 9"/>
          <p:cNvSpPr>
            <a:spLocks noChangeShapeType="1"/>
          </p:cNvSpPr>
          <p:nvPr/>
        </p:nvSpPr>
        <p:spPr bwMode="auto">
          <a:xfrm flipH="1">
            <a:off x="539750" y="2276475"/>
            <a:ext cx="15113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2" name="Text Box 10"/>
          <p:cNvSpPr txBox="1">
            <a:spLocks noChangeArrowheads="1"/>
          </p:cNvSpPr>
          <p:nvPr/>
        </p:nvSpPr>
        <p:spPr bwMode="auto">
          <a:xfrm>
            <a:off x="179388" y="2060575"/>
            <a:ext cx="3825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y</a:t>
            </a:r>
            <a:r>
              <a:rPr lang="fr-FR" altLang="fr-FR" sz="1800" baseline="-25000"/>
              <a:t>2</a:t>
            </a:r>
            <a:endParaRPr lang="fr-FR" altLang="fr-FR" sz="1800"/>
          </a:p>
        </p:txBody>
      </p:sp>
      <p:sp>
        <p:nvSpPr>
          <p:cNvPr id="29703" name="Line 11"/>
          <p:cNvSpPr>
            <a:spLocks noChangeShapeType="1"/>
          </p:cNvSpPr>
          <p:nvPr/>
        </p:nvSpPr>
        <p:spPr bwMode="auto">
          <a:xfrm flipH="1">
            <a:off x="539750" y="2708275"/>
            <a:ext cx="1944688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4" name="Text Box 12"/>
          <p:cNvSpPr txBox="1">
            <a:spLocks noChangeArrowheads="1"/>
          </p:cNvSpPr>
          <p:nvPr/>
        </p:nvSpPr>
        <p:spPr bwMode="auto">
          <a:xfrm>
            <a:off x="179388" y="2420938"/>
            <a:ext cx="3825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y</a:t>
            </a:r>
            <a:r>
              <a:rPr lang="fr-FR" altLang="fr-FR" sz="1800" baseline="-25000"/>
              <a:t>3</a:t>
            </a:r>
            <a:endParaRPr lang="fr-FR" altLang="fr-FR" sz="1800"/>
          </a:p>
        </p:txBody>
      </p:sp>
      <p:sp>
        <p:nvSpPr>
          <p:cNvPr id="29705" name="Text Box 13"/>
          <p:cNvSpPr txBox="1">
            <a:spLocks noChangeArrowheads="1"/>
          </p:cNvSpPr>
          <p:nvPr/>
        </p:nvSpPr>
        <p:spPr bwMode="auto">
          <a:xfrm>
            <a:off x="179388" y="836613"/>
            <a:ext cx="3825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y</a:t>
            </a:r>
            <a:r>
              <a:rPr lang="fr-FR" altLang="fr-FR" sz="1800" baseline="-25000"/>
              <a:t>0</a:t>
            </a:r>
            <a:endParaRPr lang="fr-FR" altLang="fr-FR" sz="1800"/>
          </a:p>
        </p:txBody>
      </p:sp>
      <p:sp>
        <p:nvSpPr>
          <p:cNvPr id="29706" name="Line 14"/>
          <p:cNvSpPr>
            <a:spLocks noChangeShapeType="1"/>
          </p:cNvSpPr>
          <p:nvPr/>
        </p:nvSpPr>
        <p:spPr bwMode="auto">
          <a:xfrm flipH="1">
            <a:off x="539750" y="1069975"/>
            <a:ext cx="503238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7" name="Line 15"/>
          <p:cNvSpPr>
            <a:spLocks noChangeShapeType="1"/>
          </p:cNvSpPr>
          <p:nvPr/>
        </p:nvSpPr>
        <p:spPr bwMode="auto">
          <a:xfrm>
            <a:off x="2051050" y="2276475"/>
            <a:ext cx="0" cy="1439863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8" name="Line 16"/>
          <p:cNvSpPr>
            <a:spLocks noChangeShapeType="1"/>
          </p:cNvSpPr>
          <p:nvPr/>
        </p:nvSpPr>
        <p:spPr bwMode="auto">
          <a:xfrm>
            <a:off x="2478088" y="2708275"/>
            <a:ext cx="0" cy="1020763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09" name="Line 17"/>
          <p:cNvSpPr>
            <a:spLocks noChangeShapeType="1"/>
          </p:cNvSpPr>
          <p:nvPr/>
        </p:nvSpPr>
        <p:spPr bwMode="auto">
          <a:xfrm flipH="1">
            <a:off x="3851275" y="3068638"/>
            <a:ext cx="504825" cy="50482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9710" name="Text Box 18"/>
          <p:cNvSpPr txBox="1">
            <a:spLocks noChangeArrowheads="1"/>
          </p:cNvSpPr>
          <p:nvPr/>
        </p:nvSpPr>
        <p:spPr bwMode="auto">
          <a:xfrm>
            <a:off x="4335463" y="5897563"/>
            <a:ext cx="260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223963" y="5121275"/>
            <a:ext cx="6516687" cy="900113"/>
          </a:xfrm>
        </p:spPr>
        <p:txBody>
          <a:bodyPr/>
          <a:lstStyle/>
          <a:p>
            <a:pPr algn="just" eaLnBrk="1" hangingPunct="1">
              <a:defRPr/>
            </a:pPr>
            <a:r>
              <a:rPr lang="fr-FR" sz="2000" smtClean="0">
                <a:ea typeface="+mn-ea"/>
                <a:cs typeface="+mn-cs"/>
              </a:rPr>
              <a:t>On remarque que </a:t>
            </a:r>
            <a:r>
              <a:rPr lang="fr-FR" sz="2000" b="1" smtClean="0">
                <a:solidFill>
                  <a:srgbClr val="A50021"/>
                </a:solidFill>
                <a:ea typeface="+mn-ea"/>
                <a:cs typeface="+mn-cs"/>
              </a:rPr>
              <a:t>l'erreur augmente</a:t>
            </a:r>
            <a:r>
              <a:rPr lang="fr-FR" sz="2000" smtClean="0">
                <a:ea typeface="+mn-ea"/>
                <a:cs typeface="+mn-cs"/>
              </a:rPr>
              <a:t> avec le temps !!!</a:t>
            </a:r>
          </a:p>
        </p:txBody>
      </p:sp>
      <p:sp>
        <p:nvSpPr>
          <p:cNvPr id="30722" name="Rectangle 65"/>
          <p:cNvSpPr>
            <a:spLocks noChangeArrowheads="1"/>
          </p:cNvSpPr>
          <p:nvPr/>
        </p:nvSpPr>
        <p:spPr bwMode="auto">
          <a:xfrm>
            <a:off x="1655763" y="152400"/>
            <a:ext cx="66976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Méthode d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Euler / Exemple </a:t>
            </a:r>
            <a:endParaRPr lang="fr-FR" altLang="fr-FR">
              <a:solidFill>
                <a:schemeClr val="tx2"/>
              </a:solidFill>
            </a:endParaRPr>
          </a:p>
        </p:txBody>
      </p:sp>
      <p:sp>
        <p:nvSpPr>
          <p:cNvPr id="30723" name="Rectangle 67"/>
          <p:cNvSpPr>
            <a:spLocks noChangeArrowheads="1"/>
          </p:cNvSpPr>
          <p:nvPr/>
        </p:nvSpPr>
        <p:spPr bwMode="auto">
          <a:xfrm>
            <a:off x="1258888" y="800100"/>
            <a:ext cx="6516687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spcBef>
                <a:spcPct val="20000"/>
              </a:spcBef>
            </a:pPr>
            <a:r>
              <a:rPr lang="fr-FR" altLang="fr-FR" sz="2000"/>
              <a:t>On fixe le pas de temps h=0.1s</a:t>
            </a:r>
          </a:p>
        </p:txBody>
      </p:sp>
      <p:graphicFrame>
        <p:nvGraphicFramePr>
          <p:cNvPr id="20611" name="Group 131"/>
          <p:cNvGraphicFramePr>
            <a:graphicFrameLocks noGrp="1"/>
          </p:cNvGraphicFramePr>
          <p:nvPr/>
        </p:nvGraphicFramePr>
        <p:xfrm>
          <a:off x="1295400" y="1382713"/>
          <a:ext cx="6453188" cy="3472466"/>
        </p:xfrm>
        <a:graphic>
          <a:graphicData uri="http://schemas.openxmlformats.org/drawingml/2006/table">
            <a:tbl>
              <a:tblPr/>
              <a:tblGrid>
                <a:gridCol w="514350">
                  <a:extLst>
                    <a:ext uri="{9D8B030D-6E8A-4147-A177-3AD203B41FA5}">
                      <a16:colId xmlns:a16="http://schemas.microsoft.com/office/drawing/2014/main" val="1134816231"/>
                    </a:ext>
                  </a:extLst>
                </a:gridCol>
                <a:gridCol w="515938">
                  <a:extLst>
                    <a:ext uri="{9D8B030D-6E8A-4147-A177-3AD203B41FA5}">
                      <a16:colId xmlns:a16="http://schemas.microsoft.com/office/drawing/2014/main" val="4055604835"/>
                    </a:ext>
                  </a:extLst>
                </a:gridCol>
                <a:gridCol w="2065337">
                  <a:extLst>
                    <a:ext uri="{9D8B030D-6E8A-4147-A177-3AD203B41FA5}">
                      <a16:colId xmlns:a16="http://schemas.microsoft.com/office/drawing/2014/main" val="4150815131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1791691771"/>
                    </a:ext>
                  </a:extLst>
                </a:gridCol>
                <a:gridCol w="1290638">
                  <a:extLst>
                    <a:ext uri="{9D8B030D-6E8A-4147-A177-3AD203B41FA5}">
                      <a16:colId xmlns:a16="http://schemas.microsoft.com/office/drawing/2014/main" val="1465303680"/>
                    </a:ext>
                  </a:extLst>
                </a:gridCol>
              </a:tblGrid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i</a:t>
                      </a:r>
                      <a:endParaRPr kumimoji="0" lang="fr-FR" altLang="fr-F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kumimoji="0" lang="fr-FR" altLang="fr-FR" sz="1600" b="1" i="1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i</a:t>
                      </a:r>
                      <a:endParaRPr kumimoji="0" lang="fr-FR" altLang="fr-F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fr-FR" altLang="fr-FR" sz="1600" b="1" i="1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 exact</a:t>
                      </a:r>
                      <a:endParaRPr kumimoji="0" lang="fr-FR" altLang="fr-FR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y</a:t>
                      </a:r>
                      <a:r>
                        <a:rPr kumimoji="0" lang="fr-FR" altLang="fr-FR" sz="1600" b="1" i="1" u="none" strike="noStrike" cap="none" normalizeH="0" baseline="-3000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n</a:t>
                      </a: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 Méthode d'Euler</a:t>
                      </a:r>
                      <a:endParaRPr kumimoji="0" lang="fr-FR" altLang="fr-FR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A50021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6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 Erreur (%)</a:t>
                      </a:r>
                      <a:endParaRPr kumimoji="0" lang="fr-FR" altLang="fr-FR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  <a:ea typeface="MS PGothic" panose="020B0600070205080204" pitchFamily="34" charset="-128"/>
                        <a:cs typeface="Times New Roman" panose="02020603050405020304" pitchFamily="18" charset="0"/>
                      </a:endParaRP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088575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0.1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0.909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0.900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1.0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62790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0.2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0.833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0.819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1.7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9370376"/>
                  </a:ext>
                </a:extLst>
              </a:tr>
              <a:tr h="431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0.3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0.769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0.752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2.3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205584"/>
                  </a:ext>
                </a:extLst>
              </a:tr>
              <a:tr h="379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0.4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0.714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0.695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2.7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191307"/>
                  </a:ext>
                </a:extLst>
              </a:tr>
              <a:tr h="379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0.5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0.666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0.647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3.0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710653"/>
                  </a:ext>
                </a:extLst>
              </a:tr>
              <a:tr h="379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0.588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0.569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3.3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151821"/>
                  </a:ext>
                </a:extLst>
              </a:tr>
              <a:tr h="3810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0.526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0.507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3.6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7131015"/>
                  </a:ext>
                </a:extLst>
              </a:tr>
              <a:tr h="379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1.1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0.476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A50021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0.459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MS PGothic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fr-FR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panose="020B0604020202020204" pitchFamily="34" charset="0"/>
                          <a:ea typeface="MS PGothic" panose="020B0600070205080204" pitchFamily="34" charset="-128"/>
                          <a:cs typeface="Times New Roman" panose="02020603050405020304" pitchFamily="18" charset="0"/>
                        </a:rPr>
                        <a:t>3.7</a:t>
                      </a:r>
                    </a:p>
                  </a:txBody>
                  <a:tcPr marT="45703" marB="45703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225156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00013"/>
            <a:ext cx="8229600" cy="1143001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Méthode d</a:t>
            </a:r>
            <a:r>
              <a:rPr lang="ja-JP" altLang="fr-FR" sz="2400" smtClean="0"/>
              <a:t>’</a:t>
            </a:r>
            <a:r>
              <a:rPr lang="fr-FR" altLang="ja-JP" sz="2400" smtClean="0"/>
              <a:t>Euler / Programmation</a:t>
            </a:r>
            <a:endParaRPr lang="fr-FR" altLang="fr-FR" sz="2400" smtClean="0"/>
          </a:p>
        </p:txBody>
      </p:sp>
      <p:sp>
        <p:nvSpPr>
          <p:cNvPr id="31746" name="Text Box 4"/>
          <p:cNvSpPr txBox="1">
            <a:spLocks noChangeArrowheads="1"/>
          </p:cNvSpPr>
          <p:nvPr/>
        </p:nvSpPr>
        <p:spPr bwMode="auto">
          <a:xfrm>
            <a:off x="2771775" y="981075"/>
            <a:ext cx="177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EDO d</a:t>
            </a:r>
            <a:r>
              <a:rPr lang="ja-JP" altLang="fr-FR" sz="1800"/>
              <a:t>’</a:t>
            </a:r>
            <a:r>
              <a:rPr lang="fr-FR" altLang="ja-JP" sz="1800"/>
              <a:t>ordre 2 :</a:t>
            </a:r>
            <a:endParaRPr lang="fr-FR" altLang="fr-FR" sz="1800"/>
          </a:p>
        </p:txBody>
      </p:sp>
      <p:pic>
        <p:nvPicPr>
          <p:cNvPr id="3174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92150"/>
            <a:ext cx="1608137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1748" name="Object 6"/>
          <p:cNvGraphicFramePr>
            <a:graphicFrameLocks noChangeAspect="1"/>
          </p:cNvGraphicFramePr>
          <p:nvPr/>
        </p:nvGraphicFramePr>
        <p:xfrm>
          <a:off x="3635375" y="1341438"/>
          <a:ext cx="2471738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3" name="Equation" r:id="rId4" imgW="1371600" imgH="444500" progId="Equation.DSMT4">
                  <p:embed/>
                </p:oleObj>
              </mc:Choice>
              <mc:Fallback>
                <p:oleObj name="Equation" r:id="rId4" imgW="1371600" imgH="444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1341438"/>
                        <a:ext cx="2471738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9" name="Text Box 7"/>
          <p:cNvSpPr txBox="1">
            <a:spLocks noChangeArrowheads="1"/>
          </p:cNvSpPr>
          <p:nvPr/>
        </p:nvSpPr>
        <p:spPr bwMode="auto">
          <a:xfrm>
            <a:off x="971550" y="3392488"/>
            <a:ext cx="7272338" cy="273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1800" dirty="0"/>
              <a:t>Faire un programme Matlab résolvant l</a:t>
            </a:r>
            <a:r>
              <a:rPr lang="ja-JP" altLang="fr-FR" sz="1800" dirty="0"/>
              <a:t>’</a:t>
            </a:r>
            <a:r>
              <a:rPr lang="fr-FR" altLang="ja-JP" sz="1800" dirty="0"/>
              <a:t>EDO d</a:t>
            </a:r>
            <a:r>
              <a:rPr lang="ja-JP" altLang="fr-FR" sz="1800" dirty="0"/>
              <a:t>’</a:t>
            </a:r>
            <a:r>
              <a:rPr lang="fr-FR" altLang="ja-JP" sz="1800" dirty="0"/>
              <a:t>ordre 2 à l</a:t>
            </a:r>
            <a:r>
              <a:rPr lang="ja-JP" altLang="fr-FR" sz="1800" dirty="0"/>
              <a:t>’</a:t>
            </a:r>
            <a:r>
              <a:rPr lang="fr-FR" altLang="ja-JP" sz="1800" dirty="0"/>
              <a:t>aide de la méthode d</a:t>
            </a:r>
            <a:r>
              <a:rPr lang="ja-JP" altLang="fr-FR" sz="1800" dirty="0"/>
              <a:t>’</a:t>
            </a:r>
            <a:r>
              <a:rPr lang="fr-FR" altLang="ja-JP" sz="1800" dirty="0"/>
              <a:t>Euler :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 dirty="0"/>
              <a:t>	1</a:t>
            </a:r>
            <a:r>
              <a:rPr lang="fr-FR" altLang="fr-FR" sz="1800" baseline="30000" dirty="0"/>
              <a:t>er</a:t>
            </a:r>
            <a:r>
              <a:rPr lang="fr-FR" altLang="fr-FR" sz="1800" dirty="0"/>
              <a:t> cas : n=1.5 et p</a:t>
            </a:r>
            <a:r>
              <a:rPr lang="fr-FR" altLang="fr-FR" sz="1800" baseline="30000" dirty="0"/>
              <a:t>2</a:t>
            </a:r>
            <a:r>
              <a:rPr lang="fr-FR" altLang="fr-FR" sz="1800" dirty="0"/>
              <a:t>=2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 dirty="0"/>
              <a:t>	2</a:t>
            </a:r>
            <a:r>
              <a:rPr lang="fr-FR" altLang="fr-FR" sz="1800" baseline="30000" dirty="0"/>
              <a:t>ème</a:t>
            </a:r>
            <a:r>
              <a:rPr lang="fr-FR" altLang="fr-FR" sz="1800" dirty="0"/>
              <a:t> cas : n=0.2 et p</a:t>
            </a:r>
            <a:r>
              <a:rPr lang="fr-FR" altLang="fr-FR" sz="1800" baseline="30000" dirty="0"/>
              <a:t>2</a:t>
            </a:r>
            <a:r>
              <a:rPr lang="fr-FR" altLang="fr-FR" sz="1800" dirty="0"/>
              <a:t>=1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1800" dirty="0"/>
              <a:t>	Simulation sur </a:t>
            </a:r>
            <a:r>
              <a:rPr lang="fr-FR" altLang="fr-FR" sz="1800" dirty="0" smtClean="0"/>
              <a:t>10s</a:t>
            </a:r>
            <a:endParaRPr lang="fr-FR" altLang="fr-FR" sz="1800" dirty="0"/>
          </a:p>
          <a:p>
            <a:pPr eaLnBrk="1" hangingPunct="1">
              <a:lnSpc>
                <a:spcPct val="120000"/>
              </a:lnSpc>
            </a:pPr>
            <a:endParaRPr lang="fr-FR" altLang="fr-FR" sz="1800" dirty="0"/>
          </a:p>
          <a:p>
            <a:pPr algn="just" eaLnBrk="1" hangingPunct="1">
              <a:lnSpc>
                <a:spcPct val="120000"/>
              </a:lnSpc>
            </a:pPr>
            <a:r>
              <a:rPr lang="fr-FR" altLang="fr-FR" sz="1800" dirty="0"/>
              <a:t>Superposer la solution analytique (cours précédent) pour évaluer la précision de la méthode en fonction du pas de temps</a:t>
            </a:r>
          </a:p>
        </p:txBody>
      </p:sp>
      <p:sp>
        <p:nvSpPr>
          <p:cNvPr id="31750" name="Text Box 8"/>
          <p:cNvSpPr txBox="1">
            <a:spLocks noChangeArrowheads="1"/>
          </p:cNvSpPr>
          <p:nvPr/>
        </p:nvSpPr>
        <p:spPr bwMode="auto">
          <a:xfrm>
            <a:off x="2824163" y="2584450"/>
            <a:ext cx="1060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note </a:t>
            </a:r>
          </a:p>
        </p:txBody>
      </p:sp>
      <p:graphicFrame>
        <p:nvGraphicFramePr>
          <p:cNvPr id="31751" name="Object 9"/>
          <p:cNvGraphicFramePr>
            <a:graphicFrameLocks noChangeAspect="1"/>
          </p:cNvGraphicFramePr>
          <p:nvPr/>
        </p:nvGraphicFramePr>
        <p:xfrm>
          <a:off x="4140200" y="2420938"/>
          <a:ext cx="244792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4" name="Equation" r:id="rId6" imgW="1358310" imgH="393529" progId="Equation.DSMT4">
                  <p:embed/>
                </p:oleObj>
              </mc:Choice>
              <mc:Fallback>
                <p:oleObj name="Equation" r:id="rId6" imgW="1358310" imgH="393529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2420938"/>
                        <a:ext cx="2447925" cy="709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Text Box 10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8"/>
          <p:cNvSpPr txBox="1">
            <a:spLocks noChangeArrowheads="1"/>
          </p:cNvSpPr>
          <p:nvPr/>
        </p:nvSpPr>
        <p:spPr bwMode="auto">
          <a:xfrm>
            <a:off x="107950" y="555625"/>
            <a:ext cx="5339923" cy="65556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[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,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yvec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]=rk1(f,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param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, y0, options)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intervalle d'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etude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en temps et pas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t0 =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param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(1);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tf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=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param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(2);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h  =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param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(3);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sauvegarde du vecteur y0 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% dans la 1ere ligne du tableau </a:t>
            </a:r>
            <a:r>
              <a:rPr lang="fr-FR" altLang="fr-FR" sz="1400" b="1" dirty="0" err="1">
                <a:solidFill>
                  <a:srgbClr val="228B22"/>
                </a:solidFill>
                <a:latin typeface="Courier New" panose="02070309020205020404" pitchFamily="49" charset="0"/>
              </a:rPr>
              <a:t>yvec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n=1;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(n) = t0;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yvec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(n, :) = y0;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t = t0;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y = y0;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 err="1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(t&lt;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tf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 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f1=f(t, y);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dy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=h*f1;   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y=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y+dy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; </a:t>
            </a:r>
          </a:p>
          <a:p>
            <a:pPr lvl="1" eaLnBrk="1" hangingPunct="1"/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n=n+1;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  %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pas suivant   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t=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t+h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;   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 smtClean="0">
                <a:solidFill>
                  <a:srgbClr val="228B22"/>
                </a:solidFill>
                <a:latin typeface="Courier New" panose="02070309020205020404" pitchFamily="49" charset="0"/>
              </a:rPr>
              <a:t>% </a:t>
            </a:r>
            <a:r>
              <a:rPr lang="fr-FR" altLang="fr-FR" sz="1400" b="1" dirty="0">
                <a:solidFill>
                  <a:srgbClr val="228B22"/>
                </a:solidFill>
                <a:latin typeface="Courier New" panose="02070309020205020404" pitchFamily="49" charset="0"/>
              </a:rPr>
              <a:t>stockage    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tvec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(n)=t;</a:t>
            </a:r>
            <a:endParaRPr lang="fr-FR" altLang="fr-FR" sz="1400" dirty="0"/>
          </a:p>
          <a:p>
            <a:pPr lvl="1"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yvec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(n, :)=y;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    end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FF"/>
                </a:solidFill>
                <a:latin typeface="Courier New" panose="02070309020205020404" pitchFamily="49" charset="0"/>
              </a:rPr>
              <a:t>e</a:t>
            </a:r>
            <a:r>
              <a:rPr lang="fr-FR" altLang="fr-FR" sz="1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nd </a:t>
            </a:r>
            <a:r>
              <a:rPr lang="fr-FR" altLang="fr-FR" sz="1400" b="1" dirty="0" smtClean="0">
                <a:latin typeface="Courier New" panose="02070309020205020404" pitchFamily="49" charset="0"/>
              </a:rPr>
              <a:t>% </a:t>
            </a:r>
            <a:r>
              <a:rPr lang="fr-FR" altLang="fr-FR" sz="1400" b="1" dirty="0" err="1" smtClean="0">
                <a:latin typeface="Courier New" panose="02070309020205020404" pitchFamily="49" charset="0"/>
              </a:rPr>
              <a:t>function</a:t>
            </a:r>
            <a:endParaRPr lang="fr-FR" altLang="fr-FR" sz="1400" dirty="0"/>
          </a:p>
        </p:txBody>
      </p:sp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-242888"/>
            <a:ext cx="8229600" cy="1143001"/>
          </a:xfrm>
        </p:spPr>
        <p:txBody>
          <a:bodyPr/>
          <a:lstStyle/>
          <a:p>
            <a:pPr eaLnBrk="1" hangingPunct="1"/>
            <a:r>
              <a:rPr lang="fr-FR" altLang="fr-FR" sz="2400" dirty="0" smtClean="0"/>
              <a:t>Méthode d</a:t>
            </a:r>
            <a:r>
              <a:rPr lang="ja-JP" altLang="fr-FR" sz="2400" dirty="0" smtClean="0"/>
              <a:t>’</a:t>
            </a:r>
            <a:r>
              <a:rPr lang="fr-FR" altLang="ja-JP" sz="2400" dirty="0" smtClean="0"/>
              <a:t>Euler / Programmation </a:t>
            </a:r>
            <a:endParaRPr lang="fr-FR" altLang="fr-FR" sz="2400" dirty="0" smtClean="0"/>
          </a:p>
        </p:txBody>
      </p:sp>
      <p:sp>
        <p:nvSpPr>
          <p:cNvPr id="32771" name="Text Box 9"/>
          <p:cNvSpPr txBox="1">
            <a:spLocks noChangeArrowheads="1"/>
          </p:cNvSpPr>
          <p:nvPr/>
        </p:nvSpPr>
        <p:spPr bwMode="auto">
          <a:xfrm>
            <a:off x="5435600" y="549275"/>
            <a:ext cx="3703638" cy="2016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%</a:t>
            </a:r>
            <a:r>
              <a:rPr lang="fr-FR" altLang="fr-FR" sz="1400" b="1" dirty="0" smtClean="0">
                <a:latin typeface="Courier New" panose="02070309020205020404" pitchFamily="49" charset="0"/>
              </a:rPr>
              <a:t>script</a:t>
            </a:r>
            <a:r>
              <a:rPr lang="fr-FR" altLang="fr-FR" sz="1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solver_rk1</a:t>
            </a:r>
            <a:endParaRPr lang="fr-FR" altLang="fr-FR" sz="1400" dirty="0"/>
          </a:p>
          <a:p>
            <a:pPr eaLnBrk="1" hangingPunct="1"/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hold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>
                <a:solidFill>
                  <a:srgbClr val="A020F0"/>
                </a:solidFill>
                <a:latin typeface="Courier New" panose="02070309020205020404" pitchFamily="49" charset="0"/>
              </a:rPr>
              <a:t>off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figure(1)</a:t>
            </a:r>
            <a:endParaRPr lang="fr-FR" altLang="fr-FR" sz="1400" dirty="0"/>
          </a:p>
          <a:p>
            <a:pPr eaLnBrk="1" hangingPunct="1"/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param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=[0 10 0.1];</a:t>
            </a:r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[T,Y] = rk1(@</a:t>
            </a:r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oscil,param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,[1 0]);</a:t>
            </a:r>
          </a:p>
          <a:p>
            <a:pPr eaLnBrk="1" hangingPunct="1"/>
            <a:endParaRPr lang="fr-FR" altLang="fr-FR" sz="1400" dirty="0"/>
          </a:p>
          <a:p>
            <a:pPr eaLnBrk="1" hangingPunct="1"/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plot(T,Y(:,1),</a:t>
            </a:r>
            <a:r>
              <a:rPr lang="fr-FR" altLang="fr-FR" sz="1400" b="1" dirty="0">
                <a:solidFill>
                  <a:srgbClr val="A020F0"/>
                </a:solidFill>
                <a:latin typeface="Courier New" panose="02070309020205020404" pitchFamily="49" charset="0"/>
              </a:rPr>
              <a:t>'+-'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,T,Y(:,2),</a:t>
            </a:r>
            <a:r>
              <a:rPr lang="fr-FR" altLang="fr-FR" sz="1400" b="1" dirty="0">
                <a:solidFill>
                  <a:srgbClr val="A020F0"/>
                </a:solidFill>
                <a:latin typeface="Courier New" panose="02070309020205020404" pitchFamily="49" charset="0"/>
              </a:rPr>
              <a:t>'-.'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)</a:t>
            </a:r>
            <a:endParaRPr lang="fr-FR" altLang="fr-FR" sz="1400" dirty="0"/>
          </a:p>
          <a:p>
            <a:pPr eaLnBrk="1" hangingPunct="1"/>
            <a:r>
              <a:rPr lang="fr-FR" altLang="fr-FR" sz="1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hold</a:t>
            </a:r>
            <a:r>
              <a:rPr lang="fr-FR" altLang="fr-FR" sz="1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 dirty="0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endParaRPr lang="fr-FR" altLang="fr-FR" sz="1400" dirty="0"/>
          </a:p>
          <a:p>
            <a:pPr eaLnBrk="1" hangingPunct="1"/>
            <a:endParaRPr lang="fr-FR" altLang="fr-FR" sz="1400" dirty="0"/>
          </a:p>
        </p:txBody>
      </p:sp>
      <p:sp>
        <p:nvSpPr>
          <p:cNvPr id="32772" name="Text Box 10"/>
          <p:cNvSpPr txBox="1">
            <a:spLocks noChangeArrowheads="1"/>
          </p:cNvSpPr>
          <p:nvPr/>
        </p:nvSpPr>
        <p:spPr bwMode="auto">
          <a:xfrm>
            <a:off x="4584700" y="2457450"/>
            <a:ext cx="4554538" cy="43561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dy = oscil(t,y)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dy = zeros(1,2);   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vecteur ligne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1er cas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latin typeface="Courier New" panose="02070309020205020404" pitchFamily="49" charset="0"/>
              </a:rPr>
              <a:t>n=1.5;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latin typeface="Courier New" panose="02070309020205020404" pitchFamily="49" charset="0"/>
              </a:rPr>
              <a:t>p2=2;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changement de variable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pour garder les notations de l'équation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x=y(1);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v=y(2);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écriture de l'équation telle quelle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dx_dt = v;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dv_dt = -p2*x-2*n*v;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changement de variable pour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se conformer au vecteur de sortie dy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dy(1)=dx_dt;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dy(2)=dv_dt;</a:t>
            </a:r>
            <a:endParaRPr lang="fr-FR" altLang="fr-FR" sz="1400"/>
          </a:p>
        </p:txBody>
      </p:sp>
      <p:sp>
        <p:nvSpPr>
          <p:cNvPr id="32773" name="Text Box 12"/>
          <p:cNvSpPr txBox="1">
            <a:spLocks noChangeArrowheads="1"/>
          </p:cNvSpPr>
          <p:nvPr/>
        </p:nvSpPr>
        <p:spPr bwMode="auto">
          <a:xfrm>
            <a:off x="8801100" y="128905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pSp>
        <p:nvGrpSpPr>
          <p:cNvPr id="32774" name="Group 15"/>
          <p:cNvGrpSpPr>
            <a:grpSpLocks/>
          </p:cNvGrpSpPr>
          <p:nvPr/>
        </p:nvGrpSpPr>
        <p:grpSpPr bwMode="auto">
          <a:xfrm>
            <a:off x="2627313" y="836613"/>
            <a:ext cx="3889375" cy="863600"/>
            <a:chOff x="1655" y="527"/>
            <a:chExt cx="2450" cy="544"/>
          </a:xfrm>
        </p:grpSpPr>
        <p:sp>
          <p:nvSpPr>
            <p:cNvPr id="32780" name="Line 13"/>
            <p:cNvSpPr>
              <a:spLocks noChangeShapeType="1"/>
            </p:cNvSpPr>
            <p:nvPr/>
          </p:nvSpPr>
          <p:spPr bwMode="auto">
            <a:xfrm flipH="1">
              <a:off x="1655" y="1071"/>
              <a:ext cx="245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781" name="Line 14"/>
            <p:cNvSpPr>
              <a:spLocks noChangeShapeType="1"/>
            </p:cNvSpPr>
            <p:nvPr/>
          </p:nvSpPr>
          <p:spPr bwMode="auto">
            <a:xfrm flipV="1">
              <a:off x="1655" y="527"/>
              <a:ext cx="0" cy="5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2775" name="Line 16"/>
          <p:cNvSpPr>
            <a:spLocks noChangeShapeType="1"/>
          </p:cNvSpPr>
          <p:nvPr/>
        </p:nvSpPr>
        <p:spPr bwMode="auto">
          <a:xfrm flipH="1">
            <a:off x="6443663" y="1701800"/>
            <a:ext cx="576262" cy="863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32776" name="Group 23"/>
          <p:cNvGrpSpPr>
            <a:grpSpLocks/>
          </p:cNvGrpSpPr>
          <p:nvPr/>
        </p:nvGrpSpPr>
        <p:grpSpPr bwMode="auto">
          <a:xfrm>
            <a:off x="1979613" y="2636838"/>
            <a:ext cx="2520950" cy="1512887"/>
            <a:chOff x="1247" y="1661"/>
            <a:chExt cx="1588" cy="953"/>
          </a:xfrm>
        </p:grpSpPr>
        <p:sp>
          <p:nvSpPr>
            <p:cNvPr id="32777" name="Line 20"/>
            <p:cNvSpPr>
              <a:spLocks noChangeShapeType="1"/>
            </p:cNvSpPr>
            <p:nvPr/>
          </p:nvSpPr>
          <p:spPr bwMode="auto">
            <a:xfrm>
              <a:off x="1247" y="2614"/>
              <a:ext cx="95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778" name="Line 21"/>
            <p:cNvSpPr>
              <a:spLocks noChangeShapeType="1"/>
            </p:cNvSpPr>
            <p:nvPr/>
          </p:nvSpPr>
          <p:spPr bwMode="auto">
            <a:xfrm flipV="1">
              <a:off x="2200" y="1661"/>
              <a:ext cx="0" cy="95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32779" name="Line 22"/>
            <p:cNvSpPr>
              <a:spLocks noChangeShapeType="1"/>
            </p:cNvSpPr>
            <p:nvPr/>
          </p:nvSpPr>
          <p:spPr bwMode="auto">
            <a:xfrm>
              <a:off x="2200" y="1661"/>
              <a:ext cx="635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97309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860800"/>
            <a:ext cx="43180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50" y="3921125"/>
            <a:ext cx="43180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5" name="Picture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846138"/>
            <a:ext cx="4318000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6" name="Picture 1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836613"/>
            <a:ext cx="431800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Text Box 7"/>
          <p:cNvSpPr txBox="1">
            <a:spLocks noChangeArrowheads="1"/>
          </p:cNvSpPr>
          <p:nvPr/>
        </p:nvSpPr>
        <p:spPr bwMode="auto">
          <a:xfrm>
            <a:off x="1917700" y="692150"/>
            <a:ext cx="13589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Euler h=0.1</a:t>
            </a:r>
          </a:p>
        </p:txBody>
      </p:sp>
      <p:sp>
        <p:nvSpPr>
          <p:cNvPr id="33798" name="Text Box 8"/>
          <p:cNvSpPr txBox="1">
            <a:spLocks noChangeArrowheads="1"/>
          </p:cNvSpPr>
          <p:nvPr/>
        </p:nvSpPr>
        <p:spPr bwMode="auto">
          <a:xfrm>
            <a:off x="6300788" y="3716338"/>
            <a:ext cx="13589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Euler h=1.1</a:t>
            </a:r>
          </a:p>
        </p:txBody>
      </p:sp>
      <p:sp>
        <p:nvSpPr>
          <p:cNvPr id="33799" name="Rectangle 13"/>
          <p:cNvSpPr>
            <a:spLocks noChangeArrowheads="1"/>
          </p:cNvSpPr>
          <p:nvPr/>
        </p:nvSpPr>
        <p:spPr bwMode="auto">
          <a:xfrm>
            <a:off x="-1116013" y="-242888"/>
            <a:ext cx="8229601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Méthode d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Euler / Précision - Stabilité</a:t>
            </a:r>
            <a:endParaRPr lang="fr-FR" altLang="fr-FR">
              <a:solidFill>
                <a:schemeClr val="tx2"/>
              </a:solidFill>
            </a:endParaRPr>
          </a:p>
        </p:txBody>
      </p:sp>
      <p:sp>
        <p:nvSpPr>
          <p:cNvPr id="33800" name="Text Box 16"/>
          <p:cNvSpPr txBox="1">
            <a:spLocks noChangeArrowheads="1"/>
          </p:cNvSpPr>
          <p:nvPr/>
        </p:nvSpPr>
        <p:spPr bwMode="auto">
          <a:xfrm>
            <a:off x="6300788" y="692150"/>
            <a:ext cx="13589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Euler h=0.5</a:t>
            </a:r>
          </a:p>
        </p:txBody>
      </p:sp>
      <p:sp>
        <p:nvSpPr>
          <p:cNvPr id="33801" name="Text Box 17"/>
          <p:cNvSpPr txBox="1">
            <a:spLocks noChangeArrowheads="1"/>
          </p:cNvSpPr>
          <p:nvPr/>
        </p:nvSpPr>
        <p:spPr bwMode="auto">
          <a:xfrm>
            <a:off x="1835150" y="3644900"/>
            <a:ext cx="13589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Euler h=0.9</a:t>
            </a:r>
          </a:p>
        </p:txBody>
      </p:sp>
      <p:sp>
        <p:nvSpPr>
          <p:cNvPr id="33802" name="Text Box 18"/>
          <p:cNvSpPr txBox="1">
            <a:spLocks noChangeArrowheads="1"/>
          </p:cNvSpPr>
          <p:nvPr/>
        </p:nvSpPr>
        <p:spPr bwMode="auto">
          <a:xfrm>
            <a:off x="6156325" y="1484313"/>
            <a:ext cx="2641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+ pb de précision</a:t>
            </a:r>
          </a:p>
        </p:txBody>
      </p:sp>
      <p:sp>
        <p:nvSpPr>
          <p:cNvPr id="33803" name="Text Box 19"/>
          <p:cNvSpPr txBox="1">
            <a:spLocks noChangeArrowheads="1"/>
          </p:cNvSpPr>
          <p:nvPr/>
        </p:nvSpPr>
        <p:spPr bwMode="auto">
          <a:xfrm>
            <a:off x="1476375" y="1557338"/>
            <a:ext cx="283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grande précision</a:t>
            </a:r>
          </a:p>
        </p:txBody>
      </p:sp>
      <p:sp>
        <p:nvSpPr>
          <p:cNvPr id="33804" name="Text Box 20"/>
          <p:cNvSpPr txBox="1">
            <a:spLocks noChangeArrowheads="1"/>
          </p:cNvSpPr>
          <p:nvPr/>
        </p:nvSpPr>
        <p:spPr bwMode="auto">
          <a:xfrm>
            <a:off x="5795963" y="2660650"/>
            <a:ext cx="1789112" cy="5810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 b="1"/>
              <a:t>La précision est </a:t>
            </a:r>
          </a:p>
          <a:p>
            <a:pPr eaLnBrk="1" hangingPunct="1"/>
            <a:r>
              <a:rPr lang="fr-FR" altLang="fr-FR" sz="1600" b="1"/>
              <a:t>controlée par :</a:t>
            </a:r>
          </a:p>
        </p:txBody>
      </p:sp>
      <p:graphicFrame>
        <p:nvGraphicFramePr>
          <p:cNvPr id="33805" name="Object 21"/>
          <p:cNvGraphicFramePr>
            <a:graphicFrameLocks noChangeAspect="1"/>
          </p:cNvGraphicFramePr>
          <p:nvPr/>
        </p:nvGraphicFramePr>
        <p:xfrm>
          <a:off x="7453313" y="2636838"/>
          <a:ext cx="1655762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4" name="Equation" r:id="rId7" imgW="1066337" imgH="444307" progId="Equation.DSMT4">
                  <p:embed/>
                </p:oleObj>
              </mc:Choice>
              <mc:Fallback>
                <p:oleObj name="Equation" r:id="rId7" imgW="1066337" imgH="444307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3313" y="2636838"/>
                        <a:ext cx="1655762" cy="619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806" name="Text Box 22"/>
          <p:cNvSpPr txBox="1">
            <a:spLocks noChangeArrowheads="1"/>
          </p:cNvSpPr>
          <p:nvPr/>
        </p:nvSpPr>
        <p:spPr bwMode="auto">
          <a:xfrm>
            <a:off x="1258888" y="5942013"/>
            <a:ext cx="3149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+ gros pb de précision</a:t>
            </a:r>
          </a:p>
        </p:txBody>
      </p:sp>
      <p:sp>
        <p:nvSpPr>
          <p:cNvPr id="33807" name="Text Box 23"/>
          <p:cNvSpPr txBox="1">
            <a:spLocks noChangeArrowheads="1"/>
          </p:cNvSpPr>
          <p:nvPr/>
        </p:nvSpPr>
        <p:spPr bwMode="auto">
          <a:xfrm>
            <a:off x="5148263" y="5946775"/>
            <a:ext cx="3317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Instable </a:t>
            </a:r>
            <a:r>
              <a:rPr lang="fr-FR" altLang="fr-FR" sz="1800">
                <a:sym typeface="Symbol" panose="05050102010706020507" pitchFamily="18" charset="2"/>
              </a:rPr>
              <a:t> totalement im</a:t>
            </a:r>
            <a:r>
              <a:rPr lang="fr-FR" altLang="fr-FR" sz="1800"/>
              <a:t>précis</a:t>
            </a:r>
          </a:p>
        </p:txBody>
      </p:sp>
      <p:sp>
        <p:nvSpPr>
          <p:cNvPr id="33808" name="Text Box 24"/>
          <p:cNvSpPr txBox="1">
            <a:spLocks noChangeArrowheads="1"/>
          </p:cNvSpPr>
          <p:nvPr/>
        </p:nvSpPr>
        <p:spPr bwMode="auto">
          <a:xfrm>
            <a:off x="6948488" y="115888"/>
            <a:ext cx="2063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Cas n=1.5 et p2=2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908050"/>
            <a:ext cx="8291513" cy="5329238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fr-FR" altLang="fr-FR" sz="2000" b="1" dirty="0" smtClean="0">
                <a:solidFill>
                  <a:srgbClr val="A50021"/>
                </a:solidFill>
              </a:rPr>
              <a:t>Très simple et efficace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fr-FR" altLang="fr-FR" sz="2000" b="1" dirty="0" smtClean="0">
              <a:solidFill>
                <a:srgbClr val="A50021"/>
              </a:solidFill>
            </a:endParaRP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fr-FR" altLang="fr-FR" sz="2000" b="1" dirty="0" smtClean="0">
                <a:solidFill>
                  <a:srgbClr val="A50021"/>
                </a:solidFill>
              </a:rPr>
              <a:t>Le coût</a:t>
            </a:r>
            <a:r>
              <a:rPr lang="fr-FR" altLang="fr-FR" sz="2000" dirty="0" smtClean="0"/>
              <a:t> : une seule évaluation de                       à chaque pas de temps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fr-FR" altLang="fr-FR" sz="2000" b="1" dirty="0" smtClean="0"/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fr-FR" altLang="fr-FR" sz="2000" b="1" dirty="0" smtClean="0">
                <a:solidFill>
                  <a:srgbClr val="A50021"/>
                </a:solidFill>
              </a:rPr>
              <a:t>Précision </a:t>
            </a:r>
            <a:r>
              <a:rPr lang="fr-FR" altLang="fr-FR" sz="2000" dirty="0" smtClean="0">
                <a:solidFill>
                  <a:srgbClr val="A50021"/>
                </a:solidFill>
              </a:rPr>
              <a:t>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2000" dirty="0" smtClean="0"/>
              <a:t>Le schéma d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intégration d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Euler est une méthode d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ordre 1. 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fr-FR" altLang="fr-FR" sz="2000" dirty="0" smtClean="0"/>
              <a:t>Sa précision est faible car l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erreur de troncature de la série est :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fr-FR" altLang="fr-FR" sz="2000" dirty="0" smtClean="0"/>
          </a:p>
          <a:p>
            <a:pPr eaLnBrk="1" hangingPunct="1">
              <a:lnSpc>
                <a:spcPct val="110000"/>
              </a:lnSpc>
              <a:buFontTx/>
              <a:buNone/>
            </a:pPr>
            <a:endParaRPr lang="fr-FR" altLang="fr-FR" sz="2000" dirty="0" smtClean="0"/>
          </a:p>
          <a:p>
            <a:pPr eaLnBrk="1" hangingPunct="1">
              <a:lnSpc>
                <a:spcPct val="110000"/>
              </a:lnSpc>
            </a:pPr>
            <a:r>
              <a:rPr lang="fr-FR" altLang="fr-FR" sz="2000" dirty="0" smtClean="0"/>
              <a:t>Erreurs d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arrondis </a:t>
            </a:r>
            <a:r>
              <a:rPr lang="fr-FR" altLang="ja-JP" sz="2000" dirty="0" err="1" smtClean="0"/>
              <a:t>dûs</a:t>
            </a:r>
            <a:r>
              <a:rPr lang="fr-FR" altLang="ja-JP" sz="2000" dirty="0" smtClean="0"/>
              <a:t> au codage des nombres réels sur un nombre de bits limité en mémoire : 10</a:t>
            </a:r>
            <a:r>
              <a:rPr lang="fr-FR" altLang="ja-JP" sz="2000" baseline="30000" dirty="0" smtClean="0"/>
              <a:t>-7</a:t>
            </a:r>
            <a:r>
              <a:rPr lang="fr-FR" altLang="ja-JP" sz="2000" dirty="0" smtClean="0"/>
              <a:t> ou 10</a:t>
            </a:r>
            <a:r>
              <a:rPr lang="fr-FR" altLang="ja-JP" sz="2000" baseline="30000" dirty="0" smtClean="0"/>
              <a:t>-15</a:t>
            </a:r>
            <a:r>
              <a:rPr lang="fr-FR" altLang="ja-JP" sz="2000" dirty="0" smtClean="0"/>
              <a:t> en erreur relative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2000" dirty="0" smtClean="0"/>
              <a:t>Propagation des erreurs de troncature et d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arrondis de l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instant n à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fr-FR" altLang="ja-JP" sz="2000" dirty="0" smtClean="0"/>
              <a:t>l</a:t>
            </a:r>
            <a:r>
              <a:rPr lang="ja-JP" altLang="fr-FR" sz="2000" dirty="0" smtClean="0"/>
              <a:t>’</a:t>
            </a:r>
            <a:r>
              <a:rPr lang="fr-FR" altLang="ja-JP" sz="2000" dirty="0" smtClean="0"/>
              <a:t>instant n+1 </a:t>
            </a:r>
            <a:r>
              <a:rPr lang="fr-FR" altLang="ja-JP" sz="2000" dirty="0" smtClean="0">
                <a:sym typeface="Wingdings" panose="05000000000000000000" pitchFamily="2" charset="2"/>
              </a:rPr>
              <a:t></a:t>
            </a:r>
            <a:r>
              <a:rPr lang="fr-FR" altLang="ja-JP" sz="2000" dirty="0" smtClean="0">
                <a:sym typeface="Symbol" panose="05050102010706020507" pitchFamily="18" charset="2"/>
              </a:rPr>
              <a:t> Analyse fine de la stabilité </a:t>
            </a:r>
            <a:r>
              <a:rPr lang="fr-FR" altLang="ja-JP" sz="2000" dirty="0" err="1" smtClean="0">
                <a:sym typeface="Symbol" panose="05050102010706020507" pitchFamily="18" charset="2"/>
              </a:rPr>
              <a:t>numér</a:t>
            </a:r>
            <a:r>
              <a:rPr lang="en-GB" altLang="ja-JP" sz="2000" dirty="0" err="1" smtClean="0"/>
              <a:t>ique</a:t>
            </a:r>
            <a:r>
              <a:rPr lang="en-GB" altLang="ja-JP" sz="2000" dirty="0" smtClean="0"/>
              <a:t> du </a:t>
            </a:r>
            <a:r>
              <a:rPr lang="en-GB" altLang="ja-JP" sz="2000" dirty="0" err="1" smtClean="0"/>
              <a:t>schéma</a:t>
            </a:r>
            <a:endParaRPr lang="fr-FR" altLang="fr-FR" sz="2000" dirty="0" smtClean="0"/>
          </a:p>
        </p:txBody>
      </p:sp>
      <p:sp>
        <p:nvSpPr>
          <p:cNvPr id="3481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1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2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2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3482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4672230"/>
              </p:ext>
            </p:extLst>
          </p:nvPr>
        </p:nvGraphicFramePr>
        <p:xfrm>
          <a:off x="4537075" y="1697038"/>
          <a:ext cx="12509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5" name="Equation" r:id="rId4" imgW="634680" imgH="253800" progId="Equation.DSMT4">
                  <p:embed/>
                </p:oleObj>
              </mc:Choice>
              <mc:Fallback>
                <p:oleObj name="Equation" r:id="rId4" imgW="634680" imgH="253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075" y="1697038"/>
                        <a:ext cx="12509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2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25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2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4827" name="Rectangle 13"/>
          <p:cNvSpPr>
            <a:spLocks noChangeArrowheads="1"/>
          </p:cNvSpPr>
          <p:nvPr/>
        </p:nvSpPr>
        <p:spPr bwMode="auto">
          <a:xfrm>
            <a:off x="827088" y="115888"/>
            <a:ext cx="7597775" cy="43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Avantages / Inconvénients de la Méthode d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Euler</a:t>
            </a:r>
            <a:endParaRPr lang="fr-FR" altLang="fr-FR">
              <a:solidFill>
                <a:schemeClr val="tx2"/>
              </a:solidFill>
            </a:endParaRPr>
          </a:p>
        </p:txBody>
      </p:sp>
      <p:graphicFrame>
        <p:nvGraphicFramePr>
          <p:cNvPr id="34828" name="Object 14"/>
          <p:cNvGraphicFramePr>
            <a:graphicFrameLocks noChangeAspect="1"/>
          </p:cNvGraphicFramePr>
          <p:nvPr/>
        </p:nvGraphicFramePr>
        <p:xfrm>
          <a:off x="3059113" y="3644900"/>
          <a:ext cx="2005012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6" name="Equation" r:id="rId6" imgW="1016000" imgH="419100" progId="Equation.DSMT4">
                  <p:embed/>
                </p:oleObj>
              </mc:Choice>
              <mc:Fallback>
                <p:oleObj name="Equation" r:id="rId6" imgW="1016000" imgH="419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644900"/>
                        <a:ext cx="2005012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4983743"/>
              </p:ext>
            </p:extLst>
          </p:nvPr>
        </p:nvGraphicFramePr>
        <p:xfrm>
          <a:off x="3530600" y="908050"/>
          <a:ext cx="277971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7" name="Equation" r:id="rId8" imgW="1523880" imgH="228600" progId="Equation.DSMT4">
                  <p:embed/>
                </p:oleObj>
              </mc:Choice>
              <mc:Fallback>
                <p:oleObj name="Equation" r:id="rId8" imgW="152388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908050"/>
                        <a:ext cx="277971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0"/>
            <a:ext cx="8229600" cy="576263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Analyse de stabilité</a:t>
            </a:r>
          </a:p>
        </p:txBody>
      </p:sp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2060575"/>
            <a:ext cx="8686800" cy="23050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fr-FR" altLang="fr-FR" sz="2000" smtClean="0"/>
              <a:t>Le schéma d</a:t>
            </a:r>
            <a:r>
              <a:rPr lang="ja-JP" altLang="fr-FR" sz="2000" smtClean="0"/>
              <a:t>’</a:t>
            </a:r>
            <a:r>
              <a:rPr lang="fr-FR" altLang="ja-JP" sz="2000" smtClean="0"/>
              <a:t>Euler s</a:t>
            </a:r>
            <a:r>
              <a:rPr lang="ja-JP" altLang="fr-FR" sz="2000" smtClean="0"/>
              <a:t>’</a:t>
            </a:r>
            <a:r>
              <a:rPr lang="fr-FR" altLang="ja-JP" sz="2000" smtClean="0"/>
              <a:t>écrit :</a:t>
            </a:r>
          </a:p>
          <a:p>
            <a:pPr eaLnBrk="1" hangingPunct="1">
              <a:buFontTx/>
              <a:buNone/>
            </a:pPr>
            <a:endParaRPr lang="fr-FR" altLang="fr-FR" sz="800" smtClean="0"/>
          </a:p>
          <a:p>
            <a:pPr eaLnBrk="1" hangingPunct="1">
              <a:buFontTx/>
              <a:buNone/>
            </a:pPr>
            <a:r>
              <a:rPr lang="fr-FR" altLang="fr-FR" sz="2000" smtClean="0"/>
              <a:t>Imaginons que la valeur Y</a:t>
            </a:r>
            <a:r>
              <a:rPr lang="fr-FR" altLang="fr-FR" sz="2000" baseline="-25000" smtClean="0"/>
              <a:t>n</a:t>
            </a:r>
            <a:r>
              <a:rPr lang="fr-FR" altLang="fr-FR" sz="2000" smtClean="0"/>
              <a:t> soit erronée d</a:t>
            </a:r>
            <a:r>
              <a:rPr lang="ja-JP" altLang="fr-FR" sz="2000" smtClean="0"/>
              <a:t>’</a:t>
            </a:r>
            <a:r>
              <a:rPr lang="fr-FR" altLang="ja-JP" sz="2000" smtClean="0"/>
              <a:t>une quantité </a:t>
            </a:r>
            <a:r>
              <a:rPr lang="fr-FR" altLang="ja-JP" sz="2000" smtClean="0">
                <a:latin typeface="MS Gothic" panose="020B0609070205080204" pitchFamily="49" charset="-128"/>
                <a:ea typeface="MS Gothic" panose="020B0609070205080204" pitchFamily="49" charset="-128"/>
              </a:rPr>
              <a:t>ε</a:t>
            </a:r>
            <a:r>
              <a:rPr lang="fr-FR" altLang="ja-JP" sz="2000" b="1" baseline="-25000" smtClean="0">
                <a:sym typeface="Symbol" panose="05050102010706020507" pitchFamily="18" charset="2"/>
              </a:rPr>
              <a:t>n</a:t>
            </a:r>
            <a:r>
              <a:rPr lang="fr-FR" altLang="ja-JP" sz="2000" smtClean="0">
                <a:sym typeface="Symbol" panose="05050102010706020507" pitchFamily="18" charset="2"/>
              </a:rPr>
              <a:t> , l</a:t>
            </a:r>
            <a:r>
              <a:rPr lang="ja-JP" altLang="fr-FR" sz="2000" smtClean="0">
                <a:sym typeface="Symbol" panose="05050102010706020507" pitchFamily="18" charset="2"/>
              </a:rPr>
              <a:t>’</a:t>
            </a:r>
            <a:r>
              <a:rPr lang="fr-FR" altLang="ja-JP" sz="2000" smtClean="0">
                <a:sym typeface="Symbol" panose="05050102010706020507" pitchFamily="18" charset="2"/>
              </a:rPr>
              <a:t>erreur se</a:t>
            </a:r>
          </a:p>
          <a:p>
            <a:pPr eaLnBrk="1" hangingPunct="1">
              <a:buFontTx/>
              <a:buNone/>
            </a:pPr>
            <a:r>
              <a:rPr lang="fr-FR" altLang="fr-FR" sz="2000" smtClean="0">
                <a:sym typeface="Symbol" panose="05050102010706020507" pitchFamily="18" charset="2"/>
              </a:rPr>
              <a:t>propage à l</a:t>
            </a:r>
            <a:r>
              <a:rPr lang="ja-JP" altLang="fr-FR" sz="2000" smtClean="0">
                <a:sym typeface="Symbol" panose="05050102010706020507" pitchFamily="18" charset="2"/>
              </a:rPr>
              <a:t>’</a:t>
            </a:r>
            <a:r>
              <a:rPr lang="fr-FR" altLang="ja-JP" sz="2000" smtClean="0">
                <a:sym typeface="Symbol" panose="05050102010706020507" pitchFamily="18" charset="2"/>
              </a:rPr>
              <a:t>instant n+1 selon</a:t>
            </a:r>
          </a:p>
          <a:p>
            <a:pPr eaLnBrk="1" hangingPunct="1">
              <a:buFontTx/>
              <a:buNone/>
            </a:pPr>
            <a:endParaRPr lang="fr-FR" altLang="fr-FR" sz="2000" smtClean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fr-FR" altLang="fr-FR" sz="2000" smtClean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r>
              <a:rPr lang="fr-FR" altLang="fr-FR" sz="2000" smtClean="0">
                <a:sym typeface="Symbol" panose="05050102010706020507" pitchFamily="18" charset="2"/>
              </a:rPr>
              <a:t>Comme                                                , on en déduit que</a:t>
            </a:r>
            <a:endParaRPr lang="fr-FR" altLang="fr-FR" sz="2000" b="1" smtClean="0">
              <a:sym typeface="Symbol" panose="05050102010706020507" pitchFamily="18" charset="2"/>
            </a:endParaRPr>
          </a:p>
          <a:p>
            <a:pPr eaLnBrk="1" hangingPunct="1">
              <a:buFontTx/>
              <a:buNone/>
            </a:pPr>
            <a:endParaRPr lang="fr-FR" altLang="fr-FR" sz="2000" smtClean="0"/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686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6870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6871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3687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240796"/>
              </p:ext>
            </p:extLst>
          </p:nvPr>
        </p:nvGraphicFramePr>
        <p:xfrm>
          <a:off x="3425825" y="1976438"/>
          <a:ext cx="550862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3" name="Equation" r:id="rId4" imgW="2705040" imgH="266400" progId="Equation.DSMT4">
                  <p:embed/>
                </p:oleObj>
              </mc:Choice>
              <mc:Fallback>
                <p:oleObj name="Equation" r:id="rId4" imgW="2705040" imgH="2664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5825" y="1976438"/>
                        <a:ext cx="550862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36874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36875" name="Object 13"/>
          <p:cNvGraphicFramePr>
            <a:graphicFrameLocks noChangeAspect="1"/>
          </p:cNvGraphicFramePr>
          <p:nvPr/>
        </p:nvGraphicFramePr>
        <p:xfrm>
          <a:off x="989013" y="3357563"/>
          <a:ext cx="54086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4" name="Equation" r:id="rId6" imgW="2501900" imgH="254000" progId="Equation.DSMT4">
                  <p:embed/>
                </p:oleObj>
              </mc:Choice>
              <mc:Fallback>
                <p:oleObj name="Equation" r:id="rId6" imgW="2501900" imgH="2540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013" y="3357563"/>
                        <a:ext cx="54086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6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36877" name="Object 18"/>
          <p:cNvGraphicFramePr>
            <a:graphicFrameLocks noChangeAspect="1"/>
          </p:cNvGraphicFramePr>
          <p:nvPr/>
        </p:nvGraphicFramePr>
        <p:xfrm>
          <a:off x="668338" y="4581525"/>
          <a:ext cx="699928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5" name="Equation" r:id="rId8" imgW="3175000" imgH="304800" progId="Equation.DSMT4">
                  <p:embed/>
                </p:oleObj>
              </mc:Choice>
              <mc:Fallback>
                <p:oleObj name="Equation" r:id="rId8" imgW="3175000" imgH="3048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4581525"/>
                        <a:ext cx="6999287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8" name="Text Box 20"/>
          <p:cNvSpPr txBox="1">
            <a:spLocks noChangeArrowheads="1"/>
          </p:cNvSpPr>
          <p:nvPr/>
        </p:nvSpPr>
        <p:spPr bwMode="auto">
          <a:xfrm>
            <a:off x="179388" y="769938"/>
            <a:ext cx="39798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>
                <a:sym typeface="Symbol" panose="05050102010706020507" pitchFamily="18" charset="2"/>
              </a:rPr>
              <a:t> Cette analyse n</a:t>
            </a:r>
            <a:r>
              <a:rPr lang="ja-JP" altLang="fr-FR" sz="2000">
                <a:sym typeface="Symbol" panose="05050102010706020507" pitchFamily="18" charset="2"/>
              </a:rPr>
              <a:t>’</a:t>
            </a:r>
            <a:r>
              <a:rPr lang="fr-FR" altLang="ja-JP" sz="2000">
                <a:sym typeface="Symbol" panose="05050102010706020507" pitchFamily="18" charset="2"/>
              </a:rPr>
              <a:t>est possible que </a:t>
            </a:r>
          </a:p>
          <a:p>
            <a:pPr eaLnBrk="1" hangingPunct="1">
              <a:buFontTx/>
              <a:buChar char="•"/>
            </a:pPr>
            <a:r>
              <a:rPr lang="fr-FR" altLang="fr-FR" sz="2000">
                <a:sym typeface="Symbol" panose="05050102010706020507" pitchFamily="18" charset="2"/>
              </a:rPr>
              <a:t> si 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f(</a:t>
            </a:r>
            <a:r>
              <a:rPr lang="fr-FR" altLang="fr-FR" sz="2000" b="1">
                <a:solidFill>
                  <a:srgbClr val="FF3300"/>
                </a:solidFill>
                <a:sym typeface="Symbol" panose="05050102010706020507" pitchFamily="18" charset="2"/>
              </a:rPr>
              <a:t>Y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,t) est affine </a:t>
            </a:r>
            <a:r>
              <a:rPr lang="fr-FR" altLang="fr-FR" sz="2000">
                <a:sym typeface="Symbol" panose="05050102010706020507" pitchFamily="18" charset="2"/>
              </a:rPr>
              <a:t>ou </a:t>
            </a:r>
          </a:p>
          <a:p>
            <a:pPr eaLnBrk="1" hangingPunct="1">
              <a:buFontTx/>
              <a:buChar char="•"/>
            </a:pPr>
            <a:r>
              <a:rPr lang="fr-FR" altLang="fr-FR" sz="2000">
                <a:sym typeface="Symbol" panose="05050102010706020507" pitchFamily="18" charset="2"/>
              </a:rPr>
              <a:t> 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après linéarisation de f(</a:t>
            </a:r>
            <a:r>
              <a:rPr lang="fr-FR" altLang="fr-FR" sz="2000" b="1">
                <a:solidFill>
                  <a:srgbClr val="FF3300"/>
                </a:solidFill>
                <a:sym typeface="Symbol" panose="05050102010706020507" pitchFamily="18" charset="2"/>
              </a:rPr>
              <a:t>Y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,t)</a:t>
            </a:r>
            <a:endParaRPr lang="fr-FR" altLang="fr-FR" sz="2000" baseline="-25000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3687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129462"/>
              </p:ext>
            </p:extLst>
          </p:nvPr>
        </p:nvGraphicFramePr>
        <p:xfrm>
          <a:off x="4741863" y="620713"/>
          <a:ext cx="3640137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6" name="Equation" r:id="rId10" imgW="2019240" imgH="685800" progId="Equation.DSMT4">
                  <p:embed/>
                </p:oleObj>
              </mc:Choice>
              <mc:Fallback>
                <p:oleObj name="Equation" r:id="rId10" imgW="2019240" imgH="685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863" y="620713"/>
                        <a:ext cx="3640137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0" name="Object 23"/>
          <p:cNvGraphicFramePr>
            <a:graphicFrameLocks noChangeAspect="1"/>
          </p:cNvGraphicFramePr>
          <p:nvPr/>
        </p:nvGraphicFramePr>
        <p:xfrm>
          <a:off x="1331913" y="4002088"/>
          <a:ext cx="30765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7" name="Equation" r:id="rId12" imgW="1511300" imgH="254000" progId="Equation.DSMT4">
                  <p:embed/>
                </p:oleObj>
              </mc:Choice>
              <mc:Fallback>
                <p:oleObj name="Equation" r:id="rId12" imgW="1511300" imgH="2540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002088"/>
                        <a:ext cx="307657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1" name="Text Box 24"/>
          <p:cNvSpPr txBox="1">
            <a:spLocks noChangeArrowheads="1"/>
          </p:cNvSpPr>
          <p:nvPr/>
        </p:nvSpPr>
        <p:spPr bwMode="auto">
          <a:xfrm>
            <a:off x="323850" y="5300663"/>
            <a:ext cx="7067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erreur de troncature et d</a:t>
            </a:r>
            <a:r>
              <a:rPr lang="ja-JP" altLang="fr-FR" sz="1800"/>
              <a:t>’</a:t>
            </a:r>
            <a:r>
              <a:rPr lang="fr-FR" altLang="ja-JP" sz="1800"/>
              <a:t>arrondis se propage depuis l</a:t>
            </a:r>
            <a:r>
              <a:rPr lang="ja-JP" altLang="fr-FR" sz="1800"/>
              <a:t>’</a:t>
            </a:r>
            <a:r>
              <a:rPr lang="fr-FR" altLang="ja-JP" sz="1800"/>
              <a:t>instant initial</a:t>
            </a:r>
          </a:p>
          <a:p>
            <a:pPr eaLnBrk="1" hangingPunct="1"/>
            <a:r>
              <a:rPr lang="fr-FR" altLang="fr-FR" sz="1800"/>
              <a:t>Jusqu</a:t>
            </a:r>
            <a:r>
              <a:rPr lang="ja-JP" altLang="fr-FR" sz="1800"/>
              <a:t>’</a:t>
            </a:r>
            <a:r>
              <a:rPr lang="fr-FR" altLang="ja-JP" sz="1800"/>
              <a:t>à l</a:t>
            </a:r>
            <a:r>
              <a:rPr lang="ja-JP" altLang="fr-FR" sz="1800"/>
              <a:t>’</a:t>
            </a:r>
            <a:r>
              <a:rPr lang="fr-FR" altLang="ja-JP" sz="1800"/>
              <a:t>instant n selon </a:t>
            </a:r>
            <a:endParaRPr lang="fr-FR" altLang="fr-FR" sz="1800"/>
          </a:p>
        </p:txBody>
      </p:sp>
      <p:graphicFrame>
        <p:nvGraphicFramePr>
          <p:cNvPr id="36882" name="Object 25"/>
          <p:cNvGraphicFramePr>
            <a:graphicFrameLocks noChangeAspect="1"/>
          </p:cNvGraphicFramePr>
          <p:nvPr/>
        </p:nvGraphicFramePr>
        <p:xfrm>
          <a:off x="3132138" y="5805488"/>
          <a:ext cx="21336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78" name="Equation" r:id="rId14" imgW="1066800" imgH="292100" progId="Equation.3">
                  <p:embed/>
                </p:oleObj>
              </mc:Choice>
              <mc:Fallback>
                <p:oleObj name="Equation" r:id="rId14" imgW="1066800" imgH="292100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805488"/>
                        <a:ext cx="2133600" cy="5826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4"/>
          <p:cNvSpPr txBox="1">
            <a:spLocks noChangeArrowheads="1"/>
          </p:cNvSpPr>
          <p:nvPr/>
        </p:nvSpPr>
        <p:spPr bwMode="auto">
          <a:xfrm>
            <a:off x="323850" y="681038"/>
            <a:ext cx="424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Propagation d</a:t>
            </a:r>
            <a:r>
              <a:rPr lang="ja-JP" altLang="fr-FR" sz="2000"/>
              <a:t>’</a:t>
            </a:r>
            <a:r>
              <a:rPr lang="fr-FR" altLang="ja-JP" sz="2000"/>
              <a:t>une erreur au pas n : </a:t>
            </a:r>
            <a:endParaRPr lang="fr-FR" altLang="fr-FR" sz="2000"/>
          </a:p>
        </p:txBody>
      </p:sp>
      <p:graphicFrame>
        <p:nvGraphicFramePr>
          <p:cNvPr id="38914" name="Object 5"/>
          <p:cNvGraphicFramePr>
            <a:graphicFrameLocks noChangeAspect="1"/>
          </p:cNvGraphicFramePr>
          <p:nvPr/>
        </p:nvGraphicFramePr>
        <p:xfrm>
          <a:off x="4519613" y="546100"/>
          <a:ext cx="286067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3" name="Equation" r:id="rId3" imgW="1586811" imgH="342751" progId="Equation.DSMT4">
                  <p:embed/>
                </p:oleObj>
              </mc:Choice>
              <mc:Fallback>
                <p:oleObj name="Equation" r:id="rId3" imgW="1586811" imgH="34275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9613" y="546100"/>
                        <a:ext cx="2860675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5" name="Text Box 6"/>
          <p:cNvSpPr txBox="1">
            <a:spLocks noChangeArrowheads="1"/>
          </p:cNvSpPr>
          <p:nvPr/>
        </p:nvSpPr>
        <p:spPr bwMode="auto">
          <a:xfrm>
            <a:off x="323850" y="2049463"/>
            <a:ext cx="5657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En se plaçant dans la base propre de Â telle que</a:t>
            </a:r>
          </a:p>
        </p:txBody>
      </p:sp>
      <p:graphicFrame>
        <p:nvGraphicFramePr>
          <p:cNvPr id="38916" name="Object 7"/>
          <p:cNvGraphicFramePr>
            <a:graphicFrameLocks noChangeAspect="1"/>
          </p:cNvGraphicFramePr>
          <p:nvPr/>
        </p:nvGraphicFramePr>
        <p:xfrm>
          <a:off x="6084888" y="2051050"/>
          <a:ext cx="14430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4" name="Equation" r:id="rId5" imgW="799753" imgH="241195" progId="Equation.3">
                  <p:embed/>
                </p:oleObj>
              </mc:Choice>
              <mc:Fallback>
                <p:oleObj name="Equation" r:id="rId5" imgW="799753" imgH="24119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051050"/>
                        <a:ext cx="14430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8" name="Rectangle 15"/>
          <p:cNvSpPr>
            <a:spLocks noChangeArrowheads="1"/>
          </p:cNvSpPr>
          <p:nvPr/>
        </p:nvSpPr>
        <p:spPr bwMode="auto">
          <a:xfrm>
            <a:off x="539750" y="0"/>
            <a:ext cx="82296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Conditions de stabilité du schéma d</a:t>
            </a:r>
            <a:r>
              <a:rPr lang="ja-JP" altLang="fr-FR">
                <a:solidFill>
                  <a:schemeClr val="tx2"/>
                </a:solidFill>
              </a:rPr>
              <a:t>’</a:t>
            </a:r>
            <a:r>
              <a:rPr lang="fr-FR" altLang="ja-JP">
                <a:solidFill>
                  <a:schemeClr val="tx2"/>
                </a:solidFill>
              </a:rPr>
              <a:t>Euler</a:t>
            </a:r>
            <a:endParaRPr lang="fr-FR" altLang="fr-FR">
              <a:solidFill>
                <a:schemeClr val="tx2"/>
              </a:solidFill>
            </a:endParaRPr>
          </a:p>
        </p:txBody>
      </p:sp>
      <p:sp>
        <p:nvSpPr>
          <p:cNvPr id="38919" name="Text Box 16"/>
          <p:cNvSpPr txBox="1">
            <a:spLocks noChangeArrowheads="1"/>
          </p:cNvSpPr>
          <p:nvPr/>
        </p:nvSpPr>
        <p:spPr bwMode="auto">
          <a:xfrm>
            <a:off x="323850" y="1231900"/>
            <a:ext cx="82327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Le schéma est stable s</a:t>
            </a:r>
            <a:r>
              <a:rPr lang="ja-JP" altLang="fr-FR" sz="2000"/>
              <a:t>’</a:t>
            </a:r>
            <a:r>
              <a:rPr lang="fr-FR" altLang="ja-JP" sz="2000"/>
              <a:t>il y a atténuation à chaque pas de temps,</a:t>
            </a:r>
          </a:p>
          <a:p>
            <a:pPr eaLnBrk="1" hangingPunct="1"/>
            <a:r>
              <a:rPr lang="fr-FR" altLang="fr-FR" sz="2000"/>
              <a:t>autrement dit que le gain G soit faible par rapport à 1 (préciser ci-après)</a:t>
            </a:r>
          </a:p>
        </p:txBody>
      </p:sp>
      <p:sp>
        <p:nvSpPr>
          <p:cNvPr id="38920" name="Text Box 18"/>
          <p:cNvSpPr txBox="1">
            <a:spLocks noChangeArrowheads="1"/>
          </p:cNvSpPr>
          <p:nvPr/>
        </p:nvSpPr>
        <p:spPr bwMode="auto">
          <a:xfrm>
            <a:off x="250825" y="4108450"/>
            <a:ext cx="8853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/>
              <a:t> Si tous les λ</a:t>
            </a:r>
            <a:r>
              <a:rPr lang="fr-FR" altLang="fr-FR" sz="1800" baseline="-25000"/>
              <a:t>i</a:t>
            </a:r>
            <a:r>
              <a:rPr lang="fr-FR" altLang="fr-FR" sz="1800">
                <a:sym typeface="Symbol" panose="05050102010706020507" pitchFamily="18" charset="2"/>
              </a:rPr>
              <a:t> </a:t>
            </a:r>
            <a:r>
              <a:rPr lang="fr-FR" altLang="fr-FR" sz="1800">
                <a:sym typeface="Math5" pitchFamily="2" charset="2"/>
              </a:rPr>
              <a:t>réels et s’</a:t>
            </a:r>
            <a:r>
              <a:rPr lang="fr-FR" altLang="ja-JP" sz="1800">
                <a:sym typeface="Math5" pitchFamily="2" charset="2"/>
              </a:rPr>
              <a:t>il existe au moins un </a:t>
            </a:r>
            <a:r>
              <a:rPr lang="fr-FR" altLang="ja-JP" sz="1800"/>
              <a:t>λ</a:t>
            </a:r>
            <a:r>
              <a:rPr lang="fr-FR" altLang="ja-JP" sz="1800" baseline="-25000"/>
              <a:t>i</a:t>
            </a:r>
            <a:r>
              <a:rPr lang="fr-FR" altLang="ja-JP" sz="1800"/>
              <a:t>&gt;0 alors schéma instable quand n→∞</a:t>
            </a:r>
            <a:endParaRPr lang="fr-FR" altLang="fr-FR" sz="1800"/>
          </a:p>
        </p:txBody>
      </p:sp>
      <p:sp>
        <p:nvSpPr>
          <p:cNvPr id="38921" name="Text Box 19"/>
          <p:cNvSpPr txBox="1">
            <a:spLocks noChangeArrowheads="1"/>
          </p:cNvSpPr>
          <p:nvPr/>
        </p:nvSpPr>
        <p:spPr bwMode="auto">
          <a:xfrm>
            <a:off x="250825" y="4643438"/>
            <a:ext cx="88915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/>
              <a:t> Si </a:t>
            </a:r>
            <a:r>
              <a:rPr lang="fr-FR" altLang="fr-FR" sz="1800" b="1">
                <a:solidFill>
                  <a:srgbClr val="A50021"/>
                </a:solidFill>
              </a:rPr>
              <a:t>tous les </a:t>
            </a:r>
            <a:r>
              <a:rPr lang="fr-FR" altLang="fr-FR" sz="1800"/>
              <a:t>λ</a:t>
            </a:r>
            <a:r>
              <a:rPr lang="fr-FR" altLang="fr-FR" sz="1800" baseline="-25000"/>
              <a:t>i </a:t>
            </a:r>
            <a:r>
              <a:rPr lang="fr-FR" altLang="fr-FR" sz="1800" b="1">
                <a:solidFill>
                  <a:srgbClr val="A50021"/>
                </a:solidFill>
                <a:sym typeface="Math5" pitchFamily="2" charset="2"/>
              </a:rPr>
              <a:t>réels négatifs</a:t>
            </a:r>
            <a:r>
              <a:rPr lang="fr-FR" altLang="fr-FR" sz="1800">
                <a:sym typeface="Math5" pitchFamily="2" charset="2"/>
              </a:rPr>
              <a:t> et si on note λ</a:t>
            </a:r>
            <a:r>
              <a:rPr lang="fr-FR" altLang="fr-FR" sz="1800" baseline="-25000"/>
              <a:t>m </a:t>
            </a:r>
            <a:r>
              <a:rPr lang="fr-FR" altLang="fr-FR" sz="1800"/>
              <a:t>la plus grande valeur propre en module </a:t>
            </a:r>
          </a:p>
          <a:p>
            <a:pPr eaLnBrk="1" hangingPunct="1"/>
            <a:r>
              <a:rPr lang="fr-FR" altLang="fr-FR" sz="1800"/>
              <a:t>alors le schéma est stable dans la limite n→∞ si</a:t>
            </a:r>
          </a:p>
        </p:txBody>
      </p:sp>
      <p:graphicFrame>
        <p:nvGraphicFramePr>
          <p:cNvPr id="38922" name="Object 20"/>
          <p:cNvGraphicFramePr>
            <a:graphicFrameLocks noChangeAspect="1"/>
          </p:cNvGraphicFramePr>
          <p:nvPr/>
        </p:nvGraphicFramePr>
        <p:xfrm>
          <a:off x="2843213" y="5292725"/>
          <a:ext cx="29003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5" name="Equation" r:id="rId7" imgW="1612900" imgH="444500" progId="Equation.3">
                  <p:embed/>
                </p:oleObj>
              </mc:Choice>
              <mc:Fallback>
                <p:oleObj name="Equation" r:id="rId7" imgW="1612900" imgH="4445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292725"/>
                        <a:ext cx="290036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4249995"/>
              </p:ext>
            </p:extLst>
          </p:nvPr>
        </p:nvGraphicFramePr>
        <p:xfrm>
          <a:off x="1119187" y="2577306"/>
          <a:ext cx="6408738" cy="1322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86" name="Equation" r:id="rId9" imgW="3555720" imgH="736560" progId="Equation.DSMT4">
                  <p:embed/>
                </p:oleObj>
              </mc:Choice>
              <mc:Fallback>
                <p:oleObj name="Equation" r:id="rId9" imgW="3555720" imgH="736560" progId="Equation.DSMT4">
                  <p:embed/>
                  <p:pic>
                    <p:nvPicPr>
                      <p:cNvPr id="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9187" y="2577306"/>
                        <a:ext cx="6408738" cy="1322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7"/>
          <p:cNvSpPr txBox="1">
            <a:spLocks noChangeArrowheads="1"/>
          </p:cNvSpPr>
          <p:nvPr/>
        </p:nvSpPr>
        <p:spPr bwMode="auto">
          <a:xfrm>
            <a:off x="109538" y="333375"/>
            <a:ext cx="92249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2000"/>
              <a:t> Si </a:t>
            </a:r>
            <a:r>
              <a:rPr lang="fr-FR" altLang="fr-FR" sz="2000" b="1">
                <a:solidFill>
                  <a:srgbClr val="A50021"/>
                </a:solidFill>
              </a:rPr>
              <a:t>les </a:t>
            </a:r>
            <a:r>
              <a:rPr lang="fr-FR" altLang="fr-FR" sz="2000"/>
              <a:t>λ</a:t>
            </a:r>
            <a:r>
              <a:rPr lang="fr-FR" altLang="fr-FR" sz="2000" baseline="-25000"/>
              <a:t>i </a:t>
            </a:r>
            <a:r>
              <a:rPr lang="fr-FR" altLang="fr-FR" sz="2000" b="1">
                <a:solidFill>
                  <a:srgbClr val="A50021"/>
                </a:solidFill>
                <a:sym typeface="Math5" pitchFamily="2" charset="2"/>
              </a:rPr>
              <a:t>complexes </a:t>
            </a:r>
            <a:r>
              <a:rPr lang="fr-FR" altLang="fr-FR" sz="2000">
                <a:sym typeface="Math5" pitchFamily="2" charset="2"/>
              </a:rPr>
              <a:t>il faut déterminer l</a:t>
            </a:r>
            <a:r>
              <a:rPr lang="ja-JP" altLang="fr-FR" sz="2000">
                <a:sym typeface="Math5" pitchFamily="2" charset="2"/>
              </a:rPr>
              <a:t>’</a:t>
            </a:r>
            <a:r>
              <a:rPr lang="fr-FR" altLang="ja-JP" sz="2000">
                <a:sym typeface="Math5" pitchFamily="2" charset="2"/>
              </a:rPr>
              <a:t>intersection des contraintes imposées </a:t>
            </a:r>
          </a:p>
          <a:p>
            <a:pPr eaLnBrk="1" hangingPunct="1"/>
            <a:r>
              <a:rPr lang="fr-FR" altLang="fr-FR" sz="2000">
                <a:sym typeface="Math5" pitchFamily="2" charset="2"/>
              </a:rPr>
              <a:t>par la condition de stabilité |1+h </a:t>
            </a:r>
            <a:r>
              <a:rPr lang="fr-FR" altLang="fr-FR" sz="2000"/>
              <a:t>λ</a:t>
            </a:r>
            <a:r>
              <a:rPr lang="fr-FR" altLang="fr-FR" sz="2000" baseline="-25000"/>
              <a:t>i</a:t>
            </a:r>
            <a:r>
              <a:rPr lang="fr-FR" altLang="fr-FR" sz="2000"/>
              <a:t>|&lt;1</a:t>
            </a:r>
          </a:p>
        </p:txBody>
      </p:sp>
      <p:pic>
        <p:nvPicPr>
          <p:cNvPr id="39938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06"/>
          <a:stretch>
            <a:fillRect/>
          </a:stretch>
        </p:blipFill>
        <p:spPr bwMode="auto">
          <a:xfrm>
            <a:off x="611188" y="2132013"/>
            <a:ext cx="6505575" cy="4033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Text Box 10"/>
          <p:cNvSpPr txBox="1">
            <a:spLocks noChangeArrowheads="1"/>
          </p:cNvSpPr>
          <p:nvPr/>
        </p:nvSpPr>
        <p:spPr bwMode="auto">
          <a:xfrm>
            <a:off x="1331913" y="3644900"/>
            <a:ext cx="414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Exemple avec </a:t>
            </a:r>
            <a:r>
              <a:rPr lang="el-GR" altLang="fr-FR" sz="2000">
                <a:solidFill>
                  <a:schemeClr val="accent2"/>
                </a:solidFill>
              </a:rPr>
              <a:t>λ</a:t>
            </a:r>
            <a:r>
              <a:rPr lang="fr-FR" altLang="fr-FR" sz="2000" baseline="-25000">
                <a:solidFill>
                  <a:schemeClr val="accent2"/>
                </a:solidFill>
              </a:rPr>
              <a:t>1</a:t>
            </a:r>
            <a:r>
              <a:rPr lang="fr-FR" altLang="fr-FR" sz="2000">
                <a:solidFill>
                  <a:schemeClr val="accent2"/>
                </a:solidFill>
              </a:rPr>
              <a:t>=-1+2i </a:t>
            </a:r>
            <a:r>
              <a:rPr lang="fr-FR" altLang="fr-FR" sz="2000"/>
              <a:t>et</a:t>
            </a:r>
            <a:r>
              <a:rPr lang="fr-FR" altLang="fr-FR" sz="2000">
                <a:solidFill>
                  <a:schemeClr val="accent2"/>
                </a:solidFill>
              </a:rPr>
              <a:t> </a:t>
            </a:r>
            <a:r>
              <a:rPr lang="el-GR" altLang="fr-FR" sz="2000">
                <a:solidFill>
                  <a:schemeClr val="accent2"/>
                </a:solidFill>
              </a:rPr>
              <a:t>λ</a:t>
            </a:r>
            <a:r>
              <a:rPr lang="fr-FR" altLang="fr-FR" sz="2000" baseline="-25000">
                <a:solidFill>
                  <a:schemeClr val="accent2"/>
                </a:solidFill>
              </a:rPr>
              <a:t>2</a:t>
            </a:r>
            <a:r>
              <a:rPr lang="fr-FR" altLang="fr-FR" sz="2000">
                <a:solidFill>
                  <a:schemeClr val="accent2"/>
                </a:solidFill>
              </a:rPr>
              <a:t>=-2+2i</a:t>
            </a:r>
            <a:r>
              <a:rPr lang="fr-FR" altLang="fr-FR" sz="2000"/>
              <a:t> </a:t>
            </a:r>
          </a:p>
        </p:txBody>
      </p:sp>
      <p:graphicFrame>
        <p:nvGraphicFramePr>
          <p:cNvPr id="39940" name="Object 12"/>
          <p:cNvGraphicFramePr>
            <a:graphicFrameLocks noChangeAspect="1"/>
          </p:cNvGraphicFramePr>
          <p:nvPr/>
        </p:nvGraphicFramePr>
        <p:xfrm>
          <a:off x="1763713" y="1125538"/>
          <a:ext cx="47498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58" name="Equation" r:id="rId4" imgW="2641600" imgH="558800" progId="Equation.3">
                  <p:embed/>
                </p:oleObj>
              </mc:Choice>
              <mc:Fallback>
                <p:oleObj name="Equation" r:id="rId4" imgW="2641600" imgH="558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125538"/>
                        <a:ext cx="4749800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41" name="Text Box 13"/>
          <p:cNvSpPr txBox="1">
            <a:spLocks noChangeArrowheads="1"/>
          </p:cNvSpPr>
          <p:nvPr/>
        </p:nvSpPr>
        <p:spPr bwMode="auto">
          <a:xfrm>
            <a:off x="465138" y="3808413"/>
            <a:ext cx="361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G</a:t>
            </a:r>
          </a:p>
        </p:txBody>
      </p:sp>
      <p:sp>
        <p:nvSpPr>
          <p:cNvPr id="39942" name="Oval 14"/>
          <p:cNvSpPr>
            <a:spLocks noChangeArrowheads="1"/>
          </p:cNvSpPr>
          <p:nvPr/>
        </p:nvSpPr>
        <p:spPr bwMode="auto">
          <a:xfrm>
            <a:off x="3348038" y="5013325"/>
            <a:ext cx="195262" cy="195263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1" name="Object 2"/>
          <p:cNvGraphicFramePr>
            <a:graphicFrameLocks noChangeAspect="1"/>
          </p:cNvGraphicFramePr>
          <p:nvPr/>
        </p:nvGraphicFramePr>
        <p:xfrm>
          <a:off x="2139950" y="1214438"/>
          <a:ext cx="6403975" cy="192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1" name="Equation" r:id="rId3" imgW="3556000" imgH="1066800" progId="Equation.DSMT4">
                  <p:embed/>
                </p:oleObj>
              </mc:Choice>
              <mc:Fallback>
                <p:oleObj name="Equation" r:id="rId3" imgW="3556000" imgH="106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9950" y="1214438"/>
                        <a:ext cx="6403975" cy="192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2" name="Rectangle 3"/>
          <p:cNvSpPr>
            <a:spLocks noChangeArrowheads="1"/>
          </p:cNvSpPr>
          <p:nvPr/>
        </p:nvSpPr>
        <p:spPr bwMode="auto">
          <a:xfrm>
            <a:off x="1295400" y="115888"/>
            <a:ext cx="73802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Analyse de stabilité / Exemple 1</a:t>
            </a:r>
          </a:p>
        </p:txBody>
      </p:sp>
      <p:pic>
        <p:nvPicPr>
          <p:cNvPr id="4096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08050"/>
            <a:ext cx="1608138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Text Box 6"/>
          <p:cNvSpPr txBox="1">
            <a:spLocks noChangeArrowheads="1"/>
          </p:cNvSpPr>
          <p:nvPr/>
        </p:nvSpPr>
        <p:spPr bwMode="auto">
          <a:xfrm>
            <a:off x="323850" y="3573463"/>
            <a:ext cx="6011863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2000"/>
              <a:t>Calculer les valeurs propres de Â pour les 2 cas :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	1</a:t>
            </a:r>
            <a:r>
              <a:rPr lang="fr-FR" altLang="fr-FR" sz="2000" baseline="30000"/>
              <a:t>er</a:t>
            </a:r>
            <a:r>
              <a:rPr lang="fr-FR" altLang="fr-FR" sz="2000"/>
              <a:t> cas : n=1.5 et p</a:t>
            </a:r>
            <a:r>
              <a:rPr lang="fr-FR" altLang="fr-FR" sz="2000" baseline="30000"/>
              <a:t>2</a:t>
            </a:r>
            <a:r>
              <a:rPr lang="fr-FR" altLang="fr-FR" sz="2000"/>
              <a:t>=2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	2</a:t>
            </a:r>
            <a:r>
              <a:rPr lang="fr-FR" altLang="fr-FR" sz="2000" baseline="30000"/>
              <a:t>ème</a:t>
            </a:r>
            <a:r>
              <a:rPr lang="fr-FR" altLang="fr-FR" sz="2000"/>
              <a:t> cas : n=0.2 et p</a:t>
            </a:r>
            <a:r>
              <a:rPr lang="fr-FR" altLang="fr-FR" sz="2000" baseline="30000"/>
              <a:t>2</a:t>
            </a:r>
            <a:r>
              <a:rPr lang="fr-FR" altLang="fr-FR" sz="2000"/>
              <a:t>=1</a:t>
            </a:r>
          </a:p>
          <a:p>
            <a:pPr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Calculer la limite de stabilité dans les 2 cas</a:t>
            </a:r>
          </a:p>
          <a:p>
            <a:pPr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Tester avec votre programme</a:t>
            </a:r>
          </a:p>
        </p:txBody>
      </p:sp>
      <p:sp>
        <p:nvSpPr>
          <p:cNvPr id="40965" name="Text Box 10"/>
          <p:cNvSpPr txBox="1">
            <a:spLocks noChangeArrowheads="1"/>
          </p:cNvSpPr>
          <p:nvPr/>
        </p:nvSpPr>
        <p:spPr bwMode="auto">
          <a:xfrm>
            <a:off x="8362950" y="12700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895350"/>
            <a:ext cx="43180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3703638"/>
            <a:ext cx="43180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6"/>
          <p:cNvSpPr>
            <a:spLocks noChangeArrowheads="1"/>
          </p:cNvSpPr>
          <p:nvPr/>
        </p:nvSpPr>
        <p:spPr bwMode="auto">
          <a:xfrm>
            <a:off x="255588" y="473075"/>
            <a:ext cx="3887787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1er cas : n=1.5 et p</a:t>
            </a:r>
            <a:r>
              <a:rPr lang="fr-FR" altLang="fr-FR" sz="2000" baseline="30000"/>
              <a:t>2</a:t>
            </a:r>
            <a:r>
              <a:rPr lang="fr-FR" altLang="fr-FR" sz="2000"/>
              <a:t>=2  </a:t>
            </a:r>
            <a:r>
              <a:rPr lang="fr-FR" altLang="fr-FR" sz="2000">
                <a:sym typeface="Wingdings" panose="05000000000000000000" pitchFamily="2" charset="2"/>
              </a:rPr>
              <a:t></a:t>
            </a:r>
            <a:r>
              <a:rPr lang="fr-FR" altLang="fr-FR" sz="2000">
                <a:sym typeface="Symbol" panose="05050102010706020507" pitchFamily="18" charset="2"/>
              </a:rPr>
              <a:t>  </a:t>
            </a:r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=1</a:t>
            </a:r>
            <a:endParaRPr lang="fr-FR" altLang="fr-FR" sz="2000">
              <a:sym typeface="Symbol" panose="05050102010706020507" pitchFamily="18" charset="2"/>
            </a:endParaRPr>
          </a:p>
        </p:txBody>
      </p:sp>
      <p:pic>
        <p:nvPicPr>
          <p:cNvPr id="41988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863" y="3716338"/>
            <a:ext cx="4411662" cy="290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908050"/>
            <a:ext cx="4392612" cy="284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90" name="Rectangle 12"/>
          <p:cNvSpPr>
            <a:spLocks noChangeArrowheads="1"/>
          </p:cNvSpPr>
          <p:nvPr/>
        </p:nvSpPr>
        <p:spPr bwMode="auto">
          <a:xfrm>
            <a:off x="4932363" y="511175"/>
            <a:ext cx="4392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2ème cas : n=0.2 et p</a:t>
            </a:r>
            <a:r>
              <a:rPr lang="fr-FR" altLang="fr-FR" sz="2000" baseline="30000"/>
              <a:t>2</a:t>
            </a:r>
            <a:r>
              <a:rPr lang="fr-FR" altLang="fr-FR" sz="2000"/>
              <a:t>=1 </a:t>
            </a:r>
            <a:r>
              <a:rPr lang="fr-FR" altLang="fr-FR" sz="1800">
                <a:sym typeface="Wingdings" panose="05000000000000000000" pitchFamily="2" charset="2"/>
              </a:rPr>
              <a:t></a:t>
            </a:r>
            <a:r>
              <a:rPr lang="fr-FR" altLang="fr-FR" sz="1800">
                <a:sym typeface="Symbol" panose="05050102010706020507" pitchFamily="18" charset="2"/>
              </a:rPr>
              <a:t>  </a:t>
            </a:r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=0.39</a:t>
            </a:r>
          </a:p>
        </p:txBody>
      </p:sp>
      <p:sp>
        <p:nvSpPr>
          <p:cNvPr id="41991" name="Line 13"/>
          <p:cNvSpPr>
            <a:spLocks noChangeShapeType="1"/>
          </p:cNvSpPr>
          <p:nvPr/>
        </p:nvSpPr>
        <p:spPr bwMode="auto">
          <a:xfrm flipV="1">
            <a:off x="4643438" y="188913"/>
            <a:ext cx="0" cy="6669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1992" name="Rectangle 14"/>
          <p:cNvSpPr>
            <a:spLocks noChangeArrowheads="1"/>
          </p:cNvSpPr>
          <p:nvPr/>
        </p:nvSpPr>
        <p:spPr bwMode="auto">
          <a:xfrm>
            <a:off x="3059113" y="2924175"/>
            <a:ext cx="10985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STABLE</a:t>
            </a:r>
          </a:p>
        </p:txBody>
      </p:sp>
      <p:sp>
        <p:nvSpPr>
          <p:cNvPr id="41993" name="Rectangle 15"/>
          <p:cNvSpPr>
            <a:spLocks noChangeArrowheads="1"/>
          </p:cNvSpPr>
          <p:nvPr/>
        </p:nvSpPr>
        <p:spPr bwMode="auto">
          <a:xfrm>
            <a:off x="2987675" y="5734050"/>
            <a:ext cx="1327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INSTABLE</a:t>
            </a:r>
          </a:p>
        </p:txBody>
      </p:sp>
      <p:sp>
        <p:nvSpPr>
          <p:cNvPr id="41994" name="Rectangle 16"/>
          <p:cNvSpPr>
            <a:spLocks noChangeArrowheads="1"/>
          </p:cNvSpPr>
          <p:nvPr/>
        </p:nvSpPr>
        <p:spPr bwMode="auto">
          <a:xfrm>
            <a:off x="7566025" y="2924175"/>
            <a:ext cx="10985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STABLE</a:t>
            </a:r>
          </a:p>
        </p:txBody>
      </p:sp>
      <p:sp>
        <p:nvSpPr>
          <p:cNvPr id="41995" name="Rectangle 17"/>
          <p:cNvSpPr>
            <a:spLocks noChangeArrowheads="1"/>
          </p:cNvSpPr>
          <p:nvPr/>
        </p:nvSpPr>
        <p:spPr bwMode="auto">
          <a:xfrm>
            <a:off x="7566025" y="5734050"/>
            <a:ext cx="1327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INSTABLE</a:t>
            </a:r>
          </a:p>
        </p:txBody>
      </p:sp>
      <p:sp>
        <p:nvSpPr>
          <p:cNvPr id="41996" name="Text Box 18"/>
          <p:cNvSpPr txBox="1">
            <a:spLocks noChangeArrowheads="1"/>
          </p:cNvSpPr>
          <p:nvPr/>
        </p:nvSpPr>
        <p:spPr bwMode="auto">
          <a:xfrm>
            <a:off x="3276600" y="44450"/>
            <a:ext cx="2524125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Etude de stabilité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107950"/>
            <a:ext cx="7740650" cy="476250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Runge et Kutta -  Amélioration de la précision</a:t>
            </a:r>
          </a:p>
        </p:txBody>
      </p:sp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6125" y="981075"/>
            <a:ext cx="8218488" cy="29162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fr-FR" altLang="fr-FR" sz="2000" smtClean="0"/>
              <a:t>Prendre en compte les termes d</a:t>
            </a:r>
            <a:r>
              <a:rPr lang="ja-JP" altLang="fr-FR" sz="2000" smtClean="0"/>
              <a:t>’</a:t>
            </a:r>
            <a:r>
              <a:rPr lang="fr-FR" altLang="ja-JP" sz="2000" smtClean="0"/>
              <a:t>ordre supérieur :</a:t>
            </a:r>
          </a:p>
          <a:p>
            <a:pPr eaLnBrk="1" hangingPunct="1">
              <a:buFontTx/>
              <a:buNone/>
            </a:pPr>
            <a:endParaRPr lang="fr-FR" altLang="fr-FR" sz="2000" smtClean="0"/>
          </a:p>
          <a:p>
            <a:pPr eaLnBrk="1" hangingPunct="1">
              <a:buFontTx/>
              <a:buNone/>
            </a:pPr>
            <a:endParaRPr lang="fr-FR" altLang="fr-FR" sz="2000" smtClean="0"/>
          </a:p>
          <a:p>
            <a:pPr eaLnBrk="1" hangingPunct="1">
              <a:buFontTx/>
              <a:buNone/>
            </a:pPr>
            <a:endParaRPr lang="fr-FR" altLang="fr-FR" sz="2000" smtClean="0">
              <a:sym typeface="Wingdings" panose="05000000000000000000" pitchFamily="2" charset="2"/>
            </a:endParaRPr>
          </a:p>
          <a:p>
            <a:pPr eaLnBrk="1" hangingPunct="1">
              <a:buFontTx/>
              <a:buNone/>
            </a:pPr>
            <a:r>
              <a:rPr lang="fr-FR" altLang="fr-FR" sz="2000" smtClean="0">
                <a:sym typeface="Wingdings" panose="05000000000000000000" pitchFamily="2" charset="2"/>
              </a:rPr>
              <a:t>Ils sont calculables à partir de la dérivée  </a:t>
            </a:r>
          </a:p>
          <a:p>
            <a:pPr eaLnBrk="1" hangingPunct="1">
              <a:buFontTx/>
              <a:buNone/>
            </a:pPr>
            <a:r>
              <a:rPr lang="en-US" altLang="fr-FR" sz="2000" smtClean="0"/>
              <a:t> </a:t>
            </a:r>
            <a:endParaRPr lang="fr-FR" altLang="fr-FR" sz="2000" smtClean="0"/>
          </a:p>
        </p:txBody>
      </p:sp>
      <p:sp>
        <p:nvSpPr>
          <p:cNvPr id="430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301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301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3014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301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4301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7777020"/>
              </p:ext>
            </p:extLst>
          </p:nvPr>
        </p:nvGraphicFramePr>
        <p:xfrm>
          <a:off x="1619250" y="1485900"/>
          <a:ext cx="6815138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3" name="Equation" r:id="rId4" imgW="3886200" imgH="419040" progId="Equation.DSMT4">
                  <p:embed/>
                </p:oleObj>
              </mc:Choice>
              <mc:Fallback>
                <p:oleObj name="Equation" r:id="rId4" imgW="3886200" imgH="419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485900"/>
                        <a:ext cx="6815138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4301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0172101"/>
              </p:ext>
            </p:extLst>
          </p:nvPr>
        </p:nvGraphicFramePr>
        <p:xfrm>
          <a:off x="1635125" y="3009900"/>
          <a:ext cx="6897688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4" name="Equation" r:id="rId6" imgW="3809880" imgH="419040" progId="Equation.DSMT4">
                  <p:embed/>
                </p:oleObj>
              </mc:Choice>
              <mc:Fallback>
                <p:oleObj name="Equation" r:id="rId6" imgW="3809880" imgH="4190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5125" y="3009900"/>
                        <a:ext cx="6897688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9" name="Line 13"/>
          <p:cNvSpPr>
            <a:spLocks noChangeShapeType="1"/>
          </p:cNvSpPr>
          <p:nvPr/>
        </p:nvSpPr>
        <p:spPr bwMode="auto">
          <a:xfrm>
            <a:off x="5173663" y="2314575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43020" name="Rectangle 14"/>
          <p:cNvSpPr>
            <a:spLocks noChangeArrowheads="1"/>
          </p:cNvSpPr>
          <p:nvPr/>
        </p:nvSpPr>
        <p:spPr bwMode="auto">
          <a:xfrm>
            <a:off x="684213" y="3968750"/>
            <a:ext cx="8110537" cy="23050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2000"/>
              <a:t>1</a:t>
            </a:r>
            <a:r>
              <a:rPr lang="fr-FR" altLang="fr-FR" sz="2000" baseline="30000"/>
              <a:t>ère</a:t>
            </a:r>
            <a:r>
              <a:rPr lang="fr-FR" altLang="fr-FR" sz="2000"/>
              <a:t> idée : calculer analytiquement la dérivée seconde, approche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lang="fr-FR" altLang="fr-FR" sz="2000"/>
              <a:t>pouvant devenir vite compliquée!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endParaRPr lang="fr-FR" altLang="fr-FR" sz="2000"/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fr-FR" altLang="fr-FR" sz="2000"/>
              <a:t>2</a:t>
            </a:r>
            <a:r>
              <a:rPr lang="fr-FR" altLang="fr-FR" sz="2000" baseline="30000"/>
              <a:t>ème</a:t>
            </a:r>
            <a:r>
              <a:rPr lang="fr-FR" altLang="fr-FR" sz="2000"/>
              <a:t> idée : obtenir une approximation à l</a:t>
            </a:r>
            <a:r>
              <a:rPr lang="ja-JP" altLang="fr-FR" sz="2000"/>
              <a:t>’</a:t>
            </a:r>
            <a:r>
              <a:rPr lang="fr-FR" altLang="ja-JP" sz="2000"/>
              <a:t>ordre 2 inclus, en combinant 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fr-FR" altLang="fr-FR" sz="2000"/>
              <a:t>linéairement des estimations de f(y,t) en un nombre donné d</a:t>
            </a:r>
            <a:r>
              <a:rPr lang="ja-JP" altLang="fr-FR" sz="2000"/>
              <a:t>’</a:t>
            </a:r>
            <a:r>
              <a:rPr lang="fr-FR" altLang="ja-JP" sz="2000"/>
              <a:t>instants dans l</a:t>
            </a:r>
            <a:r>
              <a:rPr lang="ja-JP" altLang="fr-FR" sz="2000"/>
              <a:t>’</a:t>
            </a:r>
            <a:r>
              <a:rPr lang="fr-FR" altLang="ja-JP" sz="2000"/>
              <a:t>intervalle [t</a:t>
            </a:r>
            <a:r>
              <a:rPr lang="fr-FR" altLang="ja-JP" sz="2000" baseline="-25000"/>
              <a:t>n</a:t>
            </a:r>
            <a:r>
              <a:rPr lang="fr-FR" altLang="ja-JP" sz="2000"/>
              <a:t>, t</a:t>
            </a:r>
            <a:r>
              <a:rPr lang="fr-FR" altLang="ja-JP" sz="2000" baseline="-25000"/>
              <a:t>n</a:t>
            </a:r>
            <a:r>
              <a:rPr lang="fr-FR" altLang="ja-JP" sz="2000"/>
              <a:t>+Δ</a:t>
            </a:r>
            <a:r>
              <a:rPr lang="fr-FR" altLang="ja-JP" sz="2000">
                <a:sym typeface="Symbol" panose="05050102010706020507" pitchFamily="18" charset="2"/>
              </a:rPr>
              <a:t>t]</a:t>
            </a:r>
            <a:r>
              <a:rPr lang="en-US" altLang="ja-JP" sz="2000"/>
              <a:t> </a:t>
            </a:r>
            <a:endParaRPr lang="fr-FR" altLang="fr-FR" sz="2000"/>
          </a:p>
        </p:txBody>
      </p:sp>
      <p:sp>
        <p:nvSpPr>
          <p:cNvPr id="43021" name="AutoShape 15"/>
          <p:cNvSpPr>
            <a:spLocks noChangeArrowheads="1"/>
          </p:cNvSpPr>
          <p:nvPr/>
        </p:nvSpPr>
        <p:spPr bwMode="auto">
          <a:xfrm>
            <a:off x="4787900" y="1484313"/>
            <a:ext cx="1296988" cy="792162"/>
          </a:xfrm>
          <a:prstGeom prst="flowChartAlternateProcess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3022" name="AutoShape 16"/>
          <p:cNvSpPr>
            <a:spLocks noChangeArrowheads="1"/>
          </p:cNvSpPr>
          <p:nvPr/>
        </p:nvSpPr>
        <p:spPr bwMode="auto">
          <a:xfrm rot="20295922" flipH="1">
            <a:off x="5994400" y="2997200"/>
            <a:ext cx="344488" cy="747713"/>
          </a:xfrm>
          <a:prstGeom prst="lightningBolt">
            <a:avLst/>
          </a:prstGeom>
          <a:solidFill>
            <a:srgbClr val="A5002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7" name="Object 4"/>
          <p:cNvGraphicFramePr>
            <a:graphicFrameLocks noChangeAspect="1"/>
          </p:cNvGraphicFramePr>
          <p:nvPr/>
        </p:nvGraphicFramePr>
        <p:xfrm>
          <a:off x="704850" y="823913"/>
          <a:ext cx="27082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8" name="Equation" r:id="rId3" imgW="1485900" imgH="228600" progId="Equation.DSMT4">
                  <p:embed/>
                </p:oleObj>
              </mc:Choice>
              <mc:Fallback>
                <p:oleObj name="Equation" r:id="rId3" imgW="1485900" imgH="228600" progId="Equation.DSMT4">
                  <p:embed/>
                  <p:pic>
                    <p:nvPicPr>
                      <p:cNvPr id="4505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823913"/>
                        <a:ext cx="27082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8" name="Object 5"/>
          <p:cNvGraphicFramePr>
            <a:graphicFrameLocks noChangeAspect="1"/>
          </p:cNvGraphicFramePr>
          <p:nvPr>
            <p:extLst/>
          </p:nvPr>
        </p:nvGraphicFramePr>
        <p:xfrm>
          <a:off x="5219700" y="590550"/>
          <a:ext cx="23145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9" name="Equation" r:id="rId5" imgW="1269720" imgH="482400" progId="Equation.DSMT4">
                  <p:embed/>
                </p:oleObj>
              </mc:Choice>
              <mc:Fallback>
                <p:oleObj name="Equation" r:id="rId5" imgW="1269720" imgH="482400" progId="Equation.DSMT4">
                  <p:embed/>
                  <p:pic>
                    <p:nvPicPr>
                      <p:cNvPr id="4505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590550"/>
                        <a:ext cx="231457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Text Box 6"/>
          <p:cNvSpPr txBox="1">
            <a:spLocks noChangeArrowheads="1"/>
          </p:cNvSpPr>
          <p:nvPr/>
        </p:nvSpPr>
        <p:spPr bwMode="auto">
          <a:xfrm>
            <a:off x="3779838" y="809625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avec</a:t>
            </a:r>
          </a:p>
        </p:txBody>
      </p:sp>
      <p:graphicFrame>
        <p:nvGraphicFramePr>
          <p:cNvPr id="45061" name="Object 9"/>
          <p:cNvGraphicFramePr>
            <a:graphicFrameLocks noChangeAspect="1"/>
          </p:cNvGraphicFramePr>
          <p:nvPr>
            <p:extLst/>
          </p:nvPr>
        </p:nvGraphicFramePr>
        <p:xfrm>
          <a:off x="1082675" y="1700808"/>
          <a:ext cx="4724400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0" name="Equation" r:id="rId7" imgW="2666880" imgH="838080" progId="Equation.DSMT4">
                  <p:embed/>
                </p:oleObj>
              </mc:Choice>
              <mc:Fallback>
                <p:oleObj name="Equation" r:id="rId7" imgW="2666880" imgH="838080" progId="Equation.DSMT4">
                  <p:embed/>
                  <p:pic>
                    <p:nvPicPr>
                      <p:cNvPr id="450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675" y="1700808"/>
                        <a:ext cx="4724400" cy="150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2" name="Text Box 10"/>
          <p:cNvSpPr txBox="1">
            <a:spLocks noChangeArrowheads="1"/>
          </p:cNvSpPr>
          <p:nvPr/>
        </p:nvSpPr>
        <p:spPr bwMode="auto">
          <a:xfrm>
            <a:off x="6227763" y="2054821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Or par def</a:t>
            </a:r>
          </a:p>
        </p:txBody>
      </p:sp>
      <p:graphicFrame>
        <p:nvGraphicFramePr>
          <p:cNvPr id="45063" name="Object 11"/>
          <p:cNvGraphicFramePr>
            <a:graphicFrameLocks noChangeAspect="1"/>
          </p:cNvGraphicFramePr>
          <p:nvPr>
            <p:extLst/>
          </p:nvPr>
        </p:nvGraphicFramePr>
        <p:xfrm>
          <a:off x="7700963" y="1845271"/>
          <a:ext cx="1195387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1" name="Equation" r:id="rId9" imgW="660240" imgH="393480" progId="Equation.DSMT4">
                  <p:embed/>
                </p:oleObj>
              </mc:Choice>
              <mc:Fallback>
                <p:oleObj name="Equation" r:id="rId9" imgW="660240" imgH="393480" progId="Equation.DSMT4">
                  <p:embed/>
                  <p:pic>
                    <p:nvPicPr>
                      <p:cNvPr id="450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0963" y="1845271"/>
                        <a:ext cx="1195387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7" name="Text Box 16"/>
          <p:cNvSpPr txBox="1">
            <a:spLocks noChangeArrowheads="1"/>
          </p:cNvSpPr>
          <p:nvPr/>
        </p:nvSpPr>
        <p:spPr bwMode="auto">
          <a:xfrm>
            <a:off x="611188" y="333375"/>
            <a:ext cx="183896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Cas simplifié </a:t>
            </a:r>
            <a:r>
              <a:rPr lang="fr-FR" altLang="fr-FR" sz="1800" dirty="0" smtClean="0"/>
              <a:t>f(t)</a:t>
            </a:r>
            <a:endParaRPr lang="fr-FR" altLang="fr-FR" sz="1800" dirty="0"/>
          </a:p>
        </p:txBody>
      </p:sp>
      <p:sp>
        <p:nvSpPr>
          <p:cNvPr id="45068" name="Text Box 17"/>
          <p:cNvSpPr txBox="1">
            <a:spLocks noChangeArrowheads="1"/>
          </p:cNvSpPr>
          <p:nvPr/>
        </p:nvSpPr>
        <p:spPr bwMode="auto">
          <a:xfrm>
            <a:off x="38100" y="836613"/>
            <a:ext cx="50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45069" name="Text Box 18"/>
          <p:cNvSpPr txBox="1">
            <a:spLocks noChangeArrowheads="1"/>
          </p:cNvSpPr>
          <p:nvPr/>
        </p:nvSpPr>
        <p:spPr bwMode="auto">
          <a:xfrm>
            <a:off x="45709" y="2688234"/>
            <a:ext cx="50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 dirty="0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45070" name="Rectangle 19"/>
          <p:cNvSpPr>
            <a:spLocks noChangeArrowheads="1"/>
          </p:cNvSpPr>
          <p:nvPr/>
        </p:nvSpPr>
        <p:spPr bwMode="auto">
          <a:xfrm>
            <a:off x="3419475" y="2492971"/>
            <a:ext cx="1223963" cy="79216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18" name="Text Box 4"/>
          <p:cNvSpPr txBox="1">
            <a:spLocks noChangeArrowheads="1"/>
          </p:cNvSpPr>
          <p:nvPr/>
        </p:nvSpPr>
        <p:spPr bwMode="auto">
          <a:xfrm>
            <a:off x="492720" y="3435102"/>
            <a:ext cx="695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dirty="0"/>
              <a:t>En substituant K</a:t>
            </a:r>
            <a:r>
              <a:rPr lang="fr-FR" altLang="fr-FR" sz="2000" baseline="-25000" dirty="0"/>
              <a:t>1</a:t>
            </a:r>
            <a:r>
              <a:rPr lang="fr-FR" altLang="fr-FR" sz="2000" dirty="0"/>
              <a:t> et K</a:t>
            </a:r>
            <a:r>
              <a:rPr lang="fr-FR" altLang="fr-FR" sz="2000" baseline="-25000" dirty="0"/>
              <a:t>2</a:t>
            </a:r>
            <a:r>
              <a:rPr lang="fr-FR" altLang="fr-FR" sz="2000" dirty="0"/>
              <a:t> par leur expression dans la forme </a:t>
            </a:r>
            <a:r>
              <a:rPr lang="fr-FR" altLang="fr-FR" sz="2800" dirty="0">
                <a:sym typeface="Wingdings" panose="05000000000000000000" pitchFamily="2" charset="2"/>
              </a:rPr>
              <a:t></a:t>
            </a:r>
          </a:p>
        </p:txBody>
      </p:sp>
      <p:graphicFrame>
        <p:nvGraphicFramePr>
          <p:cNvPr id="19" name="Object 5"/>
          <p:cNvGraphicFramePr>
            <a:graphicFrameLocks noChangeAspect="1"/>
          </p:cNvGraphicFramePr>
          <p:nvPr>
            <p:extLst/>
          </p:nvPr>
        </p:nvGraphicFramePr>
        <p:xfrm>
          <a:off x="1075459" y="4057351"/>
          <a:ext cx="432752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2" name="Equation" r:id="rId11" imgW="2374560" imgH="228600" progId="Equation.DSMT4">
                  <p:embed/>
                </p:oleObj>
              </mc:Choice>
              <mc:Fallback>
                <p:oleObj name="Equation" r:id="rId11" imgW="2374560" imgH="228600" progId="Equation.DSMT4">
                  <p:embed/>
                  <p:pic>
                    <p:nvPicPr>
                      <p:cNvPr id="1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459" y="4057351"/>
                        <a:ext cx="432752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97432" y="4062164"/>
            <a:ext cx="50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</a:t>
            </a: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extLst/>
          </p:nvPr>
        </p:nvGraphicFramePr>
        <p:xfrm>
          <a:off x="2961481" y="4613338"/>
          <a:ext cx="5691187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3" name="Equation" r:id="rId13" imgW="3124080" imgH="266400" progId="Equation.DSMT4">
                  <p:embed/>
                </p:oleObj>
              </mc:Choice>
              <mc:Fallback>
                <p:oleObj name="Equation" r:id="rId13" imgW="3124080" imgH="266400" progId="Equation.DSMT4">
                  <p:embed/>
                  <p:pic>
                    <p:nvPicPr>
                      <p:cNvPr id="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1481" y="4613338"/>
                        <a:ext cx="5691187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4"/>
          <p:cNvSpPr txBox="1">
            <a:spLocks noChangeArrowheads="1"/>
          </p:cNvSpPr>
          <p:nvPr/>
        </p:nvSpPr>
        <p:spPr bwMode="auto">
          <a:xfrm>
            <a:off x="459943" y="4685223"/>
            <a:ext cx="24048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dirty="0" smtClean="0"/>
              <a:t>Un D.L. à l’ordre 2 :</a:t>
            </a:r>
            <a:endParaRPr lang="fr-FR" altLang="fr-FR" sz="2800" dirty="0">
              <a:sym typeface="Wingdings" panose="05000000000000000000" pitchFamily="2" charset="2"/>
            </a:endParaRPr>
          </a:p>
        </p:txBody>
      </p:sp>
      <p:sp>
        <p:nvSpPr>
          <p:cNvPr id="23" name="Text Box 13"/>
          <p:cNvSpPr txBox="1">
            <a:spLocks noChangeArrowheads="1"/>
          </p:cNvSpPr>
          <p:nvPr/>
        </p:nvSpPr>
        <p:spPr bwMode="auto">
          <a:xfrm>
            <a:off x="146130" y="5215397"/>
            <a:ext cx="2533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comparant avec </a:t>
            </a:r>
            <a:r>
              <a:rPr lang="fr-FR" altLang="fr-FR" sz="2800">
                <a:sym typeface="Wingdings" panose="05000000000000000000" pitchFamily="2" charset="2"/>
              </a:rPr>
              <a:t></a:t>
            </a:r>
          </a:p>
        </p:txBody>
      </p:sp>
      <p:graphicFrame>
        <p:nvGraphicFramePr>
          <p:cNvPr id="24" name="Object 15"/>
          <p:cNvGraphicFramePr>
            <a:graphicFrameLocks noChangeAspect="1"/>
          </p:cNvGraphicFramePr>
          <p:nvPr>
            <p:extLst/>
          </p:nvPr>
        </p:nvGraphicFramePr>
        <p:xfrm>
          <a:off x="2961481" y="5110225"/>
          <a:ext cx="2335212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4" name="Equation" r:id="rId15" imgW="1282680" imgH="393480" progId="Equation.DSMT4">
                  <p:embed/>
                </p:oleObj>
              </mc:Choice>
              <mc:Fallback>
                <p:oleObj name="Equation" r:id="rId15" imgW="1282680" imgH="393480" progId="Equation.DSMT4">
                  <p:embed/>
                  <p:pic>
                    <p:nvPicPr>
                      <p:cNvPr id="2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1481" y="5110225"/>
                        <a:ext cx="2335212" cy="7350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5649339" y="5253101"/>
            <a:ext cx="2877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2 équations à 3 inconnues</a:t>
            </a:r>
            <a:endParaRPr lang="fr-FR" dirty="0"/>
          </a:p>
        </p:txBody>
      </p:sp>
      <p:graphicFrame>
        <p:nvGraphicFramePr>
          <p:cNvPr id="26" name="Object 15"/>
          <p:cNvGraphicFramePr>
            <a:graphicFrameLocks noChangeAspect="1"/>
          </p:cNvGraphicFramePr>
          <p:nvPr>
            <p:extLst/>
          </p:nvPr>
        </p:nvGraphicFramePr>
        <p:xfrm>
          <a:off x="4121150" y="5983288"/>
          <a:ext cx="2868613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45" name="Equation" r:id="rId17" imgW="1574640" imgH="393480" progId="Equation.DSMT4">
                  <p:embed/>
                </p:oleObj>
              </mc:Choice>
              <mc:Fallback>
                <p:oleObj name="Equation" r:id="rId17" imgW="1574640" imgH="393480" progId="Equation.DSMT4">
                  <p:embed/>
                  <p:pic>
                    <p:nvPicPr>
                      <p:cNvPr id="2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150" y="5983288"/>
                        <a:ext cx="2868613" cy="7350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146130" y="6181072"/>
            <a:ext cx="3430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Pour minimiser le nombre d’ops </a:t>
            </a:r>
          </a:p>
        </p:txBody>
      </p:sp>
    </p:spTree>
    <p:extLst>
      <p:ext uri="{BB962C8B-B14F-4D97-AF65-F5344CB8AC3E}">
        <p14:creationId xmlns:p14="http://schemas.microsoft.com/office/powerpoint/2010/main" val="17794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057" name="Object 4"/>
          <p:cNvGraphicFramePr>
            <a:graphicFrameLocks noChangeAspect="1"/>
          </p:cNvGraphicFramePr>
          <p:nvPr/>
        </p:nvGraphicFramePr>
        <p:xfrm>
          <a:off x="704850" y="823913"/>
          <a:ext cx="27082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4" name="Equation" r:id="rId3" imgW="1485900" imgH="228600" progId="Equation.DSMT4">
                  <p:embed/>
                </p:oleObj>
              </mc:Choice>
              <mc:Fallback>
                <p:oleObj name="Equation" r:id="rId3" imgW="1485900" imgH="228600" progId="Equation.DSMT4">
                  <p:embed/>
                  <p:pic>
                    <p:nvPicPr>
                      <p:cNvPr id="45057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823913"/>
                        <a:ext cx="27082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58" name="Object 5"/>
          <p:cNvGraphicFramePr>
            <a:graphicFrameLocks noChangeAspect="1"/>
          </p:cNvGraphicFramePr>
          <p:nvPr>
            <p:extLst/>
          </p:nvPr>
        </p:nvGraphicFramePr>
        <p:xfrm>
          <a:off x="5116513" y="590550"/>
          <a:ext cx="2522537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5" name="Equation" r:id="rId5" imgW="1384200" imgH="482400" progId="Equation.DSMT4">
                  <p:embed/>
                </p:oleObj>
              </mc:Choice>
              <mc:Fallback>
                <p:oleObj name="Equation" r:id="rId5" imgW="1384200" imgH="482400" progId="Equation.DSMT4">
                  <p:embed/>
                  <p:pic>
                    <p:nvPicPr>
                      <p:cNvPr id="4505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6513" y="590550"/>
                        <a:ext cx="2522537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59" name="Text Box 6"/>
          <p:cNvSpPr txBox="1">
            <a:spLocks noChangeArrowheads="1"/>
          </p:cNvSpPr>
          <p:nvPr/>
        </p:nvSpPr>
        <p:spPr bwMode="auto">
          <a:xfrm>
            <a:off x="3779838" y="809625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avec</a:t>
            </a:r>
          </a:p>
        </p:txBody>
      </p:sp>
      <p:graphicFrame>
        <p:nvGraphicFramePr>
          <p:cNvPr id="45060" name="Object 8"/>
          <p:cNvGraphicFramePr>
            <a:graphicFrameLocks noChangeAspect="1"/>
          </p:cNvGraphicFramePr>
          <p:nvPr>
            <p:extLst/>
          </p:nvPr>
        </p:nvGraphicFramePr>
        <p:xfrm>
          <a:off x="1892300" y="4006850"/>
          <a:ext cx="5659438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6" name="Equation" r:id="rId7" imgW="3124080" imgH="419040" progId="Equation.DSMT4">
                  <p:embed/>
                </p:oleObj>
              </mc:Choice>
              <mc:Fallback>
                <p:oleObj name="Equation" r:id="rId7" imgW="3124080" imgH="419040" progId="Equation.DSMT4">
                  <p:embed/>
                  <p:pic>
                    <p:nvPicPr>
                      <p:cNvPr id="4506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4006850"/>
                        <a:ext cx="5659438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1" name="Object 9"/>
          <p:cNvGraphicFramePr>
            <a:graphicFrameLocks noChangeAspect="1"/>
          </p:cNvGraphicFramePr>
          <p:nvPr>
            <p:extLst/>
          </p:nvPr>
        </p:nvGraphicFramePr>
        <p:xfrm>
          <a:off x="1003300" y="1844675"/>
          <a:ext cx="4883150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7" name="Equation" r:id="rId9" imgW="2755800" imgH="838080" progId="Equation.DSMT4">
                  <p:embed/>
                </p:oleObj>
              </mc:Choice>
              <mc:Fallback>
                <p:oleObj name="Equation" r:id="rId9" imgW="2755800" imgH="838080" progId="Equation.DSMT4">
                  <p:embed/>
                  <p:pic>
                    <p:nvPicPr>
                      <p:cNvPr id="450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1844675"/>
                        <a:ext cx="4883150" cy="150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2" name="Text Box 10"/>
          <p:cNvSpPr txBox="1">
            <a:spLocks noChangeArrowheads="1"/>
          </p:cNvSpPr>
          <p:nvPr/>
        </p:nvSpPr>
        <p:spPr bwMode="auto">
          <a:xfrm>
            <a:off x="6227763" y="2198688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Or par def</a:t>
            </a:r>
          </a:p>
        </p:txBody>
      </p:sp>
      <p:graphicFrame>
        <p:nvGraphicFramePr>
          <p:cNvPr id="45063" name="Object 11"/>
          <p:cNvGraphicFramePr>
            <a:graphicFrameLocks noChangeAspect="1"/>
          </p:cNvGraphicFramePr>
          <p:nvPr>
            <p:extLst/>
          </p:nvPr>
        </p:nvGraphicFramePr>
        <p:xfrm>
          <a:off x="7666038" y="1989138"/>
          <a:ext cx="1265237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8" name="Equation" r:id="rId11" imgW="698400" imgH="393480" progId="Equation.DSMT4">
                  <p:embed/>
                </p:oleObj>
              </mc:Choice>
              <mc:Fallback>
                <p:oleObj name="Equation" r:id="rId11" imgW="698400" imgH="393480" progId="Equation.DSMT4">
                  <p:embed/>
                  <p:pic>
                    <p:nvPicPr>
                      <p:cNvPr id="450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6038" y="1989138"/>
                        <a:ext cx="1265237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4" name="Text Box 13"/>
          <p:cNvSpPr txBox="1">
            <a:spLocks noChangeArrowheads="1"/>
          </p:cNvSpPr>
          <p:nvPr/>
        </p:nvSpPr>
        <p:spPr bwMode="auto">
          <a:xfrm>
            <a:off x="376238" y="3644900"/>
            <a:ext cx="37199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A partir de la différentielle de </a:t>
            </a:r>
            <a:r>
              <a:rPr lang="fr-FR" altLang="fr-FR" sz="1800" dirty="0" smtClean="0"/>
              <a:t>f(y(t))</a:t>
            </a:r>
            <a:endParaRPr lang="fr-FR" altLang="fr-FR" sz="1800" dirty="0"/>
          </a:p>
        </p:txBody>
      </p:sp>
      <p:sp>
        <p:nvSpPr>
          <p:cNvPr id="45065" name="Text Box 14"/>
          <p:cNvSpPr txBox="1">
            <a:spLocks noChangeArrowheads="1"/>
          </p:cNvSpPr>
          <p:nvPr/>
        </p:nvSpPr>
        <p:spPr bwMode="auto">
          <a:xfrm>
            <a:off x="395288" y="4862513"/>
            <a:ext cx="498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 schéma peut réécrit sous la forme suivante :</a:t>
            </a:r>
          </a:p>
        </p:txBody>
      </p:sp>
      <p:graphicFrame>
        <p:nvGraphicFramePr>
          <p:cNvPr id="45066" name="Object 15"/>
          <p:cNvGraphicFramePr>
            <a:graphicFrameLocks noChangeAspect="1"/>
          </p:cNvGraphicFramePr>
          <p:nvPr>
            <p:extLst/>
          </p:nvPr>
        </p:nvGraphicFramePr>
        <p:xfrm>
          <a:off x="1571625" y="5434013"/>
          <a:ext cx="605472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59" name="Equation" r:id="rId13" imgW="3416040" imgH="457200" progId="Equation.DSMT4">
                  <p:embed/>
                </p:oleObj>
              </mc:Choice>
              <mc:Fallback>
                <p:oleObj name="Equation" r:id="rId13" imgW="3416040" imgH="457200" progId="Equation.DSMT4">
                  <p:embed/>
                  <p:pic>
                    <p:nvPicPr>
                      <p:cNvPr id="4506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1625" y="5434013"/>
                        <a:ext cx="605472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67" name="Text Box 16"/>
          <p:cNvSpPr txBox="1">
            <a:spLocks noChangeArrowheads="1"/>
          </p:cNvSpPr>
          <p:nvPr/>
        </p:nvSpPr>
        <p:spPr bwMode="auto">
          <a:xfrm>
            <a:off x="611188" y="333375"/>
            <a:ext cx="210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Cas simplifié f(y(t))</a:t>
            </a:r>
          </a:p>
        </p:txBody>
      </p:sp>
      <p:sp>
        <p:nvSpPr>
          <p:cNvPr id="45068" name="Text Box 17"/>
          <p:cNvSpPr txBox="1">
            <a:spLocks noChangeArrowheads="1"/>
          </p:cNvSpPr>
          <p:nvPr/>
        </p:nvSpPr>
        <p:spPr bwMode="auto">
          <a:xfrm>
            <a:off x="38100" y="836613"/>
            <a:ext cx="50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45069" name="Text Box 18"/>
          <p:cNvSpPr txBox="1">
            <a:spLocks noChangeArrowheads="1"/>
          </p:cNvSpPr>
          <p:nvPr/>
        </p:nvSpPr>
        <p:spPr bwMode="auto">
          <a:xfrm>
            <a:off x="38100" y="5589588"/>
            <a:ext cx="50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45070" name="Rectangle 19"/>
          <p:cNvSpPr>
            <a:spLocks noChangeArrowheads="1"/>
          </p:cNvSpPr>
          <p:nvPr/>
        </p:nvSpPr>
        <p:spPr bwMode="auto">
          <a:xfrm>
            <a:off x="3419475" y="2636838"/>
            <a:ext cx="1223963" cy="79216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5071" name="Rectangle 20"/>
          <p:cNvSpPr>
            <a:spLocks noChangeArrowheads="1"/>
          </p:cNvSpPr>
          <p:nvPr/>
        </p:nvSpPr>
        <p:spPr bwMode="auto">
          <a:xfrm>
            <a:off x="3995738" y="5445125"/>
            <a:ext cx="2736850" cy="79216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</p:spTree>
    <p:extLst>
      <p:ext uri="{BB962C8B-B14F-4D97-AF65-F5344CB8AC3E}">
        <p14:creationId xmlns:p14="http://schemas.microsoft.com/office/powerpoint/2010/main" val="3808312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ext Box 4"/>
          <p:cNvSpPr txBox="1">
            <a:spLocks noChangeArrowheads="1"/>
          </p:cNvSpPr>
          <p:nvPr/>
        </p:nvSpPr>
        <p:spPr bwMode="auto">
          <a:xfrm>
            <a:off x="395288" y="280988"/>
            <a:ext cx="695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En substituant K</a:t>
            </a:r>
            <a:r>
              <a:rPr lang="fr-FR" altLang="fr-FR" sz="2000" baseline="-25000"/>
              <a:t>1</a:t>
            </a:r>
            <a:r>
              <a:rPr lang="fr-FR" altLang="fr-FR" sz="2000"/>
              <a:t> et K</a:t>
            </a:r>
            <a:r>
              <a:rPr lang="fr-FR" altLang="fr-FR" sz="2000" baseline="-25000"/>
              <a:t>2</a:t>
            </a:r>
            <a:r>
              <a:rPr lang="fr-FR" altLang="fr-FR" sz="2000"/>
              <a:t> par leur expression dans la forme </a:t>
            </a:r>
            <a:r>
              <a:rPr lang="fr-FR" altLang="fr-FR" sz="2800">
                <a:sym typeface="Wingdings" panose="05000000000000000000" pitchFamily="2" charset="2"/>
              </a:rPr>
              <a:t></a:t>
            </a:r>
          </a:p>
        </p:txBody>
      </p:sp>
      <p:graphicFrame>
        <p:nvGraphicFramePr>
          <p:cNvPr id="4608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1783856"/>
              </p:ext>
            </p:extLst>
          </p:nvPr>
        </p:nvGraphicFramePr>
        <p:xfrm>
          <a:off x="1300163" y="981075"/>
          <a:ext cx="46751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4" name="Equation" r:id="rId3" imgW="2565360" imgH="228600" progId="Equation.DSMT4">
                  <p:embed/>
                </p:oleObj>
              </mc:Choice>
              <mc:Fallback>
                <p:oleObj name="Equation" r:id="rId3" imgW="256536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0163" y="981075"/>
                        <a:ext cx="467518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3" name="Object 7"/>
          <p:cNvGraphicFramePr>
            <a:graphicFrameLocks noChangeAspect="1"/>
          </p:cNvGraphicFramePr>
          <p:nvPr/>
        </p:nvGraphicFramePr>
        <p:xfrm>
          <a:off x="2019300" y="1912938"/>
          <a:ext cx="5184775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5" name="Equation" r:id="rId5" imgW="2844800" imgH="711200" progId="Equation.DSMT4">
                  <p:embed/>
                </p:oleObj>
              </mc:Choice>
              <mc:Fallback>
                <p:oleObj name="Equation" r:id="rId5" imgW="2844800" imgH="71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300" y="1912938"/>
                        <a:ext cx="5184775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4" name="Text Box 8"/>
          <p:cNvSpPr txBox="1">
            <a:spLocks noChangeArrowheads="1"/>
          </p:cNvSpPr>
          <p:nvPr/>
        </p:nvSpPr>
        <p:spPr bwMode="auto">
          <a:xfrm>
            <a:off x="395288" y="1622425"/>
            <a:ext cx="5568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Comme K</a:t>
            </a:r>
            <a:r>
              <a:rPr lang="fr-FR" altLang="fr-FR" sz="1800" baseline="-25000"/>
              <a:t>1</a:t>
            </a:r>
            <a:r>
              <a:rPr lang="fr-FR" altLang="fr-FR" sz="1800"/>
              <a:t> ~ h, on peut le rendre petit </a:t>
            </a:r>
            <a:r>
              <a:rPr lang="fr-FR" altLang="fr-FR" sz="1800">
                <a:sym typeface="Wingdings" panose="05000000000000000000" pitchFamily="2" charset="2"/>
              </a:rPr>
              <a:t></a:t>
            </a:r>
            <a:r>
              <a:rPr lang="fr-FR" altLang="fr-FR" sz="1800">
                <a:sym typeface="Symbol" panose="05050102010706020507" pitchFamily="18" charset="2"/>
              </a:rPr>
              <a:t> D.L. valide</a:t>
            </a:r>
            <a:r>
              <a:rPr lang="fr-FR" altLang="fr-FR" sz="1800"/>
              <a:t>  </a:t>
            </a:r>
          </a:p>
        </p:txBody>
      </p:sp>
      <p:graphicFrame>
        <p:nvGraphicFramePr>
          <p:cNvPr id="460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238551"/>
              </p:ext>
            </p:extLst>
          </p:nvPr>
        </p:nvGraphicFramePr>
        <p:xfrm>
          <a:off x="1595438" y="3389313"/>
          <a:ext cx="601980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6" name="Equation" r:id="rId7" imgW="3301920" imgH="457200" progId="Equation.DSMT4">
                  <p:embed/>
                </p:oleObj>
              </mc:Choice>
              <mc:Fallback>
                <p:oleObj name="Equation" r:id="rId7" imgW="3301920" imgH="457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3389313"/>
                        <a:ext cx="6019800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6" name="Text Box 10"/>
          <p:cNvSpPr txBox="1">
            <a:spLocks noChangeArrowheads="1"/>
          </p:cNvSpPr>
          <p:nvPr/>
        </p:nvSpPr>
        <p:spPr bwMode="auto">
          <a:xfrm>
            <a:off x="376238" y="2997200"/>
            <a:ext cx="3930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Après substitution complète dans </a:t>
            </a:r>
            <a:r>
              <a:rPr lang="fr-FR" altLang="fr-FR" sz="2800">
                <a:sym typeface="Wingdings" panose="05000000000000000000" pitchFamily="2" charset="2"/>
              </a:rPr>
              <a:t></a:t>
            </a:r>
          </a:p>
        </p:txBody>
      </p:sp>
      <p:sp>
        <p:nvSpPr>
          <p:cNvPr id="46087" name="Text Box 11"/>
          <p:cNvSpPr txBox="1">
            <a:spLocks noChangeArrowheads="1"/>
          </p:cNvSpPr>
          <p:nvPr/>
        </p:nvSpPr>
        <p:spPr bwMode="auto">
          <a:xfrm>
            <a:off x="0" y="908050"/>
            <a:ext cx="50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</a:t>
            </a:r>
          </a:p>
        </p:txBody>
      </p:sp>
      <p:graphicFrame>
        <p:nvGraphicFramePr>
          <p:cNvPr id="460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1306068"/>
              </p:ext>
            </p:extLst>
          </p:nvPr>
        </p:nvGraphicFramePr>
        <p:xfrm>
          <a:off x="1517650" y="4541838"/>
          <a:ext cx="5783263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7" name="Equation" r:id="rId9" imgW="3263760" imgH="457200" progId="Equation.DSMT4">
                  <p:embed/>
                </p:oleObj>
              </mc:Choice>
              <mc:Fallback>
                <p:oleObj name="Equation" r:id="rId9" imgW="3263760" imgH="457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650" y="4541838"/>
                        <a:ext cx="5783263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9" name="Text Box 13"/>
          <p:cNvSpPr txBox="1">
            <a:spLocks noChangeArrowheads="1"/>
          </p:cNvSpPr>
          <p:nvPr/>
        </p:nvSpPr>
        <p:spPr bwMode="auto">
          <a:xfrm>
            <a:off x="395288" y="4181475"/>
            <a:ext cx="2533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comparant avec </a:t>
            </a:r>
            <a:r>
              <a:rPr lang="fr-FR" altLang="fr-FR" sz="2800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46090" name="Text Box 14"/>
          <p:cNvSpPr txBox="1">
            <a:spLocks noChangeArrowheads="1"/>
          </p:cNvSpPr>
          <p:nvPr/>
        </p:nvSpPr>
        <p:spPr bwMode="auto">
          <a:xfrm>
            <a:off x="376238" y="5654675"/>
            <a:ext cx="3740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obtient les relations suivantes : </a:t>
            </a:r>
          </a:p>
        </p:txBody>
      </p:sp>
      <p:graphicFrame>
        <p:nvGraphicFramePr>
          <p:cNvPr id="4609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16189"/>
              </p:ext>
            </p:extLst>
          </p:nvPr>
        </p:nvGraphicFramePr>
        <p:xfrm>
          <a:off x="4381500" y="6110288"/>
          <a:ext cx="28448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8" name="Equation" r:id="rId11" imgW="1562040" imgH="393480" progId="Equation.DSMT4">
                  <p:embed/>
                </p:oleObj>
              </mc:Choice>
              <mc:Fallback>
                <p:oleObj name="Equation" r:id="rId11" imgW="1562040" imgH="3934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1500" y="6110288"/>
                        <a:ext cx="2844800" cy="7350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2" name="Text Box 14"/>
          <p:cNvSpPr txBox="1">
            <a:spLocks noChangeArrowheads="1"/>
          </p:cNvSpPr>
          <p:nvPr/>
        </p:nvSpPr>
        <p:spPr bwMode="auto">
          <a:xfrm>
            <a:off x="395288" y="6308725"/>
            <a:ext cx="3430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Pour minimiser le nombre d’ops </a:t>
            </a:r>
          </a:p>
        </p:txBody>
      </p:sp>
      <p:graphicFrame>
        <p:nvGraphicFramePr>
          <p:cNvPr id="4609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7420485"/>
              </p:ext>
            </p:extLst>
          </p:nvPr>
        </p:nvGraphicFramePr>
        <p:xfrm>
          <a:off x="4427538" y="5384800"/>
          <a:ext cx="2289175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9" name="Equation" r:id="rId13" imgW="1257120" imgH="393480" progId="Equation.DSMT4">
                  <p:embed/>
                </p:oleObj>
              </mc:Choice>
              <mc:Fallback>
                <p:oleObj name="Equation" r:id="rId13" imgW="1257120" imgH="3934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5384800"/>
                        <a:ext cx="2289175" cy="7350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105" name="Object 4"/>
          <p:cNvGraphicFramePr>
            <a:graphicFrameLocks noChangeAspect="1"/>
          </p:cNvGraphicFramePr>
          <p:nvPr/>
        </p:nvGraphicFramePr>
        <p:xfrm>
          <a:off x="704850" y="823913"/>
          <a:ext cx="27082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0" name="Equation" r:id="rId3" imgW="1485900" imgH="228600" progId="Equation.DSMT4">
                  <p:embed/>
                </p:oleObj>
              </mc:Choice>
              <mc:Fallback>
                <p:oleObj name="Equation" r:id="rId3" imgW="14859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850" y="823913"/>
                        <a:ext cx="27082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6281918"/>
              </p:ext>
            </p:extLst>
          </p:nvPr>
        </p:nvGraphicFramePr>
        <p:xfrm>
          <a:off x="4619625" y="590550"/>
          <a:ext cx="3521075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1" name="Equation" r:id="rId5" imgW="1930320" imgH="482400" progId="Equation.DSMT4">
                  <p:embed/>
                </p:oleObj>
              </mc:Choice>
              <mc:Fallback>
                <p:oleObj name="Equation" r:id="rId5" imgW="1930320" imgH="482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25" y="590550"/>
                        <a:ext cx="3521075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07" name="Text Box 6"/>
          <p:cNvSpPr txBox="1">
            <a:spLocks noChangeArrowheads="1"/>
          </p:cNvSpPr>
          <p:nvPr/>
        </p:nvSpPr>
        <p:spPr bwMode="auto">
          <a:xfrm>
            <a:off x="3779838" y="809625"/>
            <a:ext cx="666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avec</a:t>
            </a:r>
          </a:p>
        </p:txBody>
      </p:sp>
      <p:graphicFrame>
        <p:nvGraphicFramePr>
          <p:cNvPr id="471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428834"/>
              </p:ext>
            </p:extLst>
          </p:nvPr>
        </p:nvGraphicFramePr>
        <p:xfrm>
          <a:off x="788988" y="4006850"/>
          <a:ext cx="7866062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2" name="Equation" r:id="rId7" imgW="4343400" imgH="419040" progId="Equation.DSMT4">
                  <p:embed/>
                </p:oleObj>
              </mc:Choice>
              <mc:Fallback>
                <p:oleObj name="Equation" r:id="rId7" imgW="4343400" imgH="419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988" y="4006850"/>
                        <a:ext cx="7866062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566818"/>
              </p:ext>
            </p:extLst>
          </p:nvPr>
        </p:nvGraphicFramePr>
        <p:xfrm>
          <a:off x="733425" y="1844675"/>
          <a:ext cx="5422900" cy="1506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3" name="Equation" r:id="rId9" imgW="3060360" imgH="838080" progId="Equation.DSMT4">
                  <p:embed/>
                </p:oleObj>
              </mc:Choice>
              <mc:Fallback>
                <p:oleObj name="Equation" r:id="rId9" imgW="3060360" imgH="8380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1844675"/>
                        <a:ext cx="5422900" cy="1506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0" name="Text Box 10"/>
          <p:cNvSpPr txBox="1">
            <a:spLocks noChangeArrowheads="1"/>
          </p:cNvSpPr>
          <p:nvPr/>
        </p:nvSpPr>
        <p:spPr bwMode="auto">
          <a:xfrm>
            <a:off x="6227763" y="2198688"/>
            <a:ext cx="1212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Or par def</a:t>
            </a:r>
          </a:p>
        </p:txBody>
      </p:sp>
      <p:graphicFrame>
        <p:nvGraphicFramePr>
          <p:cNvPr id="471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0121027"/>
              </p:ext>
            </p:extLst>
          </p:nvPr>
        </p:nvGraphicFramePr>
        <p:xfrm>
          <a:off x="7564438" y="1989138"/>
          <a:ext cx="1471612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4" name="Equation" r:id="rId11" imgW="812520" imgH="393480" progId="Equation.DSMT4">
                  <p:embed/>
                </p:oleObj>
              </mc:Choice>
              <mc:Fallback>
                <p:oleObj name="Equation" r:id="rId11" imgW="812520" imgH="3934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4438" y="1989138"/>
                        <a:ext cx="1471612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2" name="Text Box 13"/>
          <p:cNvSpPr txBox="1">
            <a:spLocks noChangeArrowheads="1"/>
          </p:cNvSpPr>
          <p:nvPr/>
        </p:nvSpPr>
        <p:spPr bwMode="auto">
          <a:xfrm>
            <a:off x="376238" y="3644900"/>
            <a:ext cx="361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 partir de la différentielle de f(y,t)</a:t>
            </a:r>
          </a:p>
        </p:txBody>
      </p:sp>
      <p:sp>
        <p:nvSpPr>
          <p:cNvPr id="47113" name="Text Box 14"/>
          <p:cNvSpPr txBox="1">
            <a:spLocks noChangeArrowheads="1"/>
          </p:cNvSpPr>
          <p:nvPr/>
        </p:nvSpPr>
        <p:spPr bwMode="auto">
          <a:xfrm>
            <a:off x="395288" y="4862513"/>
            <a:ext cx="498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 schéma peut réécrit sous la forme suivante :</a:t>
            </a:r>
          </a:p>
        </p:txBody>
      </p:sp>
      <p:graphicFrame>
        <p:nvGraphicFramePr>
          <p:cNvPr id="4711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525883"/>
              </p:ext>
            </p:extLst>
          </p:nvPr>
        </p:nvGraphicFramePr>
        <p:xfrm>
          <a:off x="592138" y="5434013"/>
          <a:ext cx="8012112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15" name="Equation" r:id="rId13" imgW="4520880" imgH="457200" progId="Equation.DSMT4">
                  <p:embed/>
                </p:oleObj>
              </mc:Choice>
              <mc:Fallback>
                <p:oleObj name="Equation" r:id="rId13" imgW="4520880" imgH="457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5434013"/>
                        <a:ext cx="8012112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5" name="Text Box 16"/>
          <p:cNvSpPr txBox="1">
            <a:spLocks noChangeArrowheads="1"/>
          </p:cNvSpPr>
          <p:nvPr/>
        </p:nvSpPr>
        <p:spPr bwMode="auto">
          <a:xfrm>
            <a:off x="611188" y="3333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7116" name="Text Box 17"/>
          <p:cNvSpPr txBox="1">
            <a:spLocks noChangeArrowheads="1"/>
          </p:cNvSpPr>
          <p:nvPr/>
        </p:nvSpPr>
        <p:spPr bwMode="auto">
          <a:xfrm>
            <a:off x="38100" y="836613"/>
            <a:ext cx="50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47117" name="Text Box 18"/>
          <p:cNvSpPr txBox="1">
            <a:spLocks noChangeArrowheads="1"/>
          </p:cNvSpPr>
          <p:nvPr/>
        </p:nvSpPr>
        <p:spPr bwMode="auto">
          <a:xfrm>
            <a:off x="38100" y="5589588"/>
            <a:ext cx="501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47118" name="Rectangle 19"/>
          <p:cNvSpPr>
            <a:spLocks noChangeArrowheads="1"/>
          </p:cNvSpPr>
          <p:nvPr/>
        </p:nvSpPr>
        <p:spPr bwMode="auto">
          <a:xfrm>
            <a:off x="3851275" y="2636838"/>
            <a:ext cx="1152525" cy="792162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47119" name="Rectangle 20"/>
          <p:cNvSpPr>
            <a:spLocks noChangeArrowheads="1"/>
          </p:cNvSpPr>
          <p:nvPr/>
        </p:nvSpPr>
        <p:spPr bwMode="auto">
          <a:xfrm>
            <a:off x="3708400" y="5445125"/>
            <a:ext cx="3959225" cy="79216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ext Box 4"/>
          <p:cNvSpPr txBox="1">
            <a:spLocks noChangeArrowheads="1"/>
          </p:cNvSpPr>
          <p:nvPr/>
        </p:nvSpPr>
        <p:spPr bwMode="auto">
          <a:xfrm>
            <a:off x="395288" y="280988"/>
            <a:ext cx="695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En substituant K</a:t>
            </a:r>
            <a:r>
              <a:rPr lang="fr-FR" altLang="fr-FR" sz="2000" baseline="-25000"/>
              <a:t>1</a:t>
            </a:r>
            <a:r>
              <a:rPr lang="fr-FR" altLang="fr-FR" sz="2000"/>
              <a:t> et K</a:t>
            </a:r>
            <a:r>
              <a:rPr lang="fr-FR" altLang="fr-FR" sz="2000" baseline="-25000"/>
              <a:t>2</a:t>
            </a:r>
            <a:r>
              <a:rPr lang="fr-FR" altLang="fr-FR" sz="2000"/>
              <a:t> par leur expression dans la forme </a:t>
            </a:r>
            <a:r>
              <a:rPr lang="fr-FR" altLang="fr-FR" sz="2800">
                <a:sym typeface="Wingdings" panose="05000000000000000000" pitchFamily="2" charset="2"/>
              </a:rPr>
              <a:t></a:t>
            </a:r>
          </a:p>
        </p:txBody>
      </p:sp>
      <p:graphicFrame>
        <p:nvGraphicFramePr>
          <p:cNvPr id="4813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628500"/>
              </p:ext>
            </p:extLst>
          </p:nvPr>
        </p:nvGraphicFramePr>
        <p:xfrm>
          <a:off x="687388" y="981075"/>
          <a:ext cx="590073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5" name="Equation" r:id="rId3" imgW="3238200" imgH="228600" progId="Equation.DSMT4">
                  <p:embed/>
                </p:oleObj>
              </mc:Choice>
              <mc:Fallback>
                <p:oleObj name="Equation" r:id="rId3" imgW="32382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388" y="981075"/>
                        <a:ext cx="590073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31" name="Object 7"/>
          <p:cNvGraphicFramePr>
            <a:graphicFrameLocks noChangeAspect="1"/>
          </p:cNvGraphicFramePr>
          <p:nvPr/>
        </p:nvGraphicFramePr>
        <p:xfrm>
          <a:off x="365125" y="1912938"/>
          <a:ext cx="8494713" cy="1323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6" name="Equation" r:id="rId5" imgW="4660900" imgH="711200" progId="Equation.DSMT4">
                  <p:embed/>
                </p:oleObj>
              </mc:Choice>
              <mc:Fallback>
                <p:oleObj name="Equation" r:id="rId5" imgW="4660900" imgH="711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" y="1912938"/>
                        <a:ext cx="8494713" cy="1323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2" name="Text Box 8"/>
          <p:cNvSpPr txBox="1">
            <a:spLocks noChangeArrowheads="1"/>
          </p:cNvSpPr>
          <p:nvPr/>
        </p:nvSpPr>
        <p:spPr bwMode="auto">
          <a:xfrm>
            <a:off x="395288" y="1622425"/>
            <a:ext cx="5568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Comme K</a:t>
            </a:r>
            <a:r>
              <a:rPr lang="fr-FR" altLang="fr-FR" sz="1800" baseline="-25000"/>
              <a:t>1</a:t>
            </a:r>
            <a:r>
              <a:rPr lang="fr-FR" altLang="fr-FR" sz="1800"/>
              <a:t> ~ h, on peut le rendre petit </a:t>
            </a:r>
            <a:r>
              <a:rPr lang="fr-FR" altLang="fr-FR" sz="1800">
                <a:sym typeface="Wingdings" panose="05000000000000000000" pitchFamily="2" charset="2"/>
              </a:rPr>
              <a:t></a:t>
            </a:r>
            <a:r>
              <a:rPr lang="fr-FR" altLang="fr-FR" sz="1800">
                <a:sym typeface="Symbol" panose="05050102010706020507" pitchFamily="18" charset="2"/>
              </a:rPr>
              <a:t> D.L. valide</a:t>
            </a:r>
            <a:r>
              <a:rPr lang="fr-FR" altLang="fr-FR" sz="1800"/>
              <a:t>  </a:t>
            </a:r>
          </a:p>
        </p:txBody>
      </p:sp>
      <p:graphicFrame>
        <p:nvGraphicFramePr>
          <p:cNvPr id="4813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1557950"/>
              </p:ext>
            </p:extLst>
          </p:nvPr>
        </p:nvGraphicFramePr>
        <p:xfrm>
          <a:off x="254000" y="3644900"/>
          <a:ext cx="8704263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7" name="Equation" r:id="rId7" imgW="4775040" imgH="457200" progId="Equation.DSMT4">
                  <p:embed/>
                </p:oleObj>
              </mc:Choice>
              <mc:Fallback>
                <p:oleObj name="Equation" r:id="rId7" imgW="4775040" imgH="457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000" y="3644900"/>
                        <a:ext cx="8704263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4" name="Text Box 10"/>
          <p:cNvSpPr txBox="1">
            <a:spLocks noChangeArrowheads="1"/>
          </p:cNvSpPr>
          <p:nvPr/>
        </p:nvSpPr>
        <p:spPr bwMode="auto">
          <a:xfrm>
            <a:off x="376238" y="3252788"/>
            <a:ext cx="3930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Après substitution complète dans </a:t>
            </a:r>
            <a:r>
              <a:rPr lang="fr-FR" altLang="fr-FR" sz="2800">
                <a:sym typeface="Wingdings" panose="05000000000000000000" pitchFamily="2" charset="2"/>
              </a:rPr>
              <a:t></a:t>
            </a:r>
          </a:p>
        </p:txBody>
      </p:sp>
      <p:sp>
        <p:nvSpPr>
          <p:cNvPr id="48135" name="Text Box 11"/>
          <p:cNvSpPr txBox="1">
            <a:spLocks noChangeArrowheads="1"/>
          </p:cNvSpPr>
          <p:nvPr/>
        </p:nvSpPr>
        <p:spPr bwMode="auto">
          <a:xfrm>
            <a:off x="0" y="908050"/>
            <a:ext cx="50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</a:t>
            </a:r>
          </a:p>
        </p:txBody>
      </p:sp>
      <p:graphicFrame>
        <p:nvGraphicFramePr>
          <p:cNvPr id="481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163263"/>
              </p:ext>
            </p:extLst>
          </p:nvPr>
        </p:nvGraphicFramePr>
        <p:xfrm>
          <a:off x="404813" y="4797425"/>
          <a:ext cx="8010525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8" name="Equation" r:id="rId9" imgW="4520880" imgH="457200" progId="Equation.DSMT4">
                  <p:embed/>
                </p:oleObj>
              </mc:Choice>
              <mc:Fallback>
                <p:oleObj name="Equation" r:id="rId9" imgW="4520880" imgH="457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813" y="4797425"/>
                        <a:ext cx="8010525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7" name="Text Box 13"/>
          <p:cNvSpPr txBox="1">
            <a:spLocks noChangeArrowheads="1"/>
          </p:cNvSpPr>
          <p:nvPr/>
        </p:nvSpPr>
        <p:spPr bwMode="auto">
          <a:xfrm>
            <a:off x="395288" y="4437063"/>
            <a:ext cx="2533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En comparant avec </a:t>
            </a:r>
            <a:r>
              <a:rPr lang="fr-FR" altLang="fr-FR" sz="2800">
                <a:sym typeface="Wingdings" panose="05000000000000000000" pitchFamily="2" charset="2"/>
              </a:rPr>
              <a:t></a:t>
            </a:r>
          </a:p>
        </p:txBody>
      </p:sp>
      <p:sp>
        <p:nvSpPr>
          <p:cNvPr id="48138" name="Text Box 14"/>
          <p:cNvSpPr txBox="1">
            <a:spLocks noChangeArrowheads="1"/>
          </p:cNvSpPr>
          <p:nvPr/>
        </p:nvSpPr>
        <p:spPr bwMode="auto">
          <a:xfrm>
            <a:off x="376238" y="5824538"/>
            <a:ext cx="3740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On obtient les relations suivantes : </a:t>
            </a:r>
          </a:p>
        </p:txBody>
      </p:sp>
      <p:graphicFrame>
        <p:nvGraphicFramePr>
          <p:cNvPr id="48139" name="Object 15"/>
          <p:cNvGraphicFramePr>
            <a:graphicFrameLocks noChangeAspect="1"/>
          </p:cNvGraphicFramePr>
          <p:nvPr/>
        </p:nvGraphicFramePr>
        <p:xfrm>
          <a:off x="4500563" y="5661025"/>
          <a:ext cx="36322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9" name="Equation" r:id="rId11" imgW="1993900" imgH="393700" progId="Equation.DSMT4">
                  <p:embed/>
                </p:oleObj>
              </mc:Choice>
              <mc:Fallback>
                <p:oleObj name="Equation" r:id="rId11" imgW="1993900" imgH="3937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5661025"/>
                        <a:ext cx="3632200" cy="7350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3" name="Object 4"/>
          <p:cNvGraphicFramePr>
            <a:graphicFrameLocks noChangeAspect="1"/>
          </p:cNvGraphicFramePr>
          <p:nvPr/>
        </p:nvGraphicFramePr>
        <p:xfrm>
          <a:off x="539750" y="671513"/>
          <a:ext cx="3632200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7" name="Equation" r:id="rId3" imgW="1993900" imgH="393700" progId="Equation.DSMT4">
                  <p:embed/>
                </p:oleObj>
              </mc:Choice>
              <mc:Fallback>
                <p:oleObj name="Equation" r:id="rId3" imgW="1993900" imgH="3937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671513"/>
                        <a:ext cx="3632200" cy="735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4" name="Text Box 5"/>
          <p:cNvSpPr txBox="1">
            <a:spLocks noChangeArrowheads="1"/>
          </p:cNvSpPr>
          <p:nvPr/>
        </p:nvSpPr>
        <p:spPr bwMode="auto">
          <a:xfrm>
            <a:off x="395288" y="1477963"/>
            <a:ext cx="66008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On a 3 équations avec 4 inconnues : sous-détermination </a:t>
            </a:r>
          </a:p>
          <a:p>
            <a:pPr eaLnBrk="1" hangingPunct="1"/>
            <a:r>
              <a:rPr lang="fr-FR" altLang="fr-FR" sz="2000">
                <a:sym typeface="Wingdings" panose="05000000000000000000" pitchFamily="2" charset="2"/>
              </a:rPr>
              <a:t></a:t>
            </a:r>
            <a:r>
              <a:rPr lang="fr-FR" altLang="fr-FR" sz="2000">
                <a:sym typeface="Symbol" panose="05050102010706020507" pitchFamily="18" charset="2"/>
              </a:rPr>
              <a:t> infinité de solutions</a:t>
            </a:r>
          </a:p>
        </p:txBody>
      </p:sp>
      <p:graphicFrame>
        <p:nvGraphicFramePr>
          <p:cNvPr id="4915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4331082"/>
              </p:ext>
            </p:extLst>
          </p:nvPr>
        </p:nvGraphicFramePr>
        <p:xfrm>
          <a:off x="579438" y="188913"/>
          <a:ext cx="68738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8" name="Equation" r:id="rId5" imgW="3771720" imgH="228600" progId="Equation.DSMT4">
                  <p:embed/>
                </p:oleObj>
              </mc:Choice>
              <mc:Fallback>
                <p:oleObj name="Equation" r:id="rId5" imgW="377172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438" y="188913"/>
                        <a:ext cx="68738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6" name="Text Box 7"/>
          <p:cNvSpPr txBox="1">
            <a:spLocks noChangeArrowheads="1"/>
          </p:cNvSpPr>
          <p:nvPr/>
        </p:nvSpPr>
        <p:spPr bwMode="auto">
          <a:xfrm>
            <a:off x="447675" y="2436813"/>
            <a:ext cx="68849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Pour minimiser le nombre d</a:t>
            </a:r>
            <a:r>
              <a:rPr lang="ja-JP" altLang="fr-FR" sz="2000"/>
              <a:t>’</a:t>
            </a:r>
            <a:r>
              <a:rPr lang="fr-FR" altLang="ja-JP" sz="2000"/>
              <a:t>opérations de calcul, on prend :</a:t>
            </a:r>
            <a:endParaRPr lang="fr-FR" altLang="fr-FR" sz="2000"/>
          </a:p>
        </p:txBody>
      </p:sp>
      <p:graphicFrame>
        <p:nvGraphicFramePr>
          <p:cNvPr id="49157" name="Object 8"/>
          <p:cNvGraphicFramePr>
            <a:graphicFrameLocks noChangeAspect="1"/>
          </p:cNvGraphicFramePr>
          <p:nvPr/>
        </p:nvGraphicFramePr>
        <p:xfrm>
          <a:off x="1806575" y="2860675"/>
          <a:ext cx="434975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39" name="Equation" r:id="rId7" imgW="2387600" imgH="393700" progId="Equation.DSMT4">
                  <p:embed/>
                </p:oleObj>
              </mc:Choice>
              <mc:Fallback>
                <p:oleObj name="Equation" r:id="rId7" imgW="2387600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2860675"/>
                        <a:ext cx="434975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987715"/>
              </p:ext>
            </p:extLst>
          </p:nvPr>
        </p:nvGraphicFramePr>
        <p:xfrm>
          <a:off x="625475" y="4303713"/>
          <a:ext cx="4953000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0" name="Equation" r:id="rId9" imgW="2717640" imgH="393480" progId="Equation.DSMT4">
                  <p:embed/>
                </p:oleObj>
              </mc:Choice>
              <mc:Fallback>
                <p:oleObj name="Equation" r:id="rId9" imgW="2717640" imgH="39348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475" y="4303713"/>
                        <a:ext cx="4953000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Text Box 10"/>
          <p:cNvSpPr txBox="1">
            <a:spLocks noChangeArrowheads="1"/>
          </p:cNvSpPr>
          <p:nvPr/>
        </p:nvSpPr>
        <p:spPr bwMode="auto">
          <a:xfrm>
            <a:off x="466725" y="3786188"/>
            <a:ext cx="799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Le schéma d</a:t>
            </a:r>
            <a:r>
              <a:rPr lang="ja-JP" altLang="fr-FR" sz="2000"/>
              <a:t>’</a:t>
            </a:r>
            <a:r>
              <a:rPr lang="fr-FR" altLang="ja-JP" sz="2000"/>
              <a:t>intégration de la méthode Runge-Kutta d</a:t>
            </a:r>
            <a:r>
              <a:rPr lang="ja-JP" altLang="fr-FR" sz="2000"/>
              <a:t>’</a:t>
            </a:r>
            <a:r>
              <a:rPr lang="fr-FR" altLang="ja-JP" sz="2000"/>
              <a:t>ordre 2 s</a:t>
            </a:r>
            <a:r>
              <a:rPr lang="ja-JP" altLang="fr-FR" sz="2000"/>
              <a:t>’</a:t>
            </a:r>
            <a:r>
              <a:rPr lang="fr-FR" altLang="ja-JP" sz="2000"/>
              <a:t>écrit :</a:t>
            </a:r>
            <a:endParaRPr lang="fr-FR" altLang="fr-FR" sz="2000"/>
          </a:p>
        </p:txBody>
      </p:sp>
      <p:sp>
        <p:nvSpPr>
          <p:cNvPr id="49160" name="Text Box 11"/>
          <p:cNvSpPr txBox="1">
            <a:spLocks noChangeArrowheads="1"/>
          </p:cNvSpPr>
          <p:nvPr/>
        </p:nvSpPr>
        <p:spPr bwMode="auto">
          <a:xfrm>
            <a:off x="512763" y="5575300"/>
            <a:ext cx="1250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Ou encore</a:t>
            </a:r>
          </a:p>
        </p:txBody>
      </p:sp>
      <p:graphicFrame>
        <p:nvGraphicFramePr>
          <p:cNvPr id="4916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5049691"/>
              </p:ext>
            </p:extLst>
          </p:nvPr>
        </p:nvGraphicFramePr>
        <p:xfrm>
          <a:off x="2246313" y="5073650"/>
          <a:ext cx="3724275" cy="1604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41" name="Equation" r:id="rId11" imgW="2044440" imgH="863280" progId="Equation.DSMT4">
                  <p:embed/>
                </p:oleObj>
              </mc:Choice>
              <mc:Fallback>
                <p:oleObj name="Equation" r:id="rId11" imgW="2044440" imgH="8632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6313" y="5073650"/>
                        <a:ext cx="3724275" cy="1604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77" name="Object 5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7488238" y="5921375"/>
          <a:ext cx="544512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5" name="Equation" r:id="rId3" imgW="228600" imgH="228600" progId="Equation.DSMT4">
                  <p:embed/>
                </p:oleObj>
              </mc:Choice>
              <mc:Fallback>
                <p:oleObj name="Equation" r:id="rId3" imgW="2286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8238" y="5921375"/>
                        <a:ext cx="544512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78" name="Object 7"/>
          <p:cNvGraphicFramePr>
            <a:graphicFrameLocks noChangeAspect="1"/>
          </p:cNvGraphicFramePr>
          <p:nvPr/>
        </p:nvGraphicFramePr>
        <p:xfrm>
          <a:off x="8321675" y="5518150"/>
          <a:ext cx="20955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6" name="Equation" r:id="rId5" imgW="88746" imgH="152136" progId="Equation.DSMT4">
                  <p:embed/>
                </p:oleObj>
              </mc:Choice>
              <mc:Fallback>
                <p:oleObj name="Equation" r:id="rId5" imgW="88746" imgH="15213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1675" y="5518150"/>
                        <a:ext cx="209550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79" name="Line 8"/>
          <p:cNvSpPr>
            <a:spLocks noChangeShapeType="1"/>
          </p:cNvSpPr>
          <p:nvPr/>
        </p:nvSpPr>
        <p:spPr bwMode="auto">
          <a:xfrm>
            <a:off x="1474788" y="5921375"/>
            <a:ext cx="70564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0" name="Line 9"/>
          <p:cNvSpPr>
            <a:spLocks noChangeShapeType="1"/>
          </p:cNvSpPr>
          <p:nvPr/>
        </p:nvSpPr>
        <p:spPr bwMode="auto">
          <a:xfrm flipV="1">
            <a:off x="1619250" y="1095375"/>
            <a:ext cx="0" cy="5257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1" name="Freeform 10"/>
          <p:cNvSpPr>
            <a:spLocks/>
          </p:cNvSpPr>
          <p:nvPr/>
        </p:nvSpPr>
        <p:spPr bwMode="auto">
          <a:xfrm>
            <a:off x="1930400" y="3508375"/>
            <a:ext cx="5827713" cy="1390650"/>
          </a:xfrm>
          <a:custGeom>
            <a:avLst/>
            <a:gdLst>
              <a:gd name="T0" fmla="*/ 0 w 3671"/>
              <a:gd name="T1" fmla="*/ 2147483647 h 1071"/>
              <a:gd name="T2" fmla="*/ 2147483647 w 3671"/>
              <a:gd name="T3" fmla="*/ 2147483647 h 1071"/>
              <a:gd name="T4" fmla="*/ 2147483647 w 3671"/>
              <a:gd name="T5" fmla="*/ 2147483647 h 1071"/>
              <a:gd name="T6" fmla="*/ 2147483647 w 3671"/>
              <a:gd name="T7" fmla="*/ 2147483647 h 1071"/>
              <a:gd name="T8" fmla="*/ 2147483647 w 3671"/>
              <a:gd name="T9" fmla="*/ 2147483647 h 1071"/>
              <a:gd name="T10" fmla="*/ 2147483647 w 3671"/>
              <a:gd name="T11" fmla="*/ 2147483647 h 1071"/>
              <a:gd name="T12" fmla="*/ 2147483647 w 3671"/>
              <a:gd name="T13" fmla="*/ 2147483647 h 107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71" h="1071">
                <a:moveTo>
                  <a:pt x="0" y="1071"/>
                </a:moveTo>
                <a:cubicBezTo>
                  <a:pt x="112" y="982"/>
                  <a:pt x="465" y="672"/>
                  <a:pt x="673" y="534"/>
                </a:cubicBezTo>
                <a:cubicBezTo>
                  <a:pt x="881" y="396"/>
                  <a:pt x="1068" y="317"/>
                  <a:pt x="1249" y="241"/>
                </a:cubicBezTo>
                <a:cubicBezTo>
                  <a:pt x="1430" y="165"/>
                  <a:pt x="1549" y="111"/>
                  <a:pt x="1757" y="75"/>
                </a:cubicBezTo>
                <a:cubicBezTo>
                  <a:pt x="1965" y="39"/>
                  <a:pt x="2245" y="0"/>
                  <a:pt x="2499" y="26"/>
                </a:cubicBezTo>
                <a:cubicBezTo>
                  <a:pt x="2753" y="52"/>
                  <a:pt x="3085" y="166"/>
                  <a:pt x="3280" y="231"/>
                </a:cubicBezTo>
                <a:cubicBezTo>
                  <a:pt x="3475" y="296"/>
                  <a:pt x="3590" y="378"/>
                  <a:pt x="3671" y="417"/>
                </a:cubicBezTo>
              </a:path>
            </a:pathLst>
          </a:cu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2" name="Line 12"/>
          <p:cNvSpPr>
            <a:spLocks noChangeShapeType="1"/>
          </p:cNvSpPr>
          <p:nvPr/>
        </p:nvSpPr>
        <p:spPr bwMode="auto">
          <a:xfrm>
            <a:off x="1906588" y="3213100"/>
            <a:ext cx="0" cy="27082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3" name="Line 13"/>
          <p:cNvSpPr>
            <a:spLocks noChangeShapeType="1"/>
          </p:cNvSpPr>
          <p:nvPr/>
        </p:nvSpPr>
        <p:spPr bwMode="auto">
          <a:xfrm>
            <a:off x="7739063" y="1276350"/>
            <a:ext cx="0" cy="4716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50184" name="Object 14"/>
          <p:cNvGraphicFramePr>
            <a:graphicFrameLocks noChangeAspect="1"/>
          </p:cNvGraphicFramePr>
          <p:nvPr/>
        </p:nvGraphicFramePr>
        <p:xfrm>
          <a:off x="1809750" y="5832475"/>
          <a:ext cx="3492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7" name="Equation" r:id="rId7" imgW="139700" imgH="228600" progId="Equation.DSMT4">
                  <p:embed/>
                </p:oleObj>
              </mc:Choice>
              <mc:Fallback>
                <p:oleObj name="Equation" r:id="rId7" imgW="1397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5832475"/>
                        <a:ext cx="3492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5" name="Object 15"/>
          <p:cNvGraphicFramePr>
            <a:graphicFrameLocks noChangeAspect="1"/>
          </p:cNvGraphicFramePr>
          <p:nvPr/>
        </p:nvGraphicFramePr>
        <p:xfrm>
          <a:off x="4357688" y="5884863"/>
          <a:ext cx="67786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8" name="Equation" r:id="rId9" imgW="393529" imgH="393529" progId="Equation.DSMT4">
                  <p:embed/>
                </p:oleObj>
              </mc:Choice>
              <mc:Fallback>
                <p:oleObj name="Equation" r:id="rId9" imgW="393529" imgH="393529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5884863"/>
                        <a:ext cx="677862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6" name="Line 16"/>
          <p:cNvSpPr>
            <a:spLocks noChangeShapeType="1"/>
          </p:cNvSpPr>
          <p:nvPr/>
        </p:nvSpPr>
        <p:spPr bwMode="auto">
          <a:xfrm flipV="1">
            <a:off x="4714875" y="3040063"/>
            <a:ext cx="0" cy="29527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87" name="Line 17"/>
          <p:cNvSpPr>
            <a:spLocks noChangeShapeType="1"/>
          </p:cNvSpPr>
          <p:nvPr/>
        </p:nvSpPr>
        <p:spPr bwMode="auto">
          <a:xfrm flipV="1">
            <a:off x="1906588" y="3184525"/>
            <a:ext cx="2808287" cy="1692275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50188" name="Object 18"/>
          <p:cNvGraphicFramePr>
            <a:graphicFrameLocks noChangeAspect="1"/>
          </p:cNvGraphicFramePr>
          <p:nvPr/>
        </p:nvGraphicFramePr>
        <p:xfrm>
          <a:off x="971550" y="2924175"/>
          <a:ext cx="550863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39" name="Equation" r:id="rId11" imgW="279400" imgH="228600" progId="Equation.DSMT4">
                  <p:embed/>
                </p:oleObj>
              </mc:Choice>
              <mc:Fallback>
                <p:oleObj name="Equation" r:id="rId11" imgW="2794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2924175"/>
                        <a:ext cx="550863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89" name="Object 19"/>
          <p:cNvGraphicFramePr>
            <a:graphicFrameLocks noChangeAspect="1"/>
          </p:cNvGraphicFramePr>
          <p:nvPr/>
        </p:nvGraphicFramePr>
        <p:xfrm>
          <a:off x="1079500" y="4454525"/>
          <a:ext cx="334963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0" name="Equation" r:id="rId13" imgW="177646" imgH="228402" progId="Equation.DSMT4">
                  <p:embed/>
                </p:oleObj>
              </mc:Choice>
              <mc:Fallback>
                <p:oleObj name="Equation" r:id="rId13" imgW="177646" imgH="228402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9500" y="4454525"/>
                        <a:ext cx="334963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0" name="Line 21"/>
          <p:cNvSpPr>
            <a:spLocks noChangeShapeType="1"/>
          </p:cNvSpPr>
          <p:nvPr/>
        </p:nvSpPr>
        <p:spPr bwMode="auto">
          <a:xfrm flipV="1">
            <a:off x="1906588" y="4048125"/>
            <a:ext cx="5832475" cy="866775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1" name="Line 22"/>
          <p:cNvSpPr>
            <a:spLocks noChangeShapeType="1"/>
          </p:cNvSpPr>
          <p:nvPr/>
        </p:nvSpPr>
        <p:spPr bwMode="auto">
          <a:xfrm flipV="1">
            <a:off x="4714875" y="1384300"/>
            <a:ext cx="3024188" cy="1800225"/>
          </a:xfrm>
          <a:prstGeom prst="line">
            <a:avLst/>
          </a:prstGeom>
          <a:noFill/>
          <a:ln w="50800">
            <a:solidFill>
              <a:srgbClr val="00FF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2" name="Line 23"/>
          <p:cNvSpPr>
            <a:spLocks noChangeShapeType="1"/>
          </p:cNvSpPr>
          <p:nvPr/>
        </p:nvSpPr>
        <p:spPr bwMode="auto">
          <a:xfrm flipH="1">
            <a:off x="1619250" y="4048125"/>
            <a:ext cx="61198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50193" name="Object 24"/>
          <p:cNvGraphicFramePr>
            <a:graphicFrameLocks noChangeAspect="1"/>
          </p:cNvGraphicFramePr>
          <p:nvPr/>
        </p:nvGraphicFramePr>
        <p:xfrm>
          <a:off x="892175" y="3668713"/>
          <a:ext cx="5334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1" name="Equation" r:id="rId15" imgW="266584" imgH="228501" progId="Equation.DSMT4">
                  <p:embed/>
                </p:oleObj>
              </mc:Choice>
              <mc:Fallback>
                <p:oleObj name="Equation" r:id="rId15" imgW="266584" imgH="228501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3668713"/>
                        <a:ext cx="53340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4" name="Line 25"/>
          <p:cNvSpPr>
            <a:spLocks noChangeShapeType="1"/>
          </p:cNvSpPr>
          <p:nvPr/>
        </p:nvSpPr>
        <p:spPr bwMode="auto">
          <a:xfrm flipH="1">
            <a:off x="1582738" y="1384300"/>
            <a:ext cx="63007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5" name="Line 26"/>
          <p:cNvSpPr>
            <a:spLocks noChangeShapeType="1"/>
          </p:cNvSpPr>
          <p:nvPr/>
        </p:nvSpPr>
        <p:spPr bwMode="auto">
          <a:xfrm flipH="1">
            <a:off x="1582738" y="3221038"/>
            <a:ext cx="33131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6" name="Line 27"/>
          <p:cNvSpPr>
            <a:spLocks noChangeShapeType="1"/>
          </p:cNvSpPr>
          <p:nvPr/>
        </p:nvSpPr>
        <p:spPr bwMode="auto">
          <a:xfrm flipV="1">
            <a:off x="1908175" y="2740025"/>
            <a:ext cx="5962650" cy="885825"/>
          </a:xfrm>
          <a:prstGeom prst="line">
            <a:avLst/>
          </a:prstGeom>
          <a:noFill/>
          <a:ln w="50800">
            <a:solidFill>
              <a:srgbClr val="FF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0197" name="Text Box 28"/>
          <p:cNvSpPr txBox="1">
            <a:spLocks noChangeArrowheads="1"/>
          </p:cNvSpPr>
          <p:nvPr/>
        </p:nvSpPr>
        <p:spPr bwMode="auto">
          <a:xfrm>
            <a:off x="447675" y="327025"/>
            <a:ext cx="7886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Représentation graphique de la méthode Runge-Kutta ordre 2 (RK2)</a:t>
            </a:r>
          </a:p>
        </p:txBody>
      </p:sp>
      <p:graphicFrame>
        <p:nvGraphicFramePr>
          <p:cNvPr id="50198" name="Object 29"/>
          <p:cNvGraphicFramePr>
            <a:graphicFrameLocks noChangeAspect="1"/>
          </p:cNvGraphicFramePr>
          <p:nvPr/>
        </p:nvGraphicFramePr>
        <p:xfrm>
          <a:off x="5065713" y="1676400"/>
          <a:ext cx="13176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2" name="Equation" r:id="rId17" imgW="723900" imgH="279400" progId="Equation.DSMT4">
                  <p:embed/>
                </p:oleObj>
              </mc:Choice>
              <mc:Fallback>
                <p:oleObj name="Equation" r:id="rId17" imgW="723900" imgH="2794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5713" y="1676400"/>
                        <a:ext cx="1317625" cy="519113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66FF33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66FF33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9" name="Object 30"/>
          <p:cNvGraphicFramePr>
            <a:graphicFrameLocks noChangeAspect="1"/>
          </p:cNvGraphicFramePr>
          <p:nvPr/>
        </p:nvGraphicFramePr>
        <p:xfrm>
          <a:off x="2336800" y="1800225"/>
          <a:ext cx="2176463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43" name="Equation" r:id="rId19" imgW="1193800" imgH="469900" progId="Equation.DSMT4">
                  <p:embed/>
                </p:oleObj>
              </mc:Choice>
              <mc:Fallback>
                <p:oleObj name="Equation" r:id="rId19" imgW="1193800" imgH="469900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1800225"/>
                        <a:ext cx="2176463" cy="873125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prstDash val="dash"/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ext Box 4"/>
          <p:cNvSpPr txBox="1">
            <a:spLocks noChangeArrowheads="1"/>
          </p:cNvSpPr>
          <p:nvPr/>
        </p:nvSpPr>
        <p:spPr bwMode="auto">
          <a:xfrm>
            <a:off x="2771775" y="981075"/>
            <a:ext cx="177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EDO d</a:t>
            </a:r>
            <a:r>
              <a:rPr lang="ja-JP" altLang="fr-FR" sz="1800"/>
              <a:t>’</a:t>
            </a:r>
            <a:r>
              <a:rPr lang="fr-FR" altLang="ja-JP" sz="1800"/>
              <a:t>ordre 2 :</a:t>
            </a:r>
            <a:endParaRPr lang="fr-FR" altLang="fr-FR" sz="1800"/>
          </a:p>
        </p:txBody>
      </p:sp>
      <p:pic>
        <p:nvPicPr>
          <p:cNvPr id="51202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92150"/>
            <a:ext cx="1608137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1203" name="Object 6"/>
          <p:cNvGraphicFramePr>
            <a:graphicFrameLocks noChangeAspect="1"/>
          </p:cNvGraphicFramePr>
          <p:nvPr/>
        </p:nvGraphicFramePr>
        <p:xfrm>
          <a:off x="3851275" y="1628775"/>
          <a:ext cx="2471738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2" name="Equation" r:id="rId4" imgW="1371600" imgH="419100" progId="Equation.DSMT4">
                  <p:embed/>
                </p:oleObj>
              </mc:Choice>
              <mc:Fallback>
                <p:oleObj name="Equation" r:id="rId4" imgW="13716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628775"/>
                        <a:ext cx="2471738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04" name="Text Box 7"/>
          <p:cNvSpPr txBox="1">
            <a:spLocks noChangeArrowheads="1"/>
          </p:cNvSpPr>
          <p:nvPr/>
        </p:nvSpPr>
        <p:spPr bwMode="auto">
          <a:xfrm>
            <a:off x="971550" y="3392488"/>
            <a:ext cx="7272338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Développer une fonction Matlab (rk2.m) résolvant l</a:t>
            </a:r>
            <a:r>
              <a:rPr lang="ja-JP" altLang="fr-FR" sz="2000"/>
              <a:t>’</a:t>
            </a:r>
            <a:r>
              <a:rPr lang="fr-FR" altLang="ja-JP" sz="2000"/>
              <a:t>EDO d</a:t>
            </a:r>
            <a:r>
              <a:rPr lang="ja-JP" altLang="fr-FR" sz="2000"/>
              <a:t>’</a:t>
            </a:r>
            <a:r>
              <a:rPr lang="fr-FR" altLang="ja-JP" sz="2000"/>
              <a:t>ordre 2 ci-dessus à l</a:t>
            </a:r>
            <a:r>
              <a:rPr lang="ja-JP" altLang="fr-FR" sz="2000"/>
              <a:t>’</a:t>
            </a:r>
            <a:r>
              <a:rPr lang="fr-FR" altLang="ja-JP" sz="2000"/>
              <a:t>aide de la méthode de Runge-Kutta 2 en vous inspirant de rk1.m</a:t>
            </a:r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	</a:t>
            </a: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Superposer la solution analytique pour évaluer la précision de la méthode RK2 en fonction du pas de temps. </a:t>
            </a: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Il y a-t-il une limite de stabilité ?</a:t>
            </a:r>
          </a:p>
        </p:txBody>
      </p:sp>
      <p:sp>
        <p:nvSpPr>
          <p:cNvPr id="51205" name="Text Box 8"/>
          <p:cNvSpPr txBox="1">
            <a:spLocks noChangeArrowheads="1"/>
          </p:cNvSpPr>
          <p:nvPr/>
        </p:nvSpPr>
        <p:spPr bwMode="auto">
          <a:xfrm>
            <a:off x="8362950" y="12700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51206" name="Rectangle 10"/>
          <p:cNvSpPr>
            <a:spLocks noChangeArrowheads="1"/>
          </p:cNvSpPr>
          <p:nvPr/>
        </p:nvSpPr>
        <p:spPr bwMode="auto">
          <a:xfrm>
            <a:off x="468313" y="-242888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Méthode RK2 - Programmation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4"/>
          <p:cNvSpPr>
            <a:spLocks noChangeArrowheads="1"/>
          </p:cNvSpPr>
          <p:nvPr/>
        </p:nvSpPr>
        <p:spPr bwMode="auto">
          <a:xfrm>
            <a:off x="468313" y="-242888"/>
            <a:ext cx="8229600" cy="1143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Méthode RK2 - Programmation </a:t>
            </a:r>
          </a:p>
        </p:txBody>
      </p:sp>
      <p:sp>
        <p:nvSpPr>
          <p:cNvPr id="52226" name="Text Box 5"/>
          <p:cNvSpPr txBox="1">
            <a:spLocks noChangeArrowheads="1"/>
          </p:cNvSpPr>
          <p:nvPr/>
        </p:nvSpPr>
        <p:spPr bwMode="auto">
          <a:xfrm>
            <a:off x="231775" y="765175"/>
            <a:ext cx="5395913" cy="434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rk2(@equadif,[ti tf dt],[y1i y2i y3i], options)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methode Runge et Kutta explicite ordre 2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[tvec, yvec]=rk2(f, param, y0, options)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intervalle d'etude en temps et pas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t0 = param(1);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tf = param(2);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h  = param(3);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sauvegarde du vecteur y0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dans la 1ere ligne du tableau yvec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n=1;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tvec(n) = t0;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yvec(n, :) = y0;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t = t0;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y = y0;</a:t>
            </a:r>
          </a:p>
          <a:p>
            <a:pPr eaLnBrk="1" hangingPunct="1"/>
            <a:endParaRPr lang="fr-FR" altLang="fr-FR" sz="1400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...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</p:txBody>
      </p:sp>
      <p:sp>
        <p:nvSpPr>
          <p:cNvPr id="52227" name="Text Box 6"/>
          <p:cNvSpPr txBox="1">
            <a:spLocks noChangeArrowheads="1"/>
          </p:cNvSpPr>
          <p:nvPr/>
        </p:nvSpPr>
        <p:spPr bwMode="auto">
          <a:xfrm>
            <a:off x="4500563" y="2019300"/>
            <a:ext cx="4776787" cy="50038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...</a:t>
            </a:r>
            <a:endParaRPr lang="fr-FR" altLang="fr-FR" sz="1400"/>
          </a:p>
          <a:p>
            <a:pPr eaLnBrk="1" hangingPunct="1"/>
            <a:endParaRPr lang="fr-FR" altLang="fr-FR" sz="1400" b="1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eaLnBrk="1" hangingPunct="1"/>
            <a:r>
              <a:rPr lang="fr-FR" altLang="fr-FR" sz="1400" b="1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(t&lt;tf)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%calcul des derivees en debut de pas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f1=f(t, y);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%calcul des valeurs en milieu de pas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tm=t+h/2;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ym=y+f1*h/2;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fm=f(tm,ym);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calcul de la valeur globale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dy=h*fm;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y=y+dy;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n=n+1;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pas suivant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t=t+h;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stockage   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tvec(n)=t;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yvec(n, :)=y;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400"/>
          </a:p>
          <a:p>
            <a:pPr eaLnBrk="1" hangingPunct="1"/>
            <a:endParaRPr lang="fr-FR" altLang="fr-FR" sz="1400"/>
          </a:p>
        </p:txBody>
      </p:sp>
      <p:grpSp>
        <p:nvGrpSpPr>
          <p:cNvPr id="52228" name="Group 11"/>
          <p:cNvGrpSpPr>
            <a:grpSpLocks/>
          </p:cNvGrpSpPr>
          <p:nvPr/>
        </p:nvGrpSpPr>
        <p:grpSpPr bwMode="auto">
          <a:xfrm>
            <a:off x="773113" y="2205038"/>
            <a:ext cx="3727450" cy="2592387"/>
            <a:chOff x="487" y="1389"/>
            <a:chExt cx="2348" cy="1633"/>
          </a:xfrm>
        </p:grpSpPr>
        <p:sp>
          <p:nvSpPr>
            <p:cNvPr id="52230" name="Line 8"/>
            <p:cNvSpPr>
              <a:spLocks noChangeShapeType="1"/>
            </p:cNvSpPr>
            <p:nvPr/>
          </p:nvSpPr>
          <p:spPr bwMode="auto">
            <a:xfrm>
              <a:off x="487" y="3006"/>
              <a:ext cx="2217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231" name="Line 9"/>
            <p:cNvSpPr>
              <a:spLocks noChangeShapeType="1"/>
            </p:cNvSpPr>
            <p:nvPr/>
          </p:nvSpPr>
          <p:spPr bwMode="auto">
            <a:xfrm flipV="1">
              <a:off x="2699" y="1389"/>
              <a:ext cx="0" cy="1633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52232" name="Line 10"/>
            <p:cNvSpPr>
              <a:spLocks noChangeShapeType="1"/>
            </p:cNvSpPr>
            <p:nvPr/>
          </p:nvSpPr>
          <p:spPr bwMode="auto">
            <a:xfrm>
              <a:off x="2699" y="1389"/>
              <a:ext cx="136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aphicFrame>
        <p:nvGraphicFramePr>
          <p:cNvPr id="5222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9864909"/>
              </p:ext>
            </p:extLst>
          </p:nvPr>
        </p:nvGraphicFramePr>
        <p:xfrm>
          <a:off x="393700" y="5013325"/>
          <a:ext cx="3678238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8" name="Equation" r:id="rId3" imgW="2019240" imgH="863280" progId="Equation.DSMT4">
                  <p:embed/>
                </p:oleObj>
              </mc:Choice>
              <mc:Fallback>
                <p:oleObj name="Equation" r:id="rId3" imgW="2019240" imgH="8632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700" y="5013325"/>
                        <a:ext cx="3678238" cy="160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4"/>
          <p:cNvSpPr txBox="1">
            <a:spLocks noChangeArrowheads="1"/>
          </p:cNvSpPr>
          <p:nvPr/>
        </p:nvSpPr>
        <p:spPr bwMode="auto">
          <a:xfrm>
            <a:off x="2339975" y="44450"/>
            <a:ext cx="5151438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olidFill>
                  <a:schemeClr val="tx2"/>
                </a:solidFill>
              </a:rPr>
              <a:t>Méthode RK2 – Stabilité et Précision</a:t>
            </a:r>
          </a:p>
        </p:txBody>
      </p:sp>
      <p:pic>
        <p:nvPicPr>
          <p:cNvPr id="53250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700088"/>
            <a:ext cx="4318000" cy="277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628650"/>
            <a:ext cx="4318000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508375"/>
            <a:ext cx="4318000" cy="275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3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13" y="3508375"/>
            <a:ext cx="4318000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4" name="Text Box 12"/>
          <p:cNvSpPr txBox="1">
            <a:spLocks noChangeArrowheads="1"/>
          </p:cNvSpPr>
          <p:nvPr/>
        </p:nvSpPr>
        <p:spPr bwMode="auto">
          <a:xfrm>
            <a:off x="6300788" y="3363913"/>
            <a:ext cx="1270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RK2 h=1.1</a:t>
            </a:r>
          </a:p>
        </p:txBody>
      </p:sp>
      <p:sp>
        <p:nvSpPr>
          <p:cNvPr id="53255" name="Text Box 13"/>
          <p:cNvSpPr txBox="1">
            <a:spLocks noChangeArrowheads="1"/>
          </p:cNvSpPr>
          <p:nvPr/>
        </p:nvSpPr>
        <p:spPr bwMode="auto">
          <a:xfrm>
            <a:off x="1835150" y="3363913"/>
            <a:ext cx="1270000" cy="3667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RK2 h=0.9</a:t>
            </a:r>
          </a:p>
        </p:txBody>
      </p:sp>
      <p:sp>
        <p:nvSpPr>
          <p:cNvPr id="53256" name="Text Box 14"/>
          <p:cNvSpPr txBox="1">
            <a:spLocks noChangeArrowheads="1"/>
          </p:cNvSpPr>
          <p:nvPr/>
        </p:nvSpPr>
        <p:spPr bwMode="auto">
          <a:xfrm>
            <a:off x="6300788" y="549275"/>
            <a:ext cx="12700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RK2 h=0.5</a:t>
            </a:r>
          </a:p>
        </p:txBody>
      </p:sp>
      <p:sp>
        <p:nvSpPr>
          <p:cNvPr id="53257" name="Text Box 15"/>
          <p:cNvSpPr txBox="1">
            <a:spLocks noChangeArrowheads="1"/>
          </p:cNvSpPr>
          <p:nvPr/>
        </p:nvSpPr>
        <p:spPr bwMode="auto">
          <a:xfrm>
            <a:off x="1835150" y="555625"/>
            <a:ext cx="12700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RK2 h=0.1</a:t>
            </a:r>
          </a:p>
        </p:txBody>
      </p:sp>
      <p:graphicFrame>
        <p:nvGraphicFramePr>
          <p:cNvPr id="53258" name="Object 16"/>
          <p:cNvGraphicFramePr>
            <a:graphicFrameLocks noChangeAspect="1"/>
          </p:cNvGraphicFramePr>
          <p:nvPr/>
        </p:nvGraphicFramePr>
        <p:xfrm>
          <a:off x="3635375" y="5876925"/>
          <a:ext cx="195421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9" name="Equation" r:id="rId7" imgW="990600" imgH="419100" progId="Equation.DSMT4">
                  <p:embed/>
                </p:oleObj>
              </mc:Choice>
              <mc:Fallback>
                <p:oleObj name="Equation" r:id="rId7" imgW="990600" imgH="4191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876925"/>
                        <a:ext cx="1954213" cy="739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9" name="Text Box 18"/>
          <p:cNvSpPr txBox="1">
            <a:spLocks noChangeArrowheads="1"/>
          </p:cNvSpPr>
          <p:nvPr/>
        </p:nvSpPr>
        <p:spPr bwMode="auto">
          <a:xfrm>
            <a:off x="1476375" y="1420813"/>
            <a:ext cx="283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grande précision</a:t>
            </a:r>
          </a:p>
        </p:txBody>
      </p:sp>
      <p:sp>
        <p:nvSpPr>
          <p:cNvPr id="53260" name="Text Box 19"/>
          <p:cNvSpPr txBox="1">
            <a:spLocks noChangeArrowheads="1"/>
          </p:cNvSpPr>
          <p:nvPr/>
        </p:nvSpPr>
        <p:spPr bwMode="auto">
          <a:xfrm>
            <a:off x="5867400" y="1420813"/>
            <a:ext cx="306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moyenne précision</a:t>
            </a:r>
          </a:p>
        </p:txBody>
      </p:sp>
      <p:sp>
        <p:nvSpPr>
          <p:cNvPr id="53261" name="Text Box 20"/>
          <p:cNvSpPr txBox="1">
            <a:spLocks noChangeArrowheads="1"/>
          </p:cNvSpPr>
          <p:nvPr/>
        </p:nvSpPr>
        <p:spPr bwMode="auto">
          <a:xfrm>
            <a:off x="1042988" y="4445000"/>
            <a:ext cx="3067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précision médiocre</a:t>
            </a:r>
          </a:p>
        </p:txBody>
      </p:sp>
      <p:sp>
        <p:nvSpPr>
          <p:cNvPr id="53262" name="Text Box 21"/>
          <p:cNvSpPr txBox="1">
            <a:spLocks noChangeArrowheads="1"/>
          </p:cNvSpPr>
          <p:nvPr/>
        </p:nvSpPr>
        <p:spPr bwMode="auto">
          <a:xfrm>
            <a:off x="5003800" y="4013200"/>
            <a:ext cx="245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Instable donc imprécis</a:t>
            </a:r>
          </a:p>
        </p:txBody>
      </p:sp>
      <p:sp>
        <p:nvSpPr>
          <p:cNvPr id="53263" name="Text Box 22"/>
          <p:cNvSpPr txBox="1">
            <a:spLocks noChangeArrowheads="1"/>
          </p:cNvSpPr>
          <p:nvPr/>
        </p:nvSpPr>
        <p:spPr bwMode="auto">
          <a:xfrm>
            <a:off x="395288" y="6165850"/>
            <a:ext cx="3201987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 b="1"/>
              <a:t>La précision est controlée par 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0"/>
            <a:ext cx="8229600" cy="576263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Analyse de stabilité du schéma RK2</a:t>
            </a:r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19088" y="3284538"/>
            <a:ext cx="8686800" cy="230505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altLang="fr-FR" sz="2000" smtClean="0"/>
              <a:t>Imaginons que la valeur y</a:t>
            </a:r>
            <a:r>
              <a:rPr lang="fr-FR" altLang="fr-FR" sz="2000" baseline="-25000" smtClean="0"/>
              <a:t>n</a:t>
            </a:r>
            <a:r>
              <a:rPr lang="fr-FR" altLang="fr-FR" sz="2000" smtClean="0"/>
              <a:t> soit erronée d</a:t>
            </a:r>
            <a:r>
              <a:rPr lang="ja-JP" altLang="fr-FR" sz="2000" smtClean="0"/>
              <a:t>’</a:t>
            </a:r>
            <a:r>
              <a:rPr lang="fr-FR" altLang="ja-JP" sz="2000" smtClean="0"/>
              <a:t>une quantité ε</a:t>
            </a:r>
            <a:r>
              <a:rPr lang="fr-FR" altLang="ja-JP" sz="2000" b="1" baseline="-25000" smtClean="0">
                <a:sym typeface="Symbol" panose="05050102010706020507" pitchFamily="18" charset="2"/>
              </a:rPr>
              <a:t>n</a:t>
            </a:r>
            <a:r>
              <a:rPr lang="fr-FR" altLang="ja-JP" sz="2000" smtClean="0">
                <a:sym typeface="Symbol" panose="05050102010706020507" pitchFamily="18" charset="2"/>
              </a:rPr>
              <a:t> , l</a:t>
            </a:r>
            <a:r>
              <a:rPr lang="ja-JP" altLang="fr-FR" sz="2000" smtClean="0">
                <a:sym typeface="Symbol" panose="05050102010706020507" pitchFamily="18" charset="2"/>
              </a:rPr>
              <a:t>’</a:t>
            </a:r>
            <a:r>
              <a:rPr lang="fr-FR" altLang="ja-JP" sz="2000" smtClean="0">
                <a:sym typeface="Symbol" panose="05050102010706020507" pitchFamily="18" charset="2"/>
              </a:rPr>
              <a:t>erreur se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altLang="fr-FR" sz="2000" smtClean="0">
                <a:sym typeface="Symbol" panose="05050102010706020507" pitchFamily="18" charset="2"/>
              </a:rPr>
              <a:t>propage à l</a:t>
            </a:r>
            <a:r>
              <a:rPr lang="ja-JP" altLang="fr-FR" sz="2000" smtClean="0">
                <a:sym typeface="Symbol" panose="05050102010706020507" pitchFamily="18" charset="2"/>
              </a:rPr>
              <a:t>’</a:t>
            </a:r>
            <a:r>
              <a:rPr lang="fr-FR" altLang="ja-JP" sz="2000" smtClean="0">
                <a:sym typeface="Symbol" panose="05050102010706020507" pitchFamily="18" charset="2"/>
              </a:rPr>
              <a:t>instant n+1 selon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2000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2000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fr-FR" altLang="fr-FR" sz="2000" smtClean="0">
                <a:sym typeface="Symbol" panose="05050102010706020507" pitchFamily="18" charset="2"/>
              </a:rPr>
              <a:t>Due à la linéarité des équations, </a:t>
            </a:r>
            <a:r>
              <a:rPr lang="fr-FR" altLang="fr-FR" sz="2800" smtClean="0">
                <a:sym typeface="Wingdings" panose="05000000000000000000" pitchFamily="2" charset="2"/>
              </a:rPr>
              <a:t>- </a:t>
            </a:r>
            <a:r>
              <a:rPr lang="fr-FR" altLang="fr-FR" sz="2000" smtClean="0">
                <a:sym typeface="Symbol" panose="05050102010706020507" pitchFamily="18" charset="2"/>
              </a:rPr>
              <a:t>donne</a:t>
            </a:r>
            <a:endParaRPr lang="fr-FR" altLang="fr-FR" sz="2000" b="1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fr-FR" altLang="fr-FR" sz="2000" smtClean="0"/>
          </a:p>
        </p:txBody>
      </p:sp>
      <p:sp>
        <p:nvSpPr>
          <p:cNvPr id="5427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7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7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7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7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80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8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82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54283" name="Text Box 15"/>
          <p:cNvSpPr txBox="1">
            <a:spLocks noChangeArrowheads="1"/>
          </p:cNvSpPr>
          <p:nvPr/>
        </p:nvSpPr>
        <p:spPr bwMode="auto">
          <a:xfrm>
            <a:off x="179388" y="769938"/>
            <a:ext cx="40195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>
                <a:sym typeface="Symbol" panose="05050102010706020507" pitchFamily="18" charset="2"/>
              </a:rPr>
              <a:t> Cette analyse n</a:t>
            </a:r>
            <a:r>
              <a:rPr lang="ja-JP" altLang="fr-FR" sz="2000">
                <a:sym typeface="Symbol" panose="05050102010706020507" pitchFamily="18" charset="2"/>
              </a:rPr>
              <a:t>’</a:t>
            </a:r>
            <a:r>
              <a:rPr lang="fr-FR" altLang="ja-JP" sz="2000">
                <a:sym typeface="Symbol" panose="05050102010706020507" pitchFamily="18" charset="2"/>
              </a:rPr>
              <a:t>est possible que </a:t>
            </a:r>
          </a:p>
          <a:p>
            <a:pPr eaLnBrk="1" hangingPunct="1">
              <a:buFontTx/>
              <a:buChar char="•"/>
            </a:pPr>
            <a:r>
              <a:rPr lang="fr-FR" altLang="fr-FR" sz="2000">
                <a:sym typeface="Symbol" panose="05050102010706020507" pitchFamily="18" charset="2"/>
              </a:rPr>
              <a:t> si 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f(t, </a:t>
            </a:r>
            <a:r>
              <a:rPr lang="fr-FR" altLang="fr-FR" sz="2000" b="1">
                <a:solidFill>
                  <a:srgbClr val="FF3300"/>
                </a:solidFill>
                <a:sym typeface="Symbol" panose="05050102010706020507" pitchFamily="18" charset="2"/>
              </a:rPr>
              <a:t>y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) est affine </a:t>
            </a:r>
            <a:r>
              <a:rPr lang="fr-FR" altLang="fr-FR" sz="2000">
                <a:sym typeface="Symbol" panose="05050102010706020507" pitchFamily="18" charset="2"/>
              </a:rPr>
              <a:t>ou </a:t>
            </a:r>
          </a:p>
          <a:p>
            <a:pPr eaLnBrk="1" hangingPunct="1">
              <a:buFontTx/>
              <a:buChar char="•"/>
            </a:pPr>
            <a:r>
              <a:rPr lang="fr-FR" altLang="fr-FR" sz="2000">
                <a:sym typeface="Symbol" panose="05050102010706020507" pitchFamily="18" charset="2"/>
              </a:rPr>
              <a:t> 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après linéarisation de f(t, </a:t>
            </a:r>
            <a:r>
              <a:rPr lang="fr-FR" altLang="fr-FR" sz="2000" b="1">
                <a:solidFill>
                  <a:srgbClr val="FF3300"/>
                </a:solidFill>
                <a:sym typeface="Symbol" panose="05050102010706020507" pitchFamily="18" charset="2"/>
              </a:rPr>
              <a:t>y</a:t>
            </a:r>
            <a:r>
              <a:rPr lang="fr-FR" altLang="fr-FR" sz="2000">
                <a:solidFill>
                  <a:srgbClr val="FF3300"/>
                </a:solidFill>
                <a:sym typeface="Symbol" panose="05050102010706020507" pitchFamily="18" charset="2"/>
              </a:rPr>
              <a:t>)</a:t>
            </a:r>
            <a:endParaRPr lang="fr-FR" altLang="fr-FR" sz="2000" baseline="-25000">
              <a:solidFill>
                <a:srgbClr val="FF3300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542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9669486"/>
              </p:ext>
            </p:extLst>
          </p:nvPr>
        </p:nvGraphicFramePr>
        <p:xfrm>
          <a:off x="4822825" y="620713"/>
          <a:ext cx="3481388" cy="1236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8" name="Equation" r:id="rId4" imgW="1930320" imgH="685800" progId="Equation.DSMT4">
                  <p:embed/>
                </p:oleObj>
              </mc:Choice>
              <mc:Fallback>
                <p:oleObj name="Equation" r:id="rId4" imgW="1930320" imgH="685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2825" y="620713"/>
                        <a:ext cx="3481388" cy="1236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5" name="Text Box 18"/>
          <p:cNvSpPr txBox="1">
            <a:spLocks noChangeArrowheads="1"/>
          </p:cNvSpPr>
          <p:nvPr/>
        </p:nvSpPr>
        <p:spPr bwMode="auto">
          <a:xfrm>
            <a:off x="323850" y="5300663"/>
            <a:ext cx="7067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</a:t>
            </a:r>
            <a:r>
              <a:rPr lang="ja-JP" altLang="fr-FR" sz="1800"/>
              <a:t>’</a:t>
            </a:r>
            <a:r>
              <a:rPr lang="fr-FR" altLang="ja-JP" sz="1800"/>
              <a:t>erreur de troncature et d</a:t>
            </a:r>
            <a:r>
              <a:rPr lang="ja-JP" altLang="fr-FR" sz="1800"/>
              <a:t>’</a:t>
            </a:r>
            <a:r>
              <a:rPr lang="fr-FR" altLang="ja-JP" sz="1800"/>
              <a:t>arrondis se propage depuis l</a:t>
            </a:r>
            <a:r>
              <a:rPr lang="ja-JP" altLang="fr-FR" sz="1800"/>
              <a:t>’</a:t>
            </a:r>
            <a:r>
              <a:rPr lang="fr-FR" altLang="ja-JP" sz="1800"/>
              <a:t>instant initial</a:t>
            </a:r>
          </a:p>
          <a:p>
            <a:pPr eaLnBrk="1" hangingPunct="1"/>
            <a:r>
              <a:rPr lang="fr-FR" altLang="fr-FR" sz="1800"/>
              <a:t>jusqu</a:t>
            </a:r>
            <a:r>
              <a:rPr lang="ja-JP" altLang="fr-FR" sz="1800"/>
              <a:t>’</a:t>
            </a:r>
            <a:r>
              <a:rPr lang="fr-FR" altLang="ja-JP" sz="1800"/>
              <a:t>à l</a:t>
            </a:r>
            <a:r>
              <a:rPr lang="ja-JP" altLang="fr-FR" sz="1800"/>
              <a:t>’</a:t>
            </a:r>
            <a:r>
              <a:rPr lang="fr-FR" altLang="ja-JP" sz="1800"/>
              <a:t>instant n selon </a:t>
            </a:r>
            <a:endParaRPr lang="fr-FR" altLang="fr-FR" sz="1800"/>
          </a:p>
        </p:txBody>
      </p:sp>
      <p:graphicFrame>
        <p:nvGraphicFramePr>
          <p:cNvPr id="54286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5696549"/>
              </p:ext>
            </p:extLst>
          </p:nvPr>
        </p:nvGraphicFramePr>
        <p:xfrm>
          <a:off x="922338" y="2349500"/>
          <a:ext cx="78930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69" name="Equation" r:id="rId6" imgW="4330440" imgH="507960" progId="Equation.DSMT4">
                  <p:embed/>
                </p:oleObj>
              </mc:Choice>
              <mc:Fallback>
                <p:oleObj name="Equation" r:id="rId6" imgW="4330440" imgH="50796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2349500"/>
                        <a:ext cx="789305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7" name="Text Box 21"/>
          <p:cNvSpPr txBox="1">
            <a:spLocks noChangeArrowheads="1"/>
          </p:cNvSpPr>
          <p:nvPr/>
        </p:nvSpPr>
        <p:spPr bwMode="auto">
          <a:xfrm>
            <a:off x="323850" y="1916113"/>
            <a:ext cx="7997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Le schéma d</a:t>
            </a:r>
            <a:r>
              <a:rPr lang="ja-JP" altLang="fr-FR" sz="2000"/>
              <a:t>’</a:t>
            </a:r>
            <a:r>
              <a:rPr lang="fr-FR" altLang="ja-JP" sz="2000"/>
              <a:t>intégration de la méthode Runge-Kutta d</a:t>
            </a:r>
            <a:r>
              <a:rPr lang="ja-JP" altLang="fr-FR" sz="2000"/>
              <a:t>’</a:t>
            </a:r>
            <a:r>
              <a:rPr lang="fr-FR" altLang="ja-JP" sz="2000"/>
              <a:t>ordre 2 s</a:t>
            </a:r>
            <a:r>
              <a:rPr lang="ja-JP" altLang="fr-FR" sz="2000"/>
              <a:t>’</a:t>
            </a:r>
            <a:r>
              <a:rPr lang="fr-FR" altLang="ja-JP" sz="2000"/>
              <a:t>écrit :</a:t>
            </a:r>
            <a:endParaRPr lang="fr-FR" altLang="fr-FR" sz="2000"/>
          </a:p>
        </p:txBody>
      </p:sp>
      <p:graphicFrame>
        <p:nvGraphicFramePr>
          <p:cNvPr id="54288" name="Object 22"/>
          <p:cNvGraphicFramePr>
            <a:graphicFrameLocks noChangeAspect="1"/>
          </p:cNvGraphicFramePr>
          <p:nvPr/>
        </p:nvGraphicFramePr>
        <p:xfrm>
          <a:off x="1517650" y="3852863"/>
          <a:ext cx="5021263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0" name="Equation" r:id="rId8" imgW="2755900" imgH="508000" progId="Equation.DSMT4">
                  <p:embed/>
                </p:oleObj>
              </mc:Choice>
              <mc:Fallback>
                <p:oleObj name="Equation" r:id="rId8" imgW="2755900" imgH="5080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7650" y="3852863"/>
                        <a:ext cx="5021263" cy="944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9" name="Text Box 23"/>
          <p:cNvSpPr txBox="1">
            <a:spLocks noChangeArrowheads="1"/>
          </p:cNvSpPr>
          <p:nvPr/>
        </p:nvSpPr>
        <p:spPr bwMode="auto">
          <a:xfrm>
            <a:off x="250825" y="2565400"/>
            <a:ext cx="50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</a:t>
            </a:r>
          </a:p>
        </p:txBody>
      </p:sp>
      <p:sp>
        <p:nvSpPr>
          <p:cNvPr id="54290" name="Text Box 24"/>
          <p:cNvSpPr txBox="1">
            <a:spLocks noChangeArrowheads="1"/>
          </p:cNvSpPr>
          <p:nvPr/>
        </p:nvSpPr>
        <p:spPr bwMode="auto">
          <a:xfrm>
            <a:off x="439738" y="4149725"/>
            <a:ext cx="5016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800">
                <a:sym typeface="Wingdings" panose="05000000000000000000" pitchFamily="2" charset="2"/>
              </a:rPr>
              <a:t></a:t>
            </a:r>
          </a:p>
        </p:txBody>
      </p:sp>
      <p:graphicFrame>
        <p:nvGraphicFramePr>
          <p:cNvPr id="54291" name="Object 25"/>
          <p:cNvGraphicFramePr>
            <a:graphicFrameLocks noChangeAspect="1"/>
          </p:cNvGraphicFramePr>
          <p:nvPr/>
        </p:nvGraphicFramePr>
        <p:xfrm>
          <a:off x="5981700" y="4438650"/>
          <a:ext cx="3054350" cy="94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1" name="Equation" r:id="rId10" imgW="1676400" imgH="508000" progId="Equation.DSMT4">
                  <p:embed/>
                </p:oleObj>
              </mc:Choice>
              <mc:Fallback>
                <p:oleObj name="Equation" r:id="rId10" imgW="1676400" imgH="5080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1700" y="4438650"/>
                        <a:ext cx="3054350" cy="94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92" name="Object 26"/>
          <p:cNvGraphicFramePr>
            <a:graphicFrameLocks noChangeAspect="1"/>
          </p:cNvGraphicFramePr>
          <p:nvPr/>
        </p:nvGraphicFramePr>
        <p:xfrm>
          <a:off x="3173413" y="5676900"/>
          <a:ext cx="2986087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72" name="Equation" r:id="rId12" imgW="1637589" imgH="533169" progId="Equation.DSMT4">
                  <p:embed/>
                </p:oleObj>
              </mc:Choice>
              <mc:Fallback>
                <p:oleObj name="Equation" r:id="rId12" imgW="1637589" imgH="53316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413" y="5676900"/>
                        <a:ext cx="2986087" cy="992188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4"/>
          <p:cNvSpPr>
            <a:spLocks noChangeArrowheads="1"/>
          </p:cNvSpPr>
          <p:nvPr/>
        </p:nvSpPr>
        <p:spPr bwMode="auto">
          <a:xfrm>
            <a:off x="539750" y="0"/>
            <a:ext cx="82296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Conditions de stabilité du schéma RK2</a:t>
            </a:r>
          </a:p>
        </p:txBody>
      </p:sp>
      <p:sp>
        <p:nvSpPr>
          <p:cNvPr id="56322" name="Text Box 5"/>
          <p:cNvSpPr txBox="1">
            <a:spLocks noChangeArrowheads="1"/>
          </p:cNvSpPr>
          <p:nvPr/>
        </p:nvSpPr>
        <p:spPr bwMode="auto">
          <a:xfrm>
            <a:off x="323850" y="681038"/>
            <a:ext cx="424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Propagation d</a:t>
            </a:r>
            <a:r>
              <a:rPr lang="ja-JP" altLang="fr-FR" sz="2000"/>
              <a:t>’</a:t>
            </a:r>
            <a:r>
              <a:rPr lang="fr-FR" altLang="ja-JP" sz="2000"/>
              <a:t>une erreur au pas n : </a:t>
            </a:r>
            <a:endParaRPr lang="fr-FR" altLang="fr-FR" sz="2000"/>
          </a:p>
        </p:txBody>
      </p:sp>
      <p:graphicFrame>
        <p:nvGraphicFramePr>
          <p:cNvPr id="56323" name="Object 7"/>
          <p:cNvGraphicFramePr>
            <a:graphicFrameLocks noChangeAspect="1"/>
          </p:cNvGraphicFramePr>
          <p:nvPr/>
        </p:nvGraphicFramePr>
        <p:xfrm>
          <a:off x="4476750" y="349250"/>
          <a:ext cx="3911600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8" name="Equation" r:id="rId3" imgW="2146300" imgH="533400" progId="Equation.DSMT4">
                  <p:embed/>
                </p:oleObj>
              </mc:Choice>
              <mc:Fallback>
                <p:oleObj name="Equation" r:id="rId3" imgW="2146300" imgH="533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50" y="349250"/>
                        <a:ext cx="3911600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Text Box 9"/>
          <p:cNvSpPr txBox="1">
            <a:spLocks noChangeArrowheads="1"/>
          </p:cNvSpPr>
          <p:nvPr/>
        </p:nvSpPr>
        <p:spPr bwMode="auto">
          <a:xfrm>
            <a:off x="34925" y="5046663"/>
            <a:ext cx="53799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 dirty="0"/>
              <a:t> Si tous les </a:t>
            </a:r>
            <a:r>
              <a:rPr lang="fr-FR" altLang="fr-FR" sz="1800" dirty="0" smtClean="0">
                <a:latin typeface="Symbol" panose="05050102010706020507" pitchFamily="18" charset="2"/>
              </a:rPr>
              <a:t>l</a:t>
            </a:r>
            <a:r>
              <a:rPr lang="fr-FR" altLang="fr-FR" sz="1800" baseline="-25000" dirty="0" smtClean="0"/>
              <a:t>i </a:t>
            </a:r>
            <a:r>
              <a:rPr lang="fr-FR" altLang="fr-FR" sz="1800" dirty="0"/>
              <a:t>réels négatifs </a:t>
            </a:r>
            <a:r>
              <a:rPr lang="fr-FR" altLang="fr-FR" sz="1800" dirty="0">
                <a:sym typeface="Math5" pitchFamily="2" charset="2"/>
              </a:rPr>
              <a:t>alors</a:t>
            </a:r>
            <a:r>
              <a:rPr lang="fr-FR" altLang="fr-FR" sz="1800" dirty="0"/>
              <a:t> schéma stable si</a:t>
            </a:r>
          </a:p>
        </p:txBody>
      </p:sp>
      <p:graphicFrame>
        <p:nvGraphicFramePr>
          <p:cNvPr id="56325" name="Object 10"/>
          <p:cNvGraphicFramePr>
            <a:graphicFrameLocks noChangeAspect="1"/>
          </p:cNvGraphicFramePr>
          <p:nvPr/>
        </p:nvGraphicFramePr>
        <p:xfrm>
          <a:off x="5535613" y="4868863"/>
          <a:ext cx="33575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09" name="Equation" r:id="rId5" imgW="1866090" imgH="444307" progId="Equation.DSMT4">
                  <p:embed/>
                </p:oleObj>
              </mc:Choice>
              <mc:Fallback>
                <p:oleObj name="Equation" r:id="rId5" imgW="1866090" imgH="44430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613" y="4868863"/>
                        <a:ext cx="335756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6" name="Text Box 12"/>
          <p:cNvSpPr txBox="1">
            <a:spLocks noChangeArrowheads="1"/>
          </p:cNvSpPr>
          <p:nvPr/>
        </p:nvSpPr>
        <p:spPr bwMode="auto">
          <a:xfrm>
            <a:off x="36513" y="5589588"/>
            <a:ext cx="83280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 dirty="0"/>
              <a:t> Si </a:t>
            </a:r>
            <a:r>
              <a:rPr lang="fr-FR" altLang="fr-FR" sz="1800" dirty="0">
                <a:solidFill>
                  <a:srgbClr val="000000"/>
                </a:solidFill>
              </a:rPr>
              <a:t>les</a:t>
            </a:r>
            <a:r>
              <a:rPr lang="fr-FR" altLang="fr-FR" sz="1800" b="1" dirty="0">
                <a:solidFill>
                  <a:srgbClr val="000000"/>
                </a:solidFill>
              </a:rPr>
              <a:t> </a:t>
            </a:r>
            <a:r>
              <a:rPr lang="fr-FR" altLang="fr-FR" sz="1800" dirty="0" smtClean="0">
                <a:latin typeface="Symbol" panose="05050102010706020507" pitchFamily="18" charset="2"/>
              </a:rPr>
              <a:t>l</a:t>
            </a:r>
            <a:r>
              <a:rPr lang="fr-FR" altLang="fr-FR" sz="1800" baseline="-25000" dirty="0" smtClean="0"/>
              <a:t>i </a:t>
            </a:r>
            <a:r>
              <a:rPr lang="fr-FR" altLang="fr-FR" sz="1800" dirty="0"/>
              <a:t>complexes, </a:t>
            </a:r>
            <a:r>
              <a:rPr lang="fr-FR" altLang="fr-FR" sz="1800" dirty="0">
                <a:sym typeface="Math5" pitchFamily="2" charset="2"/>
              </a:rPr>
              <a:t>il faut déterminer l</a:t>
            </a:r>
            <a:r>
              <a:rPr lang="ja-JP" altLang="fr-FR" sz="1800" dirty="0">
                <a:sym typeface="Math5" pitchFamily="2" charset="2"/>
              </a:rPr>
              <a:t>’</a:t>
            </a:r>
            <a:r>
              <a:rPr lang="fr-FR" altLang="ja-JP" sz="1800" dirty="0">
                <a:sym typeface="Math5" pitchFamily="2" charset="2"/>
              </a:rPr>
              <a:t>intersection des contraintes de stabilité</a:t>
            </a:r>
          </a:p>
          <a:p>
            <a:pPr eaLnBrk="1" hangingPunct="1"/>
            <a:r>
              <a:rPr lang="fr-FR" altLang="fr-FR" sz="1800" dirty="0"/>
              <a:t>et choisir le plus petit h tel que</a:t>
            </a:r>
          </a:p>
        </p:txBody>
      </p:sp>
      <p:graphicFrame>
        <p:nvGraphicFramePr>
          <p:cNvPr id="56327" name="Object 13"/>
          <p:cNvGraphicFramePr>
            <a:graphicFrameLocks noChangeAspect="1"/>
          </p:cNvGraphicFramePr>
          <p:nvPr/>
        </p:nvGraphicFramePr>
        <p:xfrm>
          <a:off x="3563938" y="5876925"/>
          <a:ext cx="1690687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0" name="Equation" r:id="rId7" imgW="1180588" imgH="482391" progId="Equation.3">
                  <p:embed/>
                </p:oleObj>
              </mc:Choice>
              <mc:Fallback>
                <p:oleObj name="Equation" r:id="rId7" imgW="1180588" imgH="482391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876925"/>
                        <a:ext cx="1690687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8" name="Text Box 14"/>
          <p:cNvSpPr txBox="1">
            <a:spLocks noChangeArrowheads="1"/>
          </p:cNvSpPr>
          <p:nvPr/>
        </p:nvSpPr>
        <p:spPr bwMode="auto">
          <a:xfrm>
            <a:off x="34925" y="4508500"/>
            <a:ext cx="7699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 dirty="0"/>
              <a:t> Si tous les </a:t>
            </a:r>
            <a:r>
              <a:rPr lang="fr-FR" altLang="fr-FR" sz="1800" dirty="0" smtClean="0">
                <a:latin typeface="Symbol" panose="05050102010706020507" pitchFamily="18" charset="2"/>
              </a:rPr>
              <a:t>l</a:t>
            </a:r>
            <a:r>
              <a:rPr lang="fr-FR" altLang="fr-FR" sz="1800" baseline="-25000" dirty="0" smtClean="0"/>
              <a:t>i</a:t>
            </a:r>
            <a:r>
              <a:rPr lang="fr-FR" altLang="fr-FR" sz="1800" dirty="0" smtClean="0">
                <a:sym typeface="Symbol" panose="05050102010706020507" pitchFamily="18" charset="2"/>
              </a:rPr>
              <a:t> </a:t>
            </a:r>
            <a:r>
              <a:rPr lang="fr-FR" altLang="fr-FR" sz="1800" dirty="0">
                <a:sym typeface="Symbol" panose="05050102010706020507" pitchFamily="18" charset="2"/>
              </a:rPr>
              <a:t>réels</a:t>
            </a:r>
            <a:r>
              <a:rPr lang="fr-FR" altLang="fr-FR" sz="1800" dirty="0">
                <a:sym typeface="Math5" pitchFamily="2" charset="2"/>
              </a:rPr>
              <a:t> et s’</a:t>
            </a:r>
            <a:r>
              <a:rPr lang="fr-FR" altLang="ja-JP" sz="1800" dirty="0">
                <a:sym typeface="Math5" pitchFamily="2" charset="2"/>
              </a:rPr>
              <a:t>il existe au moins un </a:t>
            </a:r>
            <a:r>
              <a:rPr lang="fr-FR" altLang="ja-JP" sz="1800" dirty="0" smtClean="0">
                <a:latin typeface="Symbol" panose="05050102010706020507" pitchFamily="18" charset="2"/>
                <a:sym typeface="Math5" pitchFamily="2" charset="2"/>
              </a:rPr>
              <a:t>l</a:t>
            </a:r>
            <a:r>
              <a:rPr lang="fr-FR" altLang="ja-JP" sz="1800" baseline="-25000" dirty="0" smtClean="0"/>
              <a:t>i </a:t>
            </a:r>
            <a:r>
              <a:rPr lang="fr-FR" altLang="ja-JP" sz="1800" dirty="0"/>
              <a:t>&gt; 0 alors schéma instable</a:t>
            </a:r>
            <a:endParaRPr lang="fr-FR" altLang="fr-FR" sz="1800" dirty="0"/>
          </a:p>
        </p:txBody>
      </p:sp>
      <p:sp>
        <p:nvSpPr>
          <p:cNvPr id="56329" name="Text Box 15"/>
          <p:cNvSpPr txBox="1">
            <a:spLocks noChangeArrowheads="1"/>
          </p:cNvSpPr>
          <p:nvPr/>
        </p:nvSpPr>
        <p:spPr bwMode="auto">
          <a:xfrm>
            <a:off x="323850" y="2049463"/>
            <a:ext cx="5657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En se plaçant dans la base propre de Â telle que</a:t>
            </a:r>
          </a:p>
        </p:txBody>
      </p:sp>
      <p:graphicFrame>
        <p:nvGraphicFramePr>
          <p:cNvPr id="56330" name="Object 16"/>
          <p:cNvGraphicFramePr>
            <a:graphicFrameLocks noChangeAspect="1"/>
          </p:cNvGraphicFramePr>
          <p:nvPr/>
        </p:nvGraphicFramePr>
        <p:xfrm>
          <a:off x="6034088" y="2000250"/>
          <a:ext cx="14430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1" name="Equation" r:id="rId9" imgW="799753" imgH="241195" progId="Equation.3">
                  <p:embed/>
                </p:oleObj>
              </mc:Choice>
              <mc:Fallback>
                <p:oleObj name="Equation" r:id="rId9" imgW="799753" imgH="241195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4088" y="2000250"/>
                        <a:ext cx="14430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31" name="Text Box 17"/>
          <p:cNvSpPr txBox="1">
            <a:spLocks noChangeArrowheads="1"/>
          </p:cNvSpPr>
          <p:nvPr/>
        </p:nvSpPr>
        <p:spPr bwMode="auto">
          <a:xfrm>
            <a:off x="323850" y="1231900"/>
            <a:ext cx="82327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Le schéma est stable s</a:t>
            </a:r>
            <a:r>
              <a:rPr lang="ja-JP" altLang="fr-FR" sz="2000"/>
              <a:t>’</a:t>
            </a:r>
            <a:r>
              <a:rPr lang="fr-FR" altLang="ja-JP" sz="2000"/>
              <a:t>il y a atténuation à chaque pas de temps,</a:t>
            </a:r>
          </a:p>
          <a:p>
            <a:pPr eaLnBrk="1" hangingPunct="1"/>
            <a:r>
              <a:rPr lang="fr-FR" altLang="fr-FR" sz="2000"/>
              <a:t>autrement dit que le gain G soit faible par rapport à 1 (préciser ci-après)</a:t>
            </a:r>
          </a:p>
        </p:txBody>
      </p:sp>
      <p:graphicFrame>
        <p:nvGraphicFramePr>
          <p:cNvPr id="5633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605049"/>
              </p:ext>
            </p:extLst>
          </p:nvPr>
        </p:nvGraphicFramePr>
        <p:xfrm>
          <a:off x="407988" y="2289175"/>
          <a:ext cx="8389937" cy="221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12" name="Equation" r:id="rId11" imgW="5143320" imgH="1358640" progId="Equation.DSMT4">
                  <p:embed/>
                </p:oleObj>
              </mc:Choice>
              <mc:Fallback>
                <p:oleObj name="Equation" r:id="rId11" imgW="5143320" imgH="135864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8" y="2289175"/>
                        <a:ext cx="8389937" cy="221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345" name="Object 2"/>
          <p:cNvGraphicFramePr>
            <a:graphicFrameLocks noChangeAspect="1"/>
          </p:cNvGraphicFramePr>
          <p:nvPr/>
        </p:nvGraphicFramePr>
        <p:xfrm>
          <a:off x="2252663" y="1214438"/>
          <a:ext cx="6403975" cy="192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65" name="Equation" r:id="rId3" imgW="3556000" imgH="1066800" progId="Equation.DSMT4">
                  <p:embed/>
                </p:oleObj>
              </mc:Choice>
              <mc:Fallback>
                <p:oleObj name="Equation" r:id="rId3" imgW="3556000" imgH="106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1214438"/>
                        <a:ext cx="6403975" cy="192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6" name="Rectangle 3"/>
          <p:cNvSpPr>
            <a:spLocks noChangeArrowheads="1"/>
          </p:cNvSpPr>
          <p:nvPr/>
        </p:nvSpPr>
        <p:spPr bwMode="auto">
          <a:xfrm>
            <a:off x="1295400" y="115888"/>
            <a:ext cx="73802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Analyse de stabilité / Exemple 1</a:t>
            </a:r>
          </a:p>
        </p:txBody>
      </p:sp>
      <p:pic>
        <p:nvPicPr>
          <p:cNvPr id="5734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08050"/>
            <a:ext cx="1608138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48" name="Text Box 6"/>
          <p:cNvSpPr txBox="1">
            <a:spLocks noChangeArrowheads="1"/>
          </p:cNvSpPr>
          <p:nvPr/>
        </p:nvSpPr>
        <p:spPr bwMode="auto">
          <a:xfrm>
            <a:off x="1116013" y="3500438"/>
            <a:ext cx="7056437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2000"/>
              <a:t>Calculer la limite de stabilité dans les 2 cas</a:t>
            </a:r>
          </a:p>
          <a:p>
            <a:pPr lvl="1" eaLnBrk="1" hangingPunct="1">
              <a:lnSpc>
                <a:spcPct val="120000"/>
              </a:lnSpc>
            </a:pPr>
            <a:r>
              <a:rPr lang="fr-FR" altLang="fr-FR" sz="2000"/>
              <a:t>1</a:t>
            </a:r>
            <a:r>
              <a:rPr lang="fr-FR" altLang="fr-FR" sz="2000" baseline="30000"/>
              <a:t>er</a:t>
            </a:r>
            <a:r>
              <a:rPr lang="fr-FR" altLang="fr-FR" sz="2000"/>
              <a:t> cas : n=1,5 et p</a:t>
            </a:r>
            <a:r>
              <a:rPr lang="fr-FR" altLang="fr-FR" sz="2000" baseline="30000"/>
              <a:t>2</a:t>
            </a:r>
            <a:r>
              <a:rPr lang="fr-FR" altLang="fr-FR" sz="2000"/>
              <a:t>=2</a:t>
            </a:r>
          </a:p>
          <a:p>
            <a:pPr lvl="1" eaLnBrk="1" hangingPunct="1">
              <a:lnSpc>
                <a:spcPct val="120000"/>
              </a:lnSpc>
            </a:pPr>
            <a:r>
              <a:rPr lang="fr-FR" altLang="fr-FR" sz="2000"/>
              <a:t>2</a:t>
            </a:r>
            <a:r>
              <a:rPr lang="fr-FR" altLang="fr-FR" sz="2000" baseline="30000"/>
              <a:t>ème</a:t>
            </a:r>
            <a:r>
              <a:rPr lang="fr-FR" altLang="fr-FR" sz="2000"/>
              <a:t> cas : n=0,2 et p</a:t>
            </a:r>
            <a:r>
              <a:rPr lang="fr-FR" altLang="fr-FR" sz="2000" baseline="30000"/>
              <a:t>2</a:t>
            </a:r>
            <a:r>
              <a:rPr lang="fr-FR" altLang="fr-FR" sz="2000"/>
              <a:t>=1 </a:t>
            </a:r>
          </a:p>
          <a:p>
            <a:pPr lvl="1" eaLnBrk="1" hangingPunct="1">
              <a:lnSpc>
                <a:spcPct val="120000"/>
              </a:lnSpc>
            </a:pPr>
            <a:r>
              <a:rPr lang="fr-FR" altLang="fr-FR" sz="1800" i="1"/>
              <a:t>Pour déterminer graphiquement la condition de stabilité, vous inspirer de stabilite.m</a:t>
            </a:r>
            <a:endParaRPr lang="fr-FR" altLang="fr-FR" sz="2000"/>
          </a:p>
          <a:p>
            <a:pPr lvl="2" algn="just"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Mettre en évidence les instabilités de la méthode RK2</a:t>
            </a:r>
          </a:p>
        </p:txBody>
      </p:sp>
      <p:sp>
        <p:nvSpPr>
          <p:cNvPr id="57349" name="Text Box 7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369" name="Group 12"/>
          <p:cNvGrpSpPr>
            <a:grpSpLocks/>
          </p:cNvGrpSpPr>
          <p:nvPr/>
        </p:nvGrpSpPr>
        <p:grpSpPr bwMode="auto">
          <a:xfrm>
            <a:off x="66675" y="260350"/>
            <a:ext cx="4649788" cy="6481763"/>
            <a:chOff x="42" y="164"/>
            <a:chExt cx="3246" cy="4083"/>
          </a:xfrm>
        </p:grpSpPr>
        <p:pic>
          <p:nvPicPr>
            <p:cNvPr id="58371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" y="2206"/>
              <a:ext cx="3246" cy="2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8372" name="Rectangle 6"/>
            <p:cNvSpPr>
              <a:spLocks noChangeArrowheads="1"/>
            </p:cNvSpPr>
            <p:nvPr/>
          </p:nvSpPr>
          <p:spPr bwMode="auto">
            <a:xfrm>
              <a:off x="2200" y="2795"/>
              <a:ext cx="762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h</a:t>
              </a:r>
              <a:r>
                <a:rPr lang="fr-FR" altLang="fr-FR" sz="1800" baseline="-25000"/>
                <a:t>c</a:t>
              </a:r>
              <a:r>
                <a:rPr lang="fr-FR" altLang="fr-FR" sz="1800"/>
                <a:t>=1.394</a:t>
              </a:r>
            </a:p>
          </p:txBody>
        </p:sp>
        <p:sp>
          <p:nvSpPr>
            <p:cNvPr id="58373" name="Oval 7"/>
            <p:cNvSpPr>
              <a:spLocks noChangeArrowheads="1"/>
            </p:cNvSpPr>
            <p:nvPr/>
          </p:nvSpPr>
          <p:spPr bwMode="auto">
            <a:xfrm>
              <a:off x="2871" y="2976"/>
              <a:ext cx="91" cy="91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fr-FR" altLang="fr-FR" sz="1800"/>
            </a:p>
          </p:txBody>
        </p:sp>
        <p:grpSp>
          <p:nvGrpSpPr>
            <p:cNvPr id="58374" name="Group 10"/>
            <p:cNvGrpSpPr>
              <a:grpSpLocks/>
            </p:cNvGrpSpPr>
            <p:nvPr/>
          </p:nvGrpSpPr>
          <p:grpSpPr bwMode="auto">
            <a:xfrm>
              <a:off x="68" y="164"/>
              <a:ext cx="3138" cy="2041"/>
              <a:chOff x="377" y="164"/>
              <a:chExt cx="3138" cy="2041"/>
            </a:xfrm>
          </p:grpSpPr>
          <p:pic>
            <p:nvPicPr>
              <p:cNvPr id="58375" name="Picture 5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3" y="164"/>
                <a:ext cx="3142" cy="20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8376" name="Oval 8"/>
              <p:cNvSpPr>
                <a:spLocks noChangeArrowheads="1"/>
              </p:cNvSpPr>
              <p:nvPr/>
            </p:nvSpPr>
            <p:spPr bwMode="auto">
              <a:xfrm>
                <a:off x="1633" y="1768"/>
                <a:ext cx="92" cy="91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endParaRPr lang="fr-FR" altLang="fr-FR" sz="1800"/>
              </a:p>
            </p:txBody>
          </p:sp>
          <p:sp>
            <p:nvSpPr>
              <p:cNvPr id="58377" name="Rectangle 9"/>
              <p:cNvSpPr>
                <a:spLocks noChangeArrowheads="1"/>
              </p:cNvSpPr>
              <p:nvPr/>
            </p:nvSpPr>
            <p:spPr bwMode="auto">
              <a:xfrm>
                <a:off x="1701" y="1570"/>
                <a:ext cx="585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h</a:t>
                </a:r>
                <a:r>
                  <a:rPr lang="fr-FR" altLang="fr-FR" sz="1800" baseline="-25000"/>
                  <a:t>c</a:t>
                </a:r>
                <a:r>
                  <a:rPr lang="fr-FR" altLang="fr-FR" sz="1800"/>
                  <a:t>=1.0</a:t>
                </a:r>
              </a:p>
            </p:txBody>
          </p:sp>
        </p:grpSp>
      </p:grpSp>
      <p:sp>
        <p:nvSpPr>
          <p:cNvPr id="58370" name="Text Box 11"/>
          <p:cNvSpPr txBox="1">
            <a:spLocks noChangeArrowheads="1"/>
          </p:cNvSpPr>
          <p:nvPr/>
        </p:nvSpPr>
        <p:spPr bwMode="auto">
          <a:xfrm>
            <a:off x="4787900" y="263525"/>
            <a:ext cx="4545013" cy="656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b="1">
                <a:solidFill>
                  <a:srgbClr val="228B22"/>
                </a:solidFill>
                <a:latin typeface="Courier New" panose="02070309020205020404" pitchFamily="49" charset="0"/>
              </a:rPr>
              <a:t>% stabilite RK2 THEORIQUE</a:t>
            </a:r>
            <a:endParaRPr lang="fr-FR" altLang="fr-FR" sz="20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clear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off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%2eme cas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n=0.2;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p2=1;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r1=-n-sqrt(n*n-p2);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r2=-n+sqrt(n*n-p2);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ordre 2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h=0:0.001:2.5;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un=ones(length(h), 1);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plot(h, un,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'r'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hold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lambda=r1;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P=abs(1+h*lambda+0.5*h.^2*lambda^2);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plot(h,P,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lambda=r2;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P=abs(1+h*lambda+0.5*h.^2*lambda^2);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plot(h,P,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'b'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grid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on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xlabel(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'h'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title([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'Stabilite RK2 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fr-FR" altLang="fr-FR" sz="1400" b="1">
                <a:solidFill>
                  <a:srgbClr val="0000FF"/>
                </a:solidFill>
                <a:latin typeface="Courier New" panose="02070309020205020404" pitchFamily="49" charset="0"/>
              </a:rPr>
              <a:t>...</a:t>
            </a:r>
            <a:endParaRPr lang="fr-FR" altLang="fr-FR" sz="1400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'n='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num2str(n) </a:t>
            </a:r>
            <a:r>
              <a:rPr lang="fr-FR" altLang="fr-FR" sz="1400" b="1">
                <a:solidFill>
                  <a:srgbClr val="A020F0"/>
                </a:solidFill>
                <a:latin typeface="Courier New" panose="02070309020205020404" pitchFamily="49" charset="0"/>
              </a:rPr>
              <a:t>' p2='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num2str(p2)]);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4"/>
          <p:cNvSpPr>
            <a:spLocks noChangeArrowheads="1"/>
          </p:cNvSpPr>
          <p:nvPr/>
        </p:nvSpPr>
        <p:spPr bwMode="auto">
          <a:xfrm>
            <a:off x="255588" y="473075"/>
            <a:ext cx="3887787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1er cas : n=1.5 et p</a:t>
            </a:r>
            <a:r>
              <a:rPr lang="fr-FR" altLang="fr-FR" sz="2000" baseline="30000"/>
              <a:t>2</a:t>
            </a:r>
            <a:r>
              <a:rPr lang="fr-FR" altLang="fr-FR" sz="2000"/>
              <a:t>=2  </a:t>
            </a:r>
            <a:r>
              <a:rPr lang="fr-FR" altLang="fr-FR" sz="2000">
                <a:sym typeface="Wingdings" panose="05000000000000000000" pitchFamily="2" charset="2"/>
              </a:rPr>
              <a:t></a:t>
            </a:r>
            <a:r>
              <a:rPr lang="fr-FR" altLang="fr-FR" sz="2000">
                <a:sym typeface="Symbol" panose="05050102010706020507" pitchFamily="18" charset="2"/>
              </a:rPr>
              <a:t>  </a:t>
            </a:r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=1</a:t>
            </a:r>
            <a:endParaRPr lang="fr-FR" altLang="fr-FR" sz="2000">
              <a:sym typeface="Symbol" panose="05050102010706020507" pitchFamily="18" charset="2"/>
            </a:endParaRPr>
          </a:p>
        </p:txBody>
      </p:sp>
      <p:sp>
        <p:nvSpPr>
          <p:cNvPr id="59394" name="Rectangle 5"/>
          <p:cNvSpPr>
            <a:spLocks noChangeArrowheads="1"/>
          </p:cNvSpPr>
          <p:nvPr/>
        </p:nvSpPr>
        <p:spPr bwMode="auto">
          <a:xfrm>
            <a:off x="4716463" y="511175"/>
            <a:ext cx="4392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2ème cas : n=0.2 et p</a:t>
            </a:r>
            <a:r>
              <a:rPr lang="fr-FR" altLang="fr-FR" sz="2000" baseline="30000"/>
              <a:t>2</a:t>
            </a:r>
            <a:r>
              <a:rPr lang="fr-FR" altLang="fr-FR" sz="2000"/>
              <a:t>=1 </a:t>
            </a:r>
            <a:r>
              <a:rPr lang="fr-FR" altLang="fr-FR" sz="1800">
                <a:sym typeface="Wingdings" panose="05000000000000000000" pitchFamily="2" charset="2"/>
              </a:rPr>
              <a:t></a:t>
            </a:r>
            <a:r>
              <a:rPr lang="fr-FR" altLang="fr-FR" sz="1800">
                <a:sym typeface="Symbol" panose="05050102010706020507" pitchFamily="18" charset="2"/>
              </a:rPr>
              <a:t>  </a:t>
            </a:r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=1.394</a:t>
            </a:r>
          </a:p>
        </p:txBody>
      </p:sp>
      <p:sp>
        <p:nvSpPr>
          <p:cNvPr id="59395" name="Text Box 6"/>
          <p:cNvSpPr txBox="1">
            <a:spLocks noChangeArrowheads="1"/>
          </p:cNvSpPr>
          <p:nvPr/>
        </p:nvSpPr>
        <p:spPr bwMode="auto">
          <a:xfrm>
            <a:off x="3276600" y="44450"/>
            <a:ext cx="3625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Etude de stabilité de RK2</a:t>
            </a:r>
          </a:p>
        </p:txBody>
      </p:sp>
      <p:pic>
        <p:nvPicPr>
          <p:cNvPr id="5939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908050"/>
            <a:ext cx="4318000" cy="275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657600"/>
            <a:ext cx="4318000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904875"/>
            <a:ext cx="4318000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9" name="Picture 1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613" y="3733800"/>
            <a:ext cx="4318000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0" name="Line 12"/>
          <p:cNvSpPr>
            <a:spLocks noChangeShapeType="1"/>
          </p:cNvSpPr>
          <p:nvPr/>
        </p:nvSpPr>
        <p:spPr bwMode="auto">
          <a:xfrm flipV="1">
            <a:off x="4643438" y="188913"/>
            <a:ext cx="0" cy="6669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59401" name="Rectangle 13"/>
          <p:cNvSpPr>
            <a:spLocks noChangeArrowheads="1"/>
          </p:cNvSpPr>
          <p:nvPr/>
        </p:nvSpPr>
        <p:spPr bwMode="auto">
          <a:xfrm>
            <a:off x="3059113" y="2924175"/>
            <a:ext cx="10985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STABLE</a:t>
            </a:r>
          </a:p>
        </p:txBody>
      </p:sp>
      <p:sp>
        <p:nvSpPr>
          <p:cNvPr id="59402" name="Rectangle 14"/>
          <p:cNvSpPr>
            <a:spLocks noChangeArrowheads="1"/>
          </p:cNvSpPr>
          <p:nvPr/>
        </p:nvSpPr>
        <p:spPr bwMode="auto">
          <a:xfrm>
            <a:off x="2987675" y="5734050"/>
            <a:ext cx="1327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INSTABLE</a:t>
            </a:r>
          </a:p>
        </p:txBody>
      </p:sp>
      <p:sp>
        <p:nvSpPr>
          <p:cNvPr id="59403" name="Rectangle 15"/>
          <p:cNvSpPr>
            <a:spLocks noChangeArrowheads="1"/>
          </p:cNvSpPr>
          <p:nvPr/>
        </p:nvSpPr>
        <p:spPr bwMode="auto">
          <a:xfrm>
            <a:off x="7566025" y="2924175"/>
            <a:ext cx="10985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STABLE</a:t>
            </a:r>
          </a:p>
        </p:txBody>
      </p:sp>
      <p:sp>
        <p:nvSpPr>
          <p:cNvPr id="59404" name="Rectangle 16"/>
          <p:cNvSpPr>
            <a:spLocks noChangeArrowheads="1"/>
          </p:cNvSpPr>
          <p:nvPr/>
        </p:nvSpPr>
        <p:spPr bwMode="auto">
          <a:xfrm>
            <a:off x="7566025" y="5734050"/>
            <a:ext cx="13271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b="1"/>
              <a:t>INSTABLE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42888"/>
            <a:ext cx="8229600" cy="1143001"/>
          </a:xfrm>
        </p:spPr>
        <p:txBody>
          <a:bodyPr/>
          <a:lstStyle/>
          <a:p>
            <a:pPr eaLnBrk="1" hangingPunct="1"/>
            <a:r>
              <a:rPr lang="fr-FR" altLang="fr-FR" sz="2400" smtClean="0">
                <a:solidFill>
                  <a:schemeClr val="tx1"/>
                </a:solidFill>
              </a:rPr>
              <a:t>Méthode de </a:t>
            </a:r>
            <a:r>
              <a:rPr lang="fr-FR" altLang="fr-FR" sz="2400" smtClean="0"/>
              <a:t>Runge-Kutta -  Ordre N</a:t>
            </a:r>
          </a:p>
        </p:txBody>
      </p:sp>
      <p:sp>
        <p:nvSpPr>
          <p:cNvPr id="6041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787900" y="692150"/>
            <a:ext cx="4356100" cy="2808288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fr-FR" altLang="fr-FR" sz="2000" smtClean="0"/>
              <a:t>Principe :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fr-FR" altLang="fr-FR" sz="2000" smtClean="0"/>
              <a:t>pour obtenir une approximation à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fr-FR" altLang="fr-FR" sz="2000" smtClean="0"/>
              <a:t>l’</a:t>
            </a:r>
            <a:r>
              <a:rPr lang="fr-FR" altLang="ja-JP" sz="2000" smtClean="0"/>
              <a:t>ordre N inclus, on combine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fr-FR" altLang="ja-JP" sz="2000" smtClean="0"/>
              <a:t>linéairement des estimations de f(t,y)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fr-FR" altLang="ja-JP" sz="2000" smtClean="0"/>
              <a:t>en un  nombre N d</a:t>
            </a:r>
            <a:r>
              <a:rPr lang="ja-JP" altLang="fr-FR" sz="2000" smtClean="0"/>
              <a:t>’</a:t>
            </a:r>
            <a:r>
              <a:rPr lang="fr-FR" altLang="ja-JP" sz="2000" smtClean="0"/>
              <a:t>instants t</a:t>
            </a:r>
            <a:r>
              <a:rPr lang="fr-FR" altLang="ja-JP" sz="2000" baseline="-25000" smtClean="0"/>
              <a:t>n,j</a:t>
            </a:r>
            <a:r>
              <a:rPr lang="fr-FR" altLang="ja-JP" sz="2000" smtClean="0"/>
              <a:t> dans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fr-FR" altLang="ja-JP" sz="2000" smtClean="0"/>
              <a:t>l’intervalle [t</a:t>
            </a:r>
            <a:r>
              <a:rPr lang="fr-FR" altLang="ja-JP" sz="2000" baseline="-25000" smtClean="0"/>
              <a:t>n</a:t>
            </a:r>
            <a:r>
              <a:rPr lang="fr-FR" altLang="ja-JP" sz="2000" smtClean="0"/>
              <a:t>, t</a:t>
            </a:r>
            <a:r>
              <a:rPr lang="fr-FR" altLang="ja-JP" sz="2000" baseline="-25000" smtClean="0"/>
              <a:t>n</a:t>
            </a:r>
            <a:r>
              <a:rPr lang="fr-FR" altLang="ja-JP" sz="2000" smtClean="0"/>
              <a:t>+Δ</a:t>
            </a:r>
            <a:r>
              <a:rPr lang="fr-FR" altLang="ja-JP" sz="2000" smtClean="0">
                <a:sym typeface="Symbol" panose="05050102010706020507" pitchFamily="18" charset="2"/>
              </a:rPr>
              <a:t>t]</a:t>
            </a:r>
            <a:r>
              <a:rPr lang="en-US" altLang="ja-JP" sz="2000" smtClean="0"/>
              <a:t> </a:t>
            </a:r>
            <a:endParaRPr lang="fr-FR" altLang="fr-FR" sz="2000" smtClean="0"/>
          </a:p>
        </p:txBody>
      </p:sp>
      <p:sp>
        <p:nvSpPr>
          <p:cNvPr id="6041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60420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6042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6042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60423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60424" name="Rectangle 9"/>
          <p:cNvSpPr>
            <a:spLocks noChangeArrowheads="1"/>
          </p:cNvSpPr>
          <p:nvPr/>
        </p:nvSpPr>
        <p:spPr bwMode="auto">
          <a:xfrm>
            <a:off x="-1116013" y="2276475"/>
            <a:ext cx="9144001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60425" name="Rectangle 10"/>
          <p:cNvSpPr>
            <a:spLocks noChangeArrowheads="1"/>
          </p:cNvSpPr>
          <p:nvPr/>
        </p:nvSpPr>
        <p:spPr bwMode="auto">
          <a:xfrm>
            <a:off x="0" y="18446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graphicFrame>
        <p:nvGraphicFramePr>
          <p:cNvPr id="60426" name="Object 11"/>
          <p:cNvGraphicFramePr>
            <a:graphicFrameLocks noChangeAspect="1"/>
          </p:cNvGraphicFramePr>
          <p:nvPr/>
        </p:nvGraphicFramePr>
        <p:xfrm>
          <a:off x="179388" y="692150"/>
          <a:ext cx="4464050" cy="2668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59" r:id="rId4" imgW="4700016" imgH="2816352" progId="Draw">
                  <p:embed/>
                </p:oleObj>
              </mc:Choice>
              <mc:Fallback>
                <p:oleObj r:id="rId4" imgW="4700016" imgH="2816352" progId="Draw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8" y="692150"/>
                        <a:ext cx="4464050" cy="2668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7" name="Text Box 12"/>
          <p:cNvSpPr txBox="1">
            <a:spLocks noChangeArrowheads="1"/>
          </p:cNvSpPr>
          <p:nvPr/>
        </p:nvSpPr>
        <p:spPr bwMode="auto">
          <a:xfrm>
            <a:off x="2051050" y="3692525"/>
            <a:ext cx="4881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Méthode de Runge-Kutta d</a:t>
            </a:r>
            <a:r>
              <a:rPr lang="ja-JP" altLang="fr-FR"/>
              <a:t>’</a:t>
            </a:r>
            <a:r>
              <a:rPr lang="fr-FR" altLang="ja-JP"/>
              <a:t>ordre 4</a:t>
            </a:r>
            <a:endParaRPr lang="fr-FR" altLang="fr-FR"/>
          </a:p>
        </p:txBody>
      </p:sp>
      <p:graphicFrame>
        <p:nvGraphicFramePr>
          <p:cNvPr id="6042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5828280"/>
              </p:ext>
            </p:extLst>
          </p:nvPr>
        </p:nvGraphicFramePr>
        <p:xfrm>
          <a:off x="661988" y="4221163"/>
          <a:ext cx="7820025" cy="232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0" name="Equation" r:id="rId6" imgW="4343400" imgH="1295280" progId="Equation.DSMT4">
                  <p:embed/>
                </p:oleObj>
              </mc:Choice>
              <mc:Fallback>
                <p:oleObj name="Equation" r:id="rId6" imgW="4343400" imgH="129528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988" y="4221163"/>
                        <a:ext cx="7820025" cy="232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71450"/>
            <a:ext cx="8229600" cy="1143000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Méthode RK4 - Programmation</a:t>
            </a:r>
          </a:p>
        </p:txBody>
      </p:sp>
      <p:sp>
        <p:nvSpPr>
          <p:cNvPr id="62466" name="Text Box 4"/>
          <p:cNvSpPr txBox="1">
            <a:spLocks noChangeArrowheads="1"/>
          </p:cNvSpPr>
          <p:nvPr/>
        </p:nvSpPr>
        <p:spPr bwMode="auto">
          <a:xfrm>
            <a:off x="2771775" y="981075"/>
            <a:ext cx="1771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EDO d</a:t>
            </a:r>
            <a:r>
              <a:rPr lang="ja-JP" altLang="fr-FR" sz="1800"/>
              <a:t>’</a:t>
            </a:r>
            <a:r>
              <a:rPr lang="fr-FR" altLang="ja-JP" sz="1800"/>
              <a:t>ordre 2 :</a:t>
            </a:r>
            <a:endParaRPr lang="fr-FR" altLang="fr-FR" sz="1800"/>
          </a:p>
        </p:txBody>
      </p:sp>
      <p:pic>
        <p:nvPicPr>
          <p:cNvPr id="6246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692150"/>
            <a:ext cx="1608137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2468" name="Object 6"/>
          <p:cNvGraphicFramePr>
            <a:graphicFrameLocks noChangeAspect="1"/>
          </p:cNvGraphicFramePr>
          <p:nvPr/>
        </p:nvGraphicFramePr>
        <p:xfrm>
          <a:off x="3995738" y="1582738"/>
          <a:ext cx="27416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85" name="Equation" r:id="rId4" imgW="1371600" imgH="419100" progId="Equation.DSMT4">
                  <p:embed/>
                </p:oleObj>
              </mc:Choice>
              <mc:Fallback>
                <p:oleObj name="Equation" r:id="rId4" imgW="13716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1582738"/>
                        <a:ext cx="274161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9" name="Text Box 7"/>
          <p:cNvSpPr txBox="1">
            <a:spLocks noChangeArrowheads="1"/>
          </p:cNvSpPr>
          <p:nvPr/>
        </p:nvSpPr>
        <p:spPr bwMode="auto">
          <a:xfrm>
            <a:off x="971550" y="3392488"/>
            <a:ext cx="7272338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Développer une fonction Matlab (rk4.m) résolvant l</a:t>
            </a:r>
            <a:r>
              <a:rPr lang="ja-JP" altLang="fr-FR" sz="2000"/>
              <a:t>’</a:t>
            </a:r>
            <a:r>
              <a:rPr lang="fr-FR" altLang="ja-JP" sz="2000"/>
              <a:t>EDO d</a:t>
            </a:r>
            <a:r>
              <a:rPr lang="ja-JP" altLang="fr-FR" sz="2000"/>
              <a:t>’</a:t>
            </a:r>
            <a:r>
              <a:rPr lang="fr-FR" altLang="ja-JP" sz="2000"/>
              <a:t>ordre 2 à l</a:t>
            </a:r>
            <a:r>
              <a:rPr lang="ja-JP" altLang="fr-FR" sz="2000"/>
              <a:t>’</a:t>
            </a:r>
            <a:r>
              <a:rPr lang="fr-FR" altLang="ja-JP" sz="2000"/>
              <a:t>aide de la méthode de Runge et Kutta 4</a:t>
            </a: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 	</a:t>
            </a:r>
          </a:p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Superposer la solution analytique pour évaluer la précision de la méthode RK4 en fonction du pas de temps</a:t>
            </a:r>
          </a:p>
          <a:p>
            <a:pPr algn="just" eaLnBrk="1" hangingPunct="1">
              <a:lnSpc>
                <a:spcPct val="120000"/>
              </a:lnSpc>
            </a:pPr>
            <a:endParaRPr lang="fr-FR" altLang="fr-FR" sz="2000"/>
          </a:p>
          <a:p>
            <a:pPr algn="just" eaLnBrk="1" hangingPunct="1">
              <a:lnSpc>
                <a:spcPct val="120000"/>
              </a:lnSpc>
            </a:pPr>
            <a:r>
              <a:rPr lang="fr-FR" altLang="fr-FR" sz="2000"/>
              <a:t>Il y a-t-il une limite de stabilité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4"/>
          <p:cNvSpPr>
            <a:spLocks noChangeArrowheads="1"/>
          </p:cNvSpPr>
          <p:nvPr/>
        </p:nvSpPr>
        <p:spPr bwMode="auto">
          <a:xfrm>
            <a:off x="457200" y="-1714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Méthode RK4 - Programmation</a:t>
            </a:r>
          </a:p>
        </p:txBody>
      </p:sp>
      <p:sp>
        <p:nvSpPr>
          <p:cNvPr id="63490" name="Text Box 5"/>
          <p:cNvSpPr txBox="1">
            <a:spLocks noChangeArrowheads="1"/>
          </p:cNvSpPr>
          <p:nvPr/>
        </p:nvSpPr>
        <p:spPr bwMode="auto">
          <a:xfrm>
            <a:off x="481013" y="966788"/>
            <a:ext cx="7762875" cy="522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rk4(@equadif,[ti tf dt],[y1i y2i y3i], options)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methode Runge et Kutta explicite ordre 4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[tvec, yvec]=rk4(f, param, y0, options)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intervalle d'etude en temps et pas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t0 = param(1);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tf = param(2);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h  = param(3);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sauvegarde du vecteur y0 dans la 1ere ligne du tableau yvec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n=1;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tvec(n) = t0;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yvec(n, :) = y0;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228B22"/>
                </a:solidFill>
                <a:latin typeface="Courier New" panose="02070309020205020404" pitchFamily="49" charset="0"/>
              </a:rPr>
              <a:t>% Intialisation des parametres de la methode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A = [1/6; 1/3; 1/3; 1/6];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t = t0;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y = y0;</a:t>
            </a:r>
            <a:endParaRPr lang="fr-FR" altLang="fr-FR" sz="1600"/>
          </a:p>
          <a:p>
            <a:pPr eaLnBrk="1" hangingPunct="1"/>
            <a:r>
              <a:rPr lang="fr-FR" altLang="fr-FR" sz="16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 Box 4"/>
          <p:cNvSpPr txBox="1">
            <a:spLocks noChangeArrowheads="1"/>
          </p:cNvSpPr>
          <p:nvPr/>
        </p:nvSpPr>
        <p:spPr bwMode="auto">
          <a:xfrm>
            <a:off x="376238" y="344488"/>
            <a:ext cx="6672262" cy="689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400" b="1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(t&lt;tf)  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%calcul des derivees en debut de pas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f1=f(t, y);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%calcul des valeurs en milieu de pas : 1ere approximation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t2=t + h/2;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y2=y + f1*h/2;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f2=f(t2,y2);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%calcul des valeurs en milieu de pas : 2eme approximation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y3=y + f2*h/2;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f3=f(t2,y3);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calcul de la valeur en fin de pas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t4=t + h;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y4=y + f3*h;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f4=f(t4,y4);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calcul de la valeur globale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dy=h*(A(1)*f1+A(2)*f2+A(3)*f3+A(4)*f4);    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y=y+dy;   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n=n+1;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pas suivant    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t=t+h;    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228B22"/>
                </a:solidFill>
                <a:latin typeface="Courier New" panose="02070309020205020404" pitchFamily="49" charset="0"/>
              </a:rPr>
              <a:t>% stockage    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tvec(n)=t;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00"/>
                </a:solidFill>
                <a:latin typeface="Courier New" panose="02070309020205020404" pitchFamily="49" charset="0"/>
              </a:rPr>
              <a:t>    yvec(n, :)=y;    </a:t>
            </a:r>
            <a:endParaRPr lang="fr-FR" altLang="fr-FR" sz="1400" b="1"/>
          </a:p>
          <a:p>
            <a:pPr eaLnBrk="1" hangingPunct="1"/>
            <a:r>
              <a:rPr lang="fr-FR" altLang="fr-FR" sz="1400" b="1">
                <a:solidFill>
                  <a:srgbClr val="0000FF"/>
                </a:solidFill>
                <a:latin typeface="Courier New" panose="02070309020205020404" pitchFamily="49" charset="0"/>
              </a:rPr>
              <a:t>end</a:t>
            </a:r>
            <a:endParaRPr lang="fr-FR" altLang="fr-FR" sz="1400" b="1"/>
          </a:p>
          <a:p>
            <a:pPr eaLnBrk="1" hangingPunct="1"/>
            <a:endParaRPr lang="fr-FR" altLang="fr-FR" sz="1400" b="1"/>
          </a:p>
          <a:p>
            <a:pPr eaLnBrk="1" hangingPunct="1"/>
            <a:endParaRPr lang="fr-FR" altLang="fr-FR" sz="14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8"/>
          <a:stretch>
            <a:fillRect/>
          </a:stretch>
        </p:blipFill>
        <p:spPr bwMode="auto">
          <a:xfrm>
            <a:off x="395288" y="635000"/>
            <a:ext cx="4318000" cy="279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8" name="Picture 2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652463"/>
            <a:ext cx="4318000" cy="277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39" name="Picture 2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3500438"/>
            <a:ext cx="4318000" cy="276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5540" name="Picture 2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3429000"/>
            <a:ext cx="4318000" cy="281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Text Box 2"/>
          <p:cNvSpPr txBox="1">
            <a:spLocks noChangeArrowheads="1"/>
          </p:cNvSpPr>
          <p:nvPr/>
        </p:nvSpPr>
        <p:spPr bwMode="auto">
          <a:xfrm>
            <a:off x="1725613" y="0"/>
            <a:ext cx="5151437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>
                <a:solidFill>
                  <a:schemeClr val="tx2"/>
                </a:solidFill>
              </a:rPr>
              <a:t>Méthode RK4 – Stabilité et Précision</a:t>
            </a:r>
          </a:p>
        </p:txBody>
      </p:sp>
      <p:graphicFrame>
        <p:nvGraphicFramePr>
          <p:cNvPr id="65542" name="Object 11"/>
          <p:cNvGraphicFramePr>
            <a:graphicFrameLocks noChangeAspect="1"/>
          </p:cNvGraphicFramePr>
          <p:nvPr/>
        </p:nvGraphicFramePr>
        <p:xfrm>
          <a:off x="3635375" y="5876925"/>
          <a:ext cx="195421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4" name="Equation" r:id="rId7" imgW="990600" imgH="419100" progId="Equation.DSMT4">
                  <p:embed/>
                </p:oleObj>
              </mc:Choice>
              <mc:Fallback>
                <p:oleObj name="Equation" r:id="rId7" imgW="990600" imgH="419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876925"/>
                        <a:ext cx="1954213" cy="7397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3" name="Text Box 12"/>
          <p:cNvSpPr txBox="1">
            <a:spLocks noChangeArrowheads="1"/>
          </p:cNvSpPr>
          <p:nvPr/>
        </p:nvSpPr>
        <p:spPr bwMode="auto">
          <a:xfrm>
            <a:off x="1476375" y="1420813"/>
            <a:ext cx="2838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grande précision</a:t>
            </a:r>
          </a:p>
        </p:txBody>
      </p:sp>
      <p:sp>
        <p:nvSpPr>
          <p:cNvPr id="65544" name="Text Box 14"/>
          <p:cNvSpPr txBox="1">
            <a:spLocks noChangeArrowheads="1"/>
          </p:cNvSpPr>
          <p:nvPr/>
        </p:nvSpPr>
        <p:spPr bwMode="auto">
          <a:xfrm>
            <a:off x="1619250" y="4292600"/>
            <a:ext cx="2127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précision </a:t>
            </a:r>
          </a:p>
          <a:p>
            <a:pPr eaLnBrk="1" hangingPunct="1"/>
            <a:r>
              <a:rPr lang="fr-FR" altLang="fr-FR" sz="1800"/>
              <a:t>médiocre</a:t>
            </a:r>
          </a:p>
        </p:txBody>
      </p:sp>
      <p:sp>
        <p:nvSpPr>
          <p:cNvPr id="65545" name="Text Box 15"/>
          <p:cNvSpPr txBox="1">
            <a:spLocks noChangeArrowheads="1"/>
          </p:cNvSpPr>
          <p:nvPr/>
        </p:nvSpPr>
        <p:spPr bwMode="auto">
          <a:xfrm>
            <a:off x="5003800" y="3797300"/>
            <a:ext cx="2457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Instable donc imprécis</a:t>
            </a:r>
          </a:p>
        </p:txBody>
      </p:sp>
      <p:sp>
        <p:nvSpPr>
          <p:cNvPr id="65546" name="Text Box 16"/>
          <p:cNvSpPr txBox="1">
            <a:spLocks noChangeArrowheads="1"/>
          </p:cNvSpPr>
          <p:nvPr/>
        </p:nvSpPr>
        <p:spPr bwMode="auto">
          <a:xfrm>
            <a:off x="395288" y="6165850"/>
            <a:ext cx="3201987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600" b="1"/>
              <a:t>La précision est controlée par :</a:t>
            </a:r>
          </a:p>
        </p:txBody>
      </p:sp>
      <p:sp>
        <p:nvSpPr>
          <p:cNvPr id="65547" name="Text Box 20"/>
          <p:cNvSpPr txBox="1">
            <a:spLocks noChangeArrowheads="1"/>
          </p:cNvSpPr>
          <p:nvPr/>
        </p:nvSpPr>
        <p:spPr bwMode="auto">
          <a:xfrm>
            <a:off x="5940425" y="1196975"/>
            <a:ext cx="283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Stable et grande précision</a:t>
            </a:r>
          </a:p>
        </p:txBody>
      </p:sp>
      <p:sp>
        <p:nvSpPr>
          <p:cNvPr id="65548" name="Rectangle 27"/>
          <p:cNvSpPr>
            <a:spLocks noChangeArrowheads="1"/>
          </p:cNvSpPr>
          <p:nvPr/>
        </p:nvSpPr>
        <p:spPr bwMode="auto">
          <a:xfrm>
            <a:off x="6838950" y="0"/>
            <a:ext cx="23050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cas : n=1.5 et p</a:t>
            </a:r>
            <a:r>
              <a:rPr lang="fr-FR" altLang="fr-FR" sz="2000" baseline="30000"/>
              <a:t>2</a:t>
            </a:r>
            <a:r>
              <a:rPr lang="fr-FR" altLang="fr-FR" sz="2000"/>
              <a:t>=2</a:t>
            </a:r>
            <a:endParaRPr lang="fr-FR" altLang="fr-FR" sz="200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561" name="Object 17"/>
          <p:cNvGraphicFramePr>
            <a:graphicFrameLocks noChangeAspect="1"/>
          </p:cNvGraphicFramePr>
          <p:nvPr/>
        </p:nvGraphicFramePr>
        <p:xfrm>
          <a:off x="1619250" y="2492375"/>
          <a:ext cx="511333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6" name="Equation" r:id="rId3" imgW="2997200" imgH="508000" progId="Equation.DSMT4">
                  <p:embed/>
                </p:oleObj>
              </mc:Choice>
              <mc:Fallback>
                <p:oleObj name="Equation" r:id="rId3" imgW="2997200" imgH="5080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492375"/>
                        <a:ext cx="5113338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2" name="Object 5"/>
          <p:cNvGraphicFramePr>
            <a:graphicFrameLocks noChangeAspect="1"/>
          </p:cNvGraphicFramePr>
          <p:nvPr/>
        </p:nvGraphicFramePr>
        <p:xfrm>
          <a:off x="4511675" y="454025"/>
          <a:ext cx="416401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7" name="Equation" r:id="rId5" imgW="2552700" imgH="508000" progId="Equation.DSMT4">
                  <p:embed/>
                </p:oleObj>
              </mc:Choice>
              <mc:Fallback>
                <p:oleObj name="Equation" r:id="rId5" imgW="2552700" imgH="508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1675" y="454025"/>
                        <a:ext cx="4164013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3" name="Text Box 7"/>
          <p:cNvSpPr txBox="1">
            <a:spLocks noChangeArrowheads="1"/>
          </p:cNvSpPr>
          <p:nvPr/>
        </p:nvSpPr>
        <p:spPr bwMode="auto">
          <a:xfrm>
            <a:off x="250825" y="4797425"/>
            <a:ext cx="54777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 dirty="0"/>
              <a:t> Si </a:t>
            </a:r>
            <a:r>
              <a:rPr lang="fr-FR" altLang="fr-FR" sz="1800" b="1" dirty="0">
                <a:solidFill>
                  <a:srgbClr val="A50021"/>
                </a:solidFill>
              </a:rPr>
              <a:t>tous les </a:t>
            </a:r>
            <a:r>
              <a:rPr lang="fr-FR" altLang="fr-FR" sz="1800" dirty="0" smtClean="0">
                <a:latin typeface="Symbol" panose="05050102010706020507" pitchFamily="18" charset="2"/>
              </a:rPr>
              <a:t>l</a:t>
            </a:r>
            <a:r>
              <a:rPr lang="fr-FR" altLang="fr-FR" sz="1800" baseline="-25000" dirty="0" smtClean="0"/>
              <a:t>i</a:t>
            </a:r>
            <a:r>
              <a:rPr lang="fr-FR" altLang="fr-FR" sz="1800" dirty="0" smtClean="0">
                <a:sym typeface="Symbol" panose="05050102010706020507" pitchFamily="18" charset="2"/>
              </a:rPr>
              <a:t> </a:t>
            </a:r>
            <a:r>
              <a:rPr lang="fr-FR" altLang="fr-FR" sz="1800" dirty="0">
                <a:sym typeface="Symbol" panose="05050102010706020507" pitchFamily="18" charset="2"/>
              </a:rPr>
              <a:t>réels négatifs </a:t>
            </a:r>
            <a:r>
              <a:rPr lang="fr-FR" altLang="fr-FR" sz="1800" dirty="0">
                <a:sym typeface="Math5" pitchFamily="2" charset="2"/>
              </a:rPr>
              <a:t>alors</a:t>
            </a:r>
            <a:r>
              <a:rPr lang="fr-FR" altLang="fr-FR" sz="1800" dirty="0"/>
              <a:t> schéma stable si</a:t>
            </a:r>
          </a:p>
        </p:txBody>
      </p:sp>
      <p:graphicFrame>
        <p:nvGraphicFramePr>
          <p:cNvPr id="66564" name="Object 8"/>
          <p:cNvGraphicFramePr>
            <a:graphicFrameLocks noChangeAspect="1"/>
          </p:cNvGraphicFramePr>
          <p:nvPr/>
        </p:nvGraphicFramePr>
        <p:xfrm>
          <a:off x="5607050" y="4645025"/>
          <a:ext cx="335756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8" name="Equation" r:id="rId7" imgW="1866090" imgH="444307" progId="Equation.3">
                  <p:embed/>
                </p:oleObj>
              </mc:Choice>
              <mc:Fallback>
                <p:oleObj name="Equation" r:id="rId7" imgW="1866090" imgH="44430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4645025"/>
                        <a:ext cx="335756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5" name="Text Box 9"/>
          <p:cNvSpPr txBox="1">
            <a:spLocks noChangeArrowheads="1"/>
          </p:cNvSpPr>
          <p:nvPr/>
        </p:nvSpPr>
        <p:spPr bwMode="auto">
          <a:xfrm>
            <a:off x="250825" y="5438775"/>
            <a:ext cx="8224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 dirty="0"/>
              <a:t> Si </a:t>
            </a:r>
            <a:r>
              <a:rPr lang="fr-FR" altLang="fr-FR" sz="1800" b="1" dirty="0">
                <a:solidFill>
                  <a:srgbClr val="A50021"/>
                </a:solidFill>
              </a:rPr>
              <a:t>les </a:t>
            </a:r>
            <a:r>
              <a:rPr lang="fr-FR" altLang="fr-FR" sz="1800" dirty="0" smtClean="0">
                <a:latin typeface="Symbol" panose="05050102010706020507" pitchFamily="18" charset="2"/>
              </a:rPr>
              <a:t>l</a:t>
            </a:r>
            <a:r>
              <a:rPr lang="fr-FR" altLang="fr-FR" sz="1800" baseline="-25000" dirty="0" smtClean="0"/>
              <a:t>i</a:t>
            </a:r>
            <a:r>
              <a:rPr lang="fr-FR" altLang="fr-FR" sz="1800" dirty="0" smtClean="0">
                <a:sym typeface="Symbol" panose="05050102010706020507" pitchFamily="18" charset="2"/>
              </a:rPr>
              <a:t> </a:t>
            </a:r>
            <a:r>
              <a:rPr lang="fr-FR" altLang="fr-FR" sz="1800" dirty="0">
                <a:sym typeface="Symbol" panose="05050102010706020507" pitchFamily="18" charset="2"/>
              </a:rPr>
              <a:t>complexes </a:t>
            </a:r>
            <a:r>
              <a:rPr lang="fr-FR" altLang="fr-FR" sz="1800" dirty="0">
                <a:sym typeface="Math5" pitchFamily="2" charset="2"/>
              </a:rPr>
              <a:t>il faut déterminer l</a:t>
            </a:r>
            <a:r>
              <a:rPr lang="ja-JP" altLang="fr-FR" sz="1800" dirty="0">
                <a:sym typeface="Math5" pitchFamily="2" charset="2"/>
              </a:rPr>
              <a:t>’</a:t>
            </a:r>
            <a:r>
              <a:rPr lang="fr-FR" altLang="ja-JP" sz="1800" dirty="0">
                <a:sym typeface="Math5" pitchFamily="2" charset="2"/>
              </a:rPr>
              <a:t>intersection des contraintes de stabilité</a:t>
            </a:r>
            <a:endParaRPr lang="fr-FR" altLang="fr-FR" sz="1800" dirty="0"/>
          </a:p>
        </p:txBody>
      </p:sp>
      <p:graphicFrame>
        <p:nvGraphicFramePr>
          <p:cNvPr id="66566" name="Object 10"/>
          <p:cNvGraphicFramePr>
            <a:graphicFrameLocks noChangeAspect="1"/>
          </p:cNvGraphicFramePr>
          <p:nvPr/>
        </p:nvGraphicFramePr>
        <p:xfrm>
          <a:off x="1436688" y="5786438"/>
          <a:ext cx="3640137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69" name="Equation" r:id="rId9" imgW="2171700" imgH="482600" progId="Equation.3">
                  <p:embed/>
                </p:oleObj>
              </mc:Choice>
              <mc:Fallback>
                <p:oleObj name="Equation" r:id="rId9" imgW="2171700" imgH="482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6688" y="5786438"/>
                        <a:ext cx="3640137" cy="81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7" name="Rectangle 11"/>
          <p:cNvSpPr>
            <a:spLocks noChangeArrowheads="1"/>
          </p:cNvSpPr>
          <p:nvPr/>
        </p:nvSpPr>
        <p:spPr bwMode="auto">
          <a:xfrm>
            <a:off x="539750" y="0"/>
            <a:ext cx="82296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Conditions de stabilité du schéma RK4</a:t>
            </a:r>
          </a:p>
        </p:txBody>
      </p:sp>
      <p:sp>
        <p:nvSpPr>
          <p:cNvPr id="66568" name="Text Box 12"/>
          <p:cNvSpPr txBox="1">
            <a:spLocks noChangeArrowheads="1"/>
          </p:cNvSpPr>
          <p:nvPr/>
        </p:nvSpPr>
        <p:spPr bwMode="auto">
          <a:xfrm>
            <a:off x="323850" y="681038"/>
            <a:ext cx="424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Propagation d</a:t>
            </a:r>
            <a:r>
              <a:rPr lang="ja-JP" altLang="fr-FR" sz="2000"/>
              <a:t>’</a:t>
            </a:r>
            <a:r>
              <a:rPr lang="fr-FR" altLang="ja-JP" sz="2000"/>
              <a:t>une erreur au pas n : </a:t>
            </a:r>
            <a:endParaRPr lang="fr-FR" altLang="fr-FR" sz="2000"/>
          </a:p>
        </p:txBody>
      </p:sp>
      <p:sp>
        <p:nvSpPr>
          <p:cNvPr id="66569" name="Text Box 14"/>
          <p:cNvSpPr txBox="1">
            <a:spLocks noChangeArrowheads="1"/>
          </p:cNvSpPr>
          <p:nvPr/>
        </p:nvSpPr>
        <p:spPr bwMode="auto">
          <a:xfrm>
            <a:off x="323850" y="2049463"/>
            <a:ext cx="5657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En se plaçant dans la base propre de Â telle que</a:t>
            </a:r>
          </a:p>
        </p:txBody>
      </p:sp>
      <p:graphicFrame>
        <p:nvGraphicFramePr>
          <p:cNvPr id="66570" name="Object 15"/>
          <p:cNvGraphicFramePr>
            <a:graphicFrameLocks noChangeAspect="1"/>
          </p:cNvGraphicFramePr>
          <p:nvPr/>
        </p:nvGraphicFramePr>
        <p:xfrm>
          <a:off x="6084888" y="2051050"/>
          <a:ext cx="144303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70" name="Equation" r:id="rId11" imgW="799753" imgH="241195" progId="Equation.3">
                  <p:embed/>
                </p:oleObj>
              </mc:Choice>
              <mc:Fallback>
                <p:oleObj name="Equation" r:id="rId11" imgW="799753" imgH="241195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051050"/>
                        <a:ext cx="144303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1" name="Text Box 16"/>
          <p:cNvSpPr txBox="1">
            <a:spLocks noChangeArrowheads="1"/>
          </p:cNvSpPr>
          <p:nvPr/>
        </p:nvSpPr>
        <p:spPr bwMode="auto">
          <a:xfrm>
            <a:off x="323850" y="1231900"/>
            <a:ext cx="82327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Le schéma est stable s</a:t>
            </a:r>
            <a:r>
              <a:rPr lang="ja-JP" altLang="fr-FR" sz="2000"/>
              <a:t>’</a:t>
            </a:r>
            <a:r>
              <a:rPr lang="fr-FR" altLang="ja-JP" sz="2000"/>
              <a:t>il y a atténuation à chaque pas de temps,</a:t>
            </a:r>
          </a:p>
          <a:p>
            <a:pPr eaLnBrk="1" hangingPunct="1"/>
            <a:r>
              <a:rPr lang="fr-FR" altLang="fr-FR" sz="2000"/>
              <a:t>autrement dit que le gain G soit faible par rapport à 1 (préciser ci-après)</a:t>
            </a:r>
          </a:p>
        </p:txBody>
      </p:sp>
      <p:sp>
        <p:nvSpPr>
          <p:cNvPr id="66572" name="Text Box 18"/>
          <p:cNvSpPr txBox="1">
            <a:spLocks noChangeArrowheads="1"/>
          </p:cNvSpPr>
          <p:nvPr/>
        </p:nvSpPr>
        <p:spPr bwMode="auto">
          <a:xfrm>
            <a:off x="376238" y="3592513"/>
            <a:ext cx="40782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Le schéma reste stable si pour tout </a:t>
            </a:r>
            <a:r>
              <a:rPr lang="el-GR" altLang="fr-FR" sz="1800"/>
              <a:t>λ</a:t>
            </a:r>
            <a:r>
              <a:rPr lang="fr-FR" altLang="fr-FR" sz="1800" baseline="-25000"/>
              <a:t>i</a:t>
            </a:r>
            <a:r>
              <a:rPr lang="fr-FR" altLang="fr-FR" sz="1800"/>
              <a:t> :</a:t>
            </a:r>
            <a:endParaRPr lang="el-GR" altLang="fr-FR" sz="1800"/>
          </a:p>
        </p:txBody>
      </p:sp>
      <p:graphicFrame>
        <p:nvGraphicFramePr>
          <p:cNvPr id="66573" name="Object 19"/>
          <p:cNvGraphicFramePr>
            <a:graphicFrameLocks noChangeAspect="1"/>
          </p:cNvGraphicFramePr>
          <p:nvPr/>
        </p:nvGraphicFramePr>
        <p:xfrm>
          <a:off x="4500563" y="3409950"/>
          <a:ext cx="3640137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71" name="Equation" r:id="rId13" imgW="2171700" imgH="482600" progId="Equation.3">
                  <p:embed/>
                </p:oleObj>
              </mc:Choice>
              <mc:Fallback>
                <p:oleObj name="Equation" r:id="rId13" imgW="2171700" imgH="4826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3409950"/>
                        <a:ext cx="3640137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74" name="Text Box 20"/>
          <p:cNvSpPr txBox="1">
            <a:spLocks noChangeArrowheads="1"/>
          </p:cNvSpPr>
          <p:nvPr/>
        </p:nvSpPr>
        <p:spPr bwMode="auto">
          <a:xfrm>
            <a:off x="250825" y="4214813"/>
            <a:ext cx="7648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buFontTx/>
              <a:buChar char="•"/>
            </a:pPr>
            <a:r>
              <a:rPr lang="fr-FR" altLang="fr-FR" sz="1800" dirty="0"/>
              <a:t> Si tous les </a:t>
            </a:r>
            <a:r>
              <a:rPr lang="fr-FR" altLang="fr-FR" sz="1800" dirty="0" smtClean="0">
                <a:latin typeface="Symbol" panose="05050102010706020507" pitchFamily="18" charset="2"/>
              </a:rPr>
              <a:t>l</a:t>
            </a:r>
            <a:r>
              <a:rPr lang="fr-FR" altLang="fr-FR" sz="1800" baseline="-25000" dirty="0" smtClean="0"/>
              <a:t>i</a:t>
            </a:r>
            <a:r>
              <a:rPr lang="fr-FR" altLang="fr-FR" sz="1800" dirty="0" smtClean="0">
                <a:sym typeface="Symbol" panose="05050102010706020507" pitchFamily="18" charset="2"/>
              </a:rPr>
              <a:t> </a:t>
            </a:r>
            <a:r>
              <a:rPr lang="fr-FR" altLang="fr-FR" sz="1800" dirty="0">
                <a:sym typeface="Symbol" panose="05050102010706020507" pitchFamily="18" charset="2"/>
              </a:rPr>
              <a:t>réels</a:t>
            </a:r>
            <a:r>
              <a:rPr lang="fr-FR" altLang="fr-FR" sz="1800" dirty="0">
                <a:sym typeface="Math5" pitchFamily="2" charset="2"/>
              </a:rPr>
              <a:t>  et s</a:t>
            </a:r>
            <a:r>
              <a:rPr lang="ja-JP" altLang="fr-FR" sz="1800" dirty="0">
                <a:sym typeface="Math5" pitchFamily="2" charset="2"/>
              </a:rPr>
              <a:t>’</a:t>
            </a:r>
            <a:r>
              <a:rPr lang="fr-FR" altLang="ja-JP" sz="1800" dirty="0">
                <a:sym typeface="Math5" pitchFamily="2" charset="2"/>
              </a:rPr>
              <a:t>il existe au moins un </a:t>
            </a:r>
            <a:r>
              <a:rPr lang="fr-FR" altLang="ja-JP" sz="1800" dirty="0">
                <a:latin typeface="Symbol" panose="05050102010706020507" pitchFamily="18" charset="2"/>
              </a:rPr>
              <a:t>l</a:t>
            </a:r>
            <a:r>
              <a:rPr lang="fr-FR" altLang="ja-JP" sz="1800" baseline="-25000" dirty="0"/>
              <a:t>i</a:t>
            </a:r>
            <a:r>
              <a:rPr lang="fr-FR" altLang="ja-JP" sz="1800" dirty="0"/>
              <a:t>&gt;0 alors schéma instable</a:t>
            </a:r>
            <a:endParaRPr lang="fr-FR" altLang="fr-FR" sz="1800" dirty="0"/>
          </a:p>
        </p:txBody>
      </p:sp>
      <p:sp>
        <p:nvSpPr>
          <p:cNvPr id="66575" name="Text Box 21"/>
          <p:cNvSpPr txBox="1">
            <a:spLocks noChangeArrowheads="1"/>
          </p:cNvSpPr>
          <p:nvPr/>
        </p:nvSpPr>
        <p:spPr bwMode="auto">
          <a:xfrm>
            <a:off x="5272088" y="5951538"/>
            <a:ext cx="2508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et choisir le plus petit 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585" name="Object 2"/>
          <p:cNvGraphicFramePr>
            <a:graphicFrameLocks noChangeAspect="1"/>
          </p:cNvGraphicFramePr>
          <p:nvPr/>
        </p:nvGraphicFramePr>
        <p:xfrm>
          <a:off x="2252663" y="1214438"/>
          <a:ext cx="6403975" cy="192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5" name="Equation" r:id="rId3" imgW="3556000" imgH="1066800" progId="Equation.DSMT4">
                  <p:embed/>
                </p:oleObj>
              </mc:Choice>
              <mc:Fallback>
                <p:oleObj name="Equation" r:id="rId3" imgW="3556000" imgH="10668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663" y="1214438"/>
                        <a:ext cx="6403975" cy="192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86" name="Rectangle 3"/>
          <p:cNvSpPr>
            <a:spLocks noChangeArrowheads="1"/>
          </p:cNvSpPr>
          <p:nvPr/>
        </p:nvSpPr>
        <p:spPr bwMode="auto">
          <a:xfrm>
            <a:off x="1295400" y="115888"/>
            <a:ext cx="73802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fr-FR" altLang="fr-FR">
                <a:solidFill>
                  <a:schemeClr val="tx2"/>
                </a:solidFill>
              </a:rPr>
              <a:t>Analyse de stabilité / Exemple 1</a:t>
            </a:r>
          </a:p>
        </p:txBody>
      </p:sp>
      <p:pic>
        <p:nvPicPr>
          <p:cNvPr id="67587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908050"/>
            <a:ext cx="1608138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8" name="Text Box 5"/>
          <p:cNvSpPr txBox="1">
            <a:spLocks noChangeArrowheads="1"/>
          </p:cNvSpPr>
          <p:nvPr/>
        </p:nvSpPr>
        <p:spPr bwMode="auto">
          <a:xfrm>
            <a:off x="1116013" y="3500438"/>
            <a:ext cx="7056437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fr-FR" altLang="fr-FR" sz="2000"/>
              <a:t>Calculer la limite de stabilité dans les 2 cas</a:t>
            </a:r>
          </a:p>
          <a:p>
            <a:pPr lvl="1" eaLnBrk="1" hangingPunct="1">
              <a:lnSpc>
                <a:spcPct val="120000"/>
              </a:lnSpc>
            </a:pPr>
            <a:r>
              <a:rPr lang="fr-FR" altLang="fr-FR" sz="2000"/>
              <a:t>1</a:t>
            </a:r>
            <a:r>
              <a:rPr lang="fr-FR" altLang="fr-FR" sz="2000" baseline="30000"/>
              <a:t>er</a:t>
            </a:r>
            <a:r>
              <a:rPr lang="fr-FR" altLang="fr-FR" sz="2000"/>
              <a:t> cas : n=1.5 et p</a:t>
            </a:r>
            <a:r>
              <a:rPr lang="fr-FR" altLang="fr-FR" sz="2000" baseline="30000"/>
              <a:t>2</a:t>
            </a:r>
            <a:r>
              <a:rPr lang="fr-FR" altLang="fr-FR" sz="2000"/>
              <a:t>=2</a:t>
            </a:r>
          </a:p>
          <a:p>
            <a:pPr lvl="1" eaLnBrk="1" hangingPunct="1">
              <a:lnSpc>
                <a:spcPct val="120000"/>
              </a:lnSpc>
            </a:pPr>
            <a:r>
              <a:rPr lang="fr-FR" altLang="fr-FR" sz="2000"/>
              <a:t>2</a:t>
            </a:r>
            <a:r>
              <a:rPr lang="fr-FR" altLang="fr-FR" sz="2000" baseline="30000"/>
              <a:t>ème</a:t>
            </a:r>
            <a:r>
              <a:rPr lang="fr-FR" altLang="fr-FR" sz="2000"/>
              <a:t> cas : n=0.2 et p</a:t>
            </a:r>
            <a:r>
              <a:rPr lang="fr-FR" altLang="fr-FR" sz="2000" baseline="30000"/>
              <a:t>2</a:t>
            </a:r>
            <a:r>
              <a:rPr lang="fr-FR" altLang="fr-FR" sz="2000"/>
              <a:t>=1 </a:t>
            </a:r>
          </a:p>
          <a:p>
            <a:pPr lvl="1" eaLnBrk="1" hangingPunct="1">
              <a:lnSpc>
                <a:spcPct val="120000"/>
              </a:lnSpc>
            </a:pPr>
            <a:r>
              <a:rPr lang="fr-FR" altLang="fr-FR" sz="1800" i="1"/>
              <a:t>Pour déterminer graphiquement la condition de stabilité, vous inspirer de stabilite.m</a:t>
            </a:r>
            <a:endParaRPr lang="fr-FR" altLang="fr-FR" sz="2000"/>
          </a:p>
          <a:p>
            <a:pPr lvl="2" algn="just" eaLnBrk="1" hangingPunct="1">
              <a:lnSpc>
                <a:spcPct val="120000"/>
              </a:lnSpc>
            </a:pPr>
            <a:endParaRPr lang="fr-FR" altLang="fr-FR" sz="2000"/>
          </a:p>
          <a:p>
            <a:pPr eaLnBrk="1" hangingPunct="1">
              <a:lnSpc>
                <a:spcPct val="120000"/>
              </a:lnSpc>
            </a:pPr>
            <a:r>
              <a:rPr lang="fr-FR" altLang="fr-FR" sz="2000"/>
              <a:t>Mettre en évidence les instabilités de la méthode RK4</a:t>
            </a:r>
          </a:p>
        </p:txBody>
      </p:sp>
      <p:sp>
        <p:nvSpPr>
          <p:cNvPr id="67589" name="Text Box 6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0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692"/>
          <a:stretch>
            <a:fillRect/>
          </a:stretch>
        </p:blipFill>
        <p:spPr bwMode="auto">
          <a:xfrm>
            <a:off x="2500313" y="4652963"/>
            <a:ext cx="6643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40"/>
          <a:stretch>
            <a:fillRect/>
          </a:stretch>
        </p:blipFill>
        <p:spPr bwMode="auto">
          <a:xfrm>
            <a:off x="179388" y="1296988"/>
            <a:ext cx="7916862" cy="256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64"/>
          <a:stretch>
            <a:fillRect/>
          </a:stretch>
        </p:blipFill>
        <p:spPr bwMode="auto">
          <a:xfrm>
            <a:off x="255588" y="4200525"/>
            <a:ext cx="7916862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612" name="Text Box 10"/>
          <p:cNvSpPr txBox="1">
            <a:spLocks noChangeArrowheads="1"/>
          </p:cNvSpPr>
          <p:nvPr/>
        </p:nvSpPr>
        <p:spPr bwMode="auto">
          <a:xfrm>
            <a:off x="3995738" y="2060575"/>
            <a:ext cx="965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=1.39</a:t>
            </a:r>
          </a:p>
        </p:txBody>
      </p:sp>
      <p:sp>
        <p:nvSpPr>
          <p:cNvPr id="68613" name="Text Box 11"/>
          <p:cNvSpPr txBox="1">
            <a:spLocks noChangeArrowheads="1"/>
          </p:cNvSpPr>
          <p:nvPr/>
        </p:nvSpPr>
        <p:spPr bwMode="auto">
          <a:xfrm>
            <a:off x="6732588" y="4724400"/>
            <a:ext cx="96520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=2.94</a:t>
            </a:r>
          </a:p>
        </p:txBody>
      </p:sp>
      <p:sp>
        <p:nvSpPr>
          <p:cNvPr id="68614" name="Text Box 12"/>
          <p:cNvSpPr txBox="1">
            <a:spLocks noChangeArrowheads="1"/>
          </p:cNvSpPr>
          <p:nvPr/>
        </p:nvSpPr>
        <p:spPr bwMode="auto">
          <a:xfrm>
            <a:off x="539750" y="908050"/>
            <a:ext cx="203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RK4 n=1.5 p2=2</a:t>
            </a:r>
          </a:p>
        </p:txBody>
      </p:sp>
      <p:sp>
        <p:nvSpPr>
          <p:cNvPr id="68615" name="Text Box 13"/>
          <p:cNvSpPr txBox="1">
            <a:spLocks noChangeArrowheads="1"/>
          </p:cNvSpPr>
          <p:nvPr/>
        </p:nvSpPr>
        <p:spPr bwMode="auto">
          <a:xfrm>
            <a:off x="539750" y="3824288"/>
            <a:ext cx="203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RK4 n=0.2 p2=1</a:t>
            </a:r>
          </a:p>
        </p:txBody>
      </p:sp>
      <p:sp>
        <p:nvSpPr>
          <p:cNvPr id="68616" name="Text Box 14"/>
          <p:cNvSpPr txBox="1">
            <a:spLocks noChangeArrowheads="1"/>
          </p:cNvSpPr>
          <p:nvPr/>
        </p:nvSpPr>
        <p:spPr bwMode="auto">
          <a:xfrm>
            <a:off x="1258888" y="92075"/>
            <a:ext cx="6457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Etude théorique de la stabilité du schéma RK4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052513"/>
            <a:ext cx="4318000" cy="276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3929063"/>
            <a:ext cx="4318000" cy="281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5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1052513"/>
            <a:ext cx="4318000" cy="276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6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0" y="3929063"/>
            <a:ext cx="4318000" cy="277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7" name="Rectangle 8"/>
          <p:cNvSpPr>
            <a:spLocks noChangeArrowheads="1"/>
          </p:cNvSpPr>
          <p:nvPr/>
        </p:nvSpPr>
        <p:spPr bwMode="auto">
          <a:xfrm>
            <a:off x="255588" y="473075"/>
            <a:ext cx="41719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1er cas : n=1.5 et p</a:t>
            </a:r>
            <a:r>
              <a:rPr lang="fr-FR" altLang="fr-FR" sz="2000" baseline="30000"/>
              <a:t>2</a:t>
            </a:r>
            <a:r>
              <a:rPr lang="fr-FR" altLang="fr-FR" sz="2000"/>
              <a:t>=2  </a:t>
            </a:r>
            <a:r>
              <a:rPr lang="fr-FR" altLang="fr-FR" sz="2000">
                <a:sym typeface="Symbol" panose="05050102010706020507" pitchFamily="18" charset="2"/>
              </a:rPr>
              <a:t>  </a:t>
            </a:r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=1.39</a:t>
            </a:r>
            <a:endParaRPr lang="fr-FR" altLang="fr-FR" sz="2000">
              <a:sym typeface="Symbol" panose="05050102010706020507" pitchFamily="18" charset="2"/>
            </a:endParaRPr>
          </a:p>
        </p:txBody>
      </p:sp>
      <p:sp>
        <p:nvSpPr>
          <p:cNvPr id="69638" name="Rectangle 9"/>
          <p:cNvSpPr>
            <a:spLocks noChangeArrowheads="1"/>
          </p:cNvSpPr>
          <p:nvPr/>
        </p:nvSpPr>
        <p:spPr bwMode="auto">
          <a:xfrm>
            <a:off x="4716463" y="511175"/>
            <a:ext cx="43926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/>
              <a:t>2ème cas : n=0.2 et p</a:t>
            </a:r>
            <a:r>
              <a:rPr lang="fr-FR" altLang="fr-FR" sz="2000" baseline="30000"/>
              <a:t>2</a:t>
            </a:r>
            <a:r>
              <a:rPr lang="fr-FR" altLang="fr-FR" sz="2000"/>
              <a:t>=1 </a:t>
            </a:r>
            <a:r>
              <a:rPr lang="fr-FR" altLang="fr-FR" sz="1800">
                <a:sym typeface="Symbol" panose="05050102010706020507" pitchFamily="18" charset="2"/>
              </a:rPr>
              <a:t>  </a:t>
            </a:r>
            <a:r>
              <a:rPr lang="fr-FR" altLang="fr-FR" sz="1800"/>
              <a:t>h</a:t>
            </a:r>
            <a:r>
              <a:rPr lang="fr-FR" altLang="fr-FR" sz="1800" baseline="-25000"/>
              <a:t>c</a:t>
            </a:r>
            <a:r>
              <a:rPr lang="fr-FR" altLang="fr-FR" sz="1800"/>
              <a:t>=2.94</a:t>
            </a:r>
          </a:p>
        </p:txBody>
      </p:sp>
      <p:sp>
        <p:nvSpPr>
          <p:cNvPr id="69639" name="Text Box 10"/>
          <p:cNvSpPr txBox="1">
            <a:spLocks noChangeArrowheads="1"/>
          </p:cNvSpPr>
          <p:nvPr/>
        </p:nvSpPr>
        <p:spPr bwMode="auto">
          <a:xfrm>
            <a:off x="3276600" y="44450"/>
            <a:ext cx="36258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Etude de stabilité de RK4</a:t>
            </a:r>
          </a:p>
        </p:txBody>
      </p:sp>
      <p:sp>
        <p:nvSpPr>
          <p:cNvPr id="69640" name="Line 11"/>
          <p:cNvSpPr>
            <a:spLocks noChangeShapeType="1"/>
          </p:cNvSpPr>
          <p:nvPr/>
        </p:nvSpPr>
        <p:spPr bwMode="auto">
          <a:xfrm flipV="1">
            <a:off x="4643438" y="188913"/>
            <a:ext cx="0" cy="66690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ext Box 2"/>
          <p:cNvSpPr txBox="1">
            <a:spLocks noChangeArrowheads="1"/>
          </p:cNvSpPr>
          <p:nvPr/>
        </p:nvSpPr>
        <p:spPr bwMode="auto">
          <a:xfrm>
            <a:off x="395288" y="115888"/>
            <a:ext cx="7934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Etude de la précision en fonction du schéma d</a:t>
            </a:r>
            <a:r>
              <a:rPr lang="ja-JP" altLang="fr-FR"/>
              <a:t>’</a:t>
            </a:r>
            <a:r>
              <a:rPr lang="fr-FR" altLang="ja-JP"/>
              <a:t>intégration</a:t>
            </a:r>
            <a:endParaRPr lang="fr-FR" altLang="fr-FR"/>
          </a:p>
        </p:txBody>
      </p:sp>
      <p:sp>
        <p:nvSpPr>
          <p:cNvPr id="70658" name="Text Box 3"/>
          <p:cNvSpPr txBox="1">
            <a:spLocks noChangeArrowheads="1"/>
          </p:cNvSpPr>
          <p:nvPr/>
        </p:nvSpPr>
        <p:spPr bwMode="auto">
          <a:xfrm>
            <a:off x="395288" y="638175"/>
            <a:ext cx="4006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Solution analytique en tenant compte </a:t>
            </a:r>
          </a:p>
          <a:p>
            <a:pPr eaLnBrk="1" hangingPunct="1"/>
            <a:r>
              <a:rPr lang="fr-FR" altLang="fr-FR" sz="1800"/>
              <a:t>des conditions initiales :</a:t>
            </a:r>
          </a:p>
        </p:txBody>
      </p:sp>
      <p:sp>
        <p:nvSpPr>
          <p:cNvPr id="70659" name="Text Box 4"/>
          <p:cNvSpPr txBox="1">
            <a:spLocks noChangeArrowheads="1"/>
          </p:cNvSpPr>
          <p:nvPr/>
        </p:nvSpPr>
        <p:spPr bwMode="auto">
          <a:xfrm>
            <a:off x="519113" y="3573463"/>
            <a:ext cx="6991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Pour une même méthode, la précision augmente lorsque h diminue</a:t>
            </a:r>
          </a:p>
        </p:txBody>
      </p:sp>
      <p:grpSp>
        <p:nvGrpSpPr>
          <p:cNvPr id="70660" name="Group 6"/>
          <p:cNvGrpSpPr>
            <a:grpSpLocks/>
          </p:cNvGrpSpPr>
          <p:nvPr/>
        </p:nvGrpSpPr>
        <p:grpSpPr bwMode="auto">
          <a:xfrm>
            <a:off x="36513" y="1196975"/>
            <a:ext cx="9072562" cy="2447925"/>
            <a:chOff x="23" y="799"/>
            <a:chExt cx="5715" cy="1542"/>
          </a:xfrm>
        </p:grpSpPr>
        <p:grpSp>
          <p:nvGrpSpPr>
            <p:cNvPr id="70673" name="Group 7"/>
            <p:cNvGrpSpPr>
              <a:grpSpLocks/>
            </p:cNvGrpSpPr>
            <p:nvPr/>
          </p:nvGrpSpPr>
          <p:grpSpPr bwMode="auto">
            <a:xfrm>
              <a:off x="1839" y="810"/>
              <a:ext cx="2040" cy="1531"/>
              <a:chOff x="2925" y="833"/>
              <a:chExt cx="2040" cy="1531"/>
            </a:xfrm>
          </p:grpSpPr>
          <p:pic>
            <p:nvPicPr>
              <p:cNvPr id="70680" name="Picture 8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5" y="833"/>
                <a:ext cx="2040" cy="1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81" name="Text Box 9"/>
              <p:cNvSpPr txBox="1">
                <a:spLocks noChangeArrowheads="1"/>
              </p:cNvSpPr>
              <p:nvPr/>
            </p:nvSpPr>
            <p:spPr bwMode="auto">
              <a:xfrm>
                <a:off x="3923" y="1026"/>
                <a:ext cx="800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RK2 h=0.5</a:t>
                </a:r>
              </a:p>
            </p:txBody>
          </p:sp>
        </p:grpSp>
        <p:grpSp>
          <p:nvGrpSpPr>
            <p:cNvPr id="70674" name="Group 10"/>
            <p:cNvGrpSpPr>
              <a:grpSpLocks/>
            </p:cNvGrpSpPr>
            <p:nvPr/>
          </p:nvGrpSpPr>
          <p:grpSpPr bwMode="auto">
            <a:xfrm>
              <a:off x="23" y="799"/>
              <a:ext cx="2040" cy="1531"/>
              <a:chOff x="431" y="799"/>
              <a:chExt cx="2040" cy="1531"/>
            </a:xfrm>
          </p:grpSpPr>
          <p:pic>
            <p:nvPicPr>
              <p:cNvPr id="70678" name="Picture 11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" y="799"/>
                <a:ext cx="2040" cy="1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79" name="Text Box 12"/>
              <p:cNvSpPr txBox="1">
                <a:spLocks noChangeArrowheads="1"/>
              </p:cNvSpPr>
              <p:nvPr/>
            </p:nvSpPr>
            <p:spPr bwMode="auto">
              <a:xfrm>
                <a:off x="1429" y="981"/>
                <a:ext cx="800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RK2 h=0.7</a:t>
                </a:r>
              </a:p>
            </p:txBody>
          </p:sp>
        </p:grpSp>
        <p:grpSp>
          <p:nvGrpSpPr>
            <p:cNvPr id="70675" name="Group 13"/>
            <p:cNvGrpSpPr>
              <a:grpSpLocks/>
            </p:cNvGrpSpPr>
            <p:nvPr/>
          </p:nvGrpSpPr>
          <p:grpSpPr bwMode="auto">
            <a:xfrm>
              <a:off x="3698" y="799"/>
              <a:ext cx="2040" cy="1530"/>
              <a:chOff x="3788" y="799"/>
              <a:chExt cx="2040" cy="1530"/>
            </a:xfrm>
          </p:grpSpPr>
          <p:pic>
            <p:nvPicPr>
              <p:cNvPr id="70676" name="Picture 14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88" y="799"/>
                <a:ext cx="2040" cy="15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77" name="Text Box 15"/>
              <p:cNvSpPr txBox="1">
                <a:spLocks noChangeArrowheads="1"/>
              </p:cNvSpPr>
              <p:nvPr/>
            </p:nvSpPr>
            <p:spPr bwMode="auto">
              <a:xfrm>
                <a:off x="4785" y="948"/>
                <a:ext cx="800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RK2 h=0.1</a:t>
                </a:r>
              </a:p>
            </p:txBody>
          </p:sp>
        </p:grpSp>
      </p:grpSp>
      <p:sp>
        <p:nvSpPr>
          <p:cNvPr id="70661" name="Text Box 16"/>
          <p:cNvSpPr txBox="1">
            <a:spLocks noChangeArrowheads="1"/>
          </p:cNvSpPr>
          <p:nvPr/>
        </p:nvSpPr>
        <p:spPr bwMode="auto">
          <a:xfrm>
            <a:off x="395288" y="6375400"/>
            <a:ext cx="7956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Pour un pas de temps fixé, la précision augmente avec l</a:t>
            </a:r>
            <a:r>
              <a:rPr lang="ja-JP" altLang="fr-FR" sz="1800"/>
              <a:t>’</a:t>
            </a:r>
            <a:r>
              <a:rPr lang="fr-FR" altLang="ja-JP" sz="1800"/>
              <a:t>ordre de la méthode</a:t>
            </a:r>
            <a:endParaRPr lang="fr-FR" altLang="fr-FR" sz="1800"/>
          </a:p>
        </p:txBody>
      </p:sp>
      <p:grpSp>
        <p:nvGrpSpPr>
          <p:cNvPr id="70662" name="Group 17"/>
          <p:cNvGrpSpPr>
            <a:grpSpLocks/>
          </p:cNvGrpSpPr>
          <p:nvPr/>
        </p:nvGrpSpPr>
        <p:grpSpPr bwMode="auto">
          <a:xfrm>
            <a:off x="38100" y="3933825"/>
            <a:ext cx="9069388" cy="2484438"/>
            <a:chOff x="24" y="2478"/>
            <a:chExt cx="5713" cy="1565"/>
          </a:xfrm>
        </p:grpSpPr>
        <p:grpSp>
          <p:nvGrpSpPr>
            <p:cNvPr id="70664" name="Group 18"/>
            <p:cNvGrpSpPr>
              <a:grpSpLocks/>
            </p:cNvGrpSpPr>
            <p:nvPr/>
          </p:nvGrpSpPr>
          <p:grpSpPr bwMode="auto">
            <a:xfrm>
              <a:off x="3651" y="2478"/>
              <a:ext cx="2086" cy="1565"/>
              <a:chOff x="3606" y="2653"/>
              <a:chExt cx="2086" cy="1565"/>
            </a:xfrm>
          </p:grpSpPr>
          <p:pic>
            <p:nvPicPr>
              <p:cNvPr id="70671" name="Picture 19"/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06" y="2653"/>
                <a:ext cx="2086" cy="15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72" name="Text Box 20"/>
              <p:cNvSpPr txBox="1">
                <a:spLocks noChangeArrowheads="1"/>
              </p:cNvSpPr>
              <p:nvPr/>
            </p:nvSpPr>
            <p:spPr bwMode="auto">
              <a:xfrm>
                <a:off x="4665" y="2795"/>
                <a:ext cx="800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RK4 h=0.7</a:t>
                </a:r>
              </a:p>
            </p:txBody>
          </p:sp>
        </p:grpSp>
        <p:grpSp>
          <p:nvGrpSpPr>
            <p:cNvPr id="70665" name="Group 21"/>
            <p:cNvGrpSpPr>
              <a:grpSpLocks/>
            </p:cNvGrpSpPr>
            <p:nvPr/>
          </p:nvGrpSpPr>
          <p:grpSpPr bwMode="auto">
            <a:xfrm>
              <a:off x="1838" y="2484"/>
              <a:ext cx="2040" cy="1531"/>
              <a:chOff x="1838" y="2659"/>
              <a:chExt cx="2040" cy="1531"/>
            </a:xfrm>
          </p:grpSpPr>
          <p:pic>
            <p:nvPicPr>
              <p:cNvPr id="70669" name="Picture 22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38" y="2659"/>
                <a:ext cx="2040" cy="15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70" name="Text Box 23"/>
              <p:cNvSpPr txBox="1">
                <a:spLocks noChangeArrowheads="1"/>
              </p:cNvSpPr>
              <p:nvPr/>
            </p:nvSpPr>
            <p:spPr bwMode="auto">
              <a:xfrm>
                <a:off x="2836" y="2795"/>
                <a:ext cx="800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RK2 h=0.7</a:t>
                </a:r>
              </a:p>
            </p:txBody>
          </p:sp>
        </p:grpSp>
        <p:grpSp>
          <p:nvGrpSpPr>
            <p:cNvPr id="70666" name="Group 24"/>
            <p:cNvGrpSpPr>
              <a:grpSpLocks/>
            </p:cNvGrpSpPr>
            <p:nvPr/>
          </p:nvGrpSpPr>
          <p:grpSpPr bwMode="auto">
            <a:xfrm>
              <a:off x="24" y="2478"/>
              <a:ext cx="2040" cy="1530"/>
              <a:chOff x="24" y="2478"/>
              <a:chExt cx="2040" cy="1530"/>
            </a:xfrm>
          </p:grpSpPr>
          <p:pic>
            <p:nvPicPr>
              <p:cNvPr id="70667" name="Picture 25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" y="2478"/>
                <a:ext cx="2040" cy="15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0668" name="Text Box 26"/>
              <p:cNvSpPr txBox="1">
                <a:spLocks noChangeArrowheads="1"/>
              </p:cNvSpPr>
              <p:nvPr/>
            </p:nvSpPr>
            <p:spPr bwMode="auto">
              <a:xfrm>
                <a:off x="981" y="2632"/>
                <a:ext cx="856" cy="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eaLnBrk="1" hangingPunct="1"/>
                <a:r>
                  <a:rPr lang="fr-FR" altLang="fr-FR" sz="1800"/>
                  <a:t>Euler h=0.7</a:t>
                </a:r>
              </a:p>
            </p:txBody>
          </p:sp>
        </p:grpSp>
      </p:grpSp>
      <p:graphicFrame>
        <p:nvGraphicFramePr>
          <p:cNvPr id="70663" name="Object 5"/>
          <p:cNvGraphicFramePr>
            <a:graphicFrameLocks noChangeAspect="1"/>
          </p:cNvGraphicFramePr>
          <p:nvPr/>
        </p:nvGraphicFramePr>
        <p:xfrm>
          <a:off x="4500563" y="620713"/>
          <a:ext cx="2160587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697" name="Equation" r:id="rId8" imgW="1637589" imgH="431613" progId="Equation.3">
                  <p:embed/>
                </p:oleObj>
              </mc:Choice>
              <mc:Fallback>
                <p:oleObj name="Equation" r:id="rId8" imgW="1637589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620713"/>
                        <a:ext cx="2160587" cy="569912"/>
                      </a:xfrm>
                      <a:prstGeom prst="rect">
                        <a:avLst/>
                      </a:prstGeom>
                      <a:noFill/>
                      <a:ln w="2857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ext Box 4"/>
          <p:cNvSpPr txBox="1">
            <a:spLocks noChangeArrowheads="1"/>
          </p:cNvSpPr>
          <p:nvPr/>
        </p:nvSpPr>
        <p:spPr bwMode="auto">
          <a:xfrm>
            <a:off x="3635375" y="188913"/>
            <a:ext cx="169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/>
              <a:t>Conclusion</a:t>
            </a:r>
          </a:p>
        </p:txBody>
      </p:sp>
      <p:sp>
        <p:nvSpPr>
          <p:cNvPr id="71682" name="Text Box 5"/>
          <p:cNvSpPr txBox="1">
            <a:spLocks noChangeArrowheads="1"/>
          </p:cNvSpPr>
          <p:nvPr/>
        </p:nvSpPr>
        <p:spPr bwMode="auto">
          <a:xfrm>
            <a:off x="447675" y="620713"/>
            <a:ext cx="8126413" cy="435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fr-FR" altLang="fr-FR" sz="1800"/>
              <a:t>3 schémas d</a:t>
            </a:r>
            <a:r>
              <a:rPr lang="ja-JP" altLang="fr-FR" sz="1800"/>
              <a:t>’</a:t>
            </a:r>
            <a:r>
              <a:rPr lang="fr-FR" altLang="ja-JP" sz="1800"/>
              <a:t>intégration des équations différentielles ont été étudiés :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Euler méthode d</a:t>
            </a:r>
            <a:r>
              <a:rPr lang="ja-JP" altLang="fr-FR" sz="1800"/>
              <a:t>’</a:t>
            </a:r>
            <a:r>
              <a:rPr lang="fr-FR" altLang="ja-JP" sz="1800"/>
              <a:t>ordre 1 en pas de temps h, RK2 méthode d’ordre 2 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et RK4 méthode d’</a:t>
            </a:r>
            <a:r>
              <a:rPr lang="fr-FR" altLang="ja-JP" sz="1800"/>
              <a:t>ordre 4 </a:t>
            </a:r>
          </a:p>
          <a:p>
            <a:pPr eaLnBrk="1" hangingPunct="1">
              <a:lnSpc>
                <a:spcPct val="110000"/>
              </a:lnSpc>
            </a:pPr>
            <a:endParaRPr lang="fr-FR" altLang="fr-FR" sz="1800"/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Entre deux pas de temps successifs, 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la méthode d’</a:t>
            </a:r>
            <a:r>
              <a:rPr lang="fr-FR" altLang="ja-JP" sz="1800"/>
              <a:t>Euler nécessite une évaluation du système d’eq. diff.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la méthode RK2 en nécessite deux et RK4 quatre.</a:t>
            </a:r>
          </a:p>
          <a:p>
            <a:pPr eaLnBrk="1" hangingPunct="1">
              <a:lnSpc>
                <a:spcPct val="110000"/>
              </a:lnSpc>
            </a:pPr>
            <a:endParaRPr lang="fr-FR" altLang="fr-FR" sz="1800"/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Pour décrire correctement le comportement dynamique d’</a:t>
            </a:r>
            <a:r>
              <a:rPr lang="fr-FR" altLang="ja-JP" sz="1800"/>
              <a:t>un système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avec ces méthodes, 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choisir de préférence RK4 pour sa précision,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le pas de temps doit être choisi dans le domaine de stabilité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il doit être aussi petit que possible, ou au moins plus petit</a:t>
            </a:r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	que les temps caractéristiques du problème étudié.</a:t>
            </a:r>
          </a:p>
        </p:txBody>
      </p:sp>
      <p:sp>
        <p:nvSpPr>
          <p:cNvPr id="71683" name="Text Box 9"/>
          <p:cNvSpPr txBox="1">
            <a:spLocks noChangeArrowheads="1"/>
          </p:cNvSpPr>
          <p:nvPr/>
        </p:nvSpPr>
        <p:spPr bwMode="auto">
          <a:xfrm>
            <a:off x="1692275" y="5006975"/>
            <a:ext cx="2254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/>
              <a:t>Domaine de stabilité</a:t>
            </a:r>
          </a:p>
        </p:txBody>
      </p:sp>
      <p:grpSp>
        <p:nvGrpSpPr>
          <p:cNvPr id="71684" name="Group 12"/>
          <p:cNvGrpSpPr>
            <a:grpSpLocks/>
          </p:cNvGrpSpPr>
          <p:nvPr/>
        </p:nvGrpSpPr>
        <p:grpSpPr bwMode="auto">
          <a:xfrm>
            <a:off x="1547813" y="5583238"/>
            <a:ext cx="5135562" cy="431800"/>
            <a:chOff x="975" y="3294"/>
            <a:chExt cx="3235" cy="272"/>
          </a:xfrm>
        </p:grpSpPr>
        <p:sp>
          <p:nvSpPr>
            <p:cNvPr id="71692" name="Rectangle 11" descr="Diagonales larges vers le haut"/>
            <p:cNvSpPr>
              <a:spLocks noChangeArrowheads="1"/>
            </p:cNvSpPr>
            <p:nvPr/>
          </p:nvSpPr>
          <p:spPr bwMode="auto">
            <a:xfrm>
              <a:off x="2562" y="3339"/>
              <a:ext cx="1316" cy="227"/>
            </a:xfrm>
            <a:prstGeom prst="rect">
              <a:avLst/>
            </a:prstGeom>
            <a:pattFill prst="wdUpDiag">
              <a:fgClr>
                <a:schemeClr val="tx2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fr-FR" altLang="fr-FR" sz="1800"/>
            </a:p>
          </p:txBody>
        </p:sp>
        <p:sp>
          <p:nvSpPr>
            <p:cNvPr id="71693" name="Line 7"/>
            <p:cNvSpPr>
              <a:spLocks noChangeShapeType="1"/>
            </p:cNvSpPr>
            <p:nvPr/>
          </p:nvSpPr>
          <p:spPr bwMode="auto">
            <a:xfrm>
              <a:off x="975" y="3475"/>
              <a:ext cx="3084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1694" name="Line 8"/>
            <p:cNvSpPr>
              <a:spLocks noChangeShapeType="1"/>
            </p:cNvSpPr>
            <p:nvPr/>
          </p:nvSpPr>
          <p:spPr bwMode="auto">
            <a:xfrm>
              <a:off x="975" y="3339"/>
              <a:ext cx="0" cy="227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1695" name="Text Box 10"/>
            <p:cNvSpPr txBox="1">
              <a:spLocks noChangeArrowheads="1"/>
            </p:cNvSpPr>
            <p:nvPr/>
          </p:nvSpPr>
          <p:spPr bwMode="auto">
            <a:xfrm>
              <a:off x="4014" y="3294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fr-FR" sz="1800"/>
                <a:t>h</a:t>
              </a:r>
            </a:p>
          </p:txBody>
        </p:sp>
      </p:grpSp>
      <p:sp>
        <p:nvSpPr>
          <p:cNvPr id="71685" name="AutoShape 13"/>
          <p:cNvSpPr>
            <a:spLocks/>
          </p:cNvSpPr>
          <p:nvPr/>
        </p:nvSpPr>
        <p:spPr bwMode="auto">
          <a:xfrm rot="-5400000">
            <a:off x="2663826" y="4251325"/>
            <a:ext cx="215900" cy="2447925"/>
          </a:xfrm>
          <a:prstGeom prst="rightBrace">
            <a:avLst>
              <a:gd name="adj1" fmla="val 9448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71686" name="Text Box 14"/>
          <p:cNvSpPr txBox="1">
            <a:spLocks noChangeArrowheads="1"/>
          </p:cNvSpPr>
          <p:nvPr/>
        </p:nvSpPr>
        <p:spPr bwMode="auto">
          <a:xfrm>
            <a:off x="2032000" y="5943600"/>
            <a:ext cx="40267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b="1" baseline="-25000" dirty="0">
                <a:latin typeface="Bahnschrift" panose="020B0502040204020203" pitchFamily="34" charset="0"/>
                <a:sym typeface="Symbol" panose="05050102010706020507" pitchFamily="18" charset="2"/>
              </a:rPr>
              <a:t> </a:t>
            </a:r>
            <a:r>
              <a:rPr lang="el-GR" altLang="fr-FR" sz="2000" b="1" dirty="0" smtClean="0">
                <a:latin typeface="Bahnschrift" panose="020B0502040204020203" pitchFamily="34" charset="0"/>
                <a:sym typeface="Symbol" panose="05050102010706020507" pitchFamily="18" charset="2"/>
              </a:rPr>
              <a:t>τ</a:t>
            </a:r>
            <a:r>
              <a:rPr lang="fr-FR" altLang="fr-FR" sz="2000" b="1" baseline="-25000" dirty="0" smtClean="0">
                <a:latin typeface="Bahnschrift" panose="020B0502040204020203" pitchFamily="34" charset="0"/>
                <a:sym typeface="Symbol" panose="05050102010706020507" pitchFamily="18" charset="2"/>
              </a:rPr>
              <a:t>1</a:t>
            </a:r>
            <a:endParaRPr lang="fr-FR" altLang="fr-FR" sz="2000" b="1" baseline="-25000" dirty="0">
              <a:sym typeface="Symbol" panose="05050102010706020507" pitchFamily="18" charset="2"/>
            </a:endParaRPr>
          </a:p>
        </p:txBody>
      </p:sp>
      <p:sp>
        <p:nvSpPr>
          <p:cNvPr id="71687" name="Text Box 15"/>
          <p:cNvSpPr txBox="1">
            <a:spLocks noChangeArrowheads="1"/>
          </p:cNvSpPr>
          <p:nvPr/>
        </p:nvSpPr>
        <p:spPr bwMode="auto">
          <a:xfrm>
            <a:off x="2384425" y="5943600"/>
            <a:ext cx="4347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000" b="1" baseline="-25000" dirty="0" smtClean="0">
                <a:latin typeface="Bahnschrift" panose="020B0502040204020203" pitchFamily="34" charset="0"/>
                <a:sym typeface="Symbol" panose="05050102010706020507" pitchFamily="18" charset="2"/>
              </a:rPr>
              <a:t> </a:t>
            </a:r>
            <a:r>
              <a:rPr lang="el-GR" altLang="fr-FR" sz="2000" b="1" dirty="0" smtClean="0">
                <a:latin typeface="Bahnschrift" panose="020B0502040204020203" pitchFamily="34" charset="0"/>
                <a:sym typeface="Symbol" panose="05050102010706020507" pitchFamily="18" charset="2"/>
              </a:rPr>
              <a:t>τ</a:t>
            </a:r>
            <a:r>
              <a:rPr lang="fr-FR" altLang="fr-FR" sz="2000" b="1" baseline="-25000" dirty="0">
                <a:latin typeface="Bahnschrift" panose="020B0502040204020203" pitchFamily="34" charset="0"/>
                <a:sym typeface="Symbol" panose="05050102010706020507" pitchFamily="18" charset="2"/>
              </a:rPr>
              <a:t>2</a:t>
            </a:r>
            <a:endParaRPr lang="fr-FR" altLang="fr-FR" sz="2000" b="1" dirty="0">
              <a:sym typeface="Symbol" panose="05050102010706020507" pitchFamily="18" charset="2"/>
            </a:endParaRPr>
          </a:p>
        </p:txBody>
      </p:sp>
      <p:sp>
        <p:nvSpPr>
          <p:cNvPr id="71688" name="Line 16"/>
          <p:cNvSpPr>
            <a:spLocks noChangeShapeType="1"/>
          </p:cNvSpPr>
          <p:nvPr/>
        </p:nvSpPr>
        <p:spPr bwMode="auto">
          <a:xfrm>
            <a:off x="2195513" y="5727700"/>
            <a:ext cx="0" cy="2873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71689" name="AutoShape 17"/>
          <p:cNvSpPr>
            <a:spLocks/>
          </p:cNvSpPr>
          <p:nvPr/>
        </p:nvSpPr>
        <p:spPr bwMode="auto">
          <a:xfrm rot="-5400000">
            <a:off x="1799431" y="5836445"/>
            <a:ext cx="73025" cy="576262"/>
          </a:xfrm>
          <a:prstGeom prst="leftBrace">
            <a:avLst>
              <a:gd name="adj1" fmla="val 6576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endParaRPr lang="fr-FR" altLang="fr-FR" sz="1800"/>
          </a:p>
        </p:txBody>
      </p:sp>
      <p:sp>
        <p:nvSpPr>
          <p:cNvPr id="71690" name="Text Box 18"/>
          <p:cNvSpPr txBox="1">
            <a:spLocks noChangeArrowheads="1"/>
          </p:cNvSpPr>
          <p:nvPr/>
        </p:nvSpPr>
        <p:spPr bwMode="auto">
          <a:xfrm>
            <a:off x="1547813" y="6375400"/>
            <a:ext cx="2393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1800" dirty="0"/>
              <a:t>Domaine de précision</a:t>
            </a:r>
          </a:p>
        </p:txBody>
      </p:sp>
      <p:sp>
        <p:nvSpPr>
          <p:cNvPr id="71691" name="Line 19"/>
          <p:cNvSpPr>
            <a:spLocks noChangeShapeType="1"/>
          </p:cNvSpPr>
          <p:nvPr/>
        </p:nvSpPr>
        <p:spPr bwMode="auto">
          <a:xfrm>
            <a:off x="1835150" y="6159500"/>
            <a:ext cx="0" cy="2873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70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668497"/>
              </p:ext>
            </p:extLst>
          </p:nvPr>
        </p:nvGraphicFramePr>
        <p:xfrm>
          <a:off x="3308350" y="631825"/>
          <a:ext cx="6016625" cy="313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5" name="Equation" r:id="rId3" imgW="3162240" imgH="1650960" progId="Equation.DSMT4">
                  <p:embed/>
                </p:oleObj>
              </mc:Choice>
              <mc:Fallback>
                <p:oleObj name="Equation" r:id="rId3" imgW="3162240" imgH="16509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8350" y="631825"/>
                        <a:ext cx="6016625" cy="3132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706" name="Group 3"/>
          <p:cNvGrpSpPr>
            <a:grpSpLocks/>
          </p:cNvGrpSpPr>
          <p:nvPr/>
        </p:nvGrpSpPr>
        <p:grpSpPr bwMode="auto">
          <a:xfrm>
            <a:off x="395288" y="692150"/>
            <a:ext cx="1658937" cy="2590800"/>
            <a:chOff x="4896" y="9072"/>
            <a:chExt cx="2563" cy="4080"/>
          </a:xfrm>
        </p:grpSpPr>
        <p:sp>
          <p:nvSpPr>
            <p:cNvPr id="72715" name="Line 4"/>
            <p:cNvSpPr>
              <a:spLocks noChangeShapeType="1"/>
            </p:cNvSpPr>
            <p:nvPr/>
          </p:nvSpPr>
          <p:spPr bwMode="auto">
            <a:xfrm>
              <a:off x="5208" y="9072"/>
              <a:ext cx="0" cy="20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716" name="Line 5"/>
            <p:cNvSpPr>
              <a:spLocks noChangeShapeType="1"/>
            </p:cNvSpPr>
            <p:nvPr/>
          </p:nvSpPr>
          <p:spPr bwMode="auto">
            <a:xfrm>
              <a:off x="5088" y="10992"/>
              <a:ext cx="20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717" name="Line 6"/>
            <p:cNvSpPr>
              <a:spLocks noChangeShapeType="1"/>
            </p:cNvSpPr>
            <p:nvPr/>
          </p:nvSpPr>
          <p:spPr bwMode="auto">
            <a:xfrm>
              <a:off x="5208" y="10992"/>
              <a:ext cx="1920" cy="1920"/>
            </a:xfrm>
            <a:prstGeom prst="line">
              <a:avLst/>
            </a:prstGeom>
            <a:noFill/>
            <a:ln w="38100">
              <a:solidFill>
                <a:srgbClr val="00CC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718" name="Oval 7"/>
            <p:cNvSpPr>
              <a:spLocks noChangeArrowheads="1"/>
            </p:cNvSpPr>
            <p:nvPr/>
          </p:nvSpPr>
          <p:spPr bwMode="auto">
            <a:xfrm>
              <a:off x="6888" y="12672"/>
              <a:ext cx="480" cy="480"/>
            </a:xfrm>
            <a:prstGeom prst="ellipse">
              <a:avLst/>
            </a:prstGeom>
            <a:solidFill>
              <a:srgbClr val="3333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endParaRPr lang="en-US" altLang="fr-FR" sz="1800"/>
            </a:p>
          </p:txBody>
        </p:sp>
        <p:sp>
          <p:nvSpPr>
            <p:cNvPr id="72719" name="Line 8"/>
            <p:cNvSpPr>
              <a:spLocks noChangeShapeType="1"/>
            </p:cNvSpPr>
            <p:nvPr/>
          </p:nvSpPr>
          <p:spPr bwMode="auto">
            <a:xfrm>
              <a:off x="5208" y="10872"/>
              <a:ext cx="0" cy="20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720" name="Arc 9"/>
            <p:cNvSpPr>
              <a:spLocks/>
            </p:cNvSpPr>
            <p:nvPr/>
          </p:nvSpPr>
          <p:spPr bwMode="auto">
            <a:xfrm rot="11450418" flipH="1">
              <a:off x="5328" y="11592"/>
              <a:ext cx="360" cy="3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0" y="-1"/>
                  </a:moveTo>
                  <a:cubicBezTo>
                    <a:pt x="11929" y="-1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0" y="-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72721" name="Text Box 10"/>
            <p:cNvSpPr txBox="1">
              <a:spLocks noChangeArrowheads="1"/>
            </p:cNvSpPr>
            <p:nvPr/>
          </p:nvSpPr>
          <p:spPr bwMode="auto">
            <a:xfrm>
              <a:off x="5448" y="11712"/>
              <a:ext cx="481" cy="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600">
                  <a:solidFill>
                    <a:srgbClr val="000000"/>
                  </a:solidFill>
                  <a:latin typeface="Symbol" panose="05050102010706020507" pitchFamily="18" charset="2"/>
                  <a:ea typeface="MS Mincho" pitchFamily="49" charset="-128"/>
                </a:rPr>
                <a:t>q</a:t>
              </a:r>
              <a:endParaRPr lang="fr-FR" altLang="fr-FR" sz="1800">
                <a:ea typeface="MS Mincho" pitchFamily="49" charset="-128"/>
              </a:endParaRPr>
            </a:p>
          </p:txBody>
        </p:sp>
        <p:sp>
          <p:nvSpPr>
            <p:cNvPr id="72722" name="Text Box 11"/>
            <p:cNvSpPr txBox="1">
              <a:spLocks noChangeArrowheads="1"/>
            </p:cNvSpPr>
            <p:nvPr/>
          </p:nvSpPr>
          <p:spPr bwMode="auto">
            <a:xfrm>
              <a:off x="6169" y="11472"/>
              <a:ext cx="390" cy="5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600">
                  <a:solidFill>
                    <a:srgbClr val="000000"/>
                  </a:solidFill>
                  <a:latin typeface="Times New Roman" panose="02020603050405020304" pitchFamily="18" charset="0"/>
                  <a:ea typeface="MS Mincho" pitchFamily="49" charset="-128"/>
                </a:rPr>
                <a:t>r</a:t>
              </a:r>
              <a:endParaRPr lang="fr-FR" altLang="fr-FR" sz="1800">
                <a:ea typeface="MS Mincho" pitchFamily="49" charset="-128"/>
              </a:endParaRPr>
            </a:p>
          </p:txBody>
        </p:sp>
        <p:sp>
          <p:nvSpPr>
            <p:cNvPr id="72723" name="Text Box 12"/>
            <p:cNvSpPr txBox="1">
              <a:spLocks noChangeArrowheads="1"/>
            </p:cNvSpPr>
            <p:nvPr/>
          </p:nvSpPr>
          <p:spPr bwMode="auto">
            <a:xfrm>
              <a:off x="7057" y="10872"/>
              <a:ext cx="402" cy="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200">
                  <a:solidFill>
                    <a:srgbClr val="000000"/>
                  </a:solidFill>
                  <a:latin typeface="Times New Roman" panose="02020603050405020304" pitchFamily="18" charset="0"/>
                  <a:ea typeface="MS Mincho" pitchFamily="49" charset="-128"/>
                </a:rPr>
                <a:t>x</a:t>
              </a:r>
              <a:endParaRPr lang="fr-FR" altLang="fr-FR" sz="1800">
                <a:ea typeface="MS Mincho" pitchFamily="49" charset="-128"/>
              </a:endParaRPr>
            </a:p>
          </p:txBody>
        </p:sp>
        <p:sp>
          <p:nvSpPr>
            <p:cNvPr id="72724" name="Text Box 13"/>
            <p:cNvSpPr txBox="1">
              <a:spLocks noChangeArrowheads="1"/>
            </p:cNvSpPr>
            <p:nvPr/>
          </p:nvSpPr>
          <p:spPr bwMode="auto">
            <a:xfrm>
              <a:off x="4896" y="9072"/>
              <a:ext cx="402" cy="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CC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eaLnBrk="1" hangingPunct="1"/>
              <a:r>
                <a:rPr lang="fr-FR" altLang="ja-JP" sz="1200">
                  <a:solidFill>
                    <a:srgbClr val="000000"/>
                  </a:solidFill>
                  <a:latin typeface="Times New Roman" panose="02020603050405020304" pitchFamily="18" charset="0"/>
                  <a:ea typeface="MS Mincho" pitchFamily="49" charset="-128"/>
                </a:rPr>
                <a:t>y</a:t>
              </a:r>
              <a:endParaRPr lang="fr-FR" altLang="fr-FR" sz="1800">
                <a:ea typeface="MS Mincho" pitchFamily="49" charset="-128"/>
              </a:endParaRPr>
            </a:p>
          </p:txBody>
        </p:sp>
      </p:grpSp>
      <p:graphicFrame>
        <p:nvGraphicFramePr>
          <p:cNvPr id="7270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222950"/>
              </p:ext>
            </p:extLst>
          </p:nvPr>
        </p:nvGraphicFramePr>
        <p:xfrm>
          <a:off x="2195513" y="1416050"/>
          <a:ext cx="1052512" cy="164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6" name="Equation" r:id="rId5" imgW="583920" imgH="914400" progId="Equation.DSMT4">
                  <p:embed/>
                </p:oleObj>
              </mc:Choice>
              <mc:Fallback>
                <p:oleObj name="Equation" r:id="rId5" imgW="583920" imgH="9144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416050"/>
                        <a:ext cx="1052512" cy="164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8" name="Rectangle 16"/>
          <p:cNvSpPr>
            <a:spLocks noChangeArrowheads="1"/>
          </p:cNvSpPr>
          <p:nvPr/>
        </p:nvSpPr>
        <p:spPr bwMode="auto">
          <a:xfrm>
            <a:off x="5813425" y="657225"/>
            <a:ext cx="809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300">
                <a:solidFill>
                  <a:srgbClr val="000000"/>
                </a:solidFill>
              </a:rPr>
              <a:t> </a:t>
            </a:r>
            <a:endParaRPr lang="fr-FR" altLang="fr-FR" sz="1800"/>
          </a:p>
        </p:txBody>
      </p:sp>
      <p:sp>
        <p:nvSpPr>
          <p:cNvPr id="72709" name="Rectangle 19"/>
          <p:cNvSpPr>
            <a:spLocks noChangeArrowheads="1"/>
          </p:cNvSpPr>
          <p:nvPr/>
        </p:nvSpPr>
        <p:spPr bwMode="auto">
          <a:xfrm>
            <a:off x="4165600" y="657225"/>
            <a:ext cx="809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300">
                <a:solidFill>
                  <a:srgbClr val="000000"/>
                </a:solidFill>
              </a:rPr>
              <a:t> </a:t>
            </a:r>
            <a:endParaRPr lang="fr-FR" altLang="fr-FR" sz="1800"/>
          </a:p>
        </p:txBody>
      </p:sp>
      <p:sp>
        <p:nvSpPr>
          <p:cNvPr id="72710" name="Rectangle 20"/>
          <p:cNvSpPr>
            <a:spLocks noChangeArrowheads="1"/>
          </p:cNvSpPr>
          <p:nvPr/>
        </p:nvSpPr>
        <p:spPr bwMode="auto">
          <a:xfrm>
            <a:off x="3940175" y="657225"/>
            <a:ext cx="809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300">
                <a:solidFill>
                  <a:srgbClr val="000000"/>
                </a:solidFill>
              </a:rPr>
              <a:t> </a:t>
            </a:r>
            <a:endParaRPr lang="fr-FR" altLang="fr-FR" sz="1800"/>
          </a:p>
        </p:txBody>
      </p:sp>
      <p:sp>
        <p:nvSpPr>
          <p:cNvPr id="72711" name="Rectangle 21"/>
          <p:cNvSpPr>
            <a:spLocks noChangeArrowheads="1"/>
          </p:cNvSpPr>
          <p:nvPr/>
        </p:nvSpPr>
        <p:spPr bwMode="auto">
          <a:xfrm>
            <a:off x="3559175" y="657225"/>
            <a:ext cx="80963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2300">
                <a:solidFill>
                  <a:srgbClr val="000000"/>
                </a:solidFill>
              </a:rPr>
              <a:t> </a:t>
            </a:r>
            <a:endParaRPr lang="fr-FR" altLang="fr-FR" sz="1800"/>
          </a:p>
        </p:txBody>
      </p:sp>
      <p:sp>
        <p:nvSpPr>
          <p:cNvPr id="72712" name="Text Box 32"/>
          <p:cNvSpPr txBox="1">
            <a:spLocks noChangeArrowheads="1"/>
          </p:cNvSpPr>
          <p:nvPr/>
        </p:nvSpPr>
        <p:spPr bwMode="auto">
          <a:xfrm>
            <a:off x="395288" y="3860800"/>
            <a:ext cx="8605837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fr-FR" altLang="fr-FR" sz="1800"/>
              <a:t>Résoudre le système avec la méthode qui vous parait la plus appropriée</a:t>
            </a:r>
          </a:p>
          <a:p>
            <a:pPr eaLnBrk="1" hangingPunct="1">
              <a:lnSpc>
                <a:spcPct val="110000"/>
              </a:lnSpc>
            </a:pPr>
            <a:endParaRPr lang="fr-FR" altLang="fr-FR" sz="1800"/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Peut-on calculer la limite de stabilité ?</a:t>
            </a:r>
          </a:p>
          <a:p>
            <a:pPr eaLnBrk="1" hangingPunct="1">
              <a:lnSpc>
                <a:spcPct val="110000"/>
              </a:lnSpc>
            </a:pPr>
            <a:endParaRPr lang="fr-FR" altLang="fr-FR" sz="1800"/>
          </a:p>
          <a:p>
            <a:pPr eaLnBrk="1" hangingPunct="1">
              <a:lnSpc>
                <a:spcPct val="110000"/>
              </a:lnSpc>
            </a:pPr>
            <a:r>
              <a:rPr lang="fr-FR" altLang="fr-FR" sz="1800"/>
              <a:t>Représenter la trajectoire de la bille	</a:t>
            </a:r>
          </a:p>
          <a:p>
            <a:pPr lvl="1" eaLnBrk="1" hangingPunct="1">
              <a:lnSpc>
                <a:spcPct val="110000"/>
              </a:lnSpc>
            </a:pPr>
            <a:r>
              <a:rPr lang="fr-FR" altLang="fr-FR" sz="1800" i="1"/>
              <a:t>On prendra : 	pendule en position horizontale à t=0</a:t>
            </a:r>
            <a:r>
              <a:rPr lang="fr-FR" altLang="fr-FR" sz="1800"/>
              <a:t> </a:t>
            </a:r>
          </a:p>
          <a:p>
            <a:pPr lvl="1" eaLnBrk="1" hangingPunct="1">
              <a:lnSpc>
                <a:spcPct val="110000"/>
              </a:lnSpc>
            </a:pPr>
            <a:r>
              <a:rPr lang="fr-FR" altLang="fr-FR" sz="1800"/>
              <a:t>			</a:t>
            </a:r>
            <a:r>
              <a:rPr lang="fr-FR" altLang="fr-FR" sz="1800" i="1"/>
              <a:t>m=0,1 kg, L=1 m, raideur k=6 N/m à k=100 N/m </a:t>
            </a:r>
          </a:p>
          <a:p>
            <a:pPr lvl="1" eaLnBrk="1" hangingPunct="1">
              <a:lnSpc>
                <a:spcPct val="110000"/>
              </a:lnSpc>
            </a:pPr>
            <a:r>
              <a:rPr lang="fr-FR" altLang="fr-FR" sz="1800" i="1"/>
              <a:t>			durée d'analyse 10s</a:t>
            </a:r>
          </a:p>
        </p:txBody>
      </p:sp>
      <p:sp>
        <p:nvSpPr>
          <p:cNvPr id="72713" name="Text Box 33"/>
          <p:cNvSpPr txBox="1">
            <a:spLocks noChangeArrowheads="1"/>
          </p:cNvSpPr>
          <p:nvPr/>
        </p:nvSpPr>
        <p:spPr bwMode="auto">
          <a:xfrm>
            <a:off x="8362950" y="0"/>
            <a:ext cx="781050" cy="8540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fr-FR" altLang="fr-FR" sz="5000">
                <a:solidFill>
                  <a:srgbClr val="0000FF"/>
                </a:solidFill>
                <a:latin typeface="Comic Sans MS" panose="030F0702030302020204" pitchFamily="66" charset="0"/>
                <a:sym typeface="Wingdings" panose="05000000000000000000" pitchFamily="2" charset="2"/>
              </a:rPr>
              <a:t></a:t>
            </a:r>
          </a:p>
        </p:txBody>
      </p:sp>
      <p:sp>
        <p:nvSpPr>
          <p:cNvPr id="72714" name="Rectangle 35"/>
          <p:cNvSpPr>
            <a:spLocks noGrp="1" noChangeArrowheads="1"/>
          </p:cNvSpPr>
          <p:nvPr>
            <p:ph type="title"/>
          </p:nvPr>
        </p:nvSpPr>
        <p:spPr>
          <a:xfrm>
            <a:off x="1258888" y="44450"/>
            <a:ext cx="7777162" cy="547688"/>
          </a:xfrm>
        </p:spPr>
        <p:txBody>
          <a:bodyPr/>
          <a:lstStyle/>
          <a:p>
            <a:pPr eaLnBrk="1" hangingPunct="1"/>
            <a:r>
              <a:rPr lang="fr-FR" altLang="fr-FR" sz="2400" smtClean="0"/>
              <a:t>Exemple 2 : pendule élastique pesant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Modèle par défau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2835</Words>
  <Application>Microsoft Office PowerPoint</Application>
  <PresentationFormat>Affichage à l'écran (4:3)</PresentationFormat>
  <Paragraphs>647</Paragraphs>
  <Slides>48</Slides>
  <Notes>10</Notes>
  <HiddenSlides>1</HiddenSlides>
  <MMClips>0</MMClips>
  <ScaleCrop>false</ScaleCrop>
  <HeadingPairs>
    <vt:vector size="8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3</vt:i4>
      </vt:variant>
      <vt:variant>
        <vt:lpstr>Titres des diapositives</vt:lpstr>
      </vt:variant>
      <vt:variant>
        <vt:i4>48</vt:i4>
      </vt:variant>
    </vt:vector>
  </HeadingPairs>
  <TitlesOfParts>
    <vt:vector size="64" baseType="lpstr">
      <vt:lpstr>MS Gothic</vt:lpstr>
      <vt:lpstr>MS Mincho</vt:lpstr>
      <vt:lpstr>MS PGothic</vt:lpstr>
      <vt:lpstr>MS PGothic</vt:lpstr>
      <vt:lpstr>Arial</vt:lpstr>
      <vt:lpstr>Bahnschrift</vt:lpstr>
      <vt:lpstr>Comic Sans MS</vt:lpstr>
      <vt:lpstr>Courier New</vt:lpstr>
      <vt:lpstr>Math5</vt:lpstr>
      <vt:lpstr>Symbol</vt:lpstr>
      <vt:lpstr>Times New Roman</vt:lpstr>
      <vt:lpstr>Wingdings</vt:lpstr>
      <vt:lpstr>Modèle par défaut</vt:lpstr>
      <vt:lpstr>Equation</vt:lpstr>
      <vt:lpstr>Draw</vt:lpstr>
      <vt:lpstr>MathType 6.0 Equation</vt:lpstr>
      <vt:lpstr>Présentation PowerPoint</vt:lpstr>
      <vt:lpstr>Présentation PowerPoint</vt:lpstr>
      <vt:lpstr>Equivalence entre équation différentielle d’ordre n et système de n équations du 1er ordre</vt:lpstr>
      <vt:lpstr>Exemple 1 : oscillateur harmonique</vt:lpstr>
      <vt:lpstr>Exemple 2 : pendule élastique pesant</vt:lpstr>
      <vt:lpstr>EDO et Forme explicite</vt:lpstr>
      <vt:lpstr>Exemple 2 : pendule élastique pesant</vt:lpstr>
      <vt:lpstr>Méthode explicite du 1er ordre : Euler </vt:lpstr>
      <vt:lpstr>Présentation PowerPoint</vt:lpstr>
      <vt:lpstr>Présentation PowerPoint</vt:lpstr>
      <vt:lpstr>Présentation PowerPoint</vt:lpstr>
      <vt:lpstr>Méthode d’Euler / Programmation</vt:lpstr>
      <vt:lpstr>Méthode d’Euler / Programmation </vt:lpstr>
      <vt:lpstr>Présentation PowerPoint</vt:lpstr>
      <vt:lpstr>Présentation PowerPoint</vt:lpstr>
      <vt:lpstr>Analyse de stabilité</vt:lpstr>
      <vt:lpstr>Présentation PowerPoint</vt:lpstr>
      <vt:lpstr>Présentation PowerPoint</vt:lpstr>
      <vt:lpstr>Présentation PowerPoint</vt:lpstr>
      <vt:lpstr>Présentation PowerPoint</vt:lpstr>
      <vt:lpstr>Runge et Kutta -  Amélioration de la précision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Analyse de stabilité du schéma RK2</vt:lpstr>
      <vt:lpstr>Présentation PowerPoint</vt:lpstr>
      <vt:lpstr>Présentation PowerPoint</vt:lpstr>
      <vt:lpstr>Présentation PowerPoint</vt:lpstr>
      <vt:lpstr>Présentation PowerPoint</vt:lpstr>
      <vt:lpstr>Méthode de Runge-Kutta -  Ordre N</vt:lpstr>
      <vt:lpstr>Méthode RK4 - Programmation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Exemple 2 : pendule élastique pesant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jean-christophe toussaint</cp:lastModifiedBy>
  <cp:revision>50</cp:revision>
  <dcterms:created xsi:type="dcterms:W3CDTF">2016-09-30T06:00:31Z</dcterms:created>
  <dcterms:modified xsi:type="dcterms:W3CDTF">2019-07-07T13:52:11Z</dcterms:modified>
</cp:coreProperties>
</file>