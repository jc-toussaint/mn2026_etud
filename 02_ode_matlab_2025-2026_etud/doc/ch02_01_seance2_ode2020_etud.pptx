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3" r:id="rId16"/>
    <p:sldId id="271" r:id="rId17"/>
    <p:sldId id="272" r:id="rId18"/>
    <p:sldId id="274" r:id="rId19"/>
    <p:sldId id="276" r:id="rId20"/>
    <p:sldId id="275" r:id="rId21"/>
    <p:sldId id="277" r:id="rId22"/>
    <p:sldId id="307" r:id="rId23"/>
    <p:sldId id="305" r:id="rId24"/>
    <p:sldId id="306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8" r:id="rId44"/>
    <p:sldId id="299" r:id="rId45"/>
    <p:sldId id="300" r:id="rId46"/>
    <p:sldId id="303" r:id="rId47"/>
    <p:sldId id="304" r:id="rId48"/>
    <p:sldId id="301" r:id="rId49"/>
  </p:sldIdLst>
  <p:sldSz cx="9144000" cy="6858000" type="screen4x3"/>
  <p:notesSz cx="7315200" cy="96012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64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e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64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e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9" Type="http://schemas.openxmlformats.org/officeDocument/2006/relationships/image" Target="../media/image10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1.wmf"/><Relationship Id="rId4" Type="http://schemas.openxmlformats.org/officeDocument/2006/relationships/image" Target="../media/image5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52.wmf"/><Relationship Id="rId4" Type="http://schemas.openxmlformats.org/officeDocument/2006/relationships/image" Target="../media/image140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79690A35-C68A-4651-A6FD-1CAD83866DB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4D34D7-1910-4201-819A-2CFAED04D3E6}" type="slidenum">
              <a:rPr lang="fr-FR" altLang="fr-FR" sz="1300"/>
              <a:pPr/>
              <a:t>4</a:t>
            </a:fld>
            <a:endParaRPr lang="fr-FR" altLang="fr-FR" sz="13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B85D67-CC02-461B-A2CB-C6248089D4C5}" type="slidenum">
              <a:rPr lang="fr-FR" altLang="fr-FR" sz="1300"/>
              <a:pPr/>
              <a:t>5</a:t>
            </a:fld>
            <a:endParaRPr lang="fr-FR" altLang="fr-FR" sz="13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F2E786-BCB9-4139-8E4E-4323E05A5483}" type="slidenum">
              <a:rPr lang="fr-FR" altLang="fr-FR" sz="1300"/>
              <a:pPr/>
              <a:t>6</a:t>
            </a:fld>
            <a:endParaRPr lang="fr-FR" altLang="fr-FR" sz="13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E9B590-57F1-4C55-8072-BA7AE2364210}" type="slidenum">
              <a:rPr lang="fr-FR" altLang="fr-FR" sz="1300"/>
              <a:pPr/>
              <a:t>7</a:t>
            </a:fld>
            <a:endParaRPr lang="fr-FR" altLang="fr-FR" sz="13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ED53F0-FDAA-4D3D-860F-4FC04C43759A}" type="slidenum">
              <a:rPr lang="fr-FR" altLang="fr-FR" sz="1300"/>
              <a:pPr/>
              <a:t>8</a:t>
            </a:fld>
            <a:endParaRPr lang="fr-FR" altLang="fr-FR" sz="13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44E351-2439-4D22-B2FC-0F797A823645}" type="slidenum">
              <a:rPr lang="fr-FR" altLang="fr-FR" sz="1300"/>
              <a:pPr/>
              <a:t>15</a:t>
            </a:fld>
            <a:endParaRPr lang="fr-FR" altLang="fr-FR" sz="13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3123B1-85DB-4868-8581-52D4DB82844D}" type="slidenum">
              <a:rPr lang="fr-FR" altLang="fr-FR" sz="1300"/>
              <a:pPr/>
              <a:t>16</a:t>
            </a:fld>
            <a:endParaRPr lang="fr-FR" altLang="fr-FR" sz="13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61375E-3739-4A93-8FFB-6A1AD0681268}" type="slidenum">
              <a:rPr lang="fr-FR" altLang="fr-FR" sz="1300"/>
              <a:pPr/>
              <a:t>21</a:t>
            </a:fld>
            <a:endParaRPr lang="fr-FR" altLang="fr-FR" sz="130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7A734A-0222-46CF-9111-7246048672A7}" type="slidenum">
              <a:rPr lang="fr-FR" altLang="fr-FR" sz="1300"/>
              <a:pPr/>
              <a:t>32</a:t>
            </a:fld>
            <a:endParaRPr lang="fr-FR" altLang="fr-FR" sz="130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371682-F70A-47FF-8C8D-EA0A9186A7B9}" type="slidenum">
              <a:rPr lang="fr-FR" altLang="fr-FR" sz="1300"/>
              <a:pPr/>
              <a:t>37</a:t>
            </a:fld>
            <a:endParaRPr lang="fr-FR" altLang="fr-FR" sz="130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ABD54-B458-4F52-943F-1676C84F0B5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1476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A54B5-FFBE-4CA1-9858-2B2063B02E3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1113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44816D-2CDB-4104-9C09-F89FE637CB9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7257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947C98-20AC-4ADD-AF3A-C4C7050AD7F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19224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06DAC5-6791-4A57-A634-CB1C526DFD8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578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DB6C3-0465-4932-96EC-78D2FC71D65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54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E5E5A-52B5-40CF-98A0-E4C3D9D6275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420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8613B4-F000-444D-8536-842B724A156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9943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E3F679-E620-4505-A2B0-64E20F3B2D2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9596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2013CD-C78A-404D-922D-206A4B98CA6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9249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BFCEF-F431-4123-B4A6-85B772F3B59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8705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8A9EA-B3B0-4C54-B347-7497B11B0DA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637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9842EF9-83B1-42F0-B351-FD4526F9A365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29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38.png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9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7.png"/><Relationship Id="rId4" Type="http://schemas.openxmlformats.org/officeDocument/2006/relationships/image" Target="../media/image5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5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4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8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5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4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20" Type="http://schemas.openxmlformats.org/officeDocument/2006/relationships/image" Target="../media/image105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10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0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9.png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17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1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52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37.png"/><Relationship Id="rId4" Type="http://schemas.openxmlformats.org/officeDocument/2006/relationships/image" Target="../media/image12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1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31.wmf"/><Relationship Id="rId4" Type="http://schemas.openxmlformats.org/officeDocument/2006/relationships/oleObject" Target="../embeddings/oleObject116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33.png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2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37.png"/><Relationship Id="rId4" Type="http://schemas.openxmlformats.org/officeDocument/2006/relationships/image" Target="../media/image14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49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5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5"/>
          <p:cNvSpPr txBox="1">
            <a:spLocks noChangeArrowheads="1"/>
          </p:cNvSpPr>
          <p:nvPr/>
        </p:nvSpPr>
        <p:spPr bwMode="auto">
          <a:xfrm>
            <a:off x="249238" y="1196975"/>
            <a:ext cx="8305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But : décrire le comportement dynamique d’</a:t>
            </a:r>
            <a:r>
              <a:rPr lang="fr-FR" altLang="ja-JP" sz="1800" dirty="0"/>
              <a:t>un système ou d’un dispositif </a:t>
            </a:r>
          </a:p>
          <a:p>
            <a:pPr eaLnBrk="1" hangingPunct="1"/>
            <a:r>
              <a:rPr lang="fr-FR" altLang="fr-FR" sz="1800" dirty="0"/>
              <a:t>	</a:t>
            </a:r>
            <a:r>
              <a:rPr lang="fr-FR" altLang="fr-FR" sz="1800" i="1" dirty="0"/>
              <a:t>Exemple : </a:t>
            </a:r>
          </a:p>
          <a:p>
            <a:pPr eaLnBrk="1" hangingPunct="1"/>
            <a:r>
              <a:rPr lang="fr-FR" altLang="fr-FR" sz="1800" i="1" dirty="0"/>
              <a:t>		La trajectoire d</a:t>
            </a:r>
            <a:r>
              <a:rPr lang="ja-JP" altLang="fr-FR" sz="1800" i="1" dirty="0"/>
              <a:t>’</a:t>
            </a:r>
            <a:r>
              <a:rPr lang="fr-FR" altLang="ja-JP" sz="1800" i="1" dirty="0"/>
              <a:t>un objet matériel: de la particule </a:t>
            </a:r>
            <a:r>
              <a:rPr lang="fr-FR" altLang="ja-JP" sz="1800" i="1" dirty="0">
                <a:sym typeface="Wingdings" panose="05000000000000000000" pitchFamily="2" charset="2"/>
              </a:rPr>
              <a:t> </a:t>
            </a:r>
            <a:r>
              <a:rPr lang="fr-FR" altLang="ja-JP" sz="1800" i="1" dirty="0"/>
              <a:t>planète</a:t>
            </a:r>
            <a:r>
              <a:rPr lang="fr-FR" altLang="ja-JP" sz="1800" dirty="0"/>
              <a:t> 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Une EDO est une relation algébrique qui lie la fonction inconnue à ses dérivées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	</a:t>
            </a:r>
            <a:r>
              <a:rPr lang="fr-FR" altLang="fr-FR" sz="1800" i="1" dirty="0"/>
              <a:t>Exemples : </a:t>
            </a:r>
          </a:p>
          <a:p>
            <a:pPr eaLnBrk="1" hangingPunct="1"/>
            <a:r>
              <a:rPr lang="fr-FR" altLang="fr-FR" sz="1800" i="1" dirty="0"/>
              <a:t>		Oscillateur harmonique amorti</a:t>
            </a:r>
          </a:p>
          <a:p>
            <a:pPr eaLnBrk="1" hangingPunct="1"/>
            <a:r>
              <a:rPr lang="fr-FR" altLang="fr-FR" sz="1800" i="1" dirty="0"/>
              <a:t>		équation linéaire</a:t>
            </a:r>
          </a:p>
          <a:p>
            <a:pPr eaLnBrk="1" hangingPunct="1"/>
            <a:endParaRPr lang="fr-FR" altLang="fr-FR" sz="1800" i="1" dirty="0"/>
          </a:p>
          <a:p>
            <a:pPr eaLnBrk="1" hangingPunct="1"/>
            <a:r>
              <a:rPr lang="fr-FR" altLang="fr-FR" sz="1800" i="1" dirty="0"/>
              <a:t>		Pendule pesant</a:t>
            </a:r>
          </a:p>
          <a:p>
            <a:pPr eaLnBrk="1" hangingPunct="1"/>
            <a:r>
              <a:rPr lang="fr-FR" altLang="fr-FR" sz="1800" i="1" dirty="0"/>
              <a:t>		équation non-linéaire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</p:txBody>
      </p:sp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23850" y="187325"/>
            <a:ext cx="8596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fr-FR"/>
              <a:t>Intégration numérique des Equations Différentielles Ordinaires</a:t>
            </a:r>
            <a:br>
              <a:rPr lang="en-GB" altLang="fr-FR"/>
            </a:br>
            <a:r>
              <a:rPr lang="en-GB" altLang="fr-FR"/>
              <a:t>EDO / ODE</a:t>
            </a:r>
            <a:endParaRPr lang="fr-FR" altLang="fr-FR"/>
          </a:p>
        </p:txBody>
      </p:sp>
      <p:graphicFrame>
        <p:nvGraphicFramePr>
          <p:cNvPr id="153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655847"/>
              </p:ext>
            </p:extLst>
          </p:nvPr>
        </p:nvGraphicFramePr>
        <p:xfrm>
          <a:off x="2101850" y="2708275"/>
          <a:ext cx="40211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5" name="Equation" r:id="rId3" imgW="2234880" imgH="507960" progId="Equation.DSMT4">
                  <p:embed/>
                </p:oleObj>
              </mc:Choice>
              <mc:Fallback>
                <p:oleObj name="Equation" r:id="rId3" imgW="2234880" imgH="507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2708275"/>
                        <a:ext cx="4021138" cy="9128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9"/>
          <p:cNvGraphicFramePr>
            <a:graphicFrameLocks noChangeAspect="1"/>
          </p:cNvGraphicFramePr>
          <p:nvPr/>
        </p:nvGraphicFramePr>
        <p:xfrm>
          <a:off x="5580063" y="3998913"/>
          <a:ext cx="24653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6" name="Equation" r:id="rId5" imgW="1371600" imgH="444500" progId="Equation.DSMT4">
                  <p:embed/>
                </p:oleObj>
              </mc:Choice>
              <mc:Fallback>
                <p:oleObj name="Equation" r:id="rId5" imgW="1371600" imgH="444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998913"/>
                        <a:ext cx="24653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0"/>
          <p:cNvGraphicFramePr>
            <a:graphicFrameLocks noChangeAspect="1"/>
          </p:cNvGraphicFramePr>
          <p:nvPr/>
        </p:nvGraphicFramePr>
        <p:xfrm>
          <a:off x="5800725" y="4935538"/>
          <a:ext cx="19399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7" name="Equation" r:id="rId7" imgW="1079032" imgH="444307" progId="Equation.DSMT4">
                  <p:embed/>
                </p:oleObj>
              </mc:Choice>
              <mc:Fallback>
                <p:oleObj name="Equation" r:id="rId7" imgW="1079032" imgH="44430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935538"/>
                        <a:ext cx="19399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ChangeArrowheads="1"/>
          </p:cNvSpPr>
          <p:nvPr/>
        </p:nvSpPr>
        <p:spPr bwMode="auto">
          <a:xfrm>
            <a:off x="250825" y="333375"/>
            <a:ext cx="8642350" cy="6191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fr-FR" altLang="fr-FR"/>
              <a:t>Travail de l</a:t>
            </a:r>
            <a:r>
              <a:rPr lang="ja-JP" altLang="fr-FR"/>
              <a:t>’</a:t>
            </a:r>
            <a:r>
              <a:rPr lang="fr-FR" altLang="ja-JP"/>
              <a:t>utilisateur</a:t>
            </a:r>
          </a:p>
          <a:p>
            <a:pPr eaLnBrk="1" hangingPunct="1">
              <a:spcBef>
                <a:spcPct val="20000"/>
              </a:spcBef>
            </a:pPr>
            <a:endParaRPr lang="fr-FR" altLang="fr-FR"/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Programmer l</a:t>
            </a:r>
            <a:r>
              <a:rPr lang="ja-JP" altLang="fr-FR" sz="1800"/>
              <a:t>’</a:t>
            </a:r>
            <a:r>
              <a:rPr lang="fr-FR" altLang="ja-JP" sz="1800"/>
              <a:t>expression de l</a:t>
            </a:r>
            <a:r>
              <a:rPr lang="ja-JP" altLang="fr-FR" sz="1800"/>
              <a:t>’</a:t>
            </a:r>
            <a:r>
              <a:rPr lang="fr-FR" altLang="ja-JP" sz="1800"/>
              <a:t>équation différentielle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Spécifier :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le domaine de définition (par ex. en polaire r </a:t>
            </a:r>
            <a:r>
              <a:rPr lang="fr-FR" altLang="fr-FR" sz="1800">
                <a:sym typeface="Symbol" panose="05050102010706020507" pitchFamily="18" charset="2"/>
              </a:rPr>
              <a:t>≠ 0)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Les conditions initiales (ou finales)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La précision demandée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Résultat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Un tableau de valeurs numériques :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	en abscisse : la variable (temps, espace)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	en ordonnée : les valeurs de la  fonction inconnue et de ses dérivées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Vérification des résultats obtenus sur des cas tests limites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Mise en production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Equivalence entre équation différentielle d</a:t>
            </a:r>
            <a:r>
              <a:rPr lang="ja-JP" altLang="fr-FR" sz="2400" smtClean="0">
                <a:solidFill>
                  <a:schemeClr val="tx1"/>
                </a:solidFill>
              </a:rPr>
              <a:t>’</a:t>
            </a:r>
            <a:r>
              <a:rPr lang="fr-FR" altLang="ja-JP" sz="2400" smtClean="0">
                <a:solidFill>
                  <a:schemeClr val="tx1"/>
                </a:solidFill>
              </a:rPr>
              <a:t>ordre n et système de n équations du 1</a:t>
            </a:r>
            <a:r>
              <a:rPr lang="fr-FR" altLang="ja-JP" sz="2400" baseline="30000" smtClean="0">
                <a:solidFill>
                  <a:schemeClr val="tx1"/>
                </a:solidFill>
              </a:rPr>
              <a:t>er</a:t>
            </a:r>
            <a:r>
              <a:rPr lang="fr-FR" altLang="ja-JP" sz="2400" smtClean="0">
                <a:solidFill>
                  <a:schemeClr val="tx1"/>
                </a:solidFill>
              </a:rPr>
              <a:t> ordre</a:t>
            </a:r>
            <a:endParaRPr lang="fr-FR" altLang="fr-FR" sz="2400" smtClean="0">
              <a:solidFill>
                <a:schemeClr val="tx1"/>
              </a:solidFill>
            </a:endParaRPr>
          </a:p>
        </p:txBody>
      </p:sp>
      <p:sp>
        <p:nvSpPr>
          <p:cNvPr id="17410" name="Text Box 9"/>
          <p:cNvSpPr txBox="1">
            <a:spLocks noChangeArrowheads="1"/>
          </p:cNvSpPr>
          <p:nvPr/>
        </p:nvSpPr>
        <p:spPr bwMode="auto">
          <a:xfrm>
            <a:off x="107950" y="1406525"/>
            <a:ext cx="896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Il n</a:t>
            </a:r>
            <a:r>
              <a:rPr lang="ja-JP" altLang="fr-FR" sz="1800"/>
              <a:t>’</a:t>
            </a:r>
            <a:r>
              <a:rPr lang="fr-FR" altLang="ja-JP" sz="1800"/>
              <a:t>existe pas de méthode numérique générale pour résoudre une éq. diff. d</a:t>
            </a:r>
            <a:r>
              <a:rPr lang="ja-JP" altLang="fr-FR" sz="1800"/>
              <a:t>’</a:t>
            </a:r>
            <a:r>
              <a:rPr lang="fr-FR" altLang="ja-JP" sz="1800"/>
              <a:t>ordre n&gt;1,</a:t>
            </a:r>
          </a:p>
          <a:p>
            <a:pPr eaLnBrk="1" hangingPunct="1"/>
            <a:r>
              <a:rPr lang="fr-FR" altLang="fr-FR" sz="1800"/>
              <a:t>il faut donc la transformer en un système d</a:t>
            </a:r>
            <a:r>
              <a:rPr lang="ja-JP" altLang="fr-FR" sz="1800"/>
              <a:t>’</a:t>
            </a:r>
            <a:r>
              <a:rPr lang="fr-FR" altLang="ja-JP" sz="1800"/>
              <a:t> équations du 1</a:t>
            </a:r>
            <a:r>
              <a:rPr lang="fr-FR" altLang="ja-JP" sz="1800" baseline="30000"/>
              <a:t>er</a:t>
            </a:r>
            <a:r>
              <a:rPr lang="fr-FR" altLang="ja-JP" sz="1800"/>
              <a:t> ordre.</a:t>
            </a:r>
            <a:endParaRPr lang="fr-FR" altLang="fr-FR" sz="1800"/>
          </a:p>
        </p:txBody>
      </p:sp>
      <p:sp>
        <p:nvSpPr>
          <p:cNvPr id="17411" name="Rectangle 10"/>
          <p:cNvSpPr>
            <a:spLocks noChangeArrowheads="1"/>
          </p:cNvSpPr>
          <p:nvPr/>
        </p:nvSpPr>
        <p:spPr bwMode="auto">
          <a:xfrm>
            <a:off x="4140200" y="2924175"/>
            <a:ext cx="4608513" cy="2881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</a:t>
            </a:r>
            <a:r>
              <a:rPr lang="ja-JP" altLang="fr-FR" sz="1800"/>
              <a:t>‘</a:t>
            </a:r>
            <a:r>
              <a:rPr lang="fr-FR" altLang="ja-JP" sz="1800"/>
              <a:t>inconnue elle-même 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première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seconde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</a:pPr>
            <a:r>
              <a:rPr lang="fr-FR" altLang="fr-FR" sz="1800"/>
              <a:t>…</a:t>
            </a:r>
          </a:p>
          <a:p>
            <a:pPr eaLnBrk="1" hangingPunct="1">
              <a:lnSpc>
                <a:spcPct val="17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d</a:t>
            </a:r>
            <a:r>
              <a:rPr lang="ja-JP" altLang="fr-FR" sz="1800"/>
              <a:t>’</a:t>
            </a:r>
            <a:r>
              <a:rPr lang="fr-FR" altLang="ja-JP" sz="1800"/>
              <a:t>ordre  </a:t>
            </a:r>
            <a:r>
              <a:rPr lang="fr-FR" altLang="ja-JP" sz="1800" b="1"/>
              <a:t>n-1</a:t>
            </a:r>
          </a:p>
          <a:p>
            <a:pPr eaLnBrk="1" hangingPunct="1">
              <a:lnSpc>
                <a:spcPct val="17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Réécriture de l</a:t>
            </a:r>
            <a:r>
              <a:rPr lang="ja-JP" altLang="fr-FR" sz="1800"/>
              <a:t>’</a:t>
            </a:r>
            <a:r>
              <a:rPr lang="fr-FR" altLang="ja-JP" sz="1800"/>
              <a:t>équation d</a:t>
            </a:r>
            <a:r>
              <a:rPr lang="ja-JP" altLang="fr-FR" sz="1800"/>
              <a:t>’</a:t>
            </a:r>
            <a:r>
              <a:rPr lang="fr-FR" altLang="ja-JP" sz="1800"/>
              <a:t>ordre n en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fonction des variables intermédiaires Y</a:t>
            </a:r>
            <a:r>
              <a:rPr lang="fr-FR" altLang="fr-FR" sz="1800" baseline="-25000"/>
              <a:t>i</a:t>
            </a:r>
            <a:endParaRPr lang="fr-FR" altLang="fr-FR" sz="1800"/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endParaRPr lang="fr-FR" altLang="fr-FR" sz="1800"/>
          </a:p>
        </p:txBody>
      </p:sp>
      <p:graphicFrame>
        <p:nvGraphicFramePr>
          <p:cNvPr id="174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715816"/>
              </p:ext>
            </p:extLst>
          </p:nvPr>
        </p:nvGraphicFramePr>
        <p:xfrm>
          <a:off x="911225" y="3068638"/>
          <a:ext cx="2925763" cy="346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1" name="Equation" r:id="rId3" imgW="1714320" imgH="2031840" progId="Equation.DSMT4">
                  <p:embed/>
                </p:oleObj>
              </mc:Choice>
              <mc:Fallback>
                <p:oleObj name="Equation" r:id="rId3" imgW="1714320" imgH="20318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068638"/>
                        <a:ext cx="2925763" cy="346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AutoShape 15"/>
          <p:cNvSpPr>
            <a:spLocks noChangeArrowheads="1"/>
          </p:cNvSpPr>
          <p:nvPr/>
        </p:nvSpPr>
        <p:spPr bwMode="auto">
          <a:xfrm>
            <a:off x="6084888" y="2420938"/>
            <a:ext cx="503237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74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07994"/>
              </p:ext>
            </p:extLst>
          </p:nvPr>
        </p:nvGraphicFramePr>
        <p:xfrm>
          <a:off x="1652588" y="2060575"/>
          <a:ext cx="40179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2" name="Equation" r:id="rId5" imgW="2234880" imgH="507960" progId="Equation.DSMT4">
                  <p:embed/>
                </p:oleObj>
              </mc:Choice>
              <mc:Fallback>
                <p:oleObj name="Equation" r:id="rId5" imgW="2234880" imgH="5079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2060575"/>
                        <a:ext cx="4017962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4450"/>
            <a:ext cx="7632700" cy="504825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1 : oscillateur harmonique</a:t>
            </a:r>
            <a:endParaRPr lang="fr-FR" altLang="fr-FR" sz="2400" u="sng" smtClean="0"/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0" y="2166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8440" name="Object 9"/>
          <p:cNvGraphicFramePr>
            <a:graphicFrameLocks noChangeAspect="1"/>
          </p:cNvGraphicFramePr>
          <p:nvPr/>
        </p:nvGraphicFramePr>
        <p:xfrm>
          <a:off x="4821238" y="801688"/>
          <a:ext cx="247173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1" name="Equation" r:id="rId4" imgW="1371600" imgH="444500" progId="Equation.DSMT4">
                  <p:embed/>
                </p:oleObj>
              </mc:Choice>
              <mc:Fallback>
                <p:oleObj name="Equation" r:id="rId4" imgW="1371600" imgH="444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801688"/>
                        <a:ext cx="247173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2771775" y="1628775"/>
            <a:ext cx="590391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Transformation en un système de deux équations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On pose :</a:t>
            </a:r>
          </a:p>
        </p:txBody>
      </p:sp>
      <p:graphicFrame>
        <p:nvGraphicFramePr>
          <p:cNvPr id="18442" name="Object 11"/>
          <p:cNvGraphicFramePr>
            <a:graphicFrameLocks noChangeAspect="1"/>
          </p:cNvGraphicFramePr>
          <p:nvPr/>
        </p:nvGraphicFramePr>
        <p:xfrm>
          <a:off x="3957638" y="1989138"/>
          <a:ext cx="79851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2" name="Equation" r:id="rId6" imgW="444307" imgH="393529" progId="Equation.DSMT4">
                  <p:embed/>
                </p:oleObj>
              </mc:Choice>
              <mc:Fallback>
                <p:oleObj name="Equation" r:id="rId6" imgW="44430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1989138"/>
                        <a:ext cx="79851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2"/>
          <p:cNvGraphicFramePr>
            <a:graphicFrameLocks noChangeAspect="1"/>
          </p:cNvGraphicFramePr>
          <p:nvPr/>
        </p:nvGraphicFramePr>
        <p:xfrm>
          <a:off x="4879975" y="2895600"/>
          <a:ext cx="21748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3" name="Equation" r:id="rId8" imgW="1206500" imgH="838200" progId="Equation.DSMT4">
                  <p:embed/>
                </p:oleObj>
              </mc:Choice>
              <mc:Fallback>
                <p:oleObj name="Equation" r:id="rId8" imgW="1206500" imgH="838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2895600"/>
                        <a:ext cx="2174875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3"/>
          <p:cNvGraphicFramePr>
            <a:graphicFrameLocks noChangeAspect="1"/>
          </p:cNvGraphicFramePr>
          <p:nvPr/>
        </p:nvGraphicFramePr>
        <p:xfrm>
          <a:off x="5314950" y="4741863"/>
          <a:ext cx="1831975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4" name="Equation" r:id="rId10" imgW="1016000" imgH="660400" progId="Equation.DSMT4">
                  <p:embed/>
                </p:oleObj>
              </mc:Choice>
              <mc:Fallback>
                <p:oleObj name="Equation" r:id="rId10" imgW="1016000" imgH="660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4741863"/>
                        <a:ext cx="1831975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4"/>
          <p:cNvGraphicFramePr>
            <a:graphicFrameLocks noChangeAspect="1"/>
          </p:cNvGraphicFramePr>
          <p:nvPr/>
        </p:nvGraphicFramePr>
        <p:xfrm>
          <a:off x="1209675" y="3251200"/>
          <a:ext cx="24749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5" name="Equation" r:id="rId12" imgW="1371600" imgH="444500" progId="Equation.DSMT4">
                  <p:embed/>
                </p:oleObj>
              </mc:Choice>
              <mc:Fallback>
                <p:oleObj name="Equation" r:id="rId12" imgW="1371600" imgH="444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3251200"/>
                        <a:ext cx="24749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Text Box 16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grpSp>
        <p:nvGrpSpPr>
          <p:cNvPr id="18447" name="Group 21"/>
          <p:cNvGrpSpPr>
            <a:grpSpLocks/>
          </p:cNvGrpSpPr>
          <p:nvPr/>
        </p:nvGrpSpPr>
        <p:grpSpPr bwMode="auto">
          <a:xfrm>
            <a:off x="863600" y="4508500"/>
            <a:ext cx="4572000" cy="1643063"/>
            <a:chOff x="204" y="2840"/>
            <a:chExt cx="2880" cy="1035"/>
          </a:xfrm>
        </p:grpSpPr>
        <p:sp>
          <p:nvSpPr>
            <p:cNvPr id="18451" name="Rectangle 15"/>
            <p:cNvSpPr>
              <a:spLocks noChangeArrowheads="1"/>
            </p:cNvSpPr>
            <p:nvPr/>
          </p:nvSpPr>
          <p:spPr bwMode="auto">
            <a:xfrm>
              <a:off x="204" y="2840"/>
              <a:ext cx="2880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Les inconnues sont :</a:t>
              </a:r>
            </a:p>
            <a:p>
              <a:pPr eaLnBrk="1" hangingPunct="1"/>
              <a:endParaRPr lang="fr-FR" altLang="fr-FR" sz="1800"/>
            </a:p>
            <a:p>
              <a:pPr eaLnBrk="1" hangingPunct="1">
                <a:buFontTx/>
                <a:buChar char="•"/>
              </a:pPr>
              <a:r>
                <a:rPr lang="fr-FR" altLang="fr-FR" sz="1800"/>
                <a:t> La fonction elle-même : x position</a:t>
              </a:r>
            </a:p>
            <a:p>
              <a:pPr eaLnBrk="1" hangingPunct="1"/>
              <a:endParaRPr lang="fr-FR" altLang="fr-FR" sz="1800"/>
            </a:p>
            <a:p>
              <a:pPr eaLnBrk="1" hangingPunct="1">
                <a:buFontTx/>
                <a:buChar char="•"/>
              </a:pPr>
              <a:r>
                <a:rPr lang="fr-FR" altLang="fr-FR" sz="1800"/>
                <a:t> La dérivée première :             vitesse</a:t>
              </a:r>
            </a:p>
          </p:txBody>
        </p:sp>
        <p:graphicFrame>
          <p:nvGraphicFramePr>
            <p:cNvPr id="18452" name="Object 17"/>
            <p:cNvGraphicFramePr>
              <a:graphicFrameLocks noChangeAspect="1"/>
            </p:cNvGraphicFramePr>
            <p:nvPr/>
          </p:nvGraphicFramePr>
          <p:xfrm>
            <a:off x="1701" y="3430"/>
            <a:ext cx="503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96" name="Equation" r:id="rId14" imgW="444307" imgH="393529" progId="Equation.DSMT4">
                    <p:embed/>
                  </p:oleObj>
                </mc:Choice>
                <mc:Fallback>
                  <p:oleObj name="Equation" r:id="rId14" imgW="444307" imgH="39352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3430"/>
                          <a:ext cx="503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448" name="Picture 1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9" name="AutoShape 19"/>
          <p:cNvSpPr>
            <a:spLocks noChangeArrowheads="1"/>
          </p:cNvSpPr>
          <p:nvPr/>
        </p:nvSpPr>
        <p:spPr bwMode="auto">
          <a:xfrm rot="-5400000">
            <a:off x="4032251" y="3392487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50" name="Text Box 22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  <a:endParaRPr lang="fr-FR" altLang="fr-FR" sz="2400" u="sng" smtClean="0"/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250825" y="3744913"/>
            <a:ext cx="4897438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Les inconnues sont :</a:t>
            </a:r>
          </a:p>
          <a:p>
            <a:pPr eaLnBrk="1" hangingPunct="1"/>
            <a:endParaRPr lang="fr-FR" altLang="fr-FR" sz="1800"/>
          </a:p>
          <a:p>
            <a:pPr eaLnBrk="1" hangingPunct="1">
              <a:buFontTx/>
              <a:buChar char="•"/>
            </a:pPr>
            <a:r>
              <a:rPr lang="fr-FR" altLang="fr-FR" sz="1800"/>
              <a:t> la position radiale :	      r</a:t>
            </a:r>
          </a:p>
          <a:p>
            <a:pPr eaLnBrk="1" hangingPunct="1">
              <a:buFontTx/>
              <a:buChar char="•"/>
            </a:pPr>
            <a:r>
              <a:rPr lang="fr-FR" altLang="fr-FR" sz="1800"/>
              <a:t> la position angulaire :	      θ</a:t>
            </a:r>
            <a:endParaRPr lang="fr-FR" altLang="fr-FR" sz="1800">
              <a:sym typeface="Symbol" panose="05050102010706020507" pitchFamily="18" charset="2"/>
            </a:endParaRP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et leur dérivée première </a:t>
            </a:r>
          </a:p>
          <a:p>
            <a:pPr eaLnBrk="1" hangingPunct="1">
              <a:buFontTx/>
              <a:buChar char="•"/>
            </a:pPr>
            <a:r>
              <a:rPr lang="fr-FR" altLang="fr-FR" sz="1800"/>
              <a:t> vitesse radiale :</a:t>
            </a:r>
          </a:p>
          <a:p>
            <a:pPr eaLnBrk="1" hangingPunct="1"/>
            <a:endParaRPr lang="fr-FR" altLang="fr-FR" sz="1800"/>
          </a:p>
          <a:p>
            <a:pPr eaLnBrk="1" hangingPunct="1">
              <a:buFontTx/>
              <a:buChar char="•"/>
            </a:pPr>
            <a:r>
              <a:rPr lang="fr-FR" altLang="fr-FR" sz="1800"/>
              <a:t> vitesse angulaire :		</a:t>
            </a:r>
          </a:p>
        </p:txBody>
      </p:sp>
      <p:graphicFrame>
        <p:nvGraphicFramePr>
          <p:cNvPr id="20487" name="Object 8"/>
          <p:cNvGraphicFramePr>
            <a:graphicFrameLocks noChangeAspect="1"/>
          </p:cNvGraphicFramePr>
          <p:nvPr/>
        </p:nvGraphicFramePr>
        <p:xfrm>
          <a:off x="3276600" y="5170488"/>
          <a:ext cx="7969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3" name="Equation" r:id="rId4" imgW="444307" imgH="393529" progId="Equation.DSMT4">
                  <p:embed/>
                </p:oleObj>
              </mc:Choice>
              <mc:Fallback>
                <p:oleObj name="Equation" r:id="rId4" imgW="444307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70488"/>
                        <a:ext cx="7969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9"/>
          <p:cNvGraphicFramePr>
            <a:graphicFrameLocks noChangeAspect="1"/>
          </p:cNvGraphicFramePr>
          <p:nvPr/>
        </p:nvGraphicFramePr>
        <p:xfrm>
          <a:off x="5259388" y="4005263"/>
          <a:ext cx="1946275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4" name="Equation" r:id="rId6" imgW="1079500" imgH="1524000" progId="Equation.DSMT4">
                  <p:embed/>
                </p:oleObj>
              </mc:Choice>
              <mc:Fallback>
                <p:oleObj name="Equation" r:id="rId6" imgW="1079500" imgH="152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4005263"/>
                        <a:ext cx="1946275" cy="274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10"/>
          <p:cNvGrpSpPr>
            <a:grpSpLocks/>
          </p:cNvGrpSpPr>
          <p:nvPr/>
        </p:nvGrpSpPr>
        <p:grpSpPr bwMode="auto">
          <a:xfrm>
            <a:off x="323850" y="260350"/>
            <a:ext cx="1658938" cy="2590800"/>
            <a:chOff x="4896" y="9072"/>
            <a:chExt cx="2563" cy="4080"/>
          </a:xfrm>
        </p:grpSpPr>
        <p:sp>
          <p:nvSpPr>
            <p:cNvPr id="20498" name="Line 11"/>
            <p:cNvSpPr>
              <a:spLocks noChangeShapeType="1"/>
            </p:cNvSpPr>
            <p:nvPr/>
          </p:nvSpPr>
          <p:spPr bwMode="auto">
            <a:xfrm>
              <a:off x="5208" y="90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99" name="Line 12"/>
            <p:cNvSpPr>
              <a:spLocks noChangeShapeType="1"/>
            </p:cNvSpPr>
            <p:nvPr/>
          </p:nvSpPr>
          <p:spPr bwMode="auto">
            <a:xfrm>
              <a:off x="5088" y="10992"/>
              <a:ext cx="2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0" name="Line 13"/>
            <p:cNvSpPr>
              <a:spLocks noChangeShapeType="1"/>
            </p:cNvSpPr>
            <p:nvPr/>
          </p:nvSpPr>
          <p:spPr bwMode="auto">
            <a:xfrm>
              <a:off x="5208" y="10992"/>
              <a:ext cx="1920" cy="192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1" name="Oval 14"/>
            <p:cNvSpPr>
              <a:spLocks noChangeArrowheads="1"/>
            </p:cNvSpPr>
            <p:nvPr/>
          </p:nvSpPr>
          <p:spPr bwMode="auto">
            <a:xfrm>
              <a:off x="6888" y="12672"/>
              <a:ext cx="480" cy="480"/>
            </a:xfrm>
            <a:prstGeom prst="ellipse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fr-FR" sz="1800"/>
            </a:p>
          </p:txBody>
        </p:sp>
        <p:sp>
          <p:nvSpPr>
            <p:cNvPr id="20502" name="Line 15"/>
            <p:cNvSpPr>
              <a:spLocks noChangeShapeType="1"/>
            </p:cNvSpPr>
            <p:nvPr/>
          </p:nvSpPr>
          <p:spPr bwMode="auto">
            <a:xfrm>
              <a:off x="5208" y="108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3" name="Arc 16"/>
            <p:cNvSpPr>
              <a:spLocks/>
            </p:cNvSpPr>
            <p:nvPr/>
          </p:nvSpPr>
          <p:spPr bwMode="auto">
            <a:xfrm rot="11450418" flipH="1">
              <a:off x="5328" y="11592"/>
              <a:ext cx="360" cy="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4" name="Text Box 17"/>
            <p:cNvSpPr txBox="1">
              <a:spLocks noChangeArrowheads="1"/>
            </p:cNvSpPr>
            <p:nvPr/>
          </p:nvSpPr>
          <p:spPr bwMode="auto">
            <a:xfrm>
              <a:off x="5448" y="11712"/>
              <a:ext cx="481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Symbol" panose="05050102010706020507" pitchFamily="18" charset="2"/>
                  <a:ea typeface="MS Mincho" pitchFamily="49" charset="-128"/>
                </a:rPr>
                <a:t>q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5" name="Text Box 18"/>
            <p:cNvSpPr txBox="1">
              <a:spLocks noChangeArrowheads="1"/>
            </p:cNvSpPr>
            <p:nvPr/>
          </p:nvSpPr>
          <p:spPr bwMode="auto">
            <a:xfrm>
              <a:off x="6169" y="11472"/>
              <a:ext cx="390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r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6" name="Text Box 19"/>
            <p:cNvSpPr txBox="1">
              <a:spLocks noChangeArrowheads="1"/>
            </p:cNvSpPr>
            <p:nvPr/>
          </p:nvSpPr>
          <p:spPr bwMode="auto">
            <a:xfrm>
              <a:off x="7057" y="108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x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7" name="Text Box 20"/>
            <p:cNvSpPr txBox="1">
              <a:spLocks noChangeArrowheads="1"/>
            </p:cNvSpPr>
            <p:nvPr/>
          </p:nvSpPr>
          <p:spPr bwMode="auto">
            <a:xfrm>
              <a:off x="4896" y="90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y</a:t>
              </a:r>
              <a:endParaRPr lang="fr-FR" altLang="fr-FR" sz="1800">
                <a:ea typeface="MS Mincho" pitchFamily="49" charset="-128"/>
              </a:endParaRPr>
            </a:p>
          </p:txBody>
        </p:sp>
      </p:grpSp>
      <p:graphicFrame>
        <p:nvGraphicFramePr>
          <p:cNvPr id="2049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131288"/>
              </p:ext>
            </p:extLst>
          </p:nvPr>
        </p:nvGraphicFramePr>
        <p:xfrm>
          <a:off x="4500563" y="1052513"/>
          <a:ext cx="3697287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5" name="Equation" r:id="rId8" imgW="1942920" imgH="660240" progId="Equation.DSMT4">
                  <p:embed/>
                </p:oleObj>
              </mc:Choice>
              <mc:Fallback>
                <p:oleObj name="Equation" r:id="rId8" imgW="1942920" imgH="6602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052513"/>
                        <a:ext cx="3697287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22"/>
          <p:cNvSpPr txBox="1">
            <a:spLocks noChangeArrowheads="1"/>
          </p:cNvSpPr>
          <p:nvPr/>
        </p:nvSpPr>
        <p:spPr bwMode="auto">
          <a:xfrm>
            <a:off x="2627313" y="692150"/>
            <a:ext cx="380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Les équations du mouvement sont :</a:t>
            </a:r>
          </a:p>
        </p:txBody>
      </p:sp>
      <p:sp>
        <p:nvSpPr>
          <p:cNvPr id="20492" name="Text Box 23"/>
          <p:cNvSpPr txBox="1">
            <a:spLocks noChangeArrowheads="1"/>
          </p:cNvSpPr>
          <p:nvPr/>
        </p:nvSpPr>
        <p:spPr bwMode="auto">
          <a:xfrm>
            <a:off x="468313" y="1196975"/>
            <a:ext cx="1400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200" b="1">
                <a:solidFill>
                  <a:schemeClr val="hlink"/>
                </a:solidFill>
              </a:rPr>
              <a:t>-</a:t>
            </a:r>
            <a:r>
              <a:rPr lang="fr-FR" altLang="fr-FR" sz="1200">
                <a:solidFill>
                  <a:schemeClr val="hlink"/>
                </a:solidFill>
              </a:rPr>
              <a:t> tige élastique (L)</a:t>
            </a:r>
          </a:p>
        </p:txBody>
      </p:sp>
      <p:graphicFrame>
        <p:nvGraphicFramePr>
          <p:cNvPr id="20493" name="Object 24"/>
          <p:cNvGraphicFramePr>
            <a:graphicFrameLocks noChangeAspect="1"/>
          </p:cNvGraphicFramePr>
          <p:nvPr/>
        </p:nvGraphicFramePr>
        <p:xfrm>
          <a:off x="3297238" y="5876925"/>
          <a:ext cx="9144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6" name="Equation" r:id="rId10" imgW="507780" imgH="393529" progId="Equation.DSMT4">
                  <p:embed/>
                </p:oleObj>
              </mc:Choice>
              <mc:Fallback>
                <p:oleObj name="Equation" r:id="rId10" imgW="507780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5876925"/>
                        <a:ext cx="9144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25"/>
          <p:cNvGraphicFramePr>
            <a:graphicFrameLocks noChangeAspect="1"/>
          </p:cNvGraphicFramePr>
          <p:nvPr/>
        </p:nvGraphicFramePr>
        <p:xfrm>
          <a:off x="3117850" y="2420938"/>
          <a:ext cx="584676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7" name="Equation" r:id="rId12" imgW="3073400" imgH="838200" progId="Equation.DSMT4">
                  <p:embed/>
                </p:oleObj>
              </mc:Choice>
              <mc:Fallback>
                <p:oleObj name="Equation" r:id="rId12" imgW="3073400" imgH="838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2420938"/>
                        <a:ext cx="584676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Text Box 26"/>
          <p:cNvSpPr txBox="1">
            <a:spLocks noChangeArrowheads="1"/>
          </p:cNvSpPr>
          <p:nvPr/>
        </p:nvSpPr>
        <p:spPr bwMode="auto">
          <a:xfrm>
            <a:off x="2627313" y="1341438"/>
            <a:ext cx="183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Un système de </a:t>
            </a:r>
          </a:p>
          <a:p>
            <a:pPr eaLnBrk="1" hangingPunct="1"/>
            <a:r>
              <a:rPr lang="fr-FR" altLang="fr-FR" sz="1800"/>
              <a:t>2 EDO d</a:t>
            </a:r>
            <a:r>
              <a:rPr lang="ja-JP" altLang="fr-FR" sz="1800"/>
              <a:t>’</a:t>
            </a:r>
            <a:r>
              <a:rPr lang="fr-FR" altLang="ja-JP" sz="1800"/>
              <a:t>ordre 2</a:t>
            </a:r>
            <a:endParaRPr lang="fr-FR" altLang="fr-FR" sz="1800"/>
          </a:p>
        </p:txBody>
      </p:sp>
      <p:sp>
        <p:nvSpPr>
          <p:cNvPr id="20496" name="Text Box 29"/>
          <p:cNvSpPr txBox="1">
            <a:spLocks noChangeArrowheads="1"/>
          </p:cNvSpPr>
          <p:nvPr/>
        </p:nvSpPr>
        <p:spPr bwMode="auto">
          <a:xfrm>
            <a:off x="1835150" y="2997200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posant</a:t>
            </a:r>
          </a:p>
        </p:txBody>
      </p:sp>
      <p:sp>
        <p:nvSpPr>
          <p:cNvPr id="20497" name="Text Box 3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7221538" cy="850900"/>
          </a:xfrm>
        </p:spPr>
        <p:txBody>
          <a:bodyPr/>
          <a:lstStyle/>
          <a:p>
            <a:pPr eaLnBrk="1" hangingPunct="1">
              <a:defRPr/>
            </a:pPr>
            <a:r>
              <a:rPr lang="fr-FR" sz="2400" smtClean="0">
                <a:ea typeface="+mj-ea"/>
                <a:cs typeface="+mj-cs"/>
              </a:rPr>
              <a:t>EDO et Forme explicite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43926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Soit une équation différentielle d</a:t>
            </a:r>
            <a:r>
              <a:rPr lang="ja-JP" altLang="fr-FR" sz="1800" smtClean="0"/>
              <a:t>’</a:t>
            </a:r>
            <a:r>
              <a:rPr lang="fr-FR" altLang="ja-JP" sz="1800" smtClean="0"/>
              <a:t>ordre 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Il peut être </a:t>
            </a:r>
            <a:r>
              <a:rPr lang="fr-FR" altLang="fr-FR" sz="1800" b="1" smtClean="0">
                <a:solidFill>
                  <a:srgbClr val="FF3300"/>
                </a:solidFill>
              </a:rPr>
              <a:t>quelques fois</a:t>
            </a:r>
            <a:r>
              <a:rPr lang="fr-FR" altLang="fr-FR" sz="1800" smtClean="0"/>
              <a:t> transformé en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C</a:t>
            </a:r>
            <a:r>
              <a:rPr lang="ja-JP" altLang="fr-FR" sz="1800" smtClean="0"/>
              <a:t>’</a:t>
            </a:r>
            <a:r>
              <a:rPr lang="fr-FR" altLang="ja-JP" sz="1800" smtClean="0"/>
              <a:t>est la forme </a:t>
            </a:r>
            <a:r>
              <a:rPr lang="fr-FR" altLang="ja-JP" sz="1800" b="1" smtClean="0"/>
              <a:t>explicite </a:t>
            </a:r>
            <a:r>
              <a:rPr lang="fr-FR" altLang="ja-JP" sz="1800" smtClean="0"/>
              <a:t>du système</a:t>
            </a:r>
            <a:endParaRPr lang="fr-FR" altLang="fr-FR" sz="1800" smtClean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5" name="Rectangle 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37" name="Object 11"/>
          <p:cNvGraphicFramePr>
            <a:graphicFrameLocks noChangeAspect="1"/>
          </p:cNvGraphicFramePr>
          <p:nvPr/>
        </p:nvGraphicFramePr>
        <p:xfrm>
          <a:off x="2555875" y="2420938"/>
          <a:ext cx="20716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name="Equation" r:id="rId4" imgW="1002865" imgH="393529" progId="Equation.DSMT4">
                  <p:embed/>
                </p:oleObj>
              </mc:Choice>
              <mc:Fallback>
                <p:oleObj name="Equation" r:id="rId4" imgW="1002865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420938"/>
                        <a:ext cx="20716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3"/>
          <p:cNvSpPr>
            <a:spLocks noChangeArrowheads="1"/>
          </p:cNvSpPr>
          <p:nvPr/>
        </p:nvSpPr>
        <p:spPr bwMode="auto">
          <a:xfrm>
            <a:off x="468313" y="3716338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Exemple 1 : oscillateur harmonique</a:t>
            </a:r>
          </a:p>
        </p:txBody>
      </p:sp>
      <p:graphicFrame>
        <p:nvGraphicFramePr>
          <p:cNvPr id="22539" name="Object 14"/>
          <p:cNvGraphicFramePr>
            <a:graphicFrameLocks noChangeAspect="1"/>
          </p:cNvGraphicFramePr>
          <p:nvPr/>
        </p:nvGraphicFramePr>
        <p:xfrm>
          <a:off x="539750" y="4457700"/>
          <a:ext cx="21748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5" name="Equation" r:id="rId6" imgW="1206500" imgH="838200" progId="Equation.DSMT4">
                  <p:embed/>
                </p:oleObj>
              </mc:Choice>
              <mc:Fallback>
                <p:oleObj name="Equation" r:id="rId6" imgW="1206500" imgH="838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57700"/>
                        <a:ext cx="2174875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AutoShape 15"/>
          <p:cNvSpPr>
            <a:spLocks noChangeArrowheads="1"/>
          </p:cNvSpPr>
          <p:nvPr/>
        </p:nvSpPr>
        <p:spPr bwMode="auto">
          <a:xfrm rot="-5400000">
            <a:off x="2663826" y="4889500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4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978013"/>
              </p:ext>
            </p:extLst>
          </p:nvPr>
        </p:nvGraphicFramePr>
        <p:xfrm>
          <a:off x="3441700" y="4241800"/>
          <a:ext cx="3846513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6" name="Equation" r:id="rId8" imgW="2133360" imgH="1066680" progId="Equation.DSMT4">
                  <p:embed/>
                </p:oleObj>
              </mc:Choice>
              <mc:Fallback>
                <p:oleObj name="Equation" r:id="rId8" imgW="2133360" imgH="10666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4241800"/>
                        <a:ext cx="3846513" cy="192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7"/>
          <p:cNvGraphicFramePr>
            <a:graphicFrameLocks noChangeAspect="1"/>
          </p:cNvGraphicFramePr>
          <p:nvPr/>
        </p:nvGraphicFramePr>
        <p:xfrm>
          <a:off x="7092950" y="4714875"/>
          <a:ext cx="17176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7" name="Equation" r:id="rId10" imgW="952500" imgH="457200" progId="Equation.DSMT4">
                  <p:embed/>
                </p:oleObj>
              </mc:Choice>
              <mc:Fallback>
                <p:oleObj name="Equation" r:id="rId10" imgW="9525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714875"/>
                        <a:ext cx="17176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06339"/>
              </p:ext>
            </p:extLst>
          </p:nvPr>
        </p:nvGraphicFramePr>
        <p:xfrm>
          <a:off x="1316038" y="1125538"/>
          <a:ext cx="3970337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8" name="Equation" r:id="rId12" imgW="2209680" imgH="507960" progId="Equation.DSMT4">
                  <p:embed/>
                </p:oleObj>
              </mc:Choice>
              <mc:Fallback>
                <p:oleObj name="Equation" r:id="rId12" imgW="2209680" imgH="5079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1125538"/>
                        <a:ext cx="3970337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9"/>
          <p:cNvGraphicFramePr>
            <a:graphicFrameLocks noChangeAspect="1"/>
          </p:cNvGraphicFramePr>
          <p:nvPr/>
        </p:nvGraphicFramePr>
        <p:xfrm>
          <a:off x="6300788" y="115888"/>
          <a:ext cx="2451100" cy="303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9" name="Equation" r:id="rId14" imgW="1435100" imgH="1778000" progId="Equation.DSMT4">
                  <p:embed/>
                </p:oleObj>
              </mc:Choice>
              <mc:Fallback>
                <p:oleObj name="Equation" r:id="rId14" imgW="1435100" imgH="177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5888"/>
                        <a:ext cx="2451100" cy="303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5487988" y="14319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439510"/>
              </p:ext>
            </p:extLst>
          </p:nvPr>
        </p:nvGraphicFramePr>
        <p:xfrm>
          <a:off x="755576" y="3537223"/>
          <a:ext cx="2730500" cy="313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6" name="Equation" r:id="rId4" imgW="1434960" imgH="1650960" progId="Equation.DSMT4">
                  <p:embed/>
                </p:oleObj>
              </mc:Choice>
              <mc:Fallback>
                <p:oleObj name="Equation" r:id="rId4" imgW="1434960" imgH="1650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537223"/>
                        <a:ext cx="2730500" cy="313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20"/>
          <p:cNvGraphicFramePr>
            <a:graphicFrameLocks noChangeAspect="1"/>
          </p:cNvGraphicFramePr>
          <p:nvPr/>
        </p:nvGraphicFramePr>
        <p:xfrm>
          <a:off x="6704013" y="4152900"/>
          <a:ext cx="1603375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7" name="Equation" r:id="rId6" imgW="889000" imgH="914400" progId="Equation.DSMT4">
                  <p:embed/>
                </p:oleObj>
              </mc:Choice>
              <mc:Fallback>
                <p:oleObj name="Equation" r:id="rId6" imgW="889000" imgH="914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13" y="4152900"/>
                        <a:ext cx="1603375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21"/>
          <p:cNvSpPr>
            <a:spLocks noChangeArrowheads="1"/>
          </p:cNvSpPr>
          <p:nvPr/>
        </p:nvSpPr>
        <p:spPr bwMode="auto">
          <a:xfrm>
            <a:off x="755576" y="3141663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A50021"/>
                </a:solidFill>
              </a:rPr>
              <a:t>Forme explicite</a:t>
            </a:r>
          </a:p>
        </p:txBody>
      </p:sp>
      <p:sp>
        <p:nvSpPr>
          <p:cNvPr id="24584" name="AutoShape 22"/>
          <p:cNvSpPr>
            <a:spLocks noChangeArrowheads="1"/>
          </p:cNvSpPr>
          <p:nvPr/>
        </p:nvSpPr>
        <p:spPr bwMode="auto">
          <a:xfrm>
            <a:off x="3995738" y="2636838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85" name="Rectangle 26"/>
          <p:cNvSpPr>
            <a:spLocks noGrp="1" noChangeArrowheads="1"/>
          </p:cNvSpPr>
          <p:nvPr>
            <p:ph type="title"/>
          </p:nvPr>
        </p:nvSpPr>
        <p:spPr>
          <a:xfrm>
            <a:off x="1258888" y="73025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</a:p>
        </p:txBody>
      </p:sp>
      <p:graphicFrame>
        <p:nvGraphicFramePr>
          <p:cNvPr id="24586" name="Object 111"/>
          <p:cNvGraphicFramePr>
            <a:graphicFrameLocks noChangeAspect="1"/>
          </p:cNvGraphicFramePr>
          <p:nvPr/>
        </p:nvGraphicFramePr>
        <p:xfrm>
          <a:off x="468313" y="901700"/>
          <a:ext cx="5846762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8" name="Equation" r:id="rId8" imgW="3073400" imgH="838200" progId="Equation.DSMT4">
                  <p:embed/>
                </p:oleObj>
              </mc:Choice>
              <mc:Fallback>
                <p:oleObj name="Equation" r:id="rId8" imgW="3073400" imgH="838200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01700"/>
                        <a:ext cx="5846762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044575" y="115888"/>
            <a:ext cx="8064500" cy="4318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explicite du 1</a:t>
            </a:r>
            <a:r>
              <a:rPr lang="fr-FR" altLang="fr-FR" sz="2400" baseline="30000" smtClean="0"/>
              <a:t>er</a:t>
            </a:r>
            <a:r>
              <a:rPr lang="fr-FR" altLang="fr-FR" sz="2400" smtClean="0"/>
              <a:t> ordre</a:t>
            </a:r>
            <a:r>
              <a:rPr lang="en-GB" altLang="fr-FR" sz="2400" smtClean="0"/>
              <a:t> : </a:t>
            </a:r>
            <a:r>
              <a:rPr lang="fr-FR" altLang="fr-FR" sz="2400" smtClean="0"/>
              <a:t>Euler 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804863"/>
            <a:ext cx="8229600" cy="435292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Soit un système du premier ordre: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Le temps est discrétisé en pas de temps h tels que t = n.h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Le développement en série de Taylor de Y</a:t>
            </a:r>
            <a:r>
              <a:rPr lang="fr-FR" altLang="fr-FR" sz="1800" baseline="-25000" smtClean="0"/>
              <a:t>n+1</a:t>
            </a:r>
            <a:r>
              <a:rPr lang="fr-FR" altLang="fr-FR" sz="1800" smtClean="0"/>
              <a:t> au voisinage de Y</a:t>
            </a:r>
            <a:r>
              <a:rPr lang="fr-FR" altLang="fr-FR" sz="1800" baseline="-25000" smtClean="0"/>
              <a:t>n</a:t>
            </a: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pour lequel on connaît la dérivée première :</a:t>
            </a:r>
            <a:r>
              <a:rPr lang="en-GB" altLang="fr-FR" sz="1800" smtClean="0"/>
              <a:t>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03419"/>
              </p:ext>
            </p:extLst>
          </p:nvPr>
        </p:nvGraphicFramePr>
        <p:xfrm>
          <a:off x="4524375" y="660400"/>
          <a:ext cx="17160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4" name="Equation" r:id="rId4" imgW="901440" imgH="393480" progId="Equation.DSMT4">
                  <p:embed/>
                </p:oleObj>
              </mc:Choice>
              <mc:Fallback>
                <p:oleObj name="Equation" r:id="rId4" imgW="9014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660400"/>
                        <a:ext cx="17160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4" name="Rectangle 12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5" name="Object 13"/>
          <p:cNvGraphicFramePr>
            <a:graphicFrameLocks noChangeAspect="1"/>
          </p:cNvGraphicFramePr>
          <p:nvPr/>
        </p:nvGraphicFramePr>
        <p:xfrm>
          <a:off x="1331913" y="2205038"/>
          <a:ext cx="58229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5" name="Equation" r:id="rId6" imgW="3467100" imgH="444500" progId="Equation.DSMT4">
                  <p:embed/>
                </p:oleObj>
              </mc:Choice>
              <mc:Fallback>
                <p:oleObj name="Equation" r:id="rId6" imgW="34671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58229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7" name="Object 15"/>
          <p:cNvGraphicFramePr>
            <a:graphicFrameLocks noChangeAspect="1"/>
          </p:cNvGraphicFramePr>
          <p:nvPr/>
        </p:nvGraphicFramePr>
        <p:xfrm>
          <a:off x="666750" y="3567113"/>
          <a:ext cx="739298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6" name="Equation" r:id="rId8" imgW="4178300" imgH="444500" progId="Equation.DSMT4">
                  <p:embed/>
                </p:oleObj>
              </mc:Choice>
              <mc:Fallback>
                <p:oleObj name="Equation" r:id="rId8" imgW="4178300" imgH="4445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3567113"/>
                        <a:ext cx="739298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Oval 16"/>
          <p:cNvSpPr>
            <a:spLocks noChangeArrowheads="1"/>
          </p:cNvSpPr>
          <p:nvPr/>
        </p:nvSpPr>
        <p:spPr bwMode="auto">
          <a:xfrm>
            <a:off x="2916238" y="2133600"/>
            <a:ext cx="412750" cy="987425"/>
          </a:xfrm>
          <a:prstGeom prst="ellips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9" name="Line 17"/>
          <p:cNvSpPr>
            <a:spLocks noChangeShapeType="1"/>
          </p:cNvSpPr>
          <p:nvPr/>
        </p:nvSpPr>
        <p:spPr bwMode="auto">
          <a:xfrm>
            <a:off x="3132138" y="3122613"/>
            <a:ext cx="0" cy="522287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640" name="AutoShape 18"/>
          <p:cNvSpPr>
            <a:spLocks noChangeArrowheads="1"/>
          </p:cNvSpPr>
          <p:nvPr/>
        </p:nvSpPr>
        <p:spPr bwMode="auto">
          <a:xfrm rot="20295922" flipH="1">
            <a:off x="3940175" y="3544888"/>
            <a:ext cx="344488" cy="747712"/>
          </a:xfrm>
          <a:prstGeom prst="lightningBolt">
            <a:avLst/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41" name="Rectangle 19"/>
          <p:cNvSpPr>
            <a:spLocks noChangeArrowheads="1"/>
          </p:cNvSpPr>
          <p:nvPr/>
        </p:nvSpPr>
        <p:spPr bwMode="auto">
          <a:xfrm>
            <a:off x="468313" y="4273550"/>
            <a:ext cx="68373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est donnée par</a:t>
            </a:r>
          </a:p>
          <a:p>
            <a:pPr eaLnBrk="1" hangingPunct="1"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La précision peut être contrôlée par h si la dérivée 2</a:t>
            </a:r>
            <a:r>
              <a:rPr lang="fr-FR" altLang="fr-FR" sz="1800" baseline="30000"/>
              <a:t>nde</a:t>
            </a:r>
            <a:r>
              <a:rPr lang="fr-FR" altLang="fr-FR" sz="1800"/>
              <a:t> est bornée</a:t>
            </a:r>
          </a:p>
        </p:txBody>
      </p:sp>
      <p:graphicFrame>
        <p:nvGraphicFramePr>
          <p:cNvPr id="26642" name="Object 20"/>
          <p:cNvGraphicFramePr>
            <a:graphicFrameLocks noChangeAspect="1"/>
          </p:cNvGraphicFramePr>
          <p:nvPr/>
        </p:nvGraphicFramePr>
        <p:xfrm>
          <a:off x="4500563" y="4465638"/>
          <a:ext cx="16557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7" name="Equation" r:id="rId10" imgW="1066337" imgH="444307" progId="Equation.DSMT4">
                  <p:embed/>
                </p:oleObj>
              </mc:Choice>
              <mc:Fallback>
                <p:oleObj name="Equation" r:id="rId10" imgW="1066337" imgH="44430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465638"/>
                        <a:ext cx="16557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Rectangle 21"/>
          <p:cNvSpPr>
            <a:spLocks noChangeArrowheads="1"/>
          </p:cNvSpPr>
          <p:nvPr/>
        </p:nvSpPr>
        <p:spPr bwMode="auto">
          <a:xfrm>
            <a:off x="169863" y="6092825"/>
            <a:ext cx="8791575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sz="1800" b="1">
                <a:solidFill>
                  <a:srgbClr val="A50021"/>
                </a:solidFill>
              </a:rPr>
              <a:t> Y </a:t>
            </a:r>
            <a:r>
              <a:rPr lang="fr-FR" altLang="fr-FR" sz="1800">
                <a:solidFill>
                  <a:srgbClr val="A50021"/>
                </a:solidFill>
              </a:rPr>
              <a:t>étant connue à t=0, la fonction </a:t>
            </a:r>
            <a:r>
              <a:rPr lang="fr-FR" altLang="fr-FR" sz="1800" b="1">
                <a:solidFill>
                  <a:srgbClr val="A50021"/>
                </a:solidFill>
              </a:rPr>
              <a:t>Y</a:t>
            </a:r>
            <a:r>
              <a:rPr lang="fr-FR" altLang="fr-FR" sz="1800">
                <a:solidFill>
                  <a:srgbClr val="A50021"/>
                </a:solidFill>
              </a:rPr>
              <a:t> peut être déterminée à tout autre instant ultérieur</a:t>
            </a:r>
          </a:p>
        </p:txBody>
      </p:sp>
      <p:graphicFrame>
        <p:nvGraphicFramePr>
          <p:cNvPr id="266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540142"/>
              </p:ext>
            </p:extLst>
          </p:nvPr>
        </p:nvGraphicFramePr>
        <p:xfrm>
          <a:off x="1946275" y="5597525"/>
          <a:ext cx="33591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8" name="Equation" r:id="rId12" imgW="1841400" imgH="228600" progId="Equation.DSMT4">
                  <p:embed/>
                </p:oleObj>
              </mc:Choice>
              <mc:Fallback>
                <p:oleObj name="Equation" r:id="rId12" imgW="18414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5597525"/>
                        <a:ext cx="33591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062538"/>
              </p:ext>
            </p:extLst>
          </p:nvPr>
        </p:nvGraphicFramePr>
        <p:xfrm>
          <a:off x="457200" y="3784600"/>
          <a:ext cx="336073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9" name="Equation" r:id="rId14" imgW="1841400" imgH="228600" progId="Equation.DSMT4">
                  <p:embed/>
                </p:oleObj>
              </mc:Choice>
              <mc:Fallback>
                <p:oleObj name="Equation" r:id="rId14" imgW="18414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84600"/>
                        <a:ext cx="3360738" cy="423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719138" y="1196975"/>
            <a:ext cx="7669212" cy="41036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Résoudre l'équation différentielle du 1er ordre suivante : 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La solution exacte de ce système est : 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Selon la méthode </a:t>
            </a:r>
            <a:r>
              <a:rPr lang="fr-FR" altLang="fr-FR" sz="2000" b="1" smtClean="0">
                <a:solidFill>
                  <a:srgbClr val="A50021"/>
                </a:solidFill>
              </a:rPr>
              <a:t>d'</a:t>
            </a:r>
            <a:r>
              <a:rPr lang="fr-FR" altLang="fr-FR" sz="2000" b="1" i="1" smtClean="0">
                <a:solidFill>
                  <a:srgbClr val="A50021"/>
                </a:solidFill>
              </a:rPr>
              <a:t>Euler</a:t>
            </a:r>
            <a:r>
              <a:rPr lang="fr-FR" altLang="fr-FR" sz="2000" smtClean="0"/>
              <a:t>, la solution de ce système s'écrit : 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/>
            </a:r>
            <a:br>
              <a:rPr lang="fr-FR" altLang="fr-FR" sz="2000" smtClean="0"/>
            </a:br>
            <a:endParaRPr lang="fr-FR" altLang="fr-FR" sz="2000" smtClean="0"/>
          </a:p>
        </p:txBody>
      </p:sp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1547813" y="44450"/>
            <a:ext cx="6697662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Exemple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application de la 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graphicFrame>
        <p:nvGraphicFramePr>
          <p:cNvPr id="286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177566"/>
              </p:ext>
            </p:extLst>
          </p:nvPr>
        </p:nvGraphicFramePr>
        <p:xfrm>
          <a:off x="1560513" y="1649413"/>
          <a:ext cx="44037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Equation" r:id="rId3" imgW="2438280" imgH="1066680" progId="Equation.DSMT4">
                  <p:embed/>
                </p:oleObj>
              </mc:Choice>
              <mc:Fallback>
                <p:oleObj name="Equation" r:id="rId3" imgW="2438280" imgH="1066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1649413"/>
                        <a:ext cx="4403725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5349875" y="3357563"/>
          <a:ext cx="9636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Equation" r:id="rId5" imgW="545863" imgH="393529" progId="Equation.DSMT4">
                  <p:embed/>
                </p:oleObj>
              </mc:Choice>
              <mc:Fallback>
                <p:oleObj name="Equation" r:id="rId5" imgW="545863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3357563"/>
                        <a:ext cx="96361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611376"/>
              </p:ext>
            </p:extLst>
          </p:nvPr>
        </p:nvGraphicFramePr>
        <p:xfrm>
          <a:off x="1498600" y="4773613"/>
          <a:ext cx="65643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Equation" r:id="rId7" imgW="3720960" imgH="444240" progId="Equation.DSMT4">
                  <p:embed/>
                </p:oleObj>
              </mc:Choice>
              <mc:Fallback>
                <p:oleObj name="Equation" r:id="rId7" imgW="372096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773613"/>
                        <a:ext cx="65643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2784475" y="2846388"/>
            <a:ext cx="21478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rgbClr val="A50021"/>
                </a:solidFill>
                <a:sym typeface="Wingdings" panose="05000000000000000000" pitchFamily="2" charset="2"/>
              </a:rPr>
              <a:t> </a:t>
            </a:r>
            <a:r>
              <a:rPr lang="fr-FR" altLang="fr-FR" sz="1800">
                <a:solidFill>
                  <a:srgbClr val="A50021"/>
                </a:solidFill>
              </a:rPr>
              <a:t>Condition initiale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671513"/>
            <a:ext cx="77152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698" name="Object 6"/>
          <p:cNvGraphicFramePr>
            <a:graphicFrameLocks noChangeAspect="1"/>
          </p:cNvGraphicFramePr>
          <p:nvPr/>
        </p:nvGraphicFramePr>
        <p:xfrm>
          <a:off x="4356100" y="2349500"/>
          <a:ext cx="9636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Equation" r:id="rId4" imgW="545863" imgH="393529" progId="Equation.DSMT4">
                  <p:embed/>
                </p:oleObj>
              </mc:Choice>
              <mc:Fallback>
                <p:oleObj name="Equation" r:id="rId4" imgW="545863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349500"/>
                        <a:ext cx="963613" cy="693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Line 7"/>
          <p:cNvSpPr>
            <a:spLocks noChangeShapeType="1"/>
          </p:cNvSpPr>
          <p:nvPr/>
        </p:nvSpPr>
        <p:spPr bwMode="auto">
          <a:xfrm>
            <a:off x="2044700" y="3705225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0" name="Text Box 8"/>
          <p:cNvSpPr txBox="1">
            <a:spLocks noChangeArrowheads="1"/>
          </p:cNvSpPr>
          <p:nvPr/>
        </p:nvSpPr>
        <p:spPr bwMode="auto">
          <a:xfrm>
            <a:off x="1908175" y="378936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h=0.1</a:t>
            </a:r>
          </a:p>
        </p:txBody>
      </p:sp>
      <p:sp>
        <p:nvSpPr>
          <p:cNvPr id="29701" name="Line 9"/>
          <p:cNvSpPr>
            <a:spLocks noChangeShapeType="1"/>
          </p:cNvSpPr>
          <p:nvPr/>
        </p:nvSpPr>
        <p:spPr bwMode="auto">
          <a:xfrm flipH="1">
            <a:off x="539750" y="2276475"/>
            <a:ext cx="15113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2" name="Text Box 10"/>
          <p:cNvSpPr txBox="1">
            <a:spLocks noChangeArrowheads="1"/>
          </p:cNvSpPr>
          <p:nvPr/>
        </p:nvSpPr>
        <p:spPr bwMode="auto">
          <a:xfrm>
            <a:off x="179388" y="2060575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2</a:t>
            </a:r>
            <a:endParaRPr lang="fr-FR" altLang="fr-FR" sz="1800"/>
          </a:p>
        </p:txBody>
      </p:sp>
      <p:sp>
        <p:nvSpPr>
          <p:cNvPr id="29703" name="Line 11"/>
          <p:cNvSpPr>
            <a:spLocks noChangeShapeType="1"/>
          </p:cNvSpPr>
          <p:nvPr/>
        </p:nvSpPr>
        <p:spPr bwMode="auto">
          <a:xfrm flipH="1">
            <a:off x="539750" y="2708275"/>
            <a:ext cx="19446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4" name="Text Box 12"/>
          <p:cNvSpPr txBox="1">
            <a:spLocks noChangeArrowheads="1"/>
          </p:cNvSpPr>
          <p:nvPr/>
        </p:nvSpPr>
        <p:spPr bwMode="auto">
          <a:xfrm>
            <a:off x="179388" y="2420938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3</a:t>
            </a:r>
            <a:endParaRPr lang="fr-FR" altLang="fr-FR" sz="1800"/>
          </a:p>
        </p:txBody>
      </p:sp>
      <p:sp>
        <p:nvSpPr>
          <p:cNvPr id="29705" name="Text Box 13"/>
          <p:cNvSpPr txBox="1">
            <a:spLocks noChangeArrowheads="1"/>
          </p:cNvSpPr>
          <p:nvPr/>
        </p:nvSpPr>
        <p:spPr bwMode="auto">
          <a:xfrm>
            <a:off x="179388" y="836613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0</a:t>
            </a:r>
            <a:endParaRPr lang="fr-FR" altLang="fr-FR" sz="1800"/>
          </a:p>
        </p:txBody>
      </p:sp>
      <p:sp>
        <p:nvSpPr>
          <p:cNvPr id="29706" name="Line 14"/>
          <p:cNvSpPr>
            <a:spLocks noChangeShapeType="1"/>
          </p:cNvSpPr>
          <p:nvPr/>
        </p:nvSpPr>
        <p:spPr bwMode="auto">
          <a:xfrm flipH="1">
            <a:off x="539750" y="1069975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7" name="Line 15"/>
          <p:cNvSpPr>
            <a:spLocks noChangeShapeType="1"/>
          </p:cNvSpPr>
          <p:nvPr/>
        </p:nvSpPr>
        <p:spPr bwMode="auto">
          <a:xfrm>
            <a:off x="2051050" y="2276475"/>
            <a:ext cx="0" cy="143986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8" name="Line 16"/>
          <p:cNvSpPr>
            <a:spLocks noChangeShapeType="1"/>
          </p:cNvSpPr>
          <p:nvPr/>
        </p:nvSpPr>
        <p:spPr bwMode="auto">
          <a:xfrm>
            <a:off x="2478088" y="2708275"/>
            <a:ext cx="0" cy="102076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9" name="Line 17"/>
          <p:cNvSpPr>
            <a:spLocks noChangeShapeType="1"/>
          </p:cNvSpPr>
          <p:nvPr/>
        </p:nvSpPr>
        <p:spPr bwMode="auto">
          <a:xfrm flipH="1">
            <a:off x="3851275" y="3068638"/>
            <a:ext cx="504825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10" name="Text Box 18"/>
          <p:cNvSpPr txBox="1">
            <a:spLocks noChangeArrowheads="1"/>
          </p:cNvSpPr>
          <p:nvPr/>
        </p:nvSpPr>
        <p:spPr bwMode="auto">
          <a:xfrm>
            <a:off x="4335463" y="589756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223963" y="5121275"/>
            <a:ext cx="6516687" cy="900113"/>
          </a:xfrm>
        </p:spPr>
        <p:txBody>
          <a:bodyPr/>
          <a:lstStyle/>
          <a:p>
            <a:pPr algn="just" eaLnBrk="1" hangingPunct="1">
              <a:defRPr/>
            </a:pPr>
            <a:r>
              <a:rPr lang="fr-FR" sz="2000" smtClean="0">
                <a:ea typeface="+mn-ea"/>
                <a:cs typeface="+mn-cs"/>
              </a:rPr>
              <a:t>On remarque que </a:t>
            </a:r>
            <a:r>
              <a:rPr lang="fr-FR" sz="2000" b="1" smtClean="0">
                <a:solidFill>
                  <a:srgbClr val="A50021"/>
                </a:solidFill>
                <a:ea typeface="+mn-ea"/>
                <a:cs typeface="+mn-cs"/>
              </a:rPr>
              <a:t>l'erreur augmente</a:t>
            </a:r>
            <a:r>
              <a:rPr lang="fr-FR" sz="2000" smtClean="0">
                <a:ea typeface="+mn-ea"/>
                <a:cs typeface="+mn-cs"/>
              </a:rPr>
              <a:t> avec le temps !!!</a:t>
            </a:r>
          </a:p>
        </p:txBody>
      </p:sp>
      <p:sp>
        <p:nvSpPr>
          <p:cNvPr id="30722" name="Rectangle 65"/>
          <p:cNvSpPr>
            <a:spLocks noChangeArrowheads="1"/>
          </p:cNvSpPr>
          <p:nvPr/>
        </p:nvSpPr>
        <p:spPr bwMode="auto">
          <a:xfrm>
            <a:off x="1655763" y="152400"/>
            <a:ext cx="66976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 / Exemple 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0723" name="Rectangle 67"/>
          <p:cNvSpPr>
            <a:spLocks noChangeArrowheads="1"/>
          </p:cNvSpPr>
          <p:nvPr/>
        </p:nvSpPr>
        <p:spPr bwMode="auto">
          <a:xfrm>
            <a:off x="1258888" y="800100"/>
            <a:ext cx="651668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fr-FR" altLang="fr-FR" sz="2000"/>
              <a:t>On fixe le pas de temps h=0.1s</a:t>
            </a:r>
          </a:p>
        </p:txBody>
      </p:sp>
      <p:graphicFrame>
        <p:nvGraphicFramePr>
          <p:cNvPr id="20611" name="Group 131"/>
          <p:cNvGraphicFramePr>
            <a:graphicFrameLocks noGrp="1"/>
          </p:cNvGraphicFramePr>
          <p:nvPr/>
        </p:nvGraphicFramePr>
        <p:xfrm>
          <a:off x="1295400" y="1382713"/>
          <a:ext cx="6453188" cy="3472466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1134816231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4055604835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415081513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1791691771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146530368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exact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Méthode d'Euler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Erreur (%)</a:t>
                      </a:r>
                      <a:endParaRPr kumimoji="0" lang="fr-FR" alt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88575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0.909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0.900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6279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0.833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0.819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370376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0.769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0.752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205584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0.714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0.695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91307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0.666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0.647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710653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0.588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0.569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15182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0.526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0.507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31015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0.476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0.459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5156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d</a:t>
            </a:r>
            <a:r>
              <a:rPr lang="ja-JP" altLang="fr-FR" sz="2400" smtClean="0"/>
              <a:t>’</a:t>
            </a:r>
            <a:r>
              <a:rPr lang="fr-FR" altLang="ja-JP" sz="2400" smtClean="0"/>
              <a:t>Euler / Programmation</a:t>
            </a:r>
            <a:endParaRPr lang="fr-FR" altLang="fr-FR" sz="2400" smtClean="0"/>
          </a:p>
        </p:txBody>
      </p:sp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748" name="Object 6"/>
          <p:cNvGraphicFramePr>
            <a:graphicFrameLocks noChangeAspect="1"/>
          </p:cNvGraphicFramePr>
          <p:nvPr/>
        </p:nvGraphicFramePr>
        <p:xfrm>
          <a:off x="3635375" y="1341438"/>
          <a:ext cx="2471738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9" name="Equation" r:id="rId4" imgW="1371600" imgH="444500" progId="Equation.DSMT4">
                  <p:embed/>
                </p:oleObj>
              </mc:Choice>
              <mc:Fallback>
                <p:oleObj name="Equation" r:id="rId4" imgW="13716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341438"/>
                        <a:ext cx="2471738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Faire un programme Matlab résolvant l</a:t>
            </a:r>
            <a:r>
              <a:rPr lang="ja-JP" altLang="fr-FR" sz="1800" dirty="0"/>
              <a:t>’</a:t>
            </a:r>
            <a:r>
              <a:rPr lang="fr-FR" altLang="ja-JP" sz="1800" dirty="0"/>
              <a:t>EDO d</a:t>
            </a:r>
            <a:r>
              <a:rPr lang="ja-JP" altLang="fr-FR" sz="1800" dirty="0"/>
              <a:t>’</a:t>
            </a:r>
            <a:r>
              <a:rPr lang="fr-FR" altLang="ja-JP" sz="1800" dirty="0"/>
              <a:t>ordre 2 à l</a:t>
            </a:r>
            <a:r>
              <a:rPr lang="ja-JP" altLang="fr-FR" sz="1800" dirty="0"/>
              <a:t>’</a:t>
            </a:r>
            <a:r>
              <a:rPr lang="fr-FR" altLang="ja-JP" sz="1800" dirty="0"/>
              <a:t>aide de la méthode d</a:t>
            </a:r>
            <a:r>
              <a:rPr lang="ja-JP" altLang="fr-FR" sz="1800" dirty="0"/>
              <a:t>’</a:t>
            </a:r>
            <a:r>
              <a:rPr lang="fr-FR" altLang="ja-JP" sz="1800" dirty="0"/>
              <a:t>Euler :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1</a:t>
            </a:r>
            <a:r>
              <a:rPr lang="fr-FR" altLang="fr-FR" sz="1800" baseline="30000" dirty="0"/>
              <a:t>er</a:t>
            </a:r>
            <a:r>
              <a:rPr lang="fr-FR" altLang="fr-FR" sz="1800" dirty="0"/>
              <a:t> cas : n=1.5 et p</a:t>
            </a:r>
            <a:r>
              <a:rPr lang="fr-FR" altLang="fr-FR" sz="1800" baseline="30000" dirty="0"/>
              <a:t>2</a:t>
            </a:r>
            <a:r>
              <a:rPr lang="fr-FR" altLang="fr-FR" sz="1800" dirty="0"/>
              <a:t>=2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2</a:t>
            </a:r>
            <a:r>
              <a:rPr lang="fr-FR" altLang="fr-FR" sz="1800" baseline="30000" dirty="0"/>
              <a:t>ème</a:t>
            </a:r>
            <a:r>
              <a:rPr lang="fr-FR" altLang="fr-FR" sz="1800" dirty="0"/>
              <a:t> cas : n=0.2 et p</a:t>
            </a:r>
            <a:r>
              <a:rPr lang="fr-FR" altLang="fr-FR" sz="1800" baseline="30000" dirty="0"/>
              <a:t>2</a:t>
            </a:r>
            <a:r>
              <a:rPr lang="fr-FR" altLang="fr-FR" sz="1800" dirty="0"/>
              <a:t>=1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Simulation sur </a:t>
            </a:r>
            <a:r>
              <a:rPr lang="fr-FR" altLang="fr-FR" sz="1800" dirty="0" smtClean="0"/>
              <a:t>10s</a:t>
            </a:r>
            <a:endParaRPr lang="fr-FR" altLang="fr-FR" sz="1800" dirty="0"/>
          </a:p>
          <a:p>
            <a:pPr eaLnBrk="1" hangingPunct="1">
              <a:lnSpc>
                <a:spcPct val="120000"/>
              </a:lnSpc>
            </a:pPr>
            <a:endParaRPr lang="fr-FR" altLang="fr-FR" sz="1800" dirty="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/>
              <a:t>Superposer la solution analytique (cours précédent) pour évaluer la précision de la méthode en fonction du pas de temps</a:t>
            </a:r>
          </a:p>
        </p:txBody>
      </p:sp>
      <p:sp>
        <p:nvSpPr>
          <p:cNvPr id="31750" name="Text Box 8"/>
          <p:cNvSpPr txBox="1">
            <a:spLocks noChangeArrowheads="1"/>
          </p:cNvSpPr>
          <p:nvPr/>
        </p:nvSpPr>
        <p:spPr bwMode="auto">
          <a:xfrm>
            <a:off x="2824163" y="2584450"/>
            <a:ext cx="1060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note </a:t>
            </a:r>
          </a:p>
        </p:txBody>
      </p:sp>
      <p:graphicFrame>
        <p:nvGraphicFramePr>
          <p:cNvPr id="31751" name="Object 9"/>
          <p:cNvGraphicFramePr>
            <a:graphicFrameLocks noChangeAspect="1"/>
          </p:cNvGraphicFramePr>
          <p:nvPr/>
        </p:nvGraphicFramePr>
        <p:xfrm>
          <a:off x="4140200" y="2420938"/>
          <a:ext cx="244792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0" name="Equation" r:id="rId6" imgW="1358310" imgH="393529" progId="Equation.DSMT4">
                  <p:embed/>
                </p:oleObj>
              </mc:Choice>
              <mc:Fallback>
                <p:oleObj name="Equation" r:id="rId6" imgW="1358310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420938"/>
                        <a:ext cx="244792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1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8"/>
          <p:cNvSpPr txBox="1">
            <a:spLocks noChangeArrowheads="1"/>
          </p:cNvSpPr>
          <p:nvPr/>
        </p:nvSpPr>
        <p:spPr bwMode="auto">
          <a:xfrm>
            <a:off x="107950" y="555625"/>
            <a:ext cx="5339923" cy="65556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[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]=rk1(f,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y0, options)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intervalle d'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etude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en temps et pas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t0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(1);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tf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(2);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h 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(3);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dans la 1ere ligne du tableau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(n) = t0;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(n, :) = y0;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(t&lt;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tf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f1=f(t, y);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=h*f1;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y=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y+dy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lvl="1" eaLnBrk="1" hangingPunct="1"/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 %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pas suivant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t=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t+h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stockage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(n)=t;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(n, :)=y;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    end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nd </a:t>
            </a:r>
            <a:r>
              <a:rPr lang="fr-FR" altLang="fr-FR" sz="1400" b="1" dirty="0" smtClean="0">
                <a:latin typeface="Courier New" panose="02070309020205020404" pitchFamily="49" charset="0"/>
              </a:rPr>
              <a:t>% </a:t>
            </a:r>
            <a:r>
              <a:rPr lang="fr-FR" altLang="fr-FR" sz="1400" b="1" dirty="0" err="1" smtClean="0">
                <a:latin typeface="Courier New" panose="02070309020205020404" pitchFamily="49" charset="0"/>
              </a:rPr>
              <a:t>function</a:t>
            </a:r>
            <a:endParaRPr lang="fr-FR" altLang="fr-FR" sz="140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242888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d</a:t>
            </a:r>
            <a:r>
              <a:rPr lang="ja-JP" altLang="fr-FR" sz="2400" smtClean="0"/>
              <a:t>’</a:t>
            </a:r>
            <a:r>
              <a:rPr lang="fr-FR" altLang="ja-JP" sz="2400" smtClean="0"/>
              <a:t>Euler / Programmation </a:t>
            </a:r>
            <a:endParaRPr lang="fr-FR" altLang="fr-FR" sz="2400" smtClean="0"/>
          </a:p>
        </p:txBody>
      </p:sp>
      <p:sp>
        <p:nvSpPr>
          <p:cNvPr id="32771" name="Text Box 9"/>
          <p:cNvSpPr txBox="1">
            <a:spLocks noChangeArrowheads="1"/>
          </p:cNvSpPr>
          <p:nvPr/>
        </p:nvSpPr>
        <p:spPr bwMode="auto">
          <a:xfrm>
            <a:off x="5435600" y="549275"/>
            <a:ext cx="3703638" cy="2016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%</a:t>
            </a:r>
            <a:r>
              <a:rPr lang="fr-FR" altLang="fr-FR" sz="1400" b="1" dirty="0" smtClean="0">
                <a:latin typeface="Courier New" panose="02070309020205020404" pitchFamily="49" charset="0"/>
              </a:rPr>
              <a:t>script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solver_rk1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figure(1)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=[0 10 0.1];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[T,Y] = rk1(@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oscil,param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,[1 0]);</a:t>
            </a:r>
          </a:p>
          <a:p>
            <a:pPr eaLnBrk="1" hangingPunct="1"/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plot(T,Y(:,1),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'+-'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,T,Y(:,2),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'-.'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 dirty="0"/>
          </a:p>
          <a:p>
            <a:pPr eaLnBrk="1" hangingPunct="1"/>
            <a:endParaRPr lang="fr-FR" altLang="fr-FR" sz="1400" dirty="0"/>
          </a:p>
        </p:txBody>
      </p:sp>
      <p:sp>
        <p:nvSpPr>
          <p:cNvPr id="32772" name="Text Box 10"/>
          <p:cNvSpPr txBox="1">
            <a:spLocks noChangeArrowheads="1"/>
          </p:cNvSpPr>
          <p:nvPr/>
        </p:nvSpPr>
        <p:spPr bwMode="auto">
          <a:xfrm>
            <a:off x="4584700" y="2457450"/>
            <a:ext cx="4554538" cy="4356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dy = oscil(t,y)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 = zeros(1,2);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vecteur ligne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1er cas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latin typeface="Courier New" panose="02070309020205020404" pitchFamily="49" charset="0"/>
              </a:rPr>
              <a:t>n=1.5;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latin typeface="Courier New" panose="02070309020205020404" pitchFamily="49" charset="0"/>
              </a:rPr>
              <a:t>p2=2;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pour garder les notations de l'équation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x=y(1);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v=y(2);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écriture de l'équation telle quelle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dx_dt = v;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dv_dt = -p2*x-2*n*v;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se conformer au vecteur de sortie dy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dy(1)=dx_dt;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dy(2)=dv_dt;</a:t>
            </a:r>
            <a:endParaRPr lang="fr-FR" altLang="fr-FR" sz="1400"/>
          </a:p>
        </p:txBody>
      </p:sp>
      <p:sp>
        <p:nvSpPr>
          <p:cNvPr id="32773" name="Text Box 12"/>
          <p:cNvSpPr txBox="1">
            <a:spLocks noChangeArrowheads="1"/>
          </p:cNvSpPr>
          <p:nvPr/>
        </p:nvSpPr>
        <p:spPr bwMode="auto">
          <a:xfrm>
            <a:off x="8801100" y="128905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pSp>
        <p:nvGrpSpPr>
          <p:cNvPr id="32774" name="Group 15"/>
          <p:cNvGrpSpPr>
            <a:grpSpLocks/>
          </p:cNvGrpSpPr>
          <p:nvPr/>
        </p:nvGrpSpPr>
        <p:grpSpPr bwMode="auto">
          <a:xfrm>
            <a:off x="2627313" y="836613"/>
            <a:ext cx="3889375" cy="863600"/>
            <a:chOff x="1655" y="527"/>
            <a:chExt cx="2450" cy="544"/>
          </a:xfrm>
        </p:grpSpPr>
        <p:sp>
          <p:nvSpPr>
            <p:cNvPr id="32780" name="Line 13"/>
            <p:cNvSpPr>
              <a:spLocks noChangeShapeType="1"/>
            </p:cNvSpPr>
            <p:nvPr/>
          </p:nvSpPr>
          <p:spPr bwMode="auto">
            <a:xfrm flipH="1">
              <a:off x="1655" y="1071"/>
              <a:ext cx="245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81" name="Line 14"/>
            <p:cNvSpPr>
              <a:spLocks noChangeShapeType="1"/>
            </p:cNvSpPr>
            <p:nvPr/>
          </p:nvSpPr>
          <p:spPr bwMode="auto">
            <a:xfrm flipV="1">
              <a:off x="1655" y="527"/>
              <a:ext cx="0" cy="5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775" name="Line 16"/>
          <p:cNvSpPr>
            <a:spLocks noChangeShapeType="1"/>
          </p:cNvSpPr>
          <p:nvPr/>
        </p:nvSpPr>
        <p:spPr bwMode="auto">
          <a:xfrm flipH="1">
            <a:off x="6443663" y="1701800"/>
            <a:ext cx="576262" cy="86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2776" name="Group 23"/>
          <p:cNvGrpSpPr>
            <a:grpSpLocks/>
          </p:cNvGrpSpPr>
          <p:nvPr/>
        </p:nvGrpSpPr>
        <p:grpSpPr bwMode="auto">
          <a:xfrm>
            <a:off x="1979613" y="2636838"/>
            <a:ext cx="2520950" cy="1512887"/>
            <a:chOff x="1247" y="1661"/>
            <a:chExt cx="1588" cy="953"/>
          </a:xfrm>
        </p:grpSpPr>
        <p:sp>
          <p:nvSpPr>
            <p:cNvPr id="32777" name="Line 20"/>
            <p:cNvSpPr>
              <a:spLocks noChangeShapeType="1"/>
            </p:cNvSpPr>
            <p:nvPr/>
          </p:nvSpPr>
          <p:spPr bwMode="auto">
            <a:xfrm>
              <a:off x="1247" y="2614"/>
              <a:ext cx="95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78" name="Line 21"/>
            <p:cNvSpPr>
              <a:spLocks noChangeShapeType="1"/>
            </p:cNvSpPr>
            <p:nvPr/>
          </p:nvSpPr>
          <p:spPr bwMode="auto">
            <a:xfrm flipV="1">
              <a:off x="2200" y="1661"/>
              <a:ext cx="0" cy="95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79" name="Line 22"/>
            <p:cNvSpPr>
              <a:spLocks noChangeShapeType="1"/>
            </p:cNvSpPr>
            <p:nvPr/>
          </p:nvSpPr>
          <p:spPr bwMode="auto">
            <a:xfrm>
              <a:off x="2200" y="1661"/>
              <a:ext cx="63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860800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3921125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846138"/>
            <a:ext cx="43180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836613"/>
            <a:ext cx="4318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1917700" y="69215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h=0.1</a:t>
            </a:r>
          </a:p>
        </p:txBody>
      </p:sp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6300788" y="3716338"/>
            <a:ext cx="13589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h=1.1</a:t>
            </a:r>
          </a:p>
        </p:txBody>
      </p:sp>
      <p:sp>
        <p:nvSpPr>
          <p:cNvPr id="33799" name="Rectangle 13"/>
          <p:cNvSpPr>
            <a:spLocks noChangeArrowheads="1"/>
          </p:cNvSpPr>
          <p:nvPr/>
        </p:nvSpPr>
        <p:spPr bwMode="auto">
          <a:xfrm>
            <a:off x="-1116013" y="-242888"/>
            <a:ext cx="8229601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 / Précision - Stabilité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3800" name="Text Box 16"/>
          <p:cNvSpPr txBox="1">
            <a:spLocks noChangeArrowheads="1"/>
          </p:cNvSpPr>
          <p:nvPr/>
        </p:nvSpPr>
        <p:spPr bwMode="auto">
          <a:xfrm>
            <a:off x="6300788" y="69215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h=0.5</a:t>
            </a:r>
          </a:p>
        </p:txBody>
      </p:sp>
      <p:sp>
        <p:nvSpPr>
          <p:cNvPr id="33801" name="Text Box 17"/>
          <p:cNvSpPr txBox="1">
            <a:spLocks noChangeArrowheads="1"/>
          </p:cNvSpPr>
          <p:nvPr/>
        </p:nvSpPr>
        <p:spPr bwMode="auto">
          <a:xfrm>
            <a:off x="1835150" y="364490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h=0.9</a:t>
            </a:r>
          </a:p>
        </p:txBody>
      </p:sp>
      <p:sp>
        <p:nvSpPr>
          <p:cNvPr id="33802" name="Text Box 18"/>
          <p:cNvSpPr txBox="1">
            <a:spLocks noChangeArrowheads="1"/>
          </p:cNvSpPr>
          <p:nvPr/>
        </p:nvSpPr>
        <p:spPr bwMode="auto">
          <a:xfrm>
            <a:off x="6156325" y="1484313"/>
            <a:ext cx="264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+ pb de précision</a:t>
            </a:r>
          </a:p>
        </p:txBody>
      </p:sp>
      <p:sp>
        <p:nvSpPr>
          <p:cNvPr id="33803" name="Text Box 19"/>
          <p:cNvSpPr txBox="1">
            <a:spLocks noChangeArrowheads="1"/>
          </p:cNvSpPr>
          <p:nvPr/>
        </p:nvSpPr>
        <p:spPr bwMode="auto">
          <a:xfrm>
            <a:off x="1476375" y="1557338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33804" name="Text Box 20"/>
          <p:cNvSpPr txBox="1">
            <a:spLocks noChangeArrowheads="1"/>
          </p:cNvSpPr>
          <p:nvPr/>
        </p:nvSpPr>
        <p:spPr bwMode="auto">
          <a:xfrm>
            <a:off x="5795963" y="2660650"/>
            <a:ext cx="1789112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</a:t>
            </a:r>
          </a:p>
          <a:p>
            <a:pPr eaLnBrk="1" hangingPunct="1"/>
            <a:r>
              <a:rPr lang="fr-FR" altLang="fr-FR" sz="1600" b="1"/>
              <a:t>controlée par :</a:t>
            </a:r>
          </a:p>
        </p:txBody>
      </p:sp>
      <p:graphicFrame>
        <p:nvGraphicFramePr>
          <p:cNvPr id="33805" name="Object 21"/>
          <p:cNvGraphicFramePr>
            <a:graphicFrameLocks noChangeAspect="1"/>
          </p:cNvGraphicFramePr>
          <p:nvPr/>
        </p:nvGraphicFramePr>
        <p:xfrm>
          <a:off x="7453313" y="2636838"/>
          <a:ext cx="16557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Equation" r:id="rId7" imgW="1066337" imgH="444307" progId="Equation.DSMT4">
                  <p:embed/>
                </p:oleObj>
              </mc:Choice>
              <mc:Fallback>
                <p:oleObj name="Equation" r:id="rId7" imgW="1066337" imgH="44430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3" y="2636838"/>
                        <a:ext cx="1655762" cy="619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Text Box 22"/>
          <p:cNvSpPr txBox="1">
            <a:spLocks noChangeArrowheads="1"/>
          </p:cNvSpPr>
          <p:nvPr/>
        </p:nvSpPr>
        <p:spPr bwMode="auto">
          <a:xfrm>
            <a:off x="1258888" y="5942013"/>
            <a:ext cx="314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+ gros pb de précision</a:t>
            </a:r>
          </a:p>
        </p:txBody>
      </p:sp>
      <p:sp>
        <p:nvSpPr>
          <p:cNvPr id="33807" name="Text Box 23"/>
          <p:cNvSpPr txBox="1">
            <a:spLocks noChangeArrowheads="1"/>
          </p:cNvSpPr>
          <p:nvPr/>
        </p:nvSpPr>
        <p:spPr bwMode="auto">
          <a:xfrm>
            <a:off x="5148263" y="5946775"/>
            <a:ext cx="3317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</a:t>
            </a:r>
            <a:r>
              <a:rPr lang="fr-FR" altLang="fr-FR" sz="1800">
                <a:sym typeface="Symbol" panose="05050102010706020507" pitchFamily="18" charset="2"/>
              </a:rPr>
              <a:t> totalement im</a:t>
            </a:r>
            <a:r>
              <a:rPr lang="fr-FR" altLang="fr-FR" sz="1800"/>
              <a:t>précis</a:t>
            </a:r>
          </a:p>
        </p:txBody>
      </p:sp>
      <p:sp>
        <p:nvSpPr>
          <p:cNvPr id="33808" name="Text Box 24"/>
          <p:cNvSpPr txBox="1">
            <a:spLocks noChangeArrowheads="1"/>
          </p:cNvSpPr>
          <p:nvPr/>
        </p:nvSpPr>
        <p:spPr bwMode="auto">
          <a:xfrm>
            <a:off x="6948488" y="11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Cas n=1.5 et p2=2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91513" cy="532923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Très simple et efficace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b="1" dirty="0" smtClean="0">
              <a:solidFill>
                <a:srgbClr val="A50021"/>
              </a:solidFill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Le coût</a:t>
            </a:r>
            <a:r>
              <a:rPr lang="fr-FR" altLang="fr-FR" sz="2000" dirty="0" smtClean="0"/>
              <a:t> : une seule évaluation de                       à chaque pas de temps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b="1" dirty="0" smtClean="0"/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Précision </a:t>
            </a:r>
            <a:r>
              <a:rPr lang="fr-FR" altLang="fr-FR" sz="2000" dirty="0" smtClean="0">
                <a:solidFill>
                  <a:srgbClr val="A50021"/>
                </a:solidFill>
              </a:rPr>
              <a:t>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Le schéma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intégration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Euler est une méthode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ordre 1. 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dirty="0" smtClean="0"/>
              <a:t>Sa précision est faible car 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erreur de troncature de la série est :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dirty="0" smtClean="0"/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dirty="0" smtClean="0"/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Erreurs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arrondis </a:t>
            </a:r>
            <a:r>
              <a:rPr lang="fr-FR" altLang="ja-JP" sz="2000" dirty="0" err="1" smtClean="0"/>
              <a:t>dûs</a:t>
            </a:r>
            <a:r>
              <a:rPr lang="fr-FR" altLang="ja-JP" sz="2000" dirty="0" smtClean="0"/>
              <a:t> au codage des nombres réels sur un nombre de bits limité en mémoire : 10</a:t>
            </a:r>
            <a:r>
              <a:rPr lang="fr-FR" altLang="ja-JP" sz="2000" baseline="30000" dirty="0" smtClean="0"/>
              <a:t>-7</a:t>
            </a:r>
            <a:r>
              <a:rPr lang="fr-FR" altLang="ja-JP" sz="2000" dirty="0" smtClean="0"/>
              <a:t> ou 10</a:t>
            </a:r>
            <a:r>
              <a:rPr lang="fr-FR" altLang="ja-JP" sz="2000" baseline="30000" dirty="0" smtClean="0"/>
              <a:t>-15</a:t>
            </a:r>
            <a:r>
              <a:rPr lang="fr-FR" altLang="ja-JP" sz="2000" dirty="0" smtClean="0"/>
              <a:t> en erreur relative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Propagation des erreurs de troncature et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arrondis de 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instant n à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ja-JP" sz="2000" dirty="0" smtClean="0"/>
              <a:t>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instant n+1 </a:t>
            </a:r>
            <a:r>
              <a:rPr lang="fr-FR" altLang="ja-JP" sz="2000" dirty="0" smtClean="0">
                <a:sym typeface="Wingdings" panose="05000000000000000000" pitchFamily="2" charset="2"/>
              </a:rPr>
              <a:t></a:t>
            </a:r>
            <a:r>
              <a:rPr lang="fr-FR" altLang="ja-JP" sz="2000" dirty="0" smtClean="0">
                <a:sym typeface="Symbol" panose="05050102010706020507" pitchFamily="18" charset="2"/>
              </a:rPr>
              <a:t> Analyse fine de la stabilité </a:t>
            </a:r>
            <a:r>
              <a:rPr lang="fr-FR" altLang="ja-JP" sz="2000" dirty="0" err="1" smtClean="0">
                <a:sym typeface="Symbol" panose="05050102010706020507" pitchFamily="18" charset="2"/>
              </a:rPr>
              <a:t>numér</a:t>
            </a:r>
            <a:r>
              <a:rPr lang="en-GB" altLang="ja-JP" sz="2000" dirty="0" err="1" smtClean="0"/>
              <a:t>ique</a:t>
            </a:r>
            <a:r>
              <a:rPr lang="en-GB" altLang="ja-JP" sz="2000" dirty="0" smtClean="0"/>
              <a:t> du </a:t>
            </a:r>
            <a:r>
              <a:rPr lang="en-GB" altLang="ja-JP" sz="2000" dirty="0" err="1" smtClean="0"/>
              <a:t>schéma</a:t>
            </a:r>
            <a:endParaRPr lang="fr-FR" altLang="fr-FR" sz="2000" dirty="0" smtClean="0"/>
          </a:p>
        </p:txBody>
      </p:sp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48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672230"/>
              </p:ext>
            </p:extLst>
          </p:nvPr>
        </p:nvGraphicFramePr>
        <p:xfrm>
          <a:off x="4537075" y="1697038"/>
          <a:ext cx="1250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9" name="Equation" r:id="rId4" imgW="634680" imgH="253800" progId="Equation.DSMT4">
                  <p:embed/>
                </p:oleObj>
              </mc:Choice>
              <mc:Fallback>
                <p:oleObj name="Equation" r:id="rId4" imgW="63468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1697038"/>
                        <a:ext cx="1250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7" name="Rectangle 13"/>
          <p:cNvSpPr>
            <a:spLocks noChangeArrowheads="1"/>
          </p:cNvSpPr>
          <p:nvPr/>
        </p:nvSpPr>
        <p:spPr bwMode="auto">
          <a:xfrm>
            <a:off x="827088" y="115888"/>
            <a:ext cx="75977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Avantages / Inconvénients de la 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graphicFrame>
        <p:nvGraphicFramePr>
          <p:cNvPr id="34828" name="Object 14"/>
          <p:cNvGraphicFramePr>
            <a:graphicFrameLocks noChangeAspect="1"/>
          </p:cNvGraphicFramePr>
          <p:nvPr/>
        </p:nvGraphicFramePr>
        <p:xfrm>
          <a:off x="3059113" y="3644900"/>
          <a:ext cx="20050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0" name="Equation" r:id="rId6" imgW="1016000" imgH="419100" progId="Equation.DSMT4">
                  <p:embed/>
                </p:oleObj>
              </mc:Choice>
              <mc:Fallback>
                <p:oleObj name="Equation" r:id="rId6" imgW="10160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644900"/>
                        <a:ext cx="200501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983743"/>
              </p:ext>
            </p:extLst>
          </p:nvPr>
        </p:nvGraphicFramePr>
        <p:xfrm>
          <a:off x="3530600" y="908050"/>
          <a:ext cx="27797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1" name="Equation" r:id="rId8" imgW="1523880" imgH="228600" progId="Equation.DSMT4">
                  <p:embed/>
                </p:oleObj>
              </mc:Choice>
              <mc:Fallback>
                <p:oleObj name="Equation" r:id="rId8" imgW="152388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908050"/>
                        <a:ext cx="277971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Analyse de stabilité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060575"/>
            <a:ext cx="8686800" cy="23050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altLang="fr-FR" sz="2000" smtClean="0"/>
              <a:t>Le schéma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Euler s</a:t>
            </a:r>
            <a:r>
              <a:rPr lang="ja-JP" altLang="fr-FR" sz="2000" smtClean="0"/>
              <a:t>’</a:t>
            </a:r>
            <a:r>
              <a:rPr lang="fr-FR" altLang="ja-JP" sz="2000" smtClean="0"/>
              <a:t>écrit :</a:t>
            </a:r>
          </a:p>
          <a:p>
            <a:pPr eaLnBrk="1" hangingPunct="1">
              <a:buFontTx/>
              <a:buNone/>
            </a:pPr>
            <a:endParaRPr lang="fr-FR" altLang="fr-FR" sz="800" smtClean="0"/>
          </a:p>
          <a:p>
            <a:pPr eaLnBrk="1" hangingPunct="1">
              <a:buFontTx/>
              <a:buNone/>
            </a:pPr>
            <a:r>
              <a:rPr lang="fr-FR" altLang="fr-FR" sz="2000" smtClean="0"/>
              <a:t>Imaginons que la valeur Y</a:t>
            </a:r>
            <a:r>
              <a:rPr lang="fr-FR" altLang="fr-FR" sz="2000" baseline="-25000" smtClean="0"/>
              <a:t>n</a:t>
            </a:r>
            <a:r>
              <a:rPr lang="fr-FR" altLang="fr-FR" sz="2000" smtClean="0"/>
              <a:t> soit erronée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une quantité </a:t>
            </a:r>
            <a:r>
              <a:rPr lang="fr-FR" altLang="ja-JP" sz="2000" smtClean="0">
                <a:latin typeface="MS Gothic" panose="020B0609070205080204" pitchFamily="49" charset="-128"/>
                <a:ea typeface="MS Gothic" panose="020B0609070205080204" pitchFamily="49" charset="-128"/>
              </a:rPr>
              <a:t>ε</a:t>
            </a:r>
            <a:r>
              <a:rPr lang="fr-FR" altLang="ja-JP" sz="2000" b="1" baseline="-25000" smtClean="0">
                <a:sym typeface="Symbol" panose="05050102010706020507" pitchFamily="18" charset="2"/>
              </a:rPr>
              <a:t>n</a:t>
            </a:r>
            <a:r>
              <a:rPr lang="fr-FR" altLang="ja-JP" sz="2000" smtClean="0">
                <a:sym typeface="Symbol" panose="05050102010706020507" pitchFamily="18" charset="2"/>
              </a:rPr>
              <a:t> ,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erreur se</a:t>
            </a: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propage à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instant n+1 selon</a:t>
            </a:r>
          </a:p>
          <a:p>
            <a:pPr eaLnBrk="1" hangingPunct="1"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Comme                                                , on en déduit que</a:t>
            </a:r>
            <a:endParaRPr lang="fr-FR" altLang="fr-FR" sz="2000" b="1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fr-FR" altLang="fr-FR" sz="2000" smtClean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240796"/>
              </p:ext>
            </p:extLst>
          </p:nvPr>
        </p:nvGraphicFramePr>
        <p:xfrm>
          <a:off x="3425825" y="1976438"/>
          <a:ext cx="55086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1" name="Equation" r:id="rId4" imgW="2705040" imgH="266400" progId="Equation.DSMT4">
                  <p:embed/>
                </p:oleObj>
              </mc:Choice>
              <mc:Fallback>
                <p:oleObj name="Equation" r:id="rId4" imgW="270504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1976438"/>
                        <a:ext cx="55086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5" name="Object 13"/>
          <p:cNvGraphicFramePr>
            <a:graphicFrameLocks noChangeAspect="1"/>
          </p:cNvGraphicFramePr>
          <p:nvPr/>
        </p:nvGraphicFramePr>
        <p:xfrm>
          <a:off x="989013" y="3357563"/>
          <a:ext cx="5408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2" name="Equation" r:id="rId6" imgW="2501900" imgH="254000" progId="Equation.DSMT4">
                  <p:embed/>
                </p:oleObj>
              </mc:Choice>
              <mc:Fallback>
                <p:oleObj name="Equation" r:id="rId6" imgW="2501900" imgH="254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3357563"/>
                        <a:ext cx="54086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7" name="Object 18"/>
          <p:cNvGraphicFramePr>
            <a:graphicFrameLocks noChangeAspect="1"/>
          </p:cNvGraphicFramePr>
          <p:nvPr/>
        </p:nvGraphicFramePr>
        <p:xfrm>
          <a:off x="668338" y="4581525"/>
          <a:ext cx="699928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3" name="Equation" r:id="rId8" imgW="3175000" imgH="304800" progId="Equation.DSMT4">
                  <p:embed/>
                </p:oleObj>
              </mc:Choice>
              <mc:Fallback>
                <p:oleObj name="Equation" r:id="rId8" imgW="3175000" imgH="304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4581525"/>
                        <a:ext cx="699928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Text Box 20"/>
          <p:cNvSpPr txBox="1">
            <a:spLocks noChangeArrowheads="1"/>
          </p:cNvSpPr>
          <p:nvPr/>
        </p:nvSpPr>
        <p:spPr bwMode="auto">
          <a:xfrm>
            <a:off x="179388" y="769938"/>
            <a:ext cx="39798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sym typeface="Symbol" panose="05050102010706020507" pitchFamily="18" charset="2"/>
              </a:rPr>
              <a:t> Cette analyse n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est possible que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si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f(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,t) est affine </a:t>
            </a:r>
            <a:r>
              <a:rPr lang="fr-FR" altLang="fr-FR" sz="2000">
                <a:sym typeface="Symbol" panose="05050102010706020507" pitchFamily="18" charset="2"/>
              </a:rPr>
              <a:t>ou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après linéarisation de f(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,t)</a:t>
            </a:r>
            <a:endParaRPr lang="fr-FR" altLang="fr-FR" sz="2000" baseline="-250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3687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129462"/>
              </p:ext>
            </p:extLst>
          </p:nvPr>
        </p:nvGraphicFramePr>
        <p:xfrm>
          <a:off x="4741863" y="620713"/>
          <a:ext cx="3640137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4" name="Equation" r:id="rId10" imgW="2019240" imgH="685800" progId="Equation.DSMT4">
                  <p:embed/>
                </p:oleObj>
              </mc:Choice>
              <mc:Fallback>
                <p:oleObj name="Equation" r:id="rId10" imgW="2019240" imgH="685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620713"/>
                        <a:ext cx="3640137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23"/>
          <p:cNvGraphicFramePr>
            <a:graphicFrameLocks noChangeAspect="1"/>
          </p:cNvGraphicFramePr>
          <p:nvPr/>
        </p:nvGraphicFramePr>
        <p:xfrm>
          <a:off x="1331913" y="4002088"/>
          <a:ext cx="30765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5" name="Equation" r:id="rId12" imgW="1511300" imgH="254000" progId="Equation.DSMT4">
                  <p:embed/>
                </p:oleObj>
              </mc:Choice>
              <mc:Fallback>
                <p:oleObj name="Equation" r:id="rId12" imgW="1511300" imgH="254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02088"/>
                        <a:ext cx="30765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1" name="Text Box 24"/>
          <p:cNvSpPr txBox="1">
            <a:spLocks noChangeArrowheads="1"/>
          </p:cNvSpPr>
          <p:nvPr/>
        </p:nvSpPr>
        <p:spPr bwMode="auto">
          <a:xfrm>
            <a:off x="323850" y="5300663"/>
            <a:ext cx="706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et d</a:t>
            </a:r>
            <a:r>
              <a:rPr lang="ja-JP" altLang="fr-FR" sz="1800"/>
              <a:t>’</a:t>
            </a:r>
            <a:r>
              <a:rPr lang="fr-FR" altLang="ja-JP" sz="1800"/>
              <a:t>arrondis se propage depuis l</a:t>
            </a:r>
            <a:r>
              <a:rPr lang="ja-JP" altLang="fr-FR" sz="1800"/>
              <a:t>’</a:t>
            </a:r>
            <a:r>
              <a:rPr lang="fr-FR" altLang="ja-JP" sz="1800"/>
              <a:t>instant initial</a:t>
            </a:r>
          </a:p>
          <a:p>
            <a:pPr eaLnBrk="1" hangingPunct="1"/>
            <a:r>
              <a:rPr lang="fr-FR" altLang="fr-FR" sz="1800"/>
              <a:t>Jusqu</a:t>
            </a:r>
            <a:r>
              <a:rPr lang="ja-JP" altLang="fr-FR" sz="1800"/>
              <a:t>’</a:t>
            </a:r>
            <a:r>
              <a:rPr lang="fr-FR" altLang="ja-JP" sz="1800"/>
              <a:t>à l</a:t>
            </a:r>
            <a:r>
              <a:rPr lang="ja-JP" altLang="fr-FR" sz="1800"/>
              <a:t>’</a:t>
            </a:r>
            <a:r>
              <a:rPr lang="fr-FR" altLang="ja-JP" sz="1800"/>
              <a:t>instant n selon </a:t>
            </a:r>
            <a:endParaRPr lang="fr-FR" altLang="fr-FR" sz="1800"/>
          </a:p>
        </p:txBody>
      </p:sp>
      <p:graphicFrame>
        <p:nvGraphicFramePr>
          <p:cNvPr id="36882" name="Object 25"/>
          <p:cNvGraphicFramePr>
            <a:graphicFrameLocks noChangeAspect="1"/>
          </p:cNvGraphicFramePr>
          <p:nvPr/>
        </p:nvGraphicFramePr>
        <p:xfrm>
          <a:off x="3132138" y="5805488"/>
          <a:ext cx="21336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6" name="Equation" r:id="rId14" imgW="1066800" imgH="292100" progId="Equation.3">
                  <p:embed/>
                </p:oleObj>
              </mc:Choice>
              <mc:Fallback>
                <p:oleObj name="Equation" r:id="rId14" imgW="1066800" imgH="2921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805488"/>
                        <a:ext cx="2133600" cy="5826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4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graphicFrame>
        <p:nvGraphicFramePr>
          <p:cNvPr id="38914" name="Object 5"/>
          <p:cNvGraphicFramePr>
            <a:graphicFrameLocks noChangeAspect="1"/>
          </p:cNvGraphicFramePr>
          <p:nvPr/>
        </p:nvGraphicFramePr>
        <p:xfrm>
          <a:off x="4519613" y="546100"/>
          <a:ext cx="28606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5" name="Equation" r:id="rId3" imgW="1586811" imgH="342751" progId="Equation.DSMT4">
                  <p:embed/>
                </p:oleObj>
              </mc:Choice>
              <mc:Fallback>
                <p:oleObj name="Equation" r:id="rId3" imgW="1586811" imgH="34275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3" y="546100"/>
                        <a:ext cx="2860675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Text Box 6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38916" name="Object 7"/>
          <p:cNvGraphicFramePr>
            <a:graphicFrameLocks noChangeAspect="1"/>
          </p:cNvGraphicFramePr>
          <p:nvPr/>
        </p:nvGraphicFramePr>
        <p:xfrm>
          <a:off x="6084888" y="20510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6" name="Equation" r:id="rId5" imgW="799753" imgH="241195" progId="Equation.3">
                  <p:embed/>
                </p:oleObj>
              </mc:Choice>
              <mc:Fallback>
                <p:oleObj name="Equation" r:id="rId5" imgW="799753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510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15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8919" name="Text Box 16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sp>
        <p:nvSpPr>
          <p:cNvPr id="38920" name="Text Box 18"/>
          <p:cNvSpPr txBox="1">
            <a:spLocks noChangeArrowheads="1"/>
          </p:cNvSpPr>
          <p:nvPr/>
        </p:nvSpPr>
        <p:spPr bwMode="auto">
          <a:xfrm>
            <a:off x="250825" y="4108450"/>
            <a:ext cx="8853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/>
              <a:t> Si tous les λ</a:t>
            </a:r>
            <a:r>
              <a:rPr lang="fr-FR" altLang="fr-FR" sz="1800" baseline="-25000"/>
              <a:t>i</a:t>
            </a:r>
            <a:r>
              <a:rPr lang="fr-FR" altLang="fr-FR" sz="1800">
                <a:sym typeface="Symbol" panose="05050102010706020507" pitchFamily="18" charset="2"/>
              </a:rPr>
              <a:t> </a:t>
            </a:r>
            <a:r>
              <a:rPr lang="fr-FR" altLang="fr-FR" sz="1800">
                <a:sym typeface="Math5" pitchFamily="2" charset="2"/>
              </a:rPr>
              <a:t>réels et s’</a:t>
            </a:r>
            <a:r>
              <a:rPr lang="fr-FR" altLang="ja-JP" sz="1800">
                <a:sym typeface="Math5" pitchFamily="2" charset="2"/>
              </a:rPr>
              <a:t>il existe au moins un </a:t>
            </a:r>
            <a:r>
              <a:rPr lang="fr-FR" altLang="ja-JP" sz="1800"/>
              <a:t>λ</a:t>
            </a:r>
            <a:r>
              <a:rPr lang="fr-FR" altLang="ja-JP" sz="1800" baseline="-25000"/>
              <a:t>i</a:t>
            </a:r>
            <a:r>
              <a:rPr lang="fr-FR" altLang="ja-JP" sz="1800"/>
              <a:t>&gt;0 alors schéma instable quand n→∞</a:t>
            </a:r>
            <a:endParaRPr lang="fr-FR" altLang="fr-FR" sz="1800"/>
          </a:p>
        </p:txBody>
      </p:sp>
      <p:sp>
        <p:nvSpPr>
          <p:cNvPr id="38921" name="Text Box 19"/>
          <p:cNvSpPr txBox="1">
            <a:spLocks noChangeArrowheads="1"/>
          </p:cNvSpPr>
          <p:nvPr/>
        </p:nvSpPr>
        <p:spPr bwMode="auto">
          <a:xfrm>
            <a:off x="250825" y="4643438"/>
            <a:ext cx="8891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/>
              <a:t> Si </a:t>
            </a:r>
            <a:r>
              <a:rPr lang="fr-FR" altLang="fr-FR" sz="1800" b="1">
                <a:solidFill>
                  <a:srgbClr val="A50021"/>
                </a:solidFill>
              </a:rPr>
              <a:t>tous les </a:t>
            </a:r>
            <a:r>
              <a:rPr lang="fr-FR" altLang="fr-FR" sz="1800"/>
              <a:t>λ</a:t>
            </a:r>
            <a:r>
              <a:rPr lang="fr-FR" altLang="fr-FR" sz="1800" baseline="-25000"/>
              <a:t>i </a:t>
            </a:r>
            <a:r>
              <a:rPr lang="fr-FR" altLang="fr-FR" sz="1800" b="1">
                <a:solidFill>
                  <a:srgbClr val="A50021"/>
                </a:solidFill>
                <a:sym typeface="Math5" pitchFamily="2" charset="2"/>
              </a:rPr>
              <a:t>réels négatifs</a:t>
            </a:r>
            <a:r>
              <a:rPr lang="fr-FR" altLang="fr-FR" sz="1800">
                <a:sym typeface="Math5" pitchFamily="2" charset="2"/>
              </a:rPr>
              <a:t> et si on note λ</a:t>
            </a:r>
            <a:r>
              <a:rPr lang="fr-FR" altLang="fr-FR" sz="1800" baseline="-25000"/>
              <a:t>m </a:t>
            </a:r>
            <a:r>
              <a:rPr lang="fr-FR" altLang="fr-FR" sz="1800"/>
              <a:t>la plus grande valeur propre en module </a:t>
            </a:r>
          </a:p>
          <a:p>
            <a:pPr eaLnBrk="1" hangingPunct="1"/>
            <a:r>
              <a:rPr lang="fr-FR" altLang="fr-FR" sz="1800"/>
              <a:t>alors le schéma est stable dans la limite n→∞ si</a:t>
            </a:r>
          </a:p>
        </p:txBody>
      </p:sp>
      <p:graphicFrame>
        <p:nvGraphicFramePr>
          <p:cNvPr id="38922" name="Object 20"/>
          <p:cNvGraphicFramePr>
            <a:graphicFrameLocks noChangeAspect="1"/>
          </p:cNvGraphicFramePr>
          <p:nvPr/>
        </p:nvGraphicFramePr>
        <p:xfrm>
          <a:off x="2843213" y="5292725"/>
          <a:ext cx="29003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7" name="Equation" r:id="rId7" imgW="1612900" imgH="444500" progId="Equation.3">
                  <p:embed/>
                </p:oleObj>
              </mc:Choice>
              <mc:Fallback>
                <p:oleObj name="Equation" r:id="rId7" imgW="1612900" imgH="4445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292725"/>
                        <a:ext cx="29003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249995"/>
              </p:ext>
            </p:extLst>
          </p:nvPr>
        </p:nvGraphicFramePr>
        <p:xfrm>
          <a:off x="1119187" y="2577306"/>
          <a:ext cx="6408738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8" name="Equation" r:id="rId9" imgW="3555720" imgH="736560" progId="Equation.DSMT4">
                  <p:embed/>
                </p:oleObj>
              </mc:Choice>
              <mc:Fallback>
                <p:oleObj name="Equation" r:id="rId9" imgW="3555720" imgH="736560" progId="Equation.DSMT4">
                  <p:embed/>
                  <p:pic>
                    <p:nvPicPr>
                      <p:cNvPr id="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2577306"/>
                        <a:ext cx="6408738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7"/>
          <p:cNvSpPr txBox="1">
            <a:spLocks noChangeArrowheads="1"/>
          </p:cNvSpPr>
          <p:nvPr/>
        </p:nvSpPr>
        <p:spPr bwMode="auto">
          <a:xfrm>
            <a:off x="109538" y="333375"/>
            <a:ext cx="9224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2000"/>
              <a:t> Si </a:t>
            </a:r>
            <a:r>
              <a:rPr lang="fr-FR" altLang="fr-FR" sz="2000" b="1">
                <a:solidFill>
                  <a:srgbClr val="A50021"/>
                </a:solidFill>
              </a:rPr>
              <a:t>les </a:t>
            </a:r>
            <a:r>
              <a:rPr lang="fr-FR" altLang="fr-FR" sz="2000"/>
              <a:t>λ</a:t>
            </a:r>
            <a:r>
              <a:rPr lang="fr-FR" altLang="fr-FR" sz="2000" baseline="-25000"/>
              <a:t>i </a:t>
            </a:r>
            <a:r>
              <a:rPr lang="fr-FR" altLang="fr-FR" sz="2000" b="1">
                <a:solidFill>
                  <a:srgbClr val="A50021"/>
                </a:solidFill>
                <a:sym typeface="Math5" pitchFamily="2" charset="2"/>
              </a:rPr>
              <a:t>complexes </a:t>
            </a:r>
            <a:r>
              <a:rPr lang="fr-FR" altLang="fr-FR" sz="2000">
                <a:sym typeface="Math5" pitchFamily="2" charset="2"/>
              </a:rPr>
              <a:t>il faut déterminer l</a:t>
            </a:r>
            <a:r>
              <a:rPr lang="ja-JP" altLang="fr-FR" sz="2000">
                <a:sym typeface="Math5" pitchFamily="2" charset="2"/>
              </a:rPr>
              <a:t>’</a:t>
            </a:r>
            <a:r>
              <a:rPr lang="fr-FR" altLang="ja-JP" sz="2000">
                <a:sym typeface="Math5" pitchFamily="2" charset="2"/>
              </a:rPr>
              <a:t>intersection des contraintes imposées </a:t>
            </a:r>
          </a:p>
          <a:p>
            <a:pPr eaLnBrk="1" hangingPunct="1"/>
            <a:r>
              <a:rPr lang="fr-FR" altLang="fr-FR" sz="2000">
                <a:sym typeface="Math5" pitchFamily="2" charset="2"/>
              </a:rPr>
              <a:t>par la condition de stabilité |1+h </a:t>
            </a:r>
            <a:r>
              <a:rPr lang="fr-FR" altLang="fr-FR" sz="2000"/>
              <a:t>λ</a:t>
            </a:r>
            <a:r>
              <a:rPr lang="fr-FR" altLang="fr-FR" sz="2000" baseline="-25000"/>
              <a:t>i</a:t>
            </a:r>
            <a:r>
              <a:rPr lang="fr-FR" altLang="fr-FR" sz="2000"/>
              <a:t>|&lt;1</a:t>
            </a:r>
          </a:p>
        </p:txBody>
      </p:sp>
      <p:pic>
        <p:nvPicPr>
          <p:cNvPr id="3993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6"/>
          <a:stretch>
            <a:fillRect/>
          </a:stretch>
        </p:blipFill>
        <p:spPr bwMode="auto">
          <a:xfrm>
            <a:off x="611188" y="2132013"/>
            <a:ext cx="6505575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1331913" y="3644900"/>
            <a:ext cx="414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Exemple avec </a:t>
            </a:r>
            <a:r>
              <a:rPr lang="el-GR" altLang="fr-FR" sz="2000">
                <a:solidFill>
                  <a:schemeClr val="accent2"/>
                </a:solidFill>
              </a:rPr>
              <a:t>λ</a:t>
            </a:r>
            <a:r>
              <a:rPr lang="fr-FR" altLang="fr-FR" sz="2000" baseline="-25000">
                <a:solidFill>
                  <a:schemeClr val="accent2"/>
                </a:solidFill>
              </a:rPr>
              <a:t>1</a:t>
            </a:r>
            <a:r>
              <a:rPr lang="fr-FR" altLang="fr-FR" sz="2000">
                <a:solidFill>
                  <a:schemeClr val="accent2"/>
                </a:solidFill>
              </a:rPr>
              <a:t>=-1+2i </a:t>
            </a:r>
            <a:r>
              <a:rPr lang="fr-FR" altLang="fr-FR" sz="2000"/>
              <a:t>et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el-GR" altLang="fr-FR" sz="2000">
                <a:solidFill>
                  <a:schemeClr val="accent2"/>
                </a:solidFill>
              </a:rPr>
              <a:t>λ</a:t>
            </a:r>
            <a:r>
              <a:rPr lang="fr-FR" altLang="fr-FR" sz="2000" baseline="-25000">
                <a:solidFill>
                  <a:schemeClr val="accent2"/>
                </a:solidFill>
              </a:rPr>
              <a:t>2</a:t>
            </a:r>
            <a:r>
              <a:rPr lang="fr-FR" altLang="fr-FR" sz="2000">
                <a:solidFill>
                  <a:schemeClr val="accent2"/>
                </a:solidFill>
              </a:rPr>
              <a:t>=-2+2i</a:t>
            </a:r>
            <a:r>
              <a:rPr lang="fr-FR" altLang="fr-FR" sz="2000"/>
              <a:t> </a:t>
            </a:r>
          </a:p>
        </p:txBody>
      </p:sp>
      <p:graphicFrame>
        <p:nvGraphicFramePr>
          <p:cNvPr id="39940" name="Object 12"/>
          <p:cNvGraphicFramePr>
            <a:graphicFrameLocks noChangeAspect="1"/>
          </p:cNvGraphicFramePr>
          <p:nvPr/>
        </p:nvGraphicFramePr>
        <p:xfrm>
          <a:off x="1763713" y="1125538"/>
          <a:ext cx="47498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6" name="Equation" r:id="rId4" imgW="2641600" imgH="558800" progId="Equation.3">
                  <p:embed/>
                </p:oleObj>
              </mc:Choice>
              <mc:Fallback>
                <p:oleObj name="Equation" r:id="rId4" imgW="2641600" imgH="55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47498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3"/>
          <p:cNvSpPr txBox="1">
            <a:spLocks noChangeArrowheads="1"/>
          </p:cNvSpPr>
          <p:nvPr/>
        </p:nvSpPr>
        <p:spPr bwMode="auto">
          <a:xfrm>
            <a:off x="465138" y="380841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G</a:t>
            </a:r>
          </a:p>
        </p:txBody>
      </p:sp>
      <p:sp>
        <p:nvSpPr>
          <p:cNvPr id="39942" name="Oval 14"/>
          <p:cNvSpPr>
            <a:spLocks noChangeArrowheads="1"/>
          </p:cNvSpPr>
          <p:nvPr/>
        </p:nvSpPr>
        <p:spPr bwMode="auto">
          <a:xfrm>
            <a:off x="3348038" y="5013325"/>
            <a:ext cx="195262" cy="1952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1" name="Object 2"/>
          <p:cNvGraphicFramePr>
            <a:graphicFrameLocks noChangeAspect="1"/>
          </p:cNvGraphicFramePr>
          <p:nvPr/>
        </p:nvGraphicFramePr>
        <p:xfrm>
          <a:off x="2139950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9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4096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6"/>
          <p:cNvSpPr txBox="1">
            <a:spLocks noChangeArrowheads="1"/>
          </p:cNvSpPr>
          <p:nvPr/>
        </p:nvSpPr>
        <p:spPr bwMode="auto">
          <a:xfrm>
            <a:off x="323850" y="3573463"/>
            <a:ext cx="6011863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les valeurs propres de Â pour les 2 cas :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Tester avec votre programme</a:t>
            </a:r>
          </a:p>
        </p:txBody>
      </p:sp>
      <p:sp>
        <p:nvSpPr>
          <p:cNvPr id="40965" name="Text Box 10"/>
          <p:cNvSpPr txBox="1">
            <a:spLocks noChangeArrowheads="1"/>
          </p:cNvSpPr>
          <p:nvPr/>
        </p:nvSpPr>
        <p:spPr bwMode="auto">
          <a:xfrm>
            <a:off x="8362950" y="12700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895350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3703638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255588" y="473075"/>
            <a:ext cx="3887787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pic>
        <p:nvPicPr>
          <p:cNvPr id="4198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3716338"/>
            <a:ext cx="4411662" cy="290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908050"/>
            <a:ext cx="4392612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Rectangle 12"/>
          <p:cNvSpPr>
            <a:spLocks noChangeArrowheads="1"/>
          </p:cNvSpPr>
          <p:nvPr/>
        </p:nvSpPr>
        <p:spPr bwMode="auto">
          <a:xfrm>
            <a:off x="4932363" y="511175"/>
            <a:ext cx="439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=0.39</a:t>
            </a:r>
          </a:p>
        </p:txBody>
      </p:sp>
      <p:sp>
        <p:nvSpPr>
          <p:cNvPr id="41991" name="Line 13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2" name="Rectangle 14"/>
          <p:cNvSpPr>
            <a:spLocks noChangeArrowheads="1"/>
          </p:cNvSpPr>
          <p:nvPr/>
        </p:nvSpPr>
        <p:spPr bwMode="auto">
          <a:xfrm>
            <a:off x="3059113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41993" name="Rectangle 15"/>
          <p:cNvSpPr>
            <a:spLocks noChangeArrowheads="1"/>
          </p:cNvSpPr>
          <p:nvPr/>
        </p:nvSpPr>
        <p:spPr bwMode="auto">
          <a:xfrm>
            <a:off x="298767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41994" name="Rectangle 16"/>
          <p:cNvSpPr>
            <a:spLocks noChangeArrowheads="1"/>
          </p:cNvSpPr>
          <p:nvPr/>
        </p:nvSpPr>
        <p:spPr bwMode="auto">
          <a:xfrm>
            <a:off x="7566025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41995" name="Rectangle 17"/>
          <p:cNvSpPr>
            <a:spLocks noChangeArrowheads="1"/>
          </p:cNvSpPr>
          <p:nvPr/>
        </p:nvSpPr>
        <p:spPr bwMode="auto">
          <a:xfrm>
            <a:off x="756602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41996" name="Text Box 18"/>
          <p:cNvSpPr txBox="1">
            <a:spLocks noChangeArrowheads="1"/>
          </p:cNvSpPr>
          <p:nvPr/>
        </p:nvSpPr>
        <p:spPr bwMode="auto">
          <a:xfrm>
            <a:off x="3276600" y="44450"/>
            <a:ext cx="2524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07950"/>
            <a:ext cx="7740650" cy="47625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Runge et Kutta -  Amélioration de la précision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981075"/>
            <a:ext cx="8218488" cy="29162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altLang="fr-FR" sz="2000" smtClean="0"/>
              <a:t>Prendre en compte les termes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ordre supérieur :</a:t>
            </a:r>
          </a:p>
          <a:p>
            <a:pPr eaLnBrk="1" hangingPunct="1">
              <a:buFontTx/>
              <a:buNone/>
            </a:pPr>
            <a:endParaRPr lang="fr-FR" altLang="fr-FR" sz="2000" smtClean="0"/>
          </a:p>
          <a:p>
            <a:pPr eaLnBrk="1" hangingPunct="1">
              <a:buFontTx/>
              <a:buNone/>
            </a:pPr>
            <a:endParaRPr lang="fr-FR" altLang="fr-FR" sz="2000" smtClean="0"/>
          </a:p>
          <a:p>
            <a:pPr eaLnBrk="1" hangingPunct="1">
              <a:buFontTx/>
              <a:buNone/>
            </a:pPr>
            <a:endParaRPr lang="fr-FR" altLang="fr-FR" sz="2000" smtClean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Wingdings" panose="05000000000000000000" pitchFamily="2" charset="2"/>
              </a:rPr>
              <a:t>Ils sont calculables à partir de la dérivée  </a:t>
            </a:r>
          </a:p>
          <a:p>
            <a:pPr eaLnBrk="1" hangingPunct="1">
              <a:buFontTx/>
              <a:buNone/>
            </a:pPr>
            <a:r>
              <a:rPr lang="en-US" altLang="fr-FR" sz="2000" smtClean="0"/>
              <a:t> </a:t>
            </a:r>
            <a:endParaRPr lang="fr-FR" altLang="fr-FR" sz="2000" smtClean="0"/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430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777020"/>
              </p:ext>
            </p:extLst>
          </p:nvPr>
        </p:nvGraphicFramePr>
        <p:xfrm>
          <a:off x="1619250" y="1485900"/>
          <a:ext cx="68151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9" name="Equation" r:id="rId4" imgW="3886200" imgH="419040" progId="Equation.DSMT4">
                  <p:embed/>
                </p:oleObj>
              </mc:Choice>
              <mc:Fallback>
                <p:oleObj name="Equation" r:id="rId4" imgW="388620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85900"/>
                        <a:ext cx="68151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430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172101"/>
              </p:ext>
            </p:extLst>
          </p:nvPr>
        </p:nvGraphicFramePr>
        <p:xfrm>
          <a:off x="1635125" y="3009900"/>
          <a:ext cx="68976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0" name="Equation" r:id="rId6" imgW="3809880" imgH="419040" progId="Equation.DSMT4">
                  <p:embed/>
                </p:oleObj>
              </mc:Choice>
              <mc:Fallback>
                <p:oleObj name="Equation" r:id="rId6" imgW="380988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009900"/>
                        <a:ext cx="68976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Line 13"/>
          <p:cNvSpPr>
            <a:spLocks noChangeShapeType="1"/>
          </p:cNvSpPr>
          <p:nvPr/>
        </p:nvSpPr>
        <p:spPr bwMode="auto">
          <a:xfrm>
            <a:off x="5173663" y="231457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020" name="Rectangle 14"/>
          <p:cNvSpPr>
            <a:spLocks noChangeArrowheads="1"/>
          </p:cNvSpPr>
          <p:nvPr/>
        </p:nvSpPr>
        <p:spPr bwMode="auto">
          <a:xfrm>
            <a:off x="684213" y="3968750"/>
            <a:ext cx="8110537" cy="2305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2000"/>
              <a:t>1</a:t>
            </a:r>
            <a:r>
              <a:rPr lang="fr-FR" altLang="fr-FR" sz="2000" baseline="30000"/>
              <a:t>ère</a:t>
            </a:r>
            <a:r>
              <a:rPr lang="fr-FR" altLang="fr-FR" sz="2000"/>
              <a:t> idée : calculer analytiquement la dérivée seconde, approche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2000"/>
              <a:t>pouvant devenir vite compliquée!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idée : obtenir une approximation à l</a:t>
            </a:r>
            <a:r>
              <a:rPr lang="ja-JP" altLang="fr-FR" sz="2000"/>
              <a:t>’</a:t>
            </a:r>
            <a:r>
              <a:rPr lang="fr-FR" altLang="ja-JP" sz="2000"/>
              <a:t>ordre 2 inclus, en combinant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linéairement des estimations de f(y,t) en un nombre donné d</a:t>
            </a:r>
            <a:r>
              <a:rPr lang="ja-JP" altLang="fr-FR" sz="2000"/>
              <a:t>’</a:t>
            </a:r>
            <a:r>
              <a:rPr lang="fr-FR" altLang="ja-JP" sz="2000"/>
              <a:t>instants dans l</a:t>
            </a:r>
            <a:r>
              <a:rPr lang="ja-JP" altLang="fr-FR" sz="2000"/>
              <a:t>’</a:t>
            </a:r>
            <a:r>
              <a:rPr lang="fr-FR" altLang="ja-JP" sz="2000"/>
              <a:t>intervalle [t</a:t>
            </a:r>
            <a:r>
              <a:rPr lang="fr-FR" altLang="ja-JP" sz="2000" baseline="-25000"/>
              <a:t>n</a:t>
            </a:r>
            <a:r>
              <a:rPr lang="fr-FR" altLang="ja-JP" sz="2000"/>
              <a:t>, t</a:t>
            </a:r>
            <a:r>
              <a:rPr lang="fr-FR" altLang="ja-JP" sz="2000" baseline="-25000"/>
              <a:t>n</a:t>
            </a:r>
            <a:r>
              <a:rPr lang="fr-FR" altLang="ja-JP" sz="2000"/>
              <a:t>+Δ</a:t>
            </a:r>
            <a:r>
              <a:rPr lang="fr-FR" altLang="ja-JP" sz="2000">
                <a:sym typeface="Symbol" panose="05050102010706020507" pitchFamily="18" charset="2"/>
              </a:rPr>
              <a:t>t]</a:t>
            </a:r>
            <a:r>
              <a:rPr lang="en-US" altLang="ja-JP" sz="2000"/>
              <a:t> </a:t>
            </a:r>
            <a:endParaRPr lang="fr-FR" altLang="fr-FR" sz="2000"/>
          </a:p>
        </p:txBody>
      </p:sp>
      <p:sp>
        <p:nvSpPr>
          <p:cNvPr id="43021" name="AutoShape 15"/>
          <p:cNvSpPr>
            <a:spLocks noChangeArrowheads="1"/>
          </p:cNvSpPr>
          <p:nvPr/>
        </p:nvSpPr>
        <p:spPr bwMode="auto">
          <a:xfrm>
            <a:off x="4787900" y="1484313"/>
            <a:ext cx="1296988" cy="792162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22" name="AutoShape 16"/>
          <p:cNvSpPr>
            <a:spLocks noChangeArrowheads="1"/>
          </p:cNvSpPr>
          <p:nvPr/>
        </p:nvSpPr>
        <p:spPr bwMode="auto">
          <a:xfrm rot="20295922" flipH="1">
            <a:off x="5994400" y="2997200"/>
            <a:ext cx="344488" cy="747713"/>
          </a:xfrm>
          <a:prstGeom prst="lightningBolt">
            <a:avLst/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3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450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624662"/>
              </p:ext>
            </p:extLst>
          </p:nvPr>
        </p:nvGraphicFramePr>
        <p:xfrm>
          <a:off x="5219700" y="590550"/>
          <a:ext cx="23145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4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450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90550"/>
                        <a:ext cx="23145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50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730491"/>
              </p:ext>
            </p:extLst>
          </p:nvPr>
        </p:nvGraphicFramePr>
        <p:xfrm>
          <a:off x="1082675" y="1700808"/>
          <a:ext cx="47244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5" name="Equation" r:id="rId7" imgW="2666880" imgH="838080" progId="Equation.DSMT4">
                  <p:embed/>
                </p:oleObj>
              </mc:Choice>
              <mc:Fallback>
                <p:oleObj name="Equation" r:id="rId7" imgW="2666880" imgH="838080" progId="Equation.DSMT4">
                  <p:embed/>
                  <p:pic>
                    <p:nvPicPr>
                      <p:cNvPr id="450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1700808"/>
                        <a:ext cx="47244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Text Box 10"/>
          <p:cNvSpPr txBox="1">
            <a:spLocks noChangeArrowheads="1"/>
          </p:cNvSpPr>
          <p:nvPr/>
        </p:nvSpPr>
        <p:spPr bwMode="auto">
          <a:xfrm>
            <a:off x="6227763" y="2054821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50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341801"/>
              </p:ext>
            </p:extLst>
          </p:nvPr>
        </p:nvGraphicFramePr>
        <p:xfrm>
          <a:off x="7700963" y="1845271"/>
          <a:ext cx="11953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6" name="Equation" r:id="rId9" imgW="660240" imgH="393480" progId="Equation.DSMT4">
                  <p:embed/>
                </p:oleObj>
              </mc:Choice>
              <mc:Fallback>
                <p:oleObj name="Equation" r:id="rId9" imgW="660240" imgH="393480" progId="Equation.DSMT4">
                  <p:embed/>
                  <p:pic>
                    <p:nvPicPr>
                      <p:cNvPr id="450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963" y="1845271"/>
                        <a:ext cx="119538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Cas simplifié </a:t>
            </a:r>
            <a:r>
              <a:rPr lang="fr-FR" altLang="fr-FR" sz="1800" dirty="0" smtClean="0"/>
              <a:t>f(t)</a:t>
            </a:r>
            <a:endParaRPr lang="fr-FR" altLang="fr-FR" sz="1800" dirty="0"/>
          </a:p>
        </p:txBody>
      </p:sp>
      <p:sp>
        <p:nvSpPr>
          <p:cNvPr id="45068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5069" name="Text Box 18"/>
          <p:cNvSpPr txBox="1">
            <a:spLocks noChangeArrowheads="1"/>
          </p:cNvSpPr>
          <p:nvPr/>
        </p:nvSpPr>
        <p:spPr bwMode="auto">
          <a:xfrm>
            <a:off x="45709" y="2688234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 dirty="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5070" name="Rectangle 19"/>
          <p:cNvSpPr>
            <a:spLocks noChangeArrowheads="1"/>
          </p:cNvSpPr>
          <p:nvPr/>
        </p:nvSpPr>
        <p:spPr bwMode="auto">
          <a:xfrm>
            <a:off x="3419475" y="2492971"/>
            <a:ext cx="1223963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92720" y="3435102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/>
              <a:t>En substituant K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et K</a:t>
            </a:r>
            <a:r>
              <a:rPr lang="fr-FR" altLang="fr-FR" sz="2000" baseline="-25000" dirty="0"/>
              <a:t>2</a:t>
            </a:r>
            <a:r>
              <a:rPr lang="fr-FR" altLang="fr-FR" sz="2000" dirty="0"/>
              <a:t> par leur expression dans la forme </a:t>
            </a:r>
            <a:r>
              <a:rPr lang="fr-FR" altLang="fr-FR" sz="2800" dirty="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98229"/>
              </p:ext>
            </p:extLst>
          </p:nvPr>
        </p:nvGraphicFramePr>
        <p:xfrm>
          <a:off x="1075459" y="4057351"/>
          <a:ext cx="43275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7" name="Equation" r:id="rId11" imgW="2374560" imgH="228600" progId="Equation.DSMT4">
                  <p:embed/>
                </p:oleObj>
              </mc:Choice>
              <mc:Fallback>
                <p:oleObj name="Equation" r:id="rId11" imgW="2374560" imgH="228600" progId="Equation.DSMT4">
                  <p:embed/>
                  <p:pic>
                    <p:nvPicPr>
                      <p:cNvPr id="4608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459" y="4057351"/>
                        <a:ext cx="43275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97432" y="4062164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713200"/>
              </p:ext>
            </p:extLst>
          </p:nvPr>
        </p:nvGraphicFramePr>
        <p:xfrm>
          <a:off x="2961481" y="4613338"/>
          <a:ext cx="56911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8" name="Equation" r:id="rId13" imgW="3124080" imgH="266400" progId="Equation.DSMT4">
                  <p:embed/>
                </p:oleObj>
              </mc:Choice>
              <mc:Fallback>
                <p:oleObj name="Equation" r:id="rId13" imgW="3124080" imgH="2664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481" y="4613338"/>
                        <a:ext cx="56911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459943" y="4685223"/>
            <a:ext cx="24048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 smtClean="0"/>
              <a:t>Un D.L. à l’ordre 2 :</a:t>
            </a:r>
            <a:endParaRPr lang="fr-FR" altLang="fr-FR" sz="2800" dirty="0">
              <a:sym typeface="Wingdings" panose="05000000000000000000" pitchFamily="2" charset="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146130" y="5215397"/>
            <a:ext cx="253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graphicFrame>
        <p:nvGraphicFramePr>
          <p:cNvPr id="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556145"/>
              </p:ext>
            </p:extLst>
          </p:nvPr>
        </p:nvGraphicFramePr>
        <p:xfrm>
          <a:off x="2961481" y="5110225"/>
          <a:ext cx="233521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9" name="Equation" r:id="rId15" imgW="1282680" imgH="393480" progId="Equation.DSMT4">
                  <p:embed/>
                </p:oleObj>
              </mc:Choice>
              <mc:Fallback>
                <p:oleObj name="Equation" r:id="rId15" imgW="1282680" imgH="393480" progId="Equation.DSMT4">
                  <p:embed/>
                  <p:pic>
                    <p:nvPicPr>
                      <p:cNvPr id="4609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481" y="5110225"/>
                        <a:ext cx="2335212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5649339" y="5253101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 équations à 3 inconnues</a:t>
            </a:r>
            <a:endParaRPr lang="fr-FR" dirty="0"/>
          </a:p>
        </p:txBody>
      </p:sp>
      <p:graphicFrame>
        <p:nvGraphicFramePr>
          <p:cNvPr id="2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136766"/>
              </p:ext>
            </p:extLst>
          </p:nvPr>
        </p:nvGraphicFramePr>
        <p:xfrm>
          <a:off x="4121150" y="5983288"/>
          <a:ext cx="286861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0" name="Equation" r:id="rId17" imgW="1574640" imgH="393480" progId="Equation.DSMT4">
                  <p:embed/>
                </p:oleObj>
              </mc:Choice>
              <mc:Fallback>
                <p:oleObj name="Equation" r:id="rId17" imgW="1574640" imgH="393480" progId="Equation.DSMT4">
                  <p:embed/>
                  <p:pic>
                    <p:nvPicPr>
                      <p:cNvPr id="460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5983288"/>
                        <a:ext cx="2868613" cy="7350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46130" y="6181072"/>
            <a:ext cx="343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minimiser le nombre d’ops </a:t>
            </a:r>
          </a:p>
        </p:txBody>
      </p:sp>
    </p:spTree>
    <p:extLst>
      <p:ext uri="{BB962C8B-B14F-4D97-AF65-F5344CB8AC3E}">
        <p14:creationId xmlns:p14="http://schemas.microsoft.com/office/powerpoint/2010/main" val="245080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0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654314"/>
              </p:ext>
            </p:extLst>
          </p:nvPr>
        </p:nvGraphicFramePr>
        <p:xfrm>
          <a:off x="5116513" y="590550"/>
          <a:ext cx="25225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1" name="Equation" r:id="rId5" imgW="1384200" imgH="482400" progId="Equation.DSMT4">
                  <p:embed/>
                </p:oleObj>
              </mc:Choice>
              <mc:Fallback>
                <p:oleObj name="Equation" r:id="rId5" imgW="138420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590550"/>
                        <a:ext cx="25225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50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745546"/>
              </p:ext>
            </p:extLst>
          </p:nvPr>
        </p:nvGraphicFramePr>
        <p:xfrm>
          <a:off x="1892300" y="4006850"/>
          <a:ext cx="56594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2" name="Equation" r:id="rId7" imgW="3124080" imgH="419040" progId="Equation.DSMT4">
                  <p:embed/>
                </p:oleObj>
              </mc:Choice>
              <mc:Fallback>
                <p:oleObj name="Equation" r:id="rId7" imgW="312408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4006850"/>
                        <a:ext cx="56594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014063"/>
              </p:ext>
            </p:extLst>
          </p:nvPr>
        </p:nvGraphicFramePr>
        <p:xfrm>
          <a:off x="1003300" y="1844675"/>
          <a:ext cx="488315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3" name="Equation" r:id="rId9" imgW="2755800" imgH="838080" progId="Equation.DSMT4">
                  <p:embed/>
                </p:oleObj>
              </mc:Choice>
              <mc:Fallback>
                <p:oleObj name="Equation" r:id="rId9" imgW="2755800" imgH="838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844675"/>
                        <a:ext cx="488315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Text Box 10"/>
          <p:cNvSpPr txBox="1">
            <a:spLocks noChangeArrowheads="1"/>
          </p:cNvSpPr>
          <p:nvPr/>
        </p:nvSpPr>
        <p:spPr bwMode="auto">
          <a:xfrm>
            <a:off x="6227763" y="2198688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50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365839"/>
              </p:ext>
            </p:extLst>
          </p:nvPr>
        </p:nvGraphicFramePr>
        <p:xfrm>
          <a:off x="7666038" y="1989138"/>
          <a:ext cx="126523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4" name="Equation" r:id="rId11" imgW="698400" imgH="393480" progId="Equation.DSMT4">
                  <p:embed/>
                </p:oleObj>
              </mc:Choice>
              <mc:Fallback>
                <p:oleObj name="Equation" r:id="rId11" imgW="6984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1989138"/>
                        <a:ext cx="126523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Text Box 13"/>
          <p:cNvSpPr txBox="1">
            <a:spLocks noChangeArrowheads="1"/>
          </p:cNvSpPr>
          <p:nvPr/>
        </p:nvSpPr>
        <p:spPr bwMode="auto">
          <a:xfrm>
            <a:off x="376238" y="3644900"/>
            <a:ext cx="37199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A partir de la différentielle de </a:t>
            </a:r>
            <a:r>
              <a:rPr lang="fr-FR" altLang="fr-FR" sz="1800" dirty="0" smtClean="0"/>
              <a:t>f(y(t))</a:t>
            </a:r>
            <a:endParaRPr lang="fr-FR" altLang="fr-FR" sz="1800" dirty="0"/>
          </a:p>
        </p:txBody>
      </p:sp>
      <p:sp>
        <p:nvSpPr>
          <p:cNvPr id="45065" name="Text Box 14"/>
          <p:cNvSpPr txBox="1">
            <a:spLocks noChangeArrowheads="1"/>
          </p:cNvSpPr>
          <p:nvPr/>
        </p:nvSpPr>
        <p:spPr bwMode="auto">
          <a:xfrm>
            <a:off x="395288" y="4862513"/>
            <a:ext cx="498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peut réécrit sous la forme suivante :</a:t>
            </a:r>
          </a:p>
        </p:txBody>
      </p:sp>
      <p:graphicFrame>
        <p:nvGraphicFramePr>
          <p:cNvPr id="4506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581924"/>
              </p:ext>
            </p:extLst>
          </p:nvPr>
        </p:nvGraphicFramePr>
        <p:xfrm>
          <a:off x="1571625" y="5434013"/>
          <a:ext cx="60547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15" name="Equation" r:id="rId13" imgW="3416040" imgH="457200" progId="Equation.DSMT4">
                  <p:embed/>
                </p:oleObj>
              </mc:Choice>
              <mc:Fallback>
                <p:oleObj name="Equation" r:id="rId13" imgW="341604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434013"/>
                        <a:ext cx="60547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210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Cas simplifié f(y(t))</a:t>
            </a:r>
          </a:p>
        </p:txBody>
      </p:sp>
      <p:sp>
        <p:nvSpPr>
          <p:cNvPr id="45068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5069" name="Text Box 18"/>
          <p:cNvSpPr txBox="1">
            <a:spLocks noChangeArrowheads="1"/>
          </p:cNvSpPr>
          <p:nvPr/>
        </p:nvSpPr>
        <p:spPr bwMode="auto">
          <a:xfrm>
            <a:off x="38100" y="5589588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5070" name="Rectangle 19"/>
          <p:cNvSpPr>
            <a:spLocks noChangeArrowheads="1"/>
          </p:cNvSpPr>
          <p:nvPr/>
        </p:nvSpPr>
        <p:spPr bwMode="auto">
          <a:xfrm>
            <a:off x="3419475" y="2636838"/>
            <a:ext cx="1223963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5071" name="Rectangle 20"/>
          <p:cNvSpPr>
            <a:spLocks noChangeArrowheads="1"/>
          </p:cNvSpPr>
          <p:nvPr/>
        </p:nvSpPr>
        <p:spPr bwMode="auto">
          <a:xfrm>
            <a:off x="3995738" y="5445125"/>
            <a:ext cx="2736850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4"/>
          <p:cNvSpPr txBox="1">
            <a:spLocks noChangeArrowheads="1"/>
          </p:cNvSpPr>
          <p:nvPr/>
        </p:nvSpPr>
        <p:spPr bwMode="auto">
          <a:xfrm>
            <a:off x="395288" y="280988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substituant K</a:t>
            </a:r>
            <a:r>
              <a:rPr lang="fr-FR" altLang="fr-FR" sz="2000" baseline="-25000"/>
              <a:t>1</a:t>
            </a:r>
            <a:r>
              <a:rPr lang="fr-FR" altLang="fr-FR" sz="2000"/>
              <a:t> et K</a:t>
            </a:r>
            <a:r>
              <a:rPr lang="fr-FR" altLang="fr-FR" sz="2000" baseline="-25000"/>
              <a:t>2</a:t>
            </a:r>
            <a:r>
              <a:rPr lang="fr-FR" altLang="fr-FR" sz="2000"/>
              <a:t> par leur expression dans la forme </a:t>
            </a:r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460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783856"/>
              </p:ext>
            </p:extLst>
          </p:nvPr>
        </p:nvGraphicFramePr>
        <p:xfrm>
          <a:off x="1300163" y="981075"/>
          <a:ext cx="46751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8" name="Equation" r:id="rId3" imgW="2565360" imgH="228600" progId="Equation.DSMT4">
                  <p:embed/>
                </p:oleObj>
              </mc:Choice>
              <mc:Fallback>
                <p:oleObj name="Equation" r:id="rId3" imgW="256536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981075"/>
                        <a:ext cx="46751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7"/>
          <p:cNvGraphicFramePr>
            <a:graphicFrameLocks noChangeAspect="1"/>
          </p:cNvGraphicFramePr>
          <p:nvPr/>
        </p:nvGraphicFramePr>
        <p:xfrm>
          <a:off x="2019300" y="1912938"/>
          <a:ext cx="518477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9" name="Equation" r:id="rId5" imgW="2844800" imgH="711200" progId="Equation.DSMT4">
                  <p:embed/>
                </p:oleObj>
              </mc:Choice>
              <mc:Fallback>
                <p:oleObj name="Equation" r:id="rId5" imgW="28448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1912938"/>
                        <a:ext cx="5184775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8"/>
          <p:cNvSpPr txBox="1">
            <a:spLocks noChangeArrowheads="1"/>
          </p:cNvSpPr>
          <p:nvPr/>
        </p:nvSpPr>
        <p:spPr bwMode="auto">
          <a:xfrm>
            <a:off x="395288" y="1622425"/>
            <a:ext cx="5568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K</a:t>
            </a:r>
            <a:r>
              <a:rPr lang="fr-FR" altLang="fr-FR" sz="1800" baseline="-25000"/>
              <a:t>1</a:t>
            </a:r>
            <a:r>
              <a:rPr lang="fr-FR" altLang="fr-FR" sz="1800"/>
              <a:t> ~ h, on peut le rendre petit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D.L. valide</a:t>
            </a:r>
            <a:r>
              <a:rPr lang="fr-FR" altLang="fr-FR" sz="1800"/>
              <a:t>  </a:t>
            </a:r>
          </a:p>
        </p:txBody>
      </p:sp>
      <p:graphicFrame>
        <p:nvGraphicFramePr>
          <p:cNvPr id="460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238551"/>
              </p:ext>
            </p:extLst>
          </p:nvPr>
        </p:nvGraphicFramePr>
        <p:xfrm>
          <a:off x="1595438" y="3389313"/>
          <a:ext cx="6019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0" name="Equation" r:id="rId7" imgW="3301920" imgH="457200" progId="Equation.DSMT4">
                  <p:embed/>
                </p:oleObj>
              </mc:Choice>
              <mc:Fallback>
                <p:oleObj name="Equation" r:id="rId7" imgW="330192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389313"/>
                        <a:ext cx="60198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 Box 10"/>
          <p:cNvSpPr txBox="1">
            <a:spLocks noChangeArrowheads="1"/>
          </p:cNvSpPr>
          <p:nvPr/>
        </p:nvSpPr>
        <p:spPr bwMode="auto">
          <a:xfrm>
            <a:off x="376238" y="2997200"/>
            <a:ext cx="3930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Après substitution complète dans </a:t>
            </a:r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46087" name="Text Box 11"/>
          <p:cNvSpPr txBox="1">
            <a:spLocks noChangeArrowheads="1"/>
          </p:cNvSpPr>
          <p:nvPr/>
        </p:nvSpPr>
        <p:spPr bwMode="auto">
          <a:xfrm>
            <a:off x="0" y="90805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460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306068"/>
              </p:ext>
            </p:extLst>
          </p:nvPr>
        </p:nvGraphicFramePr>
        <p:xfrm>
          <a:off x="1517650" y="4541838"/>
          <a:ext cx="578326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1" name="Equation" r:id="rId9" imgW="3263760" imgH="457200" progId="Equation.DSMT4">
                  <p:embed/>
                </p:oleObj>
              </mc:Choice>
              <mc:Fallback>
                <p:oleObj name="Equation" r:id="rId9" imgW="326376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4541838"/>
                        <a:ext cx="578326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Text Box 13"/>
          <p:cNvSpPr txBox="1">
            <a:spLocks noChangeArrowheads="1"/>
          </p:cNvSpPr>
          <p:nvPr/>
        </p:nvSpPr>
        <p:spPr bwMode="auto">
          <a:xfrm>
            <a:off x="395288" y="4181475"/>
            <a:ext cx="253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6090" name="Text Box 14"/>
          <p:cNvSpPr txBox="1">
            <a:spLocks noChangeArrowheads="1"/>
          </p:cNvSpPr>
          <p:nvPr/>
        </p:nvSpPr>
        <p:spPr bwMode="auto">
          <a:xfrm>
            <a:off x="376238" y="5654675"/>
            <a:ext cx="374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obtient les relations suivantes : </a:t>
            </a:r>
          </a:p>
        </p:txBody>
      </p:sp>
      <p:graphicFrame>
        <p:nvGraphicFramePr>
          <p:cNvPr id="460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16189"/>
              </p:ext>
            </p:extLst>
          </p:nvPr>
        </p:nvGraphicFramePr>
        <p:xfrm>
          <a:off x="4381500" y="6110288"/>
          <a:ext cx="28448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2" name="Equation" r:id="rId11" imgW="1562040" imgH="393480" progId="Equation.DSMT4">
                  <p:embed/>
                </p:oleObj>
              </mc:Choice>
              <mc:Fallback>
                <p:oleObj name="Equation" r:id="rId11" imgW="156204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6110288"/>
                        <a:ext cx="2844800" cy="7350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 Box 14"/>
          <p:cNvSpPr txBox="1">
            <a:spLocks noChangeArrowheads="1"/>
          </p:cNvSpPr>
          <p:nvPr/>
        </p:nvSpPr>
        <p:spPr bwMode="auto">
          <a:xfrm>
            <a:off x="395288" y="6308725"/>
            <a:ext cx="343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minimiser le nombre d’ops </a:t>
            </a:r>
          </a:p>
        </p:txBody>
      </p:sp>
      <p:graphicFrame>
        <p:nvGraphicFramePr>
          <p:cNvPr id="4609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420485"/>
              </p:ext>
            </p:extLst>
          </p:nvPr>
        </p:nvGraphicFramePr>
        <p:xfrm>
          <a:off x="4427538" y="5384800"/>
          <a:ext cx="22891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3" name="Equation" r:id="rId13" imgW="1257120" imgH="393480" progId="Equation.DSMT4">
                  <p:embed/>
                </p:oleObj>
              </mc:Choice>
              <mc:Fallback>
                <p:oleObj name="Equation" r:id="rId13" imgW="125712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384800"/>
                        <a:ext cx="2289175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8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281918"/>
              </p:ext>
            </p:extLst>
          </p:nvPr>
        </p:nvGraphicFramePr>
        <p:xfrm>
          <a:off x="4619625" y="590550"/>
          <a:ext cx="35210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9" name="Equation" r:id="rId5" imgW="1930320" imgH="482400" progId="Equation.DSMT4">
                  <p:embed/>
                </p:oleObj>
              </mc:Choice>
              <mc:Fallback>
                <p:oleObj name="Equation" r:id="rId5" imgW="19303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590550"/>
                        <a:ext cx="35210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71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28834"/>
              </p:ext>
            </p:extLst>
          </p:nvPr>
        </p:nvGraphicFramePr>
        <p:xfrm>
          <a:off x="788988" y="4006850"/>
          <a:ext cx="78660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0" name="Equation" r:id="rId7" imgW="4343400" imgH="419040" progId="Equation.DSMT4">
                  <p:embed/>
                </p:oleObj>
              </mc:Choice>
              <mc:Fallback>
                <p:oleObj name="Equation" r:id="rId7" imgW="43434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4006850"/>
                        <a:ext cx="7866062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566818"/>
              </p:ext>
            </p:extLst>
          </p:nvPr>
        </p:nvGraphicFramePr>
        <p:xfrm>
          <a:off x="733425" y="1844675"/>
          <a:ext cx="54229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1" name="Equation" r:id="rId9" imgW="3060360" imgH="838080" progId="Equation.DSMT4">
                  <p:embed/>
                </p:oleObj>
              </mc:Choice>
              <mc:Fallback>
                <p:oleObj name="Equation" r:id="rId9" imgW="3060360" imgH="838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1844675"/>
                        <a:ext cx="54229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Text Box 10"/>
          <p:cNvSpPr txBox="1">
            <a:spLocks noChangeArrowheads="1"/>
          </p:cNvSpPr>
          <p:nvPr/>
        </p:nvSpPr>
        <p:spPr bwMode="auto">
          <a:xfrm>
            <a:off x="6227763" y="2198688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71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121027"/>
              </p:ext>
            </p:extLst>
          </p:nvPr>
        </p:nvGraphicFramePr>
        <p:xfrm>
          <a:off x="7564438" y="1989138"/>
          <a:ext cx="147161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2" name="Equation" r:id="rId11" imgW="812520" imgH="393480" progId="Equation.DSMT4">
                  <p:embed/>
                </p:oleObj>
              </mc:Choice>
              <mc:Fallback>
                <p:oleObj name="Equation" r:id="rId11" imgW="81252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438" y="1989138"/>
                        <a:ext cx="147161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13"/>
          <p:cNvSpPr txBox="1">
            <a:spLocks noChangeArrowheads="1"/>
          </p:cNvSpPr>
          <p:nvPr/>
        </p:nvSpPr>
        <p:spPr bwMode="auto">
          <a:xfrm>
            <a:off x="376238" y="3644900"/>
            <a:ext cx="361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 partir de la différentielle de f(y,t)</a:t>
            </a:r>
          </a:p>
        </p:txBody>
      </p:sp>
      <p:sp>
        <p:nvSpPr>
          <p:cNvPr id="47113" name="Text Box 14"/>
          <p:cNvSpPr txBox="1">
            <a:spLocks noChangeArrowheads="1"/>
          </p:cNvSpPr>
          <p:nvPr/>
        </p:nvSpPr>
        <p:spPr bwMode="auto">
          <a:xfrm>
            <a:off x="395288" y="4862513"/>
            <a:ext cx="498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peut réécrit sous la forme suivante :</a:t>
            </a:r>
          </a:p>
        </p:txBody>
      </p:sp>
      <p:graphicFrame>
        <p:nvGraphicFramePr>
          <p:cNvPr id="471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525883"/>
              </p:ext>
            </p:extLst>
          </p:nvPr>
        </p:nvGraphicFramePr>
        <p:xfrm>
          <a:off x="592138" y="5434013"/>
          <a:ext cx="80121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3" name="Equation" r:id="rId13" imgW="4520880" imgH="457200" progId="Equation.DSMT4">
                  <p:embed/>
                </p:oleObj>
              </mc:Choice>
              <mc:Fallback>
                <p:oleObj name="Equation" r:id="rId13" imgW="452088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5434013"/>
                        <a:ext cx="80121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7116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7117" name="Text Box 18"/>
          <p:cNvSpPr txBox="1">
            <a:spLocks noChangeArrowheads="1"/>
          </p:cNvSpPr>
          <p:nvPr/>
        </p:nvSpPr>
        <p:spPr bwMode="auto">
          <a:xfrm>
            <a:off x="38100" y="5589588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7118" name="Rectangle 19"/>
          <p:cNvSpPr>
            <a:spLocks noChangeArrowheads="1"/>
          </p:cNvSpPr>
          <p:nvPr/>
        </p:nvSpPr>
        <p:spPr bwMode="auto">
          <a:xfrm>
            <a:off x="3851275" y="2636838"/>
            <a:ext cx="1152525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7119" name="Rectangle 20"/>
          <p:cNvSpPr>
            <a:spLocks noChangeArrowheads="1"/>
          </p:cNvSpPr>
          <p:nvPr/>
        </p:nvSpPr>
        <p:spPr bwMode="auto">
          <a:xfrm>
            <a:off x="3708400" y="5445125"/>
            <a:ext cx="3959225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4"/>
          <p:cNvSpPr txBox="1">
            <a:spLocks noChangeArrowheads="1"/>
          </p:cNvSpPr>
          <p:nvPr/>
        </p:nvSpPr>
        <p:spPr bwMode="auto">
          <a:xfrm>
            <a:off x="395288" y="280988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substituant K</a:t>
            </a:r>
            <a:r>
              <a:rPr lang="fr-FR" altLang="fr-FR" sz="2000" baseline="-25000"/>
              <a:t>1</a:t>
            </a:r>
            <a:r>
              <a:rPr lang="fr-FR" altLang="fr-FR" sz="2000"/>
              <a:t> et K</a:t>
            </a:r>
            <a:r>
              <a:rPr lang="fr-FR" altLang="fr-FR" sz="2000" baseline="-25000"/>
              <a:t>2</a:t>
            </a:r>
            <a:r>
              <a:rPr lang="fr-FR" altLang="fr-FR" sz="2000"/>
              <a:t> par leur expression dans la forme </a:t>
            </a:r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481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28500"/>
              </p:ext>
            </p:extLst>
          </p:nvPr>
        </p:nvGraphicFramePr>
        <p:xfrm>
          <a:off x="687388" y="981075"/>
          <a:ext cx="59007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5" name="Equation" r:id="rId3" imgW="3238200" imgH="228600" progId="Equation.DSMT4">
                  <p:embed/>
                </p:oleObj>
              </mc:Choice>
              <mc:Fallback>
                <p:oleObj name="Equation" r:id="rId3" imgW="3238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981075"/>
                        <a:ext cx="59007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7"/>
          <p:cNvGraphicFramePr>
            <a:graphicFrameLocks noChangeAspect="1"/>
          </p:cNvGraphicFramePr>
          <p:nvPr/>
        </p:nvGraphicFramePr>
        <p:xfrm>
          <a:off x="365125" y="1912938"/>
          <a:ext cx="8494713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6" name="Equation" r:id="rId5" imgW="4660900" imgH="711200" progId="Equation.DSMT4">
                  <p:embed/>
                </p:oleObj>
              </mc:Choice>
              <mc:Fallback>
                <p:oleObj name="Equation" r:id="rId5" imgW="46609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1912938"/>
                        <a:ext cx="8494713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8"/>
          <p:cNvSpPr txBox="1">
            <a:spLocks noChangeArrowheads="1"/>
          </p:cNvSpPr>
          <p:nvPr/>
        </p:nvSpPr>
        <p:spPr bwMode="auto">
          <a:xfrm>
            <a:off x="395288" y="1622425"/>
            <a:ext cx="5568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K</a:t>
            </a:r>
            <a:r>
              <a:rPr lang="fr-FR" altLang="fr-FR" sz="1800" baseline="-25000"/>
              <a:t>1</a:t>
            </a:r>
            <a:r>
              <a:rPr lang="fr-FR" altLang="fr-FR" sz="1800"/>
              <a:t> ~ h, on peut le rendre petit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D.L. valide</a:t>
            </a:r>
            <a:r>
              <a:rPr lang="fr-FR" altLang="fr-FR" sz="1800"/>
              <a:t>  </a:t>
            </a:r>
          </a:p>
        </p:txBody>
      </p:sp>
      <p:graphicFrame>
        <p:nvGraphicFramePr>
          <p:cNvPr id="481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557950"/>
              </p:ext>
            </p:extLst>
          </p:nvPr>
        </p:nvGraphicFramePr>
        <p:xfrm>
          <a:off x="254000" y="3644900"/>
          <a:ext cx="87042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7" name="Equation" r:id="rId7" imgW="4775040" imgH="457200" progId="Equation.DSMT4">
                  <p:embed/>
                </p:oleObj>
              </mc:Choice>
              <mc:Fallback>
                <p:oleObj name="Equation" r:id="rId7" imgW="477504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3644900"/>
                        <a:ext cx="87042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Text Box 10"/>
          <p:cNvSpPr txBox="1">
            <a:spLocks noChangeArrowheads="1"/>
          </p:cNvSpPr>
          <p:nvPr/>
        </p:nvSpPr>
        <p:spPr bwMode="auto">
          <a:xfrm>
            <a:off x="376238" y="3252788"/>
            <a:ext cx="393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Après substitution complète dans </a:t>
            </a:r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48135" name="Text Box 11"/>
          <p:cNvSpPr txBox="1">
            <a:spLocks noChangeArrowheads="1"/>
          </p:cNvSpPr>
          <p:nvPr/>
        </p:nvSpPr>
        <p:spPr bwMode="auto">
          <a:xfrm>
            <a:off x="0" y="90805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481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163263"/>
              </p:ext>
            </p:extLst>
          </p:nvPr>
        </p:nvGraphicFramePr>
        <p:xfrm>
          <a:off x="404813" y="4797425"/>
          <a:ext cx="80105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8" name="Equation" r:id="rId9" imgW="4520880" imgH="457200" progId="Equation.DSMT4">
                  <p:embed/>
                </p:oleObj>
              </mc:Choice>
              <mc:Fallback>
                <p:oleObj name="Equation" r:id="rId9" imgW="452088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4797425"/>
                        <a:ext cx="801052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Text Box 13"/>
          <p:cNvSpPr txBox="1">
            <a:spLocks noChangeArrowheads="1"/>
          </p:cNvSpPr>
          <p:nvPr/>
        </p:nvSpPr>
        <p:spPr bwMode="auto">
          <a:xfrm>
            <a:off x="395288" y="4437063"/>
            <a:ext cx="2533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8138" name="Text Box 14"/>
          <p:cNvSpPr txBox="1">
            <a:spLocks noChangeArrowheads="1"/>
          </p:cNvSpPr>
          <p:nvPr/>
        </p:nvSpPr>
        <p:spPr bwMode="auto">
          <a:xfrm>
            <a:off x="376238" y="5824538"/>
            <a:ext cx="374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obtient les relations suivantes : </a:t>
            </a:r>
          </a:p>
        </p:txBody>
      </p:sp>
      <p:graphicFrame>
        <p:nvGraphicFramePr>
          <p:cNvPr id="48139" name="Object 15"/>
          <p:cNvGraphicFramePr>
            <a:graphicFrameLocks noChangeAspect="1"/>
          </p:cNvGraphicFramePr>
          <p:nvPr/>
        </p:nvGraphicFramePr>
        <p:xfrm>
          <a:off x="4500563" y="5661025"/>
          <a:ext cx="36322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9" name="Equation" r:id="rId11" imgW="1993900" imgH="393700" progId="Equation.DSMT4">
                  <p:embed/>
                </p:oleObj>
              </mc:Choice>
              <mc:Fallback>
                <p:oleObj name="Equation" r:id="rId11" imgW="19939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661025"/>
                        <a:ext cx="3632200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/>
          <p:cNvGraphicFramePr>
            <a:graphicFrameLocks noChangeAspect="1"/>
          </p:cNvGraphicFramePr>
          <p:nvPr/>
        </p:nvGraphicFramePr>
        <p:xfrm>
          <a:off x="539750" y="671513"/>
          <a:ext cx="36322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7" name="Equation" r:id="rId3" imgW="1993900" imgH="393700" progId="Equation.DSMT4">
                  <p:embed/>
                </p:oleObj>
              </mc:Choice>
              <mc:Fallback>
                <p:oleObj name="Equation" r:id="rId3" imgW="19939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71513"/>
                        <a:ext cx="36322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Text Box 5"/>
          <p:cNvSpPr txBox="1">
            <a:spLocks noChangeArrowheads="1"/>
          </p:cNvSpPr>
          <p:nvPr/>
        </p:nvSpPr>
        <p:spPr bwMode="auto">
          <a:xfrm>
            <a:off x="395288" y="1477963"/>
            <a:ext cx="6600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On a 3 équations avec 4 inconnues : sous-détermination </a:t>
            </a:r>
          </a:p>
          <a:p>
            <a:pPr eaLnBrk="1" hangingPunct="1"/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infinité de solutions</a:t>
            </a:r>
          </a:p>
        </p:txBody>
      </p:sp>
      <p:graphicFrame>
        <p:nvGraphicFramePr>
          <p:cNvPr id="4915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331082"/>
              </p:ext>
            </p:extLst>
          </p:nvPr>
        </p:nvGraphicFramePr>
        <p:xfrm>
          <a:off x="579438" y="188913"/>
          <a:ext cx="68738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8" name="Equation" r:id="rId5" imgW="3771720" imgH="228600" progId="Equation.DSMT4">
                  <p:embed/>
                </p:oleObj>
              </mc:Choice>
              <mc:Fallback>
                <p:oleObj name="Equation" r:id="rId5" imgW="377172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188913"/>
                        <a:ext cx="68738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Text Box 7"/>
          <p:cNvSpPr txBox="1">
            <a:spLocks noChangeArrowheads="1"/>
          </p:cNvSpPr>
          <p:nvPr/>
        </p:nvSpPr>
        <p:spPr bwMode="auto">
          <a:xfrm>
            <a:off x="447675" y="2436813"/>
            <a:ext cx="6884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Pour minimiser le nombre d</a:t>
            </a:r>
            <a:r>
              <a:rPr lang="ja-JP" altLang="fr-FR" sz="2000"/>
              <a:t>’</a:t>
            </a:r>
            <a:r>
              <a:rPr lang="fr-FR" altLang="ja-JP" sz="2000"/>
              <a:t>opérations de calcul, on prend :</a:t>
            </a:r>
            <a:endParaRPr lang="fr-FR" altLang="fr-FR" sz="2000"/>
          </a:p>
        </p:txBody>
      </p:sp>
      <p:graphicFrame>
        <p:nvGraphicFramePr>
          <p:cNvPr id="49157" name="Object 8"/>
          <p:cNvGraphicFramePr>
            <a:graphicFrameLocks noChangeAspect="1"/>
          </p:cNvGraphicFramePr>
          <p:nvPr/>
        </p:nvGraphicFramePr>
        <p:xfrm>
          <a:off x="1806575" y="2860675"/>
          <a:ext cx="43497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9" name="Equation" r:id="rId7" imgW="2387600" imgH="393700" progId="Equation.DSMT4">
                  <p:embed/>
                </p:oleObj>
              </mc:Choice>
              <mc:Fallback>
                <p:oleObj name="Equation" r:id="rId7" imgW="23876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2860675"/>
                        <a:ext cx="43497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987715"/>
              </p:ext>
            </p:extLst>
          </p:nvPr>
        </p:nvGraphicFramePr>
        <p:xfrm>
          <a:off x="625475" y="4303713"/>
          <a:ext cx="49530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0" name="Equation" r:id="rId9" imgW="2717640" imgH="393480" progId="Equation.DSMT4">
                  <p:embed/>
                </p:oleObj>
              </mc:Choice>
              <mc:Fallback>
                <p:oleObj name="Equation" r:id="rId9" imgW="27176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303713"/>
                        <a:ext cx="49530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Text Box 10"/>
          <p:cNvSpPr txBox="1">
            <a:spLocks noChangeArrowheads="1"/>
          </p:cNvSpPr>
          <p:nvPr/>
        </p:nvSpPr>
        <p:spPr bwMode="auto">
          <a:xfrm>
            <a:off x="466725" y="3786188"/>
            <a:ext cx="799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d</a:t>
            </a:r>
            <a:r>
              <a:rPr lang="ja-JP" altLang="fr-FR" sz="2000"/>
              <a:t>’</a:t>
            </a:r>
            <a:r>
              <a:rPr lang="fr-FR" altLang="ja-JP" sz="2000"/>
              <a:t>intégration de la méthode Runge-Kutta d</a:t>
            </a:r>
            <a:r>
              <a:rPr lang="ja-JP" altLang="fr-FR" sz="2000"/>
              <a:t>’</a:t>
            </a:r>
            <a:r>
              <a:rPr lang="fr-FR" altLang="ja-JP" sz="2000"/>
              <a:t>ordre 2 s</a:t>
            </a:r>
            <a:r>
              <a:rPr lang="ja-JP" altLang="fr-FR" sz="2000"/>
              <a:t>’</a:t>
            </a:r>
            <a:r>
              <a:rPr lang="fr-FR" altLang="ja-JP" sz="2000"/>
              <a:t>écrit :</a:t>
            </a:r>
            <a:endParaRPr lang="fr-FR" altLang="fr-FR" sz="2000"/>
          </a:p>
        </p:txBody>
      </p:sp>
      <p:sp>
        <p:nvSpPr>
          <p:cNvPr id="49160" name="Text Box 11"/>
          <p:cNvSpPr txBox="1">
            <a:spLocks noChangeArrowheads="1"/>
          </p:cNvSpPr>
          <p:nvPr/>
        </p:nvSpPr>
        <p:spPr bwMode="auto">
          <a:xfrm>
            <a:off x="512763" y="5575300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</a:t>
            </a:r>
          </a:p>
        </p:txBody>
      </p:sp>
      <p:graphicFrame>
        <p:nvGraphicFramePr>
          <p:cNvPr id="4916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049691"/>
              </p:ext>
            </p:extLst>
          </p:nvPr>
        </p:nvGraphicFramePr>
        <p:xfrm>
          <a:off x="2246313" y="5073650"/>
          <a:ext cx="3724275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1" name="Equation" r:id="rId11" imgW="2044440" imgH="863280" progId="Equation.DSMT4">
                  <p:embed/>
                </p:oleObj>
              </mc:Choice>
              <mc:Fallback>
                <p:oleObj name="Equation" r:id="rId11" imgW="2044440" imgH="863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073650"/>
                        <a:ext cx="3724275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488238" y="5921375"/>
          <a:ext cx="54451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07" name="Equation" r:id="rId3" imgW="228600" imgH="228600" progId="Equation.DSMT4">
                  <p:embed/>
                </p:oleObj>
              </mc:Choice>
              <mc:Fallback>
                <p:oleObj name="Equation" r:id="rId3" imgW="2286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5921375"/>
                        <a:ext cx="54451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8" name="Object 7"/>
          <p:cNvGraphicFramePr>
            <a:graphicFrameLocks noChangeAspect="1"/>
          </p:cNvGraphicFramePr>
          <p:nvPr/>
        </p:nvGraphicFramePr>
        <p:xfrm>
          <a:off x="8321675" y="5518150"/>
          <a:ext cx="2095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08" name="Equation" r:id="rId5" imgW="88746" imgH="152136" progId="Equation.DSMT4">
                  <p:embed/>
                </p:oleObj>
              </mc:Choice>
              <mc:Fallback>
                <p:oleObj name="Equation" r:id="rId5" imgW="88746" imgH="1521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5518150"/>
                        <a:ext cx="2095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Line 8"/>
          <p:cNvSpPr>
            <a:spLocks noChangeShapeType="1"/>
          </p:cNvSpPr>
          <p:nvPr/>
        </p:nvSpPr>
        <p:spPr bwMode="auto">
          <a:xfrm>
            <a:off x="1474788" y="5921375"/>
            <a:ext cx="7056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0" name="Line 9"/>
          <p:cNvSpPr>
            <a:spLocks noChangeShapeType="1"/>
          </p:cNvSpPr>
          <p:nvPr/>
        </p:nvSpPr>
        <p:spPr bwMode="auto">
          <a:xfrm flipV="1">
            <a:off x="1619250" y="1095375"/>
            <a:ext cx="0" cy="525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1" name="Freeform 10"/>
          <p:cNvSpPr>
            <a:spLocks/>
          </p:cNvSpPr>
          <p:nvPr/>
        </p:nvSpPr>
        <p:spPr bwMode="auto">
          <a:xfrm>
            <a:off x="1930400" y="3508375"/>
            <a:ext cx="5827713" cy="1390650"/>
          </a:xfrm>
          <a:custGeom>
            <a:avLst/>
            <a:gdLst>
              <a:gd name="T0" fmla="*/ 0 w 3671"/>
              <a:gd name="T1" fmla="*/ 2147483647 h 1071"/>
              <a:gd name="T2" fmla="*/ 2147483647 w 3671"/>
              <a:gd name="T3" fmla="*/ 2147483647 h 1071"/>
              <a:gd name="T4" fmla="*/ 2147483647 w 3671"/>
              <a:gd name="T5" fmla="*/ 2147483647 h 1071"/>
              <a:gd name="T6" fmla="*/ 2147483647 w 3671"/>
              <a:gd name="T7" fmla="*/ 2147483647 h 1071"/>
              <a:gd name="T8" fmla="*/ 2147483647 w 3671"/>
              <a:gd name="T9" fmla="*/ 2147483647 h 1071"/>
              <a:gd name="T10" fmla="*/ 2147483647 w 3671"/>
              <a:gd name="T11" fmla="*/ 2147483647 h 1071"/>
              <a:gd name="T12" fmla="*/ 2147483647 w 3671"/>
              <a:gd name="T13" fmla="*/ 2147483647 h 10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71" h="1071">
                <a:moveTo>
                  <a:pt x="0" y="1071"/>
                </a:moveTo>
                <a:cubicBezTo>
                  <a:pt x="112" y="982"/>
                  <a:pt x="465" y="672"/>
                  <a:pt x="673" y="534"/>
                </a:cubicBezTo>
                <a:cubicBezTo>
                  <a:pt x="881" y="396"/>
                  <a:pt x="1068" y="317"/>
                  <a:pt x="1249" y="241"/>
                </a:cubicBezTo>
                <a:cubicBezTo>
                  <a:pt x="1430" y="165"/>
                  <a:pt x="1549" y="111"/>
                  <a:pt x="1757" y="75"/>
                </a:cubicBezTo>
                <a:cubicBezTo>
                  <a:pt x="1965" y="39"/>
                  <a:pt x="2245" y="0"/>
                  <a:pt x="2499" y="26"/>
                </a:cubicBezTo>
                <a:cubicBezTo>
                  <a:pt x="2753" y="52"/>
                  <a:pt x="3085" y="166"/>
                  <a:pt x="3280" y="231"/>
                </a:cubicBezTo>
                <a:cubicBezTo>
                  <a:pt x="3475" y="296"/>
                  <a:pt x="3590" y="378"/>
                  <a:pt x="3671" y="417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2" name="Line 12"/>
          <p:cNvSpPr>
            <a:spLocks noChangeShapeType="1"/>
          </p:cNvSpPr>
          <p:nvPr/>
        </p:nvSpPr>
        <p:spPr bwMode="auto">
          <a:xfrm>
            <a:off x="1906588" y="3213100"/>
            <a:ext cx="0" cy="270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3" name="Line 13"/>
          <p:cNvSpPr>
            <a:spLocks noChangeShapeType="1"/>
          </p:cNvSpPr>
          <p:nvPr/>
        </p:nvSpPr>
        <p:spPr bwMode="auto">
          <a:xfrm>
            <a:off x="7739063" y="1276350"/>
            <a:ext cx="0" cy="4716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4" name="Object 14"/>
          <p:cNvGraphicFramePr>
            <a:graphicFrameLocks noChangeAspect="1"/>
          </p:cNvGraphicFramePr>
          <p:nvPr/>
        </p:nvGraphicFramePr>
        <p:xfrm>
          <a:off x="1809750" y="5832475"/>
          <a:ext cx="349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09" name="Equation" r:id="rId7" imgW="139700" imgH="228600" progId="Equation.DSMT4">
                  <p:embed/>
                </p:oleObj>
              </mc:Choice>
              <mc:Fallback>
                <p:oleObj name="Equation" r:id="rId7" imgW="1397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832475"/>
                        <a:ext cx="349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5"/>
          <p:cNvGraphicFramePr>
            <a:graphicFrameLocks noChangeAspect="1"/>
          </p:cNvGraphicFramePr>
          <p:nvPr/>
        </p:nvGraphicFramePr>
        <p:xfrm>
          <a:off x="4357688" y="5884863"/>
          <a:ext cx="6778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0" name="Equation" r:id="rId9" imgW="393529" imgH="393529" progId="Equation.DSMT4">
                  <p:embed/>
                </p:oleObj>
              </mc:Choice>
              <mc:Fallback>
                <p:oleObj name="Equation" r:id="rId9" imgW="393529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5884863"/>
                        <a:ext cx="6778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Line 16"/>
          <p:cNvSpPr>
            <a:spLocks noChangeShapeType="1"/>
          </p:cNvSpPr>
          <p:nvPr/>
        </p:nvSpPr>
        <p:spPr bwMode="auto">
          <a:xfrm flipV="1">
            <a:off x="4714875" y="3040063"/>
            <a:ext cx="0" cy="2952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7" name="Line 17"/>
          <p:cNvSpPr>
            <a:spLocks noChangeShapeType="1"/>
          </p:cNvSpPr>
          <p:nvPr/>
        </p:nvSpPr>
        <p:spPr bwMode="auto">
          <a:xfrm flipV="1">
            <a:off x="1906588" y="3184525"/>
            <a:ext cx="2808287" cy="1692275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8" name="Object 18"/>
          <p:cNvGraphicFramePr>
            <a:graphicFrameLocks noChangeAspect="1"/>
          </p:cNvGraphicFramePr>
          <p:nvPr/>
        </p:nvGraphicFramePr>
        <p:xfrm>
          <a:off x="971550" y="2924175"/>
          <a:ext cx="550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1" name="Equation" r:id="rId11" imgW="279400" imgH="228600" progId="Equation.DSMT4">
                  <p:embed/>
                </p:oleObj>
              </mc:Choice>
              <mc:Fallback>
                <p:oleObj name="Equation" r:id="rId11" imgW="2794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4175"/>
                        <a:ext cx="550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9"/>
          <p:cNvGraphicFramePr>
            <a:graphicFrameLocks noChangeAspect="1"/>
          </p:cNvGraphicFramePr>
          <p:nvPr/>
        </p:nvGraphicFramePr>
        <p:xfrm>
          <a:off x="1079500" y="4454525"/>
          <a:ext cx="334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2" name="Equation" r:id="rId13" imgW="177646" imgH="228402" progId="Equation.DSMT4">
                  <p:embed/>
                </p:oleObj>
              </mc:Choice>
              <mc:Fallback>
                <p:oleObj name="Equation" r:id="rId13" imgW="177646" imgH="2284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454525"/>
                        <a:ext cx="3349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Line 21"/>
          <p:cNvSpPr>
            <a:spLocks noChangeShapeType="1"/>
          </p:cNvSpPr>
          <p:nvPr/>
        </p:nvSpPr>
        <p:spPr bwMode="auto">
          <a:xfrm flipV="1">
            <a:off x="1906588" y="4048125"/>
            <a:ext cx="5832475" cy="8667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1" name="Line 22"/>
          <p:cNvSpPr>
            <a:spLocks noChangeShapeType="1"/>
          </p:cNvSpPr>
          <p:nvPr/>
        </p:nvSpPr>
        <p:spPr bwMode="auto">
          <a:xfrm flipV="1">
            <a:off x="4714875" y="1384300"/>
            <a:ext cx="3024188" cy="1800225"/>
          </a:xfrm>
          <a:prstGeom prst="line">
            <a:avLst/>
          </a:prstGeom>
          <a:noFill/>
          <a:ln w="50800">
            <a:solidFill>
              <a:srgbClr val="00FF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2" name="Line 23"/>
          <p:cNvSpPr>
            <a:spLocks noChangeShapeType="1"/>
          </p:cNvSpPr>
          <p:nvPr/>
        </p:nvSpPr>
        <p:spPr bwMode="auto">
          <a:xfrm flipH="1">
            <a:off x="1619250" y="4048125"/>
            <a:ext cx="6119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93" name="Object 24"/>
          <p:cNvGraphicFramePr>
            <a:graphicFrameLocks noChangeAspect="1"/>
          </p:cNvGraphicFramePr>
          <p:nvPr/>
        </p:nvGraphicFramePr>
        <p:xfrm>
          <a:off x="892175" y="3668713"/>
          <a:ext cx="5334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3" name="Equation" r:id="rId15" imgW="266584" imgH="228501" progId="Equation.DSMT4">
                  <p:embed/>
                </p:oleObj>
              </mc:Choice>
              <mc:Fallback>
                <p:oleObj name="Equation" r:id="rId15" imgW="266584" imgH="22850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668713"/>
                        <a:ext cx="5334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5"/>
          <p:cNvSpPr>
            <a:spLocks noChangeShapeType="1"/>
          </p:cNvSpPr>
          <p:nvPr/>
        </p:nvSpPr>
        <p:spPr bwMode="auto">
          <a:xfrm flipH="1">
            <a:off x="1582738" y="1384300"/>
            <a:ext cx="630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5" name="Line 26"/>
          <p:cNvSpPr>
            <a:spLocks noChangeShapeType="1"/>
          </p:cNvSpPr>
          <p:nvPr/>
        </p:nvSpPr>
        <p:spPr bwMode="auto">
          <a:xfrm flipH="1">
            <a:off x="1582738" y="3221038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6" name="Line 27"/>
          <p:cNvSpPr>
            <a:spLocks noChangeShapeType="1"/>
          </p:cNvSpPr>
          <p:nvPr/>
        </p:nvSpPr>
        <p:spPr bwMode="auto">
          <a:xfrm flipV="1">
            <a:off x="1908175" y="2740025"/>
            <a:ext cx="5962650" cy="885825"/>
          </a:xfrm>
          <a:prstGeom prst="line">
            <a:avLst/>
          </a:prstGeom>
          <a:noFill/>
          <a:ln w="508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7" name="Text Box 28"/>
          <p:cNvSpPr txBox="1">
            <a:spLocks noChangeArrowheads="1"/>
          </p:cNvSpPr>
          <p:nvPr/>
        </p:nvSpPr>
        <p:spPr bwMode="auto">
          <a:xfrm>
            <a:off x="447675" y="327025"/>
            <a:ext cx="788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Représentation graphique de la méthode Runge-Kutta ordre 2 (RK2)</a:t>
            </a:r>
          </a:p>
        </p:txBody>
      </p:sp>
      <p:graphicFrame>
        <p:nvGraphicFramePr>
          <p:cNvPr id="50198" name="Object 29"/>
          <p:cNvGraphicFramePr>
            <a:graphicFrameLocks noChangeAspect="1"/>
          </p:cNvGraphicFramePr>
          <p:nvPr/>
        </p:nvGraphicFramePr>
        <p:xfrm>
          <a:off x="5065713" y="1676400"/>
          <a:ext cx="13176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4" name="Equation" r:id="rId17" imgW="723900" imgH="279400" progId="Equation.DSMT4">
                  <p:embed/>
                </p:oleObj>
              </mc:Choice>
              <mc:Fallback>
                <p:oleObj name="Equation" r:id="rId17" imgW="723900" imgH="2794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1676400"/>
                        <a:ext cx="1317625" cy="5191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33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9" name="Object 30"/>
          <p:cNvGraphicFramePr>
            <a:graphicFrameLocks noChangeAspect="1"/>
          </p:cNvGraphicFramePr>
          <p:nvPr/>
        </p:nvGraphicFramePr>
        <p:xfrm>
          <a:off x="2336800" y="1800225"/>
          <a:ext cx="21764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15" name="Equation" r:id="rId19" imgW="1193800" imgH="469900" progId="Equation.DSMT4">
                  <p:embed/>
                </p:oleObj>
              </mc:Choice>
              <mc:Fallback>
                <p:oleObj name="Equation" r:id="rId19" imgW="11938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800225"/>
                        <a:ext cx="2176463" cy="873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5120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3" name="Object 6"/>
          <p:cNvGraphicFramePr>
            <a:graphicFrameLocks noChangeAspect="1"/>
          </p:cNvGraphicFramePr>
          <p:nvPr/>
        </p:nvGraphicFramePr>
        <p:xfrm>
          <a:off x="3851275" y="1628775"/>
          <a:ext cx="24717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0" name="Equation" r:id="rId4" imgW="1371600" imgH="419100" progId="Equation.DSMT4">
                  <p:embed/>
                </p:oleObj>
              </mc:Choice>
              <mc:Fallback>
                <p:oleObj name="Equation" r:id="rId4" imgW="13716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628775"/>
                        <a:ext cx="247173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Développer une fonction Matlab (rk2.m) résolvant l</a:t>
            </a:r>
            <a:r>
              <a:rPr lang="ja-JP" altLang="fr-FR" sz="2000"/>
              <a:t>’</a:t>
            </a:r>
            <a:r>
              <a:rPr lang="fr-FR" altLang="ja-JP" sz="2000"/>
              <a:t>EDO d</a:t>
            </a:r>
            <a:r>
              <a:rPr lang="ja-JP" altLang="fr-FR" sz="2000"/>
              <a:t>’</a:t>
            </a:r>
            <a:r>
              <a:rPr lang="fr-FR" altLang="ja-JP" sz="2000"/>
              <a:t>ordre 2 ci-dessus à l</a:t>
            </a:r>
            <a:r>
              <a:rPr lang="ja-JP" altLang="fr-FR" sz="2000"/>
              <a:t>’</a:t>
            </a:r>
            <a:r>
              <a:rPr lang="fr-FR" altLang="ja-JP" sz="2000"/>
              <a:t>aide de la méthode de Runge-Kutta 2 en vous inspirant de rk1.m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Superposer la solution analytique pour évaluer la précision de la méthode RK2 en fonction du pas de temps. 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Il y a-t-il une limite de stabilité ?</a:t>
            </a:r>
          </a:p>
        </p:txBody>
      </p:sp>
      <p:sp>
        <p:nvSpPr>
          <p:cNvPr id="51205" name="Text Box 8"/>
          <p:cNvSpPr txBox="1">
            <a:spLocks noChangeArrowheads="1"/>
          </p:cNvSpPr>
          <p:nvPr/>
        </p:nvSpPr>
        <p:spPr bwMode="auto">
          <a:xfrm>
            <a:off x="8362950" y="12700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51206" name="Rectangle 10"/>
          <p:cNvSpPr>
            <a:spLocks noChangeArrowheads="1"/>
          </p:cNvSpPr>
          <p:nvPr/>
        </p:nvSpPr>
        <p:spPr bwMode="auto">
          <a:xfrm>
            <a:off x="468313" y="-2428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RK2 - Programmation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4"/>
          <p:cNvSpPr>
            <a:spLocks noChangeArrowheads="1"/>
          </p:cNvSpPr>
          <p:nvPr/>
        </p:nvSpPr>
        <p:spPr bwMode="auto">
          <a:xfrm>
            <a:off x="468313" y="-2428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RK2 - Programmation </a:t>
            </a:r>
          </a:p>
        </p:txBody>
      </p:sp>
      <p:sp>
        <p:nvSpPr>
          <p:cNvPr id="52226" name="Text Box 5"/>
          <p:cNvSpPr txBox="1">
            <a:spLocks noChangeArrowheads="1"/>
          </p:cNvSpPr>
          <p:nvPr/>
        </p:nvSpPr>
        <p:spPr bwMode="auto">
          <a:xfrm>
            <a:off x="231775" y="765175"/>
            <a:ext cx="5395913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rk2(@equadif,[ti tf dt],[y1i y2i y3i], options)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methode Runge et Kutta explicite ordre 2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[tvec, yvec]=rk2(f, param, y0, options)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intervalle d'etude en temps et pas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t0 = param(1);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tf = param(2);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  = param(3);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dans la 1ere ligne du tableau yvec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tvec(n) = t0;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yvec(n, :) = y0;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</a:p>
          <a:p>
            <a:pPr eaLnBrk="1" hangingPunct="1"/>
            <a:endParaRPr lang="fr-FR" altLang="fr-FR" sz="14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</p:txBody>
      </p:sp>
      <p:sp>
        <p:nvSpPr>
          <p:cNvPr id="52227" name="Text Box 6"/>
          <p:cNvSpPr txBox="1">
            <a:spLocks noChangeArrowheads="1"/>
          </p:cNvSpPr>
          <p:nvPr/>
        </p:nvSpPr>
        <p:spPr bwMode="auto">
          <a:xfrm>
            <a:off x="4500563" y="2019300"/>
            <a:ext cx="4776787" cy="5003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endParaRPr lang="fr-FR" altLang="fr-FR" sz="1400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(t&lt;tf)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derivees en debut de pas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f1=f(t, y);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valeurs en milieu de pas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tm=t+h/2;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ym=y+f1*h/2;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fm=f(tm,ym);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globale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dy=h*fm;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y=y+dy;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pas suivant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t=t+h;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stockage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tvec(n)=t;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yvec(n, :)=y;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/>
          </a:p>
          <a:p>
            <a:pPr eaLnBrk="1" hangingPunct="1"/>
            <a:endParaRPr lang="fr-FR" altLang="fr-FR" sz="1400"/>
          </a:p>
        </p:txBody>
      </p:sp>
      <p:grpSp>
        <p:nvGrpSpPr>
          <p:cNvPr id="52228" name="Group 11"/>
          <p:cNvGrpSpPr>
            <a:grpSpLocks/>
          </p:cNvGrpSpPr>
          <p:nvPr/>
        </p:nvGrpSpPr>
        <p:grpSpPr bwMode="auto">
          <a:xfrm>
            <a:off x="773113" y="2205038"/>
            <a:ext cx="3727450" cy="2592387"/>
            <a:chOff x="487" y="1389"/>
            <a:chExt cx="2348" cy="1633"/>
          </a:xfrm>
        </p:grpSpPr>
        <p:sp>
          <p:nvSpPr>
            <p:cNvPr id="52230" name="Line 8"/>
            <p:cNvSpPr>
              <a:spLocks noChangeShapeType="1"/>
            </p:cNvSpPr>
            <p:nvPr/>
          </p:nvSpPr>
          <p:spPr bwMode="auto">
            <a:xfrm>
              <a:off x="487" y="3006"/>
              <a:ext cx="221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231" name="Line 9"/>
            <p:cNvSpPr>
              <a:spLocks noChangeShapeType="1"/>
            </p:cNvSpPr>
            <p:nvPr/>
          </p:nvSpPr>
          <p:spPr bwMode="auto">
            <a:xfrm flipV="1">
              <a:off x="2699" y="1389"/>
              <a:ext cx="0" cy="16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232" name="Line 10"/>
            <p:cNvSpPr>
              <a:spLocks noChangeShapeType="1"/>
            </p:cNvSpPr>
            <p:nvPr/>
          </p:nvSpPr>
          <p:spPr bwMode="auto">
            <a:xfrm>
              <a:off x="2699" y="1389"/>
              <a:ext cx="13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522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864909"/>
              </p:ext>
            </p:extLst>
          </p:nvPr>
        </p:nvGraphicFramePr>
        <p:xfrm>
          <a:off x="393700" y="5013325"/>
          <a:ext cx="3678238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6" name="Equation" r:id="rId3" imgW="2019240" imgH="863280" progId="Equation.DSMT4">
                  <p:embed/>
                </p:oleObj>
              </mc:Choice>
              <mc:Fallback>
                <p:oleObj name="Equation" r:id="rId3" imgW="2019240" imgH="863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013325"/>
                        <a:ext cx="3678238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4"/>
          <p:cNvSpPr txBox="1">
            <a:spLocks noChangeArrowheads="1"/>
          </p:cNvSpPr>
          <p:nvPr/>
        </p:nvSpPr>
        <p:spPr bwMode="auto">
          <a:xfrm>
            <a:off x="2339975" y="44450"/>
            <a:ext cx="515143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Méthode RK2 – Stabilité et Précision</a:t>
            </a:r>
          </a:p>
        </p:txBody>
      </p:sp>
      <p:pic>
        <p:nvPicPr>
          <p:cNvPr id="5325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700088"/>
            <a:ext cx="4318000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28650"/>
            <a:ext cx="43180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08375"/>
            <a:ext cx="43180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3508375"/>
            <a:ext cx="43180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 Box 12"/>
          <p:cNvSpPr txBox="1">
            <a:spLocks noChangeArrowheads="1"/>
          </p:cNvSpPr>
          <p:nvPr/>
        </p:nvSpPr>
        <p:spPr bwMode="auto">
          <a:xfrm>
            <a:off x="6300788" y="3363913"/>
            <a:ext cx="1270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h=1.1</a:t>
            </a:r>
          </a:p>
        </p:txBody>
      </p:sp>
      <p:sp>
        <p:nvSpPr>
          <p:cNvPr id="53255" name="Text Box 13"/>
          <p:cNvSpPr txBox="1">
            <a:spLocks noChangeArrowheads="1"/>
          </p:cNvSpPr>
          <p:nvPr/>
        </p:nvSpPr>
        <p:spPr bwMode="auto">
          <a:xfrm>
            <a:off x="1835150" y="3363913"/>
            <a:ext cx="1270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h=0.9</a:t>
            </a:r>
          </a:p>
        </p:txBody>
      </p:sp>
      <p:sp>
        <p:nvSpPr>
          <p:cNvPr id="53256" name="Text Box 14"/>
          <p:cNvSpPr txBox="1">
            <a:spLocks noChangeArrowheads="1"/>
          </p:cNvSpPr>
          <p:nvPr/>
        </p:nvSpPr>
        <p:spPr bwMode="auto">
          <a:xfrm>
            <a:off x="6300788" y="549275"/>
            <a:ext cx="1270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h=0.5</a:t>
            </a:r>
          </a:p>
        </p:txBody>
      </p:sp>
      <p:sp>
        <p:nvSpPr>
          <p:cNvPr id="53257" name="Text Box 15"/>
          <p:cNvSpPr txBox="1">
            <a:spLocks noChangeArrowheads="1"/>
          </p:cNvSpPr>
          <p:nvPr/>
        </p:nvSpPr>
        <p:spPr bwMode="auto">
          <a:xfrm>
            <a:off x="1835150" y="555625"/>
            <a:ext cx="1270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h=0.1</a:t>
            </a:r>
          </a:p>
        </p:txBody>
      </p:sp>
      <p:graphicFrame>
        <p:nvGraphicFramePr>
          <p:cNvPr id="53258" name="Object 16"/>
          <p:cNvGraphicFramePr>
            <a:graphicFrameLocks noChangeAspect="1"/>
          </p:cNvGraphicFramePr>
          <p:nvPr/>
        </p:nvGraphicFramePr>
        <p:xfrm>
          <a:off x="3635375" y="5876925"/>
          <a:ext cx="19542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7" name="Equation" r:id="rId7" imgW="990600" imgH="419100" progId="Equation.DSMT4">
                  <p:embed/>
                </p:oleObj>
              </mc:Choice>
              <mc:Fallback>
                <p:oleObj name="Equation" r:id="rId7" imgW="9906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76925"/>
                        <a:ext cx="1954213" cy="739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Text Box 18"/>
          <p:cNvSpPr txBox="1">
            <a:spLocks noChangeArrowheads="1"/>
          </p:cNvSpPr>
          <p:nvPr/>
        </p:nvSpPr>
        <p:spPr bwMode="auto">
          <a:xfrm>
            <a:off x="1476375" y="1420813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53260" name="Text Box 19"/>
          <p:cNvSpPr txBox="1">
            <a:spLocks noChangeArrowheads="1"/>
          </p:cNvSpPr>
          <p:nvPr/>
        </p:nvSpPr>
        <p:spPr bwMode="auto">
          <a:xfrm>
            <a:off x="5867400" y="1420813"/>
            <a:ext cx="306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moyenne précision</a:t>
            </a:r>
          </a:p>
        </p:txBody>
      </p:sp>
      <p:sp>
        <p:nvSpPr>
          <p:cNvPr id="53261" name="Text Box 20"/>
          <p:cNvSpPr txBox="1">
            <a:spLocks noChangeArrowheads="1"/>
          </p:cNvSpPr>
          <p:nvPr/>
        </p:nvSpPr>
        <p:spPr bwMode="auto">
          <a:xfrm>
            <a:off x="1042988" y="4445000"/>
            <a:ext cx="306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précision médiocre</a:t>
            </a:r>
          </a:p>
        </p:txBody>
      </p:sp>
      <p:sp>
        <p:nvSpPr>
          <p:cNvPr id="53262" name="Text Box 21"/>
          <p:cNvSpPr txBox="1">
            <a:spLocks noChangeArrowheads="1"/>
          </p:cNvSpPr>
          <p:nvPr/>
        </p:nvSpPr>
        <p:spPr bwMode="auto">
          <a:xfrm>
            <a:off x="5003800" y="4013200"/>
            <a:ext cx="245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donc imprécis</a:t>
            </a:r>
          </a:p>
        </p:txBody>
      </p:sp>
      <p:sp>
        <p:nvSpPr>
          <p:cNvPr id="53263" name="Text Box 22"/>
          <p:cNvSpPr txBox="1">
            <a:spLocks noChangeArrowheads="1"/>
          </p:cNvSpPr>
          <p:nvPr/>
        </p:nvSpPr>
        <p:spPr bwMode="auto">
          <a:xfrm>
            <a:off x="395288" y="6165850"/>
            <a:ext cx="3201987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controlée par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Analyse de stabilité du schéma RK2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3284538"/>
            <a:ext cx="8686800" cy="2305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/>
              <a:t>Imaginons que la valeur y</a:t>
            </a:r>
            <a:r>
              <a:rPr lang="fr-FR" altLang="fr-FR" sz="2000" baseline="-25000" smtClean="0"/>
              <a:t>n</a:t>
            </a:r>
            <a:r>
              <a:rPr lang="fr-FR" altLang="fr-FR" sz="2000" smtClean="0"/>
              <a:t> soit erronée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une quantité ε</a:t>
            </a:r>
            <a:r>
              <a:rPr lang="fr-FR" altLang="ja-JP" sz="2000" b="1" baseline="-25000" smtClean="0">
                <a:sym typeface="Symbol" panose="05050102010706020507" pitchFamily="18" charset="2"/>
              </a:rPr>
              <a:t>n</a:t>
            </a:r>
            <a:r>
              <a:rPr lang="fr-FR" altLang="ja-JP" sz="2000" smtClean="0">
                <a:sym typeface="Symbol" panose="05050102010706020507" pitchFamily="18" charset="2"/>
              </a:rPr>
              <a:t> ,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erreur 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propage à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instant n+1 selon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Due à la linéarité des équations, </a:t>
            </a:r>
            <a:r>
              <a:rPr lang="fr-FR" altLang="fr-FR" sz="2800" smtClean="0">
                <a:sym typeface="Wingdings" panose="05000000000000000000" pitchFamily="2" charset="2"/>
              </a:rPr>
              <a:t>- </a:t>
            </a:r>
            <a:r>
              <a:rPr lang="fr-FR" altLang="fr-FR" sz="2000" smtClean="0">
                <a:sym typeface="Symbol" panose="05050102010706020507" pitchFamily="18" charset="2"/>
              </a:rPr>
              <a:t>donne</a:t>
            </a:r>
            <a:endParaRPr lang="fr-FR" altLang="fr-FR" sz="2000" b="1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/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3" name="Text Box 15"/>
          <p:cNvSpPr txBox="1">
            <a:spLocks noChangeArrowheads="1"/>
          </p:cNvSpPr>
          <p:nvPr/>
        </p:nvSpPr>
        <p:spPr bwMode="auto">
          <a:xfrm>
            <a:off x="179388" y="769938"/>
            <a:ext cx="40195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sym typeface="Symbol" panose="05050102010706020507" pitchFamily="18" charset="2"/>
              </a:rPr>
              <a:t> Cette analyse n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est possible que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si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f(t, 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) est affine </a:t>
            </a:r>
            <a:r>
              <a:rPr lang="fr-FR" altLang="fr-FR" sz="2000">
                <a:sym typeface="Symbol" panose="05050102010706020507" pitchFamily="18" charset="2"/>
              </a:rPr>
              <a:t>ou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après linéarisation de f(t, 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)</a:t>
            </a:r>
            <a:endParaRPr lang="fr-FR" altLang="fr-FR" sz="2000" baseline="-250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542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669486"/>
              </p:ext>
            </p:extLst>
          </p:nvPr>
        </p:nvGraphicFramePr>
        <p:xfrm>
          <a:off x="4822825" y="620713"/>
          <a:ext cx="3481388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8" name="Equation" r:id="rId4" imgW="1930320" imgH="685800" progId="Equation.DSMT4">
                  <p:embed/>
                </p:oleObj>
              </mc:Choice>
              <mc:Fallback>
                <p:oleObj name="Equation" r:id="rId4" imgW="1930320" imgH="685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825" y="620713"/>
                        <a:ext cx="3481388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Text Box 18"/>
          <p:cNvSpPr txBox="1">
            <a:spLocks noChangeArrowheads="1"/>
          </p:cNvSpPr>
          <p:nvPr/>
        </p:nvSpPr>
        <p:spPr bwMode="auto">
          <a:xfrm>
            <a:off x="323850" y="5300663"/>
            <a:ext cx="706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et d</a:t>
            </a:r>
            <a:r>
              <a:rPr lang="ja-JP" altLang="fr-FR" sz="1800"/>
              <a:t>’</a:t>
            </a:r>
            <a:r>
              <a:rPr lang="fr-FR" altLang="ja-JP" sz="1800"/>
              <a:t>arrondis se propage depuis l</a:t>
            </a:r>
            <a:r>
              <a:rPr lang="ja-JP" altLang="fr-FR" sz="1800"/>
              <a:t>’</a:t>
            </a:r>
            <a:r>
              <a:rPr lang="fr-FR" altLang="ja-JP" sz="1800"/>
              <a:t>instant initial</a:t>
            </a:r>
          </a:p>
          <a:p>
            <a:pPr eaLnBrk="1" hangingPunct="1"/>
            <a:r>
              <a:rPr lang="fr-FR" altLang="fr-FR" sz="1800"/>
              <a:t>jusqu</a:t>
            </a:r>
            <a:r>
              <a:rPr lang="ja-JP" altLang="fr-FR" sz="1800"/>
              <a:t>’</a:t>
            </a:r>
            <a:r>
              <a:rPr lang="fr-FR" altLang="ja-JP" sz="1800"/>
              <a:t>à l</a:t>
            </a:r>
            <a:r>
              <a:rPr lang="ja-JP" altLang="fr-FR" sz="1800"/>
              <a:t>’</a:t>
            </a:r>
            <a:r>
              <a:rPr lang="fr-FR" altLang="ja-JP" sz="1800"/>
              <a:t>instant n selon </a:t>
            </a:r>
            <a:endParaRPr lang="fr-FR" altLang="fr-FR" sz="1800"/>
          </a:p>
        </p:txBody>
      </p:sp>
      <p:graphicFrame>
        <p:nvGraphicFramePr>
          <p:cNvPr id="5428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96549"/>
              </p:ext>
            </p:extLst>
          </p:nvPr>
        </p:nvGraphicFramePr>
        <p:xfrm>
          <a:off x="922338" y="2349500"/>
          <a:ext cx="78930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9" name="Equation" r:id="rId6" imgW="4330440" imgH="507960" progId="Equation.DSMT4">
                  <p:embed/>
                </p:oleObj>
              </mc:Choice>
              <mc:Fallback>
                <p:oleObj name="Equation" r:id="rId6" imgW="4330440" imgH="5079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2349500"/>
                        <a:ext cx="78930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Text Box 21"/>
          <p:cNvSpPr txBox="1">
            <a:spLocks noChangeArrowheads="1"/>
          </p:cNvSpPr>
          <p:nvPr/>
        </p:nvSpPr>
        <p:spPr bwMode="auto">
          <a:xfrm>
            <a:off x="323850" y="1916113"/>
            <a:ext cx="799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d</a:t>
            </a:r>
            <a:r>
              <a:rPr lang="ja-JP" altLang="fr-FR" sz="2000"/>
              <a:t>’</a:t>
            </a:r>
            <a:r>
              <a:rPr lang="fr-FR" altLang="ja-JP" sz="2000"/>
              <a:t>intégration de la méthode Runge-Kutta d</a:t>
            </a:r>
            <a:r>
              <a:rPr lang="ja-JP" altLang="fr-FR" sz="2000"/>
              <a:t>’</a:t>
            </a:r>
            <a:r>
              <a:rPr lang="fr-FR" altLang="ja-JP" sz="2000"/>
              <a:t>ordre 2 s</a:t>
            </a:r>
            <a:r>
              <a:rPr lang="ja-JP" altLang="fr-FR" sz="2000"/>
              <a:t>’</a:t>
            </a:r>
            <a:r>
              <a:rPr lang="fr-FR" altLang="ja-JP" sz="2000"/>
              <a:t>écrit :</a:t>
            </a:r>
            <a:endParaRPr lang="fr-FR" altLang="fr-FR" sz="2000"/>
          </a:p>
        </p:txBody>
      </p:sp>
      <p:graphicFrame>
        <p:nvGraphicFramePr>
          <p:cNvPr id="54288" name="Object 22"/>
          <p:cNvGraphicFramePr>
            <a:graphicFrameLocks noChangeAspect="1"/>
          </p:cNvGraphicFramePr>
          <p:nvPr/>
        </p:nvGraphicFramePr>
        <p:xfrm>
          <a:off x="1517650" y="3852863"/>
          <a:ext cx="5021263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0" name="Equation" r:id="rId8" imgW="2755900" imgH="508000" progId="Equation.DSMT4">
                  <p:embed/>
                </p:oleObj>
              </mc:Choice>
              <mc:Fallback>
                <p:oleObj name="Equation" r:id="rId8" imgW="2755900" imgH="508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3852863"/>
                        <a:ext cx="5021263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9" name="Text Box 23"/>
          <p:cNvSpPr txBox="1">
            <a:spLocks noChangeArrowheads="1"/>
          </p:cNvSpPr>
          <p:nvPr/>
        </p:nvSpPr>
        <p:spPr bwMode="auto">
          <a:xfrm>
            <a:off x="250825" y="256540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54290" name="Text Box 24"/>
          <p:cNvSpPr txBox="1">
            <a:spLocks noChangeArrowheads="1"/>
          </p:cNvSpPr>
          <p:nvPr/>
        </p:nvSpPr>
        <p:spPr bwMode="auto">
          <a:xfrm>
            <a:off x="439738" y="4149725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graphicFrame>
        <p:nvGraphicFramePr>
          <p:cNvPr id="54291" name="Object 25"/>
          <p:cNvGraphicFramePr>
            <a:graphicFrameLocks noChangeAspect="1"/>
          </p:cNvGraphicFramePr>
          <p:nvPr/>
        </p:nvGraphicFramePr>
        <p:xfrm>
          <a:off x="5981700" y="4438650"/>
          <a:ext cx="30543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1" name="Equation" r:id="rId10" imgW="1676400" imgH="508000" progId="Equation.DSMT4">
                  <p:embed/>
                </p:oleObj>
              </mc:Choice>
              <mc:Fallback>
                <p:oleObj name="Equation" r:id="rId10" imgW="1676400" imgH="5080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4438650"/>
                        <a:ext cx="30543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6"/>
          <p:cNvGraphicFramePr>
            <a:graphicFrameLocks noChangeAspect="1"/>
          </p:cNvGraphicFramePr>
          <p:nvPr/>
        </p:nvGraphicFramePr>
        <p:xfrm>
          <a:off x="3173413" y="5676900"/>
          <a:ext cx="298608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2" name="Equation" r:id="rId12" imgW="1637589" imgH="533169" progId="Equation.DSMT4">
                  <p:embed/>
                </p:oleObj>
              </mc:Choice>
              <mc:Fallback>
                <p:oleObj name="Equation" r:id="rId12" imgW="1637589" imgH="53316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3" y="5676900"/>
                        <a:ext cx="2986087" cy="9921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4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RK2</a:t>
            </a:r>
          </a:p>
        </p:txBody>
      </p:sp>
      <p:sp>
        <p:nvSpPr>
          <p:cNvPr id="56322" name="Text Box 5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graphicFrame>
        <p:nvGraphicFramePr>
          <p:cNvPr id="56323" name="Object 7"/>
          <p:cNvGraphicFramePr>
            <a:graphicFrameLocks noChangeAspect="1"/>
          </p:cNvGraphicFramePr>
          <p:nvPr/>
        </p:nvGraphicFramePr>
        <p:xfrm>
          <a:off x="4476750" y="349250"/>
          <a:ext cx="39116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8" name="Equation" r:id="rId3" imgW="2146300" imgH="533400" progId="Equation.DSMT4">
                  <p:embed/>
                </p:oleObj>
              </mc:Choice>
              <mc:Fallback>
                <p:oleObj name="Equation" r:id="rId3" imgW="21463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49250"/>
                        <a:ext cx="39116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9"/>
          <p:cNvSpPr txBox="1">
            <a:spLocks noChangeArrowheads="1"/>
          </p:cNvSpPr>
          <p:nvPr/>
        </p:nvSpPr>
        <p:spPr bwMode="auto">
          <a:xfrm>
            <a:off x="34925" y="5046663"/>
            <a:ext cx="53799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 </a:t>
            </a:r>
            <a:r>
              <a:rPr lang="fr-FR" altLang="fr-FR" sz="1800" dirty="0"/>
              <a:t>réels négatifs </a:t>
            </a:r>
            <a:r>
              <a:rPr lang="fr-FR" altLang="fr-FR" sz="1800" dirty="0">
                <a:sym typeface="Math5" pitchFamily="2" charset="2"/>
              </a:rPr>
              <a:t>alors</a:t>
            </a:r>
            <a:r>
              <a:rPr lang="fr-FR" altLang="fr-FR" sz="1800" dirty="0"/>
              <a:t> schéma stable si</a:t>
            </a:r>
          </a:p>
        </p:txBody>
      </p:sp>
      <p:graphicFrame>
        <p:nvGraphicFramePr>
          <p:cNvPr id="56325" name="Object 10"/>
          <p:cNvGraphicFramePr>
            <a:graphicFrameLocks noChangeAspect="1"/>
          </p:cNvGraphicFramePr>
          <p:nvPr/>
        </p:nvGraphicFramePr>
        <p:xfrm>
          <a:off x="5535613" y="4868863"/>
          <a:ext cx="33575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9" name="Equation" r:id="rId5" imgW="1866090" imgH="444307" progId="Equation.DSMT4">
                  <p:embed/>
                </p:oleObj>
              </mc:Choice>
              <mc:Fallback>
                <p:oleObj name="Equation" r:id="rId5" imgW="1866090" imgH="44430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4868863"/>
                        <a:ext cx="33575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Text Box 12"/>
          <p:cNvSpPr txBox="1">
            <a:spLocks noChangeArrowheads="1"/>
          </p:cNvSpPr>
          <p:nvPr/>
        </p:nvSpPr>
        <p:spPr bwMode="auto">
          <a:xfrm>
            <a:off x="36513" y="5589588"/>
            <a:ext cx="8328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dirty="0">
                <a:solidFill>
                  <a:srgbClr val="000000"/>
                </a:solidFill>
              </a:rPr>
              <a:t>les</a:t>
            </a:r>
            <a:r>
              <a:rPr lang="fr-FR" altLang="fr-FR" sz="1800" b="1" dirty="0">
                <a:solidFill>
                  <a:srgbClr val="000000"/>
                </a:solidFill>
              </a:rPr>
              <a:t>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 </a:t>
            </a:r>
            <a:r>
              <a:rPr lang="fr-FR" altLang="fr-FR" sz="1800" dirty="0"/>
              <a:t>complexes, </a:t>
            </a:r>
            <a:r>
              <a:rPr lang="fr-FR" altLang="fr-FR" sz="1800" dirty="0">
                <a:sym typeface="Math5" pitchFamily="2" charset="2"/>
              </a:rPr>
              <a:t>il faut déterminer l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intersection des contraintes de stabilité</a:t>
            </a:r>
          </a:p>
          <a:p>
            <a:pPr eaLnBrk="1" hangingPunct="1"/>
            <a:r>
              <a:rPr lang="fr-FR" altLang="fr-FR" sz="1800" dirty="0"/>
              <a:t>et choisir le plus petit h tel que</a:t>
            </a:r>
          </a:p>
        </p:txBody>
      </p:sp>
      <p:graphicFrame>
        <p:nvGraphicFramePr>
          <p:cNvPr id="56327" name="Object 13"/>
          <p:cNvGraphicFramePr>
            <a:graphicFrameLocks noChangeAspect="1"/>
          </p:cNvGraphicFramePr>
          <p:nvPr/>
        </p:nvGraphicFramePr>
        <p:xfrm>
          <a:off x="3563938" y="5876925"/>
          <a:ext cx="16906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0" name="Equation" r:id="rId7" imgW="1180588" imgH="482391" progId="Equation.3">
                  <p:embed/>
                </p:oleObj>
              </mc:Choice>
              <mc:Fallback>
                <p:oleObj name="Equation" r:id="rId7" imgW="1180588" imgH="48239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876925"/>
                        <a:ext cx="16906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14"/>
          <p:cNvSpPr txBox="1">
            <a:spLocks noChangeArrowheads="1"/>
          </p:cNvSpPr>
          <p:nvPr/>
        </p:nvSpPr>
        <p:spPr bwMode="auto">
          <a:xfrm>
            <a:off x="34925" y="4508500"/>
            <a:ext cx="769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</a:t>
            </a:r>
            <a:r>
              <a:rPr lang="fr-FR" altLang="fr-FR" sz="1800" dirty="0">
                <a:sym typeface="Math5" pitchFamily="2" charset="2"/>
              </a:rPr>
              <a:t> et s’</a:t>
            </a:r>
            <a:r>
              <a:rPr lang="fr-FR" altLang="ja-JP" sz="1800" dirty="0">
                <a:sym typeface="Math5" pitchFamily="2" charset="2"/>
              </a:rPr>
              <a:t>il existe au moins un </a:t>
            </a:r>
            <a:r>
              <a:rPr lang="fr-FR" altLang="ja-JP" sz="1800" dirty="0" smtClean="0">
                <a:latin typeface="Symbol" panose="05050102010706020507" pitchFamily="18" charset="2"/>
                <a:sym typeface="Math5" pitchFamily="2" charset="2"/>
              </a:rPr>
              <a:t>l</a:t>
            </a:r>
            <a:r>
              <a:rPr lang="fr-FR" altLang="ja-JP" sz="1800" baseline="-25000" dirty="0" smtClean="0"/>
              <a:t>i </a:t>
            </a:r>
            <a:r>
              <a:rPr lang="fr-FR" altLang="ja-JP" sz="1800" dirty="0"/>
              <a:t>&gt; 0 alors schéma instable</a:t>
            </a:r>
            <a:endParaRPr lang="fr-FR" altLang="fr-FR" sz="1800" dirty="0"/>
          </a:p>
        </p:txBody>
      </p:sp>
      <p:sp>
        <p:nvSpPr>
          <p:cNvPr id="56329" name="Text Box 15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56330" name="Object 16"/>
          <p:cNvGraphicFramePr>
            <a:graphicFrameLocks noChangeAspect="1"/>
          </p:cNvGraphicFramePr>
          <p:nvPr/>
        </p:nvGraphicFramePr>
        <p:xfrm>
          <a:off x="6034088" y="20002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1" name="Equation" r:id="rId9" imgW="799753" imgH="241195" progId="Equation.3">
                  <p:embed/>
                </p:oleObj>
              </mc:Choice>
              <mc:Fallback>
                <p:oleObj name="Equation" r:id="rId9" imgW="799753" imgH="2411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20002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Text Box 17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graphicFrame>
        <p:nvGraphicFramePr>
          <p:cNvPr id="5633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05049"/>
              </p:ext>
            </p:extLst>
          </p:nvPr>
        </p:nvGraphicFramePr>
        <p:xfrm>
          <a:off x="407988" y="2289175"/>
          <a:ext cx="8389937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2" name="Equation" r:id="rId11" imgW="5143320" imgH="1358640" progId="Equation.DSMT4">
                  <p:embed/>
                </p:oleObj>
              </mc:Choice>
              <mc:Fallback>
                <p:oleObj name="Equation" r:id="rId11" imgW="5143320" imgH="1358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2289175"/>
                        <a:ext cx="8389937" cy="221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5" name="Object 2"/>
          <p:cNvGraphicFramePr>
            <a:graphicFrameLocks noChangeAspect="1"/>
          </p:cNvGraphicFramePr>
          <p:nvPr/>
        </p:nvGraphicFramePr>
        <p:xfrm>
          <a:off x="2252663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3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5734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Text Box 6"/>
          <p:cNvSpPr txBox="1">
            <a:spLocks noChangeArrowheads="1"/>
          </p:cNvSpPr>
          <p:nvPr/>
        </p:nvSpPr>
        <p:spPr bwMode="auto">
          <a:xfrm>
            <a:off x="1116013" y="3500438"/>
            <a:ext cx="7056437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n=1,5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n=0,2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1800" i="1"/>
              <a:t>Pour déterminer graphiquement la condition de stabilité, vous inspirer de stabilite.m</a:t>
            </a:r>
            <a:endParaRPr lang="fr-FR" altLang="fr-FR" sz="2000"/>
          </a:p>
          <a:p>
            <a:pPr lvl="2" algn="just"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Mettre en évidence les instabilités de la méthode RK2</a:t>
            </a:r>
          </a:p>
        </p:txBody>
      </p:sp>
      <p:sp>
        <p:nvSpPr>
          <p:cNvPr id="57349" name="Text Box 7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69" name="Group 12"/>
          <p:cNvGrpSpPr>
            <a:grpSpLocks/>
          </p:cNvGrpSpPr>
          <p:nvPr/>
        </p:nvGrpSpPr>
        <p:grpSpPr bwMode="auto">
          <a:xfrm>
            <a:off x="66675" y="260350"/>
            <a:ext cx="4649788" cy="6481763"/>
            <a:chOff x="42" y="164"/>
            <a:chExt cx="3246" cy="4083"/>
          </a:xfrm>
        </p:grpSpPr>
        <p:pic>
          <p:nvPicPr>
            <p:cNvPr id="5837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" y="2206"/>
              <a:ext cx="3246" cy="2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2" name="Rectangle 6"/>
            <p:cNvSpPr>
              <a:spLocks noChangeArrowheads="1"/>
            </p:cNvSpPr>
            <p:nvPr/>
          </p:nvSpPr>
          <p:spPr bwMode="auto">
            <a:xfrm>
              <a:off x="2200" y="2795"/>
              <a:ext cx="76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h</a:t>
              </a:r>
              <a:r>
                <a:rPr lang="fr-FR" altLang="fr-FR" sz="1800" baseline="-25000"/>
                <a:t>c</a:t>
              </a:r>
              <a:r>
                <a:rPr lang="fr-FR" altLang="fr-FR" sz="1800"/>
                <a:t>=1.394</a:t>
              </a:r>
            </a:p>
          </p:txBody>
        </p:sp>
        <p:sp>
          <p:nvSpPr>
            <p:cNvPr id="58373" name="Oval 7"/>
            <p:cNvSpPr>
              <a:spLocks noChangeArrowheads="1"/>
            </p:cNvSpPr>
            <p:nvPr/>
          </p:nvSpPr>
          <p:spPr bwMode="auto">
            <a:xfrm>
              <a:off x="2871" y="2976"/>
              <a:ext cx="91" cy="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grpSp>
          <p:nvGrpSpPr>
            <p:cNvPr id="58374" name="Group 10"/>
            <p:cNvGrpSpPr>
              <a:grpSpLocks/>
            </p:cNvGrpSpPr>
            <p:nvPr/>
          </p:nvGrpSpPr>
          <p:grpSpPr bwMode="auto">
            <a:xfrm>
              <a:off x="68" y="164"/>
              <a:ext cx="3138" cy="2041"/>
              <a:chOff x="377" y="164"/>
              <a:chExt cx="3138" cy="2041"/>
            </a:xfrm>
          </p:grpSpPr>
          <p:pic>
            <p:nvPicPr>
              <p:cNvPr id="58375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" y="164"/>
                <a:ext cx="3142" cy="20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376" name="Oval 8"/>
              <p:cNvSpPr>
                <a:spLocks noChangeArrowheads="1"/>
              </p:cNvSpPr>
              <p:nvPr/>
            </p:nvSpPr>
            <p:spPr bwMode="auto">
              <a:xfrm>
                <a:off x="1633" y="1768"/>
                <a:ext cx="92" cy="9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58377" name="Rectangle 9"/>
              <p:cNvSpPr>
                <a:spLocks noChangeArrowheads="1"/>
              </p:cNvSpPr>
              <p:nvPr/>
            </p:nvSpPr>
            <p:spPr bwMode="auto">
              <a:xfrm>
                <a:off x="1701" y="1570"/>
                <a:ext cx="585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h</a:t>
                </a:r>
                <a:r>
                  <a:rPr lang="fr-FR" altLang="fr-FR" sz="1800" baseline="-25000"/>
                  <a:t>c</a:t>
                </a:r>
                <a:r>
                  <a:rPr lang="fr-FR" altLang="fr-FR" sz="1800"/>
                  <a:t>=1.0</a:t>
                </a:r>
              </a:p>
            </p:txBody>
          </p:sp>
        </p:grpSp>
      </p:grpSp>
      <p:sp>
        <p:nvSpPr>
          <p:cNvPr id="58370" name="Text Box 11"/>
          <p:cNvSpPr txBox="1">
            <a:spLocks noChangeArrowheads="1"/>
          </p:cNvSpPr>
          <p:nvPr/>
        </p:nvSpPr>
        <p:spPr bwMode="auto">
          <a:xfrm>
            <a:off x="4787900" y="263525"/>
            <a:ext cx="4545013" cy="656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rgbClr val="228B22"/>
                </a:solidFill>
                <a:latin typeface="Courier New" panose="02070309020205020404" pitchFamily="49" charset="0"/>
              </a:rPr>
              <a:t>% stabilite RK2 THEORIQUE</a:t>
            </a:r>
            <a:endParaRPr lang="fr-FR" altLang="fr-FR" sz="20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%2eme cas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n=0.2;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p2=1;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r1=-n-sqrt(n*n-p2);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r2=-n+sqrt(n*n-p2);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ordre 2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h=0:0.001:2.5;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un=ones(length(h), 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 un,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lambda=r1;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P=abs(1+h*lambda+0.5*h.^2*lambda^2);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plot(h,P,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lambda=r2;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P=abs(1+h*lambda+0.5*h.^2*lambda^2);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plot(h,P,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grid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xlabel(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'h'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title([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'Stabilite RK2 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'n='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num2str(n)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 p2='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num2str(p2)]);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4"/>
          <p:cNvSpPr>
            <a:spLocks noChangeArrowheads="1"/>
          </p:cNvSpPr>
          <p:nvPr/>
        </p:nvSpPr>
        <p:spPr bwMode="auto">
          <a:xfrm>
            <a:off x="255588" y="473075"/>
            <a:ext cx="38877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sp>
        <p:nvSpPr>
          <p:cNvPr id="59394" name="Rectangle 5"/>
          <p:cNvSpPr>
            <a:spLocks noChangeArrowheads="1"/>
          </p:cNvSpPr>
          <p:nvPr/>
        </p:nvSpPr>
        <p:spPr bwMode="auto">
          <a:xfrm>
            <a:off x="4716463" y="511175"/>
            <a:ext cx="439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=1.394</a:t>
            </a:r>
          </a:p>
        </p:txBody>
      </p:sp>
      <p:sp>
        <p:nvSpPr>
          <p:cNvPr id="59395" name="Text Box 6"/>
          <p:cNvSpPr txBox="1">
            <a:spLocks noChangeArrowheads="1"/>
          </p:cNvSpPr>
          <p:nvPr/>
        </p:nvSpPr>
        <p:spPr bwMode="auto">
          <a:xfrm>
            <a:off x="3276600" y="44450"/>
            <a:ext cx="362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 de RK2</a:t>
            </a:r>
          </a:p>
        </p:txBody>
      </p:sp>
      <p:pic>
        <p:nvPicPr>
          <p:cNvPr id="5939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08050"/>
            <a:ext cx="43180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57600"/>
            <a:ext cx="43180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904875"/>
            <a:ext cx="43180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3733800"/>
            <a:ext cx="431800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Line 12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401" name="Rectangle 13"/>
          <p:cNvSpPr>
            <a:spLocks noChangeArrowheads="1"/>
          </p:cNvSpPr>
          <p:nvPr/>
        </p:nvSpPr>
        <p:spPr bwMode="auto">
          <a:xfrm>
            <a:off x="3059113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59402" name="Rectangle 14"/>
          <p:cNvSpPr>
            <a:spLocks noChangeArrowheads="1"/>
          </p:cNvSpPr>
          <p:nvPr/>
        </p:nvSpPr>
        <p:spPr bwMode="auto">
          <a:xfrm>
            <a:off x="298767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59403" name="Rectangle 15"/>
          <p:cNvSpPr>
            <a:spLocks noChangeArrowheads="1"/>
          </p:cNvSpPr>
          <p:nvPr/>
        </p:nvSpPr>
        <p:spPr bwMode="auto">
          <a:xfrm>
            <a:off x="7566025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59404" name="Rectangle 16"/>
          <p:cNvSpPr>
            <a:spLocks noChangeArrowheads="1"/>
          </p:cNvSpPr>
          <p:nvPr/>
        </p:nvSpPr>
        <p:spPr bwMode="auto">
          <a:xfrm>
            <a:off x="756602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2888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Méthode de </a:t>
            </a:r>
            <a:r>
              <a:rPr lang="fr-FR" altLang="fr-FR" sz="2400" smtClean="0"/>
              <a:t>Runge-Kutta -  Ordre N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87900" y="692150"/>
            <a:ext cx="4356100" cy="280828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Principe :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pour obtenir une approximation à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l’</a:t>
            </a:r>
            <a:r>
              <a:rPr lang="fr-FR" altLang="ja-JP" sz="2000" smtClean="0"/>
              <a:t>ordre N inclus, on combine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linéairement des estimations de f(t,y)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en un  nombre N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instants t</a:t>
            </a:r>
            <a:r>
              <a:rPr lang="fr-FR" altLang="ja-JP" sz="2000" baseline="-25000" smtClean="0"/>
              <a:t>n,j</a:t>
            </a:r>
            <a:r>
              <a:rPr lang="fr-FR" altLang="ja-JP" sz="2000" smtClean="0"/>
              <a:t> dans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l’intervalle [t</a:t>
            </a:r>
            <a:r>
              <a:rPr lang="fr-FR" altLang="ja-JP" sz="2000" baseline="-25000" smtClean="0"/>
              <a:t>n</a:t>
            </a:r>
            <a:r>
              <a:rPr lang="fr-FR" altLang="ja-JP" sz="2000" smtClean="0"/>
              <a:t>, t</a:t>
            </a:r>
            <a:r>
              <a:rPr lang="fr-FR" altLang="ja-JP" sz="2000" baseline="-25000" smtClean="0"/>
              <a:t>n</a:t>
            </a:r>
            <a:r>
              <a:rPr lang="fr-FR" altLang="ja-JP" sz="2000" smtClean="0"/>
              <a:t>+Δ</a:t>
            </a:r>
            <a:r>
              <a:rPr lang="fr-FR" altLang="ja-JP" sz="2000" smtClean="0">
                <a:sym typeface="Symbol" panose="05050102010706020507" pitchFamily="18" charset="2"/>
              </a:rPr>
              <a:t>t]</a:t>
            </a:r>
            <a:r>
              <a:rPr lang="en-US" altLang="ja-JP" sz="2000" smtClean="0"/>
              <a:t> </a:t>
            </a:r>
            <a:endParaRPr lang="fr-FR" altLang="fr-FR" sz="2000" smtClean="0"/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4" name="Rectangle 9"/>
          <p:cNvSpPr>
            <a:spLocks noChangeArrowheads="1"/>
          </p:cNvSpPr>
          <p:nvPr/>
        </p:nvSpPr>
        <p:spPr bwMode="auto">
          <a:xfrm>
            <a:off x="-1116013" y="2276475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5" name="Rectangle 10"/>
          <p:cNvSpPr>
            <a:spLocks noChangeArrowheads="1"/>
          </p:cNvSpPr>
          <p:nvPr/>
        </p:nvSpPr>
        <p:spPr bwMode="auto">
          <a:xfrm>
            <a:off x="0" y="1844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60426" name="Object 11"/>
          <p:cNvGraphicFramePr>
            <a:graphicFrameLocks noChangeAspect="1"/>
          </p:cNvGraphicFramePr>
          <p:nvPr/>
        </p:nvGraphicFramePr>
        <p:xfrm>
          <a:off x="179388" y="692150"/>
          <a:ext cx="4464050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5" r:id="rId4" imgW="4700016" imgH="2816352" progId="Draw">
                  <p:embed/>
                </p:oleObj>
              </mc:Choice>
              <mc:Fallback>
                <p:oleObj r:id="rId4" imgW="4700016" imgH="2816352" progId="Draw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92150"/>
                        <a:ext cx="4464050" cy="266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2"/>
          <p:cNvSpPr txBox="1">
            <a:spLocks noChangeArrowheads="1"/>
          </p:cNvSpPr>
          <p:nvPr/>
        </p:nvSpPr>
        <p:spPr bwMode="auto">
          <a:xfrm>
            <a:off x="2051050" y="3692525"/>
            <a:ext cx="4881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Méthode de Runge-Kutta d</a:t>
            </a:r>
            <a:r>
              <a:rPr lang="ja-JP" altLang="fr-FR"/>
              <a:t>’</a:t>
            </a:r>
            <a:r>
              <a:rPr lang="fr-FR" altLang="ja-JP"/>
              <a:t>ordre 4</a:t>
            </a:r>
            <a:endParaRPr lang="fr-FR" altLang="fr-FR"/>
          </a:p>
        </p:txBody>
      </p:sp>
      <p:graphicFrame>
        <p:nvGraphicFramePr>
          <p:cNvPr id="604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828280"/>
              </p:ext>
            </p:extLst>
          </p:nvPr>
        </p:nvGraphicFramePr>
        <p:xfrm>
          <a:off x="661988" y="4221163"/>
          <a:ext cx="7820025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6" name="Equation" r:id="rId6" imgW="4343400" imgH="1295280" progId="Equation.DSMT4">
                  <p:embed/>
                </p:oleObj>
              </mc:Choice>
              <mc:Fallback>
                <p:oleObj name="Equation" r:id="rId6" imgW="4343400" imgH="12952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221163"/>
                        <a:ext cx="7820025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RK4 - Programmation</a:t>
            </a:r>
          </a:p>
        </p:txBody>
      </p:sp>
      <p:sp>
        <p:nvSpPr>
          <p:cNvPr id="62466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624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2468" name="Object 6"/>
          <p:cNvGraphicFramePr>
            <a:graphicFrameLocks noChangeAspect="1"/>
          </p:cNvGraphicFramePr>
          <p:nvPr/>
        </p:nvGraphicFramePr>
        <p:xfrm>
          <a:off x="3995738" y="1582738"/>
          <a:ext cx="27416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3" name="Equation" r:id="rId4" imgW="1371600" imgH="419100" progId="Equation.DSMT4">
                  <p:embed/>
                </p:oleObj>
              </mc:Choice>
              <mc:Fallback>
                <p:oleObj name="Equation" r:id="rId4" imgW="13716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582738"/>
                        <a:ext cx="27416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Développer une fonction Matlab (rk4.m) résolvant l</a:t>
            </a:r>
            <a:r>
              <a:rPr lang="ja-JP" altLang="fr-FR" sz="2000"/>
              <a:t>’</a:t>
            </a:r>
            <a:r>
              <a:rPr lang="fr-FR" altLang="ja-JP" sz="2000"/>
              <a:t>EDO d</a:t>
            </a:r>
            <a:r>
              <a:rPr lang="ja-JP" altLang="fr-FR" sz="2000"/>
              <a:t>’</a:t>
            </a:r>
            <a:r>
              <a:rPr lang="fr-FR" altLang="ja-JP" sz="2000"/>
              <a:t>ordre 2 à l</a:t>
            </a:r>
            <a:r>
              <a:rPr lang="ja-JP" altLang="fr-FR" sz="2000"/>
              <a:t>’</a:t>
            </a:r>
            <a:r>
              <a:rPr lang="fr-FR" altLang="ja-JP" sz="2000"/>
              <a:t>aide de la méthode de Runge et Kutta 4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 	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Superposer la solution analytique pour évaluer la précision de la méthode RK4 en fonction du pas de temps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200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Il y a-t-il une limite de stabilité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4"/>
          <p:cNvSpPr>
            <a:spLocks noChangeArrowheads="1"/>
          </p:cNvSpPr>
          <p:nvPr/>
        </p:nvSpPr>
        <p:spPr bwMode="auto">
          <a:xfrm>
            <a:off x="457200" y="-171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RK4 - Programmation</a:t>
            </a:r>
          </a:p>
        </p:txBody>
      </p:sp>
      <p:sp>
        <p:nvSpPr>
          <p:cNvPr id="63490" name="Text Box 5"/>
          <p:cNvSpPr txBox="1">
            <a:spLocks noChangeArrowheads="1"/>
          </p:cNvSpPr>
          <p:nvPr/>
        </p:nvSpPr>
        <p:spPr bwMode="auto">
          <a:xfrm>
            <a:off x="481013" y="966788"/>
            <a:ext cx="7762875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rk4(@equadif,[ti tf dt],[y1i y2i y3i], options)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methode Runge et Kutta explicite ordre 4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[tvec, yvec]=rk4(f, param, y0, options)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intervalle d'etude en temps et pas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t0 = param(1);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tf = param(2);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h  = param(3);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dans la 1ere ligne du tableau yvec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tvec(n) = t0;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yvec(n, :) = y0;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Intialisation des parametres de la methode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A = [1/6; 1/3; 1/3; 1/6];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4"/>
          <p:cNvSpPr txBox="1">
            <a:spLocks noChangeArrowheads="1"/>
          </p:cNvSpPr>
          <p:nvPr/>
        </p:nvSpPr>
        <p:spPr bwMode="auto">
          <a:xfrm>
            <a:off x="323528" y="-34916"/>
            <a:ext cx="6843540" cy="7417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(t&lt;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tf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calcul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des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derivees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en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debut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de pas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calcul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des valeurs en milieu de pas : 1ere approximation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endParaRPr lang="fr-FR" altLang="fr-FR" sz="1400" b="1" dirty="0" smtClean="0"/>
          </a:p>
          <a:p>
            <a:pPr eaLnBrk="1" hangingPunct="1"/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calcul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des valeurs en milieu de pas : 2eme approximation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 eaLnBrk="1" hangingPunct="1"/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en fin de pas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/>
            <a:endParaRPr lang="fr-FR" altLang="fr-FR" sz="1400" b="1" dirty="0" smtClean="0"/>
          </a:p>
          <a:p>
            <a:pPr eaLnBrk="1" hangingPunct="1"/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globale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=h*(A(1)*f1+A(2)*f2+A(3)*f3+A(4)*f4);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y=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y+dy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pas suivant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t=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t+h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stockage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(n)=t;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(n, :)=y;    </a:t>
            </a:r>
            <a:endParaRPr lang="fr-FR" altLang="fr-FR" sz="1400" b="1" dirty="0"/>
          </a:p>
          <a:p>
            <a:pPr eaLnBrk="1" hangingPunct="1"/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 b="1" dirty="0"/>
          </a:p>
          <a:p>
            <a:pPr eaLnBrk="1" hangingPunct="1"/>
            <a:endParaRPr lang="fr-FR" altLang="fr-FR" sz="1400" b="1" dirty="0"/>
          </a:p>
          <a:p>
            <a:pPr eaLnBrk="1" hangingPunct="1"/>
            <a:endParaRPr lang="fr-FR" altLang="fr-FR" sz="1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"/>
          <a:stretch>
            <a:fillRect/>
          </a:stretch>
        </p:blipFill>
        <p:spPr bwMode="auto">
          <a:xfrm>
            <a:off x="395288" y="635000"/>
            <a:ext cx="43180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8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652463"/>
            <a:ext cx="4318000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3500438"/>
            <a:ext cx="4318000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2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429000"/>
            <a:ext cx="431800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 Box 2"/>
          <p:cNvSpPr txBox="1">
            <a:spLocks noChangeArrowheads="1"/>
          </p:cNvSpPr>
          <p:nvPr/>
        </p:nvSpPr>
        <p:spPr bwMode="auto">
          <a:xfrm>
            <a:off x="1725613" y="0"/>
            <a:ext cx="515143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Méthode RK4 – Stabilité et Précision</a:t>
            </a:r>
          </a:p>
        </p:txBody>
      </p:sp>
      <p:graphicFrame>
        <p:nvGraphicFramePr>
          <p:cNvPr id="65542" name="Object 11"/>
          <p:cNvGraphicFramePr>
            <a:graphicFrameLocks noChangeAspect="1"/>
          </p:cNvGraphicFramePr>
          <p:nvPr/>
        </p:nvGraphicFramePr>
        <p:xfrm>
          <a:off x="3635375" y="5876925"/>
          <a:ext cx="19542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7" imgW="990600" imgH="419100" progId="Equation.DSMT4">
                  <p:embed/>
                </p:oleObj>
              </mc:Choice>
              <mc:Fallback>
                <p:oleObj name="Equation" r:id="rId7" imgW="990600" imgH="419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76925"/>
                        <a:ext cx="1954213" cy="739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Text Box 12"/>
          <p:cNvSpPr txBox="1">
            <a:spLocks noChangeArrowheads="1"/>
          </p:cNvSpPr>
          <p:nvPr/>
        </p:nvSpPr>
        <p:spPr bwMode="auto">
          <a:xfrm>
            <a:off x="1476375" y="1420813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65544" name="Text Box 14"/>
          <p:cNvSpPr txBox="1">
            <a:spLocks noChangeArrowheads="1"/>
          </p:cNvSpPr>
          <p:nvPr/>
        </p:nvSpPr>
        <p:spPr bwMode="auto">
          <a:xfrm>
            <a:off x="1619250" y="4292600"/>
            <a:ext cx="2127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précision </a:t>
            </a:r>
          </a:p>
          <a:p>
            <a:pPr eaLnBrk="1" hangingPunct="1"/>
            <a:r>
              <a:rPr lang="fr-FR" altLang="fr-FR" sz="1800"/>
              <a:t>médiocre</a:t>
            </a:r>
          </a:p>
        </p:txBody>
      </p:sp>
      <p:sp>
        <p:nvSpPr>
          <p:cNvPr id="65545" name="Text Box 15"/>
          <p:cNvSpPr txBox="1">
            <a:spLocks noChangeArrowheads="1"/>
          </p:cNvSpPr>
          <p:nvPr/>
        </p:nvSpPr>
        <p:spPr bwMode="auto">
          <a:xfrm>
            <a:off x="5003800" y="3797300"/>
            <a:ext cx="245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donc imprécis</a:t>
            </a:r>
          </a:p>
        </p:txBody>
      </p:sp>
      <p:sp>
        <p:nvSpPr>
          <p:cNvPr id="65546" name="Text Box 16"/>
          <p:cNvSpPr txBox="1">
            <a:spLocks noChangeArrowheads="1"/>
          </p:cNvSpPr>
          <p:nvPr/>
        </p:nvSpPr>
        <p:spPr bwMode="auto">
          <a:xfrm>
            <a:off x="395288" y="6165850"/>
            <a:ext cx="3201987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controlée par :</a:t>
            </a:r>
          </a:p>
        </p:txBody>
      </p:sp>
      <p:sp>
        <p:nvSpPr>
          <p:cNvPr id="65547" name="Text Box 20"/>
          <p:cNvSpPr txBox="1">
            <a:spLocks noChangeArrowheads="1"/>
          </p:cNvSpPr>
          <p:nvPr/>
        </p:nvSpPr>
        <p:spPr bwMode="auto">
          <a:xfrm>
            <a:off x="5940425" y="1196975"/>
            <a:ext cx="283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65548" name="Rectangle 27"/>
          <p:cNvSpPr>
            <a:spLocks noChangeArrowheads="1"/>
          </p:cNvSpPr>
          <p:nvPr/>
        </p:nvSpPr>
        <p:spPr bwMode="auto">
          <a:xfrm>
            <a:off x="6838950" y="0"/>
            <a:ext cx="23050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  <a:endParaRPr lang="fr-FR" altLang="fr-FR" sz="20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1" name="Object 17"/>
          <p:cNvGraphicFramePr>
            <a:graphicFrameLocks noChangeAspect="1"/>
          </p:cNvGraphicFramePr>
          <p:nvPr/>
        </p:nvGraphicFramePr>
        <p:xfrm>
          <a:off x="1619250" y="2492375"/>
          <a:ext cx="51133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4" name="Equation" r:id="rId3" imgW="2997200" imgH="508000" progId="Equation.DSMT4">
                  <p:embed/>
                </p:oleObj>
              </mc:Choice>
              <mc:Fallback>
                <p:oleObj name="Equation" r:id="rId3" imgW="2997200" imgH="508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492375"/>
                        <a:ext cx="51133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2" name="Object 5"/>
          <p:cNvGraphicFramePr>
            <a:graphicFrameLocks noChangeAspect="1"/>
          </p:cNvGraphicFramePr>
          <p:nvPr/>
        </p:nvGraphicFramePr>
        <p:xfrm>
          <a:off x="4511675" y="454025"/>
          <a:ext cx="41640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5" name="Equation" r:id="rId5" imgW="2552700" imgH="508000" progId="Equation.DSMT4">
                  <p:embed/>
                </p:oleObj>
              </mc:Choice>
              <mc:Fallback>
                <p:oleObj name="Equation" r:id="rId5" imgW="2552700" imgH="50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454025"/>
                        <a:ext cx="416401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Text Box 7"/>
          <p:cNvSpPr txBox="1">
            <a:spLocks noChangeArrowheads="1"/>
          </p:cNvSpPr>
          <p:nvPr/>
        </p:nvSpPr>
        <p:spPr bwMode="auto">
          <a:xfrm>
            <a:off x="250825" y="4797425"/>
            <a:ext cx="5477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b="1" dirty="0">
                <a:solidFill>
                  <a:srgbClr val="A50021"/>
                </a:solidFill>
              </a:rPr>
              <a:t>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 négatifs </a:t>
            </a:r>
            <a:r>
              <a:rPr lang="fr-FR" altLang="fr-FR" sz="1800" dirty="0">
                <a:sym typeface="Math5" pitchFamily="2" charset="2"/>
              </a:rPr>
              <a:t>alors</a:t>
            </a:r>
            <a:r>
              <a:rPr lang="fr-FR" altLang="fr-FR" sz="1800" dirty="0"/>
              <a:t> schéma stable si</a:t>
            </a:r>
          </a:p>
        </p:txBody>
      </p:sp>
      <p:graphicFrame>
        <p:nvGraphicFramePr>
          <p:cNvPr id="66564" name="Object 8"/>
          <p:cNvGraphicFramePr>
            <a:graphicFrameLocks noChangeAspect="1"/>
          </p:cNvGraphicFramePr>
          <p:nvPr/>
        </p:nvGraphicFramePr>
        <p:xfrm>
          <a:off x="5607050" y="4645025"/>
          <a:ext cx="33575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6" name="Equation" r:id="rId7" imgW="1866090" imgH="444307" progId="Equation.3">
                  <p:embed/>
                </p:oleObj>
              </mc:Choice>
              <mc:Fallback>
                <p:oleObj name="Equation" r:id="rId7" imgW="1866090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4645025"/>
                        <a:ext cx="33575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9"/>
          <p:cNvSpPr txBox="1">
            <a:spLocks noChangeArrowheads="1"/>
          </p:cNvSpPr>
          <p:nvPr/>
        </p:nvSpPr>
        <p:spPr bwMode="auto">
          <a:xfrm>
            <a:off x="250825" y="5438775"/>
            <a:ext cx="8224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b="1" dirty="0">
                <a:solidFill>
                  <a:srgbClr val="A50021"/>
                </a:solidFill>
              </a:rPr>
              <a:t>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complexes </a:t>
            </a:r>
            <a:r>
              <a:rPr lang="fr-FR" altLang="fr-FR" sz="1800" dirty="0">
                <a:sym typeface="Math5" pitchFamily="2" charset="2"/>
              </a:rPr>
              <a:t>il faut déterminer l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intersection des contraintes de stabilité</a:t>
            </a:r>
            <a:endParaRPr lang="fr-FR" altLang="fr-FR" sz="1800" dirty="0"/>
          </a:p>
        </p:txBody>
      </p:sp>
      <p:graphicFrame>
        <p:nvGraphicFramePr>
          <p:cNvPr id="66566" name="Object 10"/>
          <p:cNvGraphicFramePr>
            <a:graphicFrameLocks noChangeAspect="1"/>
          </p:cNvGraphicFramePr>
          <p:nvPr/>
        </p:nvGraphicFramePr>
        <p:xfrm>
          <a:off x="1436688" y="5786438"/>
          <a:ext cx="364013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7" name="Equation" r:id="rId9" imgW="2171700" imgH="482600" progId="Equation.3">
                  <p:embed/>
                </p:oleObj>
              </mc:Choice>
              <mc:Fallback>
                <p:oleObj name="Equation" r:id="rId9" imgW="21717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5786438"/>
                        <a:ext cx="364013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Rectangle 11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RK4</a:t>
            </a:r>
          </a:p>
        </p:txBody>
      </p:sp>
      <p:sp>
        <p:nvSpPr>
          <p:cNvPr id="66568" name="Text Box 12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sp>
        <p:nvSpPr>
          <p:cNvPr id="66569" name="Text Box 14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66570" name="Object 15"/>
          <p:cNvGraphicFramePr>
            <a:graphicFrameLocks noChangeAspect="1"/>
          </p:cNvGraphicFramePr>
          <p:nvPr/>
        </p:nvGraphicFramePr>
        <p:xfrm>
          <a:off x="6084888" y="20510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8" name="Equation" r:id="rId11" imgW="799753" imgH="241195" progId="Equation.3">
                  <p:embed/>
                </p:oleObj>
              </mc:Choice>
              <mc:Fallback>
                <p:oleObj name="Equation" r:id="rId11" imgW="799753" imgH="2411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510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Text Box 16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sp>
        <p:nvSpPr>
          <p:cNvPr id="66572" name="Text Box 18"/>
          <p:cNvSpPr txBox="1">
            <a:spLocks noChangeArrowheads="1"/>
          </p:cNvSpPr>
          <p:nvPr/>
        </p:nvSpPr>
        <p:spPr bwMode="auto">
          <a:xfrm>
            <a:off x="376238" y="3592513"/>
            <a:ext cx="4078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reste stable si pour tout </a:t>
            </a:r>
            <a:r>
              <a:rPr lang="el-GR" altLang="fr-FR" sz="1800"/>
              <a:t>λ</a:t>
            </a:r>
            <a:r>
              <a:rPr lang="fr-FR" altLang="fr-FR" sz="1800" baseline="-25000"/>
              <a:t>i</a:t>
            </a:r>
            <a:r>
              <a:rPr lang="fr-FR" altLang="fr-FR" sz="1800"/>
              <a:t> :</a:t>
            </a:r>
            <a:endParaRPr lang="el-GR" altLang="fr-FR" sz="1800"/>
          </a:p>
        </p:txBody>
      </p:sp>
      <p:graphicFrame>
        <p:nvGraphicFramePr>
          <p:cNvPr id="66573" name="Object 19"/>
          <p:cNvGraphicFramePr>
            <a:graphicFrameLocks noChangeAspect="1"/>
          </p:cNvGraphicFramePr>
          <p:nvPr/>
        </p:nvGraphicFramePr>
        <p:xfrm>
          <a:off x="4500563" y="3409950"/>
          <a:ext cx="364013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9" name="Equation" r:id="rId13" imgW="2171700" imgH="482600" progId="Equation.3">
                  <p:embed/>
                </p:oleObj>
              </mc:Choice>
              <mc:Fallback>
                <p:oleObj name="Equation" r:id="rId13" imgW="21717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409950"/>
                        <a:ext cx="3640137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4" name="Text Box 20"/>
          <p:cNvSpPr txBox="1">
            <a:spLocks noChangeArrowheads="1"/>
          </p:cNvSpPr>
          <p:nvPr/>
        </p:nvSpPr>
        <p:spPr bwMode="auto">
          <a:xfrm>
            <a:off x="250825" y="4214813"/>
            <a:ext cx="7648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</a:t>
            </a:r>
            <a:r>
              <a:rPr lang="fr-FR" altLang="fr-FR" sz="1800" dirty="0">
                <a:sym typeface="Math5" pitchFamily="2" charset="2"/>
              </a:rPr>
              <a:t>  et s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il existe au moins un </a:t>
            </a:r>
            <a:r>
              <a:rPr lang="fr-FR" altLang="ja-JP" sz="1800" dirty="0">
                <a:latin typeface="Symbol" panose="05050102010706020507" pitchFamily="18" charset="2"/>
              </a:rPr>
              <a:t>l</a:t>
            </a:r>
            <a:r>
              <a:rPr lang="fr-FR" altLang="ja-JP" sz="1800" baseline="-25000" dirty="0"/>
              <a:t>i</a:t>
            </a:r>
            <a:r>
              <a:rPr lang="fr-FR" altLang="ja-JP" sz="1800" dirty="0"/>
              <a:t>&gt;0 alors schéma instable</a:t>
            </a:r>
            <a:endParaRPr lang="fr-FR" altLang="fr-FR" sz="1800" dirty="0"/>
          </a:p>
        </p:txBody>
      </p:sp>
      <p:sp>
        <p:nvSpPr>
          <p:cNvPr id="66575" name="Text Box 21"/>
          <p:cNvSpPr txBox="1">
            <a:spLocks noChangeArrowheads="1"/>
          </p:cNvSpPr>
          <p:nvPr/>
        </p:nvSpPr>
        <p:spPr bwMode="auto">
          <a:xfrm>
            <a:off x="5272088" y="5951538"/>
            <a:ext cx="2508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et choisir le plus petit 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5" name="Object 2"/>
          <p:cNvGraphicFramePr>
            <a:graphicFrameLocks noChangeAspect="1"/>
          </p:cNvGraphicFramePr>
          <p:nvPr/>
        </p:nvGraphicFramePr>
        <p:xfrm>
          <a:off x="2252663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3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6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6758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Text Box 5"/>
          <p:cNvSpPr txBox="1">
            <a:spLocks noChangeArrowheads="1"/>
          </p:cNvSpPr>
          <p:nvPr/>
        </p:nvSpPr>
        <p:spPr bwMode="auto">
          <a:xfrm>
            <a:off x="1116013" y="3500438"/>
            <a:ext cx="7056437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1800" i="1"/>
              <a:t>Pour déterminer graphiquement la condition de stabilité, vous inspirer de stabilite.m</a:t>
            </a:r>
            <a:endParaRPr lang="fr-FR" altLang="fr-FR" sz="2000"/>
          </a:p>
          <a:p>
            <a:pPr lvl="2" algn="just"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Mettre en évidence les instabilités de la méthode RK4</a:t>
            </a:r>
          </a:p>
        </p:txBody>
      </p:sp>
      <p:sp>
        <p:nvSpPr>
          <p:cNvPr id="67589" name="Text Box 6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92"/>
          <a:stretch>
            <a:fillRect/>
          </a:stretch>
        </p:blipFill>
        <p:spPr bwMode="auto">
          <a:xfrm>
            <a:off x="2500313" y="4652963"/>
            <a:ext cx="6643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40"/>
          <a:stretch>
            <a:fillRect/>
          </a:stretch>
        </p:blipFill>
        <p:spPr bwMode="auto">
          <a:xfrm>
            <a:off x="179388" y="1296988"/>
            <a:ext cx="7916862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64"/>
          <a:stretch>
            <a:fillRect/>
          </a:stretch>
        </p:blipFill>
        <p:spPr bwMode="auto">
          <a:xfrm>
            <a:off x="255588" y="4200525"/>
            <a:ext cx="7916862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Text Box 10"/>
          <p:cNvSpPr txBox="1">
            <a:spLocks noChangeArrowheads="1"/>
          </p:cNvSpPr>
          <p:nvPr/>
        </p:nvSpPr>
        <p:spPr bwMode="auto">
          <a:xfrm>
            <a:off x="3995738" y="2060575"/>
            <a:ext cx="965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</a:t>
            </a:r>
          </a:p>
        </p:txBody>
      </p:sp>
      <p:sp>
        <p:nvSpPr>
          <p:cNvPr id="68613" name="Text Box 11"/>
          <p:cNvSpPr txBox="1">
            <a:spLocks noChangeArrowheads="1"/>
          </p:cNvSpPr>
          <p:nvPr/>
        </p:nvSpPr>
        <p:spPr bwMode="auto">
          <a:xfrm>
            <a:off x="6732588" y="4724400"/>
            <a:ext cx="965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=2.94</a:t>
            </a:r>
          </a:p>
        </p:txBody>
      </p:sp>
      <p:sp>
        <p:nvSpPr>
          <p:cNvPr id="68614" name="Text Box 12"/>
          <p:cNvSpPr txBox="1">
            <a:spLocks noChangeArrowheads="1"/>
          </p:cNvSpPr>
          <p:nvPr/>
        </p:nvSpPr>
        <p:spPr bwMode="auto">
          <a:xfrm>
            <a:off x="539750" y="908050"/>
            <a:ext cx="203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RK4 n=1.5 p2=2</a:t>
            </a:r>
          </a:p>
        </p:txBody>
      </p:sp>
      <p:sp>
        <p:nvSpPr>
          <p:cNvPr id="68615" name="Text Box 13"/>
          <p:cNvSpPr txBox="1">
            <a:spLocks noChangeArrowheads="1"/>
          </p:cNvSpPr>
          <p:nvPr/>
        </p:nvSpPr>
        <p:spPr bwMode="auto">
          <a:xfrm>
            <a:off x="539750" y="3824288"/>
            <a:ext cx="203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RK4 n=0.2 p2=1</a:t>
            </a:r>
          </a:p>
        </p:txBody>
      </p:sp>
      <p:sp>
        <p:nvSpPr>
          <p:cNvPr id="68616" name="Text Box 14"/>
          <p:cNvSpPr txBox="1">
            <a:spLocks noChangeArrowheads="1"/>
          </p:cNvSpPr>
          <p:nvPr/>
        </p:nvSpPr>
        <p:spPr bwMode="auto">
          <a:xfrm>
            <a:off x="1258888" y="92075"/>
            <a:ext cx="645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théorique de la stabilité du schéma RK4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52513"/>
            <a:ext cx="4318000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3929063"/>
            <a:ext cx="431800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052513"/>
            <a:ext cx="4318000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929063"/>
            <a:ext cx="4318000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8"/>
          <p:cNvSpPr>
            <a:spLocks noChangeArrowheads="1"/>
          </p:cNvSpPr>
          <p:nvPr/>
        </p:nvSpPr>
        <p:spPr bwMode="auto">
          <a:xfrm>
            <a:off x="255588" y="473075"/>
            <a:ext cx="41719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Symbol" panose="05050102010706020507" pitchFamily="18" charset="2"/>
              </a:rPr>
              <a:t>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sp>
        <p:nvSpPr>
          <p:cNvPr id="69638" name="Rectangle 9"/>
          <p:cNvSpPr>
            <a:spLocks noChangeArrowheads="1"/>
          </p:cNvSpPr>
          <p:nvPr/>
        </p:nvSpPr>
        <p:spPr bwMode="auto">
          <a:xfrm>
            <a:off x="4716463" y="511175"/>
            <a:ext cx="439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Symbol" panose="05050102010706020507" pitchFamily="18" charset="2"/>
              </a:rPr>
              <a:t>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=2.94</a:t>
            </a:r>
          </a:p>
        </p:txBody>
      </p:sp>
      <p:sp>
        <p:nvSpPr>
          <p:cNvPr id="69639" name="Text Box 10"/>
          <p:cNvSpPr txBox="1">
            <a:spLocks noChangeArrowheads="1"/>
          </p:cNvSpPr>
          <p:nvPr/>
        </p:nvSpPr>
        <p:spPr bwMode="auto">
          <a:xfrm>
            <a:off x="3276600" y="44450"/>
            <a:ext cx="362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 de RK4</a:t>
            </a:r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2"/>
          <p:cNvSpPr txBox="1">
            <a:spLocks noChangeArrowheads="1"/>
          </p:cNvSpPr>
          <p:nvPr/>
        </p:nvSpPr>
        <p:spPr bwMode="auto">
          <a:xfrm>
            <a:off x="395288" y="115888"/>
            <a:ext cx="793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la précision en fonction du schéma d</a:t>
            </a:r>
            <a:r>
              <a:rPr lang="ja-JP" altLang="fr-FR"/>
              <a:t>’</a:t>
            </a:r>
            <a:r>
              <a:rPr lang="fr-FR" altLang="ja-JP"/>
              <a:t>intégration</a:t>
            </a:r>
            <a:endParaRPr lang="fr-FR" altLang="fr-FR"/>
          </a:p>
        </p:txBody>
      </p:sp>
      <p:sp>
        <p:nvSpPr>
          <p:cNvPr id="70658" name="Text Box 3"/>
          <p:cNvSpPr txBox="1">
            <a:spLocks noChangeArrowheads="1"/>
          </p:cNvSpPr>
          <p:nvPr/>
        </p:nvSpPr>
        <p:spPr bwMode="auto">
          <a:xfrm>
            <a:off x="395288" y="638175"/>
            <a:ext cx="400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Solution analytique en tenant compte </a:t>
            </a:r>
          </a:p>
          <a:p>
            <a:pPr eaLnBrk="1" hangingPunct="1"/>
            <a:r>
              <a:rPr lang="fr-FR" altLang="fr-FR" sz="1800"/>
              <a:t>des conditions initiales :</a:t>
            </a:r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519113" y="3573463"/>
            <a:ext cx="699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une même méthode, la précision augmente lorsque h diminue</a:t>
            </a:r>
          </a:p>
        </p:txBody>
      </p:sp>
      <p:grpSp>
        <p:nvGrpSpPr>
          <p:cNvPr id="70660" name="Group 6"/>
          <p:cNvGrpSpPr>
            <a:grpSpLocks/>
          </p:cNvGrpSpPr>
          <p:nvPr/>
        </p:nvGrpSpPr>
        <p:grpSpPr bwMode="auto">
          <a:xfrm>
            <a:off x="36513" y="1196975"/>
            <a:ext cx="9072562" cy="2447925"/>
            <a:chOff x="23" y="799"/>
            <a:chExt cx="5715" cy="1542"/>
          </a:xfrm>
        </p:grpSpPr>
        <p:grpSp>
          <p:nvGrpSpPr>
            <p:cNvPr id="70673" name="Group 7"/>
            <p:cNvGrpSpPr>
              <a:grpSpLocks/>
            </p:cNvGrpSpPr>
            <p:nvPr/>
          </p:nvGrpSpPr>
          <p:grpSpPr bwMode="auto">
            <a:xfrm>
              <a:off x="1839" y="810"/>
              <a:ext cx="2040" cy="1531"/>
              <a:chOff x="2925" y="833"/>
              <a:chExt cx="2040" cy="1531"/>
            </a:xfrm>
          </p:grpSpPr>
          <p:pic>
            <p:nvPicPr>
              <p:cNvPr id="70680" name="Picture 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5" y="833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81" name="Text Box 9"/>
              <p:cNvSpPr txBox="1">
                <a:spLocks noChangeArrowheads="1"/>
              </p:cNvSpPr>
              <p:nvPr/>
            </p:nvSpPr>
            <p:spPr bwMode="auto">
              <a:xfrm>
                <a:off x="3923" y="1026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h=0.5</a:t>
                </a:r>
              </a:p>
            </p:txBody>
          </p:sp>
        </p:grpSp>
        <p:grpSp>
          <p:nvGrpSpPr>
            <p:cNvPr id="70674" name="Group 10"/>
            <p:cNvGrpSpPr>
              <a:grpSpLocks/>
            </p:cNvGrpSpPr>
            <p:nvPr/>
          </p:nvGrpSpPr>
          <p:grpSpPr bwMode="auto">
            <a:xfrm>
              <a:off x="23" y="799"/>
              <a:ext cx="2040" cy="1531"/>
              <a:chOff x="431" y="799"/>
              <a:chExt cx="2040" cy="1531"/>
            </a:xfrm>
          </p:grpSpPr>
          <p:pic>
            <p:nvPicPr>
              <p:cNvPr id="70678" name="Picture 1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799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9" name="Text Box 12"/>
              <p:cNvSpPr txBox="1">
                <a:spLocks noChangeArrowheads="1"/>
              </p:cNvSpPr>
              <p:nvPr/>
            </p:nvSpPr>
            <p:spPr bwMode="auto">
              <a:xfrm>
                <a:off x="1429" y="981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h=0.7</a:t>
                </a:r>
              </a:p>
            </p:txBody>
          </p:sp>
        </p:grpSp>
        <p:grpSp>
          <p:nvGrpSpPr>
            <p:cNvPr id="70675" name="Group 13"/>
            <p:cNvGrpSpPr>
              <a:grpSpLocks/>
            </p:cNvGrpSpPr>
            <p:nvPr/>
          </p:nvGrpSpPr>
          <p:grpSpPr bwMode="auto">
            <a:xfrm>
              <a:off x="3698" y="799"/>
              <a:ext cx="2040" cy="1530"/>
              <a:chOff x="3788" y="799"/>
              <a:chExt cx="2040" cy="1530"/>
            </a:xfrm>
          </p:grpSpPr>
          <p:pic>
            <p:nvPicPr>
              <p:cNvPr id="70676" name="Picture 1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88" y="799"/>
                <a:ext cx="2040" cy="1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7" name="Text Box 15"/>
              <p:cNvSpPr txBox="1">
                <a:spLocks noChangeArrowheads="1"/>
              </p:cNvSpPr>
              <p:nvPr/>
            </p:nvSpPr>
            <p:spPr bwMode="auto">
              <a:xfrm>
                <a:off x="4785" y="948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h=0.1</a:t>
                </a:r>
              </a:p>
            </p:txBody>
          </p:sp>
        </p:grpSp>
      </p:grpSp>
      <p:sp>
        <p:nvSpPr>
          <p:cNvPr id="70661" name="Text Box 16"/>
          <p:cNvSpPr txBox="1">
            <a:spLocks noChangeArrowheads="1"/>
          </p:cNvSpPr>
          <p:nvPr/>
        </p:nvSpPr>
        <p:spPr bwMode="auto">
          <a:xfrm>
            <a:off x="395288" y="6375400"/>
            <a:ext cx="795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un pas de temps fixé, la précision augmente avec l</a:t>
            </a:r>
            <a:r>
              <a:rPr lang="ja-JP" altLang="fr-FR" sz="1800"/>
              <a:t>’</a:t>
            </a:r>
            <a:r>
              <a:rPr lang="fr-FR" altLang="ja-JP" sz="1800"/>
              <a:t>ordre de la méthode</a:t>
            </a:r>
            <a:endParaRPr lang="fr-FR" altLang="fr-FR" sz="1800"/>
          </a:p>
        </p:txBody>
      </p:sp>
      <p:grpSp>
        <p:nvGrpSpPr>
          <p:cNvPr id="70662" name="Group 17"/>
          <p:cNvGrpSpPr>
            <a:grpSpLocks/>
          </p:cNvGrpSpPr>
          <p:nvPr/>
        </p:nvGrpSpPr>
        <p:grpSpPr bwMode="auto">
          <a:xfrm>
            <a:off x="38100" y="3933825"/>
            <a:ext cx="9069388" cy="2484438"/>
            <a:chOff x="24" y="2478"/>
            <a:chExt cx="5713" cy="1565"/>
          </a:xfrm>
        </p:grpSpPr>
        <p:grpSp>
          <p:nvGrpSpPr>
            <p:cNvPr id="70664" name="Group 18"/>
            <p:cNvGrpSpPr>
              <a:grpSpLocks/>
            </p:cNvGrpSpPr>
            <p:nvPr/>
          </p:nvGrpSpPr>
          <p:grpSpPr bwMode="auto">
            <a:xfrm>
              <a:off x="3651" y="2478"/>
              <a:ext cx="2086" cy="1565"/>
              <a:chOff x="3606" y="2653"/>
              <a:chExt cx="2086" cy="1565"/>
            </a:xfrm>
          </p:grpSpPr>
          <p:pic>
            <p:nvPicPr>
              <p:cNvPr id="70671" name="Picture 19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6" y="2653"/>
                <a:ext cx="2086" cy="1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2" name="Text Box 20"/>
              <p:cNvSpPr txBox="1">
                <a:spLocks noChangeArrowheads="1"/>
              </p:cNvSpPr>
              <p:nvPr/>
            </p:nvSpPr>
            <p:spPr bwMode="auto">
              <a:xfrm>
                <a:off x="4665" y="2795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RK4 h=0.7</a:t>
                </a:r>
              </a:p>
            </p:txBody>
          </p:sp>
        </p:grpSp>
        <p:grpSp>
          <p:nvGrpSpPr>
            <p:cNvPr id="70665" name="Group 21"/>
            <p:cNvGrpSpPr>
              <a:grpSpLocks/>
            </p:cNvGrpSpPr>
            <p:nvPr/>
          </p:nvGrpSpPr>
          <p:grpSpPr bwMode="auto">
            <a:xfrm>
              <a:off x="1838" y="2484"/>
              <a:ext cx="2040" cy="1531"/>
              <a:chOff x="1838" y="2659"/>
              <a:chExt cx="2040" cy="1531"/>
            </a:xfrm>
          </p:grpSpPr>
          <p:pic>
            <p:nvPicPr>
              <p:cNvPr id="70669" name="Picture 2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8" y="2659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0" name="Text Box 23"/>
              <p:cNvSpPr txBox="1">
                <a:spLocks noChangeArrowheads="1"/>
              </p:cNvSpPr>
              <p:nvPr/>
            </p:nvSpPr>
            <p:spPr bwMode="auto">
              <a:xfrm>
                <a:off x="2836" y="2795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h=0.7</a:t>
                </a:r>
              </a:p>
            </p:txBody>
          </p:sp>
        </p:grpSp>
        <p:grpSp>
          <p:nvGrpSpPr>
            <p:cNvPr id="70666" name="Group 24"/>
            <p:cNvGrpSpPr>
              <a:grpSpLocks/>
            </p:cNvGrpSpPr>
            <p:nvPr/>
          </p:nvGrpSpPr>
          <p:grpSpPr bwMode="auto">
            <a:xfrm>
              <a:off x="24" y="2478"/>
              <a:ext cx="2040" cy="1530"/>
              <a:chOff x="24" y="2478"/>
              <a:chExt cx="2040" cy="1530"/>
            </a:xfrm>
          </p:grpSpPr>
          <p:pic>
            <p:nvPicPr>
              <p:cNvPr id="70667" name="Picture 25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" y="2478"/>
                <a:ext cx="2040" cy="1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68" name="Text Box 26"/>
              <p:cNvSpPr txBox="1">
                <a:spLocks noChangeArrowheads="1"/>
              </p:cNvSpPr>
              <p:nvPr/>
            </p:nvSpPr>
            <p:spPr bwMode="auto">
              <a:xfrm>
                <a:off x="981" y="2632"/>
                <a:ext cx="856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Euler h=0.7</a:t>
                </a:r>
              </a:p>
            </p:txBody>
          </p:sp>
        </p:grpSp>
      </p:grpSp>
      <p:graphicFrame>
        <p:nvGraphicFramePr>
          <p:cNvPr id="70663" name="Object 5"/>
          <p:cNvGraphicFramePr>
            <a:graphicFrameLocks noChangeAspect="1"/>
          </p:cNvGraphicFramePr>
          <p:nvPr/>
        </p:nvGraphicFramePr>
        <p:xfrm>
          <a:off x="4500563" y="620713"/>
          <a:ext cx="21605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5" name="Equation" r:id="rId8" imgW="1637589" imgH="431613" progId="Equation.3">
                  <p:embed/>
                </p:oleObj>
              </mc:Choice>
              <mc:Fallback>
                <p:oleObj name="Equation" r:id="rId8" imgW="1637589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620713"/>
                        <a:ext cx="2160587" cy="5699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4"/>
          <p:cNvSpPr txBox="1">
            <a:spLocks noChangeArrowheads="1"/>
          </p:cNvSpPr>
          <p:nvPr/>
        </p:nvSpPr>
        <p:spPr bwMode="auto">
          <a:xfrm>
            <a:off x="3635375" y="188913"/>
            <a:ext cx="169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Conclusion</a:t>
            </a:r>
          </a:p>
        </p:txBody>
      </p:sp>
      <p:sp>
        <p:nvSpPr>
          <p:cNvPr id="71682" name="Text Box 5"/>
          <p:cNvSpPr txBox="1">
            <a:spLocks noChangeArrowheads="1"/>
          </p:cNvSpPr>
          <p:nvPr/>
        </p:nvSpPr>
        <p:spPr bwMode="auto">
          <a:xfrm>
            <a:off x="447675" y="620713"/>
            <a:ext cx="8126413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altLang="fr-FR" sz="1800"/>
              <a:t>3 schémas d</a:t>
            </a:r>
            <a:r>
              <a:rPr lang="ja-JP" altLang="fr-FR" sz="1800"/>
              <a:t>’</a:t>
            </a:r>
            <a:r>
              <a:rPr lang="fr-FR" altLang="ja-JP" sz="1800"/>
              <a:t>intégration des équations différentielles ont été étudiés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Euler méthode d</a:t>
            </a:r>
            <a:r>
              <a:rPr lang="ja-JP" altLang="fr-FR" sz="1800"/>
              <a:t>’</a:t>
            </a:r>
            <a:r>
              <a:rPr lang="fr-FR" altLang="ja-JP" sz="1800"/>
              <a:t>ordre 1 en pas de temps h, RK2 méthode d’ordre 2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et RK4 méthode d’</a:t>
            </a:r>
            <a:r>
              <a:rPr lang="fr-FR" altLang="ja-JP" sz="1800"/>
              <a:t>ordre 4 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Entre deux pas de temps successifs,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la méthode d’</a:t>
            </a:r>
            <a:r>
              <a:rPr lang="fr-FR" altLang="ja-JP" sz="1800"/>
              <a:t>Euler nécessite une évaluation du système d’eq. diff.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la méthode RK2 en nécessite deux et RK4 quatre.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Pour décrire correctement le comportement dynamique d’</a:t>
            </a:r>
            <a:r>
              <a:rPr lang="fr-FR" altLang="ja-JP" sz="1800"/>
              <a:t>un système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avec ces méthodes,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choisir de préférence RK4 pour sa précision,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le pas de temps doit être choisi dans le domaine de stabilité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il doit être aussi petit que possible, ou au moins plus petit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que les temps caractéristiques du problème étudié.</a:t>
            </a:r>
          </a:p>
        </p:txBody>
      </p:sp>
      <p:sp>
        <p:nvSpPr>
          <p:cNvPr id="71683" name="Text Box 9"/>
          <p:cNvSpPr txBox="1">
            <a:spLocks noChangeArrowheads="1"/>
          </p:cNvSpPr>
          <p:nvPr/>
        </p:nvSpPr>
        <p:spPr bwMode="auto">
          <a:xfrm>
            <a:off x="1692275" y="5006975"/>
            <a:ext cx="225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Domaine de stabilité</a:t>
            </a:r>
          </a:p>
        </p:txBody>
      </p:sp>
      <p:grpSp>
        <p:nvGrpSpPr>
          <p:cNvPr id="71684" name="Group 12"/>
          <p:cNvGrpSpPr>
            <a:grpSpLocks/>
          </p:cNvGrpSpPr>
          <p:nvPr/>
        </p:nvGrpSpPr>
        <p:grpSpPr bwMode="auto">
          <a:xfrm>
            <a:off x="1547813" y="5583238"/>
            <a:ext cx="5135562" cy="431800"/>
            <a:chOff x="975" y="3294"/>
            <a:chExt cx="3235" cy="272"/>
          </a:xfrm>
        </p:grpSpPr>
        <p:sp>
          <p:nvSpPr>
            <p:cNvPr id="71692" name="Rectangle 11" descr="Diagonales larges vers le haut"/>
            <p:cNvSpPr>
              <a:spLocks noChangeArrowheads="1"/>
            </p:cNvSpPr>
            <p:nvPr/>
          </p:nvSpPr>
          <p:spPr bwMode="auto">
            <a:xfrm>
              <a:off x="2562" y="3339"/>
              <a:ext cx="1316" cy="227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71693" name="Line 7"/>
            <p:cNvSpPr>
              <a:spLocks noChangeShapeType="1"/>
            </p:cNvSpPr>
            <p:nvPr/>
          </p:nvSpPr>
          <p:spPr bwMode="auto">
            <a:xfrm>
              <a:off x="975" y="3475"/>
              <a:ext cx="308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694" name="Line 8"/>
            <p:cNvSpPr>
              <a:spLocks noChangeShapeType="1"/>
            </p:cNvSpPr>
            <p:nvPr/>
          </p:nvSpPr>
          <p:spPr bwMode="auto">
            <a:xfrm>
              <a:off x="975" y="3339"/>
              <a:ext cx="0" cy="22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695" name="Text Box 10"/>
            <p:cNvSpPr txBox="1">
              <a:spLocks noChangeArrowheads="1"/>
            </p:cNvSpPr>
            <p:nvPr/>
          </p:nvSpPr>
          <p:spPr bwMode="auto">
            <a:xfrm>
              <a:off x="4014" y="329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h</a:t>
              </a:r>
            </a:p>
          </p:txBody>
        </p:sp>
      </p:grpSp>
      <p:sp>
        <p:nvSpPr>
          <p:cNvPr id="71685" name="AutoShape 13"/>
          <p:cNvSpPr>
            <a:spLocks/>
          </p:cNvSpPr>
          <p:nvPr/>
        </p:nvSpPr>
        <p:spPr bwMode="auto">
          <a:xfrm rot="-5400000">
            <a:off x="2663826" y="4251325"/>
            <a:ext cx="215900" cy="2447925"/>
          </a:xfrm>
          <a:prstGeom prst="rightBrace">
            <a:avLst>
              <a:gd name="adj1" fmla="val 94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71686" name="Text Box 14"/>
          <p:cNvSpPr txBox="1">
            <a:spLocks noChangeArrowheads="1"/>
          </p:cNvSpPr>
          <p:nvPr/>
        </p:nvSpPr>
        <p:spPr bwMode="auto">
          <a:xfrm>
            <a:off x="2032000" y="5943600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 baseline="-25000" dirty="0">
                <a:latin typeface="Bahnschrift" panose="020B0502040204020203" pitchFamily="34" charset="0"/>
                <a:sym typeface="Symbol" panose="05050102010706020507" pitchFamily="18" charset="2"/>
              </a:rPr>
              <a:t> </a:t>
            </a:r>
            <a:r>
              <a:rPr lang="el-GR" altLang="fr-FR" sz="2000" b="1" dirty="0" smtClean="0">
                <a:latin typeface="Bahnschrift" panose="020B0502040204020203" pitchFamily="34" charset="0"/>
                <a:sym typeface="Symbol" panose="05050102010706020507" pitchFamily="18" charset="2"/>
              </a:rPr>
              <a:t>τ</a:t>
            </a:r>
            <a:r>
              <a:rPr lang="fr-FR" altLang="fr-FR" sz="2000" b="1" baseline="-25000" dirty="0" smtClean="0">
                <a:latin typeface="Bahnschrift" panose="020B0502040204020203" pitchFamily="34" charset="0"/>
                <a:sym typeface="Symbol" panose="05050102010706020507" pitchFamily="18" charset="2"/>
              </a:rPr>
              <a:t>1</a:t>
            </a:r>
            <a:endParaRPr lang="fr-FR" altLang="fr-FR" sz="2000" b="1" baseline="-25000" dirty="0">
              <a:sym typeface="Symbol" panose="05050102010706020507" pitchFamily="18" charset="2"/>
            </a:endParaRPr>
          </a:p>
        </p:txBody>
      </p:sp>
      <p:sp>
        <p:nvSpPr>
          <p:cNvPr id="71687" name="Text Box 15"/>
          <p:cNvSpPr txBox="1">
            <a:spLocks noChangeArrowheads="1"/>
          </p:cNvSpPr>
          <p:nvPr/>
        </p:nvSpPr>
        <p:spPr bwMode="auto">
          <a:xfrm>
            <a:off x="2384425" y="5943600"/>
            <a:ext cx="4347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 baseline="-25000" dirty="0" smtClean="0">
                <a:latin typeface="Bahnschrift" panose="020B0502040204020203" pitchFamily="34" charset="0"/>
                <a:sym typeface="Symbol" panose="05050102010706020507" pitchFamily="18" charset="2"/>
              </a:rPr>
              <a:t> </a:t>
            </a:r>
            <a:r>
              <a:rPr lang="el-GR" altLang="fr-FR" sz="2000" b="1" dirty="0" smtClean="0">
                <a:latin typeface="Bahnschrift" panose="020B0502040204020203" pitchFamily="34" charset="0"/>
                <a:sym typeface="Symbol" panose="05050102010706020507" pitchFamily="18" charset="2"/>
              </a:rPr>
              <a:t>τ</a:t>
            </a:r>
            <a:r>
              <a:rPr lang="fr-FR" altLang="fr-FR" sz="2000" b="1" baseline="-25000" dirty="0">
                <a:latin typeface="Bahnschrift" panose="020B0502040204020203" pitchFamily="34" charset="0"/>
                <a:sym typeface="Symbol" panose="05050102010706020507" pitchFamily="18" charset="2"/>
              </a:rPr>
              <a:t>2</a:t>
            </a:r>
            <a:endParaRPr lang="fr-FR" altLang="fr-FR" sz="2000" b="1" dirty="0">
              <a:sym typeface="Symbol" panose="05050102010706020507" pitchFamily="18" charset="2"/>
            </a:endParaRPr>
          </a:p>
        </p:txBody>
      </p:sp>
      <p:sp>
        <p:nvSpPr>
          <p:cNvPr id="71688" name="Line 16"/>
          <p:cNvSpPr>
            <a:spLocks noChangeShapeType="1"/>
          </p:cNvSpPr>
          <p:nvPr/>
        </p:nvSpPr>
        <p:spPr bwMode="auto">
          <a:xfrm>
            <a:off x="2195513" y="5727700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689" name="AutoShape 17"/>
          <p:cNvSpPr>
            <a:spLocks/>
          </p:cNvSpPr>
          <p:nvPr/>
        </p:nvSpPr>
        <p:spPr bwMode="auto">
          <a:xfrm rot="-5400000">
            <a:off x="1799431" y="5836445"/>
            <a:ext cx="73025" cy="576262"/>
          </a:xfrm>
          <a:prstGeom prst="leftBrace">
            <a:avLst>
              <a:gd name="adj1" fmla="val 657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71690" name="Text Box 18"/>
          <p:cNvSpPr txBox="1">
            <a:spLocks noChangeArrowheads="1"/>
          </p:cNvSpPr>
          <p:nvPr/>
        </p:nvSpPr>
        <p:spPr bwMode="auto">
          <a:xfrm>
            <a:off x="1547813" y="6375400"/>
            <a:ext cx="239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Domaine de précision</a:t>
            </a:r>
          </a:p>
        </p:txBody>
      </p:sp>
      <p:sp>
        <p:nvSpPr>
          <p:cNvPr id="71691" name="Line 19"/>
          <p:cNvSpPr>
            <a:spLocks noChangeShapeType="1"/>
          </p:cNvSpPr>
          <p:nvPr/>
        </p:nvSpPr>
        <p:spPr bwMode="auto">
          <a:xfrm>
            <a:off x="1835150" y="61595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668497"/>
              </p:ext>
            </p:extLst>
          </p:nvPr>
        </p:nvGraphicFramePr>
        <p:xfrm>
          <a:off x="3308350" y="631825"/>
          <a:ext cx="6016625" cy="313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1" name="Equation" r:id="rId3" imgW="3162240" imgH="1650960" progId="Equation.DSMT4">
                  <p:embed/>
                </p:oleObj>
              </mc:Choice>
              <mc:Fallback>
                <p:oleObj name="Equation" r:id="rId3" imgW="3162240" imgH="16509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631825"/>
                        <a:ext cx="6016625" cy="313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06" name="Group 3"/>
          <p:cNvGrpSpPr>
            <a:grpSpLocks/>
          </p:cNvGrpSpPr>
          <p:nvPr/>
        </p:nvGrpSpPr>
        <p:grpSpPr bwMode="auto">
          <a:xfrm>
            <a:off x="395288" y="692150"/>
            <a:ext cx="1658937" cy="2590800"/>
            <a:chOff x="4896" y="9072"/>
            <a:chExt cx="2563" cy="4080"/>
          </a:xfrm>
        </p:grpSpPr>
        <p:sp>
          <p:nvSpPr>
            <p:cNvPr id="72715" name="Line 4"/>
            <p:cNvSpPr>
              <a:spLocks noChangeShapeType="1"/>
            </p:cNvSpPr>
            <p:nvPr/>
          </p:nvSpPr>
          <p:spPr bwMode="auto">
            <a:xfrm>
              <a:off x="5208" y="90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6" name="Line 5"/>
            <p:cNvSpPr>
              <a:spLocks noChangeShapeType="1"/>
            </p:cNvSpPr>
            <p:nvPr/>
          </p:nvSpPr>
          <p:spPr bwMode="auto">
            <a:xfrm>
              <a:off x="5088" y="10992"/>
              <a:ext cx="2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7" name="Line 6"/>
            <p:cNvSpPr>
              <a:spLocks noChangeShapeType="1"/>
            </p:cNvSpPr>
            <p:nvPr/>
          </p:nvSpPr>
          <p:spPr bwMode="auto">
            <a:xfrm>
              <a:off x="5208" y="10992"/>
              <a:ext cx="1920" cy="192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8" name="Oval 7"/>
            <p:cNvSpPr>
              <a:spLocks noChangeArrowheads="1"/>
            </p:cNvSpPr>
            <p:nvPr/>
          </p:nvSpPr>
          <p:spPr bwMode="auto">
            <a:xfrm>
              <a:off x="6888" y="12672"/>
              <a:ext cx="480" cy="480"/>
            </a:xfrm>
            <a:prstGeom prst="ellipse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fr-FR" sz="1800"/>
            </a:p>
          </p:txBody>
        </p:sp>
        <p:sp>
          <p:nvSpPr>
            <p:cNvPr id="72719" name="Line 8"/>
            <p:cNvSpPr>
              <a:spLocks noChangeShapeType="1"/>
            </p:cNvSpPr>
            <p:nvPr/>
          </p:nvSpPr>
          <p:spPr bwMode="auto">
            <a:xfrm>
              <a:off x="5208" y="108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20" name="Arc 9"/>
            <p:cNvSpPr>
              <a:spLocks/>
            </p:cNvSpPr>
            <p:nvPr/>
          </p:nvSpPr>
          <p:spPr bwMode="auto">
            <a:xfrm rot="11450418" flipH="1">
              <a:off x="5328" y="11592"/>
              <a:ext cx="360" cy="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21" name="Text Box 10"/>
            <p:cNvSpPr txBox="1">
              <a:spLocks noChangeArrowheads="1"/>
            </p:cNvSpPr>
            <p:nvPr/>
          </p:nvSpPr>
          <p:spPr bwMode="auto">
            <a:xfrm>
              <a:off x="5448" y="11712"/>
              <a:ext cx="481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Symbol" panose="05050102010706020507" pitchFamily="18" charset="2"/>
                  <a:ea typeface="MS Mincho" pitchFamily="49" charset="-128"/>
                </a:rPr>
                <a:t>q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2" name="Text Box 11"/>
            <p:cNvSpPr txBox="1">
              <a:spLocks noChangeArrowheads="1"/>
            </p:cNvSpPr>
            <p:nvPr/>
          </p:nvSpPr>
          <p:spPr bwMode="auto">
            <a:xfrm>
              <a:off x="6169" y="11472"/>
              <a:ext cx="390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r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3" name="Text Box 12"/>
            <p:cNvSpPr txBox="1">
              <a:spLocks noChangeArrowheads="1"/>
            </p:cNvSpPr>
            <p:nvPr/>
          </p:nvSpPr>
          <p:spPr bwMode="auto">
            <a:xfrm>
              <a:off x="7057" y="108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x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4" name="Text Box 13"/>
            <p:cNvSpPr txBox="1">
              <a:spLocks noChangeArrowheads="1"/>
            </p:cNvSpPr>
            <p:nvPr/>
          </p:nvSpPr>
          <p:spPr bwMode="auto">
            <a:xfrm>
              <a:off x="4896" y="90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y</a:t>
              </a:r>
              <a:endParaRPr lang="fr-FR" altLang="fr-FR" sz="1800">
                <a:ea typeface="MS Mincho" pitchFamily="49" charset="-128"/>
              </a:endParaRPr>
            </a:p>
          </p:txBody>
        </p:sp>
      </p:grpSp>
      <p:graphicFrame>
        <p:nvGraphicFramePr>
          <p:cNvPr id="7270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2950"/>
              </p:ext>
            </p:extLst>
          </p:nvPr>
        </p:nvGraphicFramePr>
        <p:xfrm>
          <a:off x="2195513" y="1416050"/>
          <a:ext cx="1052512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2" name="Equation" r:id="rId5" imgW="583920" imgH="914400" progId="Equation.DSMT4">
                  <p:embed/>
                </p:oleObj>
              </mc:Choice>
              <mc:Fallback>
                <p:oleObj name="Equation" r:id="rId5" imgW="58392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16050"/>
                        <a:ext cx="1052512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Rectangle 16"/>
          <p:cNvSpPr>
            <a:spLocks noChangeArrowheads="1"/>
          </p:cNvSpPr>
          <p:nvPr/>
        </p:nvSpPr>
        <p:spPr bwMode="auto">
          <a:xfrm>
            <a:off x="581342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09" name="Rectangle 19"/>
          <p:cNvSpPr>
            <a:spLocks noChangeArrowheads="1"/>
          </p:cNvSpPr>
          <p:nvPr/>
        </p:nvSpPr>
        <p:spPr bwMode="auto">
          <a:xfrm>
            <a:off x="4165600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0" name="Rectangle 20"/>
          <p:cNvSpPr>
            <a:spLocks noChangeArrowheads="1"/>
          </p:cNvSpPr>
          <p:nvPr/>
        </p:nvSpPr>
        <p:spPr bwMode="auto">
          <a:xfrm>
            <a:off x="394017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1" name="Rectangle 21"/>
          <p:cNvSpPr>
            <a:spLocks noChangeArrowheads="1"/>
          </p:cNvSpPr>
          <p:nvPr/>
        </p:nvSpPr>
        <p:spPr bwMode="auto">
          <a:xfrm>
            <a:off x="355917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2" name="Text Box 32"/>
          <p:cNvSpPr txBox="1">
            <a:spLocks noChangeArrowheads="1"/>
          </p:cNvSpPr>
          <p:nvPr/>
        </p:nvSpPr>
        <p:spPr bwMode="auto">
          <a:xfrm>
            <a:off x="395288" y="3860800"/>
            <a:ext cx="8605837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altLang="fr-FR" sz="1800"/>
              <a:t>Résoudre le système avec la méthode qui vous parait la plus appropriée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Peut-on calculer la limite de stabilité ?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Représenter la trajectoire de la bille	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 i="1"/>
              <a:t>On prendra : 	pendule en position horizontale à t=0</a:t>
            </a:r>
            <a:r>
              <a:rPr lang="fr-FR" altLang="fr-FR" sz="1800"/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/>
              <a:t>			</a:t>
            </a:r>
            <a:r>
              <a:rPr lang="fr-FR" altLang="fr-FR" sz="1800" i="1"/>
              <a:t>m=0,1 kg, L=1 m, raideur k=6 N/m à k=100 N/m 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 i="1"/>
              <a:t>			durée d'analyse 10s</a:t>
            </a:r>
          </a:p>
        </p:txBody>
      </p:sp>
      <p:sp>
        <p:nvSpPr>
          <p:cNvPr id="72713" name="Text Box 33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72714" name="Rectangle 35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2800</Words>
  <Application>Microsoft Office PowerPoint</Application>
  <PresentationFormat>Affichage à l'écran (4:3)</PresentationFormat>
  <Paragraphs>649</Paragraphs>
  <Slides>48</Slides>
  <Notes>10</Notes>
  <HiddenSlides>1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48</vt:i4>
      </vt:variant>
    </vt:vector>
  </HeadingPairs>
  <TitlesOfParts>
    <vt:vector size="64" baseType="lpstr">
      <vt:lpstr>MS Gothic</vt:lpstr>
      <vt:lpstr>MS Mincho</vt:lpstr>
      <vt:lpstr>MS PGothic</vt:lpstr>
      <vt:lpstr>MS PGothic</vt:lpstr>
      <vt:lpstr>Arial</vt:lpstr>
      <vt:lpstr>Bahnschrift</vt:lpstr>
      <vt:lpstr>Comic Sans MS</vt:lpstr>
      <vt:lpstr>Courier New</vt:lpstr>
      <vt:lpstr>Math5</vt:lpstr>
      <vt:lpstr>Symbol</vt:lpstr>
      <vt:lpstr>Times New Roman</vt:lpstr>
      <vt:lpstr>Wingdings</vt:lpstr>
      <vt:lpstr>Modèle par défaut</vt:lpstr>
      <vt:lpstr>Equation</vt:lpstr>
      <vt:lpstr>MathType 6.0 Equation</vt:lpstr>
      <vt:lpstr>Draw</vt:lpstr>
      <vt:lpstr>Présentation PowerPoint</vt:lpstr>
      <vt:lpstr>Présentation PowerPoint</vt:lpstr>
      <vt:lpstr>Equivalence entre équation différentielle d’ordre n et système de n équations du 1er ordre</vt:lpstr>
      <vt:lpstr>Exemple 1 : oscillateur harmonique</vt:lpstr>
      <vt:lpstr>Exemple 2 : pendule élastique pesant</vt:lpstr>
      <vt:lpstr>EDO et Forme explicite</vt:lpstr>
      <vt:lpstr>Exemple 2 : pendule élastique pesant</vt:lpstr>
      <vt:lpstr>Méthode explicite du 1er ordre : Euler </vt:lpstr>
      <vt:lpstr>Présentation PowerPoint</vt:lpstr>
      <vt:lpstr>Présentation PowerPoint</vt:lpstr>
      <vt:lpstr>Présentation PowerPoint</vt:lpstr>
      <vt:lpstr>Méthode d’Euler / Programmation</vt:lpstr>
      <vt:lpstr>Méthode d’Euler / Programmation </vt:lpstr>
      <vt:lpstr>Présentation PowerPoint</vt:lpstr>
      <vt:lpstr>Présentation PowerPoint</vt:lpstr>
      <vt:lpstr>Analyse de stabilité</vt:lpstr>
      <vt:lpstr>Présentation PowerPoint</vt:lpstr>
      <vt:lpstr>Présentation PowerPoint</vt:lpstr>
      <vt:lpstr>Présentation PowerPoint</vt:lpstr>
      <vt:lpstr>Présentation PowerPoint</vt:lpstr>
      <vt:lpstr>Runge et Kutta -  Amélioration de la précision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 de stabilité du schéma RK2</vt:lpstr>
      <vt:lpstr>Présentation PowerPoint</vt:lpstr>
      <vt:lpstr>Présentation PowerPoint</vt:lpstr>
      <vt:lpstr>Présentation PowerPoint</vt:lpstr>
      <vt:lpstr>Présentation PowerPoint</vt:lpstr>
      <vt:lpstr>Méthode de Runge-Kutta -  Ordre N</vt:lpstr>
      <vt:lpstr>Méthode RK4 - Programmation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 2 : pendule élastique pesant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57</cp:revision>
  <dcterms:created xsi:type="dcterms:W3CDTF">2016-09-30T06:00:31Z</dcterms:created>
  <dcterms:modified xsi:type="dcterms:W3CDTF">2019-07-07T13:56:06Z</dcterms:modified>
</cp:coreProperties>
</file>